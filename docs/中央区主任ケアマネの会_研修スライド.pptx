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5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居宅介護支援事業所 ｜ 事業所内研修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2412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東京都中央区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「主任ケアマネの会」に参加する意義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― 地域連携と人材育成を、事業所の力に変える 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54880"/>
            <a:ext cx="5852160" cy="9525"/>
          </a:xfrm>
          <a:prstGeom prst="rect">
            <a:avLst/>
          </a:prstGeom>
          <a:solidFill>
            <a:srgbClr val="3A5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7315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対象：管理者・主任介護支援専門員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ねらい：会への参加を「個人の活動」から「事業所の戦略」へ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3A5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本日の研修のねらいと流れ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主任ケアマネの会への参加を、単なる「外部の集まり」ではなく、</a:t>
            </a:r>
            <a:r>
              <a:rPr sz="17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事業所の運営基盤を強くする取り組み</a:t>
            </a: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として捉え直します。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69748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697480"/>
            <a:ext cx="9674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主任ケアマネに求められる役割の再確認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41071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410712"/>
            <a:ext cx="9674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「中央区主任ケアマネの会」とは何か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12394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4123944"/>
            <a:ext cx="9674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参加する6つの意義（連携・情報・困難事例・研修要件・育成・地域貢献）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83717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837176"/>
            <a:ext cx="9674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事業所経営から見たメリットと留意点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555040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5550408"/>
            <a:ext cx="9674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当事業所としての参加方針・今後の取り組み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前提の確認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主任ケアマネに求められる役割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主任介護支援専門員は、自らの担当業務にとどまらず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「地域」と「事業所内」をつなぐ中核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としての機能が期待されています。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3429000" cy="2286000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9848" y="271576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役割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7296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ケアマネジメントの質の管理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74720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事業所内の支援困難事例への助言、適切なケアプラン作成の指導。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429000" cy="2286000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3168" y="271576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役割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7296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人材育成・スーパーバイズ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474720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後進のケアマネへのOJT、相談対応、実習指導者としての関わり。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3429000" cy="2286000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76488" y="271576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役割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7296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地域づくり・多職種連携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3474720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地域包括支援センターや他職種と連携し、地域課題に取り組む。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292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これらの役割を一人で抱えず磨くための「場」が、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主任ケアマネの会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です。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「中央区 主任ケアマネの会」とは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5166360" cy="2743200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5166360" cy="109728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39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概要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880359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2788919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中央区内で活動する</a:t>
            </a:r>
            <a:r>
              <a:rPr sz="14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主任ケアマネが集う自主的な研鑽の場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447287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3355847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地域包括支援センターや行政と連携した運営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014215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3896" y="3922775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定例会・事例検討会・研修会などを実施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166360" cy="2743200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1663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39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主な活動内容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880359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2788919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支援困難事例の検討・情報交換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447287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8856" y="3355847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制度改正・行政情報の共有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014215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6" y="3922775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多職種・地域資源とのネットワークづくり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581143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8856" y="4489703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主任ケアマネ更新研修につながる学びの機会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892040"/>
            <a:ext cx="10424160" cy="777240"/>
          </a:xfrm>
          <a:prstGeom prst="round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A661F"/>
                </a:solidFill>
                <a:latin typeface="Yu Gothic"/>
                <a:ea typeface="Yu Gothic"/>
                <a:cs typeface="Yu Gothic"/>
              </a:rPr>
              <a:t>※ 開催頻度・申込方法など最新の運営状況は、担当の地域包括支援センターにご確認ください。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参加する「6つの意義」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3429000" cy="1874519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848" y="212140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意義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7860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地域ネットワークの構築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68879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顔の見える関係で、連携先・相談先を確保。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429000" cy="1874519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73168" y="212140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意義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57860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最新情報のキャッチアップ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468879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制度改正・報酬改定・行政情報をいち早く入手。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20240"/>
            <a:ext cx="3429000" cy="1874519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76488" y="212140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意義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57860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困難事例への対応力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468879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他事業所の知見を借り、抱え込みを防ぐ。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69079"/>
            <a:ext cx="3429000" cy="1874519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69848" y="4270247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意義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727447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研修要件への対応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617718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主任更新研修・法定研修につながる学び。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069079"/>
            <a:ext cx="3429000" cy="1874519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73168" y="4270247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意義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727447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後進育成への還元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617718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学びを事業所内OJTに展開し、組織力UP。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4069079"/>
            <a:ext cx="3429000" cy="1874519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76488" y="4270247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意義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727447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地域包括ケアへの貢献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617718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地域課題の解決に関わり、事業所の信頼向上。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意義 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地域ネットワークの構築・連携先の確保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中央区という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同じ地域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で働く主任ケアマネと「顔の見える関係」を築けます。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97480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1016" y="2606040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連携先の確保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：医療機関・他事業所・インフォーマル資源への“つなぎ”がスムーズに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374136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3282696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緊急時の相談先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：困ったとき、すぐに相談できる同職種の仲間ができる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50792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959352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地域資源の把握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：区内のサービス事情・空き状況などの生きた情報が得られる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727448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4636008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担当者交代時のリスク低減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：個人ではなく事業所として地域につながる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ネットワークは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事業所の“見えない資産”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。利用者支援の選択肢が広がります。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意義 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制度改正・最新情報のキャッチアップ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介護保険制度は改正が頻繁です。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情報の遅れは、運営リスクに直結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97480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1016" y="2606040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制度改正・報酬改定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の解釈や実務対応をいち早く共有できる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374136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3282696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区独自の事業・行政情報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（中央区の施策や様式変更など）が得られる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50792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959352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運営指導（実地指導）対策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：他事業所の指摘事例から学べる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727448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4636008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会で得た情報を持ち帰り、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事業所内で正確に共有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「知らなかった」による減算・返戻を防ぎ、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適正な運営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を支えます。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意義 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困難事例への対応力強化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5166360" cy="2697480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5166360" cy="109728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39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事業所内だけでは限界がある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880359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2788919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虐待・セルフネグレクト・8050問題などの複合課題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3447287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3355847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クレーム対応・支援拒否ケース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014215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3896" y="3922775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一人で抱え込むと</a:t>
            </a:r>
            <a:r>
              <a:rPr sz="14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燃え尽き・離職</a:t>
            </a: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のリスク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74519"/>
            <a:ext cx="5166360" cy="2697480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1663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48839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会の事例検討で得られるもの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880359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8856" y="2788919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多様な視点・経験からの</a:t>
            </a:r>
            <a:r>
              <a:rPr sz="14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具体的な助言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447287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8856" y="3355847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「他もやっている」という</a:t>
            </a:r>
            <a:r>
              <a:rPr sz="14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心理的な支え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014215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6" y="3922775"/>
            <a:ext cx="430682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地域包括・行政との</a:t>
            </a:r>
            <a:r>
              <a:rPr sz="14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連携の糸口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対応の質が上がり、担当ケアマネの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精神的負担の軽減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にもつながります。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意義 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研修要件への対応・専門性の維持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主任介護支援専門員は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更新（5年ごと）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が必要であり、継続的な研鑽が前提です。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97480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1016" y="2606040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会での学びは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主任更新研修・法定研修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の内容理解を深める土台になる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374136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3282696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最新の実務知識に触れ続けることで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専門性が陳腐化しない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50792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959352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事例提供・発表の経験が、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指導者・実習指導者としての力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を養う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727448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4636008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「資格を持っているだけ」から「機能している主任ケアマネ」へ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特定事業所加算など、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主任ケアマネの実働が事業所評価に直結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意義 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後進育成への還元 ― 事業所内OJTの強化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会への参加は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個人で完結させず、事業所に“持ち帰る”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ことで価値が何倍にもなります。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3429000" cy="2194560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9848" y="271576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持ち帰り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7296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朝礼・内部研修で共有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383280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会で得た制度情報・事例を、定例の場で全員に展開する。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514600"/>
            <a:ext cx="3429000" cy="2194560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3168" y="271576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持ち帰り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7296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事例検討の手法を導入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383280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会で学んだ進め方を、事業所内の事例検討会に応用する。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514600"/>
            <a:ext cx="3429000" cy="2194560"/>
          </a:xfrm>
          <a:prstGeom prst="roundRect">
            <a:avLst/>
          </a:prstGeom>
          <a:solidFill>
            <a:srgbClr val="F4F7F6"/>
          </a:solidFill>
          <a:ln w="12700">
            <a:solidFill>
              <a:srgbClr val="D6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76488" y="2715768"/>
            <a:ext cx="1234440" cy="329184"/>
          </a:xfrm>
          <a:prstGeom prst="round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持ち帰り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72968"/>
            <a:ext cx="302666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若手のロールモデルに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3383280"/>
            <a:ext cx="30266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主任ケアマネの学ぶ姿勢が、後進の目標になる。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一人の学びが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チーム全体の底上げ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に。育成は採用難への有効な対策です。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意義 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地域包括ケアシステムへの貢献と事業所の信頼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主任ケアマネの会は、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中央区の地域包括ケアを支える担い手のひとつ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97480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1016" y="2606040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地域ケア会議や地域課題の検討に関わり、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地域づくりに参画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374136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3282696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会での積極的な活動が、地域包括・行政・他事業所からの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信頼につながる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50792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959352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「地域に開かれ、地域に貢献している事業所」という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評判・ブランド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727448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4636008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その評判は、利用者紹介・採用・連携のしやすさに還元される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地域への貢献は、めぐりめぐって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事業所自身の安定経営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を支えます。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FOR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事業所経営から見たメリット整理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28800"/>
          <a:ext cx="10469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43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観点</a:t>
                      </a:r>
                    </a:p>
                  </a:txBody>
                  <a:tcPr marL="164592" marR="109728" anchor="ctr">
                    <a:solidFill>
                      <a:srgbClr val="1F7A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会への参加がもたらすもの</a:t>
                      </a:r>
                    </a:p>
                  </a:txBody>
                  <a:tcPr marL="164592" marR="109728" anchor="ctr">
                    <a:solidFill>
                      <a:srgbClr val="1F7A6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5B50"/>
                          </a:solidFill>
                          <a:latin typeface="Yu Gothic"/>
                          <a:ea typeface="Yu Gothic"/>
                          <a:cs typeface="Yu Gothic"/>
                        </a:rPr>
                        <a:t>運営の適正化</a:t>
                      </a:r>
                    </a:p>
                  </a:txBody>
                  <a:tcPr marL="164592" marR="109728" anchor="ctr">
                    <a:solidFill>
                      <a:srgbClr val="F4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3302E"/>
                          </a:solidFill>
                          <a:latin typeface="Yu Gothic"/>
                          <a:ea typeface="Yu Gothic"/>
                          <a:cs typeface="Yu Gothic"/>
                        </a:rPr>
                        <a:t>制度改正・指導事例の把握による減算・返戻リスクの低減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5B50"/>
                          </a:solidFill>
                          <a:latin typeface="Yu Gothic"/>
                          <a:ea typeface="Yu Gothic"/>
                          <a:cs typeface="Yu Gothic"/>
                        </a:rPr>
                        <a:t>支援の質</a:t>
                      </a:r>
                    </a:p>
                  </a:txBody>
                  <a:tcPr marL="164592" marR="109728" anchor="ctr">
                    <a:solidFill>
                      <a:srgbClr val="F4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3302E"/>
                          </a:solidFill>
                          <a:latin typeface="Yu Gothic"/>
                          <a:ea typeface="Yu Gothic"/>
                          <a:cs typeface="Yu Gothic"/>
                        </a:rPr>
                        <a:t>困難事例対応力の向上、ケアプラン点検の視点獲得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5B50"/>
                          </a:solidFill>
                          <a:latin typeface="Yu Gothic"/>
                          <a:ea typeface="Yu Gothic"/>
                          <a:cs typeface="Yu Gothic"/>
                        </a:rPr>
                        <a:t>人材育成</a:t>
                      </a:r>
                    </a:p>
                  </a:txBody>
                  <a:tcPr marL="164592" marR="109728" anchor="ctr">
                    <a:solidFill>
                      <a:srgbClr val="F4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3302E"/>
                          </a:solidFill>
                          <a:latin typeface="Yu Gothic"/>
                          <a:ea typeface="Yu Gothic"/>
                          <a:cs typeface="Yu Gothic"/>
                        </a:rPr>
                        <a:t>主任ケアマネを軸としたOJT機能・指導体制の強化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5B50"/>
                          </a:solidFill>
                          <a:latin typeface="Yu Gothic"/>
                          <a:ea typeface="Yu Gothic"/>
                          <a:cs typeface="Yu Gothic"/>
                        </a:rPr>
                        <a:t>定着・離職防止</a:t>
                      </a:r>
                    </a:p>
                  </a:txBody>
                  <a:tcPr marL="164592" marR="109728" anchor="ctr">
                    <a:solidFill>
                      <a:srgbClr val="F4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3302E"/>
                          </a:solidFill>
                          <a:latin typeface="Yu Gothic"/>
                          <a:ea typeface="Yu Gothic"/>
                          <a:cs typeface="Yu Gothic"/>
                        </a:rPr>
                        <a:t>抱え込みの解消、相談先の確保による心理的負担の軽減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5B5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営業・信頼</a:t>
                      </a:r>
                    </a:p>
                  </a:txBody>
                  <a:tcPr marL="164592" marR="109728" anchor="ctr">
                    <a:solidFill>
                      <a:srgbClr val="F4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3302E"/>
                          </a:solidFill>
                          <a:latin typeface="Yu Gothic"/>
                          <a:ea typeface="Yu Gothic"/>
                          <a:cs typeface="Yu Gothic"/>
                        </a:rPr>
                        <a:t>地域ネットワーク拡大、紹介・連携のしやすさ、事業所の評判向上</a:t>
                      </a:r>
                    </a:p>
                  </a:txBody>
                  <a:tcPr marL="164592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0749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→ 参加時間は「コスト」ではなく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事業所の基盤への投資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と捉えられます。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CAUTION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参加にあたっての留意点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効果を最大化し、形骸化させないために、次の点を意識します。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651760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1016" y="2560320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業務調整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：参加日は訪問・面談スケジュールを事前に調整し、無理なく出席する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3328416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3236976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守秘義務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：事例検討では個人が特定されないよう配慮し、情報管理を徹底する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005072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3913632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“持ち帰り”を仕組み化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：参加報告を定例化し、学びを必ず事業所内で共有する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681728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4590288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属人化の回避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：可能な範囲で複数名・交代制での参加も検討する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358384"/>
            <a:ext cx="146304" cy="146304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71016" y="5266944"/>
            <a:ext cx="993038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受け身にならない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：情報を得るだけでなく、事例提供など発信する側にも回る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7A6B"/>
                </a:solidFill>
                <a:latin typeface="Yu Gothic"/>
                <a:ea typeface="Yu Gothic"/>
                <a:cs typeface="Yu Gothic"/>
              </a:rPr>
              <a:t>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960120"/>
            <a:ext cx="128016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当事業所としての方針・今後の取り組み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本研修を踏まえ、会への参加を</a:t>
            </a:r>
            <a:r>
              <a:rPr sz="17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事業所の正式な取り組み</a:t>
            </a:r>
            <a:r>
              <a:rPr sz="17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として位置づけます。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60604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606040"/>
            <a:ext cx="9674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主任ケアマネの会への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継続的な参加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を業務として明確化する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26440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264408"/>
            <a:ext cx="9674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参加後は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定例ミーティングで報告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し、学びを全員で共有する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922776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922776"/>
            <a:ext cx="9674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会で得た事例検討の手法を、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事業所内の事例検討会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に取り入れる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581144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581144"/>
            <a:ext cx="9674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制度改正情報は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速やかに業務手順へ反映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する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523951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5239512"/>
            <a:ext cx="96743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次回更新時期・研修計画と</a:t>
            </a:r>
            <a:r>
              <a:rPr sz="1600" b="1">
                <a:solidFill>
                  <a:srgbClr val="155B50"/>
                </a:solidFill>
                <a:latin typeface="Yu Gothic"/>
                <a:ea typeface="Yu Gothic"/>
                <a:cs typeface="Yu Gothic"/>
              </a:rPr>
              <a:t>連動させて参加計画</a:t>
            </a:r>
            <a:r>
              <a:rPr sz="1600" b="0">
                <a:solidFill>
                  <a:srgbClr val="23302E"/>
                </a:solidFill>
                <a:latin typeface="Yu Gothic"/>
                <a:ea typeface="Yu Gothic"/>
                <a:cs typeface="Yu Gothic"/>
              </a:rPr>
              <a:t>を立てる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D6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8AA19C"/>
                </a:solidFill>
                <a:latin typeface="Yu Gothic"/>
                <a:ea typeface="Yu Gothic"/>
                <a:cs typeface="Yu Gothic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5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2412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主任ケアマネの会への参加は、</a:t>
            </a:r>
          </a:p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個人の研鑽</a:t>
            </a: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であると同時に、</a:t>
            </a:r>
          </a:p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Yu Gothic"/>
                <a:ea typeface="Yu Gothic"/>
                <a:cs typeface="Yu Gothic"/>
              </a:rPr>
              <a:t>事業所の連携力・育成力・信頼</a:t>
            </a: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を</a:t>
            </a:r>
          </a:p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高める「投資」である。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241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地域とつながり、学びを持ち帰り、チームで活かす。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その積み重ねが、利用者支援の質と事業所の未来を支えます。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81928"/>
            <a:ext cx="10545775" cy="9525"/>
          </a:xfrm>
          <a:prstGeom prst="rect">
            <a:avLst/>
          </a:prstGeom>
          <a:solidFill>
            <a:srgbClr val="3A5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中央区 主任ケアマネの会に参加する意義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C9D9D5"/>
                </a:solidFill>
                <a:latin typeface="Yu Gothic"/>
                <a:ea typeface="Yu Gothic"/>
                <a:cs typeface="Yu Gothic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