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98848"/>
            <a:ext cx="12191695" cy="2359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98848"/>
            <a:ext cx="12191695" cy="54864"/>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713232"/>
            <a:ext cx="109728" cy="566928"/>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676656"/>
            <a:ext cx="9144000" cy="365760"/>
          </a:xfrm>
          <a:prstGeom prst="rect">
            <a:avLst/>
          </a:prstGeom>
          <a:noFill/>
        </p:spPr>
        <p:txBody>
          <a:bodyPr wrap="square" anchor="t">
            <a:spAutoFit/>
          </a:bodyPr>
          <a:lstStyle/>
          <a:p>
            <a:pPr algn="l">
              <a:lnSpc>
                <a:spcPct val="115000"/>
              </a:lnSpc>
              <a:spcAft>
                <a:spcPts val="200"/>
              </a:spcAft>
            </a:pPr>
            <a:r>
              <a:rPr sz="1500" b="1" i="0">
                <a:solidFill>
                  <a:srgbClr val="E3F0F0"/>
                </a:solidFill>
                <a:latin typeface="Meiryo"/>
                <a:ea typeface="Meiryo"/>
              </a:rPr>
              <a:t>令和8年度 第3回 介護支援専門員研修会</a:t>
            </a:r>
          </a:p>
        </p:txBody>
      </p:sp>
      <p:sp>
        <p:nvSpPr>
          <p:cNvPr id="7" name="TextBox 6"/>
          <p:cNvSpPr txBox="1"/>
          <p:nvPr/>
        </p:nvSpPr>
        <p:spPr>
          <a:xfrm>
            <a:off x="1051560" y="969264"/>
            <a:ext cx="6858000" cy="365760"/>
          </a:xfrm>
          <a:prstGeom prst="rect">
            <a:avLst/>
          </a:prstGeom>
          <a:noFill/>
        </p:spPr>
        <p:txBody>
          <a:bodyPr wrap="square" anchor="t">
            <a:spAutoFit/>
          </a:bodyPr>
          <a:lstStyle/>
          <a:p>
            <a:pPr algn="l">
              <a:lnSpc>
                <a:spcPct val="115000"/>
              </a:lnSpc>
              <a:spcAft>
                <a:spcPts val="200"/>
              </a:spcAft>
            </a:pPr>
            <a:r>
              <a:rPr sz="1200" b="0" i="0">
                <a:solidFill>
                  <a:srgbClr val="B8C6D8"/>
                </a:solidFill>
                <a:latin typeface="Meiryo"/>
                <a:ea typeface="Meiryo"/>
              </a:rPr>
              <a:t>主催：日本橋おとしより相談センター</a:t>
            </a:r>
          </a:p>
        </p:txBody>
      </p:sp>
      <p:sp>
        <p:nvSpPr>
          <p:cNvPr id="8" name="TextBox 7"/>
          <p:cNvSpPr txBox="1"/>
          <p:nvPr/>
        </p:nvSpPr>
        <p:spPr>
          <a:xfrm>
            <a:off x="822960" y="1783080"/>
            <a:ext cx="10607040" cy="1554480"/>
          </a:xfrm>
          <a:prstGeom prst="rect">
            <a:avLst/>
          </a:prstGeom>
          <a:noFill/>
        </p:spPr>
        <p:txBody>
          <a:bodyPr wrap="square" anchor="t">
            <a:spAutoFit/>
          </a:bodyPr>
          <a:lstStyle/>
          <a:p>
            <a:pPr algn="l">
              <a:lnSpc>
                <a:spcPct val="110000"/>
              </a:lnSpc>
              <a:spcAft>
                <a:spcPts val="200"/>
              </a:spcAft>
            </a:pPr>
            <a:r>
              <a:rPr sz="4000" b="1" i="0">
                <a:solidFill>
                  <a:srgbClr val="FFFFFF"/>
                </a:solidFill>
                <a:latin typeface="Meiryo"/>
                <a:ea typeface="Meiryo"/>
              </a:rPr>
              <a:t>高齢者を取り巻く</a:t>
            </a:r>
          </a:p>
          <a:p>
            <a:pPr algn="l">
              <a:lnSpc>
                <a:spcPct val="110000"/>
              </a:lnSpc>
              <a:spcAft>
                <a:spcPts val="200"/>
              </a:spcAft>
            </a:pPr>
            <a:r>
              <a:rPr sz="4000" b="1" i="0">
                <a:solidFill>
                  <a:srgbClr val="FFFFFF"/>
                </a:solidFill>
                <a:latin typeface="Meiryo"/>
                <a:ea typeface="Meiryo"/>
              </a:rPr>
              <a:t>様々な問題への支援</a:t>
            </a:r>
          </a:p>
        </p:txBody>
      </p:sp>
      <p:sp>
        <p:nvSpPr>
          <p:cNvPr id="9" name="TextBox 8"/>
          <p:cNvSpPr txBox="1"/>
          <p:nvPr/>
        </p:nvSpPr>
        <p:spPr>
          <a:xfrm>
            <a:off x="868680" y="3200400"/>
            <a:ext cx="10424160" cy="457200"/>
          </a:xfrm>
          <a:prstGeom prst="rect">
            <a:avLst/>
          </a:prstGeom>
          <a:noFill/>
        </p:spPr>
        <p:txBody>
          <a:bodyPr wrap="square" anchor="t">
            <a:spAutoFit/>
          </a:bodyPr>
          <a:lstStyle/>
          <a:p>
            <a:pPr algn="l">
              <a:lnSpc>
                <a:spcPct val="115000"/>
              </a:lnSpc>
              <a:spcAft>
                <a:spcPts val="200"/>
              </a:spcAft>
            </a:pPr>
            <a:r>
              <a:rPr sz="1600" b="1" i="0">
                <a:solidFill>
                  <a:srgbClr val="C99A3A"/>
                </a:solidFill>
                <a:latin typeface="Meiryo"/>
                <a:ea typeface="Meiryo"/>
              </a:rPr>
              <a:t>〜 介護支援専門員と法律専門職との協力関係の確立を目指して 〜</a:t>
            </a:r>
          </a:p>
        </p:txBody>
      </p:sp>
      <p:sp>
        <p:nvSpPr>
          <p:cNvPr id="10" name="Rounded Rectangle 9"/>
          <p:cNvSpPr/>
          <p:nvPr/>
        </p:nvSpPr>
        <p:spPr>
          <a:xfrm>
            <a:off x="868680" y="3822191"/>
            <a:ext cx="3200400" cy="457200"/>
          </a:xfrm>
          <a:prstGeom prst="roundRect">
            <a:avLst>
              <a:gd name="adj" fmla="val 50000"/>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822191"/>
            <a:ext cx="3200400" cy="457200"/>
          </a:xfrm>
          <a:prstGeom prst="rect">
            <a:avLst/>
          </a:prstGeom>
          <a:noFill/>
        </p:spPr>
        <p:txBody>
          <a:bodyPr wrap="square" anchor="ctr">
            <a:spAutoFit/>
          </a:bodyPr>
          <a:lstStyle/>
          <a:p>
            <a:pPr algn="ctr">
              <a:lnSpc>
                <a:spcPct val="115000"/>
              </a:lnSpc>
              <a:spcAft>
                <a:spcPts val="200"/>
              </a:spcAft>
            </a:pPr>
            <a:r>
              <a:rPr sz="1300" b="1" i="0">
                <a:solidFill>
                  <a:srgbClr val="152944"/>
                </a:solidFill>
                <a:latin typeface="Meiryo"/>
                <a:ea typeface="Meiryo"/>
              </a:rPr>
              <a:t>予 習 資 料（受講者個人用）</a:t>
            </a:r>
          </a:p>
        </p:txBody>
      </p:sp>
      <p:sp>
        <p:nvSpPr>
          <p:cNvPr id="12" name="TextBox 11"/>
          <p:cNvSpPr txBox="1"/>
          <p:nvPr/>
        </p:nvSpPr>
        <p:spPr>
          <a:xfrm>
            <a:off x="868680" y="4800600"/>
            <a:ext cx="3474720" cy="274320"/>
          </a:xfrm>
          <a:prstGeom prst="rect">
            <a:avLst/>
          </a:prstGeom>
          <a:noFill/>
        </p:spPr>
        <p:txBody>
          <a:bodyPr wrap="square" anchor="t">
            <a:spAutoFit/>
          </a:bodyPr>
          <a:lstStyle/>
          <a:p>
            <a:pPr algn="l">
              <a:lnSpc>
                <a:spcPct val="115000"/>
              </a:lnSpc>
              <a:spcAft>
                <a:spcPts val="200"/>
              </a:spcAft>
            </a:pPr>
            <a:r>
              <a:rPr sz="1100" b="1" i="0">
                <a:solidFill>
                  <a:srgbClr val="2E8B8B"/>
                </a:solidFill>
                <a:latin typeface="Meiryo"/>
                <a:ea typeface="Meiryo"/>
              </a:rPr>
              <a:t>日　時</a:t>
            </a:r>
          </a:p>
        </p:txBody>
      </p:sp>
      <p:sp>
        <p:nvSpPr>
          <p:cNvPr id="13" name="TextBox 12"/>
          <p:cNvSpPr txBox="1"/>
          <p:nvPr/>
        </p:nvSpPr>
        <p:spPr>
          <a:xfrm>
            <a:off x="868680" y="5047488"/>
            <a:ext cx="3566160" cy="457200"/>
          </a:xfrm>
          <a:prstGeom prst="rect">
            <a:avLst/>
          </a:prstGeom>
          <a:noFill/>
        </p:spPr>
        <p:txBody>
          <a:bodyPr wrap="square" anchor="t">
            <a:spAutoFit/>
          </a:bodyPr>
          <a:lstStyle/>
          <a:p>
            <a:pPr algn="l">
              <a:lnSpc>
                <a:spcPct val="115000"/>
              </a:lnSpc>
              <a:spcAft>
                <a:spcPts val="200"/>
              </a:spcAft>
            </a:pPr>
            <a:r>
              <a:rPr sz="1400" b="1" i="0">
                <a:solidFill>
                  <a:srgbClr val="262B33"/>
                </a:solidFill>
                <a:latin typeface="Meiryo"/>
                <a:ea typeface="Meiryo"/>
              </a:rPr>
              <a:t>令和8年6月25日(木) 14:00〜16:00</a:t>
            </a:r>
          </a:p>
        </p:txBody>
      </p:sp>
      <p:sp>
        <p:nvSpPr>
          <p:cNvPr id="14" name="TextBox 13"/>
          <p:cNvSpPr txBox="1"/>
          <p:nvPr/>
        </p:nvSpPr>
        <p:spPr>
          <a:xfrm>
            <a:off x="4480560" y="4800600"/>
            <a:ext cx="3474720" cy="274320"/>
          </a:xfrm>
          <a:prstGeom prst="rect">
            <a:avLst/>
          </a:prstGeom>
          <a:noFill/>
        </p:spPr>
        <p:txBody>
          <a:bodyPr wrap="square" anchor="t">
            <a:spAutoFit/>
          </a:bodyPr>
          <a:lstStyle/>
          <a:p>
            <a:pPr algn="l">
              <a:lnSpc>
                <a:spcPct val="115000"/>
              </a:lnSpc>
              <a:spcAft>
                <a:spcPts val="200"/>
              </a:spcAft>
            </a:pPr>
            <a:r>
              <a:rPr sz="1100" b="1" i="0">
                <a:solidFill>
                  <a:srgbClr val="2E8B8B"/>
                </a:solidFill>
                <a:latin typeface="Meiryo"/>
                <a:ea typeface="Meiryo"/>
              </a:rPr>
              <a:t>会　場</a:t>
            </a:r>
          </a:p>
        </p:txBody>
      </p:sp>
      <p:sp>
        <p:nvSpPr>
          <p:cNvPr id="15" name="TextBox 14"/>
          <p:cNvSpPr txBox="1"/>
          <p:nvPr/>
        </p:nvSpPr>
        <p:spPr>
          <a:xfrm>
            <a:off x="4480560" y="5047488"/>
            <a:ext cx="3566160" cy="457200"/>
          </a:xfrm>
          <a:prstGeom prst="rect">
            <a:avLst/>
          </a:prstGeom>
          <a:noFill/>
        </p:spPr>
        <p:txBody>
          <a:bodyPr wrap="square" anchor="t">
            <a:spAutoFit/>
          </a:bodyPr>
          <a:lstStyle/>
          <a:p>
            <a:pPr algn="l">
              <a:lnSpc>
                <a:spcPct val="115000"/>
              </a:lnSpc>
              <a:spcAft>
                <a:spcPts val="200"/>
              </a:spcAft>
            </a:pPr>
            <a:r>
              <a:rPr sz="1400" b="1" i="0">
                <a:solidFill>
                  <a:srgbClr val="262B33"/>
                </a:solidFill>
                <a:latin typeface="Meiryo"/>
                <a:ea typeface="Meiryo"/>
              </a:rPr>
              <a:t>人形町区民館</a:t>
            </a:r>
          </a:p>
        </p:txBody>
      </p:sp>
      <p:sp>
        <p:nvSpPr>
          <p:cNvPr id="16" name="TextBox 15"/>
          <p:cNvSpPr txBox="1"/>
          <p:nvPr/>
        </p:nvSpPr>
        <p:spPr>
          <a:xfrm>
            <a:off x="8092440" y="4800600"/>
            <a:ext cx="3474720" cy="274320"/>
          </a:xfrm>
          <a:prstGeom prst="rect">
            <a:avLst/>
          </a:prstGeom>
          <a:noFill/>
        </p:spPr>
        <p:txBody>
          <a:bodyPr wrap="square" anchor="t">
            <a:spAutoFit/>
          </a:bodyPr>
          <a:lstStyle/>
          <a:p>
            <a:pPr algn="l">
              <a:lnSpc>
                <a:spcPct val="115000"/>
              </a:lnSpc>
              <a:spcAft>
                <a:spcPts val="200"/>
              </a:spcAft>
            </a:pPr>
            <a:r>
              <a:rPr sz="1100" b="1" i="0">
                <a:solidFill>
                  <a:srgbClr val="2E8B8B"/>
                </a:solidFill>
                <a:latin typeface="Meiryo"/>
                <a:ea typeface="Meiryo"/>
              </a:rPr>
              <a:t>講　師</a:t>
            </a:r>
          </a:p>
        </p:txBody>
      </p:sp>
      <p:sp>
        <p:nvSpPr>
          <p:cNvPr id="17" name="TextBox 16"/>
          <p:cNvSpPr txBox="1"/>
          <p:nvPr/>
        </p:nvSpPr>
        <p:spPr>
          <a:xfrm>
            <a:off x="8092440" y="5047488"/>
            <a:ext cx="3566160" cy="457200"/>
          </a:xfrm>
          <a:prstGeom prst="rect">
            <a:avLst/>
          </a:prstGeom>
          <a:noFill/>
        </p:spPr>
        <p:txBody>
          <a:bodyPr wrap="square" anchor="t">
            <a:spAutoFit/>
          </a:bodyPr>
          <a:lstStyle/>
          <a:p>
            <a:pPr algn="l">
              <a:lnSpc>
                <a:spcPct val="115000"/>
              </a:lnSpc>
              <a:spcAft>
                <a:spcPts val="200"/>
              </a:spcAft>
            </a:pPr>
            <a:r>
              <a:rPr sz="1400" b="1" i="0">
                <a:solidFill>
                  <a:srgbClr val="262B33"/>
                </a:solidFill>
                <a:latin typeface="Meiryo"/>
                <a:ea typeface="Meiryo"/>
              </a:rPr>
              <a:t>司法書士 大谷雅彦 氏</a:t>
            </a:r>
          </a:p>
        </p:txBody>
      </p:sp>
      <p:sp>
        <p:nvSpPr>
          <p:cNvPr id="18" name="TextBox 17"/>
          <p:cNvSpPr txBox="1"/>
          <p:nvPr/>
        </p:nvSpPr>
        <p:spPr>
          <a:xfrm>
            <a:off x="868680" y="5650992"/>
            <a:ext cx="10424160" cy="320040"/>
          </a:xfrm>
          <a:prstGeom prst="rect">
            <a:avLst/>
          </a:prstGeom>
          <a:noFill/>
        </p:spPr>
        <p:txBody>
          <a:bodyPr wrap="square" anchor="t">
            <a:spAutoFit/>
          </a:bodyPr>
          <a:lstStyle/>
          <a:p>
            <a:pPr algn="l">
              <a:lnSpc>
                <a:spcPct val="115000"/>
              </a:lnSpc>
              <a:spcAft>
                <a:spcPts val="200"/>
              </a:spcAft>
            </a:pPr>
            <a:r>
              <a:rPr sz="1100" b="0" i="0">
                <a:solidFill>
                  <a:srgbClr val="5C636E"/>
                </a:solidFill>
                <a:latin typeface="Meiryo"/>
                <a:ea typeface="Meiryo"/>
              </a:rPr>
              <a:t>成年後見センター・リーガルサポート東京支部 中央地区リーダー</a:t>
            </a:r>
          </a:p>
        </p:txBody>
      </p:sp>
      <p:sp>
        <p:nvSpPr>
          <p:cNvPr id="19" name="Rectangle 18"/>
          <p:cNvSpPr/>
          <p:nvPr/>
        </p:nvSpPr>
        <p:spPr>
          <a:xfrm>
            <a:off x="868680" y="6053328"/>
            <a:ext cx="10451592" cy="1270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6163056"/>
            <a:ext cx="10424160" cy="365760"/>
          </a:xfrm>
          <a:prstGeom prst="rect">
            <a:avLst/>
          </a:prstGeom>
          <a:noFill/>
        </p:spPr>
        <p:txBody>
          <a:bodyPr wrap="square" anchor="t">
            <a:spAutoFit/>
          </a:bodyPr>
          <a:lstStyle/>
          <a:p>
            <a:pPr algn="l">
              <a:lnSpc>
                <a:spcPct val="115000"/>
              </a:lnSpc>
              <a:spcAft>
                <a:spcPts val="200"/>
              </a:spcAft>
            </a:pPr>
            <a:r>
              <a:rPr sz="1000" b="0" i="0">
                <a:solidFill>
                  <a:srgbClr val="5C636E"/>
                </a:solidFill>
                <a:latin typeface="Meiryo"/>
                <a:ea typeface="Meiryo"/>
              </a:rPr>
              <a:t>対象：中央区で活動する介護支援専門員（定員30名）　／　作成：2026年5月　主任介護支援専門員（予習用に独自作成）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はじめに</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本資料の位置づけ 〜 これは「予習メモ」です</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02</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ounded Rectangle 8"/>
          <p:cNvSpPr/>
          <p:nvPr/>
        </p:nvSpPr>
        <p:spPr>
          <a:xfrm>
            <a:off x="731520" y="1700784"/>
            <a:ext cx="6858000" cy="914400"/>
          </a:xfrm>
          <a:prstGeom prst="roundRect">
            <a:avLst>
              <a:gd name="adj" fmla="val 5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92224"/>
            <a:ext cx="6492240" cy="731520"/>
          </a:xfrm>
          <a:prstGeom prst="rect">
            <a:avLst/>
          </a:prstGeom>
          <a:noFill/>
        </p:spPr>
        <p:txBody>
          <a:bodyPr wrap="square" anchor="t">
            <a:spAutoFit/>
          </a:bodyPr>
          <a:lstStyle/>
          <a:p>
            <a:pPr algn="l">
              <a:lnSpc>
                <a:spcPct val="120000"/>
              </a:lnSpc>
              <a:spcAft>
                <a:spcPts val="200"/>
              </a:spcAft>
            </a:pPr>
            <a:r>
              <a:rPr sz="1300" b="1" i="0">
                <a:solidFill>
                  <a:srgbClr val="1F3A5F"/>
                </a:solidFill>
                <a:latin typeface="Meiryo"/>
                <a:ea typeface="Meiryo"/>
              </a:rPr>
              <a:t>本資料は研修本番で使うものではありません。</a:t>
            </a:r>
          </a:p>
          <a:p>
            <a:pPr algn="l">
              <a:lnSpc>
                <a:spcPct val="120000"/>
              </a:lnSpc>
              <a:spcAft>
                <a:spcPts val="200"/>
              </a:spcAft>
            </a:pPr>
            <a:r>
              <a:rPr sz="1200" b="0" i="0">
                <a:solidFill>
                  <a:srgbClr val="262B33"/>
                </a:solidFill>
                <a:latin typeface="Meiryo"/>
                <a:ea typeface="Meiryo"/>
              </a:rPr>
              <a:t>受講者（主任ケアマネ）が当日に備えて作成した個人予習資料です。</a:t>
            </a:r>
          </a:p>
        </p:txBody>
      </p:sp>
      <p:sp>
        <p:nvSpPr>
          <p:cNvPr id="11" name="TextBox 10"/>
          <p:cNvSpPr txBox="1"/>
          <p:nvPr/>
        </p:nvSpPr>
        <p:spPr>
          <a:xfrm>
            <a:off x="731520" y="2798064"/>
            <a:ext cx="6949440" cy="320040"/>
          </a:xfrm>
          <a:prstGeom prst="rect">
            <a:avLst/>
          </a:prstGeom>
          <a:noFill/>
        </p:spPr>
        <p:txBody>
          <a:bodyPr wrap="square" anchor="t">
            <a:spAutoFit/>
          </a:bodyPr>
          <a:lstStyle/>
          <a:p>
            <a:pPr algn="l">
              <a:lnSpc>
                <a:spcPct val="115000"/>
              </a:lnSpc>
              <a:spcAft>
                <a:spcPts val="200"/>
              </a:spcAft>
            </a:pPr>
            <a:r>
              <a:rPr sz="1400" b="1" i="0">
                <a:solidFill>
                  <a:srgbClr val="2E8B8B"/>
                </a:solidFill>
                <a:latin typeface="Meiryo"/>
                <a:ea typeface="Meiryo"/>
              </a:rPr>
              <a:t>◆ 3つの目的</a:t>
            </a:r>
          </a:p>
        </p:txBody>
      </p:sp>
      <p:sp>
        <p:nvSpPr>
          <p:cNvPr id="12" name="Rectangle 11"/>
          <p:cNvSpPr/>
          <p:nvPr/>
        </p:nvSpPr>
        <p:spPr>
          <a:xfrm>
            <a:off x="731520" y="3145536"/>
            <a:ext cx="6858000" cy="786384"/>
          </a:xfrm>
          <a:prstGeom prst="rect">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145536"/>
            <a:ext cx="91440" cy="78638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209544"/>
            <a:ext cx="6492240" cy="320040"/>
          </a:xfrm>
          <a:prstGeom prst="rect">
            <a:avLst/>
          </a:prstGeom>
          <a:noFill/>
        </p:spPr>
        <p:txBody>
          <a:bodyPr wrap="square" anchor="t">
            <a:spAutoFit/>
          </a:bodyPr>
          <a:lstStyle/>
          <a:p>
            <a:pPr algn="l">
              <a:lnSpc>
                <a:spcPct val="115000"/>
              </a:lnSpc>
              <a:spcAft>
                <a:spcPts val="200"/>
              </a:spcAft>
            </a:pPr>
            <a:r>
              <a:rPr sz="1300" b="1" i="0">
                <a:solidFill>
                  <a:srgbClr val="1F3A5F"/>
                </a:solidFill>
                <a:latin typeface="Meiryo"/>
                <a:ea typeface="Meiryo"/>
              </a:rPr>
              <a:t>① 先回りして整理</a:t>
            </a:r>
          </a:p>
        </p:txBody>
      </p:sp>
      <p:sp>
        <p:nvSpPr>
          <p:cNvPr id="15" name="TextBox 14"/>
          <p:cNvSpPr txBox="1"/>
          <p:nvPr/>
        </p:nvSpPr>
        <p:spPr>
          <a:xfrm>
            <a:off x="960120" y="3493008"/>
            <a:ext cx="6492240" cy="411480"/>
          </a:xfrm>
          <a:prstGeom prst="rect">
            <a:avLst/>
          </a:prstGeom>
          <a:noFill/>
        </p:spPr>
        <p:txBody>
          <a:bodyPr wrap="square" anchor="t">
            <a:spAutoFit/>
          </a:bodyPr>
          <a:lstStyle/>
          <a:p>
            <a:pPr algn="l">
              <a:lnSpc>
                <a:spcPct val="115000"/>
              </a:lnSpc>
              <a:spcAft>
                <a:spcPts val="200"/>
              </a:spcAft>
            </a:pPr>
            <a:r>
              <a:rPr sz="1150" b="0" i="0">
                <a:solidFill>
                  <a:srgbClr val="262B33"/>
                </a:solidFill>
                <a:latin typeface="Meiryo"/>
                <a:ea typeface="Meiryo"/>
              </a:rPr>
              <a:t>講師（司法書士）が話すであろう論点を、自分の頭で事前に組み立てておく。</a:t>
            </a:r>
          </a:p>
        </p:txBody>
      </p:sp>
      <p:sp>
        <p:nvSpPr>
          <p:cNvPr id="16" name="Rectangle 15"/>
          <p:cNvSpPr/>
          <p:nvPr/>
        </p:nvSpPr>
        <p:spPr>
          <a:xfrm>
            <a:off x="731520" y="3986784"/>
            <a:ext cx="6858000" cy="786384"/>
          </a:xfrm>
          <a:prstGeom prst="rect">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986784"/>
            <a:ext cx="91440" cy="78638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050792"/>
            <a:ext cx="6492240" cy="320040"/>
          </a:xfrm>
          <a:prstGeom prst="rect">
            <a:avLst/>
          </a:prstGeom>
          <a:noFill/>
        </p:spPr>
        <p:txBody>
          <a:bodyPr wrap="square" anchor="t">
            <a:spAutoFit/>
          </a:bodyPr>
          <a:lstStyle/>
          <a:p>
            <a:pPr algn="l">
              <a:lnSpc>
                <a:spcPct val="115000"/>
              </a:lnSpc>
              <a:spcAft>
                <a:spcPts val="200"/>
              </a:spcAft>
            </a:pPr>
            <a:r>
              <a:rPr sz="1300" b="1" i="0">
                <a:solidFill>
                  <a:srgbClr val="1F3A5F"/>
                </a:solidFill>
                <a:latin typeface="Meiryo"/>
                <a:ea typeface="Meiryo"/>
              </a:rPr>
              <a:t>② 当日に突き合わせ</a:t>
            </a:r>
          </a:p>
        </p:txBody>
      </p:sp>
      <p:sp>
        <p:nvSpPr>
          <p:cNvPr id="19" name="TextBox 18"/>
          <p:cNvSpPr txBox="1"/>
          <p:nvPr/>
        </p:nvSpPr>
        <p:spPr>
          <a:xfrm>
            <a:off x="960120" y="4334256"/>
            <a:ext cx="6492240" cy="411480"/>
          </a:xfrm>
          <a:prstGeom prst="rect">
            <a:avLst/>
          </a:prstGeom>
          <a:noFill/>
        </p:spPr>
        <p:txBody>
          <a:bodyPr wrap="square" anchor="t">
            <a:spAutoFit/>
          </a:bodyPr>
          <a:lstStyle/>
          <a:p>
            <a:pPr algn="l">
              <a:lnSpc>
                <a:spcPct val="115000"/>
              </a:lnSpc>
              <a:spcAft>
                <a:spcPts val="200"/>
              </a:spcAft>
            </a:pPr>
            <a:r>
              <a:rPr sz="1150" b="0" i="0">
                <a:solidFill>
                  <a:srgbClr val="262B33"/>
                </a:solidFill>
                <a:latin typeface="Meiryo"/>
                <a:ea typeface="Meiryo"/>
              </a:rPr>
              <a:t>講師持参スライドと本資料を比較し、理解の差・抜け漏れをその場で埋める。</a:t>
            </a:r>
          </a:p>
        </p:txBody>
      </p:sp>
      <p:sp>
        <p:nvSpPr>
          <p:cNvPr id="20" name="Rectangle 19"/>
          <p:cNvSpPr/>
          <p:nvPr/>
        </p:nvSpPr>
        <p:spPr>
          <a:xfrm>
            <a:off x="731520" y="4828032"/>
            <a:ext cx="6858000" cy="786384"/>
          </a:xfrm>
          <a:prstGeom prst="rect">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828032"/>
            <a:ext cx="91440" cy="78638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892040"/>
            <a:ext cx="6492240" cy="320040"/>
          </a:xfrm>
          <a:prstGeom prst="rect">
            <a:avLst/>
          </a:prstGeom>
          <a:noFill/>
        </p:spPr>
        <p:txBody>
          <a:bodyPr wrap="square" anchor="t">
            <a:spAutoFit/>
          </a:bodyPr>
          <a:lstStyle/>
          <a:p>
            <a:pPr algn="l">
              <a:lnSpc>
                <a:spcPct val="115000"/>
              </a:lnSpc>
              <a:spcAft>
                <a:spcPts val="200"/>
              </a:spcAft>
            </a:pPr>
            <a:r>
              <a:rPr sz="1300" b="1" i="0">
                <a:solidFill>
                  <a:srgbClr val="1F3A5F"/>
                </a:solidFill>
                <a:latin typeface="Meiryo"/>
                <a:ea typeface="Meiryo"/>
              </a:rPr>
              <a:t>③ 疑問を質問化</a:t>
            </a:r>
          </a:p>
        </p:txBody>
      </p:sp>
      <p:sp>
        <p:nvSpPr>
          <p:cNvPr id="23" name="TextBox 22"/>
          <p:cNvSpPr txBox="1"/>
          <p:nvPr/>
        </p:nvSpPr>
        <p:spPr>
          <a:xfrm>
            <a:off x="960120" y="5175504"/>
            <a:ext cx="6492240" cy="411480"/>
          </a:xfrm>
          <a:prstGeom prst="rect">
            <a:avLst/>
          </a:prstGeom>
          <a:noFill/>
        </p:spPr>
        <p:txBody>
          <a:bodyPr wrap="square" anchor="t">
            <a:spAutoFit/>
          </a:bodyPr>
          <a:lstStyle/>
          <a:p>
            <a:pPr algn="l">
              <a:lnSpc>
                <a:spcPct val="115000"/>
              </a:lnSpc>
              <a:spcAft>
                <a:spcPts val="200"/>
              </a:spcAft>
            </a:pPr>
            <a:r>
              <a:rPr sz="1150" b="0" i="0">
                <a:solidFill>
                  <a:srgbClr val="262B33"/>
                </a:solidFill>
                <a:latin typeface="Meiryo"/>
                <a:ea typeface="Meiryo"/>
              </a:rPr>
              <a:t>予習で残った疑問を質問リスト化し（P19-20）、当日に確実に解消する。</a:t>
            </a:r>
          </a:p>
        </p:txBody>
      </p:sp>
      <p:sp>
        <p:nvSpPr>
          <p:cNvPr id="24" name="Rectangle 23"/>
          <p:cNvSpPr/>
          <p:nvPr/>
        </p:nvSpPr>
        <p:spPr>
          <a:xfrm>
            <a:off x="731520" y="5715000"/>
            <a:ext cx="6858000" cy="658368"/>
          </a:xfrm>
          <a:prstGeom prst="rect">
            <a:avLst/>
          </a:prstGeom>
          <a:solidFill>
            <a:srgbClr val="FCF3DD"/>
          </a:solidFill>
          <a:ln w="12700">
            <a:solidFill>
              <a:srgbClr val="C99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779008"/>
            <a:ext cx="6492240" cy="548640"/>
          </a:xfrm>
          <a:prstGeom prst="rect">
            <a:avLst/>
          </a:prstGeom>
          <a:noFill/>
        </p:spPr>
        <p:txBody>
          <a:bodyPr wrap="square" anchor="t">
            <a:spAutoFit/>
          </a:bodyPr>
          <a:lstStyle/>
          <a:p>
            <a:pPr algn="l">
              <a:lnSpc>
                <a:spcPct val="120000"/>
              </a:lnSpc>
              <a:spcAft>
                <a:spcPts val="200"/>
              </a:spcAft>
            </a:pPr>
            <a:r>
              <a:rPr sz="1150" b="1" i="0">
                <a:solidFill>
                  <a:srgbClr val="C99A3A"/>
                </a:solidFill>
                <a:latin typeface="Meiryo"/>
                <a:ea typeface="Meiryo"/>
              </a:rPr>
              <a:t>⚠ 注意：</a:t>
            </a:r>
            <a:r>
              <a:rPr sz="1100" b="0" i="0">
                <a:solidFill>
                  <a:srgbClr val="262B33"/>
                </a:solidFill>
                <a:latin typeface="Meiryo"/>
                <a:ea typeface="Meiryo"/>
              </a:rPr>
              <a:t>内容は2026年5月時点の調査ベース。「要確認」表示は一次情報の最終確認が必要な箇所。</a:t>
            </a:r>
          </a:p>
          <a:p>
            <a:pPr algn="l">
              <a:lnSpc>
                <a:spcPct val="120000"/>
              </a:lnSpc>
              <a:spcAft>
                <a:spcPts val="200"/>
              </a:spcAft>
            </a:pPr>
            <a:r>
              <a:rPr sz="1100" b="0" i="0">
                <a:solidFill>
                  <a:srgbClr val="262B33"/>
                </a:solidFill>
                <a:latin typeface="Meiryo"/>
                <a:ea typeface="Meiryo"/>
              </a:rPr>
              <a:t>　　　　 制度の正確な説明は研修当日の講師説明を正とすること。</a:t>
            </a:r>
          </a:p>
        </p:txBody>
      </p:sp>
      <p:sp>
        <p:nvSpPr>
          <p:cNvPr id="26" name="Rectangle 25"/>
          <p:cNvSpPr/>
          <p:nvPr/>
        </p:nvSpPr>
        <p:spPr>
          <a:xfrm>
            <a:off x="7818120" y="1700784"/>
            <a:ext cx="3639312" cy="4526280"/>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27848" y="1746504"/>
            <a:ext cx="1828800" cy="274320"/>
          </a:xfrm>
          <a:prstGeom prst="rect">
            <a:avLst/>
          </a:prstGeom>
          <a:noFill/>
        </p:spPr>
        <p:txBody>
          <a:bodyPr wrap="square" anchor="t">
            <a:spAutoFit/>
          </a:bodyPr>
          <a:lstStyle/>
          <a:p>
            <a:pPr algn="l">
              <a:lnSpc>
                <a:spcPct val="115000"/>
              </a:lnSpc>
              <a:spcAft>
                <a:spcPts val="200"/>
              </a:spcAft>
            </a:pPr>
            <a:r>
              <a:rPr sz="1000" b="1" i="0">
                <a:solidFill>
                  <a:srgbClr val="9A863A"/>
                </a:solidFill>
                <a:latin typeface="Meiryo"/>
                <a:ea typeface="Meiryo"/>
              </a:rPr>
              <a:t>✎ 気づき・予習中の疑問</a:t>
            </a:r>
          </a:p>
        </p:txBody>
      </p:sp>
      <p:sp>
        <p:nvSpPr>
          <p:cNvPr id="28" name="Rectangle 27"/>
          <p:cNvSpPr/>
          <p:nvPr/>
        </p:nvSpPr>
        <p:spPr>
          <a:xfrm>
            <a:off x="7955280" y="2176272"/>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955280" y="2560320"/>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80" y="2944368"/>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55280" y="3328416"/>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55280" y="3712464"/>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55280" y="4096512"/>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55280" y="4480560"/>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55280" y="4864608"/>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55280" y="5248656"/>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55280" y="5632704"/>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55280" y="6016752"/>
            <a:ext cx="33649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研修会概要</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令和8年度 第3回 介護支援専門員研修会</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03</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ectangle 8"/>
          <p:cNvSpPr/>
          <p:nvPr/>
        </p:nvSpPr>
        <p:spPr>
          <a:xfrm>
            <a:off x="731520" y="1700784"/>
            <a:ext cx="1554480" cy="36576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00784"/>
            <a:ext cx="1389888" cy="365760"/>
          </a:xfrm>
          <a:prstGeom prst="rect">
            <a:avLst/>
          </a:prstGeom>
          <a:noFill/>
        </p:spPr>
        <p:txBody>
          <a:bodyPr wrap="square" anchor="ctr">
            <a:spAutoFit/>
          </a:bodyPr>
          <a:lstStyle/>
          <a:p>
            <a:pPr algn="l">
              <a:lnSpc>
                <a:spcPct val="115000"/>
              </a:lnSpc>
              <a:spcAft>
                <a:spcPts val="200"/>
              </a:spcAft>
            </a:pPr>
            <a:r>
              <a:rPr sz="1200" b="1" i="0">
                <a:solidFill>
                  <a:srgbClr val="FFFFFF"/>
                </a:solidFill>
                <a:latin typeface="Meiryo"/>
                <a:ea typeface="Meiryo"/>
              </a:rPr>
              <a:t>研 修 名</a:t>
            </a:r>
          </a:p>
        </p:txBody>
      </p:sp>
      <p:sp>
        <p:nvSpPr>
          <p:cNvPr id="11" name="Rectangle 10"/>
          <p:cNvSpPr/>
          <p:nvPr/>
        </p:nvSpPr>
        <p:spPr>
          <a:xfrm>
            <a:off x="2286000" y="1700784"/>
            <a:ext cx="5760720" cy="365760"/>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95728" y="1700784"/>
            <a:ext cx="5559552" cy="365760"/>
          </a:xfrm>
          <a:prstGeom prst="rect">
            <a:avLst/>
          </a:prstGeom>
          <a:noFill/>
        </p:spPr>
        <p:txBody>
          <a:bodyPr wrap="square" anchor="ctr">
            <a:spAutoFit/>
          </a:bodyPr>
          <a:lstStyle/>
          <a:p>
            <a:pPr algn="l">
              <a:lnSpc>
                <a:spcPct val="115000"/>
              </a:lnSpc>
              <a:spcAft>
                <a:spcPts val="200"/>
              </a:spcAft>
            </a:pPr>
            <a:r>
              <a:rPr sz="1200" b="0" i="0">
                <a:solidFill>
                  <a:srgbClr val="262B33"/>
                </a:solidFill>
                <a:latin typeface="Meiryo"/>
                <a:ea typeface="Meiryo"/>
              </a:rPr>
              <a:t>令和8年度 第3回 介護支援専門員研修会</a:t>
            </a:r>
          </a:p>
        </p:txBody>
      </p:sp>
      <p:sp>
        <p:nvSpPr>
          <p:cNvPr id="13" name="Rectangle 12"/>
          <p:cNvSpPr/>
          <p:nvPr/>
        </p:nvSpPr>
        <p:spPr>
          <a:xfrm>
            <a:off x="731520" y="2157984"/>
            <a:ext cx="1554480" cy="36576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157984"/>
            <a:ext cx="1389888" cy="365760"/>
          </a:xfrm>
          <a:prstGeom prst="rect">
            <a:avLst/>
          </a:prstGeom>
          <a:noFill/>
        </p:spPr>
        <p:txBody>
          <a:bodyPr wrap="square" anchor="ctr">
            <a:spAutoFit/>
          </a:bodyPr>
          <a:lstStyle/>
          <a:p>
            <a:pPr algn="l">
              <a:lnSpc>
                <a:spcPct val="115000"/>
              </a:lnSpc>
              <a:spcAft>
                <a:spcPts val="200"/>
              </a:spcAft>
            </a:pPr>
            <a:r>
              <a:rPr sz="1200" b="1" i="0">
                <a:solidFill>
                  <a:srgbClr val="FFFFFF"/>
                </a:solidFill>
                <a:latin typeface="Meiryo"/>
                <a:ea typeface="Meiryo"/>
              </a:rPr>
              <a:t>主　　催</a:t>
            </a:r>
          </a:p>
        </p:txBody>
      </p:sp>
      <p:sp>
        <p:nvSpPr>
          <p:cNvPr id="15" name="Rectangle 14"/>
          <p:cNvSpPr/>
          <p:nvPr/>
        </p:nvSpPr>
        <p:spPr>
          <a:xfrm>
            <a:off x="2286000" y="2157984"/>
            <a:ext cx="5760720" cy="365760"/>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95728" y="2157984"/>
            <a:ext cx="5559552" cy="365760"/>
          </a:xfrm>
          <a:prstGeom prst="rect">
            <a:avLst/>
          </a:prstGeom>
          <a:noFill/>
        </p:spPr>
        <p:txBody>
          <a:bodyPr wrap="square" anchor="ctr">
            <a:spAutoFit/>
          </a:bodyPr>
          <a:lstStyle/>
          <a:p>
            <a:pPr algn="l">
              <a:lnSpc>
                <a:spcPct val="115000"/>
              </a:lnSpc>
              <a:spcAft>
                <a:spcPts val="200"/>
              </a:spcAft>
            </a:pPr>
            <a:r>
              <a:rPr sz="1200" b="0" i="0">
                <a:solidFill>
                  <a:srgbClr val="262B33"/>
                </a:solidFill>
                <a:latin typeface="Meiryo"/>
                <a:ea typeface="Meiryo"/>
              </a:rPr>
              <a:t>日本橋おとしより相談センター</a:t>
            </a:r>
          </a:p>
        </p:txBody>
      </p:sp>
      <p:sp>
        <p:nvSpPr>
          <p:cNvPr id="17" name="Rectangle 16"/>
          <p:cNvSpPr/>
          <p:nvPr/>
        </p:nvSpPr>
        <p:spPr>
          <a:xfrm>
            <a:off x="731520" y="2615184"/>
            <a:ext cx="1554480" cy="36576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615184"/>
            <a:ext cx="1389888" cy="365760"/>
          </a:xfrm>
          <a:prstGeom prst="rect">
            <a:avLst/>
          </a:prstGeom>
          <a:noFill/>
        </p:spPr>
        <p:txBody>
          <a:bodyPr wrap="square" anchor="ctr">
            <a:spAutoFit/>
          </a:bodyPr>
          <a:lstStyle/>
          <a:p>
            <a:pPr algn="l">
              <a:lnSpc>
                <a:spcPct val="115000"/>
              </a:lnSpc>
              <a:spcAft>
                <a:spcPts val="200"/>
              </a:spcAft>
            </a:pPr>
            <a:r>
              <a:rPr sz="1200" b="1" i="0">
                <a:solidFill>
                  <a:srgbClr val="FFFFFF"/>
                </a:solidFill>
                <a:latin typeface="Meiryo"/>
                <a:ea typeface="Meiryo"/>
              </a:rPr>
              <a:t>日　　時</a:t>
            </a:r>
          </a:p>
        </p:txBody>
      </p:sp>
      <p:sp>
        <p:nvSpPr>
          <p:cNvPr id="19" name="Rectangle 18"/>
          <p:cNvSpPr/>
          <p:nvPr/>
        </p:nvSpPr>
        <p:spPr>
          <a:xfrm>
            <a:off x="2286000" y="2615184"/>
            <a:ext cx="5760720" cy="365760"/>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95728" y="2615184"/>
            <a:ext cx="5559552" cy="365760"/>
          </a:xfrm>
          <a:prstGeom prst="rect">
            <a:avLst/>
          </a:prstGeom>
          <a:noFill/>
        </p:spPr>
        <p:txBody>
          <a:bodyPr wrap="square" anchor="ctr">
            <a:spAutoFit/>
          </a:bodyPr>
          <a:lstStyle/>
          <a:p>
            <a:pPr algn="l">
              <a:lnSpc>
                <a:spcPct val="115000"/>
              </a:lnSpc>
              <a:spcAft>
                <a:spcPts val="200"/>
              </a:spcAft>
            </a:pPr>
            <a:r>
              <a:rPr sz="1200" b="0" i="0">
                <a:solidFill>
                  <a:srgbClr val="262B33"/>
                </a:solidFill>
                <a:latin typeface="Meiryo"/>
                <a:ea typeface="Meiryo"/>
              </a:rPr>
              <a:t>令和8年6月25日(木) 14:00〜16:00</a:t>
            </a:r>
          </a:p>
        </p:txBody>
      </p:sp>
      <p:sp>
        <p:nvSpPr>
          <p:cNvPr id="21" name="Rectangle 20"/>
          <p:cNvSpPr/>
          <p:nvPr/>
        </p:nvSpPr>
        <p:spPr>
          <a:xfrm>
            <a:off x="731520" y="3072384"/>
            <a:ext cx="1554480" cy="36576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072384"/>
            <a:ext cx="1389888" cy="365760"/>
          </a:xfrm>
          <a:prstGeom prst="rect">
            <a:avLst/>
          </a:prstGeom>
          <a:noFill/>
        </p:spPr>
        <p:txBody>
          <a:bodyPr wrap="square" anchor="ctr">
            <a:spAutoFit/>
          </a:bodyPr>
          <a:lstStyle/>
          <a:p>
            <a:pPr algn="l">
              <a:lnSpc>
                <a:spcPct val="115000"/>
              </a:lnSpc>
              <a:spcAft>
                <a:spcPts val="200"/>
              </a:spcAft>
            </a:pPr>
            <a:r>
              <a:rPr sz="1200" b="1" i="0">
                <a:solidFill>
                  <a:srgbClr val="FFFFFF"/>
                </a:solidFill>
                <a:latin typeface="Meiryo"/>
                <a:ea typeface="Meiryo"/>
              </a:rPr>
              <a:t>会　　場</a:t>
            </a:r>
          </a:p>
        </p:txBody>
      </p:sp>
      <p:sp>
        <p:nvSpPr>
          <p:cNvPr id="23" name="Rectangle 22"/>
          <p:cNvSpPr/>
          <p:nvPr/>
        </p:nvSpPr>
        <p:spPr>
          <a:xfrm>
            <a:off x="2286000" y="3072384"/>
            <a:ext cx="5760720" cy="365760"/>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95728" y="3072384"/>
            <a:ext cx="5559552" cy="365760"/>
          </a:xfrm>
          <a:prstGeom prst="rect">
            <a:avLst/>
          </a:prstGeom>
          <a:noFill/>
        </p:spPr>
        <p:txBody>
          <a:bodyPr wrap="square" anchor="ctr">
            <a:spAutoFit/>
          </a:bodyPr>
          <a:lstStyle/>
          <a:p>
            <a:pPr algn="l">
              <a:lnSpc>
                <a:spcPct val="115000"/>
              </a:lnSpc>
              <a:spcAft>
                <a:spcPts val="200"/>
              </a:spcAft>
            </a:pPr>
            <a:r>
              <a:rPr sz="1200" b="0" i="0">
                <a:solidFill>
                  <a:srgbClr val="262B33"/>
                </a:solidFill>
                <a:latin typeface="Meiryo"/>
                <a:ea typeface="Meiryo"/>
              </a:rPr>
              <a:t>人形町区民館</a:t>
            </a:r>
          </a:p>
        </p:txBody>
      </p:sp>
      <p:sp>
        <p:nvSpPr>
          <p:cNvPr id="25" name="Rectangle 24"/>
          <p:cNvSpPr/>
          <p:nvPr/>
        </p:nvSpPr>
        <p:spPr>
          <a:xfrm>
            <a:off x="731520" y="3529584"/>
            <a:ext cx="1554480" cy="36576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529584"/>
            <a:ext cx="1389888" cy="365760"/>
          </a:xfrm>
          <a:prstGeom prst="rect">
            <a:avLst/>
          </a:prstGeom>
          <a:noFill/>
        </p:spPr>
        <p:txBody>
          <a:bodyPr wrap="square" anchor="ctr">
            <a:spAutoFit/>
          </a:bodyPr>
          <a:lstStyle/>
          <a:p>
            <a:pPr algn="l">
              <a:lnSpc>
                <a:spcPct val="115000"/>
              </a:lnSpc>
              <a:spcAft>
                <a:spcPts val="200"/>
              </a:spcAft>
            </a:pPr>
            <a:r>
              <a:rPr sz="1200" b="1" i="0">
                <a:solidFill>
                  <a:srgbClr val="FFFFFF"/>
                </a:solidFill>
                <a:latin typeface="Meiryo"/>
                <a:ea typeface="Meiryo"/>
              </a:rPr>
              <a:t>対　　象</a:t>
            </a:r>
          </a:p>
        </p:txBody>
      </p:sp>
      <p:sp>
        <p:nvSpPr>
          <p:cNvPr id="27" name="Rectangle 26"/>
          <p:cNvSpPr/>
          <p:nvPr/>
        </p:nvSpPr>
        <p:spPr>
          <a:xfrm>
            <a:off x="2286000" y="3529584"/>
            <a:ext cx="5760720" cy="365760"/>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95728" y="3529584"/>
            <a:ext cx="5559552" cy="365760"/>
          </a:xfrm>
          <a:prstGeom prst="rect">
            <a:avLst/>
          </a:prstGeom>
          <a:noFill/>
        </p:spPr>
        <p:txBody>
          <a:bodyPr wrap="square" anchor="ctr">
            <a:spAutoFit/>
          </a:bodyPr>
          <a:lstStyle/>
          <a:p>
            <a:pPr algn="l">
              <a:lnSpc>
                <a:spcPct val="115000"/>
              </a:lnSpc>
              <a:spcAft>
                <a:spcPts val="200"/>
              </a:spcAft>
            </a:pPr>
            <a:r>
              <a:rPr sz="1200" b="0" i="0">
                <a:solidFill>
                  <a:srgbClr val="262B33"/>
                </a:solidFill>
                <a:latin typeface="Meiryo"/>
                <a:ea typeface="Meiryo"/>
              </a:rPr>
              <a:t>中央区で活動する介護支援専門員（定員30名／主任ケアマネ含む実務者）</a:t>
            </a:r>
          </a:p>
        </p:txBody>
      </p:sp>
      <p:sp>
        <p:nvSpPr>
          <p:cNvPr id="29" name="Rectangle 28"/>
          <p:cNvSpPr/>
          <p:nvPr/>
        </p:nvSpPr>
        <p:spPr>
          <a:xfrm>
            <a:off x="731520" y="3986784"/>
            <a:ext cx="1554480" cy="36576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986784"/>
            <a:ext cx="1389888" cy="365760"/>
          </a:xfrm>
          <a:prstGeom prst="rect">
            <a:avLst/>
          </a:prstGeom>
          <a:noFill/>
        </p:spPr>
        <p:txBody>
          <a:bodyPr wrap="square" anchor="ctr">
            <a:spAutoFit/>
          </a:bodyPr>
          <a:lstStyle/>
          <a:p>
            <a:pPr algn="l">
              <a:lnSpc>
                <a:spcPct val="115000"/>
              </a:lnSpc>
              <a:spcAft>
                <a:spcPts val="200"/>
              </a:spcAft>
            </a:pPr>
            <a:r>
              <a:rPr sz="1200" b="1" i="0">
                <a:solidFill>
                  <a:srgbClr val="FFFFFF"/>
                </a:solidFill>
                <a:latin typeface="Meiryo"/>
                <a:ea typeface="Meiryo"/>
              </a:rPr>
              <a:t>テ ー マ</a:t>
            </a:r>
          </a:p>
        </p:txBody>
      </p:sp>
      <p:sp>
        <p:nvSpPr>
          <p:cNvPr id="31" name="Rectangle 30"/>
          <p:cNvSpPr/>
          <p:nvPr/>
        </p:nvSpPr>
        <p:spPr>
          <a:xfrm>
            <a:off x="2286000" y="3986784"/>
            <a:ext cx="5760720" cy="365760"/>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95728" y="3986784"/>
            <a:ext cx="5559552" cy="365760"/>
          </a:xfrm>
          <a:prstGeom prst="rect">
            <a:avLst/>
          </a:prstGeom>
          <a:noFill/>
        </p:spPr>
        <p:txBody>
          <a:bodyPr wrap="square" anchor="ctr">
            <a:spAutoFit/>
          </a:bodyPr>
          <a:lstStyle/>
          <a:p>
            <a:pPr algn="l">
              <a:lnSpc>
                <a:spcPct val="115000"/>
              </a:lnSpc>
              <a:spcAft>
                <a:spcPts val="200"/>
              </a:spcAft>
            </a:pPr>
            <a:r>
              <a:rPr sz="1200" b="0" i="0">
                <a:solidFill>
                  <a:srgbClr val="262B33"/>
                </a:solidFill>
                <a:latin typeface="Meiryo"/>
                <a:ea typeface="Meiryo"/>
              </a:rPr>
              <a:t>高齢者を取り巻く様々な問題への支援</a:t>
            </a:r>
          </a:p>
        </p:txBody>
      </p:sp>
      <p:sp>
        <p:nvSpPr>
          <p:cNvPr id="33" name="Rectangle 32"/>
          <p:cNvSpPr/>
          <p:nvPr/>
        </p:nvSpPr>
        <p:spPr>
          <a:xfrm>
            <a:off x="731520" y="4443984"/>
            <a:ext cx="1554480" cy="36576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443984"/>
            <a:ext cx="1389888" cy="365760"/>
          </a:xfrm>
          <a:prstGeom prst="rect">
            <a:avLst/>
          </a:prstGeom>
          <a:noFill/>
        </p:spPr>
        <p:txBody>
          <a:bodyPr wrap="square" anchor="ctr">
            <a:spAutoFit/>
          </a:bodyPr>
          <a:lstStyle/>
          <a:p>
            <a:pPr algn="l">
              <a:lnSpc>
                <a:spcPct val="115000"/>
              </a:lnSpc>
              <a:spcAft>
                <a:spcPts val="200"/>
              </a:spcAft>
            </a:pPr>
            <a:r>
              <a:rPr sz="1200" b="1" i="0">
                <a:solidFill>
                  <a:srgbClr val="FFFFFF"/>
                </a:solidFill>
                <a:latin typeface="Meiryo"/>
                <a:ea typeface="Meiryo"/>
              </a:rPr>
              <a:t>講　　師</a:t>
            </a:r>
          </a:p>
        </p:txBody>
      </p:sp>
      <p:sp>
        <p:nvSpPr>
          <p:cNvPr id="35" name="Rectangle 34"/>
          <p:cNvSpPr/>
          <p:nvPr/>
        </p:nvSpPr>
        <p:spPr>
          <a:xfrm>
            <a:off x="2286000" y="4443984"/>
            <a:ext cx="5760720" cy="365760"/>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95728" y="4443984"/>
            <a:ext cx="5559552" cy="365760"/>
          </a:xfrm>
          <a:prstGeom prst="rect">
            <a:avLst/>
          </a:prstGeom>
          <a:noFill/>
        </p:spPr>
        <p:txBody>
          <a:bodyPr wrap="square" anchor="ctr">
            <a:spAutoFit/>
          </a:bodyPr>
          <a:lstStyle/>
          <a:p>
            <a:pPr algn="l">
              <a:lnSpc>
                <a:spcPct val="115000"/>
              </a:lnSpc>
              <a:spcAft>
                <a:spcPts val="200"/>
              </a:spcAft>
            </a:pPr>
            <a:r>
              <a:rPr sz="1200" b="0" i="0">
                <a:solidFill>
                  <a:srgbClr val="262B33"/>
                </a:solidFill>
                <a:latin typeface="Meiryo"/>
                <a:ea typeface="Meiryo"/>
              </a:rPr>
              <a:t>司法書士 大谷雅彦 氏（リーガルサポート東京支部 中央地区リーダー）</a:t>
            </a:r>
          </a:p>
        </p:txBody>
      </p:sp>
      <p:sp>
        <p:nvSpPr>
          <p:cNvPr id="37" name="Rounded Rectangle 36"/>
          <p:cNvSpPr/>
          <p:nvPr/>
        </p:nvSpPr>
        <p:spPr>
          <a:xfrm>
            <a:off x="731520" y="4974336"/>
            <a:ext cx="7315200" cy="1143000"/>
          </a:xfrm>
          <a:prstGeom prst="roundRect">
            <a:avLst>
              <a:gd name="adj" fmla="val 5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047488"/>
            <a:ext cx="6949440" cy="320040"/>
          </a:xfrm>
          <a:prstGeom prst="rect">
            <a:avLst/>
          </a:prstGeom>
          <a:noFill/>
        </p:spPr>
        <p:txBody>
          <a:bodyPr wrap="square" anchor="t">
            <a:spAutoFit/>
          </a:bodyPr>
          <a:lstStyle/>
          <a:p>
            <a:pPr algn="l">
              <a:lnSpc>
                <a:spcPct val="115000"/>
              </a:lnSpc>
              <a:spcAft>
                <a:spcPts val="200"/>
              </a:spcAft>
            </a:pPr>
            <a:r>
              <a:rPr sz="1300" b="1" i="0">
                <a:solidFill>
                  <a:srgbClr val="1F3A5F"/>
                </a:solidFill>
                <a:latin typeface="Meiryo"/>
                <a:ea typeface="Meiryo"/>
              </a:rPr>
              <a:t>◆ 想定される講師の話題（予習の的を絞る）</a:t>
            </a:r>
          </a:p>
        </p:txBody>
      </p:sp>
      <p:sp>
        <p:nvSpPr>
          <p:cNvPr id="39" name="TextBox 38"/>
          <p:cNvSpPr txBox="1"/>
          <p:nvPr/>
        </p:nvSpPr>
        <p:spPr>
          <a:xfrm>
            <a:off x="914400" y="5358384"/>
            <a:ext cx="6949440" cy="640080"/>
          </a:xfrm>
          <a:prstGeom prst="rect">
            <a:avLst/>
          </a:prstGeom>
          <a:noFill/>
        </p:spPr>
        <p:txBody>
          <a:bodyPr wrap="square" anchor="t">
            <a:spAutoFit/>
          </a:bodyPr>
          <a:lstStyle/>
          <a:p>
            <a:pPr algn="l">
              <a:lnSpc>
                <a:spcPct val="125000"/>
              </a:lnSpc>
              <a:spcAft>
                <a:spcPts val="200"/>
              </a:spcAft>
            </a:pPr>
            <a:r>
              <a:rPr sz="1200" b="0" i="0">
                <a:solidFill>
                  <a:srgbClr val="262B33"/>
                </a:solidFill>
                <a:latin typeface="Meiryo"/>
                <a:ea typeface="Meiryo"/>
              </a:rPr>
              <a:t>・ 成年後見制度（法定後見・任意後見、2026年改正の動向）</a:t>
            </a:r>
          </a:p>
          <a:p>
            <a:pPr algn="l">
              <a:lnSpc>
                <a:spcPct val="125000"/>
              </a:lnSpc>
              <a:spcAft>
                <a:spcPts val="200"/>
              </a:spcAft>
            </a:pPr>
            <a:r>
              <a:rPr sz="1200" b="0" i="0">
                <a:solidFill>
                  <a:srgbClr val="262B33"/>
                </a:solidFill>
                <a:latin typeface="Meiryo"/>
                <a:ea typeface="Meiryo"/>
              </a:rPr>
              <a:t>・ 身寄りのない認知症高齢者への支援（身元保証・医療同意・死後事務・連携）</a:t>
            </a:r>
          </a:p>
        </p:txBody>
      </p:sp>
      <p:sp>
        <p:nvSpPr>
          <p:cNvPr id="40" name="Rectangle 39"/>
          <p:cNvSpPr/>
          <p:nvPr/>
        </p:nvSpPr>
        <p:spPr>
          <a:xfrm>
            <a:off x="8275320" y="1700784"/>
            <a:ext cx="3182112" cy="4572000"/>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85048" y="1746504"/>
            <a:ext cx="1828800" cy="274320"/>
          </a:xfrm>
          <a:prstGeom prst="rect">
            <a:avLst/>
          </a:prstGeom>
          <a:noFill/>
        </p:spPr>
        <p:txBody>
          <a:bodyPr wrap="square" anchor="t">
            <a:spAutoFit/>
          </a:bodyPr>
          <a:lstStyle/>
          <a:p>
            <a:pPr algn="l">
              <a:lnSpc>
                <a:spcPct val="115000"/>
              </a:lnSpc>
              <a:spcAft>
                <a:spcPts val="200"/>
              </a:spcAft>
            </a:pPr>
            <a:r>
              <a:rPr sz="1000" b="1" i="0">
                <a:solidFill>
                  <a:srgbClr val="9A863A"/>
                </a:solidFill>
                <a:latin typeface="Meiryo"/>
                <a:ea typeface="Meiryo"/>
              </a:rPr>
              <a:t>✎ 当日メモ</a:t>
            </a:r>
          </a:p>
        </p:txBody>
      </p:sp>
      <p:sp>
        <p:nvSpPr>
          <p:cNvPr id="42" name="Rectangle 41"/>
          <p:cNvSpPr/>
          <p:nvPr/>
        </p:nvSpPr>
        <p:spPr>
          <a:xfrm>
            <a:off x="8412480" y="217627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412480" y="256032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412480" y="294436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412480" y="332841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412480" y="371246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412480" y="409651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412480" y="448056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412480" y="486460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412480" y="524865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412480" y="563270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412480" y="601675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 サブタイトル：介護支援専門員と法律専門職との協力関係の確立を目指して</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導入</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ケアマネが直面する典型事例 ── あなたなら、どうつなぐ？</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04</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TextBox 8"/>
          <p:cNvSpPr txBox="1"/>
          <p:nvPr/>
        </p:nvSpPr>
        <p:spPr>
          <a:xfrm>
            <a:off x="731520" y="1700784"/>
            <a:ext cx="10698480" cy="365760"/>
          </a:xfrm>
          <a:prstGeom prst="rect">
            <a:avLst/>
          </a:prstGeom>
          <a:noFill/>
        </p:spPr>
        <p:txBody>
          <a:bodyPr wrap="square" anchor="t">
            <a:spAutoFit/>
          </a:bodyPr>
          <a:lstStyle/>
          <a:p>
            <a:pPr algn="l">
              <a:lnSpc>
                <a:spcPct val="115000"/>
              </a:lnSpc>
              <a:spcAft>
                <a:spcPts val="200"/>
              </a:spcAft>
            </a:pPr>
            <a:r>
              <a:rPr sz="1200" b="0" i="0">
                <a:solidFill>
                  <a:srgbClr val="5C636E"/>
                </a:solidFill>
                <a:latin typeface="Meiryo"/>
                <a:ea typeface="Meiryo"/>
              </a:rPr>
              <a:t>下記はいずれも「法律専門職との連携」が鍵になる場面。本資料は、この3事例に答えるための予習です。</a:t>
            </a:r>
          </a:p>
        </p:txBody>
      </p:sp>
      <p:sp>
        <p:nvSpPr>
          <p:cNvPr id="10" name="Rounded Rectangle 9"/>
          <p:cNvSpPr/>
          <p:nvPr/>
        </p:nvSpPr>
        <p:spPr>
          <a:xfrm>
            <a:off x="731520" y="2157984"/>
            <a:ext cx="3456432" cy="288036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2157984"/>
            <a:ext cx="3456432" cy="420624"/>
          </a:xfrm>
          <a:prstGeom prst="roundRect">
            <a:avLst>
              <a:gd name="adj" fmla="val 4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432304"/>
            <a:ext cx="3456432" cy="1463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2157984"/>
            <a:ext cx="3236976" cy="420624"/>
          </a:xfrm>
          <a:prstGeom prst="rect">
            <a:avLst/>
          </a:prstGeom>
          <a:noFill/>
        </p:spPr>
        <p:txBody>
          <a:bodyPr wrap="square" anchor="ctr">
            <a:spAutoFit/>
          </a:bodyPr>
          <a:lstStyle/>
          <a:p>
            <a:pPr algn="l">
              <a:lnSpc>
                <a:spcPct val="115000"/>
              </a:lnSpc>
              <a:spcAft>
                <a:spcPts val="200"/>
              </a:spcAft>
            </a:pPr>
            <a:r>
              <a:rPr sz="1300" b="1" i="0">
                <a:solidFill>
                  <a:srgbClr val="FFFFFF"/>
                </a:solidFill>
                <a:latin typeface="Meiryo"/>
                <a:ea typeface="Meiryo"/>
              </a:rPr>
              <a:t>事例A 金銭管理の限界</a:t>
            </a:r>
          </a:p>
        </p:txBody>
      </p:sp>
      <p:sp>
        <p:nvSpPr>
          <p:cNvPr id="14" name="TextBox 13"/>
          <p:cNvSpPr txBox="1"/>
          <p:nvPr/>
        </p:nvSpPr>
        <p:spPr>
          <a:xfrm>
            <a:off x="877824" y="2688336"/>
            <a:ext cx="3182112" cy="2240280"/>
          </a:xfrm>
          <a:prstGeom prst="rect">
            <a:avLst/>
          </a:prstGeom>
          <a:noFill/>
        </p:spPr>
        <p:txBody>
          <a:bodyPr wrap="square" anchor="t">
            <a:spAutoFit/>
          </a:bodyPr>
          <a:lstStyle/>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独居・認知症が進行。預貯金を管理できず公共料金が滞納。</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親族は遠方の甥のみ。本人は通帳の場所も曖昧。</a:t>
            </a:r>
          </a:p>
          <a:p>
            <a:pPr algn="l">
              <a:lnSpc>
                <a:spcPct val="120000"/>
              </a:lnSpc>
              <a:spcAft>
                <a:spcPts val="400"/>
              </a:spcAft>
            </a:pPr>
            <a:r>
              <a:rPr sz="1150" b="1" i="0">
                <a:solidFill>
                  <a:srgbClr val="2E8B8B"/>
                </a:solidFill>
                <a:latin typeface="Meiryo"/>
                <a:ea typeface="Meiryo"/>
              </a:rPr>
              <a:t>• </a:t>
            </a:r>
            <a:r>
              <a:rPr sz="1150" b="0" i="0">
                <a:solidFill>
                  <a:srgbClr val="1F3A5F"/>
                </a:solidFill>
                <a:latin typeface="Meiryo"/>
                <a:ea typeface="Meiryo"/>
              </a:rPr>
              <a:t>→ 日常生活自立支援事業？ 補助・保佐・後見？</a:t>
            </a:r>
          </a:p>
        </p:txBody>
      </p:sp>
      <p:sp>
        <p:nvSpPr>
          <p:cNvPr id="15" name="Rounded Rectangle 14"/>
          <p:cNvSpPr/>
          <p:nvPr/>
        </p:nvSpPr>
        <p:spPr>
          <a:xfrm>
            <a:off x="4370832" y="2157984"/>
            <a:ext cx="3456432" cy="288036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0832" y="2157984"/>
            <a:ext cx="3456432" cy="420624"/>
          </a:xfrm>
          <a:prstGeom prst="roundRect">
            <a:avLst>
              <a:gd name="adj" fmla="val 4000"/>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2432304"/>
            <a:ext cx="3456432" cy="146304"/>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2157984"/>
            <a:ext cx="3236976" cy="420624"/>
          </a:xfrm>
          <a:prstGeom prst="rect">
            <a:avLst/>
          </a:prstGeom>
          <a:noFill/>
        </p:spPr>
        <p:txBody>
          <a:bodyPr wrap="square" anchor="ctr">
            <a:spAutoFit/>
          </a:bodyPr>
          <a:lstStyle/>
          <a:p>
            <a:pPr algn="l">
              <a:lnSpc>
                <a:spcPct val="115000"/>
              </a:lnSpc>
              <a:spcAft>
                <a:spcPts val="200"/>
              </a:spcAft>
            </a:pPr>
            <a:r>
              <a:rPr sz="1300" b="1" i="0">
                <a:solidFill>
                  <a:srgbClr val="FFFFFF"/>
                </a:solidFill>
                <a:latin typeface="Meiryo"/>
                <a:ea typeface="Meiryo"/>
              </a:rPr>
              <a:t>事例B 入院と身元保証</a:t>
            </a:r>
          </a:p>
        </p:txBody>
      </p:sp>
      <p:sp>
        <p:nvSpPr>
          <p:cNvPr id="19" name="TextBox 18"/>
          <p:cNvSpPr txBox="1"/>
          <p:nvPr/>
        </p:nvSpPr>
        <p:spPr>
          <a:xfrm>
            <a:off x="4517136" y="2688336"/>
            <a:ext cx="3182112" cy="2240280"/>
          </a:xfrm>
          <a:prstGeom prst="rect">
            <a:avLst/>
          </a:prstGeom>
          <a:noFill/>
        </p:spPr>
        <p:txBody>
          <a:bodyPr wrap="square" anchor="t">
            <a:spAutoFit/>
          </a:bodyPr>
          <a:lstStyle/>
          <a:p>
            <a:pPr algn="l">
              <a:lnSpc>
                <a:spcPct val="120000"/>
              </a:lnSpc>
              <a:spcAft>
                <a:spcPts val="400"/>
              </a:spcAft>
            </a:pPr>
            <a:r>
              <a:rPr sz="1150" b="1" i="0">
                <a:solidFill>
                  <a:srgbClr val="C99A3A"/>
                </a:solidFill>
                <a:latin typeface="Meiryo"/>
                <a:ea typeface="Meiryo"/>
              </a:rPr>
              <a:t>• </a:t>
            </a:r>
            <a:r>
              <a:rPr sz="1150" b="0" i="0">
                <a:solidFill>
                  <a:srgbClr val="262B33"/>
                </a:solidFill>
                <a:latin typeface="Meiryo"/>
                <a:ea typeface="Meiryo"/>
              </a:rPr>
              <a:t>身寄りなし高齢者が緊急入院。病院は「身元保証人を」と要求。</a:t>
            </a:r>
          </a:p>
          <a:p>
            <a:pPr algn="l">
              <a:lnSpc>
                <a:spcPct val="120000"/>
              </a:lnSpc>
              <a:spcAft>
                <a:spcPts val="400"/>
              </a:spcAft>
            </a:pPr>
            <a:r>
              <a:rPr sz="1150" b="1" i="0">
                <a:solidFill>
                  <a:srgbClr val="C99A3A"/>
                </a:solidFill>
                <a:latin typeface="Meiryo"/>
                <a:ea typeface="Meiryo"/>
              </a:rPr>
              <a:t>• </a:t>
            </a:r>
            <a:r>
              <a:rPr sz="1150" b="0" i="0">
                <a:solidFill>
                  <a:srgbClr val="262B33"/>
                </a:solidFill>
                <a:latin typeface="Meiryo"/>
                <a:ea typeface="Meiryo"/>
              </a:rPr>
              <a:t>手術の同意・入院費の支払いは誰が担うのか。</a:t>
            </a:r>
          </a:p>
          <a:p>
            <a:pPr algn="l">
              <a:lnSpc>
                <a:spcPct val="120000"/>
              </a:lnSpc>
              <a:spcAft>
                <a:spcPts val="400"/>
              </a:spcAft>
            </a:pPr>
            <a:r>
              <a:rPr sz="1150" b="1" i="0">
                <a:solidFill>
                  <a:srgbClr val="C99A3A"/>
                </a:solidFill>
                <a:latin typeface="Meiryo"/>
                <a:ea typeface="Meiryo"/>
              </a:rPr>
              <a:t>• </a:t>
            </a:r>
            <a:r>
              <a:rPr sz="1150" b="0" i="0">
                <a:solidFill>
                  <a:srgbClr val="1F3A5F"/>
                </a:solidFill>
                <a:latin typeface="Meiryo"/>
                <a:ea typeface="Meiryo"/>
              </a:rPr>
              <a:t>→ 身元保証・医療同意の「主体」を整理する。</a:t>
            </a:r>
          </a:p>
        </p:txBody>
      </p:sp>
      <p:sp>
        <p:nvSpPr>
          <p:cNvPr id="20" name="Rounded Rectangle 19"/>
          <p:cNvSpPr/>
          <p:nvPr/>
        </p:nvSpPr>
        <p:spPr>
          <a:xfrm>
            <a:off x="8010144" y="2157984"/>
            <a:ext cx="3456432" cy="288036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10144" y="2157984"/>
            <a:ext cx="3456432" cy="420624"/>
          </a:xfrm>
          <a:prstGeom prst="roundRect">
            <a:avLst>
              <a:gd name="adj" fmla="val 4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0144" y="2432304"/>
            <a:ext cx="3456432" cy="1463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0" y="2157984"/>
            <a:ext cx="3236976" cy="420624"/>
          </a:xfrm>
          <a:prstGeom prst="rect">
            <a:avLst/>
          </a:prstGeom>
          <a:noFill/>
        </p:spPr>
        <p:txBody>
          <a:bodyPr wrap="square" anchor="ctr">
            <a:spAutoFit/>
          </a:bodyPr>
          <a:lstStyle/>
          <a:p>
            <a:pPr algn="l">
              <a:lnSpc>
                <a:spcPct val="115000"/>
              </a:lnSpc>
              <a:spcAft>
                <a:spcPts val="200"/>
              </a:spcAft>
            </a:pPr>
            <a:r>
              <a:rPr sz="1300" b="1" i="0">
                <a:solidFill>
                  <a:srgbClr val="FFFFFF"/>
                </a:solidFill>
                <a:latin typeface="Meiryo"/>
                <a:ea typeface="Meiryo"/>
              </a:rPr>
              <a:t>事例C 単身死亡後の事務</a:t>
            </a:r>
          </a:p>
        </p:txBody>
      </p:sp>
      <p:sp>
        <p:nvSpPr>
          <p:cNvPr id="24" name="TextBox 23"/>
          <p:cNvSpPr txBox="1"/>
          <p:nvPr/>
        </p:nvSpPr>
        <p:spPr>
          <a:xfrm>
            <a:off x="8156448" y="2688336"/>
            <a:ext cx="3182112" cy="2240280"/>
          </a:xfrm>
          <a:prstGeom prst="rect">
            <a:avLst/>
          </a:prstGeom>
          <a:noFill/>
        </p:spPr>
        <p:txBody>
          <a:bodyPr wrap="square" anchor="t">
            <a:spAutoFit/>
          </a:bodyPr>
          <a:lstStyle/>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利用者が単身で死亡。火葬・残置物・年金停止が宙に浮く。</a:t>
            </a:r>
          </a:p>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生前に死後事務の備えがなかった。</a:t>
            </a:r>
          </a:p>
          <a:p>
            <a:pPr algn="l">
              <a:lnSpc>
                <a:spcPct val="120000"/>
              </a:lnSpc>
              <a:spcAft>
                <a:spcPts val="400"/>
              </a:spcAft>
            </a:pPr>
            <a:r>
              <a:rPr sz="1150" b="1" i="0">
                <a:solidFill>
                  <a:srgbClr val="1F3A5F"/>
                </a:solidFill>
                <a:latin typeface="Meiryo"/>
                <a:ea typeface="Meiryo"/>
              </a:rPr>
              <a:t>• </a:t>
            </a:r>
            <a:r>
              <a:rPr sz="1150" b="0" i="0">
                <a:solidFill>
                  <a:srgbClr val="1F3A5F"/>
                </a:solidFill>
                <a:latin typeface="Meiryo"/>
                <a:ea typeface="Meiryo"/>
              </a:rPr>
              <a:t>→ 死後事務は誰が、どこまでできるのか。</a:t>
            </a:r>
          </a:p>
        </p:txBody>
      </p:sp>
      <p:sp>
        <p:nvSpPr>
          <p:cNvPr id="25" name="Rectangle 24"/>
          <p:cNvSpPr/>
          <p:nvPr/>
        </p:nvSpPr>
        <p:spPr>
          <a:xfrm>
            <a:off x="731520" y="5221224"/>
            <a:ext cx="10725912" cy="566928"/>
          </a:xfrm>
          <a:prstGeom prst="rect">
            <a:avLst/>
          </a:prstGeom>
          <a:solidFill>
            <a:srgbClr val="FCF3DD"/>
          </a:solidFill>
          <a:ln w="12700">
            <a:solidFill>
              <a:srgbClr val="C99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294376"/>
            <a:ext cx="10424160" cy="457200"/>
          </a:xfrm>
          <a:prstGeom prst="rect">
            <a:avLst/>
          </a:prstGeom>
          <a:noFill/>
        </p:spPr>
        <p:txBody>
          <a:bodyPr wrap="square" anchor="ctr">
            <a:spAutoFit/>
          </a:bodyPr>
          <a:lstStyle/>
          <a:p>
            <a:pPr algn="l">
              <a:lnSpc>
                <a:spcPct val="115000"/>
              </a:lnSpc>
              <a:spcAft>
                <a:spcPts val="200"/>
              </a:spcAft>
            </a:pPr>
            <a:r>
              <a:rPr sz="1250" b="1" i="0">
                <a:solidFill>
                  <a:srgbClr val="262B33"/>
                </a:solidFill>
                <a:latin typeface="Meiryo"/>
                <a:ea typeface="Meiryo"/>
              </a:rPr>
              <a:t>共通する問い：ケアマネは「保証人代わり」になるのではなく、“機能ごと”に適切な制度・専門職へどうつなぐか。</a:t>
            </a:r>
          </a:p>
        </p:txBody>
      </p:sp>
      <p:sp>
        <p:nvSpPr>
          <p:cNvPr id="27" name="TextBox 26"/>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当日メモ：自分の担当ケースで似た事例は？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制度の基礎</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成年後見制度の全体像</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05</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TextBox 8"/>
          <p:cNvSpPr txBox="1"/>
          <p:nvPr/>
        </p:nvSpPr>
        <p:spPr>
          <a:xfrm>
            <a:off x="731520" y="1700784"/>
            <a:ext cx="7315200" cy="640080"/>
          </a:xfrm>
          <a:prstGeom prst="rect">
            <a:avLst/>
          </a:prstGeom>
          <a:noFill/>
        </p:spPr>
        <p:txBody>
          <a:bodyPr wrap="square" anchor="t">
            <a:spAutoFit/>
          </a:bodyPr>
          <a:lstStyle/>
          <a:p>
            <a:pPr algn="l">
              <a:lnSpc>
                <a:spcPct val="125000"/>
              </a:lnSpc>
              <a:spcAft>
                <a:spcPts val="200"/>
              </a:spcAft>
            </a:pPr>
            <a:r>
              <a:rPr sz="1300" b="0" i="0">
                <a:solidFill>
                  <a:srgbClr val="262B33"/>
                </a:solidFill>
                <a:latin typeface="Meiryo"/>
                <a:ea typeface="Meiryo"/>
              </a:rPr>
              <a:t>判断能力が不十分な人の 財産管理 と 身上保護 を、法的な権限をもって支える制度。本人の意思決定支援と権利擁護が理念。</a:t>
            </a:r>
          </a:p>
        </p:txBody>
      </p:sp>
      <p:sp>
        <p:nvSpPr>
          <p:cNvPr id="10" name="TextBox 9"/>
          <p:cNvSpPr txBox="1"/>
          <p:nvPr/>
        </p:nvSpPr>
        <p:spPr>
          <a:xfrm>
            <a:off x="731520" y="2478024"/>
            <a:ext cx="7315200" cy="320040"/>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 制度は2本柱</a:t>
            </a:r>
          </a:p>
        </p:txBody>
      </p:sp>
      <p:sp>
        <p:nvSpPr>
          <p:cNvPr id="11" name="Rounded Rectangle 10"/>
          <p:cNvSpPr/>
          <p:nvPr/>
        </p:nvSpPr>
        <p:spPr>
          <a:xfrm>
            <a:off x="731520" y="2843784"/>
            <a:ext cx="3566160" cy="169164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843784"/>
            <a:ext cx="3566160" cy="420624"/>
          </a:xfrm>
          <a:prstGeom prst="roundRect">
            <a:avLst>
              <a:gd name="adj" fmla="val 4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118104"/>
            <a:ext cx="3566160" cy="1463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843784"/>
            <a:ext cx="334670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法定後見</a:t>
            </a:r>
          </a:p>
        </p:txBody>
      </p:sp>
      <p:sp>
        <p:nvSpPr>
          <p:cNvPr id="15" name="TextBox 14"/>
          <p:cNvSpPr txBox="1"/>
          <p:nvPr/>
        </p:nvSpPr>
        <p:spPr>
          <a:xfrm>
            <a:off x="877824" y="3374136"/>
            <a:ext cx="3291840" cy="1051560"/>
          </a:xfrm>
          <a:prstGeom prst="rect">
            <a:avLst/>
          </a:prstGeom>
          <a:noFill/>
        </p:spPr>
        <p:txBody>
          <a:bodyPr wrap="square" anchor="t">
            <a:spAutoFit/>
          </a:bodyPr>
          <a:lstStyle/>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判断能力が低下した後に家庭裁判所が選任</a:t>
            </a:r>
          </a:p>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後見・保佐・補助 の3類型</a:t>
            </a:r>
          </a:p>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取消権あり</a:t>
            </a:r>
          </a:p>
        </p:txBody>
      </p:sp>
      <p:sp>
        <p:nvSpPr>
          <p:cNvPr id="16" name="Rounded Rectangle 15"/>
          <p:cNvSpPr/>
          <p:nvPr/>
        </p:nvSpPr>
        <p:spPr>
          <a:xfrm>
            <a:off x="4480560" y="2843784"/>
            <a:ext cx="3566160" cy="169164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80560" y="2843784"/>
            <a:ext cx="3566160" cy="420624"/>
          </a:xfrm>
          <a:prstGeom prst="roundRect">
            <a:avLst>
              <a:gd name="adj" fmla="val 4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3118104"/>
            <a:ext cx="3566160" cy="1463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576" y="2843784"/>
            <a:ext cx="334670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任意後見</a:t>
            </a:r>
          </a:p>
        </p:txBody>
      </p:sp>
      <p:sp>
        <p:nvSpPr>
          <p:cNvPr id="20" name="TextBox 19"/>
          <p:cNvSpPr txBox="1"/>
          <p:nvPr/>
        </p:nvSpPr>
        <p:spPr>
          <a:xfrm>
            <a:off x="4626864" y="3374136"/>
            <a:ext cx="3291840" cy="1051560"/>
          </a:xfrm>
          <a:prstGeom prst="rect">
            <a:avLst/>
          </a:prstGeom>
          <a:noFill/>
        </p:spPr>
        <p:txBody>
          <a:bodyPr wrap="square" anchor="t">
            <a:spAutoFit/>
          </a:bodyPr>
          <a:lstStyle/>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判断能力があるうちに本人が契約（公正証書）</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後見人を自分で選べる</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効力発生は監督人選任後／取消権なし</a:t>
            </a:r>
          </a:p>
        </p:txBody>
      </p:sp>
      <p:sp>
        <p:nvSpPr>
          <p:cNvPr id="21" name="Rounded Rectangle 20"/>
          <p:cNvSpPr/>
          <p:nvPr/>
        </p:nvSpPr>
        <p:spPr>
          <a:xfrm>
            <a:off x="731520" y="4718304"/>
            <a:ext cx="7315200" cy="1234440"/>
          </a:xfrm>
          <a:prstGeom prst="roundRect">
            <a:avLst>
              <a:gd name="adj" fmla="val 5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791456"/>
            <a:ext cx="6949440" cy="274320"/>
          </a:xfrm>
          <a:prstGeom prst="rect">
            <a:avLst/>
          </a:prstGeom>
          <a:noFill/>
        </p:spPr>
        <p:txBody>
          <a:bodyPr wrap="square" anchor="t">
            <a:spAutoFit/>
          </a:bodyPr>
          <a:lstStyle/>
          <a:p>
            <a:pPr algn="l">
              <a:lnSpc>
                <a:spcPct val="115000"/>
              </a:lnSpc>
              <a:spcAft>
                <a:spcPts val="200"/>
              </a:spcAft>
            </a:pPr>
            <a:r>
              <a:rPr sz="1250" b="1" i="0">
                <a:solidFill>
                  <a:srgbClr val="1F3A5F"/>
                </a:solidFill>
                <a:latin typeface="Meiryo"/>
                <a:ea typeface="Meiryo"/>
              </a:rPr>
              <a:t>◆ 利用者数（令和6年12月末・全国）</a:t>
            </a:r>
          </a:p>
        </p:txBody>
      </p:sp>
      <p:sp>
        <p:nvSpPr>
          <p:cNvPr id="23" name="TextBox 22"/>
          <p:cNvSpPr txBox="1"/>
          <p:nvPr/>
        </p:nvSpPr>
        <p:spPr>
          <a:xfrm>
            <a:off x="914400" y="5084064"/>
            <a:ext cx="1417320" cy="411480"/>
          </a:xfrm>
          <a:prstGeom prst="rect">
            <a:avLst/>
          </a:prstGeom>
          <a:noFill/>
        </p:spPr>
        <p:txBody>
          <a:bodyPr wrap="square" anchor="t">
            <a:spAutoFit/>
          </a:bodyPr>
          <a:lstStyle/>
          <a:p>
            <a:pPr algn="l">
              <a:lnSpc>
                <a:spcPct val="115000"/>
              </a:lnSpc>
              <a:spcAft>
                <a:spcPts val="200"/>
              </a:spcAft>
            </a:pPr>
            <a:r>
              <a:rPr sz="1700" b="1" i="0">
                <a:solidFill>
                  <a:srgbClr val="2E8B8B"/>
                </a:solidFill>
                <a:latin typeface="Meiryo"/>
                <a:ea typeface="Meiryo"/>
              </a:rPr>
              <a:t>約25.4万人</a:t>
            </a:r>
          </a:p>
        </p:txBody>
      </p:sp>
      <p:sp>
        <p:nvSpPr>
          <p:cNvPr id="24" name="TextBox 23"/>
          <p:cNvSpPr txBox="1"/>
          <p:nvPr/>
        </p:nvSpPr>
        <p:spPr>
          <a:xfrm>
            <a:off x="914400" y="5495544"/>
            <a:ext cx="1417320" cy="274320"/>
          </a:xfrm>
          <a:prstGeom prst="rect">
            <a:avLst/>
          </a:prstGeom>
          <a:noFill/>
        </p:spPr>
        <p:txBody>
          <a:bodyPr wrap="square" anchor="t">
            <a:spAutoFit/>
          </a:bodyPr>
          <a:lstStyle/>
          <a:p>
            <a:pPr algn="l">
              <a:lnSpc>
                <a:spcPct val="115000"/>
              </a:lnSpc>
              <a:spcAft>
                <a:spcPts val="200"/>
              </a:spcAft>
            </a:pPr>
            <a:r>
              <a:rPr sz="1050" b="0" i="0">
                <a:solidFill>
                  <a:srgbClr val="5C636E"/>
                </a:solidFill>
                <a:latin typeface="Meiryo"/>
                <a:ea typeface="Meiryo"/>
              </a:rPr>
              <a:t>総数</a:t>
            </a:r>
          </a:p>
        </p:txBody>
      </p:sp>
      <p:sp>
        <p:nvSpPr>
          <p:cNvPr id="25" name="TextBox 24"/>
          <p:cNvSpPr txBox="1"/>
          <p:nvPr/>
        </p:nvSpPr>
        <p:spPr>
          <a:xfrm>
            <a:off x="2286000" y="5084064"/>
            <a:ext cx="1417320" cy="411480"/>
          </a:xfrm>
          <a:prstGeom prst="rect">
            <a:avLst/>
          </a:prstGeom>
          <a:noFill/>
        </p:spPr>
        <p:txBody>
          <a:bodyPr wrap="square" anchor="t">
            <a:spAutoFit/>
          </a:bodyPr>
          <a:lstStyle/>
          <a:p>
            <a:pPr algn="l">
              <a:lnSpc>
                <a:spcPct val="115000"/>
              </a:lnSpc>
              <a:spcAft>
                <a:spcPts val="200"/>
              </a:spcAft>
            </a:pPr>
            <a:r>
              <a:rPr sz="1700" b="1" i="0">
                <a:solidFill>
                  <a:srgbClr val="2E8B8B"/>
                </a:solidFill>
                <a:latin typeface="Meiryo"/>
                <a:ea typeface="Meiryo"/>
              </a:rPr>
              <a:t>17.9万</a:t>
            </a:r>
          </a:p>
        </p:txBody>
      </p:sp>
      <p:sp>
        <p:nvSpPr>
          <p:cNvPr id="26" name="TextBox 25"/>
          <p:cNvSpPr txBox="1"/>
          <p:nvPr/>
        </p:nvSpPr>
        <p:spPr>
          <a:xfrm>
            <a:off x="2286000" y="5495544"/>
            <a:ext cx="1417320" cy="274320"/>
          </a:xfrm>
          <a:prstGeom prst="rect">
            <a:avLst/>
          </a:prstGeom>
          <a:noFill/>
        </p:spPr>
        <p:txBody>
          <a:bodyPr wrap="square" anchor="t">
            <a:spAutoFit/>
          </a:bodyPr>
          <a:lstStyle/>
          <a:p>
            <a:pPr algn="l">
              <a:lnSpc>
                <a:spcPct val="115000"/>
              </a:lnSpc>
              <a:spcAft>
                <a:spcPts val="200"/>
              </a:spcAft>
            </a:pPr>
            <a:r>
              <a:rPr sz="1050" b="0" i="0">
                <a:solidFill>
                  <a:srgbClr val="5C636E"/>
                </a:solidFill>
                <a:latin typeface="Meiryo"/>
                <a:ea typeface="Meiryo"/>
              </a:rPr>
              <a:t>後見</a:t>
            </a:r>
          </a:p>
        </p:txBody>
      </p:sp>
      <p:sp>
        <p:nvSpPr>
          <p:cNvPr id="27" name="TextBox 26"/>
          <p:cNvSpPr txBox="1"/>
          <p:nvPr/>
        </p:nvSpPr>
        <p:spPr>
          <a:xfrm>
            <a:off x="3657600" y="5084064"/>
            <a:ext cx="1417320" cy="411480"/>
          </a:xfrm>
          <a:prstGeom prst="rect">
            <a:avLst/>
          </a:prstGeom>
          <a:noFill/>
        </p:spPr>
        <p:txBody>
          <a:bodyPr wrap="square" anchor="t">
            <a:spAutoFit/>
          </a:bodyPr>
          <a:lstStyle/>
          <a:p>
            <a:pPr algn="l">
              <a:lnSpc>
                <a:spcPct val="115000"/>
              </a:lnSpc>
              <a:spcAft>
                <a:spcPts val="200"/>
              </a:spcAft>
            </a:pPr>
            <a:r>
              <a:rPr sz="1700" b="1" i="0">
                <a:solidFill>
                  <a:srgbClr val="2E8B8B"/>
                </a:solidFill>
                <a:latin typeface="Meiryo"/>
                <a:ea typeface="Meiryo"/>
              </a:rPr>
              <a:t>5.5万</a:t>
            </a:r>
          </a:p>
        </p:txBody>
      </p:sp>
      <p:sp>
        <p:nvSpPr>
          <p:cNvPr id="28" name="TextBox 27"/>
          <p:cNvSpPr txBox="1"/>
          <p:nvPr/>
        </p:nvSpPr>
        <p:spPr>
          <a:xfrm>
            <a:off x="3657600" y="5495544"/>
            <a:ext cx="1417320" cy="274320"/>
          </a:xfrm>
          <a:prstGeom prst="rect">
            <a:avLst/>
          </a:prstGeom>
          <a:noFill/>
        </p:spPr>
        <p:txBody>
          <a:bodyPr wrap="square" anchor="t">
            <a:spAutoFit/>
          </a:bodyPr>
          <a:lstStyle/>
          <a:p>
            <a:pPr algn="l">
              <a:lnSpc>
                <a:spcPct val="115000"/>
              </a:lnSpc>
              <a:spcAft>
                <a:spcPts val="200"/>
              </a:spcAft>
            </a:pPr>
            <a:r>
              <a:rPr sz="1050" b="0" i="0">
                <a:solidFill>
                  <a:srgbClr val="5C636E"/>
                </a:solidFill>
                <a:latin typeface="Meiryo"/>
                <a:ea typeface="Meiryo"/>
              </a:rPr>
              <a:t>保佐</a:t>
            </a:r>
          </a:p>
        </p:txBody>
      </p:sp>
      <p:sp>
        <p:nvSpPr>
          <p:cNvPr id="29" name="TextBox 28"/>
          <p:cNvSpPr txBox="1"/>
          <p:nvPr/>
        </p:nvSpPr>
        <p:spPr>
          <a:xfrm>
            <a:off x="5029200" y="5084064"/>
            <a:ext cx="1417320" cy="411480"/>
          </a:xfrm>
          <a:prstGeom prst="rect">
            <a:avLst/>
          </a:prstGeom>
          <a:noFill/>
        </p:spPr>
        <p:txBody>
          <a:bodyPr wrap="square" anchor="t">
            <a:spAutoFit/>
          </a:bodyPr>
          <a:lstStyle/>
          <a:p>
            <a:pPr algn="l">
              <a:lnSpc>
                <a:spcPct val="115000"/>
              </a:lnSpc>
              <a:spcAft>
                <a:spcPts val="200"/>
              </a:spcAft>
            </a:pPr>
            <a:r>
              <a:rPr sz="1700" b="1" i="0">
                <a:solidFill>
                  <a:srgbClr val="2E8B8B"/>
                </a:solidFill>
                <a:latin typeface="Meiryo"/>
                <a:ea typeface="Meiryo"/>
              </a:rPr>
              <a:t>1.7万</a:t>
            </a:r>
          </a:p>
        </p:txBody>
      </p:sp>
      <p:sp>
        <p:nvSpPr>
          <p:cNvPr id="30" name="TextBox 29"/>
          <p:cNvSpPr txBox="1"/>
          <p:nvPr/>
        </p:nvSpPr>
        <p:spPr>
          <a:xfrm>
            <a:off x="5029200" y="5495544"/>
            <a:ext cx="1417320" cy="274320"/>
          </a:xfrm>
          <a:prstGeom prst="rect">
            <a:avLst/>
          </a:prstGeom>
          <a:noFill/>
        </p:spPr>
        <p:txBody>
          <a:bodyPr wrap="square" anchor="t">
            <a:spAutoFit/>
          </a:bodyPr>
          <a:lstStyle/>
          <a:p>
            <a:pPr algn="l">
              <a:lnSpc>
                <a:spcPct val="115000"/>
              </a:lnSpc>
              <a:spcAft>
                <a:spcPts val="200"/>
              </a:spcAft>
            </a:pPr>
            <a:r>
              <a:rPr sz="1050" b="0" i="0">
                <a:solidFill>
                  <a:srgbClr val="5C636E"/>
                </a:solidFill>
                <a:latin typeface="Meiryo"/>
                <a:ea typeface="Meiryo"/>
              </a:rPr>
              <a:t>補助</a:t>
            </a:r>
          </a:p>
        </p:txBody>
      </p:sp>
      <p:sp>
        <p:nvSpPr>
          <p:cNvPr id="31" name="TextBox 30"/>
          <p:cNvSpPr txBox="1"/>
          <p:nvPr/>
        </p:nvSpPr>
        <p:spPr>
          <a:xfrm>
            <a:off x="6400800" y="5084064"/>
            <a:ext cx="1417320" cy="411480"/>
          </a:xfrm>
          <a:prstGeom prst="rect">
            <a:avLst/>
          </a:prstGeom>
          <a:noFill/>
        </p:spPr>
        <p:txBody>
          <a:bodyPr wrap="square" anchor="t">
            <a:spAutoFit/>
          </a:bodyPr>
          <a:lstStyle/>
          <a:p>
            <a:pPr algn="l">
              <a:lnSpc>
                <a:spcPct val="115000"/>
              </a:lnSpc>
              <a:spcAft>
                <a:spcPts val="200"/>
              </a:spcAft>
            </a:pPr>
            <a:r>
              <a:rPr sz="1700" b="1" i="0">
                <a:solidFill>
                  <a:srgbClr val="2E8B8B"/>
                </a:solidFill>
                <a:latin typeface="Meiryo"/>
                <a:ea typeface="Meiryo"/>
              </a:rPr>
              <a:t>0.3万</a:t>
            </a:r>
          </a:p>
        </p:txBody>
      </p:sp>
      <p:sp>
        <p:nvSpPr>
          <p:cNvPr id="32" name="TextBox 31"/>
          <p:cNvSpPr txBox="1"/>
          <p:nvPr/>
        </p:nvSpPr>
        <p:spPr>
          <a:xfrm>
            <a:off x="6400800" y="5495544"/>
            <a:ext cx="1417320" cy="274320"/>
          </a:xfrm>
          <a:prstGeom prst="rect">
            <a:avLst/>
          </a:prstGeom>
          <a:noFill/>
        </p:spPr>
        <p:txBody>
          <a:bodyPr wrap="square" anchor="t">
            <a:spAutoFit/>
          </a:bodyPr>
          <a:lstStyle/>
          <a:p>
            <a:pPr algn="l">
              <a:lnSpc>
                <a:spcPct val="115000"/>
              </a:lnSpc>
              <a:spcAft>
                <a:spcPts val="200"/>
              </a:spcAft>
            </a:pPr>
            <a:r>
              <a:rPr sz="1050" b="0" i="0">
                <a:solidFill>
                  <a:srgbClr val="5C636E"/>
                </a:solidFill>
                <a:latin typeface="Meiryo"/>
                <a:ea typeface="Meiryo"/>
              </a:rPr>
              <a:t>任意後見</a:t>
            </a:r>
          </a:p>
        </p:txBody>
      </p:sp>
      <p:sp>
        <p:nvSpPr>
          <p:cNvPr id="33" name="Rectangle 32"/>
          <p:cNvSpPr/>
          <p:nvPr/>
        </p:nvSpPr>
        <p:spPr>
          <a:xfrm>
            <a:off x="8275320" y="1700784"/>
            <a:ext cx="3182112" cy="4572000"/>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5048" y="1746504"/>
            <a:ext cx="1828800" cy="274320"/>
          </a:xfrm>
          <a:prstGeom prst="rect">
            <a:avLst/>
          </a:prstGeom>
          <a:noFill/>
        </p:spPr>
        <p:txBody>
          <a:bodyPr wrap="square" anchor="t">
            <a:spAutoFit/>
          </a:bodyPr>
          <a:lstStyle/>
          <a:p>
            <a:pPr algn="l">
              <a:lnSpc>
                <a:spcPct val="115000"/>
              </a:lnSpc>
              <a:spcAft>
                <a:spcPts val="200"/>
              </a:spcAft>
            </a:pPr>
            <a:r>
              <a:rPr sz="1000" b="1" i="0">
                <a:solidFill>
                  <a:srgbClr val="9A863A"/>
                </a:solidFill>
                <a:latin typeface="Meiryo"/>
                <a:ea typeface="Meiryo"/>
              </a:rPr>
              <a:t>✎ 当日メモ</a:t>
            </a:r>
          </a:p>
        </p:txBody>
      </p:sp>
      <p:sp>
        <p:nvSpPr>
          <p:cNvPr id="35" name="Rectangle 34"/>
          <p:cNvSpPr/>
          <p:nvPr/>
        </p:nvSpPr>
        <p:spPr>
          <a:xfrm>
            <a:off x="8412480" y="217627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12480" y="256032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0" y="294436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0" y="332841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12480" y="371246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0" y="409651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0" y="448056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12480" y="486460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412480" y="524865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412480" y="563270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412480" y="601675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出典：最高裁「成年後見関係事件の概況―令和6年1〜12月―」（数値は出典PDFで要確認）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制度の最新像 ①</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成年後見制度利用促進基本計画（第二期）の進捗</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06</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ounded Rectangle 8"/>
          <p:cNvSpPr/>
          <p:nvPr/>
        </p:nvSpPr>
        <p:spPr>
          <a:xfrm>
            <a:off x="731520" y="1700784"/>
            <a:ext cx="7315200" cy="713232"/>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55648"/>
            <a:ext cx="6949440" cy="640080"/>
          </a:xfrm>
          <a:prstGeom prst="rect">
            <a:avLst/>
          </a:prstGeom>
          <a:noFill/>
        </p:spPr>
        <p:txBody>
          <a:bodyPr wrap="square" anchor="t">
            <a:spAutoFit/>
          </a:bodyPr>
          <a:lstStyle/>
          <a:p>
            <a:pPr algn="l">
              <a:lnSpc>
                <a:spcPct val="120000"/>
              </a:lnSpc>
              <a:spcAft>
                <a:spcPts val="200"/>
              </a:spcAft>
            </a:pPr>
            <a:r>
              <a:rPr sz="1250" b="1" i="0">
                <a:solidFill>
                  <a:srgbClr val="FFFFFF"/>
                </a:solidFill>
                <a:latin typeface="Meiryo"/>
                <a:ea typeface="Meiryo"/>
              </a:rPr>
              <a:t>第二期計画：令和4年3月閣議決定 ／ 期間 令和4〜8年度</a:t>
            </a:r>
          </a:p>
          <a:p>
            <a:pPr algn="l">
              <a:lnSpc>
                <a:spcPct val="120000"/>
              </a:lnSpc>
              <a:spcAft>
                <a:spcPts val="200"/>
              </a:spcAft>
            </a:pPr>
            <a:r>
              <a:rPr sz="1100" b="0" i="0">
                <a:solidFill>
                  <a:srgbClr val="E3F0F0"/>
                </a:solidFill>
                <a:latin typeface="Meiryo"/>
                <a:ea typeface="Meiryo"/>
              </a:rPr>
              <a:t>＝ 令和8年度（今年度）が計画の最終年度。次期計画の議論も視野。</a:t>
            </a:r>
          </a:p>
        </p:txBody>
      </p:sp>
      <p:sp>
        <p:nvSpPr>
          <p:cNvPr id="11" name="Rectangle 10"/>
          <p:cNvSpPr/>
          <p:nvPr/>
        </p:nvSpPr>
        <p:spPr>
          <a:xfrm>
            <a:off x="731520" y="2569464"/>
            <a:ext cx="1920240" cy="6035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569464"/>
            <a:ext cx="1783080" cy="603504"/>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理念</a:t>
            </a:r>
          </a:p>
        </p:txBody>
      </p:sp>
      <p:sp>
        <p:nvSpPr>
          <p:cNvPr id="13" name="Rectangle 12"/>
          <p:cNvSpPr/>
          <p:nvPr/>
        </p:nvSpPr>
        <p:spPr>
          <a:xfrm>
            <a:off x="2651760" y="2569464"/>
            <a:ext cx="5394960" cy="603504"/>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2606040"/>
            <a:ext cx="5166360" cy="548640"/>
          </a:xfrm>
          <a:prstGeom prst="rect">
            <a:avLst/>
          </a:prstGeom>
          <a:noFill/>
        </p:spPr>
        <p:txBody>
          <a:bodyPr wrap="square" anchor="ctr">
            <a:spAutoFit/>
          </a:bodyPr>
          <a:lstStyle/>
          <a:p>
            <a:pPr algn="l">
              <a:lnSpc>
                <a:spcPct val="112000"/>
              </a:lnSpc>
              <a:spcAft>
                <a:spcPts val="200"/>
              </a:spcAft>
            </a:pPr>
            <a:r>
              <a:rPr sz="1100" b="0" i="0">
                <a:solidFill>
                  <a:srgbClr val="262B33"/>
                </a:solidFill>
                <a:latin typeface="Meiryo"/>
                <a:ea typeface="Meiryo"/>
              </a:rPr>
              <a:t>「尊厳のある本人らしい生活の継続」「地域社会への参加」を図る権利擁護支援の推進。</a:t>
            </a:r>
          </a:p>
        </p:txBody>
      </p:sp>
      <p:sp>
        <p:nvSpPr>
          <p:cNvPr id="15" name="Rectangle 14"/>
          <p:cNvSpPr/>
          <p:nvPr/>
        </p:nvSpPr>
        <p:spPr>
          <a:xfrm>
            <a:off x="731520" y="3246120"/>
            <a:ext cx="1920240" cy="6035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246120"/>
            <a:ext cx="1783080" cy="603504"/>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地域連携ネットワーク</a:t>
            </a:r>
          </a:p>
        </p:txBody>
      </p:sp>
      <p:sp>
        <p:nvSpPr>
          <p:cNvPr id="17" name="Rectangle 16"/>
          <p:cNvSpPr/>
          <p:nvPr/>
        </p:nvSpPr>
        <p:spPr>
          <a:xfrm>
            <a:off x="2651760" y="3246120"/>
            <a:ext cx="5394960" cy="603504"/>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79776" y="3282696"/>
            <a:ext cx="5166360" cy="548640"/>
          </a:xfrm>
          <a:prstGeom prst="rect">
            <a:avLst/>
          </a:prstGeom>
          <a:noFill/>
        </p:spPr>
        <p:txBody>
          <a:bodyPr wrap="square" anchor="ctr">
            <a:spAutoFit/>
          </a:bodyPr>
          <a:lstStyle/>
          <a:p>
            <a:pPr algn="l">
              <a:lnSpc>
                <a:spcPct val="112000"/>
              </a:lnSpc>
              <a:spcAft>
                <a:spcPts val="200"/>
              </a:spcAft>
            </a:pPr>
            <a:r>
              <a:rPr sz="1100" b="0" i="0">
                <a:solidFill>
                  <a:srgbClr val="262B33"/>
                </a:solidFill>
                <a:latin typeface="Meiryo"/>
                <a:ea typeface="Meiryo"/>
              </a:rPr>
              <a:t>中核機関を整備し、本人を支えるチーム・協議会づくりを進める。</a:t>
            </a:r>
          </a:p>
        </p:txBody>
      </p:sp>
      <p:sp>
        <p:nvSpPr>
          <p:cNvPr id="19" name="Rectangle 18"/>
          <p:cNvSpPr/>
          <p:nvPr/>
        </p:nvSpPr>
        <p:spPr>
          <a:xfrm>
            <a:off x="731520" y="3922776"/>
            <a:ext cx="1920240" cy="6035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22776"/>
            <a:ext cx="1783080" cy="603504"/>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中間検証</a:t>
            </a:r>
          </a:p>
        </p:txBody>
      </p:sp>
      <p:sp>
        <p:nvSpPr>
          <p:cNvPr id="21" name="Rectangle 20"/>
          <p:cNvSpPr/>
          <p:nvPr/>
        </p:nvSpPr>
        <p:spPr>
          <a:xfrm>
            <a:off x="2651760" y="3922776"/>
            <a:ext cx="5394960" cy="603504"/>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79776" y="3959352"/>
            <a:ext cx="5166360" cy="548640"/>
          </a:xfrm>
          <a:prstGeom prst="rect">
            <a:avLst/>
          </a:prstGeom>
          <a:noFill/>
        </p:spPr>
        <p:txBody>
          <a:bodyPr wrap="square" anchor="ctr">
            <a:spAutoFit/>
          </a:bodyPr>
          <a:lstStyle/>
          <a:p>
            <a:pPr algn="l">
              <a:lnSpc>
                <a:spcPct val="112000"/>
              </a:lnSpc>
              <a:spcAft>
                <a:spcPts val="200"/>
              </a:spcAft>
            </a:pPr>
            <a:r>
              <a:rPr sz="1100" b="0" i="0">
                <a:solidFill>
                  <a:srgbClr val="262B33"/>
                </a:solidFill>
                <a:latin typeface="Meiryo"/>
                <a:ea typeface="Meiryo"/>
              </a:rPr>
              <a:t>計画中間年に検証を実施。中間検証報告書を2025年3月にとりまとめ。</a:t>
            </a:r>
          </a:p>
        </p:txBody>
      </p:sp>
      <p:sp>
        <p:nvSpPr>
          <p:cNvPr id="23" name="Rectangle 22"/>
          <p:cNvSpPr/>
          <p:nvPr/>
        </p:nvSpPr>
        <p:spPr>
          <a:xfrm>
            <a:off x="731520" y="4599432"/>
            <a:ext cx="1920240" cy="6035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599432"/>
            <a:ext cx="1783080" cy="603504"/>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市町村計画</a:t>
            </a:r>
          </a:p>
        </p:txBody>
      </p:sp>
      <p:sp>
        <p:nvSpPr>
          <p:cNvPr id="25" name="Rectangle 24"/>
          <p:cNvSpPr/>
          <p:nvPr/>
        </p:nvSpPr>
        <p:spPr>
          <a:xfrm>
            <a:off x="2651760" y="4599432"/>
            <a:ext cx="5394960" cy="603504"/>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79776" y="4636008"/>
            <a:ext cx="5166360" cy="548640"/>
          </a:xfrm>
          <a:prstGeom prst="rect">
            <a:avLst/>
          </a:prstGeom>
          <a:noFill/>
        </p:spPr>
        <p:txBody>
          <a:bodyPr wrap="square" anchor="ctr">
            <a:spAutoFit/>
          </a:bodyPr>
          <a:lstStyle/>
          <a:p>
            <a:pPr algn="l">
              <a:lnSpc>
                <a:spcPct val="112000"/>
              </a:lnSpc>
              <a:spcAft>
                <a:spcPts val="200"/>
              </a:spcAft>
            </a:pPr>
            <a:r>
              <a:rPr sz="1100" b="0" i="0">
                <a:solidFill>
                  <a:srgbClr val="262B33"/>
                </a:solidFill>
                <a:latin typeface="Meiryo"/>
                <a:ea typeface="Meiryo"/>
              </a:rPr>
              <a:t>策定率は令和4年4月時点62.8%。KPIは全1,741市町村（最新の策定率は要確認）。</a:t>
            </a:r>
          </a:p>
        </p:txBody>
      </p:sp>
      <p:sp>
        <p:nvSpPr>
          <p:cNvPr id="27" name="Rectangle 26"/>
          <p:cNvSpPr/>
          <p:nvPr/>
        </p:nvSpPr>
        <p:spPr>
          <a:xfrm>
            <a:off x="731520" y="5276088"/>
            <a:ext cx="1920240" cy="6035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276088"/>
            <a:ext cx="1783080" cy="603504"/>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身寄りなし支援</a:t>
            </a:r>
          </a:p>
        </p:txBody>
      </p:sp>
      <p:sp>
        <p:nvSpPr>
          <p:cNvPr id="29" name="Rectangle 28"/>
          <p:cNvSpPr/>
          <p:nvPr/>
        </p:nvSpPr>
        <p:spPr>
          <a:xfrm>
            <a:off x="2651760" y="5276088"/>
            <a:ext cx="5394960" cy="603504"/>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79776" y="5312664"/>
            <a:ext cx="5166360" cy="548640"/>
          </a:xfrm>
          <a:prstGeom prst="rect">
            <a:avLst/>
          </a:prstGeom>
          <a:noFill/>
        </p:spPr>
        <p:txBody>
          <a:bodyPr wrap="square" anchor="ctr">
            <a:spAutoFit/>
          </a:bodyPr>
          <a:lstStyle/>
          <a:p>
            <a:pPr algn="l">
              <a:lnSpc>
                <a:spcPct val="112000"/>
              </a:lnSpc>
              <a:spcAft>
                <a:spcPts val="200"/>
              </a:spcAft>
            </a:pPr>
            <a:r>
              <a:rPr sz="1100" b="0" i="0">
                <a:solidFill>
                  <a:srgbClr val="262B33"/>
                </a:solidFill>
                <a:latin typeface="Meiryo"/>
                <a:ea typeface="Meiryo"/>
              </a:rPr>
              <a:t>令和6年度〜、身寄りのない高齢者等への相談・調整窓口の総合支援パッケージを試行。</a:t>
            </a:r>
          </a:p>
        </p:txBody>
      </p:sp>
      <p:sp>
        <p:nvSpPr>
          <p:cNvPr id="31" name="Rectangle 30"/>
          <p:cNvSpPr/>
          <p:nvPr/>
        </p:nvSpPr>
        <p:spPr>
          <a:xfrm>
            <a:off x="8275320" y="1700784"/>
            <a:ext cx="3182112" cy="4572000"/>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5048" y="1746504"/>
            <a:ext cx="1828800" cy="274320"/>
          </a:xfrm>
          <a:prstGeom prst="rect">
            <a:avLst/>
          </a:prstGeom>
          <a:noFill/>
        </p:spPr>
        <p:txBody>
          <a:bodyPr wrap="square" anchor="t">
            <a:spAutoFit/>
          </a:bodyPr>
          <a:lstStyle/>
          <a:p>
            <a:pPr algn="l">
              <a:lnSpc>
                <a:spcPct val="115000"/>
              </a:lnSpc>
              <a:spcAft>
                <a:spcPts val="200"/>
              </a:spcAft>
            </a:pPr>
            <a:r>
              <a:rPr sz="1000" b="1" i="0">
                <a:solidFill>
                  <a:srgbClr val="9A863A"/>
                </a:solidFill>
                <a:latin typeface="Meiryo"/>
                <a:ea typeface="Meiryo"/>
              </a:rPr>
              <a:t>✎ 当日メモ</a:t>
            </a:r>
          </a:p>
        </p:txBody>
      </p:sp>
      <p:sp>
        <p:nvSpPr>
          <p:cNvPr id="33" name="Rectangle 32"/>
          <p:cNvSpPr/>
          <p:nvPr/>
        </p:nvSpPr>
        <p:spPr>
          <a:xfrm>
            <a:off x="8412480" y="217627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0" y="256032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12480" y="294436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12480" y="332841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0" y="371246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0" y="409651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12480" y="448056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0" y="486460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0" y="524865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12480" y="563270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412480" y="601675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出典：厚労省 成年後見制度利用促進／第二期基本計画。策定率の最新値は要確認。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制度の最新像 ②</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法定後見 3類型の比較 ── 後見・保佐・補助</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07</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ectangle 8"/>
          <p:cNvSpPr/>
          <p:nvPr/>
        </p:nvSpPr>
        <p:spPr>
          <a:xfrm>
            <a:off x="731520" y="1700784"/>
            <a:ext cx="1874519" cy="42062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06039" y="1700784"/>
            <a:ext cx="2944368" cy="42062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06039" y="1700784"/>
            <a:ext cx="2944368" cy="420624"/>
          </a:xfrm>
          <a:prstGeom prst="rect">
            <a:avLst/>
          </a:prstGeom>
          <a:noFill/>
        </p:spPr>
        <p:txBody>
          <a:bodyPr wrap="square" anchor="ctr">
            <a:spAutoFit/>
          </a:bodyPr>
          <a:lstStyle/>
          <a:p>
            <a:pPr algn="ctr">
              <a:lnSpc>
                <a:spcPct val="115000"/>
              </a:lnSpc>
              <a:spcAft>
                <a:spcPts val="200"/>
              </a:spcAft>
            </a:pPr>
            <a:r>
              <a:rPr sz="1400" b="1" i="0">
                <a:solidFill>
                  <a:srgbClr val="FFFFFF"/>
                </a:solidFill>
                <a:latin typeface="Meiryo"/>
                <a:ea typeface="Meiryo"/>
              </a:rPr>
              <a:t>後見</a:t>
            </a:r>
          </a:p>
        </p:txBody>
      </p:sp>
      <p:sp>
        <p:nvSpPr>
          <p:cNvPr id="12" name="Rectangle 11"/>
          <p:cNvSpPr/>
          <p:nvPr/>
        </p:nvSpPr>
        <p:spPr>
          <a:xfrm>
            <a:off x="5550407" y="1700784"/>
            <a:ext cx="2944368" cy="42062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0407" y="1700784"/>
            <a:ext cx="2944368" cy="420624"/>
          </a:xfrm>
          <a:prstGeom prst="rect">
            <a:avLst/>
          </a:prstGeom>
          <a:noFill/>
        </p:spPr>
        <p:txBody>
          <a:bodyPr wrap="square" anchor="ctr">
            <a:spAutoFit/>
          </a:bodyPr>
          <a:lstStyle/>
          <a:p>
            <a:pPr algn="ctr">
              <a:lnSpc>
                <a:spcPct val="115000"/>
              </a:lnSpc>
              <a:spcAft>
                <a:spcPts val="200"/>
              </a:spcAft>
            </a:pPr>
            <a:r>
              <a:rPr sz="1400" b="1" i="0">
                <a:solidFill>
                  <a:srgbClr val="FFFFFF"/>
                </a:solidFill>
                <a:latin typeface="Meiryo"/>
                <a:ea typeface="Meiryo"/>
              </a:rPr>
              <a:t>保佐</a:t>
            </a:r>
          </a:p>
        </p:txBody>
      </p:sp>
      <p:sp>
        <p:nvSpPr>
          <p:cNvPr id="14" name="Rectangle 13"/>
          <p:cNvSpPr/>
          <p:nvPr/>
        </p:nvSpPr>
        <p:spPr>
          <a:xfrm>
            <a:off x="8494775" y="1700784"/>
            <a:ext cx="2962656" cy="420624"/>
          </a:xfrm>
          <a:prstGeom prst="rect">
            <a:avLst/>
          </a:prstGeom>
          <a:solidFill>
            <a:srgbClr val="4A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94775" y="1700784"/>
            <a:ext cx="2962656" cy="420624"/>
          </a:xfrm>
          <a:prstGeom prst="rect">
            <a:avLst/>
          </a:prstGeom>
          <a:noFill/>
        </p:spPr>
        <p:txBody>
          <a:bodyPr wrap="square" anchor="ctr">
            <a:spAutoFit/>
          </a:bodyPr>
          <a:lstStyle/>
          <a:p>
            <a:pPr algn="ctr">
              <a:lnSpc>
                <a:spcPct val="115000"/>
              </a:lnSpc>
              <a:spcAft>
                <a:spcPts val="200"/>
              </a:spcAft>
            </a:pPr>
            <a:r>
              <a:rPr sz="1400" b="1" i="0">
                <a:solidFill>
                  <a:srgbClr val="FFFFFF"/>
                </a:solidFill>
                <a:latin typeface="Meiryo"/>
                <a:ea typeface="Meiryo"/>
              </a:rPr>
              <a:t>補助</a:t>
            </a:r>
          </a:p>
        </p:txBody>
      </p:sp>
      <p:sp>
        <p:nvSpPr>
          <p:cNvPr id="16" name="Rectangle 15"/>
          <p:cNvSpPr/>
          <p:nvPr/>
        </p:nvSpPr>
        <p:spPr>
          <a:xfrm>
            <a:off x="731520" y="2121408"/>
            <a:ext cx="1874519" cy="841248"/>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121408"/>
            <a:ext cx="1783079" cy="841248"/>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対象者</a:t>
            </a:r>
          </a:p>
        </p:txBody>
      </p:sp>
      <p:sp>
        <p:nvSpPr>
          <p:cNvPr id="18" name="Rectangle 17"/>
          <p:cNvSpPr/>
          <p:nvPr/>
        </p:nvSpPr>
        <p:spPr>
          <a:xfrm>
            <a:off x="2606039" y="2121408"/>
            <a:ext cx="2944368" cy="841248"/>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79191" y="2121408"/>
            <a:ext cx="2798064"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判断能力を欠くのが</a:t>
            </a:r>
          </a:p>
          <a:p>
            <a:pPr algn="ctr">
              <a:lnSpc>
                <a:spcPct val="110000"/>
              </a:lnSpc>
              <a:spcAft>
                <a:spcPts val="200"/>
              </a:spcAft>
            </a:pPr>
            <a:r>
              <a:rPr sz="1100" b="0" i="0">
                <a:solidFill>
                  <a:srgbClr val="262B33"/>
                </a:solidFill>
                <a:latin typeface="Meiryo"/>
                <a:ea typeface="Meiryo"/>
              </a:rPr>
              <a:t>通常の状態</a:t>
            </a:r>
          </a:p>
        </p:txBody>
      </p:sp>
      <p:sp>
        <p:nvSpPr>
          <p:cNvPr id="20" name="Rectangle 19"/>
          <p:cNvSpPr/>
          <p:nvPr/>
        </p:nvSpPr>
        <p:spPr>
          <a:xfrm>
            <a:off x="5550407" y="2121408"/>
            <a:ext cx="2944368" cy="841248"/>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59" y="2121408"/>
            <a:ext cx="2798064"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判断能力が</a:t>
            </a:r>
          </a:p>
          <a:p>
            <a:pPr algn="ctr">
              <a:lnSpc>
                <a:spcPct val="110000"/>
              </a:lnSpc>
              <a:spcAft>
                <a:spcPts val="200"/>
              </a:spcAft>
            </a:pPr>
            <a:r>
              <a:rPr sz="1100" b="0" i="0">
                <a:solidFill>
                  <a:srgbClr val="262B33"/>
                </a:solidFill>
                <a:latin typeface="Meiryo"/>
                <a:ea typeface="Meiryo"/>
              </a:rPr>
              <a:t>著しく不十分</a:t>
            </a:r>
          </a:p>
        </p:txBody>
      </p:sp>
      <p:sp>
        <p:nvSpPr>
          <p:cNvPr id="22" name="Rectangle 21"/>
          <p:cNvSpPr/>
          <p:nvPr/>
        </p:nvSpPr>
        <p:spPr>
          <a:xfrm>
            <a:off x="8494775" y="2121408"/>
            <a:ext cx="2962656" cy="841248"/>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67927" y="2121408"/>
            <a:ext cx="2816352"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判断能力が</a:t>
            </a:r>
          </a:p>
          <a:p>
            <a:pPr algn="ctr">
              <a:lnSpc>
                <a:spcPct val="110000"/>
              </a:lnSpc>
              <a:spcAft>
                <a:spcPts val="200"/>
              </a:spcAft>
            </a:pPr>
            <a:r>
              <a:rPr sz="1100" b="0" i="0">
                <a:solidFill>
                  <a:srgbClr val="262B33"/>
                </a:solidFill>
                <a:latin typeface="Meiryo"/>
                <a:ea typeface="Meiryo"/>
              </a:rPr>
              <a:t>不十分</a:t>
            </a:r>
          </a:p>
        </p:txBody>
      </p:sp>
      <p:sp>
        <p:nvSpPr>
          <p:cNvPr id="24" name="Rectangle 23"/>
          <p:cNvSpPr/>
          <p:nvPr/>
        </p:nvSpPr>
        <p:spPr>
          <a:xfrm>
            <a:off x="731520" y="2962656"/>
            <a:ext cx="1874519" cy="841248"/>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2962656"/>
            <a:ext cx="1783079" cy="841248"/>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代理権</a:t>
            </a:r>
          </a:p>
        </p:txBody>
      </p:sp>
      <p:sp>
        <p:nvSpPr>
          <p:cNvPr id="26" name="Rectangle 25"/>
          <p:cNvSpPr/>
          <p:nvPr/>
        </p:nvSpPr>
        <p:spPr>
          <a:xfrm>
            <a:off x="2606039" y="2962656"/>
            <a:ext cx="2944368" cy="841248"/>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79191" y="2962656"/>
            <a:ext cx="2798064"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財産に関する</a:t>
            </a:r>
          </a:p>
          <a:p>
            <a:pPr algn="ctr">
              <a:lnSpc>
                <a:spcPct val="110000"/>
              </a:lnSpc>
              <a:spcAft>
                <a:spcPts val="200"/>
              </a:spcAft>
            </a:pPr>
            <a:r>
              <a:rPr sz="1100" b="0" i="0">
                <a:solidFill>
                  <a:srgbClr val="262B33"/>
                </a:solidFill>
                <a:latin typeface="Meiryo"/>
                <a:ea typeface="Meiryo"/>
              </a:rPr>
              <a:t>包括的な代理権</a:t>
            </a:r>
          </a:p>
        </p:txBody>
      </p:sp>
      <p:sp>
        <p:nvSpPr>
          <p:cNvPr id="28" name="Rectangle 27"/>
          <p:cNvSpPr/>
          <p:nvPr/>
        </p:nvSpPr>
        <p:spPr>
          <a:xfrm>
            <a:off x="5550407" y="2962656"/>
            <a:ext cx="2944368" cy="841248"/>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23559" y="2962656"/>
            <a:ext cx="2798064"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家裁が定める特定の行為</a:t>
            </a:r>
          </a:p>
          <a:p>
            <a:pPr algn="ctr">
              <a:lnSpc>
                <a:spcPct val="110000"/>
              </a:lnSpc>
              <a:spcAft>
                <a:spcPts val="200"/>
              </a:spcAft>
            </a:pPr>
            <a:r>
              <a:rPr sz="1100" b="0" i="0">
                <a:solidFill>
                  <a:srgbClr val="262B33"/>
                </a:solidFill>
                <a:latin typeface="Meiryo"/>
                <a:ea typeface="Meiryo"/>
              </a:rPr>
              <a:t>（本人の同意が必要）</a:t>
            </a:r>
          </a:p>
        </p:txBody>
      </p:sp>
      <p:sp>
        <p:nvSpPr>
          <p:cNvPr id="30" name="Rectangle 29"/>
          <p:cNvSpPr/>
          <p:nvPr/>
        </p:nvSpPr>
        <p:spPr>
          <a:xfrm>
            <a:off x="8494775" y="2962656"/>
            <a:ext cx="2962656" cy="841248"/>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7" y="2962656"/>
            <a:ext cx="2816352"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家裁が定める特定の行為</a:t>
            </a:r>
          </a:p>
          <a:p>
            <a:pPr algn="ctr">
              <a:lnSpc>
                <a:spcPct val="110000"/>
              </a:lnSpc>
              <a:spcAft>
                <a:spcPts val="200"/>
              </a:spcAft>
            </a:pPr>
            <a:r>
              <a:rPr sz="1100" b="0" i="0">
                <a:solidFill>
                  <a:srgbClr val="262B33"/>
                </a:solidFill>
                <a:latin typeface="Meiryo"/>
                <a:ea typeface="Meiryo"/>
              </a:rPr>
              <a:t>（本人の同意が必要）</a:t>
            </a:r>
          </a:p>
        </p:txBody>
      </p:sp>
      <p:sp>
        <p:nvSpPr>
          <p:cNvPr id="32" name="Rectangle 31"/>
          <p:cNvSpPr/>
          <p:nvPr/>
        </p:nvSpPr>
        <p:spPr>
          <a:xfrm>
            <a:off x="731520" y="3803904"/>
            <a:ext cx="1874519" cy="841248"/>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3803904"/>
            <a:ext cx="1783079" cy="841248"/>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同意権・取消権</a:t>
            </a:r>
          </a:p>
        </p:txBody>
      </p:sp>
      <p:sp>
        <p:nvSpPr>
          <p:cNvPr id="34" name="Rectangle 33"/>
          <p:cNvSpPr/>
          <p:nvPr/>
        </p:nvSpPr>
        <p:spPr>
          <a:xfrm>
            <a:off x="2606039" y="3803904"/>
            <a:ext cx="2944368" cy="841248"/>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79191" y="3803904"/>
            <a:ext cx="2798064"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日常生活の行為以外を</a:t>
            </a:r>
          </a:p>
          <a:p>
            <a:pPr algn="ctr">
              <a:lnSpc>
                <a:spcPct val="110000"/>
              </a:lnSpc>
              <a:spcAft>
                <a:spcPts val="200"/>
              </a:spcAft>
            </a:pPr>
            <a:r>
              <a:rPr sz="1100" b="0" i="0">
                <a:solidFill>
                  <a:srgbClr val="262B33"/>
                </a:solidFill>
                <a:latin typeface="Meiryo"/>
                <a:ea typeface="Meiryo"/>
              </a:rPr>
              <a:t>広く取消し可</a:t>
            </a:r>
          </a:p>
        </p:txBody>
      </p:sp>
      <p:sp>
        <p:nvSpPr>
          <p:cNvPr id="36" name="Rectangle 35"/>
          <p:cNvSpPr/>
          <p:nvPr/>
        </p:nvSpPr>
        <p:spPr>
          <a:xfrm>
            <a:off x="5550407" y="3803904"/>
            <a:ext cx="2944368" cy="841248"/>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23559" y="3803904"/>
            <a:ext cx="2798064"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民法13条1項所定の</a:t>
            </a:r>
          </a:p>
          <a:p>
            <a:pPr algn="ctr">
              <a:lnSpc>
                <a:spcPct val="110000"/>
              </a:lnSpc>
              <a:spcAft>
                <a:spcPts val="200"/>
              </a:spcAft>
            </a:pPr>
            <a:r>
              <a:rPr sz="1100" b="0" i="0">
                <a:solidFill>
                  <a:srgbClr val="262B33"/>
                </a:solidFill>
                <a:latin typeface="Meiryo"/>
                <a:ea typeface="Meiryo"/>
              </a:rPr>
              <a:t>重要な行為</a:t>
            </a:r>
          </a:p>
        </p:txBody>
      </p:sp>
      <p:sp>
        <p:nvSpPr>
          <p:cNvPr id="38" name="Rectangle 37"/>
          <p:cNvSpPr/>
          <p:nvPr/>
        </p:nvSpPr>
        <p:spPr>
          <a:xfrm>
            <a:off x="8494775" y="3803904"/>
            <a:ext cx="2962656" cy="841248"/>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67927" y="3803904"/>
            <a:ext cx="2816352"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申立て範囲で家裁が</a:t>
            </a:r>
          </a:p>
          <a:p>
            <a:pPr algn="ctr">
              <a:lnSpc>
                <a:spcPct val="110000"/>
              </a:lnSpc>
              <a:spcAft>
                <a:spcPts val="200"/>
              </a:spcAft>
            </a:pPr>
            <a:r>
              <a:rPr sz="1100" b="0" i="0">
                <a:solidFill>
                  <a:srgbClr val="262B33"/>
                </a:solidFill>
                <a:latin typeface="Meiryo"/>
                <a:ea typeface="Meiryo"/>
              </a:rPr>
              <a:t>定めた特定行為のみ</a:t>
            </a:r>
          </a:p>
        </p:txBody>
      </p:sp>
      <p:sp>
        <p:nvSpPr>
          <p:cNvPr id="40" name="Rectangle 39"/>
          <p:cNvSpPr/>
          <p:nvPr/>
        </p:nvSpPr>
        <p:spPr>
          <a:xfrm>
            <a:off x="731520" y="4645152"/>
            <a:ext cx="1874519" cy="841248"/>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4645152"/>
            <a:ext cx="1783079" cy="841248"/>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医師の鑑定</a:t>
            </a:r>
          </a:p>
        </p:txBody>
      </p:sp>
      <p:sp>
        <p:nvSpPr>
          <p:cNvPr id="42" name="Rectangle 41"/>
          <p:cNvSpPr/>
          <p:nvPr/>
        </p:nvSpPr>
        <p:spPr>
          <a:xfrm>
            <a:off x="2606039" y="4645152"/>
            <a:ext cx="2944368" cy="841248"/>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679191" y="4645152"/>
            <a:ext cx="2798064"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原則 必要</a:t>
            </a:r>
          </a:p>
        </p:txBody>
      </p:sp>
      <p:sp>
        <p:nvSpPr>
          <p:cNvPr id="44" name="Rectangle 43"/>
          <p:cNvSpPr/>
          <p:nvPr/>
        </p:nvSpPr>
        <p:spPr>
          <a:xfrm>
            <a:off x="5550407" y="4645152"/>
            <a:ext cx="2944368" cy="841248"/>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23559" y="4645152"/>
            <a:ext cx="2798064"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原則 必要</a:t>
            </a:r>
          </a:p>
        </p:txBody>
      </p:sp>
      <p:sp>
        <p:nvSpPr>
          <p:cNvPr id="46" name="Rectangle 45"/>
          <p:cNvSpPr/>
          <p:nvPr/>
        </p:nvSpPr>
        <p:spPr>
          <a:xfrm>
            <a:off x="8494775" y="4645152"/>
            <a:ext cx="2962656" cy="841248"/>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67927" y="4645152"/>
            <a:ext cx="2816352" cy="841248"/>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原則 不要（診断書等で可）</a:t>
            </a:r>
          </a:p>
        </p:txBody>
      </p:sp>
      <p:sp>
        <p:nvSpPr>
          <p:cNvPr id="48" name="Rounded Rectangle 47"/>
          <p:cNvSpPr/>
          <p:nvPr/>
        </p:nvSpPr>
        <p:spPr>
          <a:xfrm>
            <a:off x="731520" y="5577840"/>
            <a:ext cx="10725912" cy="512064"/>
          </a:xfrm>
          <a:prstGeom prst="roundRect">
            <a:avLst>
              <a:gd name="adj" fmla="val 6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623560"/>
            <a:ext cx="10424160" cy="457200"/>
          </a:xfrm>
          <a:prstGeom prst="rect">
            <a:avLst/>
          </a:prstGeom>
          <a:noFill/>
        </p:spPr>
        <p:txBody>
          <a:bodyPr wrap="square" anchor="ctr">
            <a:spAutoFit/>
          </a:bodyPr>
          <a:lstStyle/>
          <a:p>
            <a:pPr algn="l">
              <a:lnSpc>
                <a:spcPct val="115000"/>
              </a:lnSpc>
              <a:spcAft>
                <a:spcPts val="200"/>
              </a:spcAft>
            </a:pPr>
            <a:r>
              <a:rPr sz="1150" b="1" i="0">
                <a:solidFill>
                  <a:srgbClr val="1F3A5F"/>
                </a:solidFill>
                <a:latin typeface="Meiryo"/>
                <a:ea typeface="Meiryo"/>
              </a:rPr>
              <a:t>申立てができる人：本人・配偶者・四親等内の親族・市町村長・検察官 等（類型により任意後見受任者等も）</a:t>
            </a:r>
          </a:p>
        </p:txBody>
      </p:sp>
      <p:sp>
        <p:nvSpPr>
          <p:cNvPr id="50" name="TextBox 49"/>
          <p:cNvSpPr txBox="1"/>
          <p:nvPr/>
        </p:nvSpPr>
        <p:spPr>
          <a:xfrm>
            <a:off x="731520" y="6199632"/>
            <a:ext cx="10698480" cy="274320"/>
          </a:xfrm>
          <a:prstGeom prst="rect">
            <a:avLst/>
          </a:prstGeom>
          <a:noFill/>
        </p:spPr>
        <p:txBody>
          <a:bodyPr wrap="square" anchor="t">
            <a:spAutoFit/>
          </a:bodyPr>
          <a:lstStyle/>
          <a:p>
            <a:pPr algn="l">
              <a:lnSpc>
                <a:spcPct val="115000"/>
              </a:lnSpc>
              <a:spcAft>
                <a:spcPts val="200"/>
              </a:spcAft>
            </a:pPr>
            <a:r>
              <a:rPr sz="1100" b="1" i="0">
                <a:solidFill>
                  <a:srgbClr val="C99A3A"/>
                </a:solidFill>
                <a:latin typeface="Meiryo"/>
                <a:ea typeface="Meiryo"/>
              </a:rPr>
              <a:t>予習ポイント：類型は「判断能力の程度」で決まる。2026年改正で将来は『補助』へ一元化の方向（P11参照）。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制度の最新像 ③</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申立ての流れ・費用・期間</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08</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TextBox 8"/>
          <p:cNvSpPr txBox="1"/>
          <p:nvPr/>
        </p:nvSpPr>
        <p:spPr>
          <a:xfrm>
            <a:off x="731520" y="1700784"/>
            <a:ext cx="10698480" cy="274320"/>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 申立ての流れ（申立先＝本人住所地の家庭裁判所）</a:t>
            </a:r>
          </a:p>
        </p:txBody>
      </p:sp>
      <p:sp>
        <p:nvSpPr>
          <p:cNvPr id="10" name="Rounded Rectangle 9"/>
          <p:cNvSpPr/>
          <p:nvPr/>
        </p:nvSpPr>
        <p:spPr>
          <a:xfrm>
            <a:off x="731520" y="2066544"/>
            <a:ext cx="1975104" cy="713232"/>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66544"/>
            <a:ext cx="1975104" cy="713232"/>
          </a:xfrm>
          <a:prstGeom prst="rect">
            <a:avLst/>
          </a:prstGeom>
          <a:noFill/>
        </p:spPr>
        <p:txBody>
          <a:bodyPr wrap="square" anchor="ctr">
            <a:spAutoFit/>
          </a:bodyPr>
          <a:lstStyle/>
          <a:p>
            <a:pPr algn="ctr">
              <a:lnSpc>
                <a:spcPct val="105000"/>
              </a:lnSpc>
              <a:spcAft>
                <a:spcPts val="200"/>
              </a:spcAft>
            </a:pPr>
            <a:r>
              <a:rPr sz="1100" b="1" i="0">
                <a:solidFill>
                  <a:srgbClr val="FFFFFF"/>
                </a:solidFill>
                <a:latin typeface="Meiryo"/>
                <a:ea typeface="Meiryo"/>
              </a:rPr>
              <a:t>診断書取得</a:t>
            </a:r>
          </a:p>
          <a:p>
            <a:pPr algn="ctr">
              <a:lnSpc>
                <a:spcPct val="105000"/>
              </a:lnSpc>
              <a:spcAft>
                <a:spcPts val="200"/>
              </a:spcAft>
            </a:pPr>
            <a:r>
              <a:rPr sz="1100" b="1" i="0">
                <a:solidFill>
                  <a:srgbClr val="FFFFFF"/>
                </a:solidFill>
                <a:latin typeface="Meiryo"/>
                <a:ea typeface="Meiryo"/>
              </a:rPr>
              <a:t>申立て準備</a:t>
            </a:r>
          </a:p>
        </p:txBody>
      </p:sp>
      <p:sp>
        <p:nvSpPr>
          <p:cNvPr id="12" name="TextBox 11"/>
          <p:cNvSpPr txBox="1"/>
          <p:nvPr/>
        </p:nvSpPr>
        <p:spPr>
          <a:xfrm>
            <a:off x="2670048" y="2066544"/>
            <a:ext cx="274320" cy="713232"/>
          </a:xfrm>
          <a:prstGeom prst="rect">
            <a:avLst/>
          </a:prstGeom>
          <a:noFill/>
        </p:spPr>
        <p:txBody>
          <a:bodyPr wrap="square" anchor="ctr">
            <a:spAutoFit/>
          </a:bodyPr>
          <a:lstStyle/>
          <a:p>
            <a:pPr algn="ctr">
              <a:lnSpc>
                <a:spcPct val="115000"/>
              </a:lnSpc>
              <a:spcAft>
                <a:spcPts val="200"/>
              </a:spcAft>
            </a:pPr>
            <a:r>
              <a:rPr sz="1400" b="1" i="0">
                <a:solidFill>
                  <a:srgbClr val="C99A3A"/>
                </a:solidFill>
                <a:latin typeface="Meiryo"/>
                <a:ea typeface="Meiryo"/>
              </a:rPr>
              <a:t>▶</a:t>
            </a:r>
          </a:p>
        </p:txBody>
      </p:sp>
      <p:sp>
        <p:nvSpPr>
          <p:cNvPr id="13" name="Rounded Rectangle 12"/>
          <p:cNvSpPr/>
          <p:nvPr/>
        </p:nvSpPr>
        <p:spPr>
          <a:xfrm>
            <a:off x="2889504" y="2066544"/>
            <a:ext cx="1975104" cy="713232"/>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9504" y="2066544"/>
            <a:ext cx="1975104" cy="713232"/>
          </a:xfrm>
          <a:prstGeom prst="rect">
            <a:avLst/>
          </a:prstGeom>
          <a:noFill/>
        </p:spPr>
        <p:txBody>
          <a:bodyPr wrap="square" anchor="ctr">
            <a:spAutoFit/>
          </a:bodyPr>
          <a:lstStyle/>
          <a:p>
            <a:pPr algn="ctr">
              <a:lnSpc>
                <a:spcPct val="105000"/>
              </a:lnSpc>
              <a:spcAft>
                <a:spcPts val="200"/>
              </a:spcAft>
            </a:pPr>
            <a:r>
              <a:rPr sz="1100" b="1" i="0">
                <a:solidFill>
                  <a:srgbClr val="FFFFFF"/>
                </a:solidFill>
                <a:latin typeface="Meiryo"/>
                <a:ea typeface="Meiryo"/>
              </a:rPr>
              <a:t>家裁へ</a:t>
            </a:r>
          </a:p>
          <a:p>
            <a:pPr algn="ctr">
              <a:lnSpc>
                <a:spcPct val="105000"/>
              </a:lnSpc>
              <a:spcAft>
                <a:spcPts val="200"/>
              </a:spcAft>
            </a:pPr>
            <a:r>
              <a:rPr sz="1100" b="1" i="0">
                <a:solidFill>
                  <a:srgbClr val="FFFFFF"/>
                </a:solidFill>
                <a:latin typeface="Meiryo"/>
                <a:ea typeface="Meiryo"/>
              </a:rPr>
              <a:t>申立て</a:t>
            </a:r>
          </a:p>
        </p:txBody>
      </p:sp>
      <p:sp>
        <p:nvSpPr>
          <p:cNvPr id="15" name="TextBox 14"/>
          <p:cNvSpPr txBox="1"/>
          <p:nvPr/>
        </p:nvSpPr>
        <p:spPr>
          <a:xfrm>
            <a:off x="4828032" y="2066544"/>
            <a:ext cx="274320" cy="713232"/>
          </a:xfrm>
          <a:prstGeom prst="rect">
            <a:avLst/>
          </a:prstGeom>
          <a:noFill/>
        </p:spPr>
        <p:txBody>
          <a:bodyPr wrap="square" anchor="ctr">
            <a:spAutoFit/>
          </a:bodyPr>
          <a:lstStyle/>
          <a:p>
            <a:pPr algn="ctr">
              <a:lnSpc>
                <a:spcPct val="115000"/>
              </a:lnSpc>
              <a:spcAft>
                <a:spcPts val="200"/>
              </a:spcAft>
            </a:pPr>
            <a:r>
              <a:rPr sz="1400" b="1" i="0">
                <a:solidFill>
                  <a:srgbClr val="C99A3A"/>
                </a:solidFill>
                <a:latin typeface="Meiryo"/>
                <a:ea typeface="Meiryo"/>
              </a:rPr>
              <a:t>▶</a:t>
            </a:r>
          </a:p>
        </p:txBody>
      </p:sp>
      <p:sp>
        <p:nvSpPr>
          <p:cNvPr id="16" name="Rounded Rectangle 15"/>
          <p:cNvSpPr/>
          <p:nvPr/>
        </p:nvSpPr>
        <p:spPr>
          <a:xfrm>
            <a:off x="5047488" y="2066544"/>
            <a:ext cx="1975104" cy="713232"/>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7488" y="2066544"/>
            <a:ext cx="1975104" cy="713232"/>
          </a:xfrm>
          <a:prstGeom prst="rect">
            <a:avLst/>
          </a:prstGeom>
          <a:noFill/>
        </p:spPr>
        <p:txBody>
          <a:bodyPr wrap="square" anchor="ctr">
            <a:spAutoFit/>
          </a:bodyPr>
          <a:lstStyle/>
          <a:p>
            <a:pPr algn="ctr">
              <a:lnSpc>
                <a:spcPct val="105000"/>
              </a:lnSpc>
              <a:spcAft>
                <a:spcPts val="200"/>
              </a:spcAft>
            </a:pPr>
            <a:r>
              <a:rPr sz="1100" b="1" i="0">
                <a:solidFill>
                  <a:srgbClr val="FFFFFF"/>
                </a:solidFill>
                <a:latin typeface="Meiryo"/>
                <a:ea typeface="Meiryo"/>
              </a:rPr>
              <a:t>調査・鑑定</a:t>
            </a:r>
          </a:p>
          <a:p>
            <a:pPr algn="ctr">
              <a:lnSpc>
                <a:spcPct val="105000"/>
              </a:lnSpc>
              <a:spcAft>
                <a:spcPts val="200"/>
              </a:spcAft>
            </a:pPr>
            <a:r>
              <a:rPr sz="1100" b="1" i="0">
                <a:solidFill>
                  <a:srgbClr val="FFFFFF"/>
                </a:solidFill>
                <a:latin typeface="Meiryo"/>
                <a:ea typeface="Meiryo"/>
              </a:rPr>
              <a:t>（必要時）</a:t>
            </a:r>
          </a:p>
        </p:txBody>
      </p:sp>
      <p:sp>
        <p:nvSpPr>
          <p:cNvPr id="18" name="TextBox 17"/>
          <p:cNvSpPr txBox="1"/>
          <p:nvPr/>
        </p:nvSpPr>
        <p:spPr>
          <a:xfrm>
            <a:off x="6986016" y="2066544"/>
            <a:ext cx="274320" cy="713232"/>
          </a:xfrm>
          <a:prstGeom prst="rect">
            <a:avLst/>
          </a:prstGeom>
          <a:noFill/>
        </p:spPr>
        <p:txBody>
          <a:bodyPr wrap="square" anchor="ctr">
            <a:spAutoFit/>
          </a:bodyPr>
          <a:lstStyle/>
          <a:p>
            <a:pPr algn="ctr">
              <a:lnSpc>
                <a:spcPct val="115000"/>
              </a:lnSpc>
              <a:spcAft>
                <a:spcPts val="200"/>
              </a:spcAft>
            </a:pPr>
            <a:r>
              <a:rPr sz="1400" b="1" i="0">
                <a:solidFill>
                  <a:srgbClr val="C99A3A"/>
                </a:solidFill>
                <a:latin typeface="Meiryo"/>
                <a:ea typeface="Meiryo"/>
              </a:rPr>
              <a:t>▶</a:t>
            </a:r>
          </a:p>
        </p:txBody>
      </p:sp>
      <p:sp>
        <p:nvSpPr>
          <p:cNvPr id="19" name="Rounded Rectangle 18"/>
          <p:cNvSpPr/>
          <p:nvPr/>
        </p:nvSpPr>
        <p:spPr>
          <a:xfrm>
            <a:off x="7205472" y="2066544"/>
            <a:ext cx="1975104" cy="713232"/>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066544"/>
            <a:ext cx="1975104" cy="713232"/>
          </a:xfrm>
          <a:prstGeom prst="rect">
            <a:avLst/>
          </a:prstGeom>
          <a:noFill/>
        </p:spPr>
        <p:txBody>
          <a:bodyPr wrap="square" anchor="ctr">
            <a:spAutoFit/>
          </a:bodyPr>
          <a:lstStyle/>
          <a:p>
            <a:pPr algn="ctr">
              <a:lnSpc>
                <a:spcPct val="105000"/>
              </a:lnSpc>
              <a:spcAft>
                <a:spcPts val="200"/>
              </a:spcAft>
            </a:pPr>
            <a:r>
              <a:rPr sz="1100" b="1" i="0">
                <a:solidFill>
                  <a:srgbClr val="FFFFFF"/>
                </a:solidFill>
                <a:latin typeface="Meiryo"/>
                <a:ea typeface="Meiryo"/>
              </a:rPr>
              <a:t>審　判</a:t>
            </a:r>
          </a:p>
        </p:txBody>
      </p:sp>
      <p:sp>
        <p:nvSpPr>
          <p:cNvPr id="21" name="TextBox 20"/>
          <p:cNvSpPr txBox="1"/>
          <p:nvPr/>
        </p:nvSpPr>
        <p:spPr>
          <a:xfrm>
            <a:off x="9144000" y="2066544"/>
            <a:ext cx="274320" cy="713232"/>
          </a:xfrm>
          <a:prstGeom prst="rect">
            <a:avLst/>
          </a:prstGeom>
          <a:noFill/>
        </p:spPr>
        <p:txBody>
          <a:bodyPr wrap="square" anchor="ctr">
            <a:spAutoFit/>
          </a:bodyPr>
          <a:lstStyle/>
          <a:p>
            <a:pPr algn="ctr">
              <a:lnSpc>
                <a:spcPct val="115000"/>
              </a:lnSpc>
              <a:spcAft>
                <a:spcPts val="200"/>
              </a:spcAft>
            </a:pPr>
            <a:r>
              <a:rPr sz="1400" b="1" i="0">
                <a:solidFill>
                  <a:srgbClr val="C99A3A"/>
                </a:solidFill>
                <a:latin typeface="Meiryo"/>
                <a:ea typeface="Meiryo"/>
              </a:rPr>
              <a:t>▶</a:t>
            </a:r>
          </a:p>
        </p:txBody>
      </p:sp>
      <p:sp>
        <p:nvSpPr>
          <p:cNvPr id="22" name="Rounded Rectangle 21"/>
          <p:cNvSpPr/>
          <p:nvPr/>
        </p:nvSpPr>
        <p:spPr>
          <a:xfrm>
            <a:off x="9363456" y="2066544"/>
            <a:ext cx="1975104" cy="713232"/>
          </a:xfrm>
          <a:prstGeom prst="roundRect">
            <a:avLst>
              <a:gd name="adj" fmla="val 8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3456" y="2066544"/>
            <a:ext cx="1975104" cy="713232"/>
          </a:xfrm>
          <a:prstGeom prst="rect">
            <a:avLst/>
          </a:prstGeom>
          <a:noFill/>
        </p:spPr>
        <p:txBody>
          <a:bodyPr wrap="square" anchor="ctr">
            <a:spAutoFit/>
          </a:bodyPr>
          <a:lstStyle/>
          <a:p>
            <a:pPr algn="ctr">
              <a:lnSpc>
                <a:spcPct val="105000"/>
              </a:lnSpc>
              <a:spcAft>
                <a:spcPts val="200"/>
              </a:spcAft>
            </a:pPr>
            <a:r>
              <a:rPr sz="1100" b="1" i="0">
                <a:solidFill>
                  <a:srgbClr val="FFFFFF"/>
                </a:solidFill>
                <a:latin typeface="Meiryo"/>
                <a:ea typeface="Meiryo"/>
              </a:rPr>
              <a:t>確定・登記</a:t>
            </a:r>
          </a:p>
          <a:p>
            <a:pPr algn="ctr">
              <a:lnSpc>
                <a:spcPct val="105000"/>
              </a:lnSpc>
              <a:spcAft>
                <a:spcPts val="200"/>
              </a:spcAft>
            </a:pPr>
            <a:r>
              <a:rPr sz="1100" b="1" i="0">
                <a:solidFill>
                  <a:srgbClr val="FFFFFF"/>
                </a:solidFill>
                <a:latin typeface="Meiryo"/>
                <a:ea typeface="Meiryo"/>
              </a:rPr>
              <a:t>後見等開始</a:t>
            </a:r>
          </a:p>
        </p:txBody>
      </p:sp>
      <p:sp>
        <p:nvSpPr>
          <p:cNvPr id="24" name="Rounded Rectangle 23"/>
          <p:cNvSpPr/>
          <p:nvPr/>
        </p:nvSpPr>
        <p:spPr>
          <a:xfrm>
            <a:off x="731520" y="3026664"/>
            <a:ext cx="5257800" cy="228600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3026664"/>
            <a:ext cx="5257800" cy="420624"/>
          </a:xfrm>
          <a:prstGeom prst="roundRect">
            <a:avLst>
              <a:gd name="adj" fmla="val 4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3300984"/>
            <a:ext cx="5257800" cy="1463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3026664"/>
            <a:ext cx="503834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費用の目安</a:t>
            </a:r>
          </a:p>
        </p:txBody>
      </p:sp>
      <p:sp>
        <p:nvSpPr>
          <p:cNvPr id="28" name="TextBox 27"/>
          <p:cNvSpPr txBox="1"/>
          <p:nvPr/>
        </p:nvSpPr>
        <p:spPr>
          <a:xfrm>
            <a:off x="877824" y="3557016"/>
            <a:ext cx="4983480" cy="1645920"/>
          </a:xfrm>
          <a:prstGeom prst="rect">
            <a:avLst/>
          </a:prstGeom>
          <a:noFill/>
        </p:spPr>
        <p:txBody>
          <a:bodyPr wrap="square" anchor="t">
            <a:spAutoFit/>
          </a:bodyPr>
          <a:lstStyle/>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申立手数料：収入印紙 800円</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（保佐・補助の権限付与は申立てごとに各800円追加）</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登記手数料：収入印紙 2,600円</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連絡用の郵便切手・診断書作成費 ほか</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鑑定費用：実施時のみ。多くは10万円以下</a:t>
            </a:r>
          </a:p>
        </p:txBody>
      </p:sp>
      <p:sp>
        <p:nvSpPr>
          <p:cNvPr id="29" name="Rounded Rectangle 28"/>
          <p:cNvSpPr/>
          <p:nvPr/>
        </p:nvSpPr>
        <p:spPr>
          <a:xfrm>
            <a:off x="6199632" y="3026664"/>
            <a:ext cx="5257800" cy="228600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99632" y="3026664"/>
            <a:ext cx="5257800" cy="420624"/>
          </a:xfrm>
          <a:prstGeom prst="roundRect">
            <a:avLst>
              <a:gd name="adj" fmla="val 4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9632" y="3300984"/>
            <a:ext cx="5257800" cy="1463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27648" y="3026664"/>
            <a:ext cx="503834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期間・件数</a:t>
            </a:r>
          </a:p>
        </p:txBody>
      </p:sp>
      <p:sp>
        <p:nvSpPr>
          <p:cNvPr id="33" name="TextBox 32"/>
          <p:cNvSpPr txBox="1"/>
          <p:nvPr/>
        </p:nvSpPr>
        <p:spPr>
          <a:xfrm>
            <a:off x="6345936" y="3557016"/>
            <a:ext cx="4983480" cy="1645920"/>
          </a:xfrm>
          <a:prstGeom prst="rect">
            <a:avLst/>
          </a:prstGeom>
          <a:noFill/>
        </p:spPr>
        <p:txBody>
          <a:bodyPr wrap="square" anchor="t">
            <a:spAutoFit/>
          </a:bodyPr>
          <a:lstStyle/>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審理期間：多くは申立てから 4か月以内</a:t>
            </a:r>
          </a:p>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（鑑定実施時はさらに期間を要する）</a:t>
            </a:r>
          </a:p>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申立件数：令和6年 約4.2万件（前年比 約+2%）</a:t>
            </a:r>
          </a:p>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内訳：後見開始 約2.9万 / 保佐 約0.9万 / 補助 約0.3万</a:t>
            </a:r>
          </a:p>
          <a:p>
            <a:pPr algn="l">
              <a:lnSpc>
                <a:spcPct val="120000"/>
              </a:lnSpc>
              <a:spcAft>
                <a:spcPts val="400"/>
              </a:spcAft>
            </a:pPr>
            <a:r>
              <a:rPr sz="1150" b="1" i="0">
                <a:solidFill>
                  <a:srgbClr val="1F3A5F"/>
                </a:solidFill>
                <a:latin typeface="Meiryo"/>
                <a:ea typeface="Meiryo"/>
              </a:rPr>
              <a:t>• </a:t>
            </a:r>
            <a:r>
              <a:rPr sz="1150" b="0" i="0">
                <a:solidFill>
                  <a:srgbClr val="262B33"/>
                </a:solidFill>
                <a:latin typeface="Meiryo"/>
                <a:ea typeface="Meiryo"/>
              </a:rPr>
              <a:t>費用負担が困難な低所得者には利用支援事業の助成あり</a:t>
            </a:r>
          </a:p>
        </p:txBody>
      </p:sp>
      <p:sp>
        <p:nvSpPr>
          <p:cNvPr id="34" name="Rectangle 33"/>
          <p:cNvSpPr/>
          <p:nvPr/>
        </p:nvSpPr>
        <p:spPr>
          <a:xfrm>
            <a:off x="731520" y="5449824"/>
            <a:ext cx="10725912" cy="457200"/>
          </a:xfrm>
          <a:prstGeom prst="rect">
            <a:avLst/>
          </a:prstGeom>
          <a:solidFill>
            <a:srgbClr val="FCF3DD"/>
          </a:solidFill>
          <a:ln w="12700">
            <a:solidFill>
              <a:srgbClr val="C99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449824"/>
            <a:ext cx="10424160" cy="457200"/>
          </a:xfrm>
          <a:prstGeom prst="rect">
            <a:avLst/>
          </a:prstGeom>
          <a:noFill/>
        </p:spPr>
        <p:txBody>
          <a:bodyPr wrap="square" anchor="ctr">
            <a:spAutoFit/>
          </a:bodyPr>
          <a:lstStyle/>
          <a:p>
            <a:pPr algn="l">
              <a:lnSpc>
                <a:spcPct val="115000"/>
              </a:lnSpc>
              <a:spcAft>
                <a:spcPts val="200"/>
              </a:spcAft>
            </a:pPr>
            <a:r>
              <a:rPr sz="1150" b="1" i="0">
                <a:solidFill>
                  <a:srgbClr val="262B33"/>
                </a:solidFill>
                <a:latin typeface="Meiryo"/>
                <a:ea typeface="Meiryo"/>
              </a:rPr>
              <a:t>当日確認したい：中央区の家裁で申立て→開始までの“実際の”所要期間。</a:t>
            </a:r>
          </a:p>
        </p:txBody>
      </p:sp>
      <p:sp>
        <p:nvSpPr>
          <p:cNvPr id="36" name="TextBox 35"/>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出典：最高裁・法務省・厚労省。件数・費用は出典資料で要確認。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制度の最新像 ④</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選任後の実務 ── 後見人が「できること／できないこと」</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09</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ounded Rectangle 8"/>
          <p:cNvSpPr/>
          <p:nvPr/>
        </p:nvSpPr>
        <p:spPr>
          <a:xfrm>
            <a:off x="731520" y="1700784"/>
            <a:ext cx="3520440" cy="306324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00784"/>
            <a:ext cx="3520440" cy="420624"/>
          </a:xfrm>
          <a:prstGeom prst="roundRect">
            <a:avLst>
              <a:gd name="adj" fmla="val 4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975104"/>
            <a:ext cx="3520440" cy="1463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1700784"/>
            <a:ext cx="330098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できること</a:t>
            </a:r>
          </a:p>
        </p:txBody>
      </p:sp>
      <p:sp>
        <p:nvSpPr>
          <p:cNvPr id="13" name="TextBox 12"/>
          <p:cNvSpPr txBox="1"/>
          <p:nvPr/>
        </p:nvSpPr>
        <p:spPr>
          <a:xfrm>
            <a:off x="877824" y="2231136"/>
            <a:ext cx="3246120" cy="2423160"/>
          </a:xfrm>
          <a:prstGeom prst="rect">
            <a:avLst/>
          </a:prstGeom>
          <a:noFill/>
        </p:spPr>
        <p:txBody>
          <a:bodyPr wrap="square" anchor="t">
            <a:spAutoFit/>
          </a:bodyPr>
          <a:lstStyle/>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財産の管理・保全</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契約の代理（施設入所契約 等）</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預貯金など収支の管理</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家庭裁判所への定期報告</a:t>
            </a:r>
          </a:p>
          <a:p>
            <a:pPr algn="l">
              <a:lnSpc>
                <a:spcPct val="120000"/>
              </a:lnSpc>
              <a:spcAft>
                <a:spcPts val="400"/>
              </a:spcAft>
            </a:pPr>
            <a:r>
              <a:rPr sz="1150" b="1" i="0">
                <a:solidFill>
                  <a:srgbClr val="2E8B8B"/>
                </a:solidFill>
                <a:latin typeface="Meiryo"/>
                <a:ea typeface="Meiryo"/>
              </a:rPr>
              <a:t>• </a:t>
            </a:r>
            <a:r>
              <a:rPr sz="1150" b="0" i="0">
                <a:solidFill>
                  <a:srgbClr val="262B33"/>
                </a:solidFill>
                <a:latin typeface="Meiryo"/>
                <a:ea typeface="Meiryo"/>
              </a:rPr>
              <a:t>本人の生活・療養看護に関する事務（身上保護）</a:t>
            </a:r>
          </a:p>
        </p:txBody>
      </p:sp>
      <p:sp>
        <p:nvSpPr>
          <p:cNvPr id="14" name="Rounded Rectangle 13"/>
          <p:cNvSpPr/>
          <p:nvPr/>
        </p:nvSpPr>
        <p:spPr>
          <a:xfrm>
            <a:off x="4434840" y="1700784"/>
            <a:ext cx="3520440" cy="306324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34840" y="1700784"/>
            <a:ext cx="3520440" cy="420624"/>
          </a:xfrm>
          <a:prstGeom prst="roundRect">
            <a:avLst>
              <a:gd name="adj" fmla="val 4000"/>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34840" y="1975104"/>
            <a:ext cx="3520440" cy="146304"/>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2856" y="1700784"/>
            <a:ext cx="330098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できない・要注意</a:t>
            </a:r>
          </a:p>
        </p:txBody>
      </p:sp>
      <p:sp>
        <p:nvSpPr>
          <p:cNvPr id="18" name="TextBox 17"/>
          <p:cNvSpPr txBox="1"/>
          <p:nvPr/>
        </p:nvSpPr>
        <p:spPr>
          <a:xfrm>
            <a:off x="4581144" y="2231136"/>
            <a:ext cx="3246120" cy="2423160"/>
          </a:xfrm>
          <a:prstGeom prst="rect">
            <a:avLst/>
          </a:prstGeom>
          <a:noFill/>
        </p:spPr>
        <p:txBody>
          <a:bodyPr wrap="square" anchor="t">
            <a:spAutoFit/>
          </a:bodyPr>
          <a:lstStyle/>
          <a:p>
            <a:pPr algn="l">
              <a:lnSpc>
                <a:spcPct val="120000"/>
              </a:lnSpc>
              <a:spcAft>
                <a:spcPts val="400"/>
              </a:spcAft>
            </a:pPr>
            <a:r>
              <a:rPr sz="1150" b="1" i="0">
                <a:solidFill>
                  <a:srgbClr val="C99A3A"/>
                </a:solidFill>
                <a:latin typeface="Meiryo"/>
                <a:ea typeface="Meiryo"/>
              </a:rPr>
              <a:t>• </a:t>
            </a:r>
            <a:r>
              <a:rPr sz="1150" b="0" i="0">
                <a:solidFill>
                  <a:srgbClr val="262B33"/>
                </a:solidFill>
                <a:latin typeface="Meiryo"/>
                <a:ea typeface="Meiryo"/>
              </a:rPr>
              <a:t>医療行為への同意権はない（P13）</a:t>
            </a:r>
          </a:p>
          <a:p>
            <a:pPr algn="l">
              <a:lnSpc>
                <a:spcPct val="120000"/>
              </a:lnSpc>
              <a:spcAft>
                <a:spcPts val="400"/>
              </a:spcAft>
            </a:pPr>
            <a:r>
              <a:rPr sz="1150" b="1" i="0">
                <a:solidFill>
                  <a:srgbClr val="C99A3A"/>
                </a:solidFill>
                <a:latin typeface="Meiryo"/>
                <a:ea typeface="Meiryo"/>
              </a:rPr>
              <a:t>• </a:t>
            </a:r>
            <a:r>
              <a:rPr sz="1150" b="0" i="0">
                <a:solidFill>
                  <a:srgbClr val="262B33"/>
                </a:solidFill>
                <a:latin typeface="Meiryo"/>
                <a:ea typeface="Meiryo"/>
              </a:rPr>
              <a:t>身元保証人にはなれない</a:t>
            </a:r>
          </a:p>
          <a:p>
            <a:pPr algn="l">
              <a:lnSpc>
                <a:spcPct val="120000"/>
              </a:lnSpc>
              <a:spcAft>
                <a:spcPts val="400"/>
              </a:spcAft>
            </a:pPr>
            <a:r>
              <a:rPr sz="1150" b="1" i="0">
                <a:solidFill>
                  <a:srgbClr val="C99A3A"/>
                </a:solidFill>
                <a:latin typeface="Meiryo"/>
                <a:ea typeface="Meiryo"/>
              </a:rPr>
              <a:t>• </a:t>
            </a:r>
            <a:r>
              <a:rPr sz="1150" b="0" i="0">
                <a:solidFill>
                  <a:srgbClr val="262B33"/>
                </a:solidFill>
                <a:latin typeface="Meiryo"/>
                <a:ea typeface="Meiryo"/>
              </a:rPr>
              <a:t>居住用不動産の処分は家裁の許可が必要</a:t>
            </a:r>
          </a:p>
          <a:p>
            <a:pPr algn="l">
              <a:lnSpc>
                <a:spcPct val="120000"/>
              </a:lnSpc>
              <a:spcAft>
                <a:spcPts val="400"/>
              </a:spcAft>
            </a:pPr>
            <a:r>
              <a:rPr sz="1150" b="1" i="0">
                <a:solidFill>
                  <a:srgbClr val="C99A3A"/>
                </a:solidFill>
                <a:latin typeface="Meiryo"/>
                <a:ea typeface="Meiryo"/>
              </a:rPr>
              <a:t>• </a:t>
            </a:r>
            <a:r>
              <a:rPr sz="1150" b="0" i="0">
                <a:solidFill>
                  <a:srgbClr val="262B33"/>
                </a:solidFill>
                <a:latin typeface="Meiryo"/>
                <a:ea typeface="Meiryo"/>
              </a:rPr>
              <a:t>日用品の購入など日常の行為は本人が行う</a:t>
            </a:r>
          </a:p>
          <a:p>
            <a:pPr algn="l">
              <a:lnSpc>
                <a:spcPct val="120000"/>
              </a:lnSpc>
              <a:spcAft>
                <a:spcPts val="400"/>
              </a:spcAft>
            </a:pPr>
            <a:r>
              <a:rPr sz="1150" b="1" i="0">
                <a:solidFill>
                  <a:srgbClr val="C99A3A"/>
                </a:solidFill>
                <a:latin typeface="Meiryo"/>
                <a:ea typeface="Meiryo"/>
              </a:rPr>
              <a:t>• </a:t>
            </a:r>
            <a:r>
              <a:rPr sz="1150" b="0" i="0">
                <a:solidFill>
                  <a:srgbClr val="262B33"/>
                </a:solidFill>
                <a:latin typeface="Meiryo"/>
                <a:ea typeface="Meiryo"/>
              </a:rPr>
              <a:t>本人の意思・自己決定の尊重が大前提</a:t>
            </a:r>
          </a:p>
        </p:txBody>
      </p:sp>
      <p:sp>
        <p:nvSpPr>
          <p:cNvPr id="19" name="Rounded Rectangle 18"/>
          <p:cNvSpPr/>
          <p:nvPr/>
        </p:nvSpPr>
        <p:spPr>
          <a:xfrm>
            <a:off x="8138160" y="1700784"/>
            <a:ext cx="3319272" cy="306324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38160" y="1700784"/>
            <a:ext cx="3319272" cy="420624"/>
          </a:xfrm>
          <a:prstGeom prst="roundRect">
            <a:avLst>
              <a:gd name="adj" fmla="val 4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1975104"/>
            <a:ext cx="3319272" cy="1463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6" y="1700784"/>
            <a:ext cx="3099816"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死後事務（限定的）</a:t>
            </a:r>
          </a:p>
        </p:txBody>
      </p:sp>
      <p:sp>
        <p:nvSpPr>
          <p:cNvPr id="23" name="TextBox 22"/>
          <p:cNvSpPr txBox="1"/>
          <p:nvPr/>
        </p:nvSpPr>
        <p:spPr>
          <a:xfrm>
            <a:off x="8284464" y="2231136"/>
            <a:ext cx="3044952" cy="2423160"/>
          </a:xfrm>
          <a:prstGeom prst="rect">
            <a:avLst/>
          </a:prstGeom>
          <a:noFill/>
        </p:spPr>
        <p:txBody>
          <a:bodyPr wrap="square" anchor="t">
            <a:spAutoFit/>
          </a:bodyPr>
          <a:lstStyle/>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民法873条の2（平成28年改正）</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家裁の許可等を要件に、</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相続財産の保存／弁済期到来の債務弁済／</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火葬・埋葬の契約 等が可能</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対象は成年後見人のみ。保佐・補助は対象外</a:t>
            </a:r>
          </a:p>
        </p:txBody>
      </p:sp>
      <p:sp>
        <p:nvSpPr>
          <p:cNvPr id="24" name="Rounded Rectangle 23"/>
          <p:cNvSpPr/>
          <p:nvPr/>
        </p:nvSpPr>
        <p:spPr>
          <a:xfrm>
            <a:off x="731520" y="4901184"/>
            <a:ext cx="10725912" cy="868680"/>
          </a:xfrm>
          <a:prstGeom prst="roundRect">
            <a:avLst>
              <a:gd name="adj" fmla="val 5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74336"/>
            <a:ext cx="10424160" cy="274320"/>
          </a:xfrm>
          <a:prstGeom prst="rect">
            <a:avLst/>
          </a:prstGeom>
          <a:noFill/>
        </p:spPr>
        <p:txBody>
          <a:bodyPr wrap="square" anchor="t">
            <a:spAutoFit/>
          </a:bodyPr>
          <a:lstStyle/>
          <a:p>
            <a:pPr algn="l">
              <a:lnSpc>
                <a:spcPct val="115000"/>
              </a:lnSpc>
              <a:spcAft>
                <a:spcPts val="200"/>
              </a:spcAft>
            </a:pPr>
            <a:r>
              <a:rPr sz="1250" b="1" i="0">
                <a:solidFill>
                  <a:srgbClr val="1F3A5F"/>
                </a:solidFill>
                <a:latin typeface="Meiryo"/>
                <a:ea typeface="Meiryo"/>
              </a:rPr>
              <a:t>◆ 後見人等と本人の関係（令和6年）</a:t>
            </a:r>
          </a:p>
        </p:txBody>
      </p:sp>
      <p:sp>
        <p:nvSpPr>
          <p:cNvPr id="26" name="TextBox 25"/>
          <p:cNvSpPr txBox="1"/>
          <p:nvPr/>
        </p:nvSpPr>
        <p:spPr>
          <a:xfrm>
            <a:off x="914400" y="5266944"/>
            <a:ext cx="10424160" cy="457200"/>
          </a:xfrm>
          <a:prstGeom prst="rect">
            <a:avLst/>
          </a:prstGeom>
          <a:noFill/>
        </p:spPr>
        <p:txBody>
          <a:bodyPr wrap="square" anchor="t">
            <a:spAutoFit/>
          </a:bodyPr>
          <a:lstStyle/>
          <a:p>
            <a:pPr algn="l">
              <a:lnSpc>
                <a:spcPct val="120000"/>
              </a:lnSpc>
              <a:spcAft>
                <a:spcPts val="200"/>
              </a:spcAft>
            </a:pPr>
            <a:r>
              <a:rPr sz="1200" b="1" i="0">
                <a:solidFill>
                  <a:srgbClr val="262B33"/>
                </a:solidFill>
                <a:latin typeface="Meiryo"/>
                <a:ea typeface="Meiryo"/>
              </a:rPr>
              <a:t>親族 約17% ／ 親族以外（専門職等）約83%。</a:t>
            </a:r>
            <a:r>
              <a:rPr sz="1150" b="0" i="0">
                <a:solidFill>
                  <a:srgbClr val="262B33"/>
                </a:solidFill>
                <a:latin typeface="Meiryo"/>
                <a:ea typeface="Meiryo"/>
              </a:rPr>
              <a:t>　専門職の内訳は司法書士＞弁護士＞社会福祉士の順。</a:t>
            </a:r>
          </a:p>
        </p:txBody>
      </p:sp>
      <p:sp>
        <p:nvSpPr>
          <p:cNvPr id="27" name="TextBox 26"/>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出典：最高裁「成年後見関係事件の概況―令和6年―」。割合は出典PDFで要確認。</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制度の最新像 ⑤</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任意後見と法定後見の使い分け</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10</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ectangle 8"/>
          <p:cNvSpPr/>
          <p:nvPr/>
        </p:nvSpPr>
        <p:spPr>
          <a:xfrm>
            <a:off x="731520" y="1700784"/>
            <a:ext cx="23774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08960" y="1700784"/>
            <a:ext cx="4160520" cy="4572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700784"/>
            <a:ext cx="4160520" cy="457200"/>
          </a:xfrm>
          <a:prstGeom prst="rect">
            <a:avLst/>
          </a:prstGeom>
          <a:noFill/>
        </p:spPr>
        <p:txBody>
          <a:bodyPr wrap="square" anchor="ctr">
            <a:spAutoFit/>
          </a:bodyPr>
          <a:lstStyle/>
          <a:p>
            <a:pPr algn="ctr">
              <a:lnSpc>
                <a:spcPct val="115000"/>
              </a:lnSpc>
              <a:spcAft>
                <a:spcPts val="200"/>
              </a:spcAft>
            </a:pPr>
            <a:r>
              <a:rPr sz="1400" b="1" i="0">
                <a:solidFill>
                  <a:srgbClr val="FFFFFF"/>
                </a:solidFill>
                <a:latin typeface="Meiryo"/>
                <a:ea typeface="Meiryo"/>
              </a:rPr>
              <a:t>任意後見</a:t>
            </a:r>
          </a:p>
        </p:txBody>
      </p:sp>
      <p:sp>
        <p:nvSpPr>
          <p:cNvPr id="12" name="Rectangle 11"/>
          <p:cNvSpPr/>
          <p:nvPr/>
        </p:nvSpPr>
        <p:spPr>
          <a:xfrm>
            <a:off x="7269480" y="1700784"/>
            <a:ext cx="4187952" cy="4572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1700784"/>
            <a:ext cx="4187952" cy="457200"/>
          </a:xfrm>
          <a:prstGeom prst="rect">
            <a:avLst/>
          </a:prstGeom>
          <a:noFill/>
        </p:spPr>
        <p:txBody>
          <a:bodyPr wrap="square" anchor="ctr">
            <a:spAutoFit/>
          </a:bodyPr>
          <a:lstStyle/>
          <a:p>
            <a:pPr algn="ctr">
              <a:lnSpc>
                <a:spcPct val="115000"/>
              </a:lnSpc>
              <a:spcAft>
                <a:spcPts val="200"/>
              </a:spcAft>
            </a:pPr>
            <a:r>
              <a:rPr sz="1400" b="1" i="0">
                <a:solidFill>
                  <a:srgbClr val="FFFFFF"/>
                </a:solidFill>
                <a:latin typeface="Meiryo"/>
                <a:ea typeface="Meiryo"/>
              </a:rPr>
              <a:t>法定後見</a:t>
            </a:r>
          </a:p>
        </p:txBody>
      </p:sp>
      <p:sp>
        <p:nvSpPr>
          <p:cNvPr id="14" name="Rectangle 13"/>
          <p:cNvSpPr/>
          <p:nvPr/>
        </p:nvSpPr>
        <p:spPr>
          <a:xfrm>
            <a:off x="731520" y="2157984"/>
            <a:ext cx="2377440" cy="676656"/>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157984"/>
            <a:ext cx="2286000" cy="676656"/>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利用の起点</a:t>
            </a:r>
          </a:p>
        </p:txBody>
      </p:sp>
      <p:sp>
        <p:nvSpPr>
          <p:cNvPr id="16" name="Rectangle 15"/>
          <p:cNvSpPr/>
          <p:nvPr/>
        </p:nvSpPr>
        <p:spPr>
          <a:xfrm>
            <a:off x="3108960" y="2157984"/>
            <a:ext cx="4160520" cy="676656"/>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2157984"/>
            <a:ext cx="3977640"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判断能力があるうちに</a:t>
            </a:r>
          </a:p>
          <a:p>
            <a:pPr algn="ctr">
              <a:lnSpc>
                <a:spcPct val="110000"/>
              </a:lnSpc>
              <a:spcAft>
                <a:spcPts val="200"/>
              </a:spcAft>
            </a:pPr>
            <a:r>
              <a:rPr sz="1100" b="0" i="0">
                <a:solidFill>
                  <a:srgbClr val="262B33"/>
                </a:solidFill>
                <a:latin typeface="Meiryo"/>
                <a:ea typeface="Meiryo"/>
              </a:rPr>
              <a:t>本人が自ら契約</a:t>
            </a:r>
          </a:p>
        </p:txBody>
      </p:sp>
      <p:sp>
        <p:nvSpPr>
          <p:cNvPr id="18" name="Rectangle 17"/>
          <p:cNvSpPr/>
          <p:nvPr/>
        </p:nvSpPr>
        <p:spPr>
          <a:xfrm>
            <a:off x="7269480" y="2157984"/>
            <a:ext cx="4187952" cy="676656"/>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0920" y="2157984"/>
            <a:ext cx="4005072"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判断能力が低下した後に</a:t>
            </a:r>
          </a:p>
          <a:p>
            <a:pPr algn="ctr">
              <a:lnSpc>
                <a:spcPct val="110000"/>
              </a:lnSpc>
              <a:spcAft>
                <a:spcPts val="200"/>
              </a:spcAft>
            </a:pPr>
            <a:r>
              <a:rPr sz="1100" b="0" i="0">
                <a:solidFill>
                  <a:srgbClr val="262B33"/>
                </a:solidFill>
                <a:latin typeface="Meiryo"/>
                <a:ea typeface="Meiryo"/>
              </a:rPr>
              <a:t>家庭裁判所が選任</a:t>
            </a:r>
          </a:p>
        </p:txBody>
      </p:sp>
      <p:sp>
        <p:nvSpPr>
          <p:cNvPr id="20" name="Rectangle 19"/>
          <p:cNvSpPr/>
          <p:nvPr/>
        </p:nvSpPr>
        <p:spPr>
          <a:xfrm>
            <a:off x="731520" y="2834640"/>
            <a:ext cx="2377440" cy="676656"/>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834640"/>
            <a:ext cx="2286000" cy="676656"/>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後見人を選ぶ</a:t>
            </a:r>
          </a:p>
        </p:txBody>
      </p:sp>
      <p:sp>
        <p:nvSpPr>
          <p:cNvPr id="22" name="Rectangle 21"/>
          <p:cNvSpPr/>
          <p:nvPr/>
        </p:nvSpPr>
        <p:spPr>
          <a:xfrm>
            <a:off x="3108960" y="2834640"/>
            <a:ext cx="4160520" cy="676656"/>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2834640"/>
            <a:ext cx="3977640"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本人が選べる</a:t>
            </a:r>
          </a:p>
        </p:txBody>
      </p:sp>
      <p:sp>
        <p:nvSpPr>
          <p:cNvPr id="24" name="Rectangle 23"/>
          <p:cNvSpPr/>
          <p:nvPr/>
        </p:nvSpPr>
        <p:spPr>
          <a:xfrm>
            <a:off x="7269480" y="2834640"/>
            <a:ext cx="4187952" cy="676656"/>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2834640"/>
            <a:ext cx="4005072"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家裁が選任（本人は選べない）</a:t>
            </a:r>
          </a:p>
        </p:txBody>
      </p:sp>
      <p:sp>
        <p:nvSpPr>
          <p:cNvPr id="26" name="Rectangle 25"/>
          <p:cNvSpPr/>
          <p:nvPr/>
        </p:nvSpPr>
        <p:spPr>
          <a:xfrm>
            <a:off x="731520" y="3511296"/>
            <a:ext cx="2377440" cy="676656"/>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511296"/>
            <a:ext cx="2286000" cy="676656"/>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契約の方式</a:t>
            </a:r>
          </a:p>
        </p:txBody>
      </p:sp>
      <p:sp>
        <p:nvSpPr>
          <p:cNvPr id="28" name="Rectangle 27"/>
          <p:cNvSpPr/>
          <p:nvPr/>
        </p:nvSpPr>
        <p:spPr>
          <a:xfrm>
            <a:off x="3108960" y="3511296"/>
            <a:ext cx="4160520" cy="676656"/>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0" y="3511296"/>
            <a:ext cx="3977640"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公正証書で契約</a:t>
            </a:r>
          </a:p>
        </p:txBody>
      </p:sp>
      <p:sp>
        <p:nvSpPr>
          <p:cNvPr id="30" name="Rectangle 29"/>
          <p:cNvSpPr/>
          <p:nvPr/>
        </p:nvSpPr>
        <p:spPr>
          <a:xfrm>
            <a:off x="7269480" y="3511296"/>
            <a:ext cx="4187952" cy="676656"/>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60920" y="3511296"/>
            <a:ext cx="4005072"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（契約ではなく審判）</a:t>
            </a:r>
          </a:p>
        </p:txBody>
      </p:sp>
      <p:sp>
        <p:nvSpPr>
          <p:cNvPr id="32" name="Rectangle 31"/>
          <p:cNvSpPr/>
          <p:nvPr/>
        </p:nvSpPr>
        <p:spPr>
          <a:xfrm>
            <a:off x="731520" y="4187952"/>
            <a:ext cx="2377440" cy="676656"/>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187952"/>
            <a:ext cx="2286000" cy="676656"/>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効力の発生</a:t>
            </a:r>
          </a:p>
        </p:txBody>
      </p:sp>
      <p:sp>
        <p:nvSpPr>
          <p:cNvPr id="34" name="Rectangle 33"/>
          <p:cNvSpPr/>
          <p:nvPr/>
        </p:nvSpPr>
        <p:spPr>
          <a:xfrm>
            <a:off x="3108960" y="4187952"/>
            <a:ext cx="4160520" cy="676656"/>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0" y="4187952"/>
            <a:ext cx="3977640"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家裁が任意後見監督人を</a:t>
            </a:r>
          </a:p>
          <a:p>
            <a:pPr algn="ctr">
              <a:lnSpc>
                <a:spcPct val="110000"/>
              </a:lnSpc>
              <a:spcAft>
                <a:spcPts val="200"/>
              </a:spcAft>
            </a:pPr>
            <a:r>
              <a:rPr sz="1100" b="0" i="0">
                <a:solidFill>
                  <a:srgbClr val="262B33"/>
                </a:solidFill>
                <a:latin typeface="Meiryo"/>
                <a:ea typeface="Meiryo"/>
              </a:rPr>
              <a:t>選任した時から</a:t>
            </a:r>
          </a:p>
        </p:txBody>
      </p:sp>
      <p:sp>
        <p:nvSpPr>
          <p:cNvPr id="36" name="Rectangle 35"/>
          <p:cNvSpPr/>
          <p:nvPr/>
        </p:nvSpPr>
        <p:spPr>
          <a:xfrm>
            <a:off x="7269480" y="4187952"/>
            <a:ext cx="4187952" cy="676656"/>
          </a:xfrm>
          <a:prstGeom prst="rect">
            <a:avLst/>
          </a:prstGeom>
          <a:solidFill>
            <a:srgbClr val="F4F6F8"/>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60920" y="4187952"/>
            <a:ext cx="4005072"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審判の確定時から</a:t>
            </a:r>
          </a:p>
        </p:txBody>
      </p:sp>
      <p:sp>
        <p:nvSpPr>
          <p:cNvPr id="38" name="Rectangle 37"/>
          <p:cNvSpPr/>
          <p:nvPr/>
        </p:nvSpPr>
        <p:spPr>
          <a:xfrm>
            <a:off x="731520" y="4864608"/>
            <a:ext cx="2377440" cy="676656"/>
          </a:xfrm>
          <a:prstGeom prst="rect">
            <a:avLst/>
          </a:prstGeom>
          <a:solidFill>
            <a:srgbClr val="1529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864608"/>
            <a:ext cx="2286000" cy="676656"/>
          </a:xfrm>
          <a:prstGeom prst="rect">
            <a:avLst/>
          </a:prstGeom>
          <a:noFill/>
        </p:spPr>
        <p:txBody>
          <a:bodyPr wrap="square" anchor="ctr">
            <a:spAutoFit/>
          </a:bodyPr>
          <a:lstStyle/>
          <a:p>
            <a:pPr algn="ctr">
              <a:lnSpc>
                <a:spcPct val="115000"/>
              </a:lnSpc>
              <a:spcAft>
                <a:spcPts val="200"/>
              </a:spcAft>
            </a:pPr>
            <a:r>
              <a:rPr sz="1150" b="1" i="0">
                <a:solidFill>
                  <a:srgbClr val="FFFFFF"/>
                </a:solidFill>
                <a:latin typeface="Meiryo"/>
                <a:ea typeface="Meiryo"/>
              </a:rPr>
              <a:t>取消権</a:t>
            </a:r>
          </a:p>
        </p:txBody>
      </p:sp>
      <p:sp>
        <p:nvSpPr>
          <p:cNvPr id="40" name="Rectangle 39"/>
          <p:cNvSpPr/>
          <p:nvPr/>
        </p:nvSpPr>
        <p:spPr>
          <a:xfrm>
            <a:off x="3108960" y="4864608"/>
            <a:ext cx="4160520" cy="676656"/>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0" y="4864608"/>
            <a:ext cx="3977640"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なし</a:t>
            </a:r>
          </a:p>
        </p:txBody>
      </p:sp>
      <p:sp>
        <p:nvSpPr>
          <p:cNvPr id="42" name="Rectangle 41"/>
          <p:cNvSpPr/>
          <p:nvPr/>
        </p:nvSpPr>
        <p:spPr>
          <a:xfrm>
            <a:off x="7269480" y="4864608"/>
            <a:ext cx="4187952" cy="676656"/>
          </a:xfrm>
          <a:prstGeom prst="rect">
            <a:avLst/>
          </a:prstGeom>
          <a:solidFill>
            <a:srgbClr val="FFFFFF"/>
          </a:solidFill>
          <a:ln w="9525">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60920" y="4864608"/>
            <a:ext cx="4005072" cy="676656"/>
          </a:xfrm>
          <a:prstGeom prst="rect">
            <a:avLst/>
          </a:prstGeom>
          <a:noFill/>
        </p:spPr>
        <p:txBody>
          <a:bodyPr wrap="square" anchor="ctr">
            <a:spAutoFit/>
          </a:bodyPr>
          <a:lstStyle/>
          <a:p>
            <a:pPr algn="ctr">
              <a:lnSpc>
                <a:spcPct val="110000"/>
              </a:lnSpc>
              <a:spcAft>
                <a:spcPts val="200"/>
              </a:spcAft>
            </a:pPr>
            <a:r>
              <a:rPr sz="1100" b="0" i="0">
                <a:solidFill>
                  <a:srgbClr val="262B33"/>
                </a:solidFill>
                <a:latin typeface="Meiryo"/>
                <a:ea typeface="Meiryo"/>
              </a:rPr>
              <a:t>あり</a:t>
            </a:r>
          </a:p>
        </p:txBody>
      </p:sp>
      <p:sp>
        <p:nvSpPr>
          <p:cNvPr id="44" name="Rounded Rectangle 43"/>
          <p:cNvSpPr/>
          <p:nvPr/>
        </p:nvSpPr>
        <p:spPr>
          <a:xfrm>
            <a:off x="731520" y="5650992"/>
            <a:ext cx="10725912" cy="713232"/>
          </a:xfrm>
          <a:prstGeom prst="roundRect">
            <a:avLst>
              <a:gd name="adj" fmla="val 6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5705856"/>
            <a:ext cx="10424160" cy="640080"/>
          </a:xfrm>
          <a:prstGeom prst="rect">
            <a:avLst/>
          </a:prstGeom>
          <a:noFill/>
        </p:spPr>
        <p:txBody>
          <a:bodyPr wrap="square" anchor="t">
            <a:spAutoFit/>
          </a:bodyPr>
          <a:lstStyle/>
          <a:p>
            <a:pPr algn="l">
              <a:lnSpc>
                <a:spcPct val="125000"/>
              </a:lnSpc>
              <a:spcAft>
                <a:spcPts val="200"/>
              </a:spcAft>
            </a:pPr>
            <a:r>
              <a:rPr sz="1250" b="1" i="0">
                <a:solidFill>
                  <a:srgbClr val="1F3A5F"/>
                </a:solidFill>
                <a:latin typeface="Meiryo"/>
                <a:ea typeface="Meiryo"/>
              </a:rPr>
              <a:t>使い分けの軸：</a:t>
            </a:r>
            <a:r>
              <a:rPr sz="1200" b="0" i="0">
                <a:solidFill>
                  <a:srgbClr val="262B33"/>
                </a:solidFill>
                <a:latin typeface="Meiryo"/>
                <a:ea typeface="Meiryo"/>
              </a:rPr>
              <a:t>「将来に備える」段階＝任意後見、「すでに判断能力が低下」＝法定後見。</a:t>
            </a:r>
          </a:p>
          <a:p>
            <a:pPr algn="l">
              <a:lnSpc>
                <a:spcPct val="125000"/>
              </a:lnSpc>
              <a:spcAft>
                <a:spcPts val="200"/>
              </a:spcAft>
            </a:pPr>
            <a:r>
              <a:rPr sz="1150" b="0" i="0">
                <a:solidFill>
                  <a:srgbClr val="5C636E"/>
                </a:solidFill>
                <a:latin typeface="Meiryo"/>
                <a:ea typeface="Meiryo"/>
              </a:rPr>
              <a:t>　ケアマネは、本人が元気なうちに任意後見・死後事務委任の選択肢を話題化できる立場にある。</a:t>
            </a:r>
          </a:p>
        </p:txBody>
      </p:sp>
      <p:sp>
        <p:nvSpPr>
          <p:cNvPr id="46" name="TextBox 45"/>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当日メモ：任意後見を勧めるべき利用者像は？</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制度の最新像 ⑥【最重要】</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成年後見制度の見直し ── 約25年ぶりの大改正が進行中</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11</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ounded Rectangle 8"/>
          <p:cNvSpPr/>
          <p:nvPr/>
        </p:nvSpPr>
        <p:spPr>
          <a:xfrm>
            <a:off x="731520" y="1700784"/>
            <a:ext cx="10725912" cy="566928"/>
          </a:xfrm>
          <a:prstGeom prst="roundRect">
            <a:avLst>
              <a:gd name="adj" fmla="val 5000"/>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00784"/>
            <a:ext cx="10424160" cy="566928"/>
          </a:xfrm>
          <a:prstGeom prst="rect">
            <a:avLst/>
          </a:prstGeom>
          <a:noFill/>
        </p:spPr>
        <p:txBody>
          <a:bodyPr wrap="square" anchor="ctr">
            <a:spAutoFit/>
          </a:bodyPr>
          <a:lstStyle/>
          <a:p>
            <a:pPr algn="l">
              <a:lnSpc>
                <a:spcPct val="115000"/>
              </a:lnSpc>
              <a:spcAft>
                <a:spcPts val="200"/>
              </a:spcAft>
            </a:pPr>
            <a:r>
              <a:rPr sz="1250" b="1" i="0">
                <a:solidFill>
                  <a:srgbClr val="152944"/>
                </a:solidFill>
                <a:latin typeface="Meiryo"/>
                <a:ea typeface="Meiryo"/>
              </a:rPr>
              <a:t>研修当日（2026年6月）に“いま動いている”最大の論点。現行制度と改正動向を二段で押さえる。</a:t>
            </a:r>
          </a:p>
        </p:txBody>
      </p:sp>
      <p:sp>
        <p:nvSpPr>
          <p:cNvPr id="11" name="TextBox 10"/>
          <p:cNvSpPr txBox="1"/>
          <p:nvPr/>
        </p:nvSpPr>
        <p:spPr>
          <a:xfrm>
            <a:off x="731520" y="2414016"/>
            <a:ext cx="7315200" cy="274320"/>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 これまでの経緯</a:t>
            </a:r>
          </a:p>
        </p:txBody>
      </p:sp>
      <p:sp>
        <p:nvSpPr>
          <p:cNvPr id="12" name="Rectangle 11"/>
          <p:cNvSpPr/>
          <p:nvPr/>
        </p:nvSpPr>
        <p:spPr>
          <a:xfrm>
            <a:off x="731520" y="2724912"/>
            <a:ext cx="1554480"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24912"/>
            <a:ext cx="1554480" cy="384048"/>
          </a:xfrm>
          <a:prstGeom prst="rect">
            <a:avLst/>
          </a:prstGeom>
          <a:noFill/>
        </p:spPr>
        <p:txBody>
          <a:bodyPr wrap="square" anchor="ctr">
            <a:spAutoFit/>
          </a:bodyPr>
          <a:lstStyle/>
          <a:p>
            <a:pPr algn="ctr">
              <a:lnSpc>
                <a:spcPct val="115000"/>
              </a:lnSpc>
              <a:spcAft>
                <a:spcPts val="200"/>
              </a:spcAft>
            </a:pPr>
            <a:r>
              <a:rPr sz="1050" b="1" i="0">
                <a:solidFill>
                  <a:srgbClr val="FFFFFF"/>
                </a:solidFill>
                <a:latin typeface="Meiryo"/>
                <a:ea typeface="Meiryo"/>
              </a:rPr>
              <a:t>2025.6.10</a:t>
            </a:r>
          </a:p>
        </p:txBody>
      </p:sp>
      <p:sp>
        <p:nvSpPr>
          <p:cNvPr id="14" name="TextBox 13"/>
          <p:cNvSpPr txBox="1"/>
          <p:nvPr/>
        </p:nvSpPr>
        <p:spPr>
          <a:xfrm>
            <a:off x="2423160" y="2724912"/>
            <a:ext cx="5486400" cy="384048"/>
          </a:xfrm>
          <a:prstGeom prst="rect">
            <a:avLst/>
          </a:prstGeom>
          <a:noFill/>
        </p:spPr>
        <p:txBody>
          <a:bodyPr wrap="square" anchor="ctr">
            <a:spAutoFit/>
          </a:bodyPr>
          <a:lstStyle/>
          <a:p>
            <a:pPr algn="l">
              <a:lnSpc>
                <a:spcPct val="115000"/>
              </a:lnSpc>
              <a:spcAft>
                <a:spcPts val="200"/>
              </a:spcAft>
            </a:pPr>
            <a:r>
              <a:rPr sz="1100" b="0" i="0">
                <a:solidFill>
                  <a:srgbClr val="262B33"/>
                </a:solidFill>
                <a:latin typeface="Meiryo"/>
                <a:ea typeface="Meiryo"/>
              </a:rPr>
              <a:t>法制審議会が中間試案を公表（パブコメ実施）</a:t>
            </a:r>
          </a:p>
        </p:txBody>
      </p:sp>
      <p:sp>
        <p:nvSpPr>
          <p:cNvPr id="15" name="Rectangle 14"/>
          <p:cNvSpPr/>
          <p:nvPr/>
        </p:nvSpPr>
        <p:spPr>
          <a:xfrm>
            <a:off x="731520" y="3182112"/>
            <a:ext cx="1554480"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182112"/>
            <a:ext cx="1554480" cy="384048"/>
          </a:xfrm>
          <a:prstGeom prst="rect">
            <a:avLst/>
          </a:prstGeom>
          <a:noFill/>
        </p:spPr>
        <p:txBody>
          <a:bodyPr wrap="square" anchor="ctr">
            <a:spAutoFit/>
          </a:bodyPr>
          <a:lstStyle/>
          <a:p>
            <a:pPr algn="ctr">
              <a:lnSpc>
                <a:spcPct val="115000"/>
              </a:lnSpc>
              <a:spcAft>
                <a:spcPts val="200"/>
              </a:spcAft>
            </a:pPr>
            <a:r>
              <a:rPr sz="1050" b="1" i="0">
                <a:solidFill>
                  <a:srgbClr val="FFFFFF"/>
                </a:solidFill>
                <a:latin typeface="Meiryo"/>
                <a:ea typeface="Meiryo"/>
              </a:rPr>
              <a:t>2026.2.12</a:t>
            </a:r>
          </a:p>
        </p:txBody>
      </p:sp>
      <p:sp>
        <p:nvSpPr>
          <p:cNvPr id="17" name="TextBox 16"/>
          <p:cNvSpPr txBox="1"/>
          <p:nvPr/>
        </p:nvSpPr>
        <p:spPr>
          <a:xfrm>
            <a:off x="2423160" y="3182112"/>
            <a:ext cx="5486400" cy="384048"/>
          </a:xfrm>
          <a:prstGeom prst="rect">
            <a:avLst/>
          </a:prstGeom>
          <a:noFill/>
        </p:spPr>
        <p:txBody>
          <a:bodyPr wrap="square" anchor="ctr">
            <a:spAutoFit/>
          </a:bodyPr>
          <a:lstStyle/>
          <a:p>
            <a:pPr algn="l">
              <a:lnSpc>
                <a:spcPct val="115000"/>
              </a:lnSpc>
              <a:spcAft>
                <a:spcPts val="200"/>
              </a:spcAft>
            </a:pPr>
            <a:r>
              <a:rPr sz="1100" b="0" i="0">
                <a:solidFill>
                  <a:srgbClr val="262B33"/>
                </a:solidFill>
                <a:latin typeface="Meiryo"/>
                <a:ea typeface="Meiryo"/>
              </a:rPr>
              <a:t>法制審が「改正に関する要綱」を法務大臣に答申</a:t>
            </a:r>
          </a:p>
        </p:txBody>
      </p:sp>
      <p:sp>
        <p:nvSpPr>
          <p:cNvPr id="18" name="Rectangle 17"/>
          <p:cNvSpPr/>
          <p:nvPr/>
        </p:nvSpPr>
        <p:spPr>
          <a:xfrm>
            <a:off x="731520" y="3639312"/>
            <a:ext cx="1554480"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639312"/>
            <a:ext cx="1554480" cy="384048"/>
          </a:xfrm>
          <a:prstGeom prst="rect">
            <a:avLst/>
          </a:prstGeom>
          <a:noFill/>
        </p:spPr>
        <p:txBody>
          <a:bodyPr wrap="square" anchor="ctr">
            <a:spAutoFit/>
          </a:bodyPr>
          <a:lstStyle/>
          <a:p>
            <a:pPr algn="ctr">
              <a:lnSpc>
                <a:spcPct val="115000"/>
              </a:lnSpc>
              <a:spcAft>
                <a:spcPts val="200"/>
              </a:spcAft>
            </a:pPr>
            <a:r>
              <a:rPr sz="1050" b="1" i="0">
                <a:solidFill>
                  <a:srgbClr val="FFFFFF"/>
                </a:solidFill>
                <a:latin typeface="Meiryo"/>
                <a:ea typeface="Meiryo"/>
              </a:rPr>
              <a:t>2026.4</a:t>
            </a:r>
          </a:p>
        </p:txBody>
      </p:sp>
      <p:sp>
        <p:nvSpPr>
          <p:cNvPr id="20" name="TextBox 19"/>
          <p:cNvSpPr txBox="1"/>
          <p:nvPr/>
        </p:nvSpPr>
        <p:spPr>
          <a:xfrm>
            <a:off x="2423160" y="3639312"/>
            <a:ext cx="5486400" cy="384048"/>
          </a:xfrm>
          <a:prstGeom prst="rect">
            <a:avLst/>
          </a:prstGeom>
          <a:noFill/>
        </p:spPr>
        <p:txBody>
          <a:bodyPr wrap="square" anchor="ctr">
            <a:spAutoFit/>
          </a:bodyPr>
          <a:lstStyle/>
          <a:p>
            <a:pPr algn="l">
              <a:lnSpc>
                <a:spcPct val="115000"/>
              </a:lnSpc>
              <a:spcAft>
                <a:spcPts val="200"/>
              </a:spcAft>
            </a:pPr>
            <a:r>
              <a:rPr sz="1100" b="0" i="0">
                <a:solidFill>
                  <a:srgbClr val="262B33"/>
                </a:solidFill>
                <a:latin typeface="Meiryo"/>
                <a:ea typeface="Meiryo"/>
              </a:rPr>
              <a:t>政府が改正法案を閣議決定・国会提出（報道ベース／要確認）</a:t>
            </a:r>
          </a:p>
        </p:txBody>
      </p:sp>
      <p:sp>
        <p:nvSpPr>
          <p:cNvPr id="21" name="Rectangle 20"/>
          <p:cNvSpPr/>
          <p:nvPr/>
        </p:nvSpPr>
        <p:spPr>
          <a:xfrm>
            <a:off x="731520" y="4096512"/>
            <a:ext cx="1554480"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096512"/>
            <a:ext cx="1554480" cy="384048"/>
          </a:xfrm>
          <a:prstGeom prst="rect">
            <a:avLst/>
          </a:prstGeom>
          <a:noFill/>
        </p:spPr>
        <p:txBody>
          <a:bodyPr wrap="square" anchor="ctr">
            <a:spAutoFit/>
          </a:bodyPr>
          <a:lstStyle/>
          <a:p>
            <a:pPr algn="ctr">
              <a:lnSpc>
                <a:spcPct val="115000"/>
              </a:lnSpc>
              <a:spcAft>
                <a:spcPts val="200"/>
              </a:spcAft>
            </a:pPr>
            <a:r>
              <a:rPr sz="1050" b="1" i="0">
                <a:solidFill>
                  <a:srgbClr val="FFFFFF"/>
                </a:solidFill>
                <a:latin typeface="Meiryo"/>
                <a:ea typeface="Meiryo"/>
              </a:rPr>
              <a:t>2026.5 現在</a:t>
            </a:r>
          </a:p>
        </p:txBody>
      </p:sp>
      <p:sp>
        <p:nvSpPr>
          <p:cNvPr id="23" name="TextBox 22"/>
          <p:cNvSpPr txBox="1"/>
          <p:nvPr/>
        </p:nvSpPr>
        <p:spPr>
          <a:xfrm>
            <a:off x="2423160" y="4096512"/>
            <a:ext cx="5486400" cy="384048"/>
          </a:xfrm>
          <a:prstGeom prst="rect">
            <a:avLst/>
          </a:prstGeom>
          <a:noFill/>
        </p:spPr>
        <p:txBody>
          <a:bodyPr wrap="square" anchor="ctr">
            <a:spAutoFit/>
          </a:bodyPr>
          <a:lstStyle/>
          <a:p>
            <a:pPr algn="l">
              <a:lnSpc>
                <a:spcPct val="115000"/>
              </a:lnSpc>
              <a:spcAft>
                <a:spcPts val="200"/>
              </a:spcAft>
            </a:pPr>
            <a:r>
              <a:rPr sz="1100" b="0" i="0">
                <a:solidFill>
                  <a:srgbClr val="262B33"/>
                </a:solidFill>
                <a:latin typeface="Meiryo"/>
                <a:ea typeface="Meiryo"/>
              </a:rPr>
              <a:t>国会で審議中。施行は2028年度中の見込み（要確認）</a:t>
            </a:r>
          </a:p>
        </p:txBody>
      </p:sp>
      <p:sp>
        <p:nvSpPr>
          <p:cNvPr id="24" name="TextBox 23"/>
          <p:cNvSpPr txBox="1"/>
          <p:nvPr/>
        </p:nvSpPr>
        <p:spPr>
          <a:xfrm>
            <a:off x="731520" y="4626864"/>
            <a:ext cx="7315200" cy="274320"/>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 見直しの柱</a:t>
            </a:r>
          </a:p>
        </p:txBody>
      </p:sp>
      <p:sp>
        <p:nvSpPr>
          <p:cNvPr id="25" name="Rectangle 24"/>
          <p:cNvSpPr/>
          <p:nvPr/>
        </p:nvSpPr>
        <p:spPr>
          <a:xfrm>
            <a:off x="731520" y="4983480"/>
            <a:ext cx="118872" cy="118872"/>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937760"/>
            <a:ext cx="6858000" cy="347472"/>
          </a:xfrm>
          <a:prstGeom prst="rect">
            <a:avLst/>
          </a:prstGeom>
          <a:noFill/>
        </p:spPr>
        <p:txBody>
          <a:bodyPr wrap="square" anchor="t">
            <a:spAutoFit/>
          </a:bodyPr>
          <a:lstStyle/>
          <a:p>
            <a:pPr algn="l">
              <a:lnSpc>
                <a:spcPct val="115000"/>
              </a:lnSpc>
              <a:spcAft>
                <a:spcPts val="200"/>
              </a:spcAft>
            </a:pPr>
            <a:r>
              <a:rPr sz="1100" b="0" i="0">
                <a:solidFill>
                  <a:srgbClr val="262B33"/>
                </a:solidFill>
                <a:latin typeface="Meiryo"/>
                <a:ea typeface="Meiryo"/>
              </a:rPr>
              <a:t>終身制の廃止 ── 家裁の判断で制度を「終われる後見」へ</a:t>
            </a:r>
          </a:p>
        </p:txBody>
      </p:sp>
      <p:sp>
        <p:nvSpPr>
          <p:cNvPr id="27" name="Rectangle 26"/>
          <p:cNvSpPr/>
          <p:nvPr/>
        </p:nvSpPr>
        <p:spPr>
          <a:xfrm>
            <a:off x="731520" y="5349240"/>
            <a:ext cx="118872" cy="118872"/>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303520"/>
            <a:ext cx="6858000" cy="347472"/>
          </a:xfrm>
          <a:prstGeom prst="rect">
            <a:avLst/>
          </a:prstGeom>
          <a:noFill/>
        </p:spPr>
        <p:txBody>
          <a:bodyPr wrap="square" anchor="t">
            <a:spAutoFit/>
          </a:bodyPr>
          <a:lstStyle/>
          <a:p>
            <a:pPr algn="l">
              <a:lnSpc>
                <a:spcPct val="115000"/>
              </a:lnSpc>
              <a:spcAft>
                <a:spcPts val="200"/>
              </a:spcAft>
            </a:pPr>
            <a:r>
              <a:rPr sz="1100" b="0" i="0">
                <a:solidFill>
                  <a:srgbClr val="262B33"/>
                </a:solidFill>
                <a:latin typeface="Meiryo"/>
                <a:ea typeface="Meiryo"/>
              </a:rPr>
              <a:t>利用期間制の導入 ── 必要な期間だけ利用、満了時に終了・更新</a:t>
            </a:r>
          </a:p>
        </p:txBody>
      </p:sp>
      <p:sp>
        <p:nvSpPr>
          <p:cNvPr id="29" name="Rectangle 28"/>
          <p:cNvSpPr/>
          <p:nvPr/>
        </p:nvSpPr>
        <p:spPr>
          <a:xfrm>
            <a:off x="731520" y="5715000"/>
            <a:ext cx="118872" cy="118872"/>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669280"/>
            <a:ext cx="6858000" cy="347472"/>
          </a:xfrm>
          <a:prstGeom prst="rect">
            <a:avLst/>
          </a:prstGeom>
          <a:noFill/>
        </p:spPr>
        <p:txBody>
          <a:bodyPr wrap="square" anchor="t">
            <a:spAutoFit/>
          </a:bodyPr>
          <a:lstStyle/>
          <a:p>
            <a:pPr algn="l">
              <a:lnSpc>
                <a:spcPct val="115000"/>
              </a:lnSpc>
              <a:spcAft>
                <a:spcPts val="200"/>
              </a:spcAft>
            </a:pPr>
            <a:r>
              <a:rPr sz="1100" b="0" i="0">
                <a:solidFill>
                  <a:srgbClr val="262B33"/>
                </a:solidFill>
                <a:latin typeface="Meiryo"/>
                <a:ea typeface="Meiryo"/>
              </a:rPr>
              <a:t>3類型を「補助」へ一元化 ── 必要な範囲のみ権限を付与するオーダーメイド型</a:t>
            </a:r>
          </a:p>
        </p:txBody>
      </p:sp>
      <p:sp>
        <p:nvSpPr>
          <p:cNvPr id="31" name="Rectangle 30"/>
          <p:cNvSpPr/>
          <p:nvPr/>
        </p:nvSpPr>
        <p:spPr>
          <a:xfrm>
            <a:off x="731520" y="6080760"/>
            <a:ext cx="118872" cy="118872"/>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6035040"/>
            <a:ext cx="6858000" cy="347472"/>
          </a:xfrm>
          <a:prstGeom prst="rect">
            <a:avLst/>
          </a:prstGeom>
          <a:noFill/>
        </p:spPr>
        <p:txBody>
          <a:bodyPr wrap="square" anchor="t">
            <a:spAutoFit/>
          </a:bodyPr>
          <a:lstStyle/>
          <a:p>
            <a:pPr algn="l">
              <a:lnSpc>
                <a:spcPct val="115000"/>
              </a:lnSpc>
              <a:spcAft>
                <a:spcPts val="200"/>
              </a:spcAft>
            </a:pPr>
            <a:r>
              <a:rPr sz="1100" b="0" i="0">
                <a:solidFill>
                  <a:srgbClr val="262B33"/>
                </a:solidFill>
                <a:latin typeface="Meiryo"/>
                <a:ea typeface="Meiryo"/>
              </a:rPr>
              <a:t>後見人の交代を容易に／デジタル遺言の創設（報道）</a:t>
            </a:r>
          </a:p>
        </p:txBody>
      </p:sp>
      <p:sp>
        <p:nvSpPr>
          <p:cNvPr id="33" name="Rectangle 32"/>
          <p:cNvSpPr/>
          <p:nvPr/>
        </p:nvSpPr>
        <p:spPr>
          <a:xfrm>
            <a:off x="8275320" y="2414016"/>
            <a:ext cx="3182112" cy="3886200"/>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5048" y="2459736"/>
            <a:ext cx="1828800" cy="274320"/>
          </a:xfrm>
          <a:prstGeom prst="rect">
            <a:avLst/>
          </a:prstGeom>
          <a:noFill/>
        </p:spPr>
        <p:txBody>
          <a:bodyPr wrap="square" anchor="t">
            <a:spAutoFit/>
          </a:bodyPr>
          <a:lstStyle/>
          <a:p>
            <a:pPr algn="l">
              <a:lnSpc>
                <a:spcPct val="115000"/>
              </a:lnSpc>
              <a:spcAft>
                <a:spcPts val="200"/>
              </a:spcAft>
            </a:pPr>
            <a:r>
              <a:rPr sz="1000" b="1" i="0">
                <a:solidFill>
                  <a:srgbClr val="9A863A"/>
                </a:solidFill>
                <a:latin typeface="Meiryo"/>
                <a:ea typeface="Meiryo"/>
              </a:rPr>
              <a:t>✎ 当日メモ：施行時期・現場影響</a:t>
            </a:r>
          </a:p>
        </p:txBody>
      </p:sp>
      <p:sp>
        <p:nvSpPr>
          <p:cNvPr id="35" name="Rectangle 34"/>
          <p:cNvSpPr/>
          <p:nvPr/>
        </p:nvSpPr>
        <p:spPr>
          <a:xfrm>
            <a:off x="8412480" y="288950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12480" y="327355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0" y="365760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0" y="404164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12480" y="442569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0" y="480974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0" y="519379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12480" y="557784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412480" y="596188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出典：法務省 法制審議会民法（成年後見等関係）部会／日弁連・リーガルサポート声明。閣議決定・施行日は要確認。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現場の本丸 ①</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身寄りのない高齢者支援 ── 論点の整理</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12</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TextBox 8"/>
          <p:cNvSpPr txBox="1"/>
          <p:nvPr/>
        </p:nvSpPr>
        <p:spPr>
          <a:xfrm>
            <a:off x="731520" y="1700784"/>
            <a:ext cx="7315200" cy="502920"/>
          </a:xfrm>
          <a:prstGeom prst="rect">
            <a:avLst/>
          </a:prstGeom>
          <a:noFill/>
        </p:spPr>
        <p:txBody>
          <a:bodyPr wrap="square" anchor="t">
            <a:spAutoFit/>
          </a:bodyPr>
          <a:lstStyle/>
          <a:p>
            <a:pPr algn="l">
              <a:lnSpc>
                <a:spcPct val="120000"/>
              </a:lnSpc>
              <a:spcAft>
                <a:spcPts val="200"/>
              </a:spcAft>
            </a:pPr>
            <a:r>
              <a:rPr sz="1200" b="0" i="0">
                <a:solidFill>
                  <a:srgbClr val="262B33"/>
                </a:solidFill>
                <a:latin typeface="Meiryo"/>
                <a:ea typeface="Meiryo"/>
              </a:rPr>
              <a:t>「身寄りがない」課題は一括りにせず、“機能”に分解して対応先を考えるのが厚労省ガイドラインの発想。</a:t>
            </a:r>
          </a:p>
        </p:txBody>
      </p:sp>
      <p:sp>
        <p:nvSpPr>
          <p:cNvPr id="10" name="TextBox 9"/>
          <p:cNvSpPr txBox="1"/>
          <p:nvPr/>
        </p:nvSpPr>
        <p:spPr>
          <a:xfrm>
            <a:off x="731520" y="2249424"/>
            <a:ext cx="7315200" cy="274320"/>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 4つの困りどころ</a:t>
            </a:r>
          </a:p>
        </p:txBody>
      </p:sp>
      <p:sp>
        <p:nvSpPr>
          <p:cNvPr id="11" name="Rounded Rectangle 10"/>
          <p:cNvSpPr/>
          <p:nvPr/>
        </p:nvSpPr>
        <p:spPr>
          <a:xfrm>
            <a:off x="731520" y="2569464"/>
            <a:ext cx="3291840" cy="1051560"/>
          </a:xfrm>
          <a:prstGeom prst="roundRect">
            <a:avLst>
              <a:gd name="adj" fmla="val 6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569464"/>
            <a:ext cx="109728" cy="105156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42616"/>
            <a:ext cx="3017520" cy="292608"/>
          </a:xfrm>
          <a:prstGeom prst="rect">
            <a:avLst/>
          </a:prstGeom>
          <a:noFill/>
        </p:spPr>
        <p:txBody>
          <a:bodyPr wrap="square" anchor="t">
            <a:spAutoFit/>
          </a:bodyPr>
          <a:lstStyle/>
          <a:p>
            <a:pPr algn="l">
              <a:lnSpc>
                <a:spcPct val="115000"/>
              </a:lnSpc>
              <a:spcAft>
                <a:spcPts val="200"/>
              </a:spcAft>
            </a:pPr>
            <a:r>
              <a:rPr sz="1200" b="1" i="0">
                <a:solidFill>
                  <a:srgbClr val="1F3A5F"/>
                </a:solidFill>
                <a:latin typeface="Meiryo"/>
                <a:ea typeface="Meiryo"/>
              </a:rPr>
              <a:t>入院・入所の身元保証</a:t>
            </a:r>
          </a:p>
        </p:txBody>
      </p:sp>
      <p:sp>
        <p:nvSpPr>
          <p:cNvPr id="14" name="TextBox 13"/>
          <p:cNvSpPr txBox="1"/>
          <p:nvPr/>
        </p:nvSpPr>
        <p:spPr>
          <a:xfrm>
            <a:off x="914400" y="2953512"/>
            <a:ext cx="3017520" cy="594360"/>
          </a:xfrm>
          <a:prstGeom prst="rect">
            <a:avLst/>
          </a:prstGeom>
          <a:noFill/>
        </p:spPr>
        <p:txBody>
          <a:bodyPr wrap="square" anchor="t">
            <a:spAutoFit/>
          </a:bodyPr>
          <a:lstStyle/>
          <a:p>
            <a:pPr algn="l">
              <a:lnSpc>
                <a:spcPct val="115000"/>
              </a:lnSpc>
              <a:spcAft>
                <a:spcPts val="200"/>
              </a:spcAft>
            </a:pPr>
            <a:r>
              <a:rPr sz="1050" b="0" i="0">
                <a:solidFill>
                  <a:srgbClr val="262B33"/>
                </a:solidFill>
                <a:latin typeface="Meiryo"/>
                <a:ea typeface="Meiryo"/>
              </a:rPr>
              <a:t>緊急連絡先、入院計画書の同意、物品準備、費用支払い 等</a:t>
            </a:r>
          </a:p>
        </p:txBody>
      </p:sp>
      <p:sp>
        <p:nvSpPr>
          <p:cNvPr id="15" name="Rounded Rectangle 14"/>
          <p:cNvSpPr/>
          <p:nvPr/>
        </p:nvSpPr>
        <p:spPr>
          <a:xfrm>
            <a:off x="4206240" y="2569464"/>
            <a:ext cx="3291840" cy="1051560"/>
          </a:xfrm>
          <a:prstGeom prst="roundRect">
            <a:avLst>
              <a:gd name="adj" fmla="val 6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06240" y="2569464"/>
            <a:ext cx="109728" cy="1051560"/>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642616"/>
            <a:ext cx="3017520" cy="292608"/>
          </a:xfrm>
          <a:prstGeom prst="rect">
            <a:avLst/>
          </a:prstGeom>
          <a:noFill/>
        </p:spPr>
        <p:txBody>
          <a:bodyPr wrap="square" anchor="t">
            <a:spAutoFit/>
          </a:bodyPr>
          <a:lstStyle/>
          <a:p>
            <a:pPr algn="l">
              <a:lnSpc>
                <a:spcPct val="115000"/>
              </a:lnSpc>
              <a:spcAft>
                <a:spcPts val="200"/>
              </a:spcAft>
            </a:pPr>
            <a:r>
              <a:rPr sz="1200" b="1" i="0">
                <a:solidFill>
                  <a:srgbClr val="1F3A5F"/>
                </a:solidFill>
                <a:latin typeface="Meiryo"/>
                <a:ea typeface="Meiryo"/>
              </a:rPr>
              <a:t>医療同意・延命の判断</a:t>
            </a:r>
          </a:p>
        </p:txBody>
      </p:sp>
      <p:sp>
        <p:nvSpPr>
          <p:cNvPr id="18" name="TextBox 17"/>
          <p:cNvSpPr txBox="1"/>
          <p:nvPr/>
        </p:nvSpPr>
        <p:spPr>
          <a:xfrm>
            <a:off x="4389120" y="2953512"/>
            <a:ext cx="3017520" cy="594360"/>
          </a:xfrm>
          <a:prstGeom prst="rect">
            <a:avLst/>
          </a:prstGeom>
          <a:noFill/>
        </p:spPr>
        <p:txBody>
          <a:bodyPr wrap="square" anchor="t">
            <a:spAutoFit/>
          </a:bodyPr>
          <a:lstStyle/>
          <a:p>
            <a:pPr algn="l">
              <a:lnSpc>
                <a:spcPct val="115000"/>
              </a:lnSpc>
              <a:spcAft>
                <a:spcPts val="200"/>
              </a:spcAft>
            </a:pPr>
            <a:r>
              <a:rPr sz="1050" b="0" i="0">
                <a:solidFill>
                  <a:srgbClr val="262B33"/>
                </a:solidFill>
                <a:latin typeface="Meiryo"/>
                <a:ea typeface="Meiryo"/>
              </a:rPr>
              <a:t>手術同意・人生の最終段階の医療を誰が決めるか</a:t>
            </a:r>
          </a:p>
        </p:txBody>
      </p:sp>
      <p:sp>
        <p:nvSpPr>
          <p:cNvPr id="19" name="Rounded Rectangle 18"/>
          <p:cNvSpPr/>
          <p:nvPr/>
        </p:nvSpPr>
        <p:spPr>
          <a:xfrm>
            <a:off x="731520" y="3758184"/>
            <a:ext cx="3291840" cy="1051560"/>
          </a:xfrm>
          <a:prstGeom prst="roundRect">
            <a:avLst>
              <a:gd name="adj" fmla="val 6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3758184"/>
            <a:ext cx="109728"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831336"/>
            <a:ext cx="3017520" cy="292608"/>
          </a:xfrm>
          <a:prstGeom prst="rect">
            <a:avLst/>
          </a:prstGeom>
          <a:noFill/>
        </p:spPr>
        <p:txBody>
          <a:bodyPr wrap="square" anchor="t">
            <a:spAutoFit/>
          </a:bodyPr>
          <a:lstStyle/>
          <a:p>
            <a:pPr algn="l">
              <a:lnSpc>
                <a:spcPct val="115000"/>
              </a:lnSpc>
              <a:spcAft>
                <a:spcPts val="200"/>
              </a:spcAft>
            </a:pPr>
            <a:r>
              <a:rPr sz="1200" b="1" i="0">
                <a:solidFill>
                  <a:srgbClr val="1F3A5F"/>
                </a:solidFill>
                <a:latin typeface="Meiryo"/>
                <a:ea typeface="Meiryo"/>
              </a:rPr>
              <a:t>金銭管理</a:t>
            </a:r>
          </a:p>
        </p:txBody>
      </p:sp>
      <p:sp>
        <p:nvSpPr>
          <p:cNvPr id="22" name="TextBox 21"/>
          <p:cNvSpPr txBox="1"/>
          <p:nvPr/>
        </p:nvSpPr>
        <p:spPr>
          <a:xfrm>
            <a:off x="914400" y="4142232"/>
            <a:ext cx="3017520" cy="594360"/>
          </a:xfrm>
          <a:prstGeom prst="rect">
            <a:avLst/>
          </a:prstGeom>
          <a:noFill/>
        </p:spPr>
        <p:txBody>
          <a:bodyPr wrap="square" anchor="t">
            <a:spAutoFit/>
          </a:bodyPr>
          <a:lstStyle/>
          <a:p>
            <a:pPr algn="l">
              <a:lnSpc>
                <a:spcPct val="115000"/>
              </a:lnSpc>
              <a:spcAft>
                <a:spcPts val="200"/>
              </a:spcAft>
            </a:pPr>
            <a:r>
              <a:rPr sz="1050" b="0" i="0">
                <a:solidFill>
                  <a:srgbClr val="262B33"/>
                </a:solidFill>
                <a:latin typeface="Meiryo"/>
                <a:ea typeface="Meiryo"/>
              </a:rPr>
              <a:t>日々の支払い、預貯金・年金の管理</a:t>
            </a:r>
          </a:p>
        </p:txBody>
      </p:sp>
      <p:sp>
        <p:nvSpPr>
          <p:cNvPr id="23" name="Rounded Rectangle 22"/>
          <p:cNvSpPr/>
          <p:nvPr/>
        </p:nvSpPr>
        <p:spPr>
          <a:xfrm>
            <a:off x="4206240" y="3758184"/>
            <a:ext cx="3291840" cy="1051560"/>
          </a:xfrm>
          <a:prstGeom prst="roundRect">
            <a:avLst>
              <a:gd name="adj" fmla="val 6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06240" y="3758184"/>
            <a:ext cx="109728" cy="1051560"/>
          </a:xfrm>
          <a:prstGeom prst="rect">
            <a:avLst/>
          </a:prstGeom>
          <a:solidFill>
            <a:srgbClr val="4A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3831336"/>
            <a:ext cx="3017520" cy="292608"/>
          </a:xfrm>
          <a:prstGeom prst="rect">
            <a:avLst/>
          </a:prstGeom>
          <a:noFill/>
        </p:spPr>
        <p:txBody>
          <a:bodyPr wrap="square" anchor="t">
            <a:spAutoFit/>
          </a:bodyPr>
          <a:lstStyle/>
          <a:p>
            <a:pPr algn="l">
              <a:lnSpc>
                <a:spcPct val="115000"/>
              </a:lnSpc>
              <a:spcAft>
                <a:spcPts val="200"/>
              </a:spcAft>
            </a:pPr>
            <a:r>
              <a:rPr sz="1200" b="1" i="0">
                <a:solidFill>
                  <a:srgbClr val="1F3A5F"/>
                </a:solidFill>
                <a:latin typeface="Meiryo"/>
                <a:ea typeface="Meiryo"/>
              </a:rPr>
              <a:t>死後事務</a:t>
            </a:r>
          </a:p>
        </p:txBody>
      </p:sp>
      <p:sp>
        <p:nvSpPr>
          <p:cNvPr id="26" name="TextBox 25"/>
          <p:cNvSpPr txBox="1"/>
          <p:nvPr/>
        </p:nvSpPr>
        <p:spPr>
          <a:xfrm>
            <a:off x="4389120" y="4142232"/>
            <a:ext cx="3017520" cy="594360"/>
          </a:xfrm>
          <a:prstGeom prst="rect">
            <a:avLst/>
          </a:prstGeom>
          <a:noFill/>
        </p:spPr>
        <p:txBody>
          <a:bodyPr wrap="square" anchor="t">
            <a:spAutoFit/>
          </a:bodyPr>
          <a:lstStyle/>
          <a:p>
            <a:pPr algn="l">
              <a:lnSpc>
                <a:spcPct val="115000"/>
              </a:lnSpc>
              <a:spcAft>
                <a:spcPts val="200"/>
              </a:spcAft>
            </a:pPr>
            <a:r>
              <a:rPr sz="1050" b="0" i="0">
                <a:solidFill>
                  <a:srgbClr val="262B33"/>
                </a:solidFill>
                <a:latin typeface="Meiryo"/>
                <a:ea typeface="Meiryo"/>
              </a:rPr>
              <a:t>火葬・埋葬、残置物、年金停止 等</a:t>
            </a:r>
          </a:p>
        </p:txBody>
      </p:sp>
      <p:sp>
        <p:nvSpPr>
          <p:cNvPr id="27" name="Rounded Rectangle 26"/>
          <p:cNvSpPr/>
          <p:nvPr/>
        </p:nvSpPr>
        <p:spPr>
          <a:xfrm>
            <a:off x="731520" y="4992624"/>
            <a:ext cx="7315200" cy="868680"/>
          </a:xfrm>
          <a:prstGeom prst="roundRect">
            <a:avLst>
              <a:gd name="adj" fmla="val 5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065776"/>
            <a:ext cx="6949440" cy="777240"/>
          </a:xfrm>
          <a:prstGeom prst="rect">
            <a:avLst/>
          </a:prstGeom>
          <a:noFill/>
        </p:spPr>
        <p:txBody>
          <a:bodyPr wrap="square" anchor="t">
            <a:spAutoFit/>
          </a:bodyPr>
          <a:lstStyle/>
          <a:p>
            <a:pPr algn="l">
              <a:lnSpc>
                <a:spcPct val="125000"/>
              </a:lnSpc>
              <a:spcAft>
                <a:spcPts val="200"/>
              </a:spcAft>
            </a:pPr>
            <a:r>
              <a:rPr sz="1200" b="1" i="0">
                <a:solidFill>
                  <a:srgbClr val="1F3A5F"/>
                </a:solidFill>
                <a:latin typeface="Meiryo"/>
                <a:ea typeface="Meiryo"/>
              </a:rPr>
              <a:t>ケアマネの立ち位置：</a:t>
            </a:r>
            <a:r>
              <a:rPr sz="1150" b="0" i="0">
                <a:solidFill>
                  <a:srgbClr val="262B33"/>
                </a:solidFill>
                <a:latin typeface="Meiryo"/>
                <a:ea typeface="Meiryo"/>
              </a:rPr>
              <a:t>自ら保証人になるのではなく、</a:t>
            </a:r>
          </a:p>
          <a:p>
            <a:pPr algn="l">
              <a:lnSpc>
                <a:spcPct val="125000"/>
              </a:lnSpc>
              <a:spcAft>
                <a:spcPts val="200"/>
              </a:spcAft>
            </a:pPr>
            <a:r>
              <a:rPr sz="1150" b="0" i="0">
                <a:solidFill>
                  <a:srgbClr val="262B33"/>
                </a:solidFill>
                <a:latin typeface="Meiryo"/>
                <a:ea typeface="Meiryo"/>
              </a:rPr>
              <a:t>　機能ごとに制度・専門職・行政へ“つなぐ”ことが役割。厚労省2019年ガイドライン参照。</a:t>
            </a:r>
          </a:p>
        </p:txBody>
      </p:sp>
      <p:sp>
        <p:nvSpPr>
          <p:cNvPr id="29" name="Rectangle 28"/>
          <p:cNvSpPr/>
          <p:nvPr/>
        </p:nvSpPr>
        <p:spPr>
          <a:xfrm>
            <a:off x="8275320" y="1700784"/>
            <a:ext cx="3182112" cy="4572000"/>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5048" y="1746504"/>
            <a:ext cx="1828800" cy="274320"/>
          </a:xfrm>
          <a:prstGeom prst="rect">
            <a:avLst/>
          </a:prstGeom>
          <a:noFill/>
        </p:spPr>
        <p:txBody>
          <a:bodyPr wrap="square" anchor="t">
            <a:spAutoFit/>
          </a:bodyPr>
          <a:lstStyle/>
          <a:p>
            <a:pPr algn="l">
              <a:lnSpc>
                <a:spcPct val="115000"/>
              </a:lnSpc>
              <a:spcAft>
                <a:spcPts val="200"/>
              </a:spcAft>
            </a:pPr>
            <a:r>
              <a:rPr sz="1000" b="1" i="0">
                <a:solidFill>
                  <a:srgbClr val="9A863A"/>
                </a:solidFill>
                <a:latin typeface="Meiryo"/>
                <a:ea typeface="Meiryo"/>
              </a:rPr>
              <a:t>✎ 当日メモ</a:t>
            </a:r>
          </a:p>
        </p:txBody>
      </p:sp>
      <p:sp>
        <p:nvSpPr>
          <p:cNvPr id="31" name="Rectangle 30"/>
          <p:cNvSpPr/>
          <p:nvPr/>
        </p:nvSpPr>
        <p:spPr>
          <a:xfrm>
            <a:off x="8412480" y="217627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412480" y="256032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0" y="294436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0" y="332841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12480" y="371246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12480" y="409651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0" y="4480560"/>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0" y="4864608"/>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12480" y="5248656"/>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0" y="5632704"/>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0" y="6016752"/>
            <a:ext cx="29077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出典：厚労省「身寄りがない人の入院及び医療に係る意思決定が困難な人への支援に関するガイドライン」(2019)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現場の本丸 ②</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医療同意・身元保証 ── 現状と限界</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13</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ounded Rectangle 8"/>
          <p:cNvSpPr/>
          <p:nvPr/>
        </p:nvSpPr>
        <p:spPr>
          <a:xfrm>
            <a:off x="731520" y="1700784"/>
            <a:ext cx="5257800" cy="201168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00784"/>
            <a:ext cx="5257800" cy="420624"/>
          </a:xfrm>
          <a:prstGeom prst="roundRect">
            <a:avLst>
              <a:gd name="adj" fmla="val 4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975104"/>
            <a:ext cx="5257800" cy="1463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1700784"/>
            <a:ext cx="503834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身元保証</a:t>
            </a:r>
          </a:p>
        </p:txBody>
      </p:sp>
      <p:sp>
        <p:nvSpPr>
          <p:cNvPr id="13" name="TextBox 12"/>
          <p:cNvSpPr txBox="1"/>
          <p:nvPr/>
        </p:nvSpPr>
        <p:spPr>
          <a:xfrm>
            <a:off x="877824" y="2231136"/>
            <a:ext cx="4983480" cy="1371600"/>
          </a:xfrm>
          <a:prstGeom prst="rect">
            <a:avLst/>
          </a:prstGeom>
          <a:noFill/>
        </p:spPr>
        <p:txBody>
          <a:bodyPr wrap="square" anchor="t">
            <a:spAutoFit/>
          </a:bodyPr>
          <a:lstStyle/>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身元保証人がいないことのみを理由とした</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入院拒否は不可（応召義務に抵触）</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 厚労省医政局通知 平成30年4月27日</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民間の高齢者等終身サポート事業者には</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適正運営のガイドライン（2024年）あり</a:t>
            </a:r>
          </a:p>
        </p:txBody>
      </p:sp>
      <p:sp>
        <p:nvSpPr>
          <p:cNvPr id="14" name="Rounded Rectangle 13"/>
          <p:cNvSpPr/>
          <p:nvPr/>
        </p:nvSpPr>
        <p:spPr>
          <a:xfrm>
            <a:off x="6199632" y="1700784"/>
            <a:ext cx="5257800" cy="201168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99632" y="1700784"/>
            <a:ext cx="5257800" cy="420624"/>
          </a:xfrm>
          <a:prstGeom prst="roundRect">
            <a:avLst>
              <a:gd name="adj" fmla="val 4000"/>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975104"/>
            <a:ext cx="5257800" cy="146304"/>
          </a:xfrm>
          <a:prstGeom prst="rect">
            <a:avLst/>
          </a:prstGeom>
          <a:solidFill>
            <a:srgbClr val="C99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8" y="1700784"/>
            <a:ext cx="503834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医療同意</a:t>
            </a:r>
          </a:p>
        </p:txBody>
      </p:sp>
      <p:sp>
        <p:nvSpPr>
          <p:cNvPr id="18" name="TextBox 17"/>
          <p:cNvSpPr txBox="1"/>
          <p:nvPr/>
        </p:nvSpPr>
        <p:spPr>
          <a:xfrm>
            <a:off x="6345936" y="2231136"/>
            <a:ext cx="4983480" cy="1371600"/>
          </a:xfrm>
          <a:prstGeom prst="rect">
            <a:avLst/>
          </a:prstGeom>
          <a:noFill/>
        </p:spPr>
        <p:txBody>
          <a:bodyPr wrap="square" anchor="t">
            <a:spAutoFit/>
          </a:bodyPr>
          <a:lstStyle/>
          <a:p>
            <a:pPr algn="l">
              <a:lnSpc>
                <a:spcPct val="120000"/>
              </a:lnSpc>
              <a:spcAft>
                <a:spcPts val="400"/>
              </a:spcAft>
            </a:pPr>
            <a:r>
              <a:rPr sz="1100" b="1" i="0">
                <a:solidFill>
                  <a:srgbClr val="C99A3A"/>
                </a:solidFill>
                <a:latin typeface="Meiryo"/>
                <a:ea typeface="Meiryo"/>
              </a:rPr>
              <a:t>• </a:t>
            </a:r>
            <a:r>
              <a:rPr sz="1100" b="0" i="0">
                <a:solidFill>
                  <a:srgbClr val="262B33"/>
                </a:solidFill>
                <a:latin typeface="Meiryo"/>
                <a:ea typeface="Meiryo"/>
              </a:rPr>
              <a:t>成年後見人に医療行為への同意権はない</a:t>
            </a:r>
          </a:p>
          <a:p>
            <a:pPr algn="l">
              <a:lnSpc>
                <a:spcPct val="120000"/>
              </a:lnSpc>
              <a:spcAft>
                <a:spcPts val="400"/>
              </a:spcAft>
            </a:pPr>
            <a:r>
              <a:rPr sz="1100" b="1" i="0">
                <a:solidFill>
                  <a:srgbClr val="C99A3A"/>
                </a:solidFill>
                <a:latin typeface="Meiryo"/>
                <a:ea typeface="Meiryo"/>
              </a:rPr>
              <a:t>• </a:t>
            </a:r>
            <a:r>
              <a:rPr sz="1100" b="0" i="0">
                <a:solidFill>
                  <a:srgbClr val="262B33"/>
                </a:solidFill>
                <a:latin typeface="Meiryo"/>
                <a:ea typeface="Meiryo"/>
              </a:rPr>
              <a:t>（一身専属的な判断とされる ＝ 現行法の整理）</a:t>
            </a:r>
          </a:p>
          <a:p>
            <a:pPr algn="l">
              <a:lnSpc>
                <a:spcPct val="120000"/>
              </a:lnSpc>
              <a:spcAft>
                <a:spcPts val="400"/>
              </a:spcAft>
            </a:pPr>
            <a:r>
              <a:rPr sz="1100" b="1" i="0">
                <a:solidFill>
                  <a:srgbClr val="C99A3A"/>
                </a:solidFill>
                <a:latin typeface="Meiryo"/>
                <a:ea typeface="Meiryo"/>
              </a:rPr>
              <a:t>• </a:t>
            </a:r>
            <a:r>
              <a:rPr sz="1100" b="0" i="0">
                <a:solidFill>
                  <a:srgbClr val="262B33"/>
                </a:solidFill>
                <a:latin typeface="Meiryo"/>
                <a:ea typeface="Meiryo"/>
              </a:rPr>
              <a:t>家族がいても「代理決定」ではなく</a:t>
            </a:r>
          </a:p>
          <a:p>
            <a:pPr algn="l">
              <a:lnSpc>
                <a:spcPct val="120000"/>
              </a:lnSpc>
              <a:spcAft>
                <a:spcPts val="400"/>
              </a:spcAft>
            </a:pPr>
            <a:r>
              <a:rPr sz="1100" b="1" i="0">
                <a:solidFill>
                  <a:srgbClr val="C99A3A"/>
                </a:solidFill>
                <a:latin typeface="Meiryo"/>
                <a:ea typeface="Meiryo"/>
              </a:rPr>
              <a:t>• </a:t>
            </a:r>
            <a:r>
              <a:rPr sz="1100" b="0" i="0">
                <a:solidFill>
                  <a:srgbClr val="262B33"/>
                </a:solidFill>
                <a:latin typeface="Meiryo"/>
                <a:ea typeface="Meiryo"/>
              </a:rPr>
              <a:t>本人意思の推定が出発点</a:t>
            </a:r>
          </a:p>
          <a:p>
            <a:pPr algn="l">
              <a:lnSpc>
                <a:spcPct val="120000"/>
              </a:lnSpc>
              <a:spcAft>
                <a:spcPts val="400"/>
              </a:spcAft>
            </a:pPr>
            <a:r>
              <a:rPr sz="1100" b="1" i="0">
                <a:solidFill>
                  <a:srgbClr val="C99A3A"/>
                </a:solidFill>
                <a:latin typeface="Meiryo"/>
                <a:ea typeface="Meiryo"/>
              </a:rPr>
              <a:t>• </a:t>
            </a:r>
            <a:r>
              <a:rPr sz="1100" b="0" i="0">
                <a:solidFill>
                  <a:srgbClr val="262B33"/>
                </a:solidFill>
                <a:latin typeface="Meiryo"/>
                <a:ea typeface="Meiryo"/>
              </a:rPr>
              <a:t>→ 誰が決めるのか、が現場の難所</a:t>
            </a:r>
          </a:p>
        </p:txBody>
      </p:sp>
      <p:sp>
        <p:nvSpPr>
          <p:cNvPr id="19" name="Rounded Rectangle 18"/>
          <p:cNvSpPr/>
          <p:nvPr/>
        </p:nvSpPr>
        <p:spPr>
          <a:xfrm>
            <a:off x="731520" y="3895344"/>
            <a:ext cx="10725912" cy="1417320"/>
          </a:xfrm>
          <a:prstGeom prst="roundRect">
            <a:avLst>
              <a:gd name="adj" fmla="val 5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68496"/>
            <a:ext cx="10332720" cy="274320"/>
          </a:xfrm>
          <a:prstGeom prst="rect">
            <a:avLst/>
          </a:prstGeom>
          <a:noFill/>
        </p:spPr>
        <p:txBody>
          <a:bodyPr wrap="square" anchor="t">
            <a:spAutoFit/>
          </a:bodyPr>
          <a:lstStyle/>
          <a:p>
            <a:pPr algn="l">
              <a:lnSpc>
                <a:spcPct val="115000"/>
              </a:lnSpc>
              <a:spcAft>
                <a:spcPts val="200"/>
              </a:spcAft>
            </a:pPr>
            <a:r>
              <a:rPr sz="1250" b="1" i="0">
                <a:solidFill>
                  <a:srgbClr val="1F3A5F"/>
                </a:solidFill>
                <a:latin typeface="Meiryo"/>
                <a:ea typeface="Meiryo"/>
              </a:rPr>
              <a:t>◆ 意思決定のよりどころ ── ACP（人生会議）</a:t>
            </a:r>
          </a:p>
        </p:txBody>
      </p:sp>
      <p:sp>
        <p:nvSpPr>
          <p:cNvPr id="21" name="TextBox 20"/>
          <p:cNvSpPr txBox="1"/>
          <p:nvPr/>
        </p:nvSpPr>
        <p:spPr>
          <a:xfrm>
            <a:off x="914400" y="4261104"/>
            <a:ext cx="10332720" cy="960120"/>
          </a:xfrm>
          <a:prstGeom prst="rect">
            <a:avLst/>
          </a:prstGeom>
          <a:noFill/>
        </p:spPr>
        <p:txBody>
          <a:bodyPr wrap="square" anchor="t">
            <a:spAutoFit/>
          </a:bodyPr>
          <a:lstStyle/>
          <a:p>
            <a:pPr algn="l">
              <a:lnSpc>
                <a:spcPct val="125000"/>
              </a:lnSpc>
              <a:spcAft>
                <a:spcPts val="200"/>
              </a:spcAft>
            </a:pPr>
            <a:r>
              <a:rPr sz="1150" b="0" i="0">
                <a:solidFill>
                  <a:srgbClr val="262B33"/>
                </a:solidFill>
                <a:latin typeface="Meiryo"/>
                <a:ea typeface="Meiryo"/>
              </a:rPr>
              <a:t>厚労省「人生の最終段階における医療・ケアの決定プロセスに関するガイドライン」(2018改訂)。</a:t>
            </a:r>
          </a:p>
          <a:p>
            <a:pPr algn="l">
              <a:lnSpc>
                <a:spcPct val="125000"/>
              </a:lnSpc>
              <a:spcAft>
                <a:spcPts val="200"/>
              </a:spcAft>
            </a:pPr>
            <a:r>
              <a:rPr sz="1150" b="0" i="0">
                <a:solidFill>
                  <a:srgbClr val="262B33"/>
                </a:solidFill>
                <a:latin typeface="Meiryo"/>
                <a:ea typeface="Meiryo"/>
              </a:rPr>
              <a:t>本人・家族・医療ケアチームが繰り返し話し合い、その都度文書化。身寄りなしの場合は本人意思を推定し、</a:t>
            </a:r>
          </a:p>
          <a:p>
            <a:pPr algn="l">
              <a:lnSpc>
                <a:spcPct val="125000"/>
              </a:lnSpc>
              <a:spcAft>
                <a:spcPts val="200"/>
              </a:spcAft>
            </a:pPr>
            <a:r>
              <a:rPr sz="1150" b="0" i="0">
                <a:solidFill>
                  <a:srgbClr val="262B33"/>
                </a:solidFill>
                <a:latin typeface="Meiryo"/>
                <a:ea typeface="Meiryo"/>
              </a:rPr>
              <a:t>困難ならチームで本人にとって最善の方針を決定する。</a:t>
            </a:r>
          </a:p>
        </p:txBody>
      </p:sp>
      <p:sp>
        <p:nvSpPr>
          <p:cNvPr id="22" name="Rectangle 21"/>
          <p:cNvSpPr/>
          <p:nvPr/>
        </p:nvSpPr>
        <p:spPr>
          <a:xfrm>
            <a:off x="731520" y="5815584"/>
            <a:ext cx="10725912" cy="457200"/>
          </a:xfrm>
          <a:prstGeom prst="rect">
            <a:avLst/>
          </a:prstGeom>
          <a:solidFill>
            <a:srgbClr val="FCF3DD"/>
          </a:solidFill>
          <a:ln w="12700">
            <a:solidFill>
              <a:srgbClr val="C99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815584"/>
            <a:ext cx="10424160" cy="457200"/>
          </a:xfrm>
          <a:prstGeom prst="rect">
            <a:avLst/>
          </a:prstGeom>
          <a:noFill/>
        </p:spPr>
        <p:txBody>
          <a:bodyPr wrap="square" anchor="ctr">
            <a:spAutoFit/>
          </a:bodyPr>
          <a:lstStyle/>
          <a:p>
            <a:pPr algn="l">
              <a:lnSpc>
                <a:spcPct val="115000"/>
              </a:lnSpc>
              <a:spcAft>
                <a:spcPts val="200"/>
              </a:spcAft>
            </a:pPr>
            <a:r>
              <a:rPr sz="1150" b="1" i="0">
                <a:solidFill>
                  <a:srgbClr val="262B33"/>
                </a:solidFill>
                <a:latin typeface="Meiryo"/>
                <a:ea typeface="Meiryo"/>
              </a:rPr>
              <a:t>予習ポイント：「後見人がいれば医療同意もしてもらえる」は誤解。ここは要確認の最重要点。</a:t>
            </a:r>
          </a:p>
        </p:txBody>
      </p:sp>
      <p:sp>
        <p:nvSpPr>
          <p:cNvPr id="24" name="TextBox 23"/>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出典：厚労省 医政局通知／人生の最終段階の医療・ケア決定プロセスガイドライン／終身サポート事業者ガイドライン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現場の本丸 ③</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死後事務 ── 後見人の権限と「死後事務委任契約」</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14</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ounded Rectangle 8"/>
          <p:cNvSpPr/>
          <p:nvPr/>
        </p:nvSpPr>
        <p:spPr>
          <a:xfrm>
            <a:off x="731520" y="1700784"/>
            <a:ext cx="5257800" cy="214884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00784"/>
            <a:ext cx="5257800" cy="420624"/>
          </a:xfrm>
          <a:prstGeom prst="roundRect">
            <a:avLst>
              <a:gd name="adj" fmla="val 4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975104"/>
            <a:ext cx="5257800" cy="1463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1700784"/>
            <a:ext cx="503834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成年後見人の死後事務</a:t>
            </a:r>
          </a:p>
        </p:txBody>
      </p:sp>
      <p:sp>
        <p:nvSpPr>
          <p:cNvPr id="13" name="TextBox 12"/>
          <p:cNvSpPr txBox="1"/>
          <p:nvPr/>
        </p:nvSpPr>
        <p:spPr>
          <a:xfrm>
            <a:off x="877824" y="2231136"/>
            <a:ext cx="4983480" cy="1508760"/>
          </a:xfrm>
          <a:prstGeom prst="rect">
            <a:avLst/>
          </a:prstGeom>
          <a:noFill/>
        </p:spPr>
        <p:txBody>
          <a:bodyPr wrap="square" anchor="t">
            <a:spAutoFit/>
          </a:bodyPr>
          <a:lstStyle/>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民法873条の2（平成28年改正）</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家裁の許可等を要件に限定的に可：</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① 相続財産の保存に必要な行為</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② 弁済期が来た債務の弁済（医療費等）</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③ 火葬・埋葬に関する契約 ※葬儀主催は不可</a:t>
            </a:r>
          </a:p>
        </p:txBody>
      </p:sp>
      <p:sp>
        <p:nvSpPr>
          <p:cNvPr id="14" name="Rounded Rectangle 13"/>
          <p:cNvSpPr/>
          <p:nvPr/>
        </p:nvSpPr>
        <p:spPr>
          <a:xfrm>
            <a:off x="6199632" y="1700784"/>
            <a:ext cx="5257800" cy="214884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99632" y="1700784"/>
            <a:ext cx="5257800" cy="420624"/>
          </a:xfrm>
          <a:prstGeom prst="roundRect">
            <a:avLst>
              <a:gd name="adj" fmla="val 4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975104"/>
            <a:ext cx="5257800" cy="1463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8" y="1700784"/>
            <a:ext cx="503834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死後事務委任契約</a:t>
            </a:r>
          </a:p>
        </p:txBody>
      </p:sp>
      <p:sp>
        <p:nvSpPr>
          <p:cNvPr id="18" name="TextBox 17"/>
          <p:cNvSpPr txBox="1"/>
          <p:nvPr/>
        </p:nvSpPr>
        <p:spPr>
          <a:xfrm>
            <a:off x="6345936" y="2231136"/>
            <a:ext cx="4983480" cy="1508760"/>
          </a:xfrm>
          <a:prstGeom prst="rect">
            <a:avLst/>
          </a:prstGeom>
          <a:noFill/>
        </p:spPr>
        <p:txBody>
          <a:bodyPr wrap="square" anchor="t">
            <a:spAutoFit/>
          </a:bodyPr>
          <a:lstStyle/>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後見終了後の広い事務に備える生前契約</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対応範囲を本人と取り決められる</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（葬儀・納骨・行政手続・残置物処理 等）</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任意後見契約とあわせて結ぶことが多い</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元気なうちの備えが鍵</a:t>
            </a:r>
          </a:p>
        </p:txBody>
      </p:sp>
      <p:sp>
        <p:nvSpPr>
          <p:cNvPr id="19" name="TextBox 18"/>
          <p:cNvSpPr txBox="1"/>
          <p:nvPr/>
        </p:nvSpPr>
        <p:spPr>
          <a:xfrm>
            <a:off x="731520" y="4032504"/>
            <a:ext cx="10698480" cy="274320"/>
          </a:xfrm>
          <a:prstGeom prst="rect">
            <a:avLst/>
          </a:prstGeom>
          <a:noFill/>
        </p:spPr>
        <p:txBody>
          <a:bodyPr wrap="square" anchor="t">
            <a:spAutoFit/>
          </a:bodyPr>
          <a:lstStyle/>
          <a:p>
            <a:pPr algn="l">
              <a:lnSpc>
                <a:spcPct val="115000"/>
              </a:lnSpc>
              <a:spcAft>
                <a:spcPts val="200"/>
              </a:spcAft>
            </a:pPr>
            <a:r>
              <a:rPr sz="1250" b="1" i="0">
                <a:solidFill>
                  <a:srgbClr val="2E8B8B"/>
                </a:solidFill>
                <a:latin typeface="Meiryo"/>
                <a:ea typeface="Meiryo"/>
              </a:rPr>
              <a:t>◆ 単身死亡後の実務の流れ</a:t>
            </a:r>
          </a:p>
        </p:txBody>
      </p:sp>
      <p:sp>
        <p:nvSpPr>
          <p:cNvPr id="20" name="Rounded Rectangle 19"/>
          <p:cNvSpPr/>
          <p:nvPr/>
        </p:nvSpPr>
        <p:spPr>
          <a:xfrm>
            <a:off x="731520" y="4352544"/>
            <a:ext cx="1975104" cy="640080"/>
          </a:xfrm>
          <a:prstGeom prst="roundRect">
            <a:avLst>
              <a:gd name="adj" fmla="val 8000"/>
            </a:avLst>
          </a:prstGeom>
          <a:solidFill>
            <a:srgbClr val="F4F6F8"/>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352544"/>
            <a:ext cx="1975104" cy="640080"/>
          </a:xfrm>
          <a:prstGeom prst="rect">
            <a:avLst/>
          </a:prstGeom>
          <a:noFill/>
        </p:spPr>
        <p:txBody>
          <a:bodyPr wrap="square" anchor="ctr">
            <a:spAutoFit/>
          </a:bodyPr>
          <a:lstStyle/>
          <a:p>
            <a:pPr algn="ctr">
              <a:lnSpc>
                <a:spcPct val="105000"/>
              </a:lnSpc>
              <a:spcAft>
                <a:spcPts val="200"/>
              </a:spcAft>
            </a:pPr>
            <a:r>
              <a:rPr sz="1000" b="0" i="0">
                <a:solidFill>
                  <a:srgbClr val="262B33"/>
                </a:solidFill>
                <a:latin typeface="Meiryo"/>
                <a:ea typeface="Meiryo"/>
              </a:rPr>
              <a:t>死亡届の提出</a:t>
            </a:r>
          </a:p>
        </p:txBody>
      </p:sp>
      <p:sp>
        <p:nvSpPr>
          <p:cNvPr id="22" name="TextBox 21"/>
          <p:cNvSpPr txBox="1"/>
          <p:nvPr/>
        </p:nvSpPr>
        <p:spPr>
          <a:xfrm>
            <a:off x="2670048" y="4352544"/>
            <a:ext cx="274320" cy="640080"/>
          </a:xfrm>
          <a:prstGeom prst="rect">
            <a:avLst/>
          </a:prstGeom>
          <a:noFill/>
        </p:spPr>
        <p:txBody>
          <a:bodyPr wrap="square" anchor="ctr">
            <a:spAutoFit/>
          </a:bodyPr>
          <a:lstStyle/>
          <a:p>
            <a:pPr algn="ctr">
              <a:lnSpc>
                <a:spcPct val="115000"/>
              </a:lnSpc>
              <a:spcAft>
                <a:spcPts val="200"/>
              </a:spcAft>
            </a:pPr>
            <a:r>
              <a:rPr sz="1200" b="1" i="0">
                <a:solidFill>
                  <a:srgbClr val="2E8B8B"/>
                </a:solidFill>
                <a:latin typeface="Meiryo"/>
                <a:ea typeface="Meiryo"/>
              </a:rPr>
              <a:t>▶</a:t>
            </a:r>
          </a:p>
        </p:txBody>
      </p:sp>
      <p:sp>
        <p:nvSpPr>
          <p:cNvPr id="23" name="Rounded Rectangle 22"/>
          <p:cNvSpPr/>
          <p:nvPr/>
        </p:nvSpPr>
        <p:spPr>
          <a:xfrm>
            <a:off x="2889504" y="4352544"/>
            <a:ext cx="1975104" cy="640080"/>
          </a:xfrm>
          <a:prstGeom prst="roundRect">
            <a:avLst>
              <a:gd name="adj" fmla="val 8000"/>
            </a:avLst>
          </a:prstGeom>
          <a:solidFill>
            <a:srgbClr val="F4F6F8"/>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89504" y="4352544"/>
            <a:ext cx="1975104" cy="640080"/>
          </a:xfrm>
          <a:prstGeom prst="rect">
            <a:avLst/>
          </a:prstGeom>
          <a:noFill/>
        </p:spPr>
        <p:txBody>
          <a:bodyPr wrap="square" anchor="ctr">
            <a:spAutoFit/>
          </a:bodyPr>
          <a:lstStyle/>
          <a:p>
            <a:pPr algn="ctr">
              <a:lnSpc>
                <a:spcPct val="105000"/>
              </a:lnSpc>
              <a:spcAft>
                <a:spcPts val="200"/>
              </a:spcAft>
            </a:pPr>
            <a:r>
              <a:rPr sz="1000" b="0" i="0">
                <a:solidFill>
                  <a:srgbClr val="262B33"/>
                </a:solidFill>
                <a:latin typeface="Meiryo"/>
                <a:ea typeface="Meiryo"/>
              </a:rPr>
              <a:t>火葬許可</a:t>
            </a:r>
          </a:p>
          <a:p>
            <a:pPr algn="ctr">
              <a:lnSpc>
                <a:spcPct val="105000"/>
              </a:lnSpc>
              <a:spcAft>
                <a:spcPts val="200"/>
              </a:spcAft>
            </a:pPr>
            <a:r>
              <a:rPr sz="1000" b="0" i="0">
                <a:solidFill>
                  <a:srgbClr val="262B33"/>
                </a:solidFill>
                <a:latin typeface="Meiryo"/>
                <a:ea typeface="Meiryo"/>
              </a:rPr>
              <a:t>（24時間後）</a:t>
            </a:r>
          </a:p>
        </p:txBody>
      </p:sp>
      <p:sp>
        <p:nvSpPr>
          <p:cNvPr id="25" name="TextBox 24"/>
          <p:cNvSpPr txBox="1"/>
          <p:nvPr/>
        </p:nvSpPr>
        <p:spPr>
          <a:xfrm>
            <a:off x="4828032" y="4352544"/>
            <a:ext cx="274320" cy="640080"/>
          </a:xfrm>
          <a:prstGeom prst="rect">
            <a:avLst/>
          </a:prstGeom>
          <a:noFill/>
        </p:spPr>
        <p:txBody>
          <a:bodyPr wrap="square" anchor="ctr">
            <a:spAutoFit/>
          </a:bodyPr>
          <a:lstStyle/>
          <a:p>
            <a:pPr algn="ctr">
              <a:lnSpc>
                <a:spcPct val="115000"/>
              </a:lnSpc>
              <a:spcAft>
                <a:spcPts val="200"/>
              </a:spcAft>
            </a:pPr>
            <a:r>
              <a:rPr sz="1200" b="1" i="0">
                <a:solidFill>
                  <a:srgbClr val="2E8B8B"/>
                </a:solidFill>
                <a:latin typeface="Meiryo"/>
                <a:ea typeface="Meiryo"/>
              </a:rPr>
              <a:t>▶</a:t>
            </a:r>
          </a:p>
        </p:txBody>
      </p:sp>
      <p:sp>
        <p:nvSpPr>
          <p:cNvPr id="26" name="Rounded Rectangle 25"/>
          <p:cNvSpPr/>
          <p:nvPr/>
        </p:nvSpPr>
        <p:spPr>
          <a:xfrm>
            <a:off x="5047488" y="4352544"/>
            <a:ext cx="1975104" cy="640080"/>
          </a:xfrm>
          <a:prstGeom prst="roundRect">
            <a:avLst>
              <a:gd name="adj" fmla="val 8000"/>
            </a:avLst>
          </a:prstGeom>
          <a:solidFill>
            <a:srgbClr val="F4F6F8"/>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47488" y="4352544"/>
            <a:ext cx="1975104" cy="640080"/>
          </a:xfrm>
          <a:prstGeom prst="rect">
            <a:avLst/>
          </a:prstGeom>
          <a:noFill/>
        </p:spPr>
        <p:txBody>
          <a:bodyPr wrap="square" anchor="ctr">
            <a:spAutoFit/>
          </a:bodyPr>
          <a:lstStyle/>
          <a:p>
            <a:pPr algn="ctr">
              <a:lnSpc>
                <a:spcPct val="105000"/>
              </a:lnSpc>
              <a:spcAft>
                <a:spcPts val="200"/>
              </a:spcAft>
            </a:pPr>
            <a:r>
              <a:rPr sz="1000" b="0" i="0">
                <a:solidFill>
                  <a:srgbClr val="262B33"/>
                </a:solidFill>
                <a:latin typeface="Meiryo"/>
                <a:ea typeface="Meiryo"/>
              </a:rPr>
              <a:t>引取り手なし→</a:t>
            </a:r>
          </a:p>
          <a:p>
            <a:pPr algn="ctr">
              <a:lnSpc>
                <a:spcPct val="105000"/>
              </a:lnSpc>
              <a:spcAft>
                <a:spcPts val="200"/>
              </a:spcAft>
            </a:pPr>
            <a:r>
              <a:rPr sz="1000" b="0" i="0">
                <a:solidFill>
                  <a:srgbClr val="262B33"/>
                </a:solidFill>
                <a:latin typeface="Meiryo"/>
                <a:ea typeface="Meiryo"/>
              </a:rPr>
              <a:t>市区町村が埋火葬</a:t>
            </a:r>
          </a:p>
        </p:txBody>
      </p:sp>
      <p:sp>
        <p:nvSpPr>
          <p:cNvPr id="28" name="TextBox 27"/>
          <p:cNvSpPr txBox="1"/>
          <p:nvPr/>
        </p:nvSpPr>
        <p:spPr>
          <a:xfrm>
            <a:off x="6986016" y="4352544"/>
            <a:ext cx="274320" cy="640080"/>
          </a:xfrm>
          <a:prstGeom prst="rect">
            <a:avLst/>
          </a:prstGeom>
          <a:noFill/>
        </p:spPr>
        <p:txBody>
          <a:bodyPr wrap="square" anchor="ctr">
            <a:spAutoFit/>
          </a:bodyPr>
          <a:lstStyle/>
          <a:p>
            <a:pPr algn="ctr">
              <a:lnSpc>
                <a:spcPct val="115000"/>
              </a:lnSpc>
              <a:spcAft>
                <a:spcPts val="200"/>
              </a:spcAft>
            </a:pPr>
            <a:r>
              <a:rPr sz="1200" b="1" i="0">
                <a:solidFill>
                  <a:srgbClr val="2E8B8B"/>
                </a:solidFill>
                <a:latin typeface="Meiryo"/>
                <a:ea typeface="Meiryo"/>
              </a:rPr>
              <a:t>▶</a:t>
            </a:r>
          </a:p>
        </p:txBody>
      </p:sp>
      <p:sp>
        <p:nvSpPr>
          <p:cNvPr id="29" name="Rounded Rectangle 28"/>
          <p:cNvSpPr/>
          <p:nvPr/>
        </p:nvSpPr>
        <p:spPr>
          <a:xfrm>
            <a:off x="7205472" y="4352544"/>
            <a:ext cx="1975104" cy="640080"/>
          </a:xfrm>
          <a:prstGeom prst="roundRect">
            <a:avLst>
              <a:gd name="adj" fmla="val 8000"/>
            </a:avLst>
          </a:prstGeom>
          <a:solidFill>
            <a:srgbClr val="F4F6F8"/>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05472" y="4352544"/>
            <a:ext cx="1975104" cy="640080"/>
          </a:xfrm>
          <a:prstGeom prst="rect">
            <a:avLst/>
          </a:prstGeom>
          <a:noFill/>
        </p:spPr>
        <p:txBody>
          <a:bodyPr wrap="square" anchor="ctr">
            <a:spAutoFit/>
          </a:bodyPr>
          <a:lstStyle/>
          <a:p>
            <a:pPr algn="ctr">
              <a:lnSpc>
                <a:spcPct val="105000"/>
              </a:lnSpc>
              <a:spcAft>
                <a:spcPts val="200"/>
              </a:spcAft>
            </a:pPr>
            <a:r>
              <a:rPr sz="1000" b="0" i="0">
                <a:solidFill>
                  <a:srgbClr val="262B33"/>
                </a:solidFill>
                <a:latin typeface="Meiryo"/>
                <a:ea typeface="Meiryo"/>
              </a:rPr>
              <a:t>年金停止</a:t>
            </a:r>
          </a:p>
          <a:p>
            <a:pPr algn="ctr">
              <a:lnSpc>
                <a:spcPct val="105000"/>
              </a:lnSpc>
              <a:spcAft>
                <a:spcPts val="200"/>
              </a:spcAft>
            </a:pPr>
            <a:r>
              <a:rPr sz="1000" b="0" i="0">
                <a:solidFill>
                  <a:srgbClr val="262B33"/>
                </a:solidFill>
                <a:latin typeface="Meiryo"/>
                <a:ea typeface="Meiryo"/>
              </a:rPr>
              <a:t>受給権者死亡届</a:t>
            </a:r>
          </a:p>
        </p:txBody>
      </p:sp>
      <p:sp>
        <p:nvSpPr>
          <p:cNvPr id="31" name="TextBox 30"/>
          <p:cNvSpPr txBox="1"/>
          <p:nvPr/>
        </p:nvSpPr>
        <p:spPr>
          <a:xfrm>
            <a:off x="9144000" y="4352544"/>
            <a:ext cx="274320" cy="640080"/>
          </a:xfrm>
          <a:prstGeom prst="rect">
            <a:avLst/>
          </a:prstGeom>
          <a:noFill/>
        </p:spPr>
        <p:txBody>
          <a:bodyPr wrap="square" anchor="ctr">
            <a:spAutoFit/>
          </a:bodyPr>
          <a:lstStyle/>
          <a:p>
            <a:pPr algn="ctr">
              <a:lnSpc>
                <a:spcPct val="115000"/>
              </a:lnSpc>
              <a:spcAft>
                <a:spcPts val="200"/>
              </a:spcAft>
            </a:pPr>
            <a:r>
              <a:rPr sz="1200" b="1" i="0">
                <a:solidFill>
                  <a:srgbClr val="2E8B8B"/>
                </a:solidFill>
                <a:latin typeface="Meiryo"/>
                <a:ea typeface="Meiryo"/>
              </a:rPr>
              <a:t>▶</a:t>
            </a:r>
          </a:p>
        </p:txBody>
      </p:sp>
      <p:sp>
        <p:nvSpPr>
          <p:cNvPr id="32" name="Rounded Rectangle 31"/>
          <p:cNvSpPr/>
          <p:nvPr/>
        </p:nvSpPr>
        <p:spPr>
          <a:xfrm>
            <a:off x="9363456" y="4352544"/>
            <a:ext cx="1975104" cy="640080"/>
          </a:xfrm>
          <a:prstGeom prst="roundRect">
            <a:avLst>
              <a:gd name="adj" fmla="val 8000"/>
            </a:avLst>
          </a:prstGeom>
          <a:solidFill>
            <a:srgbClr val="F4F6F8"/>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63456" y="4352544"/>
            <a:ext cx="1975104" cy="640080"/>
          </a:xfrm>
          <a:prstGeom prst="rect">
            <a:avLst/>
          </a:prstGeom>
          <a:noFill/>
        </p:spPr>
        <p:txBody>
          <a:bodyPr wrap="square" anchor="ctr">
            <a:spAutoFit/>
          </a:bodyPr>
          <a:lstStyle/>
          <a:p>
            <a:pPr algn="ctr">
              <a:lnSpc>
                <a:spcPct val="105000"/>
              </a:lnSpc>
              <a:spcAft>
                <a:spcPts val="200"/>
              </a:spcAft>
            </a:pPr>
            <a:r>
              <a:rPr sz="1000" b="0" i="0">
                <a:solidFill>
                  <a:srgbClr val="262B33"/>
                </a:solidFill>
                <a:latin typeface="Meiryo"/>
                <a:ea typeface="Meiryo"/>
              </a:rPr>
              <a:t>残置物の処理</a:t>
            </a:r>
          </a:p>
        </p:txBody>
      </p:sp>
      <p:sp>
        <p:nvSpPr>
          <p:cNvPr id="34" name="Rectangle 33"/>
          <p:cNvSpPr/>
          <p:nvPr/>
        </p:nvSpPr>
        <p:spPr>
          <a:xfrm>
            <a:off x="731520" y="5129784"/>
            <a:ext cx="10725912" cy="457200"/>
          </a:xfrm>
          <a:prstGeom prst="rect">
            <a:avLst/>
          </a:prstGeom>
          <a:solidFill>
            <a:srgbClr val="FCF3DD"/>
          </a:solidFill>
          <a:ln w="12700">
            <a:solidFill>
              <a:srgbClr val="C99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129784"/>
            <a:ext cx="10424160" cy="457200"/>
          </a:xfrm>
          <a:prstGeom prst="rect">
            <a:avLst/>
          </a:prstGeom>
          <a:noFill/>
        </p:spPr>
        <p:txBody>
          <a:bodyPr wrap="square" anchor="ctr">
            <a:spAutoFit/>
          </a:bodyPr>
          <a:lstStyle/>
          <a:p>
            <a:pPr algn="l">
              <a:lnSpc>
                <a:spcPct val="115000"/>
              </a:lnSpc>
              <a:spcAft>
                <a:spcPts val="200"/>
              </a:spcAft>
            </a:pPr>
            <a:r>
              <a:rPr sz="1150" b="1" i="0">
                <a:solidFill>
                  <a:srgbClr val="262B33"/>
                </a:solidFill>
                <a:latin typeface="Meiryo"/>
                <a:ea typeface="Meiryo"/>
              </a:rPr>
              <a:t>引取り手がない場合：墓地埋葬法第9条／行旅病人及行旅死亡人取扱法により市区町村が埋火葬を実施。</a:t>
            </a:r>
          </a:p>
        </p:txBody>
      </p:sp>
      <p:sp>
        <p:nvSpPr>
          <p:cNvPr id="36" name="TextBox 35"/>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出典：法務省（民法873条の2）／墓地埋葬法／日本年金機構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現場の本丸 ④</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金銭管理支援の階層 ── つなぎ先の選び方</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15</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TextBox 8"/>
          <p:cNvSpPr txBox="1"/>
          <p:nvPr/>
        </p:nvSpPr>
        <p:spPr>
          <a:xfrm>
            <a:off x="731520" y="1700784"/>
            <a:ext cx="7498079" cy="365760"/>
          </a:xfrm>
          <a:prstGeom prst="rect">
            <a:avLst/>
          </a:prstGeom>
          <a:noFill/>
        </p:spPr>
        <p:txBody>
          <a:bodyPr wrap="square" anchor="t">
            <a:spAutoFit/>
          </a:bodyPr>
          <a:lstStyle/>
          <a:p>
            <a:pPr algn="l">
              <a:lnSpc>
                <a:spcPct val="115000"/>
              </a:lnSpc>
              <a:spcAft>
                <a:spcPts val="200"/>
              </a:spcAft>
            </a:pPr>
            <a:r>
              <a:rPr sz="1200" b="0" i="0">
                <a:solidFill>
                  <a:srgbClr val="262B33"/>
                </a:solidFill>
                <a:latin typeface="Meiryo"/>
                <a:ea typeface="Meiryo"/>
              </a:rPr>
              <a:t>判断能力の程度と「必要な法律行為の範囲」で支援先を選ぶ。上ほど軽度、下ほど重度。</a:t>
            </a:r>
          </a:p>
        </p:txBody>
      </p:sp>
      <p:sp>
        <p:nvSpPr>
          <p:cNvPr id="10" name="Rectangle 9"/>
          <p:cNvSpPr/>
          <p:nvPr/>
        </p:nvSpPr>
        <p:spPr>
          <a:xfrm>
            <a:off x="731520" y="2157984"/>
            <a:ext cx="384048" cy="3246120"/>
          </a:xfrm>
          <a:prstGeom prst="rect">
            <a:avLst/>
          </a:prstGeom>
          <a:solidFill>
            <a:srgbClr val="E0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203704"/>
            <a:ext cx="457200" cy="365760"/>
          </a:xfrm>
          <a:prstGeom prst="rect">
            <a:avLst/>
          </a:prstGeom>
          <a:noFill/>
        </p:spPr>
        <p:txBody>
          <a:bodyPr wrap="square" anchor="t">
            <a:spAutoFit/>
          </a:bodyPr>
          <a:lstStyle/>
          <a:p>
            <a:pPr algn="ctr">
              <a:lnSpc>
                <a:spcPct val="115000"/>
              </a:lnSpc>
              <a:spcAft>
                <a:spcPts val="200"/>
              </a:spcAft>
            </a:pPr>
            <a:r>
              <a:rPr sz="1100" b="1" i="0">
                <a:solidFill>
                  <a:srgbClr val="5C636E"/>
                </a:solidFill>
                <a:latin typeface="Meiryo"/>
                <a:ea typeface="Meiryo"/>
              </a:rPr>
              <a:t>軽</a:t>
            </a:r>
          </a:p>
        </p:txBody>
      </p:sp>
      <p:sp>
        <p:nvSpPr>
          <p:cNvPr id="12" name="TextBox 11"/>
          <p:cNvSpPr txBox="1"/>
          <p:nvPr/>
        </p:nvSpPr>
        <p:spPr>
          <a:xfrm>
            <a:off x="713232" y="5010912"/>
            <a:ext cx="457200" cy="365760"/>
          </a:xfrm>
          <a:prstGeom prst="rect">
            <a:avLst/>
          </a:prstGeom>
          <a:noFill/>
        </p:spPr>
        <p:txBody>
          <a:bodyPr wrap="square" anchor="t">
            <a:spAutoFit/>
          </a:bodyPr>
          <a:lstStyle/>
          <a:p>
            <a:pPr algn="ctr">
              <a:lnSpc>
                <a:spcPct val="115000"/>
              </a:lnSpc>
              <a:spcAft>
                <a:spcPts val="200"/>
              </a:spcAft>
            </a:pPr>
            <a:r>
              <a:rPr sz="1100" b="1" i="0">
                <a:solidFill>
                  <a:srgbClr val="5C636E"/>
                </a:solidFill>
                <a:latin typeface="Meiryo"/>
                <a:ea typeface="Meiryo"/>
              </a:rPr>
              <a:t>重</a:t>
            </a:r>
          </a:p>
        </p:txBody>
      </p:sp>
      <p:sp>
        <p:nvSpPr>
          <p:cNvPr id="13" name="TextBox 12"/>
          <p:cNvSpPr txBox="1"/>
          <p:nvPr/>
        </p:nvSpPr>
        <p:spPr>
          <a:xfrm>
            <a:off x="658368" y="3163824"/>
            <a:ext cx="548640" cy="914400"/>
          </a:xfrm>
          <a:prstGeom prst="rect">
            <a:avLst/>
          </a:prstGeom>
          <a:noFill/>
        </p:spPr>
        <p:txBody>
          <a:bodyPr wrap="square" anchor="t">
            <a:spAutoFit/>
          </a:bodyPr>
          <a:lstStyle/>
          <a:p>
            <a:pPr algn="ctr">
              <a:lnSpc>
                <a:spcPct val="100000"/>
              </a:lnSpc>
              <a:spcAft>
                <a:spcPts val="200"/>
              </a:spcAft>
            </a:pPr>
            <a:r>
              <a:rPr sz="950" b="1" i="0">
                <a:solidFill>
                  <a:srgbClr val="5C636E"/>
                </a:solidFill>
                <a:latin typeface="Meiryo"/>
                <a:ea typeface="Meiryo"/>
              </a:rPr>
              <a:t>判</a:t>
            </a:r>
          </a:p>
          <a:p>
            <a:pPr algn="ctr">
              <a:lnSpc>
                <a:spcPct val="100000"/>
              </a:lnSpc>
              <a:spcAft>
                <a:spcPts val="200"/>
              </a:spcAft>
            </a:pPr>
            <a:r>
              <a:rPr sz="950" b="1" i="0">
                <a:solidFill>
                  <a:srgbClr val="5C636E"/>
                </a:solidFill>
                <a:latin typeface="Meiryo"/>
                <a:ea typeface="Meiryo"/>
              </a:rPr>
              <a:t>断</a:t>
            </a:r>
          </a:p>
          <a:p>
            <a:pPr algn="ctr">
              <a:lnSpc>
                <a:spcPct val="100000"/>
              </a:lnSpc>
              <a:spcAft>
                <a:spcPts val="200"/>
              </a:spcAft>
            </a:pPr>
            <a:r>
              <a:rPr sz="950" b="1" i="0">
                <a:solidFill>
                  <a:srgbClr val="5C636E"/>
                </a:solidFill>
                <a:latin typeface="Meiryo"/>
                <a:ea typeface="Meiryo"/>
              </a:rPr>
              <a:t>力</a:t>
            </a:r>
          </a:p>
        </p:txBody>
      </p:sp>
      <p:sp>
        <p:nvSpPr>
          <p:cNvPr id="14" name="Rounded Rectangle 13"/>
          <p:cNvSpPr/>
          <p:nvPr/>
        </p:nvSpPr>
        <p:spPr>
          <a:xfrm>
            <a:off x="1325880" y="2157984"/>
            <a:ext cx="6949440" cy="603504"/>
          </a:xfrm>
          <a:prstGeom prst="roundRect">
            <a:avLst>
              <a:gd name="adj" fmla="val 5000"/>
            </a:avLst>
          </a:prstGeom>
          <a:solidFill>
            <a:srgbClr val="6EA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2185416"/>
            <a:ext cx="2468880" cy="548640"/>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見守り＋自己管理</a:t>
            </a:r>
          </a:p>
        </p:txBody>
      </p:sp>
      <p:sp>
        <p:nvSpPr>
          <p:cNvPr id="16" name="TextBox 15"/>
          <p:cNvSpPr txBox="1"/>
          <p:nvPr/>
        </p:nvSpPr>
        <p:spPr>
          <a:xfrm>
            <a:off x="4023360" y="2176272"/>
            <a:ext cx="4114800" cy="566928"/>
          </a:xfrm>
          <a:prstGeom prst="rect">
            <a:avLst/>
          </a:prstGeom>
          <a:noFill/>
        </p:spPr>
        <p:txBody>
          <a:bodyPr wrap="square" anchor="ctr">
            <a:spAutoFit/>
          </a:bodyPr>
          <a:lstStyle/>
          <a:p>
            <a:pPr algn="l">
              <a:lnSpc>
                <a:spcPct val="110000"/>
              </a:lnSpc>
              <a:spcAft>
                <a:spcPts val="200"/>
              </a:spcAft>
            </a:pPr>
            <a:r>
              <a:rPr sz="980" b="0" i="0">
                <a:solidFill>
                  <a:srgbClr val="FFFFFF"/>
                </a:solidFill>
                <a:latin typeface="Meiryo"/>
                <a:ea typeface="Meiryo"/>
              </a:rPr>
              <a:t>親族・地域・ケアチームによる見守り。本人が自分で管理できる段階。</a:t>
            </a:r>
          </a:p>
        </p:txBody>
      </p:sp>
      <p:sp>
        <p:nvSpPr>
          <p:cNvPr id="17" name="Rounded Rectangle 16"/>
          <p:cNvSpPr/>
          <p:nvPr/>
        </p:nvSpPr>
        <p:spPr>
          <a:xfrm>
            <a:off x="1325880" y="2807208"/>
            <a:ext cx="6949440" cy="603504"/>
          </a:xfrm>
          <a:prstGeom prst="roundRect">
            <a:avLst>
              <a:gd name="adj" fmla="val 5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2834640"/>
            <a:ext cx="2468880" cy="548640"/>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日常生活自立支援事業（社協）</a:t>
            </a:r>
          </a:p>
        </p:txBody>
      </p:sp>
      <p:sp>
        <p:nvSpPr>
          <p:cNvPr id="19" name="TextBox 18"/>
          <p:cNvSpPr txBox="1"/>
          <p:nvPr/>
        </p:nvSpPr>
        <p:spPr>
          <a:xfrm>
            <a:off x="4023360" y="2825496"/>
            <a:ext cx="4114800" cy="566928"/>
          </a:xfrm>
          <a:prstGeom prst="rect">
            <a:avLst/>
          </a:prstGeom>
          <a:noFill/>
        </p:spPr>
        <p:txBody>
          <a:bodyPr wrap="square" anchor="ctr">
            <a:spAutoFit/>
          </a:bodyPr>
          <a:lstStyle/>
          <a:p>
            <a:pPr algn="l">
              <a:lnSpc>
                <a:spcPct val="110000"/>
              </a:lnSpc>
              <a:spcAft>
                <a:spcPts val="200"/>
              </a:spcAft>
            </a:pPr>
            <a:r>
              <a:rPr sz="980" b="0" i="0">
                <a:solidFill>
                  <a:srgbClr val="FFFFFF"/>
                </a:solidFill>
                <a:latin typeface="Meiryo"/>
                <a:ea typeface="Meiryo"/>
              </a:rPr>
              <a:t>契約を理解できる力は必要。福祉サービス利用援助・日常的金銭管理・書類等預かりに限定。利用は有料。</a:t>
            </a:r>
          </a:p>
        </p:txBody>
      </p:sp>
      <p:sp>
        <p:nvSpPr>
          <p:cNvPr id="20" name="Rounded Rectangle 19"/>
          <p:cNvSpPr/>
          <p:nvPr/>
        </p:nvSpPr>
        <p:spPr>
          <a:xfrm>
            <a:off x="1325880" y="3456432"/>
            <a:ext cx="6949440" cy="603504"/>
          </a:xfrm>
          <a:prstGeom prst="roundRect">
            <a:avLst>
              <a:gd name="adj" fmla="val 5000"/>
            </a:avLst>
          </a:prstGeom>
          <a:solidFill>
            <a:srgbClr val="4A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483864"/>
            <a:ext cx="2468880" cy="548640"/>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補助</a:t>
            </a:r>
          </a:p>
        </p:txBody>
      </p:sp>
      <p:sp>
        <p:nvSpPr>
          <p:cNvPr id="22" name="TextBox 21"/>
          <p:cNvSpPr txBox="1"/>
          <p:nvPr/>
        </p:nvSpPr>
        <p:spPr>
          <a:xfrm>
            <a:off x="4023360" y="3474720"/>
            <a:ext cx="4114800" cy="566928"/>
          </a:xfrm>
          <a:prstGeom prst="rect">
            <a:avLst/>
          </a:prstGeom>
          <a:noFill/>
        </p:spPr>
        <p:txBody>
          <a:bodyPr wrap="square" anchor="ctr">
            <a:spAutoFit/>
          </a:bodyPr>
          <a:lstStyle/>
          <a:p>
            <a:pPr algn="l">
              <a:lnSpc>
                <a:spcPct val="110000"/>
              </a:lnSpc>
              <a:spcAft>
                <a:spcPts val="200"/>
              </a:spcAft>
            </a:pPr>
            <a:r>
              <a:rPr sz="980" b="0" i="0">
                <a:solidFill>
                  <a:srgbClr val="FFFFFF"/>
                </a:solidFill>
                <a:latin typeface="Meiryo"/>
                <a:ea typeface="Meiryo"/>
              </a:rPr>
              <a:t>判断能力が不十分。家裁が定める特定の行為のみ支援。</a:t>
            </a:r>
          </a:p>
        </p:txBody>
      </p:sp>
      <p:sp>
        <p:nvSpPr>
          <p:cNvPr id="23" name="Rounded Rectangle 22"/>
          <p:cNvSpPr/>
          <p:nvPr/>
        </p:nvSpPr>
        <p:spPr>
          <a:xfrm>
            <a:off x="1325880" y="4105656"/>
            <a:ext cx="6949440" cy="603504"/>
          </a:xfrm>
          <a:prstGeom prst="roundRect">
            <a:avLst>
              <a:gd name="adj" fmla="val 5000"/>
            </a:avLst>
          </a:prstGeom>
          <a:solidFill>
            <a:srgbClr val="3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4133088"/>
            <a:ext cx="2468880" cy="548640"/>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保佐</a:t>
            </a:r>
          </a:p>
        </p:txBody>
      </p:sp>
      <p:sp>
        <p:nvSpPr>
          <p:cNvPr id="25" name="TextBox 24"/>
          <p:cNvSpPr txBox="1"/>
          <p:nvPr/>
        </p:nvSpPr>
        <p:spPr>
          <a:xfrm>
            <a:off x="4023360" y="4123944"/>
            <a:ext cx="4114800" cy="566928"/>
          </a:xfrm>
          <a:prstGeom prst="rect">
            <a:avLst/>
          </a:prstGeom>
          <a:noFill/>
        </p:spPr>
        <p:txBody>
          <a:bodyPr wrap="square" anchor="ctr">
            <a:spAutoFit/>
          </a:bodyPr>
          <a:lstStyle/>
          <a:p>
            <a:pPr algn="l">
              <a:lnSpc>
                <a:spcPct val="110000"/>
              </a:lnSpc>
              <a:spcAft>
                <a:spcPts val="200"/>
              </a:spcAft>
            </a:pPr>
            <a:r>
              <a:rPr sz="980" b="0" i="0">
                <a:solidFill>
                  <a:srgbClr val="FFFFFF"/>
                </a:solidFill>
                <a:latin typeface="Meiryo"/>
                <a:ea typeface="Meiryo"/>
              </a:rPr>
              <a:t>判断能力が著しく不十分。重要な法律行為に同意・取消し。</a:t>
            </a:r>
          </a:p>
        </p:txBody>
      </p:sp>
      <p:sp>
        <p:nvSpPr>
          <p:cNvPr id="26" name="Rounded Rectangle 25"/>
          <p:cNvSpPr/>
          <p:nvPr/>
        </p:nvSpPr>
        <p:spPr>
          <a:xfrm>
            <a:off x="1325880" y="4754880"/>
            <a:ext cx="6949440" cy="603504"/>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63040" y="4782312"/>
            <a:ext cx="2468880" cy="548640"/>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後見</a:t>
            </a:r>
          </a:p>
        </p:txBody>
      </p:sp>
      <p:sp>
        <p:nvSpPr>
          <p:cNvPr id="28" name="TextBox 27"/>
          <p:cNvSpPr txBox="1"/>
          <p:nvPr/>
        </p:nvSpPr>
        <p:spPr>
          <a:xfrm>
            <a:off x="4023360" y="4773168"/>
            <a:ext cx="4114800" cy="566928"/>
          </a:xfrm>
          <a:prstGeom prst="rect">
            <a:avLst/>
          </a:prstGeom>
          <a:noFill/>
        </p:spPr>
        <p:txBody>
          <a:bodyPr wrap="square" anchor="ctr">
            <a:spAutoFit/>
          </a:bodyPr>
          <a:lstStyle/>
          <a:p>
            <a:pPr algn="l">
              <a:lnSpc>
                <a:spcPct val="110000"/>
              </a:lnSpc>
              <a:spcAft>
                <a:spcPts val="200"/>
              </a:spcAft>
            </a:pPr>
            <a:r>
              <a:rPr sz="980" b="0" i="0">
                <a:solidFill>
                  <a:srgbClr val="FFFFFF"/>
                </a:solidFill>
                <a:latin typeface="Meiryo"/>
                <a:ea typeface="Meiryo"/>
              </a:rPr>
              <a:t>判断能力を欠くのが通常。財産に関する包括的な支援。</a:t>
            </a:r>
          </a:p>
        </p:txBody>
      </p:sp>
      <p:sp>
        <p:nvSpPr>
          <p:cNvPr id="29" name="Rectangle 28"/>
          <p:cNvSpPr/>
          <p:nvPr/>
        </p:nvSpPr>
        <p:spPr>
          <a:xfrm>
            <a:off x="8503920" y="1700784"/>
            <a:ext cx="2953512" cy="4572000"/>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13648" y="1746504"/>
            <a:ext cx="1828800" cy="274320"/>
          </a:xfrm>
          <a:prstGeom prst="rect">
            <a:avLst/>
          </a:prstGeom>
          <a:noFill/>
        </p:spPr>
        <p:txBody>
          <a:bodyPr wrap="square" anchor="t">
            <a:spAutoFit/>
          </a:bodyPr>
          <a:lstStyle/>
          <a:p>
            <a:pPr algn="l">
              <a:lnSpc>
                <a:spcPct val="115000"/>
              </a:lnSpc>
              <a:spcAft>
                <a:spcPts val="200"/>
              </a:spcAft>
            </a:pPr>
            <a:r>
              <a:rPr sz="1000" b="1" i="0">
                <a:solidFill>
                  <a:srgbClr val="9A863A"/>
                </a:solidFill>
                <a:latin typeface="Meiryo"/>
                <a:ea typeface="Meiryo"/>
              </a:rPr>
              <a:t>✎ 選定の判断メモ</a:t>
            </a:r>
          </a:p>
        </p:txBody>
      </p:sp>
      <p:sp>
        <p:nvSpPr>
          <p:cNvPr id="31" name="Rectangle 30"/>
          <p:cNvSpPr/>
          <p:nvPr/>
        </p:nvSpPr>
        <p:spPr>
          <a:xfrm>
            <a:off x="8641080" y="2176272"/>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41080" y="2560320"/>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41080" y="2944368"/>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41080" y="3328416"/>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41080" y="3712464"/>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41080" y="4096512"/>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41080" y="4480560"/>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641080" y="4864608"/>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41080" y="5248656"/>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41080" y="5632704"/>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41080" y="6016752"/>
            <a:ext cx="267919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予習ポイント：日常生活自立支援事業と成年後見は対立でなく段階。移行のタイミングが論点（→質問P19）。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現場の本丸 ⑤</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市町村長申立て ── 要件と中央区での運用</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16</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ounded Rectangle 8"/>
          <p:cNvSpPr/>
          <p:nvPr/>
        </p:nvSpPr>
        <p:spPr>
          <a:xfrm>
            <a:off x="731520" y="1700784"/>
            <a:ext cx="5257800" cy="224028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00784"/>
            <a:ext cx="5257800" cy="420624"/>
          </a:xfrm>
          <a:prstGeom prst="roundRect">
            <a:avLst>
              <a:gd name="adj" fmla="val 4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975104"/>
            <a:ext cx="5257800" cy="1463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1700784"/>
            <a:ext cx="503834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法的根拠と要件</a:t>
            </a:r>
          </a:p>
        </p:txBody>
      </p:sp>
      <p:sp>
        <p:nvSpPr>
          <p:cNvPr id="13" name="TextBox 12"/>
          <p:cNvSpPr txBox="1"/>
          <p:nvPr/>
        </p:nvSpPr>
        <p:spPr>
          <a:xfrm>
            <a:off x="877824" y="2231136"/>
            <a:ext cx="4983480" cy="1600200"/>
          </a:xfrm>
          <a:prstGeom prst="rect">
            <a:avLst/>
          </a:prstGeom>
          <a:noFill/>
        </p:spPr>
        <p:txBody>
          <a:bodyPr wrap="square" anchor="t">
            <a:spAutoFit/>
          </a:bodyPr>
          <a:lstStyle/>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根拠：老人福祉法 第32条</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（知的障害者・精神障害者にも同様規定）</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本人・親族が申立てできず、本人の福祉のため</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特に必要な場合に市町村長が申立て</a:t>
            </a:r>
          </a:p>
          <a:p>
            <a:pPr algn="l">
              <a:lnSpc>
                <a:spcPct val="120000"/>
              </a:lnSpc>
              <a:spcAft>
                <a:spcPts val="400"/>
              </a:spcAft>
            </a:pPr>
            <a:r>
              <a:rPr sz="1100" b="1" i="0">
                <a:solidFill>
                  <a:srgbClr val="1F3A5F"/>
                </a:solidFill>
                <a:latin typeface="Meiryo"/>
                <a:ea typeface="Meiryo"/>
              </a:rPr>
              <a:t>• </a:t>
            </a:r>
            <a:r>
              <a:rPr sz="1100" b="0" i="0">
                <a:solidFill>
                  <a:srgbClr val="262B33"/>
                </a:solidFill>
                <a:latin typeface="Meiryo"/>
                <a:ea typeface="Meiryo"/>
              </a:rPr>
              <a:t>運用：まず2親等内の親族の有無を確認</a:t>
            </a:r>
          </a:p>
        </p:txBody>
      </p:sp>
      <p:sp>
        <p:nvSpPr>
          <p:cNvPr id="14" name="Rounded Rectangle 13"/>
          <p:cNvSpPr/>
          <p:nvPr/>
        </p:nvSpPr>
        <p:spPr>
          <a:xfrm>
            <a:off x="6199632" y="1700784"/>
            <a:ext cx="5257800" cy="2240280"/>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99632" y="1700784"/>
            <a:ext cx="5257800" cy="420624"/>
          </a:xfrm>
          <a:prstGeom prst="roundRect">
            <a:avLst>
              <a:gd name="adj" fmla="val 4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975104"/>
            <a:ext cx="5257800" cy="14630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8" y="1700784"/>
            <a:ext cx="5038344" cy="420624"/>
          </a:xfrm>
          <a:prstGeom prst="rect">
            <a:avLst/>
          </a:prstGeom>
          <a:noFill/>
        </p:spPr>
        <p:txBody>
          <a:bodyPr wrap="square" anchor="ctr">
            <a:spAutoFit/>
          </a:bodyPr>
          <a:lstStyle/>
          <a:p>
            <a:pPr algn="l">
              <a:lnSpc>
                <a:spcPct val="115000"/>
              </a:lnSpc>
              <a:spcAft>
                <a:spcPts val="200"/>
              </a:spcAft>
            </a:pPr>
            <a:r>
              <a:rPr sz="1400" b="1" i="0">
                <a:solidFill>
                  <a:srgbClr val="FFFFFF"/>
                </a:solidFill>
                <a:latin typeface="Meiryo"/>
                <a:ea typeface="Meiryo"/>
              </a:rPr>
              <a:t>件数と支援</a:t>
            </a:r>
          </a:p>
        </p:txBody>
      </p:sp>
      <p:sp>
        <p:nvSpPr>
          <p:cNvPr id="18" name="TextBox 17"/>
          <p:cNvSpPr txBox="1"/>
          <p:nvPr/>
        </p:nvSpPr>
        <p:spPr>
          <a:xfrm>
            <a:off x="6345936" y="2231136"/>
            <a:ext cx="4983480" cy="1600200"/>
          </a:xfrm>
          <a:prstGeom prst="rect">
            <a:avLst/>
          </a:prstGeom>
          <a:noFill/>
        </p:spPr>
        <p:txBody>
          <a:bodyPr wrap="square" anchor="t">
            <a:spAutoFit/>
          </a:bodyPr>
          <a:lstStyle/>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市区町村長申立て：令和6年 約1.0万件</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申立人別では最多（全体の約24%）</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背景に身寄りなし高齢者の増加</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成年後見制度利用支援事業：</a:t>
            </a:r>
          </a:p>
          <a:p>
            <a:pPr algn="l">
              <a:lnSpc>
                <a:spcPct val="120000"/>
              </a:lnSpc>
              <a:spcAft>
                <a:spcPts val="400"/>
              </a:spcAft>
            </a:pPr>
            <a:r>
              <a:rPr sz="1100" b="1" i="0">
                <a:solidFill>
                  <a:srgbClr val="2E8B8B"/>
                </a:solidFill>
                <a:latin typeface="Meiryo"/>
                <a:ea typeface="Meiryo"/>
              </a:rPr>
              <a:t>• </a:t>
            </a:r>
            <a:r>
              <a:rPr sz="1100" b="0" i="0">
                <a:solidFill>
                  <a:srgbClr val="262B33"/>
                </a:solidFill>
                <a:latin typeface="Meiryo"/>
                <a:ea typeface="Meiryo"/>
              </a:rPr>
              <a:t>申立費用・後見人報酬を助成（要件は自治体ごと）</a:t>
            </a:r>
          </a:p>
        </p:txBody>
      </p:sp>
      <p:sp>
        <p:nvSpPr>
          <p:cNvPr id="19" name="Rounded Rectangle 18"/>
          <p:cNvSpPr/>
          <p:nvPr/>
        </p:nvSpPr>
        <p:spPr>
          <a:xfrm>
            <a:off x="731520" y="4123944"/>
            <a:ext cx="10725912" cy="1417320"/>
          </a:xfrm>
          <a:prstGeom prst="roundRect">
            <a:avLst>
              <a:gd name="adj" fmla="val 5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197096"/>
            <a:ext cx="10332720" cy="274320"/>
          </a:xfrm>
          <a:prstGeom prst="rect">
            <a:avLst/>
          </a:prstGeom>
          <a:noFill/>
        </p:spPr>
        <p:txBody>
          <a:bodyPr wrap="square" anchor="t">
            <a:spAutoFit/>
          </a:bodyPr>
          <a:lstStyle/>
          <a:p>
            <a:pPr algn="l">
              <a:lnSpc>
                <a:spcPct val="115000"/>
              </a:lnSpc>
              <a:spcAft>
                <a:spcPts val="200"/>
              </a:spcAft>
            </a:pPr>
            <a:r>
              <a:rPr sz="1250" b="1" i="0">
                <a:solidFill>
                  <a:srgbClr val="1F3A5F"/>
                </a:solidFill>
                <a:latin typeface="Meiryo"/>
                <a:ea typeface="Meiryo"/>
              </a:rPr>
              <a:t>◆ 中央区での運用（窓口の整理／詳細は当日・公式サイトで要確認）</a:t>
            </a:r>
          </a:p>
        </p:txBody>
      </p:sp>
      <p:sp>
        <p:nvSpPr>
          <p:cNvPr id="21" name="TextBox 20"/>
          <p:cNvSpPr txBox="1"/>
          <p:nvPr/>
        </p:nvSpPr>
        <p:spPr>
          <a:xfrm>
            <a:off x="914400" y="4507992"/>
            <a:ext cx="10332720" cy="960120"/>
          </a:xfrm>
          <a:prstGeom prst="rect">
            <a:avLst/>
          </a:prstGeom>
          <a:noFill/>
        </p:spPr>
        <p:txBody>
          <a:bodyPr wrap="square" anchor="t">
            <a:spAutoFit/>
          </a:bodyPr>
          <a:lstStyle/>
          <a:p>
            <a:pPr algn="l">
              <a:lnSpc>
                <a:spcPct val="130000"/>
              </a:lnSpc>
              <a:spcAft>
                <a:spcPts val="200"/>
              </a:spcAft>
            </a:pPr>
            <a:r>
              <a:rPr sz="1150" b="0" i="0">
                <a:solidFill>
                  <a:srgbClr val="262B33"/>
                </a:solidFill>
                <a:latin typeface="Meiryo"/>
                <a:ea typeface="Meiryo"/>
              </a:rPr>
              <a:t>・ 区長申立ての担当：中央区 福祉保健部 高齢者福祉課</a:t>
            </a:r>
          </a:p>
          <a:p>
            <a:pPr algn="l">
              <a:lnSpc>
                <a:spcPct val="130000"/>
              </a:lnSpc>
              <a:spcAft>
                <a:spcPts val="200"/>
              </a:spcAft>
            </a:pPr>
            <a:r>
              <a:rPr sz="1150" b="0" i="0">
                <a:solidFill>
                  <a:srgbClr val="262B33"/>
                </a:solidFill>
                <a:latin typeface="Meiryo"/>
                <a:ea typeface="Meiryo"/>
              </a:rPr>
              <a:t>・ 入口の相談：おとしより相談センター（地域包括）／成年後見支援センター「すてっぷ中央」(中央区社協)</a:t>
            </a:r>
          </a:p>
          <a:p>
            <a:pPr algn="l">
              <a:lnSpc>
                <a:spcPct val="130000"/>
              </a:lnSpc>
              <a:spcAft>
                <a:spcPts val="200"/>
              </a:spcAft>
            </a:pPr>
            <a:r>
              <a:rPr sz="1150" b="0" i="0">
                <a:solidFill>
                  <a:srgbClr val="262B33"/>
                </a:solidFill>
                <a:latin typeface="Meiryo"/>
                <a:ea typeface="Meiryo"/>
              </a:rPr>
              <a:t>・ 利用支援事業による費用・報酬助成あり（対象要件は区へ確認）</a:t>
            </a:r>
          </a:p>
        </p:txBody>
      </p:sp>
      <p:sp>
        <p:nvSpPr>
          <p:cNvPr id="22" name="TextBox 21"/>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出典：老人福祉法／最高裁概況（件数は要確認）／中央区公式・中央区社協（窓口は公式サイトで要確認）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連携実務 ①</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法律専門職との連携フロー ── 誰に、何を相談する？</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17</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ounded Rectangle 8"/>
          <p:cNvSpPr/>
          <p:nvPr/>
        </p:nvSpPr>
        <p:spPr>
          <a:xfrm>
            <a:off x="731520" y="1700784"/>
            <a:ext cx="2560320" cy="64008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00784"/>
            <a:ext cx="2560320" cy="640080"/>
          </a:xfrm>
          <a:prstGeom prst="rect">
            <a:avLst/>
          </a:prstGeom>
          <a:noFill/>
        </p:spPr>
        <p:txBody>
          <a:bodyPr wrap="square" anchor="ctr">
            <a:spAutoFit/>
          </a:bodyPr>
          <a:lstStyle/>
          <a:p>
            <a:pPr algn="ctr">
              <a:lnSpc>
                <a:spcPct val="115000"/>
              </a:lnSpc>
              <a:spcAft>
                <a:spcPts val="200"/>
              </a:spcAft>
            </a:pPr>
            <a:r>
              <a:rPr sz="1250" b="1" i="0">
                <a:solidFill>
                  <a:srgbClr val="FFFFFF"/>
                </a:solidFill>
                <a:latin typeface="Meiryo"/>
                <a:ea typeface="Meiryo"/>
              </a:rPr>
              <a:t>ケアマネジャー</a:t>
            </a:r>
          </a:p>
        </p:txBody>
      </p:sp>
      <p:sp>
        <p:nvSpPr>
          <p:cNvPr id="11" name="TextBox 10"/>
          <p:cNvSpPr txBox="1"/>
          <p:nvPr/>
        </p:nvSpPr>
        <p:spPr>
          <a:xfrm>
            <a:off x="3291840" y="1700784"/>
            <a:ext cx="457200" cy="640080"/>
          </a:xfrm>
          <a:prstGeom prst="rect">
            <a:avLst/>
          </a:prstGeom>
          <a:noFill/>
        </p:spPr>
        <p:txBody>
          <a:bodyPr wrap="square" anchor="ctr">
            <a:spAutoFit/>
          </a:bodyPr>
          <a:lstStyle/>
          <a:p>
            <a:pPr algn="ctr">
              <a:lnSpc>
                <a:spcPct val="115000"/>
              </a:lnSpc>
              <a:spcAft>
                <a:spcPts val="200"/>
              </a:spcAft>
            </a:pPr>
            <a:r>
              <a:rPr sz="1500" b="1" i="0">
                <a:solidFill>
                  <a:srgbClr val="C99A3A"/>
                </a:solidFill>
                <a:latin typeface="Meiryo"/>
                <a:ea typeface="Meiryo"/>
              </a:rPr>
              <a:t>▶</a:t>
            </a:r>
          </a:p>
        </p:txBody>
      </p:sp>
      <p:sp>
        <p:nvSpPr>
          <p:cNvPr id="12" name="Rounded Rectangle 11"/>
          <p:cNvSpPr/>
          <p:nvPr/>
        </p:nvSpPr>
        <p:spPr>
          <a:xfrm>
            <a:off x="3794760" y="1700784"/>
            <a:ext cx="3931920" cy="640080"/>
          </a:xfrm>
          <a:prstGeom prst="roundRect">
            <a:avLst>
              <a:gd name="adj" fmla="val 8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4760" y="1700784"/>
            <a:ext cx="3931920" cy="640080"/>
          </a:xfrm>
          <a:prstGeom prst="rect">
            <a:avLst/>
          </a:prstGeom>
          <a:noFill/>
        </p:spPr>
        <p:txBody>
          <a:bodyPr wrap="square" anchor="ctr">
            <a:spAutoFit/>
          </a:bodyPr>
          <a:lstStyle/>
          <a:p>
            <a:pPr algn="ctr">
              <a:lnSpc>
                <a:spcPct val="105000"/>
              </a:lnSpc>
              <a:spcAft>
                <a:spcPts val="200"/>
              </a:spcAft>
            </a:pPr>
            <a:r>
              <a:rPr sz="1150" b="1" i="0">
                <a:solidFill>
                  <a:srgbClr val="FFFFFF"/>
                </a:solidFill>
                <a:latin typeface="Meiryo"/>
                <a:ea typeface="Meiryo"/>
              </a:rPr>
              <a:t>地域の入口窓口</a:t>
            </a:r>
          </a:p>
          <a:p>
            <a:pPr algn="ctr">
              <a:lnSpc>
                <a:spcPct val="105000"/>
              </a:lnSpc>
              <a:spcAft>
                <a:spcPts val="200"/>
              </a:spcAft>
            </a:pPr>
            <a:r>
              <a:rPr sz="950" b="0" i="0">
                <a:solidFill>
                  <a:srgbClr val="FFFFFF"/>
                </a:solidFill>
                <a:latin typeface="Meiryo"/>
                <a:ea typeface="Meiryo"/>
              </a:rPr>
              <a:t>おとしより相談センター／すてっぷ中央</a:t>
            </a:r>
          </a:p>
        </p:txBody>
      </p:sp>
      <p:sp>
        <p:nvSpPr>
          <p:cNvPr id="14" name="TextBox 13"/>
          <p:cNvSpPr txBox="1"/>
          <p:nvPr/>
        </p:nvSpPr>
        <p:spPr>
          <a:xfrm>
            <a:off x="7726679" y="1700784"/>
            <a:ext cx="457200" cy="640080"/>
          </a:xfrm>
          <a:prstGeom prst="rect">
            <a:avLst/>
          </a:prstGeom>
          <a:noFill/>
        </p:spPr>
        <p:txBody>
          <a:bodyPr wrap="square" anchor="ctr">
            <a:spAutoFit/>
          </a:bodyPr>
          <a:lstStyle/>
          <a:p>
            <a:pPr algn="ctr">
              <a:lnSpc>
                <a:spcPct val="115000"/>
              </a:lnSpc>
              <a:spcAft>
                <a:spcPts val="200"/>
              </a:spcAft>
            </a:pPr>
            <a:r>
              <a:rPr sz="1500" b="1" i="0">
                <a:solidFill>
                  <a:srgbClr val="C99A3A"/>
                </a:solidFill>
                <a:latin typeface="Meiryo"/>
                <a:ea typeface="Meiryo"/>
              </a:rPr>
              <a:t>▶</a:t>
            </a:r>
          </a:p>
        </p:txBody>
      </p:sp>
      <p:sp>
        <p:nvSpPr>
          <p:cNvPr id="15" name="Rounded Rectangle 14"/>
          <p:cNvSpPr/>
          <p:nvPr/>
        </p:nvSpPr>
        <p:spPr>
          <a:xfrm>
            <a:off x="8229600" y="1700784"/>
            <a:ext cx="3227832" cy="64008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700784"/>
            <a:ext cx="3227832" cy="640080"/>
          </a:xfrm>
          <a:prstGeom prst="rect">
            <a:avLst/>
          </a:prstGeom>
          <a:noFill/>
        </p:spPr>
        <p:txBody>
          <a:bodyPr wrap="square" anchor="ctr">
            <a:spAutoFit/>
          </a:bodyPr>
          <a:lstStyle/>
          <a:p>
            <a:pPr algn="ctr">
              <a:lnSpc>
                <a:spcPct val="115000"/>
              </a:lnSpc>
              <a:spcAft>
                <a:spcPts val="200"/>
              </a:spcAft>
            </a:pPr>
            <a:r>
              <a:rPr sz="1100" b="1" i="0">
                <a:solidFill>
                  <a:srgbClr val="FFFFFF"/>
                </a:solidFill>
                <a:latin typeface="Meiryo"/>
                <a:ea typeface="Meiryo"/>
              </a:rPr>
              <a:t>法律専門職・専門職団体へ</a:t>
            </a:r>
          </a:p>
        </p:txBody>
      </p:sp>
      <p:sp>
        <p:nvSpPr>
          <p:cNvPr id="17" name="Rounded Rectangle 16"/>
          <p:cNvSpPr/>
          <p:nvPr/>
        </p:nvSpPr>
        <p:spPr>
          <a:xfrm>
            <a:off x="731520" y="2569464"/>
            <a:ext cx="3456432" cy="2331720"/>
          </a:xfrm>
          <a:prstGeom prst="roundRect">
            <a:avLst>
              <a:gd name="adj" fmla="val 5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2569464"/>
            <a:ext cx="3456432" cy="566928"/>
          </a:xfrm>
          <a:prstGeom prst="roundRect">
            <a:avLst>
              <a:gd name="adj" fmla="val 5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935224"/>
            <a:ext cx="3456432" cy="20116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87752"/>
            <a:ext cx="3456432" cy="365760"/>
          </a:xfrm>
          <a:prstGeom prst="rect">
            <a:avLst/>
          </a:prstGeom>
          <a:noFill/>
        </p:spPr>
        <p:txBody>
          <a:bodyPr wrap="square" anchor="ctr">
            <a:spAutoFit/>
          </a:bodyPr>
          <a:lstStyle/>
          <a:p>
            <a:pPr algn="ctr">
              <a:lnSpc>
                <a:spcPct val="115000"/>
              </a:lnSpc>
              <a:spcAft>
                <a:spcPts val="200"/>
              </a:spcAft>
            </a:pPr>
            <a:r>
              <a:rPr sz="1400" b="1" i="0">
                <a:solidFill>
                  <a:srgbClr val="FFFFFF"/>
                </a:solidFill>
                <a:latin typeface="Meiryo"/>
                <a:ea typeface="Meiryo"/>
              </a:rPr>
              <a:t>司法書士</a:t>
            </a:r>
          </a:p>
        </p:txBody>
      </p:sp>
      <p:sp>
        <p:nvSpPr>
          <p:cNvPr id="21" name="TextBox 20"/>
          <p:cNvSpPr txBox="1"/>
          <p:nvPr/>
        </p:nvSpPr>
        <p:spPr>
          <a:xfrm>
            <a:off x="731520" y="2898648"/>
            <a:ext cx="3456432" cy="237744"/>
          </a:xfrm>
          <a:prstGeom prst="rect">
            <a:avLst/>
          </a:prstGeom>
          <a:noFill/>
        </p:spPr>
        <p:txBody>
          <a:bodyPr wrap="square" anchor="ctr">
            <a:spAutoFit/>
          </a:bodyPr>
          <a:lstStyle/>
          <a:p>
            <a:pPr algn="ctr">
              <a:lnSpc>
                <a:spcPct val="115000"/>
              </a:lnSpc>
              <a:spcAft>
                <a:spcPts val="200"/>
              </a:spcAft>
            </a:pPr>
            <a:r>
              <a:rPr sz="950" b="0" i="0">
                <a:solidFill>
                  <a:srgbClr val="FFFFFF"/>
                </a:solidFill>
                <a:latin typeface="Meiryo"/>
                <a:ea typeface="Meiryo"/>
              </a:rPr>
              <a:t>リーガルサポート</a:t>
            </a:r>
          </a:p>
        </p:txBody>
      </p:sp>
      <p:sp>
        <p:nvSpPr>
          <p:cNvPr id="22" name="TextBox 21"/>
          <p:cNvSpPr txBox="1"/>
          <p:nvPr/>
        </p:nvSpPr>
        <p:spPr>
          <a:xfrm>
            <a:off x="877824" y="3264408"/>
            <a:ext cx="3182112" cy="1554480"/>
          </a:xfrm>
          <a:prstGeom prst="rect">
            <a:avLst/>
          </a:prstGeom>
          <a:noFill/>
        </p:spPr>
        <p:txBody>
          <a:bodyPr wrap="square" anchor="t">
            <a:spAutoFit/>
          </a:bodyPr>
          <a:lstStyle/>
          <a:p>
            <a:pPr algn="l">
              <a:lnSpc>
                <a:spcPct val="125000"/>
              </a:lnSpc>
              <a:spcAft>
                <a:spcPts val="400"/>
              </a:spcAft>
            </a:pPr>
            <a:r>
              <a:rPr sz="1050" b="1" i="0">
                <a:solidFill>
                  <a:srgbClr val="2E8B8B"/>
                </a:solidFill>
                <a:latin typeface="Meiryo"/>
                <a:ea typeface="Meiryo"/>
              </a:rPr>
              <a:t>• </a:t>
            </a:r>
            <a:r>
              <a:rPr sz="1050" b="0" i="0">
                <a:solidFill>
                  <a:srgbClr val="262B33"/>
                </a:solidFill>
                <a:latin typeface="Meiryo"/>
                <a:ea typeface="Meiryo"/>
              </a:rPr>
              <a:t>財産管理・登記・契約手続が中心</a:t>
            </a:r>
          </a:p>
          <a:p>
            <a:pPr algn="l">
              <a:lnSpc>
                <a:spcPct val="125000"/>
              </a:lnSpc>
              <a:spcAft>
                <a:spcPts val="400"/>
              </a:spcAft>
            </a:pPr>
            <a:r>
              <a:rPr sz="1050" b="1" i="0">
                <a:solidFill>
                  <a:srgbClr val="2E8B8B"/>
                </a:solidFill>
                <a:latin typeface="Meiryo"/>
                <a:ea typeface="Meiryo"/>
              </a:rPr>
              <a:t>• </a:t>
            </a:r>
            <a:r>
              <a:rPr sz="1050" b="0" i="0">
                <a:solidFill>
                  <a:srgbClr val="262B33"/>
                </a:solidFill>
                <a:latin typeface="Meiryo"/>
                <a:ea typeface="Meiryo"/>
              </a:rPr>
              <a:t>第三者後見人として選任が最多</a:t>
            </a:r>
          </a:p>
          <a:p>
            <a:pPr algn="l">
              <a:lnSpc>
                <a:spcPct val="125000"/>
              </a:lnSpc>
              <a:spcAft>
                <a:spcPts val="400"/>
              </a:spcAft>
            </a:pPr>
            <a:r>
              <a:rPr sz="1050" b="1" i="0">
                <a:solidFill>
                  <a:srgbClr val="2E8B8B"/>
                </a:solidFill>
                <a:latin typeface="Meiryo"/>
                <a:ea typeface="Meiryo"/>
              </a:rPr>
              <a:t>• </a:t>
            </a:r>
            <a:r>
              <a:rPr sz="1050" b="0" i="0">
                <a:solidFill>
                  <a:srgbClr val="262B33"/>
                </a:solidFill>
                <a:latin typeface="Meiryo"/>
                <a:ea typeface="Meiryo"/>
              </a:rPr>
              <a:t>後見人候補者の推薦窓口あり</a:t>
            </a:r>
          </a:p>
        </p:txBody>
      </p:sp>
      <p:sp>
        <p:nvSpPr>
          <p:cNvPr id="23" name="Rounded Rectangle 22"/>
          <p:cNvSpPr/>
          <p:nvPr/>
        </p:nvSpPr>
        <p:spPr>
          <a:xfrm>
            <a:off x="4370832" y="2569464"/>
            <a:ext cx="3456432" cy="2331720"/>
          </a:xfrm>
          <a:prstGeom prst="roundRect">
            <a:avLst>
              <a:gd name="adj" fmla="val 5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70832" y="2569464"/>
            <a:ext cx="3456432" cy="566928"/>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70832" y="2935224"/>
            <a:ext cx="3456432"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70832" y="2587752"/>
            <a:ext cx="3456432" cy="365760"/>
          </a:xfrm>
          <a:prstGeom prst="rect">
            <a:avLst/>
          </a:prstGeom>
          <a:noFill/>
        </p:spPr>
        <p:txBody>
          <a:bodyPr wrap="square" anchor="ctr">
            <a:spAutoFit/>
          </a:bodyPr>
          <a:lstStyle/>
          <a:p>
            <a:pPr algn="ctr">
              <a:lnSpc>
                <a:spcPct val="115000"/>
              </a:lnSpc>
              <a:spcAft>
                <a:spcPts val="200"/>
              </a:spcAft>
            </a:pPr>
            <a:r>
              <a:rPr sz="1400" b="1" i="0">
                <a:solidFill>
                  <a:srgbClr val="FFFFFF"/>
                </a:solidFill>
                <a:latin typeface="Meiryo"/>
                <a:ea typeface="Meiryo"/>
              </a:rPr>
              <a:t>弁護士</a:t>
            </a:r>
          </a:p>
        </p:txBody>
      </p:sp>
      <p:sp>
        <p:nvSpPr>
          <p:cNvPr id="27" name="TextBox 26"/>
          <p:cNvSpPr txBox="1"/>
          <p:nvPr/>
        </p:nvSpPr>
        <p:spPr>
          <a:xfrm>
            <a:off x="4370832" y="2898648"/>
            <a:ext cx="3456432" cy="237744"/>
          </a:xfrm>
          <a:prstGeom prst="rect">
            <a:avLst/>
          </a:prstGeom>
          <a:noFill/>
        </p:spPr>
        <p:txBody>
          <a:bodyPr wrap="square" anchor="ctr">
            <a:spAutoFit/>
          </a:bodyPr>
          <a:lstStyle/>
          <a:p>
            <a:pPr algn="ctr">
              <a:lnSpc>
                <a:spcPct val="115000"/>
              </a:lnSpc>
              <a:spcAft>
                <a:spcPts val="200"/>
              </a:spcAft>
            </a:pPr>
            <a:r>
              <a:rPr sz="950" b="0" i="0">
                <a:solidFill>
                  <a:srgbClr val="FFFFFF"/>
                </a:solidFill>
                <a:latin typeface="Meiryo"/>
                <a:ea typeface="Meiryo"/>
              </a:rPr>
              <a:t>日弁連／法テラス</a:t>
            </a:r>
          </a:p>
        </p:txBody>
      </p:sp>
      <p:sp>
        <p:nvSpPr>
          <p:cNvPr id="28" name="TextBox 27"/>
          <p:cNvSpPr txBox="1"/>
          <p:nvPr/>
        </p:nvSpPr>
        <p:spPr>
          <a:xfrm>
            <a:off x="4517136" y="3264408"/>
            <a:ext cx="3182112" cy="1554480"/>
          </a:xfrm>
          <a:prstGeom prst="rect">
            <a:avLst/>
          </a:prstGeom>
          <a:noFill/>
        </p:spPr>
        <p:txBody>
          <a:bodyPr wrap="square" anchor="t">
            <a:spAutoFit/>
          </a:bodyPr>
          <a:lstStyle/>
          <a:p>
            <a:pPr algn="l">
              <a:lnSpc>
                <a:spcPct val="125000"/>
              </a:lnSpc>
              <a:spcAft>
                <a:spcPts val="400"/>
              </a:spcAft>
            </a:pPr>
            <a:r>
              <a:rPr sz="1050" b="1" i="0">
                <a:solidFill>
                  <a:srgbClr val="1F3A5F"/>
                </a:solidFill>
                <a:latin typeface="Meiryo"/>
                <a:ea typeface="Meiryo"/>
              </a:rPr>
              <a:t>• </a:t>
            </a:r>
            <a:r>
              <a:rPr sz="1050" b="0" i="0">
                <a:solidFill>
                  <a:srgbClr val="262B33"/>
                </a:solidFill>
                <a:latin typeface="Meiryo"/>
                <a:ea typeface="Meiryo"/>
              </a:rPr>
              <a:t>紛争性の高い案件に強い</a:t>
            </a:r>
          </a:p>
          <a:p>
            <a:pPr algn="l">
              <a:lnSpc>
                <a:spcPct val="125000"/>
              </a:lnSpc>
              <a:spcAft>
                <a:spcPts val="400"/>
              </a:spcAft>
            </a:pPr>
            <a:r>
              <a:rPr sz="1050" b="1" i="0">
                <a:solidFill>
                  <a:srgbClr val="1F3A5F"/>
                </a:solidFill>
                <a:latin typeface="Meiryo"/>
                <a:ea typeface="Meiryo"/>
              </a:rPr>
              <a:t>• </a:t>
            </a:r>
            <a:r>
              <a:rPr sz="1050" b="0" i="0">
                <a:solidFill>
                  <a:srgbClr val="262B33"/>
                </a:solidFill>
                <a:latin typeface="Meiryo"/>
                <a:ea typeface="Meiryo"/>
              </a:rPr>
              <a:t>相続争い・虐待・財産被害・訴訟</a:t>
            </a:r>
          </a:p>
          <a:p>
            <a:pPr algn="l">
              <a:lnSpc>
                <a:spcPct val="125000"/>
              </a:lnSpc>
              <a:spcAft>
                <a:spcPts val="400"/>
              </a:spcAft>
            </a:pPr>
            <a:r>
              <a:rPr sz="1050" b="1" i="0">
                <a:solidFill>
                  <a:srgbClr val="1F3A5F"/>
                </a:solidFill>
                <a:latin typeface="Meiryo"/>
                <a:ea typeface="Meiryo"/>
              </a:rPr>
              <a:t>• </a:t>
            </a:r>
            <a:r>
              <a:rPr sz="1050" b="0" i="0">
                <a:solidFill>
                  <a:srgbClr val="262B33"/>
                </a:solidFill>
                <a:latin typeface="Meiryo"/>
                <a:ea typeface="Meiryo"/>
              </a:rPr>
              <a:t>低所得者は法テラスの援助</a:t>
            </a:r>
          </a:p>
        </p:txBody>
      </p:sp>
      <p:sp>
        <p:nvSpPr>
          <p:cNvPr id="29" name="Rounded Rectangle 28"/>
          <p:cNvSpPr/>
          <p:nvPr/>
        </p:nvSpPr>
        <p:spPr>
          <a:xfrm>
            <a:off x="8010144" y="2569464"/>
            <a:ext cx="3456432" cy="2331720"/>
          </a:xfrm>
          <a:prstGeom prst="roundRect">
            <a:avLst>
              <a:gd name="adj" fmla="val 5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10144" y="2569464"/>
            <a:ext cx="3456432" cy="566928"/>
          </a:xfrm>
          <a:prstGeom prst="roundRect">
            <a:avLst>
              <a:gd name="adj" fmla="val 5000"/>
            </a:avLst>
          </a:prstGeom>
          <a:solidFill>
            <a:srgbClr val="4A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0144" y="2935224"/>
            <a:ext cx="3456432" cy="201168"/>
          </a:xfrm>
          <a:prstGeom prst="rect">
            <a:avLst/>
          </a:prstGeom>
          <a:solidFill>
            <a:srgbClr val="4A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10144" y="2587752"/>
            <a:ext cx="3456432" cy="365760"/>
          </a:xfrm>
          <a:prstGeom prst="rect">
            <a:avLst/>
          </a:prstGeom>
          <a:noFill/>
        </p:spPr>
        <p:txBody>
          <a:bodyPr wrap="square" anchor="ctr">
            <a:spAutoFit/>
          </a:bodyPr>
          <a:lstStyle/>
          <a:p>
            <a:pPr algn="ctr">
              <a:lnSpc>
                <a:spcPct val="115000"/>
              </a:lnSpc>
              <a:spcAft>
                <a:spcPts val="200"/>
              </a:spcAft>
            </a:pPr>
            <a:r>
              <a:rPr sz="1400" b="1" i="0">
                <a:solidFill>
                  <a:srgbClr val="FFFFFF"/>
                </a:solidFill>
                <a:latin typeface="Meiryo"/>
                <a:ea typeface="Meiryo"/>
              </a:rPr>
              <a:t>社会福祉士</a:t>
            </a:r>
          </a:p>
        </p:txBody>
      </p:sp>
      <p:sp>
        <p:nvSpPr>
          <p:cNvPr id="33" name="TextBox 32"/>
          <p:cNvSpPr txBox="1"/>
          <p:nvPr/>
        </p:nvSpPr>
        <p:spPr>
          <a:xfrm>
            <a:off x="8010144" y="2898648"/>
            <a:ext cx="3456432" cy="237744"/>
          </a:xfrm>
          <a:prstGeom prst="rect">
            <a:avLst/>
          </a:prstGeom>
          <a:noFill/>
        </p:spPr>
        <p:txBody>
          <a:bodyPr wrap="square" anchor="ctr">
            <a:spAutoFit/>
          </a:bodyPr>
          <a:lstStyle/>
          <a:p>
            <a:pPr algn="ctr">
              <a:lnSpc>
                <a:spcPct val="115000"/>
              </a:lnSpc>
              <a:spcAft>
                <a:spcPts val="200"/>
              </a:spcAft>
            </a:pPr>
            <a:r>
              <a:rPr sz="950" b="0" i="0">
                <a:solidFill>
                  <a:srgbClr val="FFFFFF"/>
                </a:solidFill>
                <a:latin typeface="Meiryo"/>
                <a:ea typeface="Meiryo"/>
              </a:rPr>
              <a:t>ぱあとなあ</a:t>
            </a:r>
          </a:p>
        </p:txBody>
      </p:sp>
      <p:sp>
        <p:nvSpPr>
          <p:cNvPr id="34" name="TextBox 33"/>
          <p:cNvSpPr txBox="1"/>
          <p:nvPr/>
        </p:nvSpPr>
        <p:spPr>
          <a:xfrm>
            <a:off x="8156448" y="3264408"/>
            <a:ext cx="3182112" cy="1554480"/>
          </a:xfrm>
          <a:prstGeom prst="rect">
            <a:avLst/>
          </a:prstGeom>
          <a:noFill/>
        </p:spPr>
        <p:txBody>
          <a:bodyPr wrap="square" anchor="t">
            <a:spAutoFit/>
          </a:bodyPr>
          <a:lstStyle/>
          <a:p>
            <a:pPr algn="l">
              <a:lnSpc>
                <a:spcPct val="125000"/>
              </a:lnSpc>
              <a:spcAft>
                <a:spcPts val="400"/>
              </a:spcAft>
            </a:pPr>
            <a:r>
              <a:rPr sz="1050" b="1" i="0">
                <a:solidFill>
                  <a:srgbClr val="4A9A6A"/>
                </a:solidFill>
                <a:latin typeface="Meiryo"/>
                <a:ea typeface="Meiryo"/>
              </a:rPr>
              <a:t>• </a:t>
            </a:r>
            <a:r>
              <a:rPr sz="1050" b="0" i="0">
                <a:solidFill>
                  <a:srgbClr val="262B33"/>
                </a:solidFill>
                <a:latin typeface="Meiryo"/>
                <a:ea typeface="Meiryo"/>
              </a:rPr>
              <a:t>身上保護・生活支援に強い</a:t>
            </a:r>
          </a:p>
          <a:p>
            <a:pPr algn="l">
              <a:lnSpc>
                <a:spcPct val="125000"/>
              </a:lnSpc>
              <a:spcAft>
                <a:spcPts val="400"/>
              </a:spcAft>
            </a:pPr>
            <a:r>
              <a:rPr sz="1050" b="1" i="0">
                <a:solidFill>
                  <a:srgbClr val="4A9A6A"/>
                </a:solidFill>
                <a:latin typeface="Meiryo"/>
                <a:ea typeface="Meiryo"/>
              </a:rPr>
              <a:t>• </a:t>
            </a:r>
            <a:r>
              <a:rPr sz="1050" b="0" i="0">
                <a:solidFill>
                  <a:srgbClr val="262B33"/>
                </a:solidFill>
                <a:latin typeface="Meiryo"/>
                <a:ea typeface="Meiryo"/>
              </a:rPr>
              <a:t>福祉的視点のきめ細かな支援</a:t>
            </a:r>
          </a:p>
          <a:p>
            <a:pPr algn="l">
              <a:lnSpc>
                <a:spcPct val="125000"/>
              </a:lnSpc>
              <a:spcAft>
                <a:spcPts val="400"/>
              </a:spcAft>
            </a:pPr>
            <a:r>
              <a:rPr sz="1050" b="1" i="0">
                <a:solidFill>
                  <a:srgbClr val="4A9A6A"/>
                </a:solidFill>
                <a:latin typeface="Meiryo"/>
                <a:ea typeface="Meiryo"/>
              </a:rPr>
              <a:t>• </a:t>
            </a:r>
            <a:r>
              <a:rPr sz="1050" b="0" i="0">
                <a:solidFill>
                  <a:srgbClr val="262B33"/>
                </a:solidFill>
                <a:latin typeface="Meiryo"/>
                <a:ea typeface="Meiryo"/>
              </a:rPr>
              <a:t>後見人候補者を登録・紹介</a:t>
            </a:r>
          </a:p>
        </p:txBody>
      </p:sp>
      <p:sp>
        <p:nvSpPr>
          <p:cNvPr id="35" name="Rounded Rectangle 34"/>
          <p:cNvSpPr/>
          <p:nvPr/>
        </p:nvSpPr>
        <p:spPr>
          <a:xfrm>
            <a:off x="731520" y="5038344"/>
            <a:ext cx="10725912" cy="566928"/>
          </a:xfrm>
          <a:prstGeom prst="roundRect">
            <a:avLst>
              <a:gd name="adj" fmla="val 6000"/>
            </a:avLst>
          </a:prstGeom>
          <a:solidFill>
            <a:srgbClr val="E3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038344"/>
            <a:ext cx="10424160" cy="566928"/>
          </a:xfrm>
          <a:prstGeom prst="rect">
            <a:avLst/>
          </a:prstGeom>
          <a:noFill/>
        </p:spPr>
        <p:txBody>
          <a:bodyPr wrap="square" anchor="ctr">
            <a:spAutoFit/>
          </a:bodyPr>
          <a:lstStyle/>
          <a:p>
            <a:pPr algn="l">
              <a:lnSpc>
                <a:spcPct val="115000"/>
              </a:lnSpc>
              <a:spcAft>
                <a:spcPts val="200"/>
              </a:spcAft>
            </a:pPr>
            <a:r>
              <a:rPr sz="1150" b="1" i="0">
                <a:solidFill>
                  <a:srgbClr val="1F3A5F"/>
                </a:solidFill>
                <a:latin typeface="Meiryo"/>
                <a:ea typeface="Meiryo"/>
              </a:rPr>
              <a:t>三者とも後見受任が可能。紛争性・財産管理・身上保護のどれが中心かで相談先を見立て、迷えば入口窓口に相談。</a:t>
            </a:r>
          </a:p>
        </p:txBody>
      </p:sp>
      <p:sp>
        <p:nvSpPr>
          <p:cNvPr id="37" name="TextBox 36"/>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出典：リーガルサポート／日弁連／法テラス／日本社会福祉士会</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連携実務 ②</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中央区の社会資源マップ</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18</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TextBox 8"/>
          <p:cNvSpPr txBox="1"/>
          <p:nvPr/>
        </p:nvSpPr>
        <p:spPr>
          <a:xfrm>
            <a:off x="731520" y="1700784"/>
            <a:ext cx="10698480" cy="292608"/>
          </a:xfrm>
          <a:prstGeom prst="rect">
            <a:avLst/>
          </a:prstGeom>
          <a:noFill/>
        </p:spPr>
        <p:txBody>
          <a:bodyPr wrap="square" anchor="t">
            <a:spAutoFit/>
          </a:bodyPr>
          <a:lstStyle/>
          <a:p>
            <a:pPr algn="l">
              <a:lnSpc>
                <a:spcPct val="115000"/>
              </a:lnSpc>
              <a:spcAft>
                <a:spcPts val="200"/>
              </a:spcAft>
            </a:pPr>
            <a:r>
              <a:rPr sz="1050" b="1" i="0">
                <a:solidFill>
                  <a:srgbClr val="C99A3A"/>
                </a:solidFill>
                <a:latin typeface="Meiryo"/>
                <a:ea typeface="Meiryo"/>
              </a:rPr>
              <a:t>※ 住所・電話番号は調査時点のもの。研修当日・各公式サイトで最新情報を要確認。</a:t>
            </a:r>
          </a:p>
        </p:txBody>
      </p:sp>
      <p:sp>
        <p:nvSpPr>
          <p:cNvPr id="10" name="Rounded Rectangle 9"/>
          <p:cNvSpPr/>
          <p:nvPr/>
        </p:nvSpPr>
        <p:spPr>
          <a:xfrm>
            <a:off x="731520" y="2112264"/>
            <a:ext cx="5257800" cy="1874519"/>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112264"/>
            <a:ext cx="118872" cy="1874519"/>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203704"/>
            <a:ext cx="4846320" cy="640080"/>
          </a:xfrm>
          <a:prstGeom prst="rect">
            <a:avLst/>
          </a:prstGeom>
          <a:noFill/>
        </p:spPr>
        <p:txBody>
          <a:bodyPr wrap="square" anchor="t">
            <a:spAutoFit/>
          </a:bodyPr>
          <a:lstStyle/>
          <a:p>
            <a:pPr algn="l">
              <a:lnSpc>
                <a:spcPct val="105000"/>
              </a:lnSpc>
              <a:spcAft>
                <a:spcPts val="200"/>
              </a:spcAft>
            </a:pPr>
            <a:r>
              <a:rPr sz="1250" b="1" i="0">
                <a:solidFill>
                  <a:srgbClr val="1F3A5F"/>
                </a:solidFill>
                <a:latin typeface="Meiryo"/>
                <a:ea typeface="Meiryo"/>
              </a:rPr>
              <a:t>成年後見支援センター</a:t>
            </a:r>
          </a:p>
          <a:p>
            <a:pPr algn="l">
              <a:lnSpc>
                <a:spcPct val="105000"/>
              </a:lnSpc>
              <a:spcAft>
                <a:spcPts val="200"/>
              </a:spcAft>
            </a:pPr>
            <a:r>
              <a:rPr sz="1250" b="1" i="0">
                <a:solidFill>
                  <a:srgbClr val="1F3A5F"/>
                </a:solidFill>
                <a:latin typeface="Meiryo"/>
                <a:ea typeface="Meiryo"/>
              </a:rPr>
              <a:t>「すてっぷ中央」</a:t>
            </a:r>
          </a:p>
        </p:txBody>
      </p:sp>
      <p:sp>
        <p:nvSpPr>
          <p:cNvPr id="13" name="TextBox 12"/>
          <p:cNvSpPr txBox="1"/>
          <p:nvPr/>
        </p:nvSpPr>
        <p:spPr>
          <a:xfrm>
            <a:off x="987552" y="2825496"/>
            <a:ext cx="4846320" cy="1097279"/>
          </a:xfrm>
          <a:prstGeom prst="rect">
            <a:avLst/>
          </a:prstGeom>
          <a:noFill/>
        </p:spPr>
        <p:txBody>
          <a:bodyPr wrap="square" anchor="t">
            <a:spAutoFit/>
          </a:bodyPr>
          <a:lstStyle/>
          <a:p>
            <a:pPr algn="l">
              <a:lnSpc>
                <a:spcPct val="122000"/>
              </a:lnSpc>
              <a:spcAft>
                <a:spcPts val="300"/>
              </a:spcAft>
            </a:pPr>
            <a:r>
              <a:rPr sz="1050" b="1" i="0">
                <a:solidFill>
                  <a:srgbClr val="2E8B8B"/>
                </a:solidFill>
                <a:latin typeface="Meiryo"/>
                <a:ea typeface="Meiryo"/>
              </a:rPr>
              <a:t>• </a:t>
            </a:r>
            <a:r>
              <a:rPr sz="1050" b="0" i="0">
                <a:solidFill>
                  <a:srgbClr val="262B33"/>
                </a:solidFill>
                <a:latin typeface="Meiryo"/>
                <a:ea typeface="Meiryo"/>
              </a:rPr>
              <a:t>運営：中央区社会福祉協議会</a:t>
            </a:r>
          </a:p>
          <a:p>
            <a:pPr algn="l">
              <a:lnSpc>
                <a:spcPct val="122000"/>
              </a:lnSpc>
              <a:spcAft>
                <a:spcPts val="300"/>
              </a:spcAft>
            </a:pPr>
            <a:r>
              <a:rPr sz="1050" b="1" i="0">
                <a:solidFill>
                  <a:srgbClr val="2E8B8B"/>
                </a:solidFill>
                <a:latin typeface="Meiryo"/>
                <a:ea typeface="Meiryo"/>
              </a:rPr>
              <a:t>• </a:t>
            </a:r>
            <a:r>
              <a:rPr sz="1050" b="0" i="0">
                <a:solidFill>
                  <a:srgbClr val="262B33"/>
                </a:solidFill>
                <a:latin typeface="Meiryo"/>
                <a:ea typeface="Meiryo"/>
              </a:rPr>
              <a:t>後見の相談／日常生活自立支援事業</a:t>
            </a:r>
          </a:p>
          <a:p>
            <a:pPr algn="l">
              <a:lnSpc>
                <a:spcPct val="122000"/>
              </a:lnSpc>
              <a:spcAft>
                <a:spcPts val="300"/>
              </a:spcAft>
            </a:pPr>
            <a:r>
              <a:rPr sz="1050" b="1" i="0">
                <a:solidFill>
                  <a:srgbClr val="2E8B8B"/>
                </a:solidFill>
                <a:latin typeface="Meiryo"/>
                <a:ea typeface="Meiryo"/>
              </a:rPr>
              <a:t>• </a:t>
            </a:r>
            <a:r>
              <a:rPr sz="1050" b="0" i="0">
                <a:solidFill>
                  <a:srgbClr val="262B33"/>
                </a:solidFill>
                <a:latin typeface="Meiryo"/>
                <a:ea typeface="Meiryo"/>
              </a:rPr>
              <a:t>中央区八丁堀4-1-5</a:t>
            </a:r>
          </a:p>
          <a:p>
            <a:pPr algn="l">
              <a:lnSpc>
                <a:spcPct val="122000"/>
              </a:lnSpc>
              <a:spcAft>
                <a:spcPts val="300"/>
              </a:spcAft>
            </a:pPr>
            <a:r>
              <a:rPr sz="1050" b="1" i="0">
                <a:solidFill>
                  <a:srgbClr val="2E8B8B"/>
                </a:solidFill>
                <a:latin typeface="Meiryo"/>
                <a:ea typeface="Meiryo"/>
              </a:rPr>
              <a:t>• </a:t>
            </a:r>
            <a:r>
              <a:rPr sz="1050" b="0" i="0">
                <a:solidFill>
                  <a:srgbClr val="262B33"/>
                </a:solidFill>
                <a:latin typeface="Meiryo"/>
                <a:ea typeface="Meiryo"/>
              </a:rPr>
              <a:t>TEL 03-3206-0567（要確認）</a:t>
            </a:r>
          </a:p>
        </p:txBody>
      </p:sp>
      <p:sp>
        <p:nvSpPr>
          <p:cNvPr id="14" name="Rounded Rectangle 13"/>
          <p:cNvSpPr/>
          <p:nvPr/>
        </p:nvSpPr>
        <p:spPr>
          <a:xfrm>
            <a:off x="6199632" y="2112264"/>
            <a:ext cx="5257800" cy="1874519"/>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2112264"/>
            <a:ext cx="118872" cy="1874519"/>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2203704"/>
            <a:ext cx="4846320" cy="640080"/>
          </a:xfrm>
          <a:prstGeom prst="rect">
            <a:avLst/>
          </a:prstGeom>
          <a:noFill/>
        </p:spPr>
        <p:txBody>
          <a:bodyPr wrap="square" anchor="t">
            <a:spAutoFit/>
          </a:bodyPr>
          <a:lstStyle/>
          <a:p>
            <a:pPr algn="l">
              <a:lnSpc>
                <a:spcPct val="105000"/>
              </a:lnSpc>
              <a:spcAft>
                <a:spcPts val="200"/>
              </a:spcAft>
            </a:pPr>
            <a:r>
              <a:rPr sz="1250" b="1" i="0">
                <a:solidFill>
                  <a:srgbClr val="1F3A5F"/>
                </a:solidFill>
                <a:latin typeface="Meiryo"/>
                <a:ea typeface="Meiryo"/>
              </a:rPr>
              <a:t>おとしより相談センター</a:t>
            </a:r>
          </a:p>
        </p:txBody>
      </p:sp>
      <p:sp>
        <p:nvSpPr>
          <p:cNvPr id="17" name="TextBox 16"/>
          <p:cNvSpPr txBox="1"/>
          <p:nvPr/>
        </p:nvSpPr>
        <p:spPr>
          <a:xfrm>
            <a:off x="6455664" y="2569464"/>
            <a:ext cx="4846320" cy="1097279"/>
          </a:xfrm>
          <a:prstGeom prst="rect">
            <a:avLst/>
          </a:prstGeom>
          <a:noFill/>
        </p:spPr>
        <p:txBody>
          <a:bodyPr wrap="square" anchor="t">
            <a:spAutoFit/>
          </a:bodyPr>
          <a:lstStyle/>
          <a:p>
            <a:pPr algn="l">
              <a:lnSpc>
                <a:spcPct val="122000"/>
              </a:lnSpc>
              <a:spcAft>
                <a:spcPts val="300"/>
              </a:spcAft>
            </a:pPr>
            <a:r>
              <a:rPr sz="1050" b="1" i="0">
                <a:solidFill>
                  <a:srgbClr val="1F3A5F"/>
                </a:solidFill>
                <a:latin typeface="Meiryo"/>
                <a:ea typeface="Meiryo"/>
              </a:rPr>
              <a:t>• </a:t>
            </a:r>
            <a:r>
              <a:rPr sz="1050" b="0" i="0">
                <a:solidFill>
                  <a:srgbClr val="262B33"/>
                </a:solidFill>
                <a:latin typeface="Meiryo"/>
                <a:ea typeface="Meiryo"/>
              </a:rPr>
              <a:t>中央区の地域包括支援センター</a:t>
            </a:r>
          </a:p>
          <a:p>
            <a:pPr algn="l">
              <a:lnSpc>
                <a:spcPct val="122000"/>
              </a:lnSpc>
              <a:spcAft>
                <a:spcPts val="300"/>
              </a:spcAft>
            </a:pPr>
            <a:r>
              <a:rPr sz="1050" b="1" i="0">
                <a:solidFill>
                  <a:srgbClr val="1F3A5F"/>
                </a:solidFill>
                <a:latin typeface="Meiryo"/>
                <a:ea typeface="Meiryo"/>
              </a:rPr>
              <a:t>• </a:t>
            </a:r>
            <a:r>
              <a:rPr sz="1050" b="0" i="0">
                <a:solidFill>
                  <a:srgbClr val="262B33"/>
                </a:solidFill>
                <a:latin typeface="Meiryo"/>
                <a:ea typeface="Meiryo"/>
              </a:rPr>
              <a:t>区内6か所に配置</a:t>
            </a:r>
          </a:p>
          <a:p>
            <a:pPr algn="l">
              <a:lnSpc>
                <a:spcPct val="122000"/>
              </a:lnSpc>
              <a:spcAft>
                <a:spcPts val="300"/>
              </a:spcAft>
            </a:pPr>
            <a:r>
              <a:rPr sz="1050" b="1" i="0">
                <a:solidFill>
                  <a:srgbClr val="1F3A5F"/>
                </a:solidFill>
                <a:latin typeface="Meiryo"/>
                <a:ea typeface="Meiryo"/>
              </a:rPr>
              <a:t>• </a:t>
            </a:r>
            <a:r>
              <a:rPr sz="1050" b="0" i="0">
                <a:solidFill>
                  <a:srgbClr val="262B33"/>
                </a:solidFill>
                <a:latin typeface="Meiryo"/>
                <a:ea typeface="Meiryo"/>
              </a:rPr>
              <a:t>日本橋圏域：日本橋／人形町</a:t>
            </a:r>
          </a:p>
          <a:p>
            <a:pPr algn="l">
              <a:lnSpc>
                <a:spcPct val="122000"/>
              </a:lnSpc>
              <a:spcAft>
                <a:spcPts val="300"/>
              </a:spcAft>
            </a:pPr>
            <a:r>
              <a:rPr sz="1050" b="1" i="0">
                <a:solidFill>
                  <a:srgbClr val="1F3A5F"/>
                </a:solidFill>
                <a:latin typeface="Meiryo"/>
                <a:ea typeface="Meiryo"/>
              </a:rPr>
              <a:t>• </a:t>
            </a:r>
            <a:r>
              <a:rPr sz="1050" b="0" i="0">
                <a:solidFill>
                  <a:srgbClr val="262B33"/>
                </a:solidFill>
                <a:latin typeface="Meiryo"/>
                <a:ea typeface="Meiryo"/>
              </a:rPr>
              <a:t>高齢者支援の総合相談の入口</a:t>
            </a:r>
          </a:p>
        </p:txBody>
      </p:sp>
      <p:sp>
        <p:nvSpPr>
          <p:cNvPr id="18" name="Rounded Rectangle 17"/>
          <p:cNvSpPr/>
          <p:nvPr/>
        </p:nvSpPr>
        <p:spPr>
          <a:xfrm>
            <a:off x="731520" y="4169664"/>
            <a:ext cx="5257800" cy="1874519"/>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169664"/>
            <a:ext cx="118872" cy="1874519"/>
          </a:xfrm>
          <a:prstGeom prst="rect">
            <a:avLst/>
          </a:prstGeom>
          <a:solidFill>
            <a:srgbClr val="4A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261104"/>
            <a:ext cx="4846320" cy="640080"/>
          </a:xfrm>
          <a:prstGeom prst="rect">
            <a:avLst/>
          </a:prstGeom>
          <a:noFill/>
        </p:spPr>
        <p:txBody>
          <a:bodyPr wrap="square" anchor="t">
            <a:spAutoFit/>
          </a:bodyPr>
          <a:lstStyle/>
          <a:p>
            <a:pPr algn="l">
              <a:lnSpc>
                <a:spcPct val="105000"/>
              </a:lnSpc>
              <a:spcAft>
                <a:spcPts val="200"/>
              </a:spcAft>
            </a:pPr>
            <a:r>
              <a:rPr sz="1250" b="1" i="0">
                <a:solidFill>
                  <a:srgbClr val="1F3A5F"/>
                </a:solidFill>
                <a:latin typeface="Meiryo"/>
                <a:ea typeface="Meiryo"/>
              </a:rPr>
              <a:t>中央区 高齢者福祉課</a:t>
            </a:r>
          </a:p>
        </p:txBody>
      </p:sp>
      <p:sp>
        <p:nvSpPr>
          <p:cNvPr id="21" name="TextBox 20"/>
          <p:cNvSpPr txBox="1"/>
          <p:nvPr/>
        </p:nvSpPr>
        <p:spPr>
          <a:xfrm>
            <a:off x="987552" y="4626864"/>
            <a:ext cx="4846320" cy="1097279"/>
          </a:xfrm>
          <a:prstGeom prst="rect">
            <a:avLst/>
          </a:prstGeom>
          <a:noFill/>
        </p:spPr>
        <p:txBody>
          <a:bodyPr wrap="square" anchor="t">
            <a:spAutoFit/>
          </a:bodyPr>
          <a:lstStyle/>
          <a:p>
            <a:pPr algn="l">
              <a:lnSpc>
                <a:spcPct val="122000"/>
              </a:lnSpc>
              <a:spcAft>
                <a:spcPts val="300"/>
              </a:spcAft>
            </a:pPr>
            <a:r>
              <a:rPr sz="1050" b="1" i="0">
                <a:solidFill>
                  <a:srgbClr val="4A9A6A"/>
                </a:solidFill>
                <a:latin typeface="Meiryo"/>
                <a:ea typeface="Meiryo"/>
              </a:rPr>
              <a:t>• </a:t>
            </a:r>
            <a:r>
              <a:rPr sz="1050" b="0" i="0">
                <a:solidFill>
                  <a:srgbClr val="262B33"/>
                </a:solidFill>
                <a:latin typeface="Meiryo"/>
                <a:ea typeface="Meiryo"/>
              </a:rPr>
              <a:t>福祉保健部の担当課</a:t>
            </a:r>
          </a:p>
          <a:p>
            <a:pPr algn="l">
              <a:lnSpc>
                <a:spcPct val="122000"/>
              </a:lnSpc>
              <a:spcAft>
                <a:spcPts val="300"/>
              </a:spcAft>
            </a:pPr>
            <a:r>
              <a:rPr sz="1050" b="1" i="0">
                <a:solidFill>
                  <a:srgbClr val="4A9A6A"/>
                </a:solidFill>
                <a:latin typeface="Meiryo"/>
                <a:ea typeface="Meiryo"/>
              </a:rPr>
              <a:t>• </a:t>
            </a:r>
            <a:r>
              <a:rPr sz="1050" b="0" i="0">
                <a:solidFill>
                  <a:srgbClr val="262B33"/>
                </a:solidFill>
                <a:latin typeface="Meiryo"/>
                <a:ea typeface="Meiryo"/>
              </a:rPr>
              <a:t>区長申立ての担当窓口</a:t>
            </a:r>
          </a:p>
          <a:p>
            <a:pPr algn="l">
              <a:lnSpc>
                <a:spcPct val="122000"/>
              </a:lnSpc>
              <a:spcAft>
                <a:spcPts val="300"/>
              </a:spcAft>
            </a:pPr>
            <a:r>
              <a:rPr sz="1050" b="1" i="0">
                <a:solidFill>
                  <a:srgbClr val="4A9A6A"/>
                </a:solidFill>
                <a:latin typeface="Meiryo"/>
                <a:ea typeface="Meiryo"/>
              </a:rPr>
              <a:t>• </a:t>
            </a:r>
            <a:r>
              <a:rPr sz="1050" b="0" i="0">
                <a:solidFill>
                  <a:srgbClr val="262B33"/>
                </a:solidFill>
                <a:latin typeface="Meiryo"/>
                <a:ea typeface="Meiryo"/>
              </a:rPr>
              <a:t>成年後見制度利用支援事業</a:t>
            </a:r>
          </a:p>
          <a:p>
            <a:pPr algn="l">
              <a:lnSpc>
                <a:spcPct val="122000"/>
              </a:lnSpc>
              <a:spcAft>
                <a:spcPts val="300"/>
              </a:spcAft>
            </a:pPr>
            <a:r>
              <a:rPr sz="1050" b="1" i="0">
                <a:solidFill>
                  <a:srgbClr val="4A9A6A"/>
                </a:solidFill>
                <a:latin typeface="Meiryo"/>
                <a:ea typeface="Meiryo"/>
              </a:rPr>
              <a:t>• </a:t>
            </a:r>
            <a:r>
              <a:rPr sz="1050" b="0" i="0">
                <a:solidFill>
                  <a:srgbClr val="262B33"/>
                </a:solidFill>
                <a:latin typeface="Meiryo"/>
                <a:ea typeface="Meiryo"/>
              </a:rPr>
              <a:t>成年後見制度利用促進審議会</a:t>
            </a:r>
          </a:p>
        </p:txBody>
      </p:sp>
      <p:sp>
        <p:nvSpPr>
          <p:cNvPr id="22" name="Rounded Rectangle 21"/>
          <p:cNvSpPr/>
          <p:nvPr/>
        </p:nvSpPr>
        <p:spPr>
          <a:xfrm>
            <a:off x="6199632" y="4169664"/>
            <a:ext cx="5257800" cy="1874519"/>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9632" y="4169664"/>
            <a:ext cx="118872" cy="1874519"/>
          </a:xfrm>
          <a:prstGeom prst="rect">
            <a:avLst/>
          </a:prstGeom>
          <a:solidFill>
            <a:srgbClr val="3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5664" y="4261104"/>
            <a:ext cx="4846320" cy="640080"/>
          </a:xfrm>
          <a:prstGeom prst="rect">
            <a:avLst/>
          </a:prstGeom>
          <a:noFill/>
        </p:spPr>
        <p:txBody>
          <a:bodyPr wrap="square" anchor="t">
            <a:spAutoFit/>
          </a:bodyPr>
          <a:lstStyle/>
          <a:p>
            <a:pPr algn="l">
              <a:lnSpc>
                <a:spcPct val="105000"/>
              </a:lnSpc>
              <a:spcAft>
                <a:spcPts val="200"/>
              </a:spcAft>
            </a:pPr>
            <a:r>
              <a:rPr sz="1250" b="1" i="0">
                <a:solidFill>
                  <a:srgbClr val="1F3A5F"/>
                </a:solidFill>
                <a:latin typeface="Meiryo"/>
                <a:ea typeface="Meiryo"/>
              </a:rPr>
              <a:t>リーガルサポート東京支部</a:t>
            </a:r>
          </a:p>
        </p:txBody>
      </p:sp>
      <p:sp>
        <p:nvSpPr>
          <p:cNvPr id="25" name="TextBox 24"/>
          <p:cNvSpPr txBox="1"/>
          <p:nvPr/>
        </p:nvSpPr>
        <p:spPr>
          <a:xfrm>
            <a:off x="6455664" y="4626864"/>
            <a:ext cx="4846320" cy="1097279"/>
          </a:xfrm>
          <a:prstGeom prst="rect">
            <a:avLst/>
          </a:prstGeom>
          <a:noFill/>
        </p:spPr>
        <p:txBody>
          <a:bodyPr wrap="square" anchor="t">
            <a:spAutoFit/>
          </a:bodyPr>
          <a:lstStyle/>
          <a:p>
            <a:pPr algn="l">
              <a:lnSpc>
                <a:spcPct val="122000"/>
              </a:lnSpc>
              <a:spcAft>
                <a:spcPts val="300"/>
              </a:spcAft>
            </a:pPr>
            <a:r>
              <a:rPr sz="1050" b="1" i="0">
                <a:solidFill>
                  <a:srgbClr val="3C6E8F"/>
                </a:solidFill>
                <a:latin typeface="Meiryo"/>
                <a:ea typeface="Meiryo"/>
              </a:rPr>
              <a:t>• </a:t>
            </a:r>
            <a:r>
              <a:rPr sz="1050" b="0" i="0">
                <a:solidFill>
                  <a:srgbClr val="262B33"/>
                </a:solidFill>
                <a:latin typeface="Meiryo"/>
                <a:ea typeface="Meiryo"/>
              </a:rPr>
              <a:t>司法書士による後見支援</a:t>
            </a:r>
          </a:p>
          <a:p>
            <a:pPr algn="l">
              <a:lnSpc>
                <a:spcPct val="122000"/>
              </a:lnSpc>
              <a:spcAft>
                <a:spcPts val="300"/>
              </a:spcAft>
            </a:pPr>
            <a:r>
              <a:rPr sz="1050" b="1" i="0">
                <a:solidFill>
                  <a:srgbClr val="3C6E8F"/>
                </a:solidFill>
                <a:latin typeface="Meiryo"/>
                <a:ea typeface="Meiryo"/>
              </a:rPr>
              <a:t>• </a:t>
            </a:r>
            <a:r>
              <a:rPr sz="1050" b="0" i="0">
                <a:solidFill>
                  <a:srgbClr val="262B33"/>
                </a:solidFill>
                <a:latin typeface="Meiryo"/>
                <a:ea typeface="Meiryo"/>
              </a:rPr>
              <a:t>新宿区四谷本塩町</a:t>
            </a:r>
          </a:p>
          <a:p>
            <a:pPr algn="l">
              <a:lnSpc>
                <a:spcPct val="122000"/>
              </a:lnSpc>
              <a:spcAft>
                <a:spcPts val="300"/>
              </a:spcAft>
            </a:pPr>
            <a:r>
              <a:rPr sz="1050" b="1" i="0">
                <a:solidFill>
                  <a:srgbClr val="3C6E8F"/>
                </a:solidFill>
                <a:latin typeface="Meiryo"/>
                <a:ea typeface="Meiryo"/>
              </a:rPr>
              <a:t>• </a:t>
            </a:r>
            <a:r>
              <a:rPr sz="1050" b="0" i="0">
                <a:solidFill>
                  <a:srgbClr val="262B33"/>
                </a:solidFill>
                <a:latin typeface="Meiryo"/>
                <a:ea typeface="Meiryo"/>
              </a:rPr>
              <a:t>TEL 03-3353-8191（要確認）</a:t>
            </a:r>
          </a:p>
          <a:p>
            <a:pPr algn="l">
              <a:lnSpc>
                <a:spcPct val="122000"/>
              </a:lnSpc>
              <a:spcAft>
                <a:spcPts val="300"/>
              </a:spcAft>
            </a:pPr>
            <a:r>
              <a:rPr sz="1050" b="1" i="0">
                <a:solidFill>
                  <a:srgbClr val="3C6E8F"/>
                </a:solidFill>
                <a:latin typeface="Meiryo"/>
                <a:ea typeface="Meiryo"/>
              </a:rPr>
              <a:t>• </a:t>
            </a:r>
            <a:r>
              <a:rPr sz="1050" b="0" i="0">
                <a:solidFill>
                  <a:srgbClr val="262B33"/>
                </a:solidFill>
                <a:latin typeface="Meiryo"/>
                <a:ea typeface="Meiryo"/>
              </a:rPr>
              <a:t>成年後見ホットライン 03-5379-1888</a:t>
            </a:r>
          </a:p>
        </p:txBody>
      </p:sp>
      <p:sp>
        <p:nvSpPr>
          <p:cNvPr id="26" name="TextBox 25"/>
          <p:cNvSpPr txBox="1"/>
          <p:nvPr/>
        </p:nvSpPr>
        <p:spPr>
          <a:xfrm>
            <a:off x="731520" y="6437376"/>
            <a:ext cx="8686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出典：中央区公式サイト／中央区社協／リーガルサポート東京支部（窓口情報は要確認）</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予習の総仕上げ ①</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講師への質問リスト ① ── 制度・申立て・改正</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19</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TextBox 8"/>
          <p:cNvSpPr txBox="1"/>
          <p:nvPr/>
        </p:nvSpPr>
        <p:spPr>
          <a:xfrm>
            <a:off x="731520" y="1700784"/>
            <a:ext cx="6492240" cy="292608"/>
          </a:xfrm>
          <a:prstGeom prst="rect">
            <a:avLst/>
          </a:prstGeom>
          <a:noFill/>
        </p:spPr>
        <p:txBody>
          <a:bodyPr wrap="square" anchor="t">
            <a:spAutoFit/>
          </a:bodyPr>
          <a:lstStyle/>
          <a:p>
            <a:pPr algn="l">
              <a:lnSpc>
                <a:spcPct val="115000"/>
              </a:lnSpc>
              <a:spcAft>
                <a:spcPts val="200"/>
              </a:spcAft>
            </a:pPr>
            <a:r>
              <a:rPr sz="1100" b="0" i="0">
                <a:solidFill>
                  <a:srgbClr val="5C636E"/>
                </a:solidFill>
                <a:latin typeface="Meiryo"/>
                <a:ea typeface="Meiryo"/>
              </a:rPr>
              <a:t>予習で残った疑問。当日、講師の説明・回答を右の余白にメモする。</a:t>
            </a:r>
          </a:p>
        </p:txBody>
      </p:sp>
      <p:sp>
        <p:nvSpPr>
          <p:cNvPr id="10" name="Rounded Rectangle 9"/>
          <p:cNvSpPr/>
          <p:nvPr/>
        </p:nvSpPr>
        <p:spPr>
          <a:xfrm>
            <a:off x="731520" y="2084832"/>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84832"/>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2"/>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Q1</a:t>
            </a:r>
          </a:p>
        </p:txBody>
      </p:sp>
      <p:sp>
        <p:nvSpPr>
          <p:cNvPr id="13" name="TextBox 12"/>
          <p:cNvSpPr txBox="1"/>
          <p:nvPr/>
        </p:nvSpPr>
        <p:spPr>
          <a:xfrm>
            <a:off x="1481328" y="2148840"/>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2026年改正で3類型が「補助」へ一元化された後、現場の運用は具体的にどう変わるか。施行時期の見込みは。</a:t>
            </a:r>
          </a:p>
        </p:txBody>
      </p:sp>
      <p:sp>
        <p:nvSpPr>
          <p:cNvPr id="14" name="Rectangle 13"/>
          <p:cNvSpPr/>
          <p:nvPr/>
        </p:nvSpPr>
        <p:spPr>
          <a:xfrm>
            <a:off x="7406640" y="2084832"/>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0" y="2304288"/>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43800" y="2596896"/>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2944368"/>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944368"/>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944368"/>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Q2</a:t>
            </a:r>
          </a:p>
        </p:txBody>
      </p:sp>
      <p:sp>
        <p:nvSpPr>
          <p:cNvPr id="20" name="TextBox 19"/>
          <p:cNvSpPr txBox="1"/>
          <p:nvPr/>
        </p:nvSpPr>
        <p:spPr>
          <a:xfrm>
            <a:off x="1481328" y="3008376"/>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「期間制・終われる後見」で、いったん始めた後見を終了できる具体的な要件・手続きは。</a:t>
            </a:r>
          </a:p>
        </p:txBody>
      </p:sp>
      <p:sp>
        <p:nvSpPr>
          <p:cNvPr id="21" name="Rectangle 20"/>
          <p:cNvSpPr/>
          <p:nvPr/>
        </p:nvSpPr>
        <p:spPr>
          <a:xfrm>
            <a:off x="7406640" y="2944368"/>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0" y="3163824"/>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43800" y="3456432"/>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 y="3803904"/>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3803904"/>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03904"/>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Q3</a:t>
            </a:r>
          </a:p>
        </p:txBody>
      </p:sp>
      <p:sp>
        <p:nvSpPr>
          <p:cNvPr id="27" name="TextBox 26"/>
          <p:cNvSpPr txBox="1"/>
          <p:nvPr/>
        </p:nvSpPr>
        <p:spPr>
          <a:xfrm>
            <a:off x="1481328" y="3867912"/>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鑑定が必要になるのはどんなケースか。中央区での申立て〜開始までの実際の所要期間は。</a:t>
            </a:r>
          </a:p>
        </p:txBody>
      </p:sp>
      <p:sp>
        <p:nvSpPr>
          <p:cNvPr id="28" name="Rectangle 27"/>
          <p:cNvSpPr/>
          <p:nvPr/>
        </p:nvSpPr>
        <p:spPr>
          <a:xfrm>
            <a:off x="7406640" y="3803904"/>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43800" y="4023360"/>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543800" y="4315968"/>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4663440"/>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4663440"/>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663440"/>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Q4</a:t>
            </a:r>
          </a:p>
        </p:txBody>
      </p:sp>
      <p:sp>
        <p:nvSpPr>
          <p:cNvPr id="34" name="TextBox 33"/>
          <p:cNvSpPr txBox="1"/>
          <p:nvPr/>
        </p:nvSpPr>
        <p:spPr>
          <a:xfrm>
            <a:off x="1481328" y="4727448"/>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任意後見契約を勧めるべき利用者像と、契約から効力発生までで実務がつまずきやすい点は。</a:t>
            </a:r>
          </a:p>
        </p:txBody>
      </p:sp>
      <p:sp>
        <p:nvSpPr>
          <p:cNvPr id="35" name="Rectangle 34"/>
          <p:cNvSpPr/>
          <p:nvPr/>
        </p:nvSpPr>
        <p:spPr>
          <a:xfrm>
            <a:off x="7406640" y="4663440"/>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43800" y="4882896"/>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43800" y="5175504"/>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31520" y="5522976"/>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5522976"/>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522976"/>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Q5</a:t>
            </a:r>
          </a:p>
        </p:txBody>
      </p:sp>
      <p:sp>
        <p:nvSpPr>
          <p:cNvPr id="41" name="TextBox 40"/>
          <p:cNvSpPr txBox="1"/>
          <p:nvPr/>
        </p:nvSpPr>
        <p:spPr>
          <a:xfrm>
            <a:off x="1481328" y="5586984"/>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後見人（特に専門職）とケアマネの役割分担で、現場で摩擦が生じやすいのはどんな場面か。</a:t>
            </a:r>
          </a:p>
        </p:txBody>
      </p:sp>
      <p:sp>
        <p:nvSpPr>
          <p:cNvPr id="42" name="Rectangle 41"/>
          <p:cNvSpPr/>
          <p:nvPr/>
        </p:nvSpPr>
        <p:spPr>
          <a:xfrm>
            <a:off x="7406640" y="5522976"/>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543800" y="5742432"/>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43800" y="6035040"/>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06640" y="1792224"/>
            <a:ext cx="4023360" cy="274320"/>
          </a:xfrm>
          <a:prstGeom prst="rect">
            <a:avLst/>
          </a:prstGeom>
          <a:noFill/>
        </p:spPr>
        <p:txBody>
          <a:bodyPr wrap="square" anchor="t">
            <a:spAutoFit/>
          </a:bodyPr>
          <a:lstStyle/>
          <a:p>
            <a:pPr algn="l">
              <a:lnSpc>
                <a:spcPct val="115000"/>
              </a:lnSpc>
              <a:spcAft>
                <a:spcPts val="200"/>
              </a:spcAft>
            </a:pPr>
            <a:r>
              <a:rPr sz="950" b="1" i="0">
                <a:solidFill>
                  <a:srgbClr val="9A863A"/>
                </a:solidFill>
                <a:latin typeface="Meiryo"/>
                <a:ea typeface="Meiryo"/>
              </a:rPr>
              <a:t>← 当日メモ（講師の回答）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予習の総仕上げ ②</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講師への質問リスト ② ── 身寄りなし支援・連携・中央区</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20</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TextBox 8"/>
          <p:cNvSpPr txBox="1"/>
          <p:nvPr/>
        </p:nvSpPr>
        <p:spPr>
          <a:xfrm>
            <a:off x="731520" y="1700784"/>
            <a:ext cx="6492240" cy="292608"/>
          </a:xfrm>
          <a:prstGeom prst="rect">
            <a:avLst/>
          </a:prstGeom>
          <a:noFill/>
        </p:spPr>
        <p:txBody>
          <a:bodyPr wrap="square" anchor="t">
            <a:spAutoFit/>
          </a:bodyPr>
          <a:lstStyle/>
          <a:p>
            <a:pPr algn="l">
              <a:lnSpc>
                <a:spcPct val="115000"/>
              </a:lnSpc>
              <a:spcAft>
                <a:spcPts val="200"/>
              </a:spcAft>
            </a:pPr>
            <a:r>
              <a:rPr sz="1100" b="0" i="0">
                <a:solidFill>
                  <a:srgbClr val="5C636E"/>
                </a:solidFill>
                <a:latin typeface="Meiryo"/>
                <a:ea typeface="Meiryo"/>
              </a:rPr>
              <a:t>予習で残った疑問。当日、講師の説明・回答を右の余白にメモする。</a:t>
            </a:r>
          </a:p>
        </p:txBody>
      </p:sp>
      <p:sp>
        <p:nvSpPr>
          <p:cNvPr id="10" name="Rounded Rectangle 9"/>
          <p:cNvSpPr/>
          <p:nvPr/>
        </p:nvSpPr>
        <p:spPr>
          <a:xfrm>
            <a:off x="731520" y="2084832"/>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84832"/>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2"/>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Q6</a:t>
            </a:r>
          </a:p>
        </p:txBody>
      </p:sp>
      <p:sp>
        <p:nvSpPr>
          <p:cNvPr id="13" name="TextBox 12"/>
          <p:cNvSpPr txBox="1"/>
          <p:nvPr/>
        </p:nvSpPr>
        <p:spPr>
          <a:xfrm>
            <a:off x="1481328" y="2148840"/>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身寄りなし利用者の入院で身元保証会社を使う場合、良い事業者をどう見極めるか（終身サポートGLの活用）。</a:t>
            </a:r>
          </a:p>
        </p:txBody>
      </p:sp>
      <p:sp>
        <p:nvSpPr>
          <p:cNvPr id="14" name="Rectangle 13"/>
          <p:cNvSpPr/>
          <p:nvPr/>
        </p:nvSpPr>
        <p:spPr>
          <a:xfrm>
            <a:off x="7406640" y="2084832"/>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0" y="2304288"/>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43800" y="2596896"/>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2944368"/>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944368"/>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944368"/>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Q7</a:t>
            </a:r>
          </a:p>
        </p:txBody>
      </p:sp>
      <p:sp>
        <p:nvSpPr>
          <p:cNvPr id="20" name="TextBox 19"/>
          <p:cNvSpPr txBox="1"/>
          <p:nvPr/>
        </p:nvSpPr>
        <p:spPr>
          <a:xfrm>
            <a:off x="1481328" y="3008376"/>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医療同意が要る場面で後見人も家族もいない時、現場として誰とどう意思決定を進めるべきか。</a:t>
            </a:r>
          </a:p>
        </p:txBody>
      </p:sp>
      <p:sp>
        <p:nvSpPr>
          <p:cNvPr id="21" name="Rectangle 20"/>
          <p:cNvSpPr/>
          <p:nvPr/>
        </p:nvSpPr>
        <p:spPr>
          <a:xfrm>
            <a:off x="7406640" y="2944368"/>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0" y="3163824"/>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43800" y="3456432"/>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 y="3803904"/>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3803904"/>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03904"/>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Q8</a:t>
            </a:r>
          </a:p>
        </p:txBody>
      </p:sp>
      <p:sp>
        <p:nvSpPr>
          <p:cNvPr id="27" name="TextBox 26"/>
          <p:cNvSpPr txBox="1"/>
          <p:nvPr/>
        </p:nvSpPr>
        <p:spPr>
          <a:xfrm>
            <a:off x="1481328" y="3867912"/>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死後事務委任契約のないまま利用者が単身死亡した場合、ケアマネ・社協・区の現実的な動き方は。</a:t>
            </a:r>
          </a:p>
        </p:txBody>
      </p:sp>
      <p:sp>
        <p:nvSpPr>
          <p:cNvPr id="28" name="Rectangle 27"/>
          <p:cNvSpPr/>
          <p:nvPr/>
        </p:nvSpPr>
        <p:spPr>
          <a:xfrm>
            <a:off x="7406640" y="3803904"/>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43800" y="4023360"/>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543800" y="4315968"/>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4663440"/>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4663440"/>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663440"/>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Q9</a:t>
            </a:r>
          </a:p>
        </p:txBody>
      </p:sp>
      <p:sp>
        <p:nvSpPr>
          <p:cNvPr id="34" name="TextBox 33"/>
          <p:cNvSpPr txBox="1"/>
          <p:nvPr/>
        </p:nvSpPr>
        <p:spPr>
          <a:xfrm>
            <a:off x="1481328" y="4727448"/>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日常生活自立支援事業から後見へ移行を判断するタイミング・見極めの目安は。</a:t>
            </a:r>
          </a:p>
        </p:txBody>
      </p:sp>
      <p:sp>
        <p:nvSpPr>
          <p:cNvPr id="35" name="Rectangle 34"/>
          <p:cNvSpPr/>
          <p:nvPr/>
        </p:nvSpPr>
        <p:spPr>
          <a:xfrm>
            <a:off x="7406640" y="4663440"/>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43800" y="4882896"/>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43800" y="5175504"/>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31520" y="5522976"/>
            <a:ext cx="6537960" cy="768096"/>
          </a:xfrm>
          <a:prstGeom prst="roundRect">
            <a:avLst>
              <a:gd name="adj" fmla="val 4000"/>
            </a:avLst>
          </a:prstGeom>
          <a:solidFill>
            <a:srgbClr val="FFFFFF"/>
          </a:solidFill>
          <a:ln w="12700">
            <a:solidFill>
              <a:srgbClr val="D2D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5522976"/>
            <a:ext cx="603504" cy="7680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522976"/>
            <a:ext cx="603504" cy="768096"/>
          </a:xfrm>
          <a:prstGeom prst="rect">
            <a:avLst/>
          </a:prstGeom>
          <a:noFill/>
        </p:spPr>
        <p:txBody>
          <a:bodyPr wrap="square" anchor="ctr">
            <a:spAutoFit/>
          </a:bodyPr>
          <a:lstStyle/>
          <a:p>
            <a:pPr algn="ctr">
              <a:lnSpc>
                <a:spcPct val="115000"/>
              </a:lnSpc>
              <a:spcAft>
                <a:spcPts val="200"/>
              </a:spcAft>
            </a:pPr>
            <a:r>
              <a:rPr sz="1500" b="1" i="0">
                <a:solidFill>
                  <a:srgbClr val="FFFFFF"/>
                </a:solidFill>
                <a:latin typeface="Meiryo"/>
                <a:ea typeface="Meiryo"/>
              </a:rPr>
              <a:t>Q10</a:t>
            </a:r>
          </a:p>
        </p:txBody>
      </p:sp>
      <p:sp>
        <p:nvSpPr>
          <p:cNvPr id="41" name="TextBox 40"/>
          <p:cNvSpPr txBox="1"/>
          <p:nvPr/>
        </p:nvSpPr>
        <p:spPr>
          <a:xfrm>
            <a:off x="1481328" y="5586984"/>
            <a:ext cx="5669280" cy="640080"/>
          </a:xfrm>
          <a:prstGeom prst="rect">
            <a:avLst/>
          </a:prstGeom>
          <a:noFill/>
        </p:spPr>
        <p:txBody>
          <a:bodyPr wrap="square" anchor="ctr">
            <a:spAutoFit/>
          </a:bodyPr>
          <a:lstStyle/>
          <a:p>
            <a:pPr algn="l">
              <a:lnSpc>
                <a:spcPct val="118000"/>
              </a:lnSpc>
              <a:spcAft>
                <a:spcPts val="200"/>
              </a:spcAft>
            </a:pPr>
            <a:r>
              <a:rPr sz="1100" b="0" i="0">
                <a:solidFill>
                  <a:srgbClr val="262B33"/>
                </a:solidFill>
                <a:latin typeface="Meiryo"/>
                <a:ea typeface="Meiryo"/>
              </a:rPr>
              <a:t>中央区で区長申立てを検討する際の相談先・標準的な所要期間、すてっぷ中央との連携の実際は。</a:t>
            </a:r>
          </a:p>
        </p:txBody>
      </p:sp>
      <p:sp>
        <p:nvSpPr>
          <p:cNvPr id="42" name="Rectangle 41"/>
          <p:cNvSpPr/>
          <p:nvPr/>
        </p:nvSpPr>
        <p:spPr>
          <a:xfrm>
            <a:off x="7406640" y="5522976"/>
            <a:ext cx="4050791" cy="768096"/>
          </a:xfrm>
          <a:prstGeom prst="rect">
            <a:avLst/>
          </a:prstGeom>
          <a:solidFill>
            <a:srgbClr val="FCFBF4"/>
          </a:solidFill>
          <a:ln w="12700">
            <a:solidFill>
              <a:srgbClr val="E4D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543800" y="5742432"/>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43800" y="6035040"/>
            <a:ext cx="3776472" cy="9525"/>
          </a:xfrm>
          <a:prstGeom prst="rect">
            <a:avLst/>
          </a:prstGeom>
          <a:solidFill>
            <a:srgbClr val="E4D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06640" y="1792224"/>
            <a:ext cx="4023360" cy="274320"/>
          </a:xfrm>
          <a:prstGeom prst="rect">
            <a:avLst/>
          </a:prstGeom>
          <a:noFill/>
        </p:spPr>
        <p:txBody>
          <a:bodyPr wrap="square" anchor="t">
            <a:spAutoFit/>
          </a:bodyPr>
          <a:lstStyle/>
          <a:p>
            <a:pPr algn="l">
              <a:lnSpc>
                <a:spcPct val="115000"/>
              </a:lnSpc>
              <a:spcAft>
                <a:spcPts val="200"/>
              </a:spcAft>
            </a:pPr>
            <a:r>
              <a:rPr sz="950" b="1" i="0">
                <a:solidFill>
                  <a:srgbClr val="9A863A"/>
                </a:solidFill>
                <a:latin typeface="Meiryo"/>
                <a:ea typeface="Meiryo"/>
              </a:rPr>
              <a:t>← 当日メモ（講師の回答）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91440" cy="841248"/>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686800" cy="292608"/>
          </a:xfrm>
          <a:prstGeom prst="rect">
            <a:avLst/>
          </a:prstGeom>
          <a:noFill/>
        </p:spPr>
        <p:txBody>
          <a:bodyPr wrap="square" anchor="t">
            <a:spAutoFit/>
          </a:bodyPr>
          <a:lstStyle/>
          <a:p>
            <a:pPr algn="l">
              <a:lnSpc>
                <a:spcPct val="115000"/>
              </a:lnSpc>
              <a:spcAft>
                <a:spcPts val="200"/>
              </a:spcAft>
            </a:pPr>
            <a:r>
              <a:rPr sz="1300" b="1" i="0">
                <a:solidFill>
                  <a:srgbClr val="2E8B8B"/>
                </a:solidFill>
                <a:latin typeface="Meiryo"/>
                <a:ea typeface="Meiryo"/>
              </a:rPr>
              <a:t>巻末</a:t>
            </a:r>
          </a:p>
        </p:txBody>
      </p:sp>
      <p:sp>
        <p:nvSpPr>
          <p:cNvPr id="5" name="TextBox 4"/>
          <p:cNvSpPr txBox="1"/>
          <p:nvPr/>
        </p:nvSpPr>
        <p:spPr>
          <a:xfrm>
            <a:off x="731520" y="713232"/>
            <a:ext cx="10424160" cy="676656"/>
          </a:xfrm>
          <a:prstGeom prst="rect">
            <a:avLst/>
          </a:prstGeom>
          <a:noFill/>
        </p:spPr>
        <p:txBody>
          <a:bodyPr wrap="square" anchor="t">
            <a:spAutoFit/>
          </a:bodyPr>
          <a:lstStyle/>
          <a:p>
            <a:pPr algn="l">
              <a:lnSpc>
                <a:spcPct val="115000"/>
              </a:lnSpc>
              <a:spcAft>
                <a:spcPts val="200"/>
              </a:spcAft>
            </a:pPr>
            <a:r>
              <a:rPr sz="2700" b="1" i="0">
                <a:solidFill>
                  <a:srgbClr val="1F3A5F"/>
                </a:solidFill>
                <a:latin typeface="Meiryo"/>
                <a:ea typeface="Meiryo"/>
              </a:rPr>
              <a:t>参考文献・出典URL（2026年5月 調査時点）</a:t>
            </a:r>
          </a:p>
        </p:txBody>
      </p:sp>
      <p:sp>
        <p:nvSpPr>
          <p:cNvPr id="6" name="Rectangle 5"/>
          <p:cNvSpPr/>
          <p:nvPr/>
        </p:nvSpPr>
        <p:spPr>
          <a:xfrm>
            <a:off x="731520" y="1481328"/>
            <a:ext cx="10725912" cy="17780"/>
          </a:xfrm>
          <a:prstGeom prst="rect">
            <a:avLst/>
          </a:prstGeom>
          <a:solidFill>
            <a:srgbClr val="D2D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6437376"/>
            <a:ext cx="640080" cy="292608"/>
          </a:xfrm>
          <a:prstGeom prst="rect">
            <a:avLst/>
          </a:prstGeom>
          <a:noFill/>
        </p:spPr>
        <p:txBody>
          <a:bodyPr wrap="square" anchor="t">
            <a:spAutoFit/>
          </a:bodyPr>
          <a:lstStyle/>
          <a:p>
            <a:pPr algn="r">
              <a:lnSpc>
                <a:spcPct val="115000"/>
              </a:lnSpc>
              <a:spcAft>
                <a:spcPts val="200"/>
              </a:spcAft>
            </a:pPr>
            <a:r>
              <a:rPr sz="1100" b="1" i="0">
                <a:solidFill>
                  <a:srgbClr val="5C636E"/>
                </a:solidFill>
                <a:latin typeface="Meiryo"/>
                <a:ea typeface="Meiryo"/>
              </a:rPr>
              <a:t>21</a:t>
            </a:r>
          </a:p>
        </p:txBody>
      </p:sp>
      <p:sp>
        <p:nvSpPr>
          <p:cNvPr id="8" name="TextBox 7"/>
          <p:cNvSpPr txBox="1"/>
          <p:nvPr/>
        </p:nvSpPr>
        <p:spPr>
          <a:xfrm>
            <a:off x="731520" y="6437376"/>
            <a:ext cx="6400800" cy="292608"/>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令和8年度 第3回 介護支援専門員研修会｜予習資料</a:t>
            </a:r>
          </a:p>
        </p:txBody>
      </p:sp>
      <p:sp>
        <p:nvSpPr>
          <p:cNvPr id="9" name="Rectangle 8"/>
          <p:cNvSpPr/>
          <p:nvPr/>
        </p:nvSpPr>
        <p:spPr>
          <a:xfrm>
            <a:off x="731520" y="1700784"/>
            <a:ext cx="10725912"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00784"/>
            <a:ext cx="10515600" cy="310896"/>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制度全般・統計</a:t>
            </a:r>
          </a:p>
        </p:txBody>
      </p:sp>
      <p:sp>
        <p:nvSpPr>
          <p:cNvPr id="11" name="Rectangle 10"/>
          <p:cNvSpPr/>
          <p:nvPr/>
        </p:nvSpPr>
        <p:spPr>
          <a:xfrm>
            <a:off x="868680" y="2121408"/>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066544"/>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最高裁 成年後見関係事件の概況　https://www.courts.go.jp/toukei_siryou/siryo/kouken/index.html</a:t>
            </a:r>
          </a:p>
        </p:txBody>
      </p:sp>
      <p:sp>
        <p:nvSpPr>
          <p:cNvPr id="13" name="Rectangle 12"/>
          <p:cNvSpPr/>
          <p:nvPr/>
        </p:nvSpPr>
        <p:spPr>
          <a:xfrm>
            <a:off x="868680" y="2363724"/>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308860"/>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裁判所 成年後見制度の概要　https://www.courts.go.jp/saiban/koukenp00/koukenp1/index.html</a:t>
            </a:r>
          </a:p>
        </p:txBody>
      </p:sp>
      <p:sp>
        <p:nvSpPr>
          <p:cNvPr id="15" name="Rectangle 14"/>
          <p:cNvSpPr/>
          <p:nvPr/>
        </p:nvSpPr>
        <p:spPr>
          <a:xfrm>
            <a:off x="868680" y="2606040"/>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51176"/>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法務省 成年後見制度Q&amp;A　https://www.moj.go.jp/MINJI/a01.html</a:t>
            </a:r>
          </a:p>
        </p:txBody>
      </p:sp>
      <p:sp>
        <p:nvSpPr>
          <p:cNvPr id="17" name="Rectangle 16"/>
          <p:cNvSpPr/>
          <p:nvPr/>
        </p:nvSpPr>
        <p:spPr>
          <a:xfrm>
            <a:off x="868680" y="2848356"/>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793492"/>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厚労省 成年後見はやわかり　https://guardianship.mhlw.go.jp/</a:t>
            </a:r>
          </a:p>
        </p:txBody>
      </p:sp>
      <p:sp>
        <p:nvSpPr>
          <p:cNvPr id="19" name="Rectangle 18"/>
          <p:cNvSpPr/>
          <p:nvPr/>
        </p:nvSpPr>
        <p:spPr>
          <a:xfrm>
            <a:off x="731520" y="3145536"/>
            <a:ext cx="10725912"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145536"/>
            <a:ext cx="10515600" cy="310896"/>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利用促進・制度見直し</a:t>
            </a:r>
          </a:p>
        </p:txBody>
      </p:sp>
      <p:sp>
        <p:nvSpPr>
          <p:cNvPr id="21" name="Rectangle 20"/>
          <p:cNvSpPr/>
          <p:nvPr/>
        </p:nvSpPr>
        <p:spPr>
          <a:xfrm>
            <a:off x="868680" y="3566160"/>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511296"/>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厚労省 成年後見制度利用促進　https://www.mhlw.go.jp/stf/seisakunitsuite/bunya/0000202622_00017.html</a:t>
            </a:r>
          </a:p>
        </p:txBody>
      </p:sp>
      <p:sp>
        <p:nvSpPr>
          <p:cNvPr id="23" name="Rectangle 22"/>
          <p:cNvSpPr/>
          <p:nvPr/>
        </p:nvSpPr>
        <p:spPr>
          <a:xfrm>
            <a:off x="868680" y="3808476"/>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3753612"/>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法務省 法制審議会 民法（成年後見等関係）部会　https://www.moj.go.jp/shingi1/housei02_003007_00008</a:t>
            </a:r>
          </a:p>
        </p:txBody>
      </p:sp>
      <p:sp>
        <p:nvSpPr>
          <p:cNvPr id="25" name="Rectangle 24"/>
          <p:cNvSpPr/>
          <p:nvPr/>
        </p:nvSpPr>
        <p:spPr>
          <a:xfrm>
            <a:off x="868680" y="4050792"/>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995928"/>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日弁連 改正要綱に対する会長声明(2026.2.12)　https://www.nichibenren.or.jp/document/statement/year/2026/260212.html</a:t>
            </a:r>
          </a:p>
        </p:txBody>
      </p:sp>
      <p:sp>
        <p:nvSpPr>
          <p:cNvPr id="27" name="Rectangle 26"/>
          <p:cNvSpPr/>
          <p:nvPr/>
        </p:nvSpPr>
        <p:spPr>
          <a:xfrm>
            <a:off x="731520" y="4347972"/>
            <a:ext cx="10725912"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4347972"/>
            <a:ext cx="10515600" cy="310896"/>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身寄りなし支援・医療・死後事務</a:t>
            </a:r>
          </a:p>
        </p:txBody>
      </p:sp>
      <p:sp>
        <p:nvSpPr>
          <p:cNvPr id="29" name="Rectangle 28"/>
          <p:cNvSpPr/>
          <p:nvPr/>
        </p:nvSpPr>
        <p:spPr>
          <a:xfrm>
            <a:off x="868680" y="4768596"/>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713732"/>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厚労省 身寄りがない人の入院・意思決定支援ガイドライン(2019)　https://www.mhlw.go.jp/content/000516181.pdf</a:t>
            </a:r>
          </a:p>
        </p:txBody>
      </p:sp>
      <p:sp>
        <p:nvSpPr>
          <p:cNvPr id="31" name="Rectangle 30"/>
          <p:cNvSpPr/>
          <p:nvPr/>
        </p:nvSpPr>
        <p:spPr>
          <a:xfrm>
            <a:off x="868680" y="5010912"/>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956048"/>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厚労省 人生の最終段階における医療・ケアの決定プロセスGL(2018)</a:t>
            </a:r>
          </a:p>
        </p:txBody>
      </p:sp>
      <p:sp>
        <p:nvSpPr>
          <p:cNvPr id="33" name="Rectangle 32"/>
          <p:cNvSpPr/>
          <p:nvPr/>
        </p:nvSpPr>
        <p:spPr>
          <a:xfrm>
            <a:off x="868680" y="5253228"/>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5198364"/>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法務省 成年後見人の死後事務(民法873条の2)　https://www.moj.go.jp/MINJI/minji07_00196.html</a:t>
            </a:r>
          </a:p>
        </p:txBody>
      </p:sp>
      <p:sp>
        <p:nvSpPr>
          <p:cNvPr id="35" name="Rectangle 34"/>
          <p:cNvSpPr/>
          <p:nvPr/>
        </p:nvSpPr>
        <p:spPr>
          <a:xfrm>
            <a:off x="731520" y="5550408"/>
            <a:ext cx="10725912"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550408"/>
            <a:ext cx="10515600" cy="310896"/>
          </a:xfrm>
          <a:prstGeom prst="rect">
            <a:avLst/>
          </a:prstGeom>
          <a:noFill/>
        </p:spPr>
        <p:txBody>
          <a:bodyPr wrap="square" anchor="ctr">
            <a:spAutoFit/>
          </a:bodyPr>
          <a:lstStyle/>
          <a:p>
            <a:pPr algn="l">
              <a:lnSpc>
                <a:spcPct val="115000"/>
              </a:lnSpc>
              <a:spcAft>
                <a:spcPts val="200"/>
              </a:spcAft>
            </a:pPr>
            <a:r>
              <a:rPr sz="1150" b="1" i="0">
                <a:solidFill>
                  <a:srgbClr val="FFFFFF"/>
                </a:solidFill>
                <a:latin typeface="Meiryo"/>
                <a:ea typeface="Meiryo"/>
              </a:rPr>
              <a:t>連携・中央区の窓口</a:t>
            </a:r>
          </a:p>
        </p:txBody>
      </p:sp>
      <p:sp>
        <p:nvSpPr>
          <p:cNvPr id="37" name="Rectangle 36"/>
          <p:cNvSpPr/>
          <p:nvPr/>
        </p:nvSpPr>
        <p:spPr>
          <a:xfrm>
            <a:off x="868680" y="5971032"/>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5916168"/>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リーガルサポート東京支部　https://legal-support-tokyo.jp/</a:t>
            </a:r>
          </a:p>
        </p:txBody>
      </p:sp>
      <p:sp>
        <p:nvSpPr>
          <p:cNvPr id="39" name="Rectangle 38"/>
          <p:cNvSpPr/>
          <p:nvPr/>
        </p:nvSpPr>
        <p:spPr>
          <a:xfrm>
            <a:off x="868680" y="6213348"/>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6158484"/>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日本社会福祉士会 ぱあとなあ　https://www.jacsw.or.jp/citizens/seinenkoken/</a:t>
            </a:r>
          </a:p>
        </p:txBody>
      </p:sp>
      <p:sp>
        <p:nvSpPr>
          <p:cNvPr id="41" name="Rectangle 40"/>
          <p:cNvSpPr/>
          <p:nvPr/>
        </p:nvSpPr>
        <p:spPr>
          <a:xfrm>
            <a:off x="868680" y="6455664"/>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6400800"/>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中央区 成年後見制度の利用促進　https://www.city.chuo.lg.jp/kenkouiryou/fukushiippan/chiikifukushi/koukenseido/index.html</a:t>
            </a:r>
          </a:p>
        </p:txBody>
      </p:sp>
      <p:sp>
        <p:nvSpPr>
          <p:cNvPr id="43" name="Rectangle 42"/>
          <p:cNvSpPr/>
          <p:nvPr/>
        </p:nvSpPr>
        <p:spPr>
          <a:xfrm>
            <a:off x="868680" y="6697980"/>
            <a:ext cx="91440" cy="9144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6643116"/>
            <a:ext cx="10241280" cy="237744"/>
          </a:xfrm>
          <a:prstGeom prst="rect">
            <a:avLst/>
          </a:prstGeom>
          <a:noFill/>
        </p:spPr>
        <p:txBody>
          <a:bodyPr wrap="square" anchor="t">
            <a:spAutoFit/>
          </a:bodyPr>
          <a:lstStyle/>
          <a:p>
            <a:pPr algn="l">
              <a:lnSpc>
                <a:spcPct val="115000"/>
              </a:lnSpc>
              <a:spcAft>
                <a:spcPts val="200"/>
              </a:spcAft>
            </a:pPr>
            <a:r>
              <a:rPr sz="930" b="0" i="0">
                <a:solidFill>
                  <a:srgbClr val="262B33"/>
                </a:solidFill>
                <a:latin typeface="Meiryo"/>
                <a:ea typeface="Meiryo"/>
              </a:rPr>
              <a:t>中央区社協 すてっぷ中央　https://www.shakyo-chuo-city.jp/jigyo/stepchuo</a:t>
            </a:r>
          </a:p>
        </p:txBody>
      </p:sp>
      <p:sp>
        <p:nvSpPr>
          <p:cNvPr id="45" name="TextBox 44"/>
          <p:cNvSpPr txBox="1"/>
          <p:nvPr/>
        </p:nvSpPr>
        <p:spPr>
          <a:xfrm>
            <a:off x="731520" y="6437376"/>
            <a:ext cx="10698480" cy="274320"/>
          </a:xfrm>
          <a:prstGeom prst="rect">
            <a:avLst/>
          </a:prstGeom>
          <a:noFill/>
        </p:spPr>
        <p:txBody>
          <a:bodyPr wrap="square" anchor="t">
            <a:spAutoFit/>
          </a:bodyPr>
          <a:lstStyle/>
          <a:p>
            <a:pPr algn="l">
              <a:lnSpc>
                <a:spcPct val="115000"/>
              </a:lnSpc>
              <a:spcAft>
                <a:spcPts val="200"/>
              </a:spcAft>
            </a:pPr>
            <a:r>
              <a:rPr sz="900" b="0" i="0">
                <a:solidFill>
                  <a:srgbClr val="5C636E"/>
                </a:solidFill>
                <a:latin typeface="Meiryo"/>
                <a:ea typeface="Meiryo"/>
              </a:rPr>
              <a:t>※ 官公庁PDFは自動取得が制限されたため一部数値は二次情報経由。研修資料への引用前に各原典で要確認。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