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137160"/>
          </a:xfrm>
          <a:prstGeom prst="rect">
            <a:avLst/>
          </a:prstGeom>
          <a:solidFill>
            <a:srgbClr val="E8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49240"/>
            <a:ext cx="12191695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Yu Gothic"/>
              </a:rPr>
              <a:t>ハラスメントについて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E8A53A"/>
                </a:solidFill>
                <a:latin typeface="Yu Gothic"/>
              </a:rPr>
              <a:t>Harassment Awareness &amp; Prevention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Yu Gothic"/>
              </a:rPr>
              <a:t>誰もが安心して働き、学び、暮らせる</a:t>
            </a:r>
          </a:p>
          <a:p>
            <a:pPr algn="l"/>
            <a:r>
              <a:rPr sz="2800" b="0">
                <a:solidFill>
                  <a:srgbClr val="FFFFFF"/>
                </a:solidFill>
                <a:latin typeface="Yu Gothic"/>
              </a:rPr>
              <a:t>環境をつくるために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7F3EE"/>
                </a:solidFill>
                <a:latin typeface="Yu Gothic"/>
              </a:rPr>
              <a:t>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目次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Yu Gothic"/>
              </a:rPr>
              <a:t>2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8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7080"/>
                </a:solidFill>
                <a:latin typeface="Yu Gothic"/>
              </a:rPr>
              <a:t>ハラスメントを知る・防ぐ・なくす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640080" cy="640080"/>
          </a:xfrm>
          <a:prstGeom prst="roundRect">
            <a:avLst/>
          </a:prstGeom>
          <a:solidFill>
            <a:srgbClr val="E8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50876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222B3A"/>
                </a:solidFill>
                <a:latin typeface="Yu Gothic"/>
              </a:rPr>
              <a:t>ハラスメントとは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331720"/>
            <a:ext cx="640080" cy="640080"/>
          </a:xfrm>
          <a:prstGeom prst="roundRect">
            <a:avLst/>
          </a:prstGeom>
          <a:solidFill>
            <a:srgbClr val="E8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7744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222B3A"/>
                </a:solidFill>
                <a:latin typeface="Yu Gothic"/>
              </a:rPr>
              <a:t>主なハラスメントの種類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00400"/>
            <a:ext cx="640080" cy="640080"/>
          </a:xfrm>
          <a:prstGeom prst="roundRect">
            <a:avLst/>
          </a:prstGeom>
          <a:solidFill>
            <a:srgbClr val="E8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24612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222B3A"/>
                </a:solidFill>
                <a:latin typeface="Yu Gothic"/>
              </a:rPr>
              <a:t>日本における現状（統計）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69080"/>
            <a:ext cx="640080" cy="640080"/>
          </a:xfrm>
          <a:prstGeom prst="roundRect">
            <a:avLst/>
          </a:prstGeom>
          <a:solidFill>
            <a:srgbClr val="E8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0690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1148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222B3A"/>
                </a:solidFill>
                <a:latin typeface="Yu Gothic"/>
              </a:rPr>
              <a:t>背景にある要因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937760"/>
            <a:ext cx="640080" cy="640080"/>
          </a:xfrm>
          <a:prstGeom prst="roundRect">
            <a:avLst/>
          </a:prstGeom>
          <a:solidFill>
            <a:srgbClr val="E8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9377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9834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222B3A"/>
                </a:solidFill>
                <a:latin typeface="Yu Gothic"/>
              </a:rPr>
              <a:t>被害者への影響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1463040"/>
            <a:ext cx="640080" cy="640080"/>
          </a:xfrm>
          <a:prstGeom prst="roundRect">
            <a:avLst/>
          </a:prstGeom>
          <a:solidFill>
            <a:srgbClr val="E8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14630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150876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222B3A"/>
                </a:solidFill>
                <a:latin typeface="Yu Gothic"/>
              </a:rPr>
              <a:t>ハラスメントのサイン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2331720"/>
            <a:ext cx="640080" cy="640080"/>
          </a:xfrm>
          <a:prstGeom prst="roundRect">
            <a:avLst/>
          </a:prstGeom>
          <a:solidFill>
            <a:srgbClr val="E8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23317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37744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222B3A"/>
                </a:solidFill>
                <a:latin typeface="Yu Gothic"/>
              </a:rPr>
              <a:t>法的枠組みと相談窓口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3200400"/>
            <a:ext cx="640080" cy="640080"/>
          </a:xfrm>
          <a:prstGeom prst="roundRect">
            <a:avLst/>
          </a:prstGeom>
          <a:solidFill>
            <a:srgbClr val="E8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32004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24612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222B3A"/>
                </a:solidFill>
                <a:latin typeface="Yu Gothic"/>
              </a:rPr>
              <a:t>私たちにできること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4069080"/>
            <a:ext cx="640080" cy="640080"/>
          </a:xfrm>
          <a:prstGeom prst="roundRect">
            <a:avLst/>
          </a:prstGeom>
          <a:solidFill>
            <a:srgbClr val="E8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40690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1148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222B3A"/>
                </a:solidFill>
                <a:latin typeface="Yu Gothic"/>
              </a:rPr>
              <a:t>まとめ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01. ハラスメントとは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Yu Gothic"/>
              </a:rPr>
              <a:t>3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8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7080"/>
                </a:solidFill>
                <a:latin typeface="Yu Gothic"/>
              </a:rPr>
              <a:t>ハラスメントを知る・防ぐ・なくす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972800" cy="1554480"/>
          </a:xfrm>
          <a:prstGeom prst="round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E8A53A"/>
                </a:solidFill>
                <a:latin typeface="Yu Gothic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54480"/>
            <a:ext cx="9875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22B3A"/>
                </a:solidFill>
                <a:latin typeface="Yu Gothic"/>
              </a:rPr>
              <a:t>相手の意に反する言動により、相手の尊厳を傷つけ、</a:t>
            </a:r>
          </a:p>
          <a:p>
            <a:pPr algn="l"/>
            <a:r>
              <a:rPr sz="2000" b="1">
                <a:solidFill>
                  <a:srgbClr val="222B3A"/>
                </a:solidFill>
                <a:latin typeface="Yu Gothic"/>
              </a:rPr>
              <a:t>不快感や不利益、就業・学習環境の悪化を生じさせる行為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6032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7080"/>
                </a:solidFill>
                <a:latin typeface="Yu Gothic"/>
              </a:rPr>
              <a:t>（厚生労働省 等の定義をもとに）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91840"/>
            <a:ext cx="3593592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8B1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291840"/>
            <a:ext cx="3593592" cy="640080"/>
          </a:xfrm>
          <a:prstGeom prst="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359359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受け手基準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14800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222B3A"/>
                </a:solidFill>
                <a:latin typeface="Yu Gothic"/>
              </a:rPr>
              <a:t>「冗談のつもり」でも</a:t>
            </a:r>
          </a:p>
          <a:p>
            <a:pPr algn="ctr"/>
            <a:r>
              <a:rPr sz="1500" b="0">
                <a:solidFill>
                  <a:srgbClr val="222B3A"/>
                </a:solidFill>
                <a:latin typeface="Yu Gothic"/>
              </a:rPr>
              <a:t>相手が苦痛なら成立しうる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16552" y="3291840"/>
            <a:ext cx="3593592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8B1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16552" y="3291840"/>
            <a:ext cx="3593592" cy="640080"/>
          </a:xfrm>
          <a:prstGeom prst="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6552" y="3291840"/>
            <a:ext cx="359359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関係性が問われる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4114800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222B3A"/>
                </a:solidFill>
                <a:latin typeface="Yu Gothic"/>
              </a:rPr>
              <a:t>優位性・継続性・</a:t>
            </a:r>
          </a:p>
          <a:p>
            <a:pPr algn="ctr"/>
            <a:r>
              <a:rPr sz="1500" b="0">
                <a:solidFill>
                  <a:srgbClr val="222B3A"/>
                </a:solidFill>
                <a:latin typeface="Yu Gothic"/>
              </a:rPr>
              <a:t>断りにくさが鍵となる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93024" y="3291840"/>
            <a:ext cx="3593592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8B1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93024" y="3291840"/>
            <a:ext cx="3593592" cy="640080"/>
          </a:xfrm>
          <a:prstGeom prst="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3024" y="3291840"/>
            <a:ext cx="359359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組織の責任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4114800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222B3A"/>
                </a:solidFill>
                <a:latin typeface="Yu Gothic"/>
              </a:rPr>
              <a:t>個人間トラブルではなく</a:t>
            </a:r>
          </a:p>
          <a:p>
            <a:pPr algn="ctr"/>
            <a:r>
              <a:rPr sz="1500" b="0">
                <a:solidFill>
                  <a:srgbClr val="222B3A"/>
                </a:solidFill>
                <a:latin typeface="Yu Gothic"/>
              </a:rPr>
              <a:t>組織の問題として対処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02. 主なハラスメントの種類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Yu Gothic"/>
              </a:rPr>
              <a:t>4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8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7080"/>
                </a:solidFill>
                <a:latin typeface="Yu Gothic"/>
              </a:rPr>
              <a:t>ハラスメントを知る・防ぐ・なくす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67080"/>
                </a:solidFill>
                <a:latin typeface="Yu Gothic"/>
              </a:rPr>
              <a:t>職場・学校・家庭など、あらゆる場面で発生しうる多様なハラスメント。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2743200" cy="1920240"/>
          </a:xfrm>
          <a:prstGeom prst="round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920240"/>
            <a:ext cx="109728" cy="411480"/>
          </a:xfrm>
          <a:prstGeom prst="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745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8B1E3F"/>
                </a:solidFill>
                <a:latin typeface="Yu Gothic"/>
              </a:rPr>
              <a:t>パワハラ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468880"/>
            <a:ext cx="2377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22B3A"/>
                </a:solidFill>
                <a:latin typeface="Yu Gothic"/>
              </a:rPr>
              <a:t>職務上の優位性を背景にした</a:t>
            </a:r>
          </a:p>
          <a:p>
            <a:pPr algn="l"/>
            <a:r>
              <a:rPr sz="1300" b="0">
                <a:solidFill>
                  <a:srgbClr val="222B3A"/>
                </a:solidFill>
                <a:latin typeface="Yu Gothic"/>
              </a:rPr>
              <a:t>精神的・身体的攻撃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691640"/>
            <a:ext cx="2743200" cy="1920240"/>
          </a:xfrm>
          <a:prstGeom prst="round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80" y="1920240"/>
            <a:ext cx="109728" cy="411480"/>
          </a:xfrm>
          <a:prstGeom prst="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18745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8B1E3F"/>
                </a:solidFill>
                <a:latin typeface="Yu Gothic"/>
              </a:rPr>
              <a:t>セクハラ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468880"/>
            <a:ext cx="2377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22B3A"/>
                </a:solidFill>
                <a:latin typeface="Yu Gothic"/>
              </a:rPr>
              <a:t>性的な言動による</a:t>
            </a:r>
          </a:p>
          <a:p>
            <a:pPr algn="l"/>
            <a:r>
              <a:rPr sz="1300" b="0">
                <a:solidFill>
                  <a:srgbClr val="222B3A"/>
                </a:solidFill>
                <a:latin typeface="Yu Gothic"/>
              </a:rPr>
              <a:t>就業環境を害する行為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691640"/>
            <a:ext cx="2743200" cy="1920240"/>
          </a:xfrm>
          <a:prstGeom prst="round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46520" y="1920240"/>
            <a:ext cx="109728" cy="411480"/>
          </a:xfrm>
          <a:prstGeom prst="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18745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8B1E3F"/>
                </a:solidFill>
                <a:latin typeface="Yu Gothic"/>
              </a:rPr>
              <a:t>マタハラ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468880"/>
            <a:ext cx="2377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22B3A"/>
                </a:solidFill>
                <a:latin typeface="Yu Gothic"/>
              </a:rPr>
              <a:t>妊娠・出産・育児を</a:t>
            </a:r>
          </a:p>
          <a:p>
            <a:pPr algn="l"/>
            <a:r>
              <a:rPr sz="1300" b="0">
                <a:solidFill>
                  <a:srgbClr val="222B3A"/>
                </a:solidFill>
                <a:latin typeface="Yu Gothic"/>
              </a:rPr>
              <a:t>理由とする不利益取扱い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691640"/>
            <a:ext cx="2743200" cy="1920240"/>
          </a:xfrm>
          <a:prstGeom prst="round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81160" y="1920240"/>
            <a:ext cx="109728" cy="411480"/>
          </a:xfrm>
          <a:prstGeom prst="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40" y="18745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8B1E3F"/>
                </a:solidFill>
                <a:latin typeface="Yu Gothic"/>
              </a:rPr>
              <a:t>モラハラ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468880"/>
            <a:ext cx="2377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22B3A"/>
                </a:solidFill>
                <a:latin typeface="Yu Gothic"/>
              </a:rPr>
              <a:t>言葉・態度による</a:t>
            </a:r>
          </a:p>
          <a:p>
            <a:pPr algn="l"/>
            <a:r>
              <a:rPr sz="1300" b="0">
                <a:solidFill>
                  <a:srgbClr val="222B3A"/>
                </a:solidFill>
                <a:latin typeface="Yu Gothic"/>
              </a:rPr>
              <a:t>継続的な精神的暴力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749040"/>
            <a:ext cx="2743200" cy="1920240"/>
          </a:xfrm>
          <a:prstGeom prst="round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3977640"/>
            <a:ext cx="109728" cy="411480"/>
          </a:xfrm>
          <a:prstGeom prst="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39319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8B1E3F"/>
                </a:solidFill>
                <a:latin typeface="Yu Gothic"/>
              </a:rPr>
              <a:t>カスハラ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526280"/>
            <a:ext cx="2377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22B3A"/>
                </a:solidFill>
                <a:latin typeface="Yu Gothic"/>
              </a:rPr>
              <a:t>顧客・取引先からの</a:t>
            </a:r>
          </a:p>
          <a:p>
            <a:pPr algn="l"/>
            <a:r>
              <a:rPr sz="1300" b="0">
                <a:solidFill>
                  <a:srgbClr val="222B3A"/>
                </a:solidFill>
                <a:latin typeface="Yu Gothic"/>
              </a:rPr>
              <a:t>著しい迷惑行為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0" y="3749040"/>
            <a:ext cx="2743200" cy="1920240"/>
          </a:xfrm>
          <a:prstGeom prst="round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11880" y="3977640"/>
            <a:ext cx="109728" cy="411480"/>
          </a:xfrm>
          <a:prstGeom prst="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94760" y="39319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8B1E3F"/>
                </a:solidFill>
                <a:latin typeface="Yu Gothic"/>
              </a:rPr>
              <a:t>アカハラ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526280"/>
            <a:ext cx="2377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22B3A"/>
                </a:solidFill>
                <a:latin typeface="Yu Gothic"/>
              </a:rPr>
              <a:t>教育・研究上の</a:t>
            </a:r>
          </a:p>
          <a:p>
            <a:pPr algn="l"/>
            <a:r>
              <a:rPr sz="1300" b="0">
                <a:solidFill>
                  <a:srgbClr val="222B3A"/>
                </a:solidFill>
                <a:latin typeface="Yu Gothic"/>
              </a:rPr>
              <a:t>地位を利用した嫌がらせ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3749040"/>
            <a:ext cx="2743200" cy="1920240"/>
          </a:xfrm>
          <a:prstGeom prst="round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46520" y="3977640"/>
            <a:ext cx="109728" cy="411480"/>
          </a:xfrm>
          <a:prstGeom prst="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39319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8B1E3F"/>
                </a:solidFill>
                <a:latin typeface="Yu Gothic"/>
              </a:rPr>
              <a:t>ジェンハラ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4526280"/>
            <a:ext cx="2377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22B3A"/>
                </a:solidFill>
                <a:latin typeface="Yu Gothic"/>
              </a:rPr>
              <a:t>性別役割を押し付ける</a:t>
            </a:r>
          </a:p>
          <a:p>
            <a:pPr algn="l"/>
            <a:r>
              <a:rPr sz="1300" b="0">
                <a:solidFill>
                  <a:srgbClr val="222B3A"/>
                </a:solidFill>
                <a:latin typeface="Yu Gothic"/>
              </a:rPr>
              <a:t>差別的言動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49040"/>
            <a:ext cx="2743200" cy="1920240"/>
          </a:xfrm>
          <a:prstGeom prst="round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81160" y="3977640"/>
            <a:ext cx="109728" cy="411480"/>
          </a:xfrm>
          <a:prstGeom prst="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64040" y="39319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8B1E3F"/>
                </a:solidFill>
                <a:latin typeface="Yu Gothic"/>
              </a:rPr>
              <a:t>リモハラ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64040" y="4526280"/>
            <a:ext cx="2377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22B3A"/>
                </a:solidFill>
                <a:latin typeface="Yu Gothic"/>
              </a:rPr>
              <a:t>テレワーク下での</a:t>
            </a:r>
          </a:p>
          <a:p>
            <a:pPr algn="l"/>
            <a:r>
              <a:rPr sz="1300" b="0">
                <a:solidFill>
                  <a:srgbClr val="222B3A"/>
                </a:solidFill>
                <a:latin typeface="Yu Gothic"/>
              </a:rPr>
              <a:t>過度な監視・干渉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03. 日本における現状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Yu Gothic"/>
              </a:rPr>
              <a:t>5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8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7080"/>
                </a:solidFill>
                <a:latin typeface="Yu Gothic"/>
              </a:rPr>
              <a:t>ハラスメントを知る・防ぐ・なくす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67080"/>
                </a:solidFill>
                <a:latin typeface="Yu Gothic"/>
              </a:rPr>
              <a:t>厚生労働省の実態調査では、依然として多くの人が被害を経験しています。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3593592" cy="2743200"/>
          </a:xfrm>
          <a:prstGeom prst="round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3593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3EE"/>
                </a:solidFill>
                <a:latin typeface="Yu Gothic"/>
              </a:rPr>
              <a:t>過去3年でパワハラを受けた人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3593592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Yu Gothic"/>
              </a:rPr>
              <a:t>約 3 人に 1 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3794760"/>
            <a:ext cx="1399032" cy="36576"/>
          </a:xfrm>
          <a:prstGeom prst="rect">
            <a:avLst/>
          </a:prstGeom>
          <a:solidFill>
            <a:srgbClr val="E8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35935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7F3EE"/>
                </a:solidFill>
                <a:latin typeface="Yu Gothic"/>
              </a:rPr>
              <a:t>全業種共通の課題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6552" y="1828800"/>
            <a:ext cx="3593592" cy="2743200"/>
          </a:xfrm>
          <a:prstGeom prst="round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2057400"/>
            <a:ext cx="3593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3EE"/>
                </a:solidFill>
                <a:latin typeface="Yu Gothic"/>
              </a:rPr>
              <a:t>セクハラを経験した人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2651760"/>
            <a:ext cx="3593592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Yu Gothic"/>
              </a:rPr>
              <a:t>約 10 人に 1 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13832" y="3794760"/>
            <a:ext cx="1399032" cy="36576"/>
          </a:xfrm>
          <a:prstGeom prst="rect">
            <a:avLst/>
          </a:prstGeom>
          <a:solidFill>
            <a:srgbClr val="E8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6552" y="3931920"/>
            <a:ext cx="35935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7F3EE"/>
                </a:solidFill>
                <a:latin typeface="Yu Gothic"/>
              </a:rPr>
              <a:t>報告されにくい傾向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93024" y="1828800"/>
            <a:ext cx="3593592" cy="2743200"/>
          </a:xfrm>
          <a:prstGeom prst="round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3024" y="2057400"/>
            <a:ext cx="3593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3EE"/>
                </a:solidFill>
                <a:latin typeface="Yu Gothic"/>
              </a:rPr>
              <a:t>カスハラを受けた人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2651760"/>
            <a:ext cx="3593592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Yu Gothic"/>
              </a:rPr>
              <a:t>約 3 人に 1 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90304" y="3794760"/>
            <a:ext cx="1399032" cy="36576"/>
          </a:xfrm>
          <a:prstGeom prst="rect">
            <a:avLst/>
          </a:prstGeom>
          <a:solidFill>
            <a:srgbClr val="E8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3024" y="3931920"/>
            <a:ext cx="35935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7F3EE"/>
                </a:solidFill>
                <a:latin typeface="Yu Gothic"/>
              </a:rPr>
              <a:t>サービス業を中心に増加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846320"/>
            <a:ext cx="10972800" cy="1280160"/>
          </a:xfrm>
          <a:prstGeom prst="round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983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8B1E3F"/>
                </a:solidFill>
                <a:latin typeface="Yu Gothic"/>
              </a:rPr>
              <a:t>■ 顕在化しにくい構造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3949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22B3A"/>
                </a:solidFill>
                <a:latin typeface="Yu Gothic"/>
              </a:rPr>
              <a:t>・被害を相談しても「何も変わらなかった」という声が多数</a:t>
            </a:r>
          </a:p>
          <a:p>
            <a:pPr algn="l"/>
            <a:r>
              <a:rPr sz="1300" b="0">
                <a:solidFill>
                  <a:srgbClr val="222B3A"/>
                </a:solidFill>
                <a:latin typeface="Yu Gothic"/>
              </a:rPr>
              <a:t>・「自分にも非がある」と感じてしまい、沈黙してしまうケースも目立つ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04. 背景にある要因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Yu Gothic"/>
              </a:rPr>
              <a:t>6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8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7080"/>
                </a:solidFill>
                <a:latin typeface="Yu Gothic"/>
              </a:rPr>
              <a:t>ハラスメントを知る・防ぐ・なくす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3593592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8B1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280160"/>
            <a:ext cx="640080" cy="640080"/>
          </a:xfrm>
          <a:prstGeom prst="round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2801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50876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8B1E3F"/>
                </a:solidFill>
                <a:latin typeface="Yu Gothic"/>
              </a:rPr>
              <a:t>閉鎖的な組織風土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7744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22B3A"/>
                </a:solidFill>
                <a:latin typeface="Yu Gothic"/>
              </a:rPr>
              <a:t>声を上げづらく</a:t>
            </a:r>
          </a:p>
          <a:p>
            <a:pPr algn="l"/>
            <a:r>
              <a:rPr sz="1300" b="0">
                <a:solidFill>
                  <a:srgbClr val="222B3A"/>
                </a:solidFill>
                <a:latin typeface="Yu Gothic"/>
              </a:rPr>
              <a:t>問題が表面化しにくい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1463040"/>
            <a:ext cx="3593592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8B1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0872" y="1280160"/>
            <a:ext cx="640080" cy="640080"/>
          </a:xfrm>
          <a:prstGeom prst="round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2801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13832" y="150876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8B1E3F"/>
                </a:solidFill>
                <a:latin typeface="Yu Gothic"/>
              </a:rPr>
              <a:t>過度な上下関係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237744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22B3A"/>
                </a:solidFill>
                <a:latin typeface="Yu Gothic"/>
              </a:rPr>
              <a:t>「指導」と「攻撃」の</a:t>
            </a:r>
          </a:p>
          <a:p>
            <a:pPr algn="l"/>
            <a:r>
              <a:rPr sz="1300" b="0">
                <a:solidFill>
                  <a:srgbClr val="222B3A"/>
                </a:solidFill>
                <a:latin typeface="Yu Gothic"/>
              </a:rPr>
              <a:t>線引きが曖昧になる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3024" y="1463040"/>
            <a:ext cx="3593592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8B1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67344" y="1280160"/>
            <a:ext cx="640080" cy="640080"/>
          </a:xfrm>
          <a:prstGeom prst="round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67344" y="12801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4" y="150876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8B1E3F"/>
                </a:solidFill>
                <a:latin typeface="Yu Gothic"/>
              </a:rPr>
              <a:t>長時間労働・高負荷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7344" y="237744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22B3A"/>
                </a:solidFill>
                <a:latin typeface="Yu Gothic"/>
              </a:rPr>
              <a:t>余裕のなさが</a:t>
            </a:r>
          </a:p>
          <a:p>
            <a:pPr algn="l"/>
            <a:r>
              <a:rPr sz="1300" b="0">
                <a:solidFill>
                  <a:srgbClr val="222B3A"/>
                </a:solidFill>
                <a:latin typeface="Yu Gothic"/>
              </a:rPr>
              <a:t>他者への攻撃性を生む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931920"/>
            <a:ext cx="3593592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8B1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400" y="3749040"/>
            <a:ext cx="640080" cy="640080"/>
          </a:xfrm>
          <a:prstGeom prst="round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7490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39776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8B1E3F"/>
                </a:solidFill>
                <a:latin typeface="Yu Gothic"/>
              </a:rPr>
              <a:t>価値観の多様化への遅れ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84632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22B3A"/>
                </a:solidFill>
                <a:latin typeface="Yu Gothic"/>
              </a:rPr>
              <a:t>性別・年齢・国籍など</a:t>
            </a:r>
          </a:p>
          <a:p>
            <a:pPr algn="l"/>
            <a:r>
              <a:rPr sz="1300" b="0">
                <a:solidFill>
                  <a:srgbClr val="222B3A"/>
                </a:solidFill>
                <a:latin typeface="Yu Gothic"/>
              </a:rPr>
              <a:t>無意識の偏見が残る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16552" y="3931920"/>
            <a:ext cx="3593592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8B1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90872" y="3749040"/>
            <a:ext cx="640080" cy="640080"/>
          </a:xfrm>
          <a:prstGeom prst="round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90872" y="37490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13832" y="39776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8B1E3F"/>
                </a:solidFill>
                <a:latin typeface="Yu Gothic"/>
              </a:rPr>
              <a:t>教育・研修の不足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90872" y="484632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22B3A"/>
                </a:solidFill>
                <a:latin typeface="Yu Gothic"/>
              </a:rPr>
              <a:t>何がハラスメントか</a:t>
            </a:r>
          </a:p>
          <a:p>
            <a:pPr algn="l"/>
            <a:r>
              <a:rPr sz="1300" b="0">
                <a:solidFill>
                  <a:srgbClr val="222B3A"/>
                </a:solidFill>
                <a:latin typeface="Yu Gothic"/>
              </a:rPr>
              <a:t>共通理解がない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93024" y="3931920"/>
            <a:ext cx="3593592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8B1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67344" y="3749040"/>
            <a:ext cx="640080" cy="640080"/>
          </a:xfrm>
          <a:prstGeom prst="round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67344" y="37490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0304" y="39776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8B1E3F"/>
                </a:solidFill>
                <a:latin typeface="Yu Gothic"/>
              </a:rPr>
              <a:t>相談制度の不備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7344" y="484632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22B3A"/>
                </a:solidFill>
                <a:latin typeface="Yu Gothic"/>
              </a:rPr>
              <a:t>通報しても</a:t>
            </a:r>
          </a:p>
          <a:p>
            <a:pPr algn="l"/>
            <a:r>
              <a:rPr sz="1300" b="0">
                <a:solidFill>
                  <a:srgbClr val="222B3A"/>
                </a:solidFill>
                <a:latin typeface="Yu Gothic"/>
              </a:rPr>
              <a:t>適切に処理されない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05. 被害者への影響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Yu Gothic"/>
              </a:rPr>
              <a:t>7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8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7080"/>
                </a:solidFill>
                <a:latin typeface="Yu Gothic"/>
              </a:rPr>
              <a:t>ハラスメントを知る・防ぐ・なくす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5212080" cy="2468880"/>
          </a:xfrm>
          <a:prstGeom prst="round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164592" cy="2468880"/>
          </a:xfrm>
          <a:prstGeom prst="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08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8B1E3F"/>
                </a:solidFill>
                <a:latin typeface="Yu Gothic"/>
              </a:rPr>
              <a:t>心の健康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57400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A"/>
                </a:solidFill>
                <a:latin typeface="Yu Gothic"/>
              </a:rPr>
              <a:t>・うつ・不安障害</a:t>
            </a:r>
          </a:p>
          <a:p>
            <a:pPr algn="l"/>
            <a:r>
              <a:rPr sz="1400" b="0">
                <a:solidFill>
                  <a:srgbClr val="222B3A"/>
                </a:solidFill>
                <a:latin typeface="Yu Gothic"/>
              </a:rPr>
              <a:t>・自己肯定感の低下</a:t>
            </a:r>
          </a:p>
          <a:p>
            <a:pPr algn="l"/>
            <a:r>
              <a:rPr sz="1400" b="0">
                <a:solidFill>
                  <a:srgbClr val="222B3A"/>
                </a:solidFill>
                <a:latin typeface="Yu Gothic"/>
              </a:rPr>
              <a:t>・PTSD・フラッシュバック</a:t>
            </a:r>
          </a:p>
          <a:p>
            <a:pPr algn="l"/>
            <a:r>
              <a:rPr sz="1400" b="0">
                <a:solidFill>
                  <a:srgbClr val="222B3A"/>
                </a:solidFill>
                <a:latin typeface="Yu Gothic"/>
              </a:rPr>
              <a:t>・睡眠障害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6792" y="1371600"/>
            <a:ext cx="5212080" cy="2468880"/>
          </a:xfrm>
          <a:prstGeom prst="round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36792" y="1371600"/>
            <a:ext cx="164592" cy="2468880"/>
          </a:xfrm>
          <a:prstGeom prst="rect">
            <a:avLst/>
          </a:prstGeom>
          <a:solidFill>
            <a:srgbClr val="E8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02552" y="1508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A53A"/>
                </a:solidFill>
                <a:latin typeface="Yu Gothic"/>
              </a:rPr>
              <a:t>身体の健康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2552" y="2057400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A"/>
                </a:solidFill>
                <a:latin typeface="Yu Gothic"/>
              </a:rPr>
              <a:t>・頭痛、腹痛、めまい</a:t>
            </a:r>
          </a:p>
          <a:p>
            <a:pPr algn="l"/>
            <a:r>
              <a:rPr sz="1400" b="0">
                <a:solidFill>
                  <a:srgbClr val="222B3A"/>
                </a:solidFill>
                <a:latin typeface="Yu Gothic"/>
              </a:rPr>
              <a:t>・食欲不振、過食</a:t>
            </a:r>
          </a:p>
          <a:p>
            <a:pPr algn="l"/>
            <a:r>
              <a:rPr sz="1400" b="0">
                <a:solidFill>
                  <a:srgbClr val="222B3A"/>
                </a:solidFill>
                <a:latin typeface="Yu Gothic"/>
              </a:rPr>
              <a:t>・慢性疲労</a:t>
            </a:r>
          </a:p>
          <a:p>
            <a:pPr algn="l"/>
            <a:r>
              <a:rPr sz="1400" b="0">
                <a:solidFill>
                  <a:srgbClr val="222B3A"/>
                </a:solidFill>
                <a:latin typeface="Yu Gothic"/>
              </a:rPr>
              <a:t>・心身症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23360"/>
            <a:ext cx="5212080" cy="2468880"/>
          </a:xfrm>
          <a:prstGeom prst="round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023360"/>
            <a:ext cx="164592" cy="2468880"/>
          </a:xfrm>
          <a:prstGeom prst="rect">
            <a:avLst/>
          </a:prstGeom>
          <a:solidFill>
            <a:srgbClr val="2E7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605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E7D7A"/>
                </a:solidFill>
                <a:latin typeface="Yu Gothic"/>
              </a:rPr>
              <a:t>仕事・学業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709160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A"/>
                </a:solidFill>
                <a:latin typeface="Yu Gothic"/>
              </a:rPr>
              <a:t>・集中力・生産性の低下</a:t>
            </a:r>
          </a:p>
          <a:p>
            <a:pPr algn="l"/>
            <a:r>
              <a:rPr sz="1400" b="0">
                <a:solidFill>
                  <a:srgbClr val="222B3A"/>
                </a:solidFill>
                <a:latin typeface="Yu Gothic"/>
              </a:rPr>
              <a:t>・休職・退職・転職</a:t>
            </a:r>
          </a:p>
          <a:p>
            <a:pPr algn="l"/>
            <a:r>
              <a:rPr sz="1400" b="0">
                <a:solidFill>
                  <a:srgbClr val="222B3A"/>
                </a:solidFill>
                <a:latin typeface="Yu Gothic"/>
              </a:rPr>
              <a:t>・キャリアの中断</a:t>
            </a:r>
          </a:p>
          <a:p>
            <a:pPr algn="l"/>
            <a:r>
              <a:rPr sz="1400" b="0">
                <a:solidFill>
                  <a:srgbClr val="222B3A"/>
                </a:solidFill>
                <a:latin typeface="Yu Gothic"/>
              </a:rPr>
              <a:t>・経済的な損失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36792" y="4023360"/>
            <a:ext cx="5212080" cy="2468880"/>
          </a:xfrm>
          <a:prstGeom prst="round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36792" y="4023360"/>
            <a:ext cx="164592" cy="24688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2552" y="41605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Yu Gothic"/>
              </a:rPr>
              <a:t>人間関係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4709160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A"/>
                </a:solidFill>
                <a:latin typeface="Yu Gothic"/>
              </a:rPr>
              <a:t>・人間不信、孤立</a:t>
            </a:r>
          </a:p>
          <a:p>
            <a:pPr algn="l"/>
            <a:r>
              <a:rPr sz="1400" b="0">
                <a:solidFill>
                  <a:srgbClr val="222B3A"/>
                </a:solidFill>
                <a:latin typeface="Yu Gothic"/>
              </a:rPr>
              <a:t>・家族・友人との関係悪化</a:t>
            </a:r>
          </a:p>
          <a:p>
            <a:pPr algn="l"/>
            <a:r>
              <a:rPr sz="1400" b="0">
                <a:solidFill>
                  <a:srgbClr val="222B3A"/>
                </a:solidFill>
                <a:latin typeface="Yu Gothic"/>
              </a:rPr>
              <a:t>・社会参加への不安</a:t>
            </a:r>
          </a:p>
          <a:p>
            <a:pPr algn="l"/>
            <a:r>
              <a:rPr sz="1400" b="0">
                <a:solidFill>
                  <a:srgbClr val="222B3A"/>
                </a:solidFill>
                <a:latin typeface="Yu Gothic"/>
              </a:rPr>
              <a:t>・新しい職場での萎縮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06. ハラスメントのサイン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Yu Gothic"/>
              </a:rPr>
              <a:t>8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8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7080"/>
                </a:solidFill>
                <a:latin typeface="Yu Gothic"/>
              </a:rPr>
              <a:t>ハラスメントを知る・防ぐ・なくす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67080"/>
                </a:solidFill>
                <a:latin typeface="Yu Gothic"/>
              </a:rPr>
              <a:t>同僚・部下・友人にこんな変化が見られたら、声をかけてみてください。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422392" cy="777240"/>
          </a:xfrm>
          <a:prstGeom prst="round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993392"/>
            <a:ext cx="457200" cy="457200"/>
          </a:xfrm>
          <a:prstGeom prst="round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9339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828800"/>
            <a:ext cx="4480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22B3A"/>
                </a:solidFill>
                <a:latin typeface="Yu Gothic"/>
              </a:rPr>
              <a:t>遅刻・欠勤・早退が増えた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828800"/>
            <a:ext cx="5422392" cy="777240"/>
          </a:xfrm>
          <a:prstGeom prst="round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73952" y="1993392"/>
            <a:ext cx="457200" cy="457200"/>
          </a:xfrm>
          <a:prstGeom prst="round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99339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1828800"/>
            <a:ext cx="4480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22B3A"/>
                </a:solidFill>
                <a:latin typeface="Yu Gothic"/>
              </a:rPr>
              <a:t>表情が乏しく、笑顔が減った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788920"/>
            <a:ext cx="5422392" cy="777240"/>
          </a:xfrm>
          <a:prstGeom prst="round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2953512"/>
            <a:ext cx="457200" cy="457200"/>
          </a:xfrm>
          <a:prstGeom prst="round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95351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2788920"/>
            <a:ext cx="4480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22B3A"/>
                </a:solidFill>
                <a:latin typeface="Yu Gothic"/>
              </a:rPr>
              <a:t>特定の人物の前で急に萎縮する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2788920"/>
            <a:ext cx="5422392" cy="777240"/>
          </a:xfrm>
          <a:prstGeom prst="round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73952" y="2953512"/>
            <a:ext cx="457200" cy="457200"/>
          </a:xfrm>
          <a:prstGeom prst="round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295351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4032" y="2788920"/>
            <a:ext cx="4480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22B3A"/>
                </a:solidFill>
                <a:latin typeface="Yu Gothic"/>
              </a:rPr>
              <a:t>メール・会話で言い回しが防衛的になる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749040"/>
            <a:ext cx="5422392" cy="777240"/>
          </a:xfrm>
          <a:prstGeom prst="round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68680" y="3913632"/>
            <a:ext cx="457200" cy="457200"/>
          </a:xfrm>
          <a:prstGeom prst="round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391363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3749040"/>
            <a:ext cx="4480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22B3A"/>
                </a:solidFill>
                <a:latin typeface="Yu Gothic"/>
              </a:rPr>
              <a:t>業務上のミスや物忘れが目立つ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45352" y="3749040"/>
            <a:ext cx="5422392" cy="777240"/>
          </a:xfrm>
          <a:prstGeom prst="round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73952" y="3913632"/>
            <a:ext cx="457200" cy="457200"/>
          </a:xfrm>
          <a:prstGeom prst="round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3952" y="391363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2" y="3749040"/>
            <a:ext cx="4480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22B3A"/>
                </a:solidFill>
                <a:latin typeface="Yu Gothic"/>
              </a:rPr>
              <a:t>体調不良の訴え、通院が増える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709160"/>
            <a:ext cx="5422392" cy="777240"/>
          </a:xfrm>
          <a:prstGeom prst="round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68680" y="4873752"/>
            <a:ext cx="457200" cy="457200"/>
          </a:xfrm>
          <a:prstGeom prst="round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8737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8760" y="4709160"/>
            <a:ext cx="4480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22B3A"/>
                </a:solidFill>
                <a:latin typeface="Yu Gothic"/>
              </a:rPr>
              <a:t>飲み会や雑談を極端に避けるようになる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45352" y="4709160"/>
            <a:ext cx="5422392" cy="777240"/>
          </a:xfrm>
          <a:prstGeom prst="round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73952" y="4873752"/>
            <a:ext cx="457200" cy="457200"/>
          </a:xfrm>
          <a:prstGeom prst="round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73952" y="48737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14032" y="4709160"/>
            <a:ext cx="4480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22B3A"/>
                </a:solidFill>
                <a:latin typeface="Yu Gothic"/>
              </a:rPr>
              <a:t>「自分が悪い」と過度に自責する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5897880"/>
            <a:ext cx="10972800" cy="457200"/>
          </a:xfrm>
          <a:prstGeom prst="round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ポイント：「大丈夫？」より「最近どう？」とフラットに尋ねる。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07. 法的枠組みと相談窓口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Yu Gothic"/>
              </a:rPr>
              <a:t>9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8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7080"/>
                </a:solidFill>
                <a:latin typeface="Yu Gothic"/>
              </a:rPr>
              <a:t>ハラスメントを知る・防ぐ・なくす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5486400" cy="4754880"/>
          </a:xfrm>
          <a:prstGeom prst="round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5486400" cy="548640"/>
          </a:xfrm>
          <a:prstGeom prst="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主な法的枠組み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B1E3F"/>
                </a:solidFill>
                <a:latin typeface="Yu Gothic"/>
              </a:rPr>
              <a:t>● 労働施策総合推進法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3774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Yu Gothic"/>
              </a:rPr>
              <a:t>パワハラ防止を企業に義務化（2022年〜）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432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B1E3F"/>
                </a:solidFill>
                <a:latin typeface="Yu Gothic"/>
              </a:rPr>
              <a:t>● 男女雇用機会均等法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0175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Yu Gothic"/>
              </a:rPr>
              <a:t>セクハラ・マタハラ防止措置を義務化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832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B1E3F"/>
                </a:solidFill>
                <a:latin typeface="Yu Gothic"/>
              </a:rPr>
              <a:t>● 育児・介護休業法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6576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Yu Gothic"/>
              </a:rPr>
              <a:t>育児休業等に関するハラスメント防止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B1E3F"/>
                </a:solidFill>
                <a:latin typeface="Yu Gothic"/>
              </a:rPr>
              <a:t>● 民法（不法行為）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2976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Yu Gothic"/>
              </a:rPr>
              <a:t>損害賠償請求の根拠となる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634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B1E3F"/>
                </a:solidFill>
                <a:latin typeface="Yu Gothic"/>
              </a:rPr>
              <a:t>● 刑法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9377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Yu Gothic"/>
              </a:rPr>
              <a:t>暴行・脅迫・名誉毀損などに該当する場合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03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B1E3F"/>
                </a:solidFill>
                <a:latin typeface="Yu Gothic"/>
              </a:rPr>
              <a:t>● カスハラ対策（東京都条例 等）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5778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Yu Gothic"/>
              </a:rPr>
              <a:t>顧客からの著しい迷惑行為への対応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36792" y="1371600"/>
            <a:ext cx="5303520" cy="4754880"/>
          </a:xfrm>
          <a:prstGeom prst="round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36792" y="1371600"/>
            <a:ext cx="5303520" cy="548640"/>
          </a:xfrm>
          <a:prstGeom prst="rect">
            <a:avLst/>
          </a:prstGeom>
          <a:solidFill>
            <a:srgbClr val="E8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792" y="137160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相談できる窓口（一例）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1031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22B3A"/>
                </a:solidFill>
                <a:latin typeface="Yu Gothic"/>
              </a:rPr>
              <a:t>総合労働相談コーナー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45059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B1E3F"/>
                </a:solidFill>
                <a:latin typeface="Yu Gothic"/>
              </a:rPr>
              <a:t>☎ 各都道府県労働局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8803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22B3A"/>
                </a:solidFill>
                <a:latin typeface="Yu Gothic"/>
              </a:rPr>
              <a:t>ハラスメント悩み相談室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22783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B1E3F"/>
                </a:solidFill>
                <a:latin typeface="Yu Gothic"/>
              </a:rPr>
              <a:t>☎ 0120-714-864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6576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22B3A"/>
                </a:solidFill>
                <a:latin typeface="Yu Gothic"/>
              </a:rPr>
              <a:t>法テラス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00507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B1E3F"/>
                </a:solidFill>
                <a:latin typeface="Yu Gothic"/>
              </a:rPr>
              <a:t>☎ 0570-078-374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4348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22B3A"/>
                </a:solidFill>
                <a:latin typeface="Yu Gothic"/>
              </a:rPr>
              <a:t>みんなの人権110番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78231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B1E3F"/>
                </a:solidFill>
                <a:latin typeface="Yu Gothic"/>
              </a:rPr>
              <a:t>☎ 0570-003-110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212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22B3A"/>
                </a:solidFill>
                <a:latin typeface="Yu Gothic"/>
              </a:rPr>
              <a:t>社内ハラスメント相談窓口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55955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B1E3F"/>
                </a:solidFill>
                <a:latin typeface="Yu Gothic"/>
              </a:rPr>
              <a:t>☎ 各企業の窓口・産業医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08. 私たちにできること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Yu Gothic"/>
              </a:rPr>
              <a:t>10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8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7080"/>
                </a:solidFill>
                <a:latin typeface="Yu Gothic"/>
              </a:rPr>
              <a:t>ハラスメントを知る・防ぐ・なくす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52120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8B1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5212080" cy="502920"/>
          </a:xfrm>
          <a:prstGeom prst="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経営層・管理職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A"/>
                </a:solidFill>
                <a:latin typeface="Yu Gothic"/>
              </a:rPr>
              <a:t>・トップの明確な宣言</a:t>
            </a:r>
          </a:p>
          <a:p>
            <a:pPr algn="l"/>
            <a:r>
              <a:rPr sz="1400" b="0">
                <a:solidFill>
                  <a:srgbClr val="222B3A"/>
                </a:solidFill>
                <a:latin typeface="Yu Gothic"/>
              </a:rPr>
              <a:t>・研修を継続的に実施</a:t>
            </a:r>
          </a:p>
          <a:p>
            <a:pPr algn="l"/>
            <a:r>
              <a:rPr sz="1400" b="0">
                <a:solidFill>
                  <a:srgbClr val="222B3A"/>
                </a:solidFill>
                <a:latin typeface="Yu Gothic"/>
              </a:rPr>
              <a:t>・相談・通報の窓口整備</a:t>
            </a:r>
          </a:p>
          <a:p>
            <a:pPr algn="l"/>
            <a:r>
              <a:rPr sz="1400" b="0">
                <a:solidFill>
                  <a:srgbClr val="222B3A"/>
                </a:solidFill>
                <a:latin typeface="Yu Gothic"/>
              </a:rPr>
              <a:t>・処分基準を明確化する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6792" y="1371600"/>
            <a:ext cx="52120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8A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36792" y="1371600"/>
            <a:ext cx="5212080" cy="502920"/>
          </a:xfrm>
          <a:prstGeom prst="rect">
            <a:avLst/>
          </a:prstGeom>
          <a:solidFill>
            <a:srgbClr val="E8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37160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同僚・チーム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057400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A"/>
                </a:solidFill>
                <a:latin typeface="Yu Gothic"/>
              </a:rPr>
              <a:t>・違和感を見過ごさない</a:t>
            </a:r>
          </a:p>
          <a:p>
            <a:pPr algn="l"/>
            <a:r>
              <a:rPr sz="1400" b="0">
                <a:solidFill>
                  <a:srgbClr val="222B3A"/>
                </a:solidFill>
                <a:latin typeface="Yu Gothic"/>
              </a:rPr>
              <a:t>・被害者を孤立させない</a:t>
            </a:r>
          </a:p>
          <a:p>
            <a:pPr algn="l"/>
            <a:r>
              <a:rPr sz="1400" b="0">
                <a:solidFill>
                  <a:srgbClr val="222B3A"/>
                </a:solidFill>
                <a:latin typeface="Yu Gothic"/>
              </a:rPr>
              <a:t>・「冗談だから」と流さない</a:t>
            </a:r>
          </a:p>
          <a:p>
            <a:pPr algn="l"/>
            <a:r>
              <a:rPr sz="1400" b="0">
                <a:solidFill>
                  <a:srgbClr val="222B3A"/>
                </a:solidFill>
                <a:latin typeface="Yu Gothic"/>
              </a:rPr>
              <a:t>・記録に残し、共有する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23360"/>
            <a:ext cx="52120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2E7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023360"/>
            <a:ext cx="5212080" cy="502920"/>
          </a:xfrm>
          <a:prstGeom prst="rect">
            <a:avLst/>
          </a:prstGeom>
          <a:solidFill>
            <a:srgbClr val="2E7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02336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被害を受けた本人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09160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A"/>
                </a:solidFill>
                <a:latin typeface="Yu Gothic"/>
              </a:rPr>
              <a:t>・「自分が悪い」と思わない</a:t>
            </a:r>
          </a:p>
          <a:p>
            <a:pPr algn="l"/>
            <a:r>
              <a:rPr sz="1400" b="0">
                <a:solidFill>
                  <a:srgbClr val="222B3A"/>
                </a:solidFill>
                <a:latin typeface="Yu Gothic"/>
              </a:rPr>
              <a:t>・日時・内容を記録する</a:t>
            </a:r>
          </a:p>
          <a:p>
            <a:pPr algn="l"/>
            <a:r>
              <a:rPr sz="1400" b="0">
                <a:solidFill>
                  <a:srgbClr val="222B3A"/>
                </a:solidFill>
                <a:latin typeface="Yu Gothic"/>
              </a:rPr>
              <a:t>・第三者・専門窓口に相談</a:t>
            </a:r>
          </a:p>
          <a:p>
            <a:pPr algn="l"/>
            <a:r>
              <a:rPr sz="1400" b="0">
                <a:solidFill>
                  <a:srgbClr val="222B3A"/>
                </a:solidFill>
                <a:latin typeface="Yu Gothic"/>
              </a:rPr>
              <a:t>・健康と安全を最優先に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36792" y="4023360"/>
            <a:ext cx="52120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36792" y="4023360"/>
            <a:ext cx="521208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402336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私たち一人ひとり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4709160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A"/>
                </a:solidFill>
                <a:latin typeface="Yu Gothic"/>
              </a:rPr>
              <a:t>・正しい知識を持つ</a:t>
            </a:r>
          </a:p>
          <a:p>
            <a:pPr algn="l"/>
            <a:r>
              <a:rPr sz="1400" b="0">
                <a:solidFill>
                  <a:srgbClr val="222B3A"/>
                </a:solidFill>
                <a:latin typeface="Yu Gothic"/>
              </a:rPr>
              <a:t>・無意識の偏見を見直す</a:t>
            </a:r>
          </a:p>
          <a:p>
            <a:pPr algn="l"/>
            <a:r>
              <a:rPr sz="1400" b="0">
                <a:solidFill>
                  <a:srgbClr val="222B3A"/>
                </a:solidFill>
                <a:latin typeface="Yu Gothic"/>
              </a:rPr>
              <a:t>・受け手の感じ方を尊重</a:t>
            </a:r>
          </a:p>
          <a:p>
            <a:pPr algn="l"/>
            <a:r>
              <a:rPr sz="1400" b="0">
                <a:solidFill>
                  <a:srgbClr val="222B3A"/>
                </a:solidFill>
                <a:latin typeface="Yu Gothic"/>
              </a:rPr>
              <a:t>・声を上げる人を守る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09. 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92608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Yu Gothic"/>
              </a:rPr>
              <a:t>11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E8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7080"/>
                </a:solidFill>
                <a:latin typeface="Yu Gothic"/>
              </a:rPr>
              <a:t>ハラスメントを知る・防ぐ・なくす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972800" cy="1417320"/>
          </a:xfrm>
          <a:prstGeom prst="round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182880" cy="1417320"/>
          </a:xfrm>
          <a:prstGeom prst="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40" y="1691640"/>
            <a:ext cx="868680" cy="868680"/>
          </a:xfrm>
          <a:prstGeom prst="round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4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600200"/>
            <a:ext cx="9326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8B1E3F"/>
                </a:solidFill>
                <a:latin typeface="Yu Gothic"/>
              </a:rPr>
              <a:t>ハラスメントは「個人の問題」ではなく</a:t>
            </a:r>
          </a:p>
          <a:p>
            <a:pPr algn="l"/>
            <a:r>
              <a:rPr sz="1800" b="1">
                <a:solidFill>
                  <a:srgbClr val="8B1E3F"/>
                </a:solidFill>
                <a:latin typeface="Yu Gothic"/>
              </a:rPr>
              <a:t>「組織と社会の問題」。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194560"/>
            <a:ext cx="9326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22B3A"/>
                </a:solidFill>
                <a:latin typeface="Yu Gothic"/>
              </a:rPr>
              <a:t>属人的なトラブル処理ではなく、</a:t>
            </a:r>
          </a:p>
          <a:p>
            <a:pPr algn="l"/>
            <a:r>
              <a:rPr sz="1300" b="0">
                <a:solidFill>
                  <a:srgbClr val="222B3A"/>
                </a:solidFill>
                <a:latin typeface="Yu Gothic"/>
              </a:rPr>
              <a:t>仕組みと文化で防ぐ視点が不可欠。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17520"/>
            <a:ext cx="10972800" cy="1417320"/>
          </a:xfrm>
          <a:prstGeom prst="round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017520"/>
            <a:ext cx="182880" cy="1417320"/>
          </a:xfrm>
          <a:prstGeom prst="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5840" y="3291840"/>
            <a:ext cx="868680" cy="868680"/>
          </a:xfrm>
          <a:prstGeom prst="round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29184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200400"/>
            <a:ext cx="9326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8B1E3F"/>
                </a:solidFill>
                <a:latin typeface="Yu Gothic"/>
              </a:rPr>
              <a:t>「受け手がどう感じたか」を中心に考える。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794760"/>
            <a:ext cx="9326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22B3A"/>
                </a:solidFill>
                <a:latin typeface="Yu Gothic"/>
              </a:rPr>
              <a:t>発信側の意図ではなく、</a:t>
            </a:r>
          </a:p>
          <a:p>
            <a:pPr algn="l"/>
            <a:r>
              <a:rPr sz="1300" b="0">
                <a:solidFill>
                  <a:srgbClr val="222B3A"/>
                </a:solidFill>
                <a:latin typeface="Yu Gothic"/>
              </a:rPr>
              <a:t>相手の尊厳が守られているかが基準となる。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617720"/>
            <a:ext cx="10972800" cy="1417320"/>
          </a:xfrm>
          <a:prstGeom prst="round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617720"/>
            <a:ext cx="182880" cy="1417320"/>
          </a:xfrm>
          <a:prstGeom prst="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05840" y="4892040"/>
            <a:ext cx="868680" cy="868680"/>
          </a:xfrm>
          <a:prstGeom prst="round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89204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800600"/>
            <a:ext cx="9326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8B1E3F"/>
                </a:solidFill>
                <a:latin typeface="Yu Gothic"/>
              </a:rPr>
              <a:t>沈黙させない、孤立させない。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5394960"/>
            <a:ext cx="9326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22B3A"/>
                </a:solidFill>
                <a:latin typeface="Yu Gothic"/>
              </a:rPr>
              <a:t>声を上げられる仕組みと、</a:t>
            </a:r>
          </a:p>
          <a:p>
            <a:pPr algn="l"/>
            <a:r>
              <a:rPr sz="1300" b="0">
                <a:solidFill>
                  <a:srgbClr val="222B3A"/>
                </a:solidFill>
                <a:latin typeface="Yu Gothic"/>
              </a:rPr>
              <a:t>上げた人を守る文化を同時に育てていく。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137160"/>
          </a:xfrm>
          <a:prstGeom prst="rect">
            <a:avLst/>
          </a:prstGeom>
          <a:solidFill>
            <a:srgbClr val="E8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Yu Gothic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E8A53A"/>
                </a:solidFill>
                <a:latin typeface="Yu Gothic"/>
              </a:rPr>
              <a:t>ご清聴ありがとうございました。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Yu Gothic"/>
              </a:rPr>
              <a:t>「気づくこと」と「動くこと」が、職場と社会を変えます。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Yu Gothic"/>
              </a:rPr>
              <a:t>となりの誰かを、そしてあなた自身を守るために。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7F3EE"/>
                </a:solidFill>
                <a:latin typeface="Yu Gothic"/>
              </a:rPr>
              <a:t>References: 厚生労働省「職場のハラスメントに関する実態調査」ほか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