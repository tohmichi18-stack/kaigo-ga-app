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0335C"/>
              </a:gs>
              <a:gs pos="100000">
                <a:srgbClr val="1B9A8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5852160" cy="457200"/>
          </a:xfrm>
          <a:prstGeom prst="roundRect">
            <a:avLst/>
          </a:prstGeom>
          <a:solidFill>
            <a:srgbClr val="215576"/>
          </a:solidFill>
          <a:ln w="12700">
            <a:solidFill>
              <a:srgbClr val="8F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居宅介護支援 勉強会 補足資料（ケアマネジメント深掘り編）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4600" b="1">
                <a:solidFill>
                  <a:srgbClr val="FFFFFF"/>
                </a:solidFill>
                <a:latin typeface="Yu Gothic"/>
              </a:rPr>
              <a:t>モニタリング記録の書き方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E3B54A"/>
                </a:solidFill>
                <a:latin typeface="Yu Gothic"/>
              </a:rPr>
              <a:t>～ 「経過のメモ」から「目標の達成度評価」へ 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CFE0EE"/>
                </a:solidFill>
                <a:latin typeface="Yu Gothic"/>
              </a:rPr>
              <a:t>対象：介護支援専門員・主任介護支援専門員　／　ケアプランと連動した記録の型を身につける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モニタリングとは何か（運営基準のおさらい）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モニタリングの目的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ケアプランが適切に実施されているか確認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目標の達成状況を評価する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新たな課題・変化を把握する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→ ケアプランの継続・修正・終了の判断につなぐ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B9A8B"/>
                </a:solidFill>
                <a:latin typeface="Yu Gothic"/>
              </a:rPr>
              <a:t>運営基準上の原則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少なくとも月1回、利用者宅を訪問し面接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少なくとも月1回、モニタリング結果を記録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特段の事情がない限り継続的に実施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一定要件下のオンラインモニタリングは別途規定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76200" cy="118872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6132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ここがポイント：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モニタリング記録は「訪問したことの証明」ではなく「ケアプランの目標がどこまで達成されたかの評価」。だからケアプラン（第2表）と必ずひも付けて書く。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※訪問頻度・記録頻度・オンライン要件の詳細は最新の運営基準・解釈通知でご確認ください。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ありがちな『書けていない』モニタリング記録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01600" cy="155448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</a:t>
            </a:r>
            <a:r>
              <a:rPr sz="1700" b="1">
                <a:solidFill>
                  <a:srgbClr val="10335C"/>
                </a:solidFill>
                <a:latin typeface="Yu Gothic"/>
              </a:rPr>
              <a:t>出来事の羅列だけ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「変わりなし」「お元気でした」だけ。何を評価したのか不明。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101600" cy="155448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64792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</a:t>
            </a:r>
            <a:r>
              <a:rPr sz="1700" b="1">
                <a:solidFill>
                  <a:srgbClr val="10335C"/>
                </a:solidFill>
                <a:latin typeface="Yu Gothic"/>
              </a:rPr>
              <a:t>ケアプランと無関係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目標に触れず、世間話や天気のメモで終わっている。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101600" cy="155448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</a:t>
            </a:r>
            <a:r>
              <a:rPr sz="1700" b="1">
                <a:solidFill>
                  <a:srgbClr val="10335C"/>
                </a:solidFill>
                <a:latin typeface="Yu Gothic"/>
              </a:rPr>
              <a:t>主観・印象のみ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「良くなった気がする」など、根拠（事実）が示されない。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29000"/>
            <a:ext cx="101600" cy="155448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93592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</a:t>
            </a:r>
            <a:r>
              <a:rPr sz="1700" b="1">
                <a:solidFill>
                  <a:srgbClr val="10335C"/>
                </a:solidFill>
                <a:latin typeface="Yu Gothic"/>
              </a:rPr>
              <a:t>課題を見落とす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変化やリスクの芽に気づかず、見直しにつながらない。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共通の原因：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「訪問記録」と「モニタリング（評価）」を混同している。モニタリングは“目標に対する評価”が主役。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VIEWPOINT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モニタリングで確認する5つの視点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1600" cy="84124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1. 目標の達成度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6492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短期目標は達成できたか・近づいているか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101600" cy="841248"/>
          </a:xfrm>
          <a:prstGeom prst="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2. サービスの実施・効果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6492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計画どおり提供され、効果が出ているか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01600" cy="841248"/>
          </a:xfrm>
          <a:prstGeom prst="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3. 本人・家族の満足/意向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6492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本人はどう感じているか、意向に変化は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101600" cy="841248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4. 新たな課題・変化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389120"/>
            <a:ext cx="6492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心身・環境・家族状況の変化やリスク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101600" cy="841248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5. 計画の妥当性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03520"/>
            <a:ext cx="6492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今のケアプランは継続でよいか・見直すか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書き方の型：事実 → 評価 → 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154680" cy="502920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① 事実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306324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観察・聞き取った客観的事実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本人・家族の発言、できていること、サービス実施状況、心身・生活の様子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2" y="2862072"/>
            <a:ext cx="288036" cy="219456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1980" y="16459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9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4860" y="1828800"/>
            <a:ext cx="3154680" cy="502920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② 評価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0580" y="2514600"/>
            <a:ext cx="306324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目標に照らした分析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短期目標に対しどこまで達成できたか。なぜそうなったか（要因）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14132" y="2862072"/>
            <a:ext cx="288036" cy="219456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64592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3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1828800"/>
            <a:ext cx="3154680" cy="502920"/>
          </a:xfrm>
          <a:prstGeom prst="round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5A4500"/>
                </a:solidFill>
                <a:latin typeface="Yu Gothic"/>
              </a:rPr>
              <a:t>③ 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306324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今後どうするか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計画は継続/修正/終了か。次の課題・対応・再アセスメントの要否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76200" cy="86868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コツ：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「事実」と「ケアマネの判断」を混ぜない。事実を書いてから、それをどう評価し、どう判断したかを分けて書く。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書きやすくする型：SOAPの活用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96796"/>
            <a:ext cx="2286000" cy="475488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S（主観的情報）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64208"/>
            <a:ext cx="32918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0335C"/>
                </a:solidFill>
                <a:latin typeface="Yu Gothic"/>
              </a:rPr>
              <a:t>本人・家族が語った言葉・訴え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64208"/>
            <a:ext cx="46634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576873"/>
                </a:solidFill>
                <a:latin typeface="Yu Gothic"/>
              </a:rPr>
              <a:t>例：</a:t>
            </a:r>
            <a:r>
              <a:rPr sz="1350" b="0">
                <a:solidFill>
                  <a:srgbClr val="212E38"/>
                </a:solidFill>
                <a:latin typeface="Yu Gothic"/>
              </a:rPr>
              <a:t>「最近よく眠れる」「外に出るのが億劫」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6946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811780"/>
            <a:ext cx="2286000" cy="475488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O（客観的情報）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79192"/>
            <a:ext cx="32918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0335C"/>
                </a:solidFill>
                <a:latin typeface="Yu Gothic"/>
              </a:rPr>
              <a:t>観察・測定した事実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79192"/>
            <a:ext cx="46634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576873"/>
                </a:solidFill>
                <a:latin typeface="Yu Gothic"/>
              </a:rPr>
              <a:t>例：</a:t>
            </a:r>
            <a:r>
              <a:rPr sz="1350" b="0">
                <a:solidFill>
                  <a:srgbClr val="212E38"/>
                </a:solidFill>
                <a:latin typeface="Yu Gothic"/>
              </a:rPr>
              <a:t>歩行の様子、サービス実施状況、体重・服薬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8444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826764"/>
            <a:ext cx="2286000" cy="475488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A（評価・分析）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94176"/>
            <a:ext cx="32918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0335C"/>
                </a:solidFill>
                <a:latin typeface="Yu Gothic"/>
              </a:rPr>
              <a:t>S/Oをもとに目標に照らした判断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94176"/>
            <a:ext cx="46634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576873"/>
                </a:solidFill>
                <a:latin typeface="Yu Gothic"/>
              </a:rPr>
              <a:t>例：</a:t>
            </a:r>
            <a:r>
              <a:rPr sz="1350" b="0">
                <a:solidFill>
                  <a:srgbClr val="212E38"/>
                </a:solidFill>
                <a:latin typeface="Yu Gothic"/>
              </a:rPr>
              <a:t>短期目標『伝い歩き』はおおむね達成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841748"/>
            <a:ext cx="2286000" cy="475488"/>
          </a:xfrm>
          <a:prstGeom prst="round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5A4500"/>
                </a:solidFill>
                <a:latin typeface="Yu Gothic"/>
              </a:rPr>
              <a:t>P（計画）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709160"/>
            <a:ext cx="32918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0335C"/>
                </a:solidFill>
                <a:latin typeface="Yu Gothic"/>
              </a:rPr>
              <a:t>今後の対応・方針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09160"/>
            <a:ext cx="4663440" cy="7406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576873"/>
                </a:solidFill>
                <a:latin typeface="Yu Gothic"/>
              </a:rPr>
              <a:t>例：</a:t>
            </a:r>
            <a:r>
              <a:rPr sz="1350" b="0">
                <a:solidFill>
                  <a:srgbClr val="212E38"/>
                </a:solidFill>
                <a:latin typeface="Yu Gothic"/>
              </a:rPr>
              <a:t>現計画継続。次回は買い物の外出を評価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60720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760720"/>
            <a:ext cx="76200" cy="6400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613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ヒント：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様式が自由記載でも、頭の中でS・O・A・Pに分けると「事実」と「評価」が自然に整理できる。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記載例①　Before / After（達成度評価）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576873"/>
                </a:solidFill>
                <a:latin typeface="Yu Gothic"/>
              </a:rPr>
              <a:t>短期目標：「見守りがあれば家の中を伝い歩きできる」（Aさん・要介護2）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01600" cy="310896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Before</a:t>
            </a:r>
          </a:p>
          <a:p>
            <a:pPr algn="l">
              <a:spcAft>
                <a:spcPts val="800"/>
              </a:spcAft>
              <a:buNone/>
            </a:pPr>
            <a:r>
              <a:rPr sz="1450" b="0">
                <a:solidFill>
                  <a:srgbClr val="212E38"/>
                </a:solidFill>
                <a:latin typeface="Yu Gothic"/>
              </a:rPr>
              <a:t>「お変わりなくお過ごしです。デイにも通えています。引き続き様子を見ます。」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目標に触れていない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事実が曖昧で評価がない</a:t>
            </a:r>
          </a:p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次の判断につながらない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101600" cy="310896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1B9A8B"/>
                </a:solidFill>
                <a:latin typeface="Yu Gothic"/>
              </a:rPr>
              <a:t>○ After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【事実】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居室から台所まで壁を伝い自力で移動。ふらつきは減少。本人「前より怖くない」。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【評価】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短期目標はおおむね達成。下肢筋力向上が要因と考えられる。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【判断】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現計画を継続。次回は屋外歩行・買い物の可否を評価し、長期目標の前進を確認する。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記載例②　変化・新たな課題を捉える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576873"/>
                </a:solidFill>
                <a:latin typeface="Yu Gothic"/>
              </a:rPr>
              <a:t>モニタリングは「うまくいっている確認」だけでなく「変化の早期発見」も役割。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01600" cy="310896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D96A4A"/>
                </a:solidFill>
                <a:latin typeface="Yu Gothic"/>
              </a:rPr>
              <a:t>✕ Before</a:t>
            </a:r>
          </a:p>
          <a:p>
            <a:pPr algn="l">
              <a:spcAft>
                <a:spcPts val="800"/>
              </a:spcAft>
              <a:buNone/>
            </a:pPr>
            <a:r>
              <a:rPr sz="1450" b="0">
                <a:solidFill>
                  <a:srgbClr val="212E38"/>
                </a:solidFill>
                <a:latin typeface="Yu Gothic"/>
              </a:rPr>
              <a:t>「最近少し元気がない様子。家族も大変そう。見守り継続。」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印象だけで事実がない</a:t>
            </a:r>
          </a:p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リスクが具体化されない</a:t>
            </a:r>
          </a:p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576873"/>
                </a:solidFill>
                <a:latin typeface="Yu Gothic"/>
              </a:rPr>
              <a:t>→ 対応（誰が何を）がない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101600" cy="310896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1B9A8B"/>
                </a:solidFill>
                <a:latin typeface="Yu Gothic"/>
              </a:rPr>
              <a:t>○ After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【事実】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食事量が2週間で減少、体重1.5kg減。妻「夜間の介護で眠れない」と疲労を訴え。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【評価】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低栄養リスクと介護者の負担増。現計画では対応が不十分と判断。</a:t>
            </a:r>
          </a:p>
          <a:p>
            <a:pPr algn="l">
              <a:spcAft>
                <a:spcPts val="400"/>
              </a:spcAft>
              <a:buNone/>
            </a:pPr>
            <a:r>
              <a:rPr sz="1350" b="1">
                <a:solidFill>
                  <a:srgbClr val="216A8C"/>
                </a:solidFill>
                <a:latin typeface="Yu Gothic"/>
              </a:rPr>
              <a:t>【判断】</a:t>
            </a:r>
            <a:r>
              <a:rPr sz="1350" b="0">
                <a:solidFill>
                  <a:srgbClr val="212E38"/>
                </a:solidFill>
                <a:latin typeface="Yu Gothic"/>
              </a:rPr>
              <a:t>主治医へ受診勧奨、ショート利用を検討。サービス担当者会議を開催し計画見直し（再アセスメント）へ。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12064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重要：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「変化あり・新たな課題」を捉えたら、モニタリングはケアプラン見直し（再アセスメント・担当者会議）に確実につなぐ。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DIFFICULT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困難事例におけるモニタリング記録の留意点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1600" cy="169164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支援拒否・関係構築途上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拒否の事実と背景、関わりの工夫と本人の反応を具体的に。小さな変化も評価として残す。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01600" cy="169164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認知症・意思決定支援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本人の言葉・表情・行動の事実を丁寧に。意思の推定根拠、家族・多職種からの情報も記録。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101600" cy="169164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虐待・複合課題世帯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客観的事実を時系列で（憶測と区別）。リスク評価と、通報・多機関連携の対応を明記。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101600" cy="169164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8503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看取り・状態変化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状態変化のスピードに合わせ頻回に。本人の意向（ACP）と急変時対応の確認を記録。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共通：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困難事例ほど「事実」と「ケアマネの判断・推測」を明確に区別して書く。記録が事業所と利用者の双方を守る。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記録の質を上げる実務の注意点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表現・内容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5W1Hで具体的に（いつ・誰が・何を）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事実と評価・推測を書き分ける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本人・家族の言葉はそのまま「　」で残す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略語・身内表現を避け、第三者が読んで分かる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断定できないことは「〜と思われる」で根拠とともに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B9A8B"/>
                </a:solidFill>
                <a:latin typeface="Yu Gothic"/>
              </a:rPr>
              <a:t>運用・コンプライアンス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月1回の訪問・面接と記録を確実に（基準）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訪問日・記録日・記録者を明確に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目標の評価期間が来たら必ず達成度を判定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見直しが必要なら担当者会議・再アセスメントへ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改ざんと誤解されぬよう追記・修正の運用を統一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合言葉：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「あとで自分以外の誰かが読んでも、利用者の状況と判断の根拠が分かる」記録を目指す。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演習：このモニタリング記録を直してみよう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【お題】次の記録を「事実→評価→判断」で書き直してください。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「Bさん、今日もデイに行けていて安心。家族も特に困っていない様子。このまま継続でよいと思う。」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8813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10479024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グループで話し合う問い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短期目標は何だった？ その達成度は記録から判断できる？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「安心」「様子」は事実？ 観察した具体的な事実は何？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家族の状況は本当に確認した？（聞き取りの事実は？）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12E38"/>
                </a:solidFill>
                <a:latin typeface="Yu Gothic"/>
              </a:rPr>
              <a:t>継続でよい根拠は？ 見直すべき変化は隠れていない？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モニタリングはケアマネジメントの「回す力」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645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アセスメント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50592" y="250545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3220" y="210312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2103120"/>
            <a:ext cx="1645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ケアプラン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13732" y="250545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60" y="210312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103120"/>
            <a:ext cx="1645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担当者会議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76872" y="250545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0" y="210312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0940" y="2103120"/>
            <a:ext cx="1645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サービス提供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40012" y="250545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210312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 w="25400">
            <a:solidFill>
              <a:srgbClr val="1B9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103120"/>
            <a:ext cx="1645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モニタリング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1554480" y="3520440"/>
            <a:ext cx="9052560" cy="365760"/>
          </a:xfrm>
          <a:prstGeom prst="leftArrow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Yu Gothic"/>
              </a:rPr>
              <a:t>モニタリングの評価・判断が次のアセスメント／計画見直しに戻る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97680"/>
            <a:ext cx="76200" cy="109728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5613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つまり：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モニタリング記録は過程の終点であり次の起点。ここで目標を評価し変化を捉えるから、ケアマネジメントのサイクルが回り、質が上がり続ける。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まとめ：モニタリング記録の要点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補足｜モニタリング記録の書き方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チェックリスト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月1回の訪問・面接と記録ができているか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短期目標の達成度を評価しているか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事実と評価・判断を書き分けているか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本人・家族の言葉を具体的に残しているか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変化・新たな課題を捉えているか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見直しが必要なら会議・再アセスにつないだか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892040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キーメッセージ</a:t>
            </a:r>
          </a:p>
          <a:p>
            <a:pPr algn="l">
              <a:spcAft>
                <a:spcPts val="1000"/>
              </a:spcAft>
              <a:buNone/>
            </a:pPr>
            <a:r>
              <a:rPr sz="1600" b="0">
                <a:solidFill>
                  <a:srgbClr val="212E38"/>
                </a:solidFill>
                <a:latin typeface="Yu Gothic"/>
              </a:rPr>
              <a:t>モニタリングは</a:t>
            </a:r>
            <a:r>
              <a:rPr sz="1600" b="1">
                <a:solidFill>
                  <a:srgbClr val="D96A4A"/>
                </a:solidFill>
                <a:latin typeface="Yu Gothic"/>
              </a:rPr>
              <a:t>「目標の達成度評価」</a:t>
            </a:r>
            <a:r>
              <a:rPr sz="1600" b="0">
                <a:solidFill>
                  <a:srgbClr val="212E38"/>
                </a:solidFill>
                <a:latin typeface="Yu Gothic"/>
              </a:rPr>
              <a:t>。</a:t>
            </a:r>
          </a:p>
          <a:p>
            <a:pPr algn="l">
              <a:spcAft>
                <a:spcPts val="10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ケアプラン（第2表）の目標とひも付け、事実→評価→判断で書く。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変化を捉えたら見直しへ。記録が事業所とケアマネ、そして利用者を守る。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76200" cy="777240"/>
          </a:xfrm>
          <a:prstGeom prst="rect">
            <a:avLst/>
          </a:prstGeom>
          <a:solidFill>
            <a:srgbClr val="576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61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576873"/>
                </a:solidFill>
                <a:latin typeface="Yu Gothic"/>
              </a:rPr>
              <a:t>※</a:t>
            </a:r>
            <a:r>
              <a:rPr sz="1400" b="0">
                <a:solidFill>
                  <a:srgbClr val="576873"/>
                </a:solidFill>
                <a:latin typeface="Yu Gothic"/>
              </a:rPr>
              <a:t>訪問・記録の頻度やオンライン要件、様式の詳細は最新の運営基準・解釈通知でご確認ください。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