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10335C"/>
              </a:gs>
              <a:gs pos="100000">
                <a:srgbClr val="1B9A8B"/>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280160"/>
            <a:ext cx="6035040" cy="457200"/>
          </a:xfrm>
          <a:prstGeom prst="roundRect">
            <a:avLst/>
          </a:prstGeom>
          <a:solidFill>
            <a:srgbClr val="215576"/>
          </a:solidFill>
          <a:ln w="12700">
            <a:solidFill>
              <a:srgbClr val="8F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400" b="1">
                <a:solidFill>
                  <a:srgbClr val="FFFFFF"/>
                </a:solidFill>
                <a:latin typeface="Yu Gothic"/>
              </a:rPr>
              <a:t>居宅介護支援事業所｜特定事業所加算II 算定　内部勉強会資料</a:t>
            </a:r>
          </a:p>
        </p:txBody>
      </p:sp>
      <p:sp>
        <p:nvSpPr>
          <p:cNvPr id="4" name="TextBox 3"/>
          <p:cNvSpPr txBox="1"/>
          <p:nvPr/>
        </p:nvSpPr>
        <p:spPr>
          <a:xfrm>
            <a:off x="822960" y="2011680"/>
            <a:ext cx="10515600" cy="2194560"/>
          </a:xfrm>
          <a:prstGeom prst="rect">
            <a:avLst/>
          </a:prstGeom>
          <a:noFill/>
        </p:spPr>
        <p:txBody>
          <a:bodyPr wrap="square" anchor="t" lIns="25400" rIns="25400" tIns="25400" bIns="25400">
            <a:spAutoFit/>
          </a:bodyPr>
          <a:lstStyle/>
          <a:p>
            <a:pPr algn="l">
              <a:spcAft>
                <a:spcPts val="200"/>
              </a:spcAft>
              <a:buNone/>
            </a:pPr>
            <a:r>
              <a:rPr sz="4200" b="1">
                <a:solidFill>
                  <a:srgbClr val="FFFFFF"/>
                </a:solidFill>
                <a:latin typeface="Yu Gothic"/>
              </a:rPr>
              <a:t>困難事例の受け入れ体制で実現する</a:t>
            </a:r>
          </a:p>
          <a:p>
            <a:pPr algn="l">
              <a:spcAft>
                <a:spcPts val="1000"/>
              </a:spcAft>
              <a:buNone/>
            </a:pPr>
            <a:r>
              <a:rPr sz="4200" b="1">
                <a:solidFill>
                  <a:srgbClr val="FFFFFF"/>
                </a:solidFill>
                <a:latin typeface="Yu Gothic"/>
              </a:rPr>
              <a:t>確実性のあるケアマネジメント</a:t>
            </a:r>
          </a:p>
          <a:p>
            <a:pPr algn="l">
              <a:spcAft>
                <a:spcPts val="400"/>
              </a:spcAft>
              <a:buNone/>
            </a:pPr>
            <a:r>
              <a:rPr sz="2100" b="1">
                <a:solidFill>
                  <a:srgbClr val="E3B54A"/>
                </a:solidFill>
                <a:latin typeface="Yu Gothic"/>
              </a:rPr>
              <a:t>～ 加算IIの責任を、事業所の支援力に変える ～</a:t>
            </a:r>
          </a:p>
        </p:txBody>
      </p:sp>
      <p:sp>
        <p:nvSpPr>
          <p:cNvPr id="5" name="TextBox 4"/>
          <p:cNvSpPr txBox="1"/>
          <p:nvPr/>
        </p:nvSpPr>
        <p:spPr>
          <a:xfrm>
            <a:off x="822960" y="4754880"/>
            <a:ext cx="10515600" cy="1371600"/>
          </a:xfrm>
          <a:prstGeom prst="rect">
            <a:avLst/>
          </a:prstGeom>
          <a:noFill/>
        </p:spPr>
        <p:txBody>
          <a:bodyPr wrap="square" anchor="t" lIns="25400" rIns="25400" tIns="25400" bIns="25400">
            <a:spAutoFit/>
          </a:bodyPr>
          <a:lstStyle/>
          <a:p>
            <a:pPr algn="l">
              <a:spcAft>
                <a:spcPts val="300"/>
              </a:spcAft>
              <a:buNone/>
            </a:pPr>
            <a:r>
              <a:rPr sz="1500" b="0">
                <a:solidFill>
                  <a:srgbClr val="CFE0EE"/>
                </a:solidFill>
                <a:latin typeface="Yu Gothic"/>
              </a:rPr>
              <a:t>対象：管理者・主任介護支援専門員・介護支援専門員　／　形式：事例検討型グループワーク</a:t>
            </a:r>
          </a:p>
          <a:p>
            <a:pPr algn="l">
              <a:spcAft>
                <a:spcPts val="400"/>
              </a:spcAft>
              <a:buNone/>
            </a:pPr>
            <a:r>
              <a:rPr sz="1500" b="0">
                <a:solidFill>
                  <a:srgbClr val="CFE0EE"/>
                </a:solidFill>
                <a:latin typeface="Yu Gothic"/>
              </a:rPr>
              <a:t>開催日：2026年　　月　　日　　　会場：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PURPOSE</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本日のねらい</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2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TextBox 7"/>
          <p:cNvSpPr txBox="1"/>
          <p:nvPr/>
        </p:nvSpPr>
        <p:spPr>
          <a:xfrm>
            <a:off x="640080" y="1417320"/>
            <a:ext cx="10972800" cy="548640"/>
          </a:xfrm>
          <a:prstGeom prst="rect">
            <a:avLst/>
          </a:prstGeom>
          <a:noFill/>
        </p:spPr>
        <p:txBody>
          <a:bodyPr wrap="square" anchor="t" lIns="25400" rIns="25400" tIns="25400" bIns="25400">
            <a:spAutoFit/>
          </a:bodyPr>
          <a:lstStyle/>
          <a:p>
            <a:pPr algn="l">
              <a:spcAft>
                <a:spcPts val="400"/>
              </a:spcAft>
              <a:buNone/>
            </a:pPr>
            <a:r>
              <a:rPr sz="2000" b="0">
                <a:solidFill>
                  <a:srgbClr val="576873"/>
                </a:solidFill>
                <a:latin typeface="Yu Gothic"/>
              </a:rPr>
              <a:t>「断れない事業所」ではなく、</a:t>
            </a:r>
            <a:r>
              <a:rPr sz="2000" b="1">
                <a:solidFill>
                  <a:srgbClr val="D96A4A"/>
                </a:solidFill>
                <a:latin typeface="Yu Gothic"/>
              </a:rPr>
              <a:t>「組織として困難事例を受けきれる事業所」</a:t>
            </a:r>
            <a:r>
              <a:rPr sz="2000" b="0">
                <a:solidFill>
                  <a:srgbClr val="576873"/>
                </a:solidFill>
                <a:latin typeface="Yu Gothic"/>
              </a:rPr>
              <a:t>を目指す。</a:t>
            </a:r>
          </a:p>
        </p:txBody>
      </p:sp>
      <p:sp>
        <p:nvSpPr>
          <p:cNvPr id="9" name="Rounded Rectangle 8"/>
          <p:cNvSpPr/>
          <p:nvPr/>
        </p:nvSpPr>
        <p:spPr>
          <a:xfrm>
            <a:off x="640080" y="2148840"/>
            <a:ext cx="3520440" cy="182880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2331720"/>
            <a:ext cx="1737360" cy="310896"/>
          </a:xfrm>
          <a:prstGeom prst="roundRect">
            <a:avLst>
              <a:gd name="adj" fmla="val 50000"/>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1. 共通理解</a:t>
            </a:r>
          </a:p>
        </p:txBody>
      </p:sp>
      <p:sp>
        <p:nvSpPr>
          <p:cNvPr id="11" name="TextBox 10"/>
          <p:cNvSpPr txBox="1"/>
          <p:nvPr/>
        </p:nvSpPr>
        <p:spPr>
          <a:xfrm>
            <a:off x="841248" y="2834640"/>
            <a:ext cx="3118104" cy="1005840"/>
          </a:xfrm>
          <a:prstGeom prst="rect">
            <a:avLst/>
          </a:prstGeom>
          <a:noFill/>
        </p:spPr>
        <p:txBody>
          <a:bodyPr wrap="square" anchor="t" lIns="25400" rIns="25400" tIns="25400" bIns="25400">
            <a:spAutoFit/>
          </a:bodyPr>
          <a:lstStyle/>
          <a:p>
            <a:pPr algn="l">
              <a:spcAft>
                <a:spcPts val="400"/>
              </a:spcAft>
              <a:buNone/>
            </a:pPr>
            <a:r>
              <a:rPr sz="1500" b="0">
                <a:solidFill>
                  <a:srgbClr val="212E38"/>
                </a:solidFill>
                <a:latin typeface="Yu Gothic"/>
              </a:rPr>
              <a:t>居宅介護支援における加算IIの趣旨と、求められる体制を再確認する。</a:t>
            </a:r>
          </a:p>
        </p:txBody>
      </p:sp>
      <p:sp>
        <p:nvSpPr>
          <p:cNvPr id="12" name="Rounded Rectangle 11"/>
          <p:cNvSpPr/>
          <p:nvPr/>
        </p:nvSpPr>
        <p:spPr>
          <a:xfrm>
            <a:off x="4416552" y="2148840"/>
            <a:ext cx="3520440" cy="182880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17720" y="2331720"/>
            <a:ext cx="1737360" cy="310896"/>
          </a:xfrm>
          <a:prstGeom prst="roundRect">
            <a:avLst>
              <a:gd name="adj" fmla="val 50000"/>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2. 体制の見える化</a:t>
            </a:r>
          </a:p>
        </p:txBody>
      </p:sp>
      <p:sp>
        <p:nvSpPr>
          <p:cNvPr id="14" name="TextBox 13"/>
          <p:cNvSpPr txBox="1"/>
          <p:nvPr/>
        </p:nvSpPr>
        <p:spPr>
          <a:xfrm>
            <a:off x="4617720" y="2834640"/>
            <a:ext cx="3118104" cy="1005840"/>
          </a:xfrm>
          <a:prstGeom prst="rect">
            <a:avLst/>
          </a:prstGeom>
          <a:noFill/>
        </p:spPr>
        <p:txBody>
          <a:bodyPr wrap="square" anchor="t" lIns="25400" rIns="25400" tIns="25400" bIns="25400">
            <a:spAutoFit/>
          </a:bodyPr>
          <a:lstStyle/>
          <a:p>
            <a:pPr algn="l">
              <a:spcAft>
                <a:spcPts val="400"/>
              </a:spcAft>
              <a:buNone/>
            </a:pPr>
            <a:r>
              <a:rPr sz="1500" b="0">
                <a:solidFill>
                  <a:srgbClr val="212E38"/>
                </a:solidFill>
                <a:latin typeface="Yu Gothic"/>
              </a:rPr>
              <a:t>困難事例を主任ケアマネ中心に「チームで受ける」流れを理解する。</a:t>
            </a:r>
          </a:p>
        </p:txBody>
      </p:sp>
      <p:sp>
        <p:nvSpPr>
          <p:cNvPr id="15" name="Rounded Rectangle 14"/>
          <p:cNvSpPr/>
          <p:nvPr/>
        </p:nvSpPr>
        <p:spPr>
          <a:xfrm>
            <a:off x="8193024" y="2148840"/>
            <a:ext cx="3520440" cy="182880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94192" y="2331720"/>
            <a:ext cx="1737360" cy="310896"/>
          </a:xfrm>
          <a:prstGeom prst="roundRect">
            <a:avLst>
              <a:gd name="adj" fmla="val 50000"/>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3. 事例で実践</a:t>
            </a:r>
          </a:p>
        </p:txBody>
      </p:sp>
      <p:sp>
        <p:nvSpPr>
          <p:cNvPr id="17" name="TextBox 16"/>
          <p:cNvSpPr txBox="1"/>
          <p:nvPr/>
        </p:nvSpPr>
        <p:spPr>
          <a:xfrm>
            <a:off x="8394192" y="2834640"/>
            <a:ext cx="3118104" cy="1005840"/>
          </a:xfrm>
          <a:prstGeom prst="rect">
            <a:avLst/>
          </a:prstGeom>
          <a:noFill/>
        </p:spPr>
        <p:txBody>
          <a:bodyPr wrap="square" anchor="t" lIns="25400" rIns="25400" tIns="25400" bIns="25400">
            <a:spAutoFit/>
          </a:bodyPr>
          <a:lstStyle/>
          <a:p>
            <a:pPr algn="l">
              <a:spcAft>
                <a:spcPts val="400"/>
              </a:spcAft>
              <a:buNone/>
            </a:pPr>
            <a:r>
              <a:rPr sz="1500" b="0">
                <a:solidFill>
                  <a:srgbClr val="212E38"/>
                </a:solidFill>
                <a:latin typeface="Yu Gothic"/>
              </a:rPr>
              <a:t>4つの事例で、受任判断・連携・記録の勘所を体得する。</a:t>
            </a:r>
          </a:p>
        </p:txBody>
      </p:sp>
      <p:sp>
        <p:nvSpPr>
          <p:cNvPr id="18" name="Rounded Rectangle 17"/>
          <p:cNvSpPr/>
          <p:nvPr/>
        </p:nvSpPr>
        <p:spPr>
          <a:xfrm>
            <a:off x="640080" y="4297680"/>
            <a:ext cx="10881360" cy="86868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297680"/>
            <a:ext cx="76200" cy="86868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297680"/>
            <a:ext cx="10561320" cy="868680"/>
          </a:xfrm>
          <a:prstGeom prst="rect">
            <a:avLst/>
          </a:prstGeom>
          <a:noFill/>
        </p:spPr>
        <p:txBody>
          <a:bodyPr wrap="square" anchor="ctr" lIns="25400" rIns="25400" tIns="25400" bIns="25400">
            <a:spAutoFit/>
          </a:bodyPr>
          <a:lstStyle/>
          <a:p>
            <a:pPr algn="l">
              <a:spcAft>
                <a:spcPts val="400"/>
              </a:spcAft>
              <a:buNone/>
            </a:pPr>
            <a:r>
              <a:rPr sz="1400" b="1">
                <a:solidFill>
                  <a:srgbClr val="D96A4A"/>
                </a:solidFill>
                <a:latin typeface="Yu Gothic"/>
              </a:rPr>
              <a:t>合言葉：</a:t>
            </a:r>
            <a:r>
              <a:rPr sz="1400" b="0">
                <a:solidFill>
                  <a:srgbClr val="212E38"/>
                </a:solidFill>
                <a:latin typeface="Yu Gothic"/>
              </a:rPr>
              <a:t>ケアマネ個人の力量に依存せず、誰が担当しても一定の質を保てる仕組みをつくる。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AGENDA</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本日の流れ</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3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600200"/>
            <a:ext cx="5349240" cy="19202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709928"/>
            <a:ext cx="4946904" cy="173736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第1部　理解編（約20分）</a:t>
            </a:r>
          </a:p>
          <a:p>
            <a:pPr algn="l" indent="-228600" marL="228600">
              <a:spcAft>
                <a:spcPts val="300"/>
              </a:spcAft>
              <a:buFont typeface="Yu Gothic"/>
              <a:buChar char="・"/>
            </a:pPr>
            <a:r>
              <a:rPr sz="1500" b="0">
                <a:solidFill>
                  <a:srgbClr val="212E38"/>
                </a:solidFill>
                <a:latin typeface="Yu Gothic"/>
              </a:rPr>
              <a:t>特定事業所加算IIの位置づけ（居宅介護支援）</a:t>
            </a:r>
          </a:p>
          <a:p>
            <a:pPr algn="l" indent="-228600" marL="228600">
              <a:spcAft>
                <a:spcPts val="300"/>
              </a:spcAft>
              <a:buFont typeface="Yu Gothic"/>
              <a:buChar char="・"/>
            </a:pPr>
            <a:r>
              <a:rPr sz="1500" b="0">
                <a:solidFill>
                  <a:srgbClr val="212E38"/>
                </a:solidFill>
                <a:latin typeface="Yu Gothic"/>
              </a:rPr>
              <a:t>なぜ困難事例の受け入れ体制が要なのか</a:t>
            </a:r>
          </a:p>
          <a:p>
            <a:pPr algn="l" indent="-228600" marL="228600">
              <a:spcAft>
                <a:spcPts val="300"/>
              </a:spcAft>
              <a:buFont typeface="Yu Gothic"/>
              <a:buChar char="・"/>
            </a:pPr>
            <a:r>
              <a:rPr sz="1500" b="0">
                <a:solidFill>
                  <a:srgbClr val="212E38"/>
                </a:solidFill>
                <a:latin typeface="Yu Gothic"/>
              </a:rPr>
              <a:t>「困難事例」の定義と類型</a:t>
            </a:r>
          </a:p>
        </p:txBody>
      </p:sp>
      <p:sp>
        <p:nvSpPr>
          <p:cNvPr id="10" name="Rounded Rectangle 9"/>
          <p:cNvSpPr/>
          <p:nvPr/>
        </p:nvSpPr>
        <p:spPr>
          <a:xfrm>
            <a:off x="6263640" y="1600200"/>
            <a:ext cx="5349240" cy="19202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709928"/>
            <a:ext cx="4946904" cy="173736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第2部　体制編（約20分）</a:t>
            </a:r>
          </a:p>
          <a:p>
            <a:pPr algn="l" indent="-228600" marL="228600">
              <a:spcAft>
                <a:spcPts val="300"/>
              </a:spcAft>
              <a:buFont typeface="Yu Gothic"/>
              <a:buChar char="・"/>
            </a:pPr>
            <a:r>
              <a:rPr sz="1500" b="0">
                <a:solidFill>
                  <a:srgbClr val="212E38"/>
                </a:solidFill>
                <a:latin typeface="Yu Gothic"/>
              </a:rPr>
              <a:t>受任〜ケアマネジメントの基本フロー</a:t>
            </a:r>
          </a:p>
          <a:p>
            <a:pPr algn="l" indent="-228600" marL="228600">
              <a:spcAft>
                <a:spcPts val="300"/>
              </a:spcAft>
              <a:buFont typeface="Yu Gothic"/>
              <a:buChar char="・"/>
            </a:pPr>
            <a:r>
              <a:rPr sz="1500" b="0">
                <a:solidFill>
                  <a:srgbClr val="212E38"/>
                </a:solidFill>
                <a:latin typeface="Yu Gothic"/>
              </a:rPr>
              <a:t>5つの体制づくり（受任・SV・24時間・記録・研修）</a:t>
            </a:r>
          </a:p>
        </p:txBody>
      </p:sp>
      <p:sp>
        <p:nvSpPr>
          <p:cNvPr id="12" name="Rounded Rectangle 11"/>
          <p:cNvSpPr/>
          <p:nvPr/>
        </p:nvSpPr>
        <p:spPr>
          <a:xfrm>
            <a:off x="640080" y="3794760"/>
            <a:ext cx="5349240" cy="19202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904488"/>
            <a:ext cx="4946904" cy="173736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第3部　事例編（約30分）</a:t>
            </a:r>
          </a:p>
          <a:p>
            <a:pPr algn="l" indent="-228600" marL="228600">
              <a:spcAft>
                <a:spcPts val="300"/>
              </a:spcAft>
              <a:buFont typeface="Yu Gothic"/>
              <a:buChar char="・"/>
            </a:pPr>
            <a:r>
              <a:rPr sz="1500" b="0">
                <a:solidFill>
                  <a:srgbClr val="212E38"/>
                </a:solidFill>
                <a:latin typeface="Yu Gothic"/>
              </a:rPr>
              <a:t>事例1〜4のグループ検討</a:t>
            </a:r>
          </a:p>
          <a:p>
            <a:pPr algn="l" indent="-228600" marL="228600">
              <a:spcAft>
                <a:spcPts val="300"/>
              </a:spcAft>
              <a:buFont typeface="Yu Gothic"/>
              <a:buChar char="・"/>
            </a:pPr>
            <a:r>
              <a:rPr sz="1500" b="0">
                <a:solidFill>
                  <a:srgbClr val="212E38"/>
                </a:solidFill>
                <a:latin typeface="Yu Gothic"/>
              </a:rPr>
              <a:t>NG対応とGOOD対応の比較</a:t>
            </a:r>
          </a:p>
        </p:txBody>
      </p:sp>
      <p:sp>
        <p:nvSpPr>
          <p:cNvPr id="14" name="Rounded Rectangle 13"/>
          <p:cNvSpPr/>
          <p:nvPr/>
        </p:nvSpPr>
        <p:spPr>
          <a:xfrm>
            <a:off x="6263640" y="3794760"/>
            <a:ext cx="5349240" cy="19202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3904488"/>
            <a:ext cx="4946904" cy="173736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第4部　まとめ（約10分）</a:t>
            </a:r>
          </a:p>
          <a:p>
            <a:pPr algn="l" indent="-228600" marL="228600">
              <a:spcAft>
                <a:spcPts val="300"/>
              </a:spcAft>
              <a:buFont typeface="Yu Gothic"/>
              <a:buChar char="・"/>
            </a:pPr>
            <a:r>
              <a:rPr sz="1500" b="0">
                <a:solidFill>
                  <a:srgbClr val="212E38"/>
                </a:solidFill>
                <a:latin typeface="Yu Gothic"/>
              </a:rPr>
              <a:t>自事業所の体制セルフチェック</a:t>
            </a:r>
          </a:p>
          <a:p>
            <a:pPr algn="l" indent="-228600" marL="228600">
              <a:spcAft>
                <a:spcPts val="300"/>
              </a:spcAft>
              <a:buFont typeface="Yu Gothic"/>
              <a:buChar char="・"/>
            </a:pPr>
            <a:r>
              <a:rPr sz="1500" b="0">
                <a:solidFill>
                  <a:srgbClr val="212E38"/>
                </a:solidFill>
                <a:latin typeface="Yu Gothic"/>
              </a:rPr>
              <a:t>明日からのアクション宣言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BASIC</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特定事業所加算IIの位置づけ（居宅介護支援）</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4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TextBox 7"/>
          <p:cNvSpPr txBox="1"/>
          <p:nvPr/>
        </p:nvSpPr>
        <p:spPr>
          <a:xfrm>
            <a:off x="640080" y="1325880"/>
            <a:ext cx="10972800" cy="457200"/>
          </a:xfrm>
          <a:prstGeom prst="rect">
            <a:avLst/>
          </a:prstGeom>
          <a:noFill/>
        </p:spPr>
        <p:txBody>
          <a:bodyPr wrap="square" anchor="t" lIns="25400" rIns="25400" tIns="25400" bIns="25400">
            <a:spAutoFit/>
          </a:bodyPr>
          <a:lstStyle/>
          <a:p>
            <a:pPr algn="l">
              <a:spcAft>
                <a:spcPts val="400"/>
              </a:spcAft>
              <a:buNone/>
            </a:pPr>
            <a:r>
              <a:rPr sz="1600" b="0">
                <a:solidFill>
                  <a:srgbClr val="212E38"/>
                </a:solidFill>
                <a:latin typeface="Yu Gothic"/>
              </a:rPr>
              <a:t>居宅介護支援の特定事業所加算は、</a:t>
            </a:r>
            <a:r>
              <a:rPr sz="1600" b="1">
                <a:solidFill>
                  <a:srgbClr val="D96A4A"/>
                </a:solidFill>
                <a:latin typeface="Yu Gothic"/>
              </a:rPr>
              <a:t>中重度・支援困難ケースにも対応できる質の高い事業所</a:t>
            </a:r>
            <a:r>
              <a:rPr sz="1600" b="0">
                <a:solidFill>
                  <a:srgbClr val="212E38"/>
                </a:solidFill>
                <a:latin typeface="Yu Gothic"/>
              </a:rPr>
              <a:t>を評価する加算です。</a:t>
            </a:r>
          </a:p>
        </p:txBody>
      </p:sp>
      <p:graphicFrame>
        <p:nvGraphicFramePr>
          <p:cNvPr id="9" name="Table 8"/>
          <p:cNvGraphicFramePr>
            <a:graphicFrameLocks noGrp="1"/>
          </p:cNvGraphicFramePr>
          <p:nvPr/>
        </p:nvGraphicFramePr>
        <p:xfrm>
          <a:off x="640080" y="1828800"/>
          <a:ext cx="10881360" cy="2103120"/>
        </p:xfrm>
        <a:graphic>
          <a:graphicData uri="http://schemas.openxmlformats.org/drawingml/2006/table">
            <a:tbl>
              <a:tblPr firstRow="1" bandRow="1">
                <a:tableStyleId>{5C22544A-7EE6-4342-B048-85BDC9FD1C3A}</a:tableStyleId>
              </a:tblPr>
              <a:tblGrid>
                <a:gridCol w="2377440"/>
                <a:gridCol w="4572000"/>
                <a:gridCol w="3931920"/>
              </a:tblGrid>
              <a:tr h="420624">
                <a:tc>
                  <a:txBody>
                    <a:bodyPr/>
                    <a:lstStyle/>
                    <a:p>
                      <a:pPr algn="ctr"/>
                      <a:r>
                        <a:rPr sz="1300" b="1">
                          <a:solidFill>
                            <a:srgbClr val="FFFFFF"/>
                          </a:solidFill>
                          <a:latin typeface="Yu Gothic"/>
                        </a:rPr>
                        <a:t>区分</a:t>
                      </a:r>
                    </a:p>
                  </a:txBody>
                  <a:tcPr>
                    <a:solidFill>
                      <a:srgbClr val="10335C"/>
                    </a:solidFill>
                  </a:tcPr>
                </a:tc>
                <a:tc>
                  <a:txBody>
                    <a:bodyPr/>
                    <a:lstStyle/>
                    <a:p>
                      <a:pPr algn="ctr"/>
                      <a:r>
                        <a:rPr sz="1300" b="1">
                          <a:solidFill>
                            <a:srgbClr val="FFFFFF"/>
                          </a:solidFill>
                          <a:latin typeface="Yu Gothic"/>
                        </a:rPr>
                        <a:t>主な人員要件（主任ケアマネ・常勤ケアマネ）</a:t>
                      </a:r>
                    </a:p>
                  </a:txBody>
                  <a:tcPr>
                    <a:solidFill>
                      <a:srgbClr val="10335C"/>
                    </a:solidFill>
                  </a:tcPr>
                </a:tc>
                <a:tc>
                  <a:txBody>
                    <a:bodyPr/>
                    <a:lstStyle/>
                    <a:p>
                      <a:pPr algn="ctr"/>
                      <a:r>
                        <a:rPr sz="1300" b="1">
                          <a:solidFill>
                            <a:srgbClr val="FFFFFF"/>
                          </a:solidFill>
                          <a:latin typeface="Yu Gothic"/>
                        </a:rPr>
                        <a:t>中重度要件（要介護3〜5）</a:t>
                      </a:r>
                    </a:p>
                  </a:txBody>
                  <a:tcPr>
                    <a:solidFill>
                      <a:srgbClr val="10335C"/>
                    </a:solidFill>
                  </a:tcPr>
                </a:tc>
              </a:tr>
              <a:tr h="420624">
                <a:tc>
                  <a:txBody>
                    <a:bodyPr/>
                    <a:lstStyle/>
                    <a:p>
                      <a:pPr algn="ctr"/>
                      <a:r>
                        <a:rPr sz="1250" b="1">
                          <a:solidFill>
                            <a:srgbClr val="212E38"/>
                          </a:solidFill>
                          <a:latin typeface="Yu Gothic"/>
                        </a:rPr>
                        <a:t>加算I</a:t>
                      </a:r>
                    </a:p>
                  </a:txBody>
                  <a:tcPr>
                    <a:solidFill>
                      <a:srgbClr val="FFFFFF"/>
                    </a:solidFill>
                  </a:tcPr>
                </a:tc>
                <a:tc>
                  <a:txBody>
                    <a:bodyPr/>
                    <a:lstStyle/>
                    <a:p>
                      <a:pPr algn="l"/>
                      <a:r>
                        <a:rPr sz="1250" b="0">
                          <a:solidFill>
                            <a:srgbClr val="212E38"/>
                          </a:solidFill>
                          <a:latin typeface="Yu Gothic"/>
                        </a:rPr>
                        <a:t>主任CM 2名以上＋常勤CM 3名以上 等</a:t>
                      </a:r>
                    </a:p>
                  </a:txBody>
                  <a:tcPr>
                    <a:solidFill>
                      <a:srgbClr val="FFFFFF"/>
                    </a:solidFill>
                  </a:tcPr>
                </a:tc>
                <a:tc>
                  <a:txBody>
                    <a:bodyPr/>
                    <a:lstStyle/>
                    <a:p>
                      <a:pPr algn="l"/>
                      <a:r>
                        <a:rPr sz="1250" b="0">
                          <a:solidFill>
                            <a:srgbClr val="212E38"/>
                          </a:solidFill>
                          <a:latin typeface="Yu Gothic"/>
                        </a:rPr>
                        <a:t>40%以上 など</a:t>
                      </a:r>
                    </a:p>
                  </a:txBody>
                  <a:tcPr>
                    <a:solidFill>
                      <a:srgbClr val="FFFFFF"/>
                    </a:solidFill>
                  </a:tcPr>
                </a:tc>
              </a:tr>
              <a:tr h="420624">
                <a:tc>
                  <a:txBody>
                    <a:bodyPr/>
                    <a:lstStyle/>
                    <a:p>
                      <a:pPr algn="ctr"/>
                      <a:r>
                        <a:rPr sz="1250" b="1">
                          <a:solidFill>
                            <a:srgbClr val="212E38"/>
                          </a:solidFill>
                          <a:latin typeface="Yu Gothic"/>
                        </a:rPr>
                        <a:t>加算II（当事業所）</a:t>
                      </a:r>
                    </a:p>
                  </a:txBody>
                  <a:tcPr>
                    <a:solidFill>
                      <a:srgbClr val="FFF3CD"/>
                    </a:solidFill>
                  </a:tcPr>
                </a:tc>
                <a:tc>
                  <a:txBody>
                    <a:bodyPr/>
                    <a:lstStyle/>
                    <a:p>
                      <a:pPr algn="l"/>
                      <a:r>
                        <a:rPr sz="1250" b="1">
                          <a:solidFill>
                            <a:srgbClr val="212E38"/>
                          </a:solidFill>
                          <a:latin typeface="Yu Gothic"/>
                        </a:rPr>
                        <a:t>主任CM 1名以上＋常勤CM 3名以上</a:t>
                      </a:r>
                    </a:p>
                  </a:txBody>
                  <a:tcPr>
                    <a:solidFill>
                      <a:srgbClr val="FFF3CD"/>
                    </a:solidFill>
                  </a:tcPr>
                </a:tc>
                <a:tc>
                  <a:txBody>
                    <a:bodyPr/>
                    <a:lstStyle/>
                    <a:p>
                      <a:pPr algn="l"/>
                      <a:r>
                        <a:rPr sz="1250" b="1">
                          <a:solidFill>
                            <a:srgbClr val="212E38"/>
                          </a:solidFill>
                          <a:latin typeface="Yu Gothic"/>
                        </a:rPr>
                        <a:t>要件なし</a:t>
                      </a:r>
                    </a:p>
                  </a:txBody>
                  <a:tcPr>
                    <a:solidFill>
                      <a:srgbClr val="FFF3CD"/>
                    </a:solidFill>
                  </a:tcPr>
                </a:tc>
              </a:tr>
              <a:tr h="420624">
                <a:tc>
                  <a:txBody>
                    <a:bodyPr/>
                    <a:lstStyle/>
                    <a:p>
                      <a:pPr algn="ctr"/>
                      <a:r>
                        <a:rPr sz="1250" b="1">
                          <a:solidFill>
                            <a:srgbClr val="212E38"/>
                          </a:solidFill>
                          <a:latin typeface="Yu Gothic"/>
                        </a:rPr>
                        <a:t>加算III</a:t>
                      </a:r>
                    </a:p>
                  </a:txBody>
                  <a:tcPr>
                    <a:solidFill>
                      <a:srgbClr val="FFFFFF"/>
                    </a:solidFill>
                  </a:tcPr>
                </a:tc>
                <a:tc>
                  <a:txBody>
                    <a:bodyPr/>
                    <a:lstStyle/>
                    <a:p>
                      <a:pPr algn="l"/>
                      <a:r>
                        <a:rPr sz="1250" b="0">
                          <a:solidFill>
                            <a:srgbClr val="212E38"/>
                          </a:solidFill>
                          <a:latin typeface="Yu Gothic"/>
                        </a:rPr>
                        <a:t>主任CM 1名以上＋常勤CM 2名以上</a:t>
                      </a:r>
                    </a:p>
                  </a:txBody>
                  <a:tcPr>
                    <a:solidFill>
                      <a:srgbClr val="FFFFFF"/>
                    </a:solidFill>
                  </a:tcPr>
                </a:tc>
                <a:tc>
                  <a:txBody>
                    <a:bodyPr/>
                    <a:lstStyle/>
                    <a:p>
                      <a:pPr algn="l"/>
                      <a:r>
                        <a:rPr sz="1250" b="0">
                          <a:solidFill>
                            <a:srgbClr val="212E38"/>
                          </a:solidFill>
                          <a:latin typeface="Yu Gothic"/>
                        </a:rPr>
                        <a:t>要件なし</a:t>
                      </a:r>
                    </a:p>
                  </a:txBody>
                  <a:tcPr>
                    <a:solidFill>
                      <a:srgbClr val="FFFFFF"/>
                    </a:solidFill>
                  </a:tcPr>
                </a:tc>
              </a:tr>
              <a:tr h="420624">
                <a:tc>
                  <a:txBody>
                    <a:bodyPr/>
                    <a:lstStyle/>
                    <a:p>
                      <a:pPr algn="ctr"/>
                      <a:r>
                        <a:rPr sz="1250" b="1">
                          <a:solidFill>
                            <a:srgbClr val="212E38"/>
                          </a:solidFill>
                          <a:latin typeface="Yu Gothic"/>
                        </a:rPr>
                        <a:t>加算A</a:t>
                      </a:r>
                    </a:p>
                  </a:txBody>
                  <a:tcPr>
                    <a:solidFill>
                      <a:srgbClr val="EEF4F6"/>
                    </a:solidFill>
                  </a:tcPr>
                </a:tc>
                <a:tc>
                  <a:txBody>
                    <a:bodyPr/>
                    <a:lstStyle/>
                    <a:p>
                      <a:pPr algn="l"/>
                      <a:r>
                        <a:rPr sz="1250" b="0">
                          <a:solidFill>
                            <a:srgbClr val="212E38"/>
                          </a:solidFill>
                          <a:latin typeface="Yu Gothic"/>
                        </a:rPr>
                        <a:t>主任CM＋常勤CM＋非常勤（他事業所と連携可）</a:t>
                      </a:r>
                    </a:p>
                  </a:txBody>
                  <a:tcPr>
                    <a:solidFill>
                      <a:srgbClr val="EEF4F6"/>
                    </a:solidFill>
                  </a:tcPr>
                </a:tc>
                <a:tc>
                  <a:txBody>
                    <a:bodyPr/>
                    <a:lstStyle/>
                    <a:p>
                      <a:pPr algn="l"/>
                      <a:r>
                        <a:rPr sz="1250" b="0">
                          <a:solidFill>
                            <a:srgbClr val="212E38"/>
                          </a:solidFill>
                          <a:latin typeface="Yu Gothic"/>
                        </a:rPr>
                        <a:t>要件なし</a:t>
                      </a:r>
                    </a:p>
                  </a:txBody>
                  <a:tcPr>
                    <a:solidFill>
                      <a:srgbClr val="EEF4F6"/>
                    </a:solidFill>
                  </a:tcPr>
                </a:tc>
              </a:tr>
            </a:tbl>
          </a:graphicData>
        </a:graphic>
      </p:graphicFrame>
      <p:sp>
        <p:nvSpPr>
          <p:cNvPr id="10" name="Rounded Rectangle 9"/>
          <p:cNvSpPr/>
          <p:nvPr/>
        </p:nvSpPr>
        <p:spPr>
          <a:xfrm>
            <a:off x="640080" y="4114800"/>
            <a:ext cx="10881360" cy="132588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114800"/>
            <a:ext cx="76200" cy="132588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114800"/>
            <a:ext cx="10561320" cy="1325880"/>
          </a:xfrm>
          <a:prstGeom prst="rect">
            <a:avLst/>
          </a:prstGeom>
          <a:noFill/>
        </p:spPr>
        <p:txBody>
          <a:bodyPr wrap="square" anchor="ctr" lIns="25400" rIns="25400" tIns="25400" bIns="25400">
            <a:spAutoFit/>
          </a:bodyPr>
          <a:lstStyle/>
          <a:p>
            <a:pPr algn="l">
              <a:spcAft>
                <a:spcPts val="400"/>
              </a:spcAft>
              <a:buNone/>
            </a:pPr>
            <a:r>
              <a:rPr sz="1400" b="0">
                <a:solidFill>
                  <a:srgbClr val="212E38"/>
                </a:solidFill>
                <a:latin typeface="Yu Gothic"/>
              </a:rPr>
              <a:t>全区分共通の要件として、</a:t>
            </a:r>
            <a:r>
              <a:rPr sz="1400" b="1">
                <a:solidFill>
                  <a:srgbClr val="D96A4A"/>
                </a:solidFill>
                <a:latin typeface="Yu Gothic"/>
              </a:rPr>
              <a:t>24時間連絡体制・定期的な会議・研修計画と実施・運営基準減算/集中減算なし・他法人との事例検討会、そして『支援困難事例の受け入れ』</a:t>
            </a:r>
            <a:r>
              <a:rPr sz="1400" b="0">
                <a:solidFill>
                  <a:srgbClr val="212E38"/>
                </a:solidFill>
                <a:latin typeface="Yu Gothic"/>
              </a:rPr>
              <a:t>が求められます（＝困難事例対応は加算の根幹）。</a:t>
            </a:r>
          </a:p>
        </p:txBody>
      </p:sp>
      <p:sp>
        <p:nvSpPr>
          <p:cNvPr id="13" name="TextBox 12"/>
          <p:cNvSpPr txBox="1"/>
          <p:nvPr/>
        </p:nvSpPr>
        <p:spPr>
          <a:xfrm>
            <a:off x="822960" y="5532120"/>
            <a:ext cx="10607040" cy="457200"/>
          </a:xfrm>
          <a:prstGeom prst="rect">
            <a:avLst/>
          </a:prstGeom>
          <a:noFill/>
        </p:spPr>
        <p:txBody>
          <a:bodyPr wrap="square" anchor="t" lIns="25400" rIns="25400" tIns="25400" bIns="25400">
            <a:spAutoFit/>
          </a:bodyPr>
          <a:lstStyle/>
          <a:p>
            <a:pPr algn="l">
              <a:spcAft>
                <a:spcPts val="400"/>
              </a:spcAft>
              <a:buNone/>
            </a:pPr>
            <a:r>
              <a:rPr sz="1100" b="0">
                <a:solidFill>
                  <a:srgbClr val="576873"/>
                </a:solidFill>
                <a:latin typeface="Yu Gothic"/>
              </a:rPr>
              <a:t>※CM＝介護支援専門員。人員数・割合・要件の詳細は最新の介護報酬告示・解釈通知（直近改定版）で必ずご確認ください。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WHY</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なぜ「困難事例の受け入れ体制」が要なのか</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5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371600"/>
            <a:ext cx="10881360" cy="91440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71600"/>
            <a:ext cx="76200" cy="91440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371600"/>
            <a:ext cx="10561320" cy="914400"/>
          </a:xfrm>
          <a:prstGeom prst="rect">
            <a:avLst/>
          </a:prstGeom>
          <a:noFill/>
        </p:spPr>
        <p:txBody>
          <a:bodyPr wrap="square" anchor="ctr" lIns="25400" rIns="25400" tIns="25400" bIns="25400">
            <a:spAutoFit/>
          </a:bodyPr>
          <a:lstStyle/>
          <a:p>
            <a:pPr algn="l">
              <a:spcAft>
                <a:spcPts val="400"/>
              </a:spcAft>
              <a:buNone/>
            </a:pPr>
            <a:r>
              <a:rPr sz="1400" b="1">
                <a:solidFill>
                  <a:srgbClr val="1B9A8B"/>
                </a:solidFill>
                <a:latin typeface="Yu Gothic"/>
              </a:rPr>
              <a:t>加算要件そのもの：</a:t>
            </a:r>
            <a:r>
              <a:rPr sz="1400" b="0">
                <a:solidFill>
                  <a:srgbClr val="212E38"/>
                </a:solidFill>
                <a:latin typeface="Yu Gothic"/>
              </a:rPr>
              <a:t>居宅介護支援の特定事業所加算では「地域包括支援センター等から支援困難な事例を紹介された場合でも、担当する介護支援専門員を配置していること」が要件。困難事例を受けられる体制＝加算の前提です。</a:t>
            </a:r>
          </a:p>
        </p:txBody>
      </p:sp>
      <p:sp>
        <p:nvSpPr>
          <p:cNvPr id="11" name="Rounded Rectangle 10"/>
          <p:cNvSpPr/>
          <p:nvPr/>
        </p:nvSpPr>
        <p:spPr>
          <a:xfrm>
            <a:off x="640080" y="2514600"/>
            <a:ext cx="5349240" cy="14630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651760"/>
            <a:ext cx="4892040" cy="1188720"/>
          </a:xfrm>
          <a:prstGeom prst="rect">
            <a:avLst/>
          </a:prstGeom>
          <a:noFill/>
        </p:spPr>
        <p:txBody>
          <a:bodyPr wrap="square" anchor="t" lIns="25400" rIns="25400" tIns="25400" bIns="25400">
            <a:spAutoFit/>
          </a:bodyPr>
          <a:lstStyle/>
          <a:p>
            <a:pPr algn="l">
              <a:spcAft>
                <a:spcPts val="400"/>
              </a:spcAft>
              <a:buNone/>
            </a:pPr>
            <a:r>
              <a:rPr sz="1700" b="1">
                <a:solidFill>
                  <a:srgbClr val="216A8C"/>
                </a:solidFill>
                <a:latin typeface="Yu Gothic"/>
              </a:rPr>
              <a:t>① 加算の趣旨に直結する</a:t>
            </a:r>
          </a:p>
          <a:p>
            <a:pPr algn="l">
              <a:spcAft>
                <a:spcPts val="400"/>
              </a:spcAft>
              <a:buNone/>
            </a:pPr>
            <a:r>
              <a:rPr sz="1400" b="0">
                <a:solidFill>
                  <a:srgbClr val="212E38"/>
                </a:solidFill>
                <a:latin typeface="Yu Gothic"/>
              </a:rPr>
              <a:t>24時間連絡体制・会議・研修・SVといった加算要件は、そのまま困難事例を支えるための装置になる。</a:t>
            </a:r>
          </a:p>
        </p:txBody>
      </p:sp>
      <p:sp>
        <p:nvSpPr>
          <p:cNvPr id="13" name="Rounded Rectangle 12"/>
          <p:cNvSpPr/>
          <p:nvPr/>
        </p:nvSpPr>
        <p:spPr>
          <a:xfrm>
            <a:off x="6263640" y="2514600"/>
            <a:ext cx="5349240" cy="14630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651760"/>
            <a:ext cx="4892040" cy="1188720"/>
          </a:xfrm>
          <a:prstGeom prst="rect">
            <a:avLst/>
          </a:prstGeom>
          <a:noFill/>
        </p:spPr>
        <p:txBody>
          <a:bodyPr wrap="square" anchor="t" lIns="25400" rIns="25400" tIns="25400" bIns="25400">
            <a:spAutoFit/>
          </a:bodyPr>
          <a:lstStyle/>
          <a:p>
            <a:pPr algn="l">
              <a:spcAft>
                <a:spcPts val="400"/>
              </a:spcAft>
              <a:buNone/>
            </a:pPr>
            <a:r>
              <a:rPr sz="1700" b="1">
                <a:solidFill>
                  <a:srgbClr val="216A8C"/>
                </a:solidFill>
                <a:latin typeface="Yu Gothic"/>
              </a:rPr>
              <a:t>② 地域からの信頼につながる</a:t>
            </a:r>
          </a:p>
          <a:p>
            <a:pPr algn="l">
              <a:spcAft>
                <a:spcPts val="400"/>
              </a:spcAft>
              <a:buNone/>
            </a:pPr>
            <a:r>
              <a:rPr sz="1400" b="0">
                <a:solidFill>
                  <a:srgbClr val="212E38"/>
                </a:solidFill>
                <a:latin typeface="Yu Gothic"/>
              </a:rPr>
              <a:t>地域包括や行政から「あの事業所なら任せられる」と頼られ、安定した紹介・受任につながる。</a:t>
            </a:r>
          </a:p>
        </p:txBody>
      </p:sp>
      <p:sp>
        <p:nvSpPr>
          <p:cNvPr id="15" name="Rounded Rectangle 14"/>
          <p:cNvSpPr/>
          <p:nvPr/>
        </p:nvSpPr>
        <p:spPr>
          <a:xfrm>
            <a:off x="640080" y="4206240"/>
            <a:ext cx="5349240" cy="14630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343400"/>
            <a:ext cx="4892040" cy="1188720"/>
          </a:xfrm>
          <a:prstGeom prst="rect">
            <a:avLst/>
          </a:prstGeom>
          <a:noFill/>
        </p:spPr>
        <p:txBody>
          <a:bodyPr wrap="square" anchor="t" lIns="25400" rIns="25400" tIns="25400" bIns="25400">
            <a:spAutoFit/>
          </a:bodyPr>
          <a:lstStyle/>
          <a:p>
            <a:pPr algn="l">
              <a:spcAft>
                <a:spcPts val="400"/>
              </a:spcAft>
              <a:buNone/>
            </a:pPr>
            <a:r>
              <a:rPr sz="1700" b="1">
                <a:solidFill>
                  <a:srgbClr val="216A8C"/>
                </a:solidFill>
                <a:latin typeface="Yu Gothic"/>
              </a:rPr>
              <a:t>③ ケアマネを守る</a:t>
            </a:r>
          </a:p>
          <a:p>
            <a:pPr algn="l">
              <a:spcAft>
                <a:spcPts val="400"/>
              </a:spcAft>
              <a:buNone/>
            </a:pPr>
            <a:r>
              <a:rPr sz="1400" b="0">
                <a:solidFill>
                  <a:srgbClr val="212E38"/>
                </a:solidFill>
                <a:latin typeface="Yu Gothic"/>
              </a:rPr>
              <a:t>体制があれば困難事例を一人で抱えさせない。バーンアウト・離職・抱え込みによる事故を防ぐ。</a:t>
            </a:r>
          </a:p>
        </p:txBody>
      </p:sp>
      <p:sp>
        <p:nvSpPr>
          <p:cNvPr id="17" name="Rounded Rectangle 16"/>
          <p:cNvSpPr/>
          <p:nvPr/>
        </p:nvSpPr>
        <p:spPr>
          <a:xfrm>
            <a:off x="6263640" y="4206240"/>
            <a:ext cx="5349240" cy="14630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343400"/>
            <a:ext cx="4892040" cy="1188720"/>
          </a:xfrm>
          <a:prstGeom prst="rect">
            <a:avLst/>
          </a:prstGeom>
          <a:noFill/>
        </p:spPr>
        <p:txBody>
          <a:bodyPr wrap="square" anchor="t" lIns="25400" rIns="25400" tIns="25400" bIns="25400">
            <a:spAutoFit/>
          </a:bodyPr>
          <a:lstStyle/>
          <a:p>
            <a:pPr algn="l">
              <a:spcAft>
                <a:spcPts val="400"/>
              </a:spcAft>
              <a:buNone/>
            </a:pPr>
            <a:r>
              <a:rPr sz="1700" b="1">
                <a:solidFill>
                  <a:srgbClr val="216A8C"/>
                </a:solidFill>
                <a:latin typeface="Yu Gothic"/>
              </a:rPr>
              <a:t>④ 利用者の権利を守る</a:t>
            </a:r>
          </a:p>
          <a:p>
            <a:pPr algn="l">
              <a:spcAft>
                <a:spcPts val="400"/>
              </a:spcAft>
              <a:buNone/>
            </a:pPr>
            <a:r>
              <a:rPr sz="1400" b="0">
                <a:solidFill>
                  <a:srgbClr val="212E38"/>
                </a:solidFill>
                <a:latin typeface="Yu Gothic"/>
              </a:rPr>
              <a:t>支援拒否・虐待・権利擁護が絡む事例こそ、組織と多職種で受けることが利用者保護になる。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DEFINE</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「困難事例」とは何か</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6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TextBox 7"/>
          <p:cNvSpPr txBox="1"/>
          <p:nvPr/>
        </p:nvSpPr>
        <p:spPr>
          <a:xfrm>
            <a:off x="640080" y="1371600"/>
            <a:ext cx="10972800" cy="457200"/>
          </a:xfrm>
          <a:prstGeom prst="rect">
            <a:avLst/>
          </a:prstGeom>
          <a:noFill/>
        </p:spPr>
        <p:txBody>
          <a:bodyPr wrap="square" anchor="t" lIns="25400" rIns="25400" tIns="25400" bIns="25400">
            <a:spAutoFit/>
          </a:bodyPr>
          <a:lstStyle/>
          <a:p>
            <a:pPr algn="l">
              <a:spcAft>
                <a:spcPts val="400"/>
              </a:spcAft>
              <a:buNone/>
            </a:pPr>
            <a:r>
              <a:rPr sz="1800" b="0">
                <a:solidFill>
                  <a:srgbClr val="576873"/>
                </a:solidFill>
                <a:latin typeface="Yu Gothic"/>
              </a:rPr>
              <a:t>ケアマネジメントが難航する要因を分解すると、必要な備えが見えてくる。</a:t>
            </a:r>
          </a:p>
        </p:txBody>
      </p:sp>
      <p:sp>
        <p:nvSpPr>
          <p:cNvPr id="9" name="Rounded Rectangle 8"/>
          <p:cNvSpPr/>
          <p:nvPr/>
        </p:nvSpPr>
        <p:spPr>
          <a:xfrm>
            <a:off x="640080" y="1920240"/>
            <a:ext cx="5349240" cy="14173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2084832"/>
            <a:ext cx="2194560" cy="310896"/>
          </a:xfrm>
          <a:prstGeom prst="roundRect">
            <a:avLst>
              <a:gd name="adj" fmla="val 50000"/>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本人の状態・拒否</a:t>
            </a:r>
          </a:p>
        </p:txBody>
      </p:sp>
      <p:sp>
        <p:nvSpPr>
          <p:cNvPr id="11" name="TextBox 10"/>
          <p:cNvSpPr txBox="1"/>
          <p:nvPr/>
        </p:nvSpPr>
        <p:spPr>
          <a:xfrm>
            <a:off x="841248" y="2523744"/>
            <a:ext cx="4946904" cy="685800"/>
          </a:xfrm>
          <a:prstGeom prst="rect">
            <a:avLst/>
          </a:prstGeom>
          <a:noFill/>
        </p:spPr>
        <p:txBody>
          <a:bodyPr wrap="square" anchor="t" lIns="25400" rIns="25400" tIns="25400" bIns="25400">
            <a:spAutoFit/>
          </a:bodyPr>
          <a:lstStyle/>
          <a:p>
            <a:pPr algn="l">
              <a:spcAft>
                <a:spcPts val="400"/>
              </a:spcAft>
              <a:buNone/>
            </a:pPr>
            <a:r>
              <a:rPr sz="1400" b="0">
                <a:solidFill>
                  <a:srgbClr val="212E38"/>
                </a:solidFill>
                <a:latin typeface="Yu Gothic"/>
              </a:rPr>
              <a:t>認知症・精神疾患、サービス拒否・支援拒否、意思決定支援が必要なケース。</a:t>
            </a:r>
          </a:p>
        </p:txBody>
      </p:sp>
      <p:sp>
        <p:nvSpPr>
          <p:cNvPr id="12" name="Rounded Rectangle 11"/>
          <p:cNvSpPr/>
          <p:nvPr/>
        </p:nvSpPr>
        <p:spPr>
          <a:xfrm>
            <a:off x="6263640" y="1920240"/>
            <a:ext cx="5349240" cy="14173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64808" y="2084832"/>
            <a:ext cx="2194560" cy="310896"/>
          </a:xfrm>
          <a:prstGeom prst="roundRect">
            <a:avLst>
              <a:gd name="adj" fmla="val 50000"/>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医療・退院支援</a:t>
            </a:r>
          </a:p>
        </p:txBody>
      </p:sp>
      <p:sp>
        <p:nvSpPr>
          <p:cNvPr id="14" name="TextBox 13"/>
          <p:cNvSpPr txBox="1"/>
          <p:nvPr/>
        </p:nvSpPr>
        <p:spPr>
          <a:xfrm>
            <a:off x="6464808" y="2523744"/>
            <a:ext cx="4946904" cy="685800"/>
          </a:xfrm>
          <a:prstGeom prst="rect">
            <a:avLst/>
          </a:prstGeom>
          <a:noFill/>
        </p:spPr>
        <p:txBody>
          <a:bodyPr wrap="square" anchor="t" lIns="25400" rIns="25400" tIns="25400" bIns="25400">
            <a:spAutoFit/>
          </a:bodyPr>
          <a:lstStyle/>
          <a:p>
            <a:pPr algn="l">
              <a:spcAft>
                <a:spcPts val="400"/>
              </a:spcAft>
              <a:buNone/>
            </a:pPr>
            <a:r>
              <a:rPr sz="1400" b="0">
                <a:solidFill>
                  <a:srgbClr val="212E38"/>
                </a:solidFill>
                <a:latin typeface="Yu Gothic"/>
              </a:rPr>
              <a:t>医療ニーズが高い、退院直後で在宅移行が急、ターミナル・看取り。</a:t>
            </a:r>
          </a:p>
        </p:txBody>
      </p:sp>
      <p:sp>
        <p:nvSpPr>
          <p:cNvPr id="15" name="Rounded Rectangle 14"/>
          <p:cNvSpPr/>
          <p:nvPr/>
        </p:nvSpPr>
        <p:spPr>
          <a:xfrm>
            <a:off x="640080" y="3593592"/>
            <a:ext cx="5349240" cy="14173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1248" y="3758184"/>
            <a:ext cx="2194560" cy="310896"/>
          </a:xfrm>
          <a:prstGeom prst="roundRect">
            <a:avLst>
              <a:gd name="adj" fmla="val 50000"/>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家族・世帯</a:t>
            </a:r>
          </a:p>
        </p:txBody>
      </p:sp>
      <p:sp>
        <p:nvSpPr>
          <p:cNvPr id="17" name="TextBox 16"/>
          <p:cNvSpPr txBox="1"/>
          <p:nvPr/>
        </p:nvSpPr>
        <p:spPr>
          <a:xfrm>
            <a:off x="841248" y="4197096"/>
            <a:ext cx="4946904" cy="685800"/>
          </a:xfrm>
          <a:prstGeom prst="rect">
            <a:avLst/>
          </a:prstGeom>
          <a:noFill/>
        </p:spPr>
        <p:txBody>
          <a:bodyPr wrap="square" anchor="t" lIns="25400" rIns="25400" tIns="25400" bIns="25400">
            <a:spAutoFit/>
          </a:bodyPr>
          <a:lstStyle/>
          <a:p>
            <a:pPr algn="l">
              <a:spcAft>
                <a:spcPts val="400"/>
              </a:spcAft>
              <a:buNone/>
            </a:pPr>
            <a:r>
              <a:rPr sz="1400" b="0">
                <a:solidFill>
                  <a:srgbClr val="212E38"/>
                </a:solidFill>
                <a:latin typeface="Yu Gothic"/>
              </a:rPr>
              <a:t>介護負担過多、虐待（疑い）、8050・ヤングケアラー、複合課題世帯。</a:t>
            </a:r>
          </a:p>
        </p:txBody>
      </p:sp>
      <p:sp>
        <p:nvSpPr>
          <p:cNvPr id="18" name="Rounded Rectangle 17"/>
          <p:cNvSpPr/>
          <p:nvPr/>
        </p:nvSpPr>
        <p:spPr>
          <a:xfrm>
            <a:off x="6263640" y="3593592"/>
            <a:ext cx="5349240" cy="14173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64808" y="3758184"/>
            <a:ext cx="2194560" cy="310896"/>
          </a:xfrm>
          <a:prstGeom prst="roundRect">
            <a:avLst>
              <a:gd name="adj" fmla="val 50000"/>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5A4500"/>
                </a:solidFill>
                <a:latin typeface="Yu Gothic"/>
              </a:rPr>
              <a:t>社会・制度・権利擁護</a:t>
            </a:r>
          </a:p>
        </p:txBody>
      </p:sp>
      <p:sp>
        <p:nvSpPr>
          <p:cNvPr id="20" name="TextBox 19"/>
          <p:cNvSpPr txBox="1"/>
          <p:nvPr/>
        </p:nvSpPr>
        <p:spPr>
          <a:xfrm>
            <a:off x="6464808" y="4197096"/>
            <a:ext cx="4946904" cy="685800"/>
          </a:xfrm>
          <a:prstGeom prst="rect">
            <a:avLst/>
          </a:prstGeom>
          <a:noFill/>
        </p:spPr>
        <p:txBody>
          <a:bodyPr wrap="square" anchor="t" lIns="25400" rIns="25400" tIns="25400" bIns="25400">
            <a:spAutoFit/>
          </a:bodyPr>
          <a:lstStyle/>
          <a:p>
            <a:pPr algn="l">
              <a:spcAft>
                <a:spcPts val="400"/>
              </a:spcAft>
              <a:buNone/>
            </a:pPr>
            <a:r>
              <a:rPr sz="1400" b="0">
                <a:solidFill>
                  <a:srgbClr val="212E38"/>
                </a:solidFill>
                <a:latin typeface="Yu Gothic"/>
              </a:rPr>
              <a:t>経済的困窮、独居・身寄りなし、成年後見、虐待対応・権利擁護。</a:t>
            </a:r>
          </a:p>
        </p:txBody>
      </p:sp>
      <p:sp>
        <p:nvSpPr>
          <p:cNvPr id="21" name="Rounded Rectangle 20"/>
          <p:cNvSpPr/>
          <p:nvPr/>
        </p:nvSpPr>
        <p:spPr>
          <a:xfrm>
            <a:off x="640080" y="5029200"/>
            <a:ext cx="10881360" cy="100584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5029200"/>
            <a:ext cx="76200" cy="100584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029200"/>
            <a:ext cx="10561320" cy="1005840"/>
          </a:xfrm>
          <a:prstGeom prst="rect">
            <a:avLst/>
          </a:prstGeom>
          <a:noFill/>
        </p:spPr>
        <p:txBody>
          <a:bodyPr wrap="square" anchor="ctr" lIns="25400" rIns="25400" tIns="25400" bIns="25400">
            <a:spAutoFit/>
          </a:bodyPr>
          <a:lstStyle/>
          <a:p>
            <a:pPr algn="l">
              <a:spcAft>
                <a:spcPts val="400"/>
              </a:spcAft>
              <a:buNone/>
            </a:pPr>
            <a:r>
              <a:rPr sz="1400" b="1">
                <a:solidFill>
                  <a:srgbClr val="1B9A8B"/>
                </a:solidFill>
                <a:latin typeface="Yu Gothic"/>
              </a:rPr>
              <a:t>視点：</a:t>
            </a:r>
            <a:r>
              <a:rPr sz="1400" b="0">
                <a:solidFill>
                  <a:srgbClr val="212E38"/>
                </a:solidFill>
                <a:latin typeface="Yu Gothic"/>
              </a:rPr>
              <a:t>困難さは利用者の「属性」ではなく、抱え込みや連携不足など支援する側の体制から生まれることも多い。体制を整えれば「困難」は「対応可能」に変わる。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FLOW</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受任〜ケアマネジメントの基本フロー</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7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TextBox 7"/>
          <p:cNvSpPr txBox="1"/>
          <p:nvPr/>
        </p:nvSpPr>
        <p:spPr>
          <a:xfrm>
            <a:off x="640080" y="1371600"/>
            <a:ext cx="10972800" cy="457200"/>
          </a:xfrm>
          <a:prstGeom prst="rect">
            <a:avLst/>
          </a:prstGeom>
          <a:noFill/>
        </p:spPr>
        <p:txBody>
          <a:bodyPr wrap="square" anchor="t" lIns="25400" rIns="25400" tIns="25400" bIns="25400">
            <a:spAutoFit/>
          </a:bodyPr>
          <a:lstStyle/>
          <a:p>
            <a:pPr algn="l">
              <a:spcAft>
                <a:spcPts val="400"/>
              </a:spcAft>
              <a:buNone/>
            </a:pPr>
            <a:r>
              <a:rPr sz="1800" b="0">
                <a:solidFill>
                  <a:srgbClr val="212E38"/>
                </a:solidFill>
                <a:latin typeface="Yu Gothic"/>
              </a:rPr>
              <a:t>困難事例は担当一人で抱えない。</a:t>
            </a:r>
            <a:r>
              <a:rPr sz="1800" b="1">
                <a:solidFill>
                  <a:srgbClr val="D96A4A"/>
                </a:solidFill>
                <a:latin typeface="Yu Gothic"/>
              </a:rPr>
              <a:t>受任判断から組織・チームで動かす。</a:t>
            </a:r>
          </a:p>
        </p:txBody>
      </p:sp>
      <p:sp>
        <p:nvSpPr>
          <p:cNvPr id="9" name="Rounded Rectangle 8"/>
          <p:cNvSpPr/>
          <p:nvPr/>
        </p:nvSpPr>
        <p:spPr>
          <a:xfrm>
            <a:off x="640080" y="2011680"/>
            <a:ext cx="1965960" cy="1554480"/>
          </a:xfrm>
          <a:prstGeom prst="roundRect">
            <a:avLst>
              <a:gd name="adj" fmla="val 6000"/>
            </a:avLst>
          </a:prstGeom>
          <a:solidFill>
            <a:srgbClr val="FFFFFF"/>
          </a:solidFill>
          <a:ln w="25400">
            <a:solidFill>
              <a:srgbClr val="216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421892" y="2148840"/>
            <a:ext cx="402336" cy="402336"/>
          </a:xfrm>
          <a:prstGeom prst="ellipse">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800" b="1">
                <a:solidFill>
                  <a:srgbClr val="FFFFFF"/>
                </a:solidFill>
                <a:latin typeface="Yu Gothic"/>
              </a:rPr>
              <a:t>1</a:t>
            </a:r>
          </a:p>
        </p:txBody>
      </p:sp>
      <p:sp>
        <p:nvSpPr>
          <p:cNvPr id="11" name="TextBox 10"/>
          <p:cNvSpPr txBox="1"/>
          <p:nvPr/>
        </p:nvSpPr>
        <p:spPr>
          <a:xfrm>
            <a:off x="713232" y="2578608"/>
            <a:ext cx="1819656" cy="914400"/>
          </a:xfrm>
          <a:prstGeom prst="rect">
            <a:avLst/>
          </a:prstGeom>
          <a:noFill/>
        </p:spPr>
        <p:txBody>
          <a:bodyPr wrap="square" anchor="t" lIns="25400" rIns="25400" tIns="25400" bIns="25400">
            <a:spAutoFit/>
          </a:bodyPr>
          <a:lstStyle/>
          <a:p>
            <a:pPr algn="ctr">
              <a:spcAft>
                <a:spcPts val="300"/>
              </a:spcAft>
              <a:buNone/>
            </a:pPr>
            <a:r>
              <a:rPr sz="1400" b="1">
                <a:solidFill>
                  <a:srgbClr val="10335C"/>
                </a:solidFill>
                <a:latin typeface="Yu Gothic"/>
              </a:rPr>
              <a:t>インテーク／
受任判断</a:t>
            </a:r>
          </a:p>
          <a:p>
            <a:pPr algn="ctr">
              <a:spcAft>
                <a:spcPts val="400"/>
              </a:spcAft>
              <a:buNone/>
            </a:pPr>
            <a:r>
              <a:rPr sz="1100" b="0">
                <a:solidFill>
                  <a:srgbClr val="576873"/>
                </a:solidFill>
                <a:latin typeface="Yu Gothic"/>
              </a:rPr>
              <a:t>情報を受け止め組織で受任を判断</a:t>
            </a:r>
          </a:p>
        </p:txBody>
      </p:sp>
      <p:sp>
        <p:nvSpPr>
          <p:cNvPr id="12" name="Right Arrow 11"/>
          <p:cNvSpPr/>
          <p:nvPr/>
        </p:nvSpPr>
        <p:spPr>
          <a:xfrm>
            <a:off x="2587752" y="2679192"/>
            <a:ext cx="299466" cy="219456"/>
          </a:xfrm>
          <a:prstGeom prst="rightArrow">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68930" y="2011680"/>
            <a:ext cx="1965960" cy="1554480"/>
          </a:xfrm>
          <a:prstGeom prst="roundRect">
            <a:avLst>
              <a:gd name="adj" fmla="val 6000"/>
            </a:avLst>
          </a:prstGeom>
          <a:solidFill>
            <a:srgbClr val="FFFFFF"/>
          </a:solidFill>
          <a:ln w="25400">
            <a:solidFill>
              <a:srgbClr val="216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50742" y="2148840"/>
            <a:ext cx="402336" cy="402336"/>
          </a:xfrm>
          <a:prstGeom prst="ellipse">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800" b="1">
                <a:solidFill>
                  <a:srgbClr val="FFFFFF"/>
                </a:solidFill>
                <a:latin typeface="Yu Gothic"/>
              </a:rPr>
              <a:t>2</a:t>
            </a:r>
          </a:p>
        </p:txBody>
      </p:sp>
      <p:sp>
        <p:nvSpPr>
          <p:cNvPr id="15" name="TextBox 14"/>
          <p:cNvSpPr txBox="1"/>
          <p:nvPr/>
        </p:nvSpPr>
        <p:spPr>
          <a:xfrm>
            <a:off x="2942082" y="2578608"/>
            <a:ext cx="1819656" cy="914400"/>
          </a:xfrm>
          <a:prstGeom prst="rect">
            <a:avLst/>
          </a:prstGeom>
          <a:noFill/>
        </p:spPr>
        <p:txBody>
          <a:bodyPr wrap="square" anchor="t" lIns="25400" rIns="25400" tIns="25400" bIns="25400">
            <a:spAutoFit/>
          </a:bodyPr>
          <a:lstStyle/>
          <a:p>
            <a:pPr algn="ctr">
              <a:spcAft>
                <a:spcPts val="300"/>
              </a:spcAft>
              <a:buNone/>
            </a:pPr>
            <a:r>
              <a:rPr sz="1400" b="1">
                <a:solidFill>
                  <a:srgbClr val="10335C"/>
                </a:solidFill>
                <a:latin typeface="Yu Gothic"/>
              </a:rPr>
              <a:t>アセスメント</a:t>
            </a:r>
          </a:p>
          <a:p>
            <a:pPr algn="ctr">
              <a:spcAft>
                <a:spcPts val="400"/>
              </a:spcAft>
              <a:buNone/>
            </a:pPr>
            <a:r>
              <a:rPr sz="1100" b="0">
                <a:solidFill>
                  <a:srgbClr val="576873"/>
                </a:solidFill>
                <a:latin typeface="Yu Gothic"/>
              </a:rPr>
              <a:t>課題分析・リスクと支援ニーズ把握</a:t>
            </a:r>
          </a:p>
        </p:txBody>
      </p:sp>
      <p:sp>
        <p:nvSpPr>
          <p:cNvPr id="16" name="Right Arrow 15"/>
          <p:cNvSpPr/>
          <p:nvPr/>
        </p:nvSpPr>
        <p:spPr>
          <a:xfrm>
            <a:off x="4816602" y="2679192"/>
            <a:ext cx="299466" cy="219456"/>
          </a:xfrm>
          <a:prstGeom prst="rightArrow">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97780" y="2011680"/>
            <a:ext cx="1965960" cy="1554480"/>
          </a:xfrm>
          <a:prstGeom prst="roundRect">
            <a:avLst>
              <a:gd name="adj" fmla="val 6000"/>
            </a:avLst>
          </a:prstGeom>
          <a:solidFill>
            <a:srgbClr val="FFFFFF"/>
          </a:solidFill>
          <a:ln w="25400">
            <a:solidFill>
              <a:srgbClr val="216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879592" y="2148840"/>
            <a:ext cx="402336" cy="402336"/>
          </a:xfrm>
          <a:prstGeom prst="ellipse">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800" b="1">
                <a:solidFill>
                  <a:srgbClr val="FFFFFF"/>
                </a:solidFill>
                <a:latin typeface="Yu Gothic"/>
              </a:rPr>
              <a:t>3</a:t>
            </a:r>
          </a:p>
        </p:txBody>
      </p:sp>
      <p:sp>
        <p:nvSpPr>
          <p:cNvPr id="19" name="TextBox 18"/>
          <p:cNvSpPr txBox="1"/>
          <p:nvPr/>
        </p:nvSpPr>
        <p:spPr>
          <a:xfrm>
            <a:off x="5170932" y="2578608"/>
            <a:ext cx="1819656" cy="914400"/>
          </a:xfrm>
          <a:prstGeom prst="rect">
            <a:avLst/>
          </a:prstGeom>
          <a:noFill/>
        </p:spPr>
        <p:txBody>
          <a:bodyPr wrap="square" anchor="t" lIns="25400" rIns="25400" tIns="25400" bIns="25400">
            <a:spAutoFit/>
          </a:bodyPr>
          <a:lstStyle/>
          <a:p>
            <a:pPr algn="ctr">
              <a:spcAft>
                <a:spcPts val="300"/>
              </a:spcAft>
              <a:buNone/>
            </a:pPr>
            <a:r>
              <a:rPr sz="1400" b="1">
                <a:solidFill>
                  <a:srgbClr val="10335C"/>
                </a:solidFill>
                <a:latin typeface="Yu Gothic"/>
              </a:rPr>
              <a:t>ケアプラン作成</a:t>
            </a:r>
          </a:p>
          <a:p>
            <a:pPr algn="ctr">
              <a:spcAft>
                <a:spcPts val="400"/>
              </a:spcAft>
              <a:buNone/>
            </a:pPr>
            <a:r>
              <a:rPr sz="1100" b="0">
                <a:solidFill>
                  <a:srgbClr val="576873"/>
                </a:solidFill>
                <a:latin typeface="Yu Gothic"/>
              </a:rPr>
              <a:t>本人意向と多職種の視点を反映</a:t>
            </a:r>
          </a:p>
        </p:txBody>
      </p:sp>
      <p:sp>
        <p:nvSpPr>
          <p:cNvPr id="20" name="Right Arrow 19"/>
          <p:cNvSpPr/>
          <p:nvPr/>
        </p:nvSpPr>
        <p:spPr>
          <a:xfrm>
            <a:off x="7045452" y="2679192"/>
            <a:ext cx="299466" cy="219456"/>
          </a:xfrm>
          <a:prstGeom prst="rightArrow">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26630" y="2011680"/>
            <a:ext cx="1965960" cy="1554480"/>
          </a:xfrm>
          <a:prstGeom prst="roundRect">
            <a:avLst>
              <a:gd name="adj" fmla="val 6000"/>
            </a:avLst>
          </a:prstGeom>
          <a:solidFill>
            <a:srgbClr val="FFFFFF"/>
          </a:solidFill>
          <a:ln w="25400">
            <a:solidFill>
              <a:srgbClr val="216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08442" y="2148840"/>
            <a:ext cx="402336" cy="402336"/>
          </a:xfrm>
          <a:prstGeom prst="ellipse">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800" b="1">
                <a:solidFill>
                  <a:srgbClr val="FFFFFF"/>
                </a:solidFill>
                <a:latin typeface="Yu Gothic"/>
              </a:rPr>
              <a:t>4</a:t>
            </a:r>
          </a:p>
        </p:txBody>
      </p:sp>
      <p:sp>
        <p:nvSpPr>
          <p:cNvPr id="23" name="TextBox 22"/>
          <p:cNvSpPr txBox="1"/>
          <p:nvPr/>
        </p:nvSpPr>
        <p:spPr>
          <a:xfrm>
            <a:off x="7399782" y="2578608"/>
            <a:ext cx="1819656" cy="914400"/>
          </a:xfrm>
          <a:prstGeom prst="rect">
            <a:avLst/>
          </a:prstGeom>
          <a:noFill/>
        </p:spPr>
        <p:txBody>
          <a:bodyPr wrap="square" anchor="t" lIns="25400" rIns="25400" tIns="25400" bIns="25400">
            <a:spAutoFit/>
          </a:bodyPr>
          <a:lstStyle/>
          <a:p>
            <a:pPr algn="ctr">
              <a:spcAft>
                <a:spcPts val="300"/>
              </a:spcAft>
              <a:buNone/>
            </a:pPr>
            <a:r>
              <a:rPr sz="1400" b="1">
                <a:solidFill>
                  <a:srgbClr val="10335C"/>
                </a:solidFill>
                <a:latin typeface="Yu Gothic"/>
              </a:rPr>
              <a:t>サービス担当者
会議</a:t>
            </a:r>
          </a:p>
          <a:p>
            <a:pPr algn="ctr">
              <a:spcAft>
                <a:spcPts val="400"/>
              </a:spcAft>
              <a:buNone/>
            </a:pPr>
            <a:r>
              <a:rPr sz="1100" b="0">
                <a:solidFill>
                  <a:srgbClr val="576873"/>
                </a:solidFill>
                <a:latin typeface="Yu Gothic"/>
              </a:rPr>
              <a:t>多職種で役割分担・緊急時を共有</a:t>
            </a:r>
          </a:p>
        </p:txBody>
      </p:sp>
      <p:sp>
        <p:nvSpPr>
          <p:cNvPr id="24" name="Right Arrow 23"/>
          <p:cNvSpPr/>
          <p:nvPr/>
        </p:nvSpPr>
        <p:spPr>
          <a:xfrm>
            <a:off x="9274302" y="2679192"/>
            <a:ext cx="299466" cy="219456"/>
          </a:xfrm>
          <a:prstGeom prst="rightArrow">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55480" y="2011680"/>
            <a:ext cx="1965960" cy="1554480"/>
          </a:xfrm>
          <a:prstGeom prst="roundRect">
            <a:avLst>
              <a:gd name="adj" fmla="val 6000"/>
            </a:avLst>
          </a:prstGeom>
          <a:solidFill>
            <a:srgbClr val="FFFFFF"/>
          </a:solidFill>
          <a:ln w="25400">
            <a:solidFill>
              <a:srgbClr val="216A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337292" y="2148840"/>
            <a:ext cx="402336" cy="402336"/>
          </a:xfrm>
          <a:prstGeom prst="ellipse">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800" b="1">
                <a:solidFill>
                  <a:srgbClr val="FFFFFF"/>
                </a:solidFill>
                <a:latin typeface="Yu Gothic"/>
              </a:rPr>
              <a:t>5</a:t>
            </a:r>
          </a:p>
        </p:txBody>
      </p:sp>
      <p:sp>
        <p:nvSpPr>
          <p:cNvPr id="27" name="TextBox 26"/>
          <p:cNvSpPr txBox="1"/>
          <p:nvPr/>
        </p:nvSpPr>
        <p:spPr>
          <a:xfrm>
            <a:off x="9628632" y="2578608"/>
            <a:ext cx="1819656" cy="914400"/>
          </a:xfrm>
          <a:prstGeom prst="rect">
            <a:avLst/>
          </a:prstGeom>
          <a:noFill/>
        </p:spPr>
        <p:txBody>
          <a:bodyPr wrap="square" anchor="t" lIns="25400" rIns="25400" tIns="25400" bIns="25400">
            <a:spAutoFit/>
          </a:bodyPr>
          <a:lstStyle/>
          <a:p>
            <a:pPr algn="ctr">
              <a:spcAft>
                <a:spcPts val="300"/>
              </a:spcAft>
              <a:buNone/>
            </a:pPr>
            <a:r>
              <a:rPr sz="1400" b="1">
                <a:solidFill>
                  <a:srgbClr val="10335C"/>
                </a:solidFill>
                <a:latin typeface="Yu Gothic"/>
              </a:rPr>
              <a:t>モニタリング</a:t>
            </a:r>
          </a:p>
          <a:p>
            <a:pPr algn="ctr">
              <a:spcAft>
                <a:spcPts val="400"/>
              </a:spcAft>
              <a:buNone/>
            </a:pPr>
            <a:r>
              <a:rPr sz="1100" b="0">
                <a:solidFill>
                  <a:srgbClr val="576873"/>
                </a:solidFill>
                <a:latin typeface="Yu Gothic"/>
              </a:rPr>
              <a:t>定期訪問・再評価・見直し</a:t>
            </a:r>
          </a:p>
        </p:txBody>
      </p:sp>
      <p:sp>
        <p:nvSpPr>
          <p:cNvPr id="28" name="Rounded Rectangle 27"/>
          <p:cNvSpPr/>
          <p:nvPr/>
        </p:nvSpPr>
        <p:spPr>
          <a:xfrm>
            <a:off x="640080" y="3931920"/>
            <a:ext cx="10881360" cy="777240"/>
          </a:xfrm>
          <a:prstGeom prst="roundRect">
            <a:avLst>
              <a:gd name="adj" fmla="val 6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3931920"/>
            <a:ext cx="76200" cy="777240"/>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3931920"/>
            <a:ext cx="10561320" cy="777240"/>
          </a:xfrm>
          <a:prstGeom prst="rect">
            <a:avLst/>
          </a:prstGeom>
          <a:noFill/>
        </p:spPr>
        <p:txBody>
          <a:bodyPr wrap="square" anchor="ctr" lIns="25400" rIns="25400" tIns="25400" bIns="25400">
            <a:spAutoFit/>
          </a:bodyPr>
          <a:lstStyle/>
          <a:p>
            <a:pPr algn="l">
              <a:spcAft>
                <a:spcPts val="400"/>
              </a:spcAft>
              <a:buNone/>
            </a:pPr>
            <a:r>
              <a:rPr sz="1400" b="1">
                <a:solidFill>
                  <a:srgbClr val="D96A4A"/>
                </a:solidFill>
                <a:latin typeface="Yu Gothic"/>
              </a:rPr>
              <a:t>NG：</a:t>
            </a:r>
            <a:r>
              <a:rPr sz="1400" b="0">
                <a:solidFill>
                  <a:srgbClr val="212E38"/>
                </a:solidFill>
                <a:latin typeface="Yu Gothic"/>
              </a:rPr>
              <a:t>紹介の電話を受けた担当が「手一杯なので無理です」と即断する／逆に抱え込んで一人で背負う。</a:t>
            </a:r>
          </a:p>
        </p:txBody>
      </p:sp>
      <p:sp>
        <p:nvSpPr>
          <p:cNvPr id="31" name="Rounded Rectangle 30"/>
          <p:cNvSpPr/>
          <p:nvPr/>
        </p:nvSpPr>
        <p:spPr>
          <a:xfrm>
            <a:off x="640080" y="4846320"/>
            <a:ext cx="10881360" cy="77724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4846320"/>
            <a:ext cx="76200" cy="77724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846320"/>
            <a:ext cx="10561320" cy="777240"/>
          </a:xfrm>
          <a:prstGeom prst="rect">
            <a:avLst/>
          </a:prstGeom>
          <a:noFill/>
        </p:spPr>
        <p:txBody>
          <a:bodyPr wrap="square" anchor="ctr" lIns="25400" rIns="25400" tIns="25400" bIns="25400">
            <a:spAutoFit/>
          </a:bodyPr>
          <a:lstStyle/>
          <a:p>
            <a:pPr algn="l">
              <a:spcAft>
                <a:spcPts val="400"/>
              </a:spcAft>
              <a:buNone/>
            </a:pPr>
            <a:r>
              <a:rPr sz="1400" b="1">
                <a:solidFill>
                  <a:srgbClr val="1B9A8B"/>
                </a:solidFill>
                <a:latin typeface="Yu Gothic"/>
              </a:rPr>
              <a:t>GOOD：</a:t>
            </a:r>
            <a:r>
              <a:rPr sz="1400" b="0">
                <a:solidFill>
                  <a:srgbClr val="212E38"/>
                </a:solidFill>
                <a:latin typeface="Yu Gothic"/>
              </a:rPr>
              <a:t>「管理者・主任ケアマネと検討し、◯日までに回答します」と、受任判断を会議に乗せる。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SYSTEM 1/5</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体制づくり①　インテーク・受任判断</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8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受任判断で押さえる項目</a:t>
            </a:r>
          </a:p>
          <a:p>
            <a:pPr algn="l" indent="-228600" marL="228600">
              <a:spcAft>
                <a:spcPts val="300"/>
              </a:spcAft>
              <a:buFont typeface="Yu Gothic"/>
              <a:buChar char="・"/>
            </a:pPr>
            <a:r>
              <a:rPr sz="1500" b="0">
                <a:solidFill>
                  <a:srgbClr val="212E38"/>
                </a:solidFill>
                <a:latin typeface="Yu Gothic"/>
              </a:rPr>
              <a:t>本人・家族の状況、支援拒否の有無</a:t>
            </a:r>
          </a:p>
          <a:p>
            <a:pPr algn="l" indent="-228600" marL="228600">
              <a:spcAft>
                <a:spcPts val="300"/>
              </a:spcAft>
              <a:buFont typeface="Yu Gothic"/>
              <a:buChar char="・"/>
            </a:pPr>
            <a:r>
              <a:rPr sz="1500" b="0">
                <a:solidFill>
                  <a:srgbClr val="212E38"/>
                </a:solidFill>
                <a:latin typeface="Yu Gothic"/>
              </a:rPr>
              <a:t>医療ニーズ・退院時期・緊急度</a:t>
            </a:r>
          </a:p>
          <a:p>
            <a:pPr algn="l" indent="-228600" marL="228600">
              <a:spcAft>
                <a:spcPts val="300"/>
              </a:spcAft>
              <a:buFont typeface="Yu Gothic"/>
              <a:buChar char="・"/>
            </a:pPr>
            <a:r>
              <a:rPr sz="1500" b="0">
                <a:solidFill>
                  <a:srgbClr val="212E38"/>
                </a:solidFill>
                <a:latin typeface="Yu Gothic"/>
              </a:rPr>
              <a:t>担当できる人員・件数の余力（標準担当件数）</a:t>
            </a:r>
          </a:p>
          <a:p>
            <a:pPr algn="l" indent="-228600" marL="228600">
              <a:spcAft>
                <a:spcPts val="300"/>
              </a:spcAft>
              <a:buFont typeface="Yu Gothic"/>
              <a:buChar char="・"/>
            </a:pPr>
            <a:r>
              <a:rPr sz="1500" b="0">
                <a:solidFill>
                  <a:srgbClr val="212E38"/>
                </a:solidFill>
                <a:latin typeface="Yu Gothic"/>
              </a:rPr>
              <a:t>必要な専門性（認知症・医療・権利擁護）</a:t>
            </a:r>
          </a:p>
          <a:p>
            <a:pPr algn="l" indent="-228600" marL="228600">
              <a:spcAft>
                <a:spcPts val="300"/>
              </a:spcAft>
              <a:buFont typeface="Yu Gothic"/>
              <a:buChar char="・"/>
            </a:pPr>
            <a:r>
              <a:rPr sz="1500" b="0">
                <a:solidFill>
                  <a:srgbClr val="212E38"/>
                </a:solidFill>
                <a:latin typeface="Yu Gothic"/>
              </a:rPr>
              <a:t>地域包括・行政からの紹介背景</a:t>
            </a:r>
          </a:p>
        </p:txBody>
      </p:sp>
      <p:sp>
        <p:nvSpPr>
          <p:cNvPr id="10" name="Rounded Rectangle 9"/>
          <p:cNvSpPr/>
          <p:nvPr/>
        </p:nvSpPr>
        <p:spPr>
          <a:xfrm>
            <a:off x="626364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「断らない」を支える仕組み</a:t>
            </a:r>
          </a:p>
          <a:p>
            <a:pPr algn="l" indent="-228600" marL="228600">
              <a:spcAft>
                <a:spcPts val="300"/>
              </a:spcAft>
              <a:buFont typeface="Yu Gothic"/>
              <a:buChar char="・"/>
            </a:pPr>
            <a:r>
              <a:rPr sz="1500" b="0">
                <a:solidFill>
                  <a:srgbClr val="212E38"/>
                </a:solidFill>
                <a:latin typeface="Yu Gothic"/>
              </a:rPr>
              <a:t>受任は担当個人でなく管理者・主任CMが判断</a:t>
            </a:r>
          </a:p>
          <a:p>
            <a:pPr algn="l" indent="-228600" marL="228600">
              <a:spcAft>
                <a:spcPts val="300"/>
              </a:spcAft>
              <a:buFont typeface="Yu Gothic"/>
              <a:buChar char="・"/>
            </a:pPr>
            <a:r>
              <a:rPr sz="1500" b="0">
                <a:solidFill>
                  <a:srgbClr val="212E38"/>
                </a:solidFill>
                <a:latin typeface="Yu Gothic"/>
              </a:rPr>
              <a:t>件数・難易度の偏りをチームで調整</a:t>
            </a:r>
          </a:p>
          <a:p>
            <a:pPr algn="l" indent="-228600" marL="228600">
              <a:spcAft>
                <a:spcPts val="300"/>
              </a:spcAft>
              <a:buFont typeface="Yu Gothic"/>
              <a:buChar char="・"/>
            </a:pPr>
            <a:r>
              <a:rPr sz="1500" b="0">
                <a:solidFill>
                  <a:srgbClr val="212E38"/>
                </a:solidFill>
                <a:latin typeface="Yu Gothic"/>
              </a:rPr>
              <a:t>受けられない場合も理由と代替案を記録・連絡</a:t>
            </a:r>
          </a:p>
          <a:p>
            <a:pPr algn="l" indent="-228600" marL="228600">
              <a:spcAft>
                <a:spcPts val="300"/>
              </a:spcAft>
              <a:buFont typeface="Yu Gothic"/>
              <a:buChar char="・"/>
            </a:pPr>
            <a:r>
              <a:rPr sz="1500" b="0">
                <a:solidFill>
                  <a:srgbClr val="212E38"/>
                </a:solidFill>
                <a:latin typeface="Yu Gothic"/>
              </a:rPr>
              <a:t>「何が揃えば受けられるか」を整理</a:t>
            </a:r>
          </a:p>
        </p:txBody>
      </p:sp>
      <p:sp>
        <p:nvSpPr>
          <p:cNvPr id="12" name="Rounded Rectangle 11"/>
          <p:cNvSpPr/>
          <p:nvPr/>
        </p:nvSpPr>
        <p:spPr>
          <a:xfrm>
            <a:off x="640080" y="4617720"/>
            <a:ext cx="10881360" cy="105156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617720"/>
            <a:ext cx="76200" cy="105156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17720"/>
            <a:ext cx="10561320" cy="1051560"/>
          </a:xfrm>
          <a:prstGeom prst="rect">
            <a:avLst/>
          </a:prstGeom>
          <a:noFill/>
        </p:spPr>
        <p:txBody>
          <a:bodyPr wrap="square" anchor="ctr" lIns="25400" rIns="25400" tIns="25400" bIns="25400">
            <a:spAutoFit/>
          </a:bodyPr>
          <a:lstStyle/>
          <a:p>
            <a:pPr algn="l">
              <a:spcAft>
                <a:spcPts val="400"/>
              </a:spcAft>
              <a:buNone/>
            </a:pPr>
            <a:r>
              <a:rPr sz="1400" b="1">
                <a:solidFill>
                  <a:srgbClr val="1B9A8B"/>
                </a:solidFill>
                <a:latin typeface="Yu Gothic"/>
              </a:rPr>
              <a:t>加算要件との接続：</a:t>
            </a:r>
            <a:r>
              <a:rPr sz="1400" b="0">
                <a:solidFill>
                  <a:srgbClr val="212E38"/>
                </a:solidFill>
                <a:latin typeface="Yu Gothic"/>
              </a:rPr>
              <a:t>地域包括等からの支援困難事例の紹介に応じ、担当ケアマネを配置できる体制が加算の要件。受任判断の仕組み化がその裏づけになる。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SYSTEM 2/5</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体制づくり②　主任ケアマネによるスーパービジョン</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9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主任ケアマネ（管理者）の役割</a:t>
            </a:r>
          </a:p>
          <a:p>
            <a:pPr algn="l" indent="-228600" marL="228600">
              <a:spcAft>
                <a:spcPts val="300"/>
              </a:spcAft>
              <a:buFont typeface="Yu Gothic"/>
              <a:buChar char="・"/>
            </a:pPr>
            <a:r>
              <a:rPr sz="1500" b="0">
                <a:solidFill>
                  <a:srgbClr val="212E38"/>
                </a:solidFill>
                <a:latin typeface="Yu Gothic"/>
              </a:rPr>
              <a:t>困難事例の方針をSV（助言・同行・面談）で支える</a:t>
            </a:r>
          </a:p>
          <a:p>
            <a:pPr algn="l" indent="-228600" marL="228600">
              <a:spcAft>
                <a:spcPts val="300"/>
              </a:spcAft>
              <a:buFont typeface="Yu Gothic"/>
              <a:buChar char="・"/>
            </a:pPr>
            <a:r>
              <a:rPr sz="1500" b="0">
                <a:solidFill>
                  <a:srgbClr val="212E38"/>
                </a:solidFill>
                <a:latin typeface="Yu Gothic"/>
              </a:rPr>
              <a:t>担当者会議・事例検討会の招集と進行</a:t>
            </a:r>
          </a:p>
          <a:p>
            <a:pPr algn="l" indent="-228600" marL="228600">
              <a:spcAft>
                <a:spcPts val="300"/>
              </a:spcAft>
              <a:buFont typeface="Yu Gothic"/>
              <a:buChar char="・"/>
            </a:pPr>
            <a:r>
              <a:rPr sz="1500" b="0">
                <a:solidFill>
                  <a:srgbClr val="212E38"/>
                </a:solidFill>
                <a:latin typeface="Yu Gothic"/>
              </a:rPr>
              <a:t>ケアプラン点検と質の担保</a:t>
            </a:r>
          </a:p>
          <a:p>
            <a:pPr algn="l" indent="-228600" marL="228600">
              <a:spcAft>
                <a:spcPts val="300"/>
              </a:spcAft>
              <a:buFont typeface="Yu Gothic"/>
              <a:buChar char="・"/>
            </a:pPr>
            <a:r>
              <a:rPr sz="1500" b="0">
                <a:solidFill>
                  <a:srgbClr val="212E38"/>
                </a:solidFill>
                <a:latin typeface="Yu Gothic"/>
              </a:rPr>
              <a:t>新人・経験の浅いCMの育成（OJT）</a:t>
            </a:r>
          </a:p>
        </p:txBody>
      </p:sp>
      <p:sp>
        <p:nvSpPr>
          <p:cNvPr id="10" name="Rounded Rectangle 9"/>
          <p:cNvSpPr/>
          <p:nvPr/>
        </p:nvSpPr>
        <p:spPr>
          <a:xfrm>
            <a:off x="626364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「一人で抱えない」チーム支援</a:t>
            </a:r>
          </a:p>
          <a:p>
            <a:pPr algn="l" indent="-228600" marL="228600">
              <a:spcAft>
                <a:spcPts val="300"/>
              </a:spcAft>
              <a:buFont typeface="Yu Gothic"/>
              <a:buChar char="・"/>
            </a:pPr>
            <a:r>
              <a:rPr sz="1500" b="0">
                <a:solidFill>
                  <a:srgbClr val="212E38"/>
                </a:solidFill>
                <a:latin typeface="Yu Gothic"/>
              </a:rPr>
              <a:t>主担当＋副担当／複数名訪問の体制</a:t>
            </a:r>
          </a:p>
          <a:p>
            <a:pPr algn="l" indent="-228600" marL="228600">
              <a:spcAft>
                <a:spcPts val="300"/>
              </a:spcAft>
              <a:buFont typeface="Yu Gothic"/>
              <a:buChar char="・"/>
            </a:pPr>
            <a:r>
              <a:rPr sz="1500" b="0">
                <a:solidFill>
                  <a:srgbClr val="212E38"/>
                </a:solidFill>
                <a:latin typeface="Yu Gothic"/>
              </a:rPr>
              <a:t>困難事例は経験者とペアで担当</a:t>
            </a:r>
          </a:p>
          <a:p>
            <a:pPr algn="l" indent="-228600" marL="228600">
              <a:spcAft>
                <a:spcPts val="300"/>
              </a:spcAft>
              <a:buFont typeface="Yu Gothic"/>
              <a:buChar char="・"/>
            </a:pPr>
            <a:r>
              <a:rPr sz="1500" b="0">
                <a:solidFill>
                  <a:srgbClr val="212E38"/>
                </a:solidFill>
                <a:latin typeface="Yu Gothic"/>
              </a:rPr>
              <a:t>相談・SOSを上げてよい文化を明示</a:t>
            </a:r>
          </a:p>
          <a:p>
            <a:pPr algn="l" indent="-228600" marL="228600">
              <a:spcAft>
                <a:spcPts val="300"/>
              </a:spcAft>
              <a:buFont typeface="Yu Gothic"/>
              <a:buChar char="・"/>
            </a:pPr>
            <a:r>
              <a:rPr sz="1500" b="0">
                <a:solidFill>
                  <a:srgbClr val="212E38"/>
                </a:solidFill>
                <a:latin typeface="Yu Gothic"/>
              </a:rPr>
              <a:t>ケース進行を会議で共有し方針を統一</a:t>
            </a:r>
          </a:p>
        </p:txBody>
      </p:sp>
      <p:sp>
        <p:nvSpPr>
          <p:cNvPr id="12" name="Rounded Rectangle 11"/>
          <p:cNvSpPr/>
          <p:nvPr/>
        </p:nvSpPr>
        <p:spPr>
          <a:xfrm>
            <a:off x="640080" y="4617720"/>
            <a:ext cx="10881360" cy="105156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617720"/>
            <a:ext cx="76200" cy="105156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17720"/>
            <a:ext cx="10561320" cy="1051560"/>
          </a:xfrm>
          <a:prstGeom prst="rect">
            <a:avLst/>
          </a:prstGeom>
          <a:noFill/>
        </p:spPr>
        <p:txBody>
          <a:bodyPr wrap="square" anchor="ctr" lIns="25400" rIns="25400" tIns="25400" bIns="25400">
            <a:spAutoFit/>
          </a:bodyPr>
          <a:lstStyle/>
          <a:p>
            <a:pPr algn="l">
              <a:spcAft>
                <a:spcPts val="400"/>
              </a:spcAft>
              <a:buNone/>
            </a:pPr>
            <a:r>
              <a:rPr sz="1400" b="1">
                <a:solidFill>
                  <a:srgbClr val="1B9A8B"/>
                </a:solidFill>
                <a:latin typeface="Yu Gothic"/>
              </a:rPr>
              <a:t>ポイント：</a:t>
            </a:r>
            <a:r>
              <a:rPr sz="1400" b="0">
                <a:solidFill>
                  <a:srgbClr val="212E38"/>
                </a:solidFill>
                <a:latin typeface="Yu Gothic"/>
              </a:rPr>
              <a:t>主任ケアマネの配置は加算の人員要件であると同時に、困難事例を組織で受けるための要。SV機能を形だけにしない。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SYSTEM 3/5</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体制づくり③　24時間連絡体制・緊急時対応</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10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24時間連絡体制の確保（加算要件）</a:t>
            </a:r>
          </a:p>
          <a:p>
            <a:pPr algn="l" indent="-228600" marL="228600">
              <a:spcAft>
                <a:spcPts val="300"/>
              </a:spcAft>
              <a:buFont typeface="Yu Gothic"/>
              <a:buChar char="・"/>
            </a:pPr>
            <a:r>
              <a:rPr sz="1500" b="0">
                <a:solidFill>
                  <a:srgbClr val="212E38"/>
                </a:solidFill>
                <a:latin typeface="Yu Gothic"/>
              </a:rPr>
              <a:t>利用者・家族からの夜間休日の連絡先を明示</a:t>
            </a:r>
          </a:p>
          <a:p>
            <a:pPr algn="l" indent="-228600" marL="228600">
              <a:spcAft>
                <a:spcPts val="300"/>
              </a:spcAft>
              <a:buFont typeface="Yu Gothic"/>
              <a:buChar char="・"/>
            </a:pPr>
            <a:r>
              <a:rPr sz="1500" b="0">
                <a:solidFill>
                  <a:srgbClr val="212E38"/>
                </a:solidFill>
                <a:latin typeface="Yu Gothic"/>
              </a:rPr>
              <a:t>連絡当番・転送・記録のルール化</a:t>
            </a:r>
          </a:p>
          <a:p>
            <a:pPr algn="l" indent="-228600" marL="228600">
              <a:spcAft>
                <a:spcPts val="300"/>
              </a:spcAft>
              <a:buFont typeface="Yu Gothic"/>
              <a:buChar char="・"/>
            </a:pPr>
            <a:r>
              <a:rPr sz="1500" b="0">
                <a:solidFill>
                  <a:srgbClr val="212E38"/>
                </a:solidFill>
                <a:latin typeface="Yu Gothic"/>
              </a:rPr>
              <a:t>緊急時の対応手順（救急・受診・家族連絡）を整備</a:t>
            </a:r>
          </a:p>
          <a:p>
            <a:pPr algn="l" indent="-228600" marL="228600">
              <a:spcAft>
                <a:spcPts val="300"/>
              </a:spcAft>
              <a:buFont typeface="Yu Gothic"/>
              <a:buChar char="・"/>
            </a:pPr>
            <a:r>
              <a:rPr sz="1500" b="0">
                <a:solidFill>
                  <a:srgbClr val="212E38"/>
                </a:solidFill>
                <a:latin typeface="Yu Gothic"/>
              </a:rPr>
              <a:t>事業所として体制を負担（個人携帯任せにしない）</a:t>
            </a:r>
          </a:p>
        </p:txBody>
      </p:sp>
      <p:sp>
        <p:nvSpPr>
          <p:cNvPr id="10" name="Rounded Rectangle 9"/>
          <p:cNvSpPr/>
          <p:nvPr/>
        </p:nvSpPr>
        <p:spPr>
          <a:xfrm>
            <a:off x="626364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リスク・権利擁護への備え</a:t>
            </a:r>
          </a:p>
          <a:p>
            <a:pPr algn="l" indent="-228600" marL="228600">
              <a:spcAft>
                <a:spcPts val="300"/>
              </a:spcAft>
              <a:buFont typeface="Yu Gothic"/>
              <a:buChar char="・"/>
            </a:pPr>
            <a:r>
              <a:rPr sz="1500" b="0">
                <a:solidFill>
                  <a:srgbClr val="212E38"/>
                </a:solidFill>
                <a:latin typeface="Yu Gothic"/>
              </a:rPr>
              <a:t>虐待（疑い）発見時の通報・連携手順</a:t>
            </a:r>
          </a:p>
          <a:p>
            <a:pPr algn="l" indent="-228600" marL="228600">
              <a:spcAft>
                <a:spcPts val="300"/>
              </a:spcAft>
              <a:buFont typeface="Yu Gothic"/>
              <a:buChar char="・"/>
            </a:pPr>
            <a:r>
              <a:rPr sz="1500" b="0">
                <a:solidFill>
                  <a:srgbClr val="212E38"/>
                </a:solidFill>
                <a:latin typeface="Yu Gothic"/>
              </a:rPr>
              <a:t>ハラスメント・暴力リスクへの対応手順</a:t>
            </a:r>
          </a:p>
          <a:p>
            <a:pPr algn="l" indent="-228600" marL="228600">
              <a:spcAft>
                <a:spcPts val="300"/>
              </a:spcAft>
              <a:buFont typeface="Yu Gothic"/>
              <a:buChar char="・"/>
            </a:pPr>
            <a:r>
              <a:rPr sz="1500" b="0">
                <a:solidFill>
                  <a:srgbClr val="212E38"/>
                </a:solidFill>
                <a:latin typeface="Yu Gothic"/>
              </a:rPr>
              <a:t>災害・急変時のBCP的な備え</a:t>
            </a:r>
          </a:p>
          <a:p>
            <a:pPr algn="l" indent="-228600" marL="228600">
              <a:spcAft>
                <a:spcPts val="300"/>
              </a:spcAft>
              <a:buFont typeface="Yu Gothic"/>
              <a:buChar char="・"/>
            </a:pPr>
            <a:r>
              <a:rPr sz="1500" b="0">
                <a:solidFill>
                  <a:srgbClr val="212E38"/>
                </a:solidFill>
                <a:latin typeface="Yu Gothic"/>
              </a:rPr>
              <a:t>成年後見・権利擁護の相談ルート</a:t>
            </a:r>
          </a:p>
        </p:txBody>
      </p:sp>
      <p:sp>
        <p:nvSpPr>
          <p:cNvPr id="12" name="Rounded Rectangle 11"/>
          <p:cNvSpPr/>
          <p:nvPr/>
        </p:nvSpPr>
        <p:spPr>
          <a:xfrm>
            <a:off x="640080" y="4617720"/>
            <a:ext cx="10881360" cy="105156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617720"/>
            <a:ext cx="76200" cy="105156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17720"/>
            <a:ext cx="10561320" cy="105156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カスタマーハラスメント等：</a:t>
            </a:r>
            <a:r>
              <a:rPr sz="1400" b="0">
                <a:solidFill>
                  <a:srgbClr val="212E38"/>
                </a:solidFill>
                <a:latin typeface="Yu Gothic"/>
              </a:rPr>
              <a:t>「ケアマネだから我慢」ではなく、組織として線引きと手順を持つことが、結果的に支援継続を可能にする。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SYSTEM 4/5</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体制づくり④　記録・ケアプラン・担当者会議の質</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11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記録は「確実性」の証拠</a:t>
            </a:r>
          </a:p>
          <a:p>
            <a:pPr algn="l" indent="-228600" marL="228600">
              <a:spcAft>
                <a:spcPts val="300"/>
              </a:spcAft>
              <a:buFont typeface="Yu Gothic"/>
              <a:buChar char="・"/>
            </a:pPr>
            <a:r>
              <a:rPr sz="1500" b="0">
                <a:solidFill>
                  <a:srgbClr val="212E38"/>
                </a:solidFill>
                <a:latin typeface="Yu Gothic"/>
              </a:rPr>
              <a:t>受任判断・SVの記録（誰が何を根拠に判断したか）</a:t>
            </a:r>
          </a:p>
          <a:p>
            <a:pPr algn="l" indent="-228600" marL="228600">
              <a:spcAft>
                <a:spcPts val="300"/>
              </a:spcAft>
              <a:buFont typeface="Yu Gothic"/>
              <a:buChar char="・"/>
            </a:pPr>
            <a:r>
              <a:rPr sz="1500" b="0">
                <a:solidFill>
                  <a:srgbClr val="212E38"/>
                </a:solidFill>
                <a:latin typeface="Yu Gothic"/>
              </a:rPr>
              <a:t>アセスメント・ケアプランとその更新履歴</a:t>
            </a:r>
          </a:p>
          <a:p>
            <a:pPr algn="l" indent="-228600" marL="228600">
              <a:spcAft>
                <a:spcPts val="300"/>
              </a:spcAft>
              <a:buFont typeface="Yu Gothic"/>
              <a:buChar char="・"/>
            </a:pPr>
            <a:r>
              <a:rPr sz="1500" b="0">
                <a:solidFill>
                  <a:srgbClr val="212E38"/>
                </a:solidFill>
                <a:latin typeface="Yu Gothic"/>
              </a:rPr>
              <a:t>サービス担当者会議の記録</a:t>
            </a:r>
          </a:p>
          <a:p>
            <a:pPr algn="l" indent="-228600" marL="228600">
              <a:spcAft>
                <a:spcPts val="300"/>
              </a:spcAft>
              <a:buFont typeface="Yu Gothic"/>
              <a:buChar char="・"/>
            </a:pPr>
            <a:r>
              <a:rPr sz="1500" b="0">
                <a:solidFill>
                  <a:srgbClr val="212E38"/>
                </a:solidFill>
                <a:latin typeface="Yu Gothic"/>
              </a:rPr>
              <a:t>モニタリング記録（月次の訪問・面接）</a:t>
            </a:r>
          </a:p>
        </p:txBody>
      </p:sp>
      <p:sp>
        <p:nvSpPr>
          <p:cNvPr id="10" name="Rounded Rectangle 9"/>
          <p:cNvSpPr/>
          <p:nvPr/>
        </p:nvSpPr>
        <p:spPr>
          <a:xfrm>
            <a:off x="626364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ケアマネジメントの質</a:t>
            </a:r>
          </a:p>
          <a:p>
            <a:pPr algn="l" indent="-228600" marL="228600">
              <a:spcAft>
                <a:spcPts val="300"/>
              </a:spcAft>
              <a:buFont typeface="Yu Gothic"/>
              <a:buChar char="・"/>
            </a:pPr>
            <a:r>
              <a:rPr sz="1500" b="0">
                <a:solidFill>
                  <a:srgbClr val="212E38"/>
                </a:solidFill>
                <a:latin typeface="Yu Gothic"/>
              </a:rPr>
              <a:t>本人の意向・自立支援に基づくケアプラン</a:t>
            </a:r>
          </a:p>
          <a:p>
            <a:pPr algn="l" indent="-228600" marL="228600">
              <a:spcAft>
                <a:spcPts val="300"/>
              </a:spcAft>
              <a:buFont typeface="Yu Gothic"/>
              <a:buChar char="・"/>
            </a:pPr>
            <a:r>
              <a:rPr sz="1500" b="0">
                <a:solidFill>
                  <a:srgbClr val="212E38"/>
                </a:solidFill>
                <a:latin typeface="Yu Gothic"/>
              </a:rPr>
              <a:t>インフォーマル資源も組み込んだ総合的プラン</a:t>
            </a:r>
          </a:p>
          <a:p>
            <a:pPr algn="l" indent="-228600" marL="228600">
              <a:spcAft>
                <a:spcPts val="300"/>
              </a:spcAft>
              <a:buFont typeface="Yu Gothic"/>
              <a:buChar char="・"/>
            </a:pPr>
            <a:r>
              <a:rPr sz="1500" b="0">
                <a:solidFill>
                  <a:srgbClr val="212E38"/>
                </a:solidFill>
                <a:latin typeface="Yu Gothic"/>
              </a:rPr>
              <a:t>多職種の意見を反映した担当者会議</a:t>
            </a:r>
          </a:p>
          <a:p>
            <a:pPr algn="l" indent="-228600" marL="228600">
              <a:spcAft>
                <a:spcPts val="300"/>
              </a:spcAft>
              <a:buFont typeface="Yu Gothic"/>
              <a:buChar char="・"/>
            </a:pPr>
            <a:r>
              <a:rPr sz="1500" b="0">
                <a:solidFill>
                  <a:srgbClr val="212E38"/>
                </a:solidFill>
                <a:latin typeface="Yu Gothic"/>
              </a:rPr>
              <a:t>運営基準減算・集中減算に該当しない運用</a:t>
            </a:r>
          </a:p>
        </p:txBody>
      </p:sp>
      <p:sp>
        <p:nvSpPr>
          <p:cNvPr id="12" name="Rounded Rectangle 11"/>
          <p:cNvSpPr/>
          <p:nvPr/>
        </p:nvSpPr>
        <p:spPr>
          <a:xfrm>
            <a:off x="640080" y="4617720"/>
            <a:ext cx="10881360" cy="105156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617720"/>
            <a:ext cx="76200" cy="105156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17720"/>
            <a:ext cx="10561320" cy="1051560"/>
          </a:xfrm>
          <a:prstGeom prst="rect">
            <a:avLst/>
          </a:prstGeom>
          <a:noFill/>
        </p:spPr>
        <p:txBody>
          <a:bodyPr wrap="square" anchor="ctr" lIns="25400" rIns="25400" tIns="25400" bIns="25400">
            <a:spAutoFit/>
          </a:bodyPr>
          <a:lstStyle/>
          <a:p>
            <a:pPr algn="l">
              <a:spcAft>
                <a:spcPts val="400"/>
              </a:spcAft>
              <a:buNone/>
            </a:pPr>
            <a:r>
              <a:rPr sz="1400" b="1">
                <a:solidFill>
                  <a:srgbClr val="1B9A8B"/>
                </a:solidFill>
                <a:latin typeface="Yu Gothic"/>
              </a:rPr>
              <a:t>実地指導の視点：</a:t>
            </a:r>
            <a:r>
              <a:rPr sz="1400" b="0">
                <a:solidFill>
                  <a:srgbClr val="212E38"/>
                </a:solidFill>
                <a:latin typeface="Yu Gothic"/>
              </a:rPr>
              <a:t>「やっている」を「記録で示せる」へ。困難事例ほど、判断根拠と経過の記録が事業所とケアマネを守る。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SYSTEM 5/5</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体制づくり⑤　研修計画・事例検討会</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12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研修計画に基づく実施（加算要件）</a:t>
            </a:r>
          </a:p>
          <a:p>
            <a:pPr algn="l" indent="-228600" marL="228600">
              <a:spcAft>
                <a:spcPts val="300"/>
              </a:spcAft>
              <a:buFont typeface="Yu Gothic"/>
              <a:buChar char="・"/>
            </a:pPr>
            <a:r>
              <a:rPr sz="1500" b="0">
                <a:solidFill>
                  <a:srgbClr val="212E38"/>
                </a:solidFill>
                <a:latin typeface="Yu Gothic"/>
              </a:rPr>
              <a:t>個々のCMの課題に応じた研修計画の作成・実施</a:t>
            </a:r>
          </a:p>
          <a:p>
            <a:pPr algn="l" indent="-228600" marL="228600">
              <a:spcAft>
                <a:spcPts val="300"/>
              </a:spcAft>
              <a:buFont typeface="Yu Gothic"/>
              <a:buChar char="・"/>
            </a:pPr>
            <a:r>
              <a:rPr sz="1500" b="0">
                <a:solidFill>
                  <a:srgbClr val="212E38"/>
                </a:solidFill>
                <a:latin typeface="Yu Gothic"/>
              </a:rPr>
              <a:t>認知症・医療連携・権利擁護・意思決定支援を計画化</a:t>
            </a:r>
          </a:p>
          <a:p>
            <a:pPr algn="l" indent="-228600" marL="228600">
              <a:spcAft>
                <a:spcPts val="300"/>
              </a:spcAft>
              <a:buFont typeface="Yu Gothic"/>
              <a:buChar char="・"/>
            </a:pPr>
            <a:r>
              <a:rPr sz="1500" b="0">
                <a:solidFill>
                  <a:srgbClr val="212E38"/>
                </a:solidFill>
                <a:latin typeface="Yu Gothic"/>
              </a:rPr>
              <a:t>主任CMによるOJT・同行訪問</a:t>
            </a:r>
          </a:p>
        </p:txBody>
      </p:sp>
      <p:sp>
        <p:nvSpPr>
          <p:cNvPr id="10" name="Rounded Rectangle 9"/>
          <p:cNvSpPr/>
          <p:nvPr/>
        </p:nvSpPr>
        <p:spPr>
          <a:xfrm>
            <a:off x="6263640" y="1554480"/>
            <a:ext cx="5349240" cy="278892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664208"/>
            <a:ext cx="4946904" cy="260604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他法人との事例検討会（加算要件）</a:t>
            </a:r>
          </a:p>
          <a:p>
            <a:pPr algn="l" indent="-228600" marL="228600">
              <a:spcAft>
                <a:spcPts val="300"/>
              </a:spcAft>
              <a:buFont typeface="Yu Gothic"/>
              <a:buChar char="・"/>
            </a:pPr>
            <a:r>
              <a:rPr sz="1500" b="0">
                <a:solidFill>
                  <a:srgbClr val="212E38"/>
                </a:solidFill>
                <a:latin typeface="Yu Gothic"/>
              </a:rPr>
              <a:t>他法人の居宅介護支援事業所と共同で事例検討会・研修</a:t>
            </a:r>
          </a:p>
          <a:p>
            <a:pPr algn="l" indent="-228600" marL="228600">
              <a:spcAft>
                <a:spcPts val="300"/>
              </a:spcAft>
              <a:buFont typeface="Yu Gothic"/>
              <a:buChar char="・"/>
            </a:pPr>
            <a:r>
              <a:rPr sz="1500" b="0">
                <a:solidFill>
                  <a:srgbClr val="212E38"/>
                </a:solidFill>
                <a:latin typeface="Yu Gothic"/>
              </a:rPr>
              <a:t>本日のような内部事例検討会の定例化</a:t>
            </a:r>
          </a:p>
          <a:p>
            <a:pPr algn="l" indent="-228600" marL="228600">
              <a:spcAft>
                <a:spcPts val="300"/>
              </a:spcAft>
              <a:buFont typeface="Yu Gothic"/>
              <a:buChar char="・"/>
            </a:pPr>
            <a:r>
              <a:rPr sz="1500" b="0">
                <a:solidFill>
                  <a:srgbClr val="212E38"/>
                </a:solidFill>
                <a:latin typeface="Yu Gothic"/>
              </a:rPr>
              <a:t>暗黙知を手順・ナレッジに変える</a:t>
            </a:r>
          </a:p>
          <a:p>
            <a:pPr algn="l" indent="-228600" marL="228600">
              <a:spcAft>
                <a:spcPts val="300"/>
              </a:spcAft>
              <a:buFont typeface="Yu Gothic"/>
              <a:buChar char="・"/>
            </a:pPr>
            <a:r>
              <a:rPr sz="1500" b="0">
                <a:solidFill>
                  <a:srgbClr val="212E38"/>
                </a:solidFill>
                <a:latin typeface="Yu Gothic"/>
              </a:rPr>
              <a:t>新人も同じ判断軸を持てるようにする</a:t>
            </a:r>
          </a:p>
        </p:txBody>
      </p:sp>
      <p:sp>
        <p:nvSpPr>
          <p:cNvPr id="12" name="Rounded Rectangle 11"/>
          <p:cNvSpPr/>
          <p:nvPr/>
        </p:nvSpPr>
        <p:spPr>
          <a:xfrm>
            <a:off x="640080" y="4617720"/>
            <a:ext cx="10881360" cy="105156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617720"/>
            <a:ext cx="76200" cy="105156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4617720"/>
            <a:ext cx="10561320" cy="105156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狙い：</a:t>
            </a:r>
            <a:r>
              <a:rPr sz="1400" b="0">
                <a:solidFill>
                  <a:srgbClr val="212E38"/>
                </a:solidFill>
                <a:latin typeface="Yu Gothic"/>
              </a:rPr>
              <a:t>研修・事例検討会を「加算のための義務」で終わらせず、困難事例を受けきる事業所の支援力に転換する。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D96A4A"/>
              </a:gs>
              <a:gs pos="100000">
                <a:srgbClr val="E3B54A"/>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22960" y="1371600"/>
            <a:ext cx="2194560" cy="457200"/>
          </a:xfrm>
          <a:prstGeom prst="roundRect">
            <a:avLst/>
          </a:prstGeom>
          <a:solidFill>
            <a:srgbClr val="C255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400" b="1">
                <a:solidFill>
                  <a:srgbClr val="FFFFFF"/>
                </a:solidFill>
                <a:latin typeface="Yu Gothic"/>
              </a:rPr>
              <a:t>CASE STUDY</a:t>
            </a:r>
          </a:p>
        </p:txBody>
      </p:sp>
      <p:sp>
        <p:nvSpPr>
          <p:cNvPr id="4" name="TextBox 3"/>
          <p:cNvSpPr txBox="1"/>
          <p:nvPr/>
        </p:nvSpPr>
        <p:spPr>
          <a:xfrm>
            <a:off x="822960" y="2103120"/>
            <a:ext cx="10515600" cy="2011680"/>
          </a:xfrm>
          <a:prstGeom prst="rect">
            <a:avLst/>
          </a:prstGeom>
          <a:noFill/>
        </p:spPr>
        <p:txBody>
          <a:bodyPr wrap="square" anchor="t" lIns="25400" rIns="25400" tIns="25400" bIns="25400">
            <a:spAutoFit/>
          </a:bodyPr>
          <a:lstStyle/>
          <a:p>
            <a:pPr algn="l">
              <a:spcAft>
                <a:spcPts val="200"/>
              </a:spcAft>
              <a:buNone/>
            </a:pPr>
            <a:r>
              <a:rPr sz="4200" b="1">
                <a:solidFill>
                  <a:srgbClr val="FFFFFF"/>
                </a:solidFill>
                <a:latin typeface="Yu Gothic"/>
              </a:rPr>
              <a:t>第3部　事例で学ぶ</a:t>
            </a:r>
          </a:p>
          <a:p>
            <a:pPr algn="l">
              <a:spcAft>
                <a:spcPts val="400"/>
              </a:spcAft>
              <a:buNone/>
            </a:pPr>
            <a:r>
              <a:rPr sz="4200" b="1">
                <a:solidFill>
                  <a:srgbClr val="FFFFFF"/>
                </a:solidFill>
                <a:latin typeface="Yu Gothic"/>
              </a:rPr>
              <a:t>困難事例の受け入れと支援</a:t>
            </a:r>
          </a:p>
        </p:txBody>
      </p:sp>
      <p:sp>
        <p:nvSpPr>
          <p:cNvPr id="5" name="TextBox 4"/>
          <p:cNvSpPr txBox="1"/>
          <p:nvPr/>
        </p:nvSpPr>
        <p:spPr>
          <a:xfrm>
            <a:off x="822960" y="4206240"/>
            <a:ext cx="10515600" cy="1280160"/>
          </a:xfrm>
          <a:prstGeom prst="rect">
            <a:avLst/>
          </a:prstGeom>
          <a:noFill/>
        </p:spPr>
        <p:txBody>
          <a:bodyPr wrap="square" anchor="t" lIns="25400" rIns="25400" tIns="25400" bIns="25400">
            <a:spAutoFit/>
          </a:bodyPr>
          <a:lstStyle/>
          <a:p>
            <a:pPr algn="l">
              <a:spcAft>
                <a:spcPts val="600"/>
              </a:spcAft>
              <a:buNone/>
            </a:pPr>
            <a:r>
              <a:rPr sz="1800" b="1">
                <a:solidFill>
                  <a:srgbClr val="FFFFFF"/>
                </a:solidFill>
                <a:latin typeface="Yu Gothic"/>
              </a:rPr>
              <a:t>各事例：① 状況把握 → ② NG対応 → ③ GOOD対応 → ④ 体制のポイント</a:t>
            </a:r>
          </a:p>
          <a:p>
            <a:pPr algn="l">
              <a:spcAft>
                <a:spcPts val="400"/>
              </a:spcAft>
              <a:buNone/>
            </a:pPr>
            <a:r>
              <a:rPr sz="1500" b="0">
                <a:solidFill>
                  <a:srgbClr val="FFFFFF"/>
                </a:solidFill>
                <a:latin typeface="Yu Gothic"/>
              </a:rPr>
              <a:t>グループで「自分の事業所ならどう受任し、どう動くか」を3分間ディスカッション。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14 / 22</a:t>
            </a:r>
          </a:p>
        </p:txBody>
      </p:sp>
      <p:sp>
        <p:nvSpPr>
          <p:cNvPr id="4" name="TextBox 3"/>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5" name="Rounded Rectangle 4"/>
          <p:cNvSpPr/>
          <p:nvPr/>
        </p:nvSpPr>
        <p:spPr>
          <a:xfrm>
            <a:off x="640080" y="411480"/>
            <a:ext cx="10881360" cy="685800"/>
          </a:xfrm>
          <a:prstGeom prst="roundRect">
            <a:avLst/>
          </a:prstGeom>
          <a:gradFill>
            <a:gsLst>
              <a:gs pos="0">
                <a:srgbClr val="D96A4A"/>
              </a:gs>
              <a:gs pos="100000">
                <a:srgbClr val="E3B54A"/>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buNone/>
            </a:pPr>
            <a:r>
              <a:rPr sz="2100" b="1">
                <a:solidFill>
                  <a:srgbClr val="FFFFFF"/>
                </a:solidFill>
                <a:latin typeface="Yu Gothic"/>
              </a:rPr>
              <a:t>🏠 事例1：支援拒否のある独居高齢者（地域包括から紹介）</a:t>
            </a:r>
          </a:p>
        </p:txBody>
      </p:sp>
      <p:sp>
        <p:nvSpPr>
          <p:cNvPr id="6" name="Rounded Rectangle 5"/>
          <p:cNvSpPr/>
          <p:nvPr/>
        </p:nvSpPr>
        <p:spPr>
          <a:xfrm>
            <a:off x="640080" y="1280160"/>
            <a:ext cx="10881360" cy="105156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10424160" cy="914400"/>
          </a:xfrm>
          <a:prstGeom prst="rect">
            <a:avLst/>
          </a:prstGeom>
          <a:noFill/>
        </p:spPr>
        <p:txBody>
          <a:bodyPr wrap="square" anchor="ctr" lIns="25400" rIns="25400" tIns="25400" bIns="25400">
            <a:spAutoFit/>
          </a:bodyPr>
          <a:lstStyle/>
          <a:p>
            <a:pPr algn="l">
              <a:spcAft>
                <a:spcPts val="400"/>
              </a:spcAft>
              <a:buNone/>
            </a:pPr>
            <a:r>
              <a:rPr sz="1500" b="1">
                <a:solidFill>
                  <a:srgbClr val="10335C"/>
                </a:solidFill>
                <a:latin typeface="Yu Gothic"/>
              </a:rPr>
              <a:t>状況：</a:t>
            </a:r>
            <a:r>
              <a:rPr sz="1500" b="0">
                <a:solidFill>
                  <a:srgbClr val="212E38"/>
                </a:solidFill>
                <a:latin typeface="Yu Gothic"/>
              </a:rPr>
              <a:t>要介護2・独居、認知症の疑い。サービス利用を強く拒否し近隣トラブルも。地域包括支援センターから「担当してほしい」と紹介が入った。</a:t>
            </a:r>
          </a:p>
        </p:txBody>
      </p:sp>
      <p:sp>
        <p:nvSpPr>
          <p:cNvPr id="8" name="Rounded Rectangle 7"/>
          <p:cNvSpPr/>
          <p:nvPr/>
        </p:nvSpPr>
        <p:spPr>
          <a:xfrm>
            <a:off x="640080" y="2514600"/>
            <a:ext cx="5349240" cy="2148840"/>
          </a:xfrm>
          <a:prstGeom prst="roundRect">
            <a:avLst>
              <a:gd name="adj" fmla="val 6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514600"/>
            <a:ext cx="76200" cy="2148840"/>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D96A4A"/>
                </a:solidFill>
                <a:latin typeface="Yu Gothic"/>
              </a:rPr>
              <a:t>NG対応</a:t>
            </a:r>
          </a:p>
          <a:p>
            <a:pPr algn="l" indent="-228600" marL="228600">
              <a:spcAft>
                <a:spcPts val="300"/>
              </a:spcAft>
              <a:buFont typeface="Yu Gothic"/>
              <a:buChar char="・"/>
            </a:pPr>
            <a:r>
              <a:rPr sz="1400" b="0">
                <a:solidFill>
                  <a:srgbClr val="212E38"/>
                </a:solidFill>
                <a:latin typeface="Yu Gothic"/>
              </a:rPr>
              <a:t>「拒否が強く対応困難」と受任を断る</a:t>
            </a:r>
          </a:p>
          <a:p>
            <a:pPr algn="l" indent="-228600" marL="228600">
              <a:spcAft>
                <a:spcPts val="300"/>
              </a:spcAft>
              <a:buFont typeface="Yu Gothic"/>
              <a:buChar char="・"/>
            </a:pPr>
            <a:r>
              <a:rPr sz="1400" b="0">
                <a:solidFill>
                  <a:srgbClr val="212E38"/>
                </a:solidFill>
                <a:latin typeface="Yu Gothic"/>
              </a:rPr>
              <a:t>一度の訪問拒否で「支援不可」と判断</a:t>
            </a:r>
          </a:p>
          <a:p>
            <a:pPr algn="l" indent="-228600" marL="228600">
              <a:spcAft>
                <a:spcPts val="300"/>
              </a:spcAft>
              <a:buFont typeface="Yu Gothic"/>
              <a:buChar char="・"/>
            </a:pPr>
            <a:r>
              <a:rPr sz="1400" b="0">
                <a:solidFill>
                  <a:srgbClr val="212E38"/>
                </a:solidFill>
                <a:latin typeface="Yu Gothic"/>
              </a:rPr>
              <a:t>担当ケアマネが一人で説得を抱え込む</a:t>
            </a:r>
          </a:p>
        </p:txBody>
      </p:sp>
      <p:sp>
        <p:nvSpPr>
          <p:cNvPr id="11" name="Rounded Rectangle 10"/>
          <p:cNvSpPr/>
          <p:nvPr/>
        </p:nvSpPr>
        <p:spPr>
          <a:xfrm>
            <a:off x="6263640" y="2514600"/>
            <a:ext cx="5349240" cy="214884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514600"/>
            <a:ext cx="76200" cy="214884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1B9A8B"/>
                </a:solidFill>
                <a:latin typeface="Yu Gothic"/>
              </a:rPr>
              <a:t>GOOD対応</a:t>
            </a:r>
          </a:p>
          <a:p>
            <a:pPr algn="l" indent="-228600" marL="228600">
              <a:spcAft>
                <a:spcPts val="300"/>
              </a:spcAft>
              <a:buFont typeface="Yu Gothic"/>
              <a:buChar char="・"/>
            </a:pPr>
            <a:r>
              <a:rPr sz="1400" b="0">
                <a:solidFill>
                  <a:srgbClr val="212E38"/>
                </a:solidFill>
                <a:latin typeface="Yu Gothic"/>
              </a:rPr>
              <a:t>管理者・主任CMと協議し受任を組織判断</a:t>
            </a:r>
          </a:p>
          <a:p>
            <a:pPr algn="l" indent="-228600" marL="228600">
              <a:spcAft>
                <a:spcPts val="300"/>
              </a:spcAft>
              <a:buFont typeface="Yu Gothic"/>
              <a:buChar char="・"/>
            </a:pPr>
            <a:r>
              <a:rPr sz="1400" b="0">
                <a:solidFill>
                  <a:srgbClr val="212E38"/>
                </a:solidFill>
                <a:latin typeface="Yu Gothic"/>
              </a:rPr>
              <a:t>地域包括と役割分担し関係構築を優先・段階的に</a:t>
            </a:r>
          </a:p>
          <a:p>
            <a:pPr algn="l" indent="-228600" marL="228600">
              <a:spcAft>
                <a:spcPts val="300"/>
              </a:spcAft>
              <a:buFont typeface="Yu Gothic"/>
              <a:buChar char="・"/>
            </a:pPr>
            <a:r>
              <a:rPr sz="1400" b="0">
                <a:solidFill>
                  <a:srgbClr val="212E38"/>
                </a:solidFill>
                <a:latin typeface="Yu Gothic"/>
              </a:rPr>
              <a:t>本人の意向・意思決定支援を軸にプラン化し記録</a:t>
            </a:r>
          </a:p>
        </p:txBody>
      </p:sp>
      <p:sp>
        <p:nvSpPr>
          <p:cNvPr id="14" name="Rounded Rectangle 13"/>
          <p:cNvSpPr/>
          <p:nvPr/>
        </p:nvSpPr>
        <p:spPr>
          <a:xfrm>
            <a:off x="640080" y="4892040"/>
            <a:ext cx="10881360" cy="100584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892040"/>
            <a:ext cx="76200" cy="100584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892040"/>
            <a:ext cx="10561320" cy="100584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体制のポイント：</a:t>
            </a:r>
            <a:r>
              <a:rPr sz="1400" b="0">
                <a:solidFill>
                  <a:srgbClr val="212E38"/>
                </a:solidFill>
                <a:latin typeface="Yu Gothic"/>
              </a:rPr>
              <a:t>地域包括からの困難事例の受け入れは加算要件の核心。断らずに『どう受けるか』を組織で設計し、関係構築から始める。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15 / 22</a:t>
            </a:r>
          </a:p>
        </p:txBody>
      </p:sp>
      <p:sp>
        <p:nvSpPr>
          <p:cNvPr id="4" name="TextBox 3"/>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5" name="Rounded Rectangle 4"/>
          <p:cNvSpPr/>
          <p:nvPr/>
        </p:nvSpPr>
        <p:spPr>
          <a:xfrm>
            <a:off x="640080" y="411480"/>
            <a:ext cx="10881360" cy="685800"/>
          </a:xfrm>
          <a:prstGeom prst="roundRect">
            <a:avLst/>
          </a:prstGeom>
          <a:gradFill>
            <a:gsLst>
              <a:gs pos="0">
                <a:srgbClr val="D96A4A"/>
              </a:gs>
              <a:gs pos="100000">
                <a:srgbClr val="E3B54A"/>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buNone/>
            </a:pPr>
            <a:r>
              <a:rPr sz="2100" b="1">
                <a:solidFill>
                  <a:srgbClr val="FFFFFF"/>
                </a:solidFill>
                <a:latin typeface="Yu Gothic"/>
              </a:rPr>
              <a:t>💰 事例2：認知症で金銭管理が困難・権利擁護が絡むケース</a:t>
            </a:r>
          </a:p>
        </p:txBody>
      </p:sp>
      <p:sp>
        <p:nvSpPr>
          <p:cNvPr id="6" name="Rounded Rectangle 5"/>
          <p:cNvSpPr/>
          <p:nvPr/>
        </p:nvSpPr>
        <p:spPr>
          <a:xfrm>
            <a:off x="640080" y="1280160"/>
            <a:ext cx="10881360" cy="105156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10424160" cy="914400"/>
          </a:xfrm>
          <a:prstGeom prst="rect">
            <a:avLst/>
          </a:prstGeom>
          <a:noFill/>
        </p:spPr>
        <p:txBody>
          <a:bodyPr wrap="square" anchor="ctr" lIns="25400" rIns="25400" tIns="25400" bIns="25400">
            <a:spAutoFit/>
          </a:bodyPr>
          <a:lstStyle/>
          <a:p>
            <a:pPr algn="l">
              <a:spcAft>
                <a:spcPts val="400"/>
              </a:spcAft>
              <a:buNone/>
            </a:pPr>
            <a:r>
              <a:rPr sz="1500" b="1">
                <a:solidFill>
                  <a:srgbClr val="10335C"/>
                </a:solidFill>
                <a:latin typeface="Yu Gothic"/>
              </a:rPr>
              <a:t>状況：</a:t>
            </a:r>
            <a:r>
              <a:rPr sz="1500" b="0">
                <a:solidFill>
                  <a:srgbClr val="212E38"/>
                </a:solidFill>
                <a:latin typeface="Yu Gothic"/>
              </a:rPr>
              <a:t>要介護3・独居、認知症が進行し金銭管理や契約が困難。親族とは疎遠。サービス費の滞納や悪質商法の被害も心配される。</a:t>
            </a:r>
          </a:p>
        </p:txBody>
      </p:sp>
      <p:sp>
        <p:nvSpPr>
          <p:cNvPr id="8" name="Rounded Rectangle 7"/>
          <p:cNvSpPr/>
          <p:nvPr/>
        </p:nvSpPr>
        <p:spPr>
          <a:xfrm>
            <a:off x="640080" y="2514600"/>
            <a:ext cx="5349240" cy="2148840"/>
          </a:xfrm>
          <a:prstGeom prst="roundRect">
            <a:avLst>
              <a:gd name="adj" fmla="val 6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514600"/>
            <a:ext cx="76200" cy="2148840"/>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D96A4A"/>
                </a:solidFill>
                <a:latin typeface="Yu Gothic"/>
              </a:rPr>
              <a:t>NG対応</a:t>
            </a:r>
          </a:p>
          <a:p>
            <a:pPr algn="l" indent="-228600" marL="228600">
              <a:spcAft>
                <a:spcPts val="300"/>
              </a:spcAft>
              <a:buFont typeface="Yu Gothic"/>
              <a:buChar char="・"/>
            </a:pPr>
            <a:r>
              <a:rPr sz="1400" b="0">
                <a:solidFill>
                  <a:srgbClr val="212E38"/>
                </a:solidFill>
                <a:latin typeface="Yu Gothic"/>
              </a:rPr>
              <a:t>介護サービスの調整だけで完結させる</a:t>
            </a:r>
          </a:p>
          <a:p>
            <a:pPr algn="l" indent="-228600" marL="228600">
              <a:spcAft>
                <a:spcPts val="300"/>
              </a:spcAft>
              <a:buFont typeface="Yu Gothic"/>
              <a:buChar char="・"/>
            </a:pPr>
            <a:r>
              <a:rPr sz="1400" b="0">
                <a:solidFill>
                  <a:srgbClr val="212E38"/>
                </a:solidFill>
                <a:latin typeface="Yu Gothic"/>
              </a:rPr>
              <a:t>金銭・契約の問題を「家族の問題」と放置</a:t>
            </a:r>
          </a:p>
          <a:p>
            <a:pPr algn="l" indent="-228600" marL="228600">
              <a:spcAft>
                <a:spcPts val="300"/>
              </a:spcAft>
              <a:buFont typeface="Yu Gothic"/>
              <a:buChar char="・"/>
            </a:pPr>
            <a:r>
              <a:rPr sz="1400" b="0">
                <a:solidFill>
                  <a:srgbClr val="212E38"/>
                </a:solidFill>
                <a:latin typeface="Yu Gothic"/>
              </a:rPr>
              <a:t>成年後見等の制度につなげず抱え込む</a:t>
            </a:r>
          </a:p>
        </p:txBody>
      </p:sp>
      <p:sp>
        <p:nvSpPr>
          <p:cNvPr id="11" name="Rounded Rectangle 10"/>
          <p:cNvSpPr/>
          <p:nvPr/>
        </p:nvSpPr>
        <p:spPr>
          <a:xfrm>
            <a:off x="6263640" y="2514600"/>
            <a:ext cx="5349240" cy="214884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514600"/>
            <a:ext cx="76200" cy="214884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1B9A8B"/>
                </a:solidFill>
                <a:latin typeface="Yu Gothic"/>
              </a:rPr>
              <a:t>GOOD対応</a:t>
            </a:r>
          </a:p>
          <a:p>
            <a:pPr algn="l" indent="-228600" marL="228600">
              <a:spcAft>
                <a:spcPts val="300"/>
              </a:spcAft>
              <a:buFont typeface="Yu Gothic"/>
              <a:buChar char="・"/>
            </a:pPr>
            <a:r>
              <a:rPr sz="1400" b="0">
                <a:solidFill>
                  <a:srgbClr val="212E38"/>
                </a:solidFill>
                <a:latin typeface="Yu Gothic"/>
              </a:rPr>
              <a:t>地域包括・行政・社協と連携し権利擁護へ</a:t>
            </a:r>
          </a:p>
          <a:p>
            <a:pPr algn="l" indent="-228600" marL="228600">
              <a:spcAft>
                <a:spcPts val="300"/>
              </a:spcAft>
              <a:buFont typeface="Yu Gothic"/>
              <a:buChar char="・"/>
            </a:pPr>
            <a:r>
              <a:rPr sz="1400" b="0">
                <a:solidFill>
                  <a:srgbClr val="212E38"/>
                </a:solidFill>
                <a:latin typeface="Yu Gothic"/>
              </a:rPr>
              <a:t>成年後見制度・日常生活自立支援事業を検討</a:t>
            </a:r>
          </a:p>
          <a:p>
            <a:pPr algn="l" indent="-228600" marL="228600">
              <a:spcAft>
                <a:spcPts val="300"/>
              </a:spcAft>
              <a:buFont typeface="Yu Gothic"/>
              <a:buChar char="・"/>
            </a:pPr>
            <a:r>
              <a:rPr sz="1400" b="0">
                <a:solidFill>
                  <a:srgbClr val="212E38"/>
                </a:solidFill>
                <a:latin typeface="Yu Gothic"/>
              </a:rPr>
              <a:t>意思決定支援の経過を記録し担当者会議で共有</a:t>
            </a:r>
          </a:p>
        </p:txBody>
      </p:sp>
      <p:sp>
        <p:nvSpPr>
          <p:cNvPr id="14" name="Rounded Rectangle 13"/>
          <p:cNvSpPr/>
          <p:nvPr/>
        </p:nvSpPr>
        <p:spPr>
          <a:xfrm>
            <a:off x="640080" y="4892040"/>
            <a:ext cx="10881360" cy="100584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892040"/>
            <a:ext cx="76200" cy="100584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892040"/>
            <a:ext cx="10561320" cy="100584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体制のポイント：</a:t>
            </a:r>
            <a:r>
              <a:rPr sz="1400" b="0">
                <a:solidFill>
                  <a:srgbClr val="212E38"/>
                </a:solidFill>
                <a:latin typeface="Yu Gothic"/>
              </a:rPr>
              <a:t>権利擁護が絡む事例は1事業所で抱えない。多職種・行政につなぐこと自体が困難事例受け入れ体制の一部。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16 / 22</a:t>
            </a:r>
          </a:p>
        </p:txBody>
      </p:sp>
      <p:sp>
        <p:nvSpPr>
          <p:cNvPr id="4" name="TextBox 3"/>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5" name="Rounded Rectangle 4"/>
          <p:cNvSpPr/>
          <p:nvPr/>
        </p:nvSpPr>
        <p:spPr>
          <a:xfrm>
            <a:off x="640080" y="411480"/>
            <a:ext cx="10881360" cy="685800"/>
          </a:xfrm>
          <a:prstGeom prst="roundRect">
            <a:avLst/>
          </a:prstGeom>
          <a:gradFill>
            <a:gsLst>
              <a:gs pos="0">
                <a:srgbClr val="D96A4A"/>
              </a:gs>
              <a:gs pos="100000">
                <a:srgbClr val="E3B54A"/>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buNone/>
            </a:pPr>
            <a:r>
              <a:rPr sz="2100" b="1">
                <a:solidFill>
                  <a:srgbClr val="FFFFFF"/>
                </a:solidFill>
                <a:latin typeface="Yu Gothic"/>
              </a:rPr>
              <a:t>⚠️ 事例3：家族の介護負担・虐待(疑い)が絡む複合課題世帯</a:t>
            </a:r>
          </a:p>
        </p:txBody>
      </p:sp>
      <p:sp>
        <p:nvSpPr>
          <p:cNvPr id="6" name="Rounded Rectangle 5"/>
          <p:cNvSpPr/>
          <p:nvPr/>
        </p:nvSpPr>
        <p:spPr>
          <a:xfrm>
            <a:off x="640080" y="1280160"/>
            <a:ext cx="10881360" cy="105156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10424160" cy="914400"/>
          </a:xfrm>
          <a:prstGeom prst="rect">
            <a:avLst/>
          </a:prstGeom>
          <a:noFill/>
        </p:spPr>
        <p:txBody>
          <a:bodyPr wrap="square" anchor="ctr" lIns="25400" rIns="25400" tIns="25400" bIns="25400">
            <a:spAutoFit/>
          </a:bodyPr>
          <a:lstStyle/>
          <a:p>
            <a:pPr algn="l">
              <a:spcAft>
                <a:spcPts val="400"/>
              </a:spcAft>
              <a:buNone/>
            </a:pPr>
            <a:r>
              <a:rPr sz="1500" b="1">
                <a:solidFill>
                  <a:srgbClr val="10335C"/>
                </a:solidFill>
                <a:latin typeface="Yu Gothic"/>
              </a:rPr>
              <a:t>状況：</a:t>
            </a:r>
            <a:r>
              <a:rPr sz="1500" b="0">
                <a:solidFill>
                  <a:srgbClr val="212E38"/>
                </a:solidFill>
                <a:latin typeface="Yu Gothic"/>
              </a:rPr>
              <a:t>要介護4の母を息子が在宅介護。息子は仕事を失い経済的に困窮、母への不適切な対応（虐待の疑い）も見られる。8050的な複合課題。</a:t>
            </a:r>
          </a:p>
        </p:txBody>
      </p:sp>
      <p:sp>
        <p:nvSpPr>
          <p:cNvPr id="8" name="Rounded Rectangle 7"/>
          <p:cNvSpPr/>
          <p:nvPr/>
        </p:nvSpPr>
        <p:spPr>
          <a:xfrm>
            <a:off x="640080" y="2514600"/>
            <a:ext cx="5349240" cy="2148840"/>
          </a:xfrm>
          <a:prstGeom prst="roundRect">
            <a:avLst>
              <a:gd name="adj" fmla="val 6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514600"/>
            <a:ext cx="76200" cy="2148840"/>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D96A4A"/>
                </a:solidFill>
                <a:latin typeface="Yu Gothic"/>
              </a:rPr>
              <a:t>NG対応</a:t>
            </a:r>
          </a:p>
          <a:p>
            <a:pPr algn="l" indent="-228600" marL="228600">
              <a:spcAft>
                <a:spcPts val="300"/>
              </a:spcAft>
              <a:buFont typeface="Yu Gothic"/>
              <a:buChar char="・"/>
            </a:pPr>
            <a:r>
              <a:rPr sz="1400" b="0">
                <a:solidFill>
                  <a:srgbClr val="212E38"/>
                </a:solidFill>
                <a:latin typeface="Yu Gothic"/>
              </a:rPr>
              <a:t>「家庭の事情」として踏み込まず様子見</a:t>
            </a:r>
          </a:p>
          <a:p>
            <a:pPr algn="l" indent="-228600" marL="228600">
              <a:spcAft>
                <a:spcPts val="300"/>
              </a:spcAft>
              <a:buFont typeface="Yu Gothic"/>
              <a:buChar char="・"/>
            </a:pPr>
            <a:r>
              <a:rPr sz="1400" b="0">
                <a:solidFill>
                  <a:srgbClr val="212E38"/>
                </a:solidFill>
                <a:latin typeface="Yu Gothic"/>
              </a:rPr>
              <a:t>虐待の疑いを記録・通報せず抱える</a:t>
            </a:r>
          </a:p>
          <a:p>
            <a:pPr algn="l" indent="-228600" marL="228600">
              <a:spcAft>
                <a:spcPts val="300"/>
              </a:spcAft>
              <a:buFont typeface="Yu Gothic"/>
              <a:buChar char="・"/>
            </a:pPr>
            <a:r>
              <a:rPr sz="1400" b="0">
                <a:solidFill>
                  <a:srgbClr val="212E38"/>
                </a:solidFill>
                <a:latin typeface="Yu Gothic"/>
              </a:rPr>
              <a:t>介護サービスの追加調整だけで対応</a:t>
            </a:r>
          </a:p>
        </p:txBody>
      </p:sp>
      <p:sp>
        <p:nvSpPr>
          <p:cNvPr id="11" name="Rounded Rectangle 10"/>
          <p:cNvSpPr/>
          <p:nvPr/>
        </p:nvSpPr>
        <p:spPr>
          <a:xfrm>
            <a:off x="6263640" y="2514600"/>
            <a:ext cx="5349240" cy="214884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514600"/>
            <a:ext cx="76200" cy="214884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1B9A8B"/>
                </a:solidFill>
                <a:latin typeface="Yu Gothic"/>
              </a:rPr>
              <a:t>GOOD対応</a:t>
            </a:r>
          </a:p>
          <a:p>
            <a:pPr algn="l" indent="-228600" marL="228600">
              <a:spcAft>
                <a:spcPts val="300"/>
              </a:spcAft>
              <a:buFont typeface="Yu Gothic"/>
              <a:buChar char="・"/>
            </a:pPr>
            <a:r>
              <a:rPr sz="1400" b="0">
                <a:solidFill>
                  <a:srgbClr val="212E38"/>
                </a:solidFill>
                <a:latin typeface="Yu Gothic"/>
              </a:rPr>
              <a:t>虐待の疑いは速やかに市町村・地域包括へ通報・連携</a:t>
            </a:r>
          </a:p>
          <a:p>
            <a:pPr algn="l" indent="-228600" marL="228600">
              <a:spcAft>
                <a:spcPts val="300"/>
              </a:spcAft>
              <a:buFont typeface="Yu Gothic"/>
              <a:buChar char="・"/>
            </a:pPr>
            <a:r>
              <a:rPr sz="1400" b="0">
                <a:solidFill>
                  <a:srgbClr val="212E38"/>
                </a:solidFill>
                <a:latin typeface="Yu Gothic"/>
              </a:rPr>
              <a:t>息子（家族）の生活課題も含め多機関で支援</a:t>
            </a:r>
          </a:p>
          <a:p>
            <a:pPr algn="l" indent="-228600" marL="228600">
              <a:spcAft>
                <a:spcPts val="300"/>
              </a:spcAft>
              <a:buFont typeface="Yu Gothic"/>
              <a:buChar char="・"/>
            </a:pPr>
            <a:r>
              <a:rPr sz="1400" b="0">
                <a:solidFill>
                  <a:srgbClr val="212E38"/>
                </a:solidFill>
                <a:latin typeface="Yu Gothic"/>
              </a:rPr>
              <a:t>事実経過を客観的に記録し担当者会議で共有</a:t>
            </a:r>
          </a:p>
        </p:txBody>
      </p:sp>
      <p:sp>
        <p:nvSpPr>
          <p:cNvPr id="14" name="Rounded Rectangle 13"/>
          <p:cNvSpPr/>
          <p:nvPr/>
        </p:nvSpPr>
        <p:spPr>
          <a:xfrm>
            <a:off x="640080" y="4892040"/>
            <a:ext cx="10881360" cy="100584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892040"/>
            <a:ext cx="76200" cy="100584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892040"/>
            <a:ext cx="10561320" cy="100584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体制のポイント：</a:t>
            </a:r>
            <a:r>
              <a:rPr sz="1400" b="0">
                <a:solidFill>
                  <a:srgbClr val="212E38"/>
                </a:solidFill>
                <a:latin typeface="Yu Gothic"/>
              </a:rPr>
              <a:t>虐待対応・複合課題は通報と多機関連携が原則。ケアマネが一人で判断せず、組織と地域のネットワークで動く。</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17 / 22</a:t>
            </a:r>
          </a:p>
        </p:txBody>
      </p:sp>
      <p:sp>
        <p:nvSpPr>
          <p:cNvPr id="4" name="TextBox 3"/>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5" name="Rounded Rectangle 4"/>
          <p:cNvSpPr/>
          <p:nvPr/>
        </p:nvSpPr>
        <p:spPr>
          <a:xfrm>
            <a:off x="640080" y="411480"/>
            <a:ext cx="10881360" cy="685800"/>
          </a:xfrm>
          <a:prstGeom prst="roundRect">
            <a:avLst/>
          </a:prstGeom>
          <a:gradFill>
            <a:gsLst>
              <a:gs pos="0">
                <a:srgbClr val="D96A4A"/>
              </a:gs>
              <a:gs pos="100000">
                <a:srgbClr val="E3B54A"/>
              </a:gs>
            </a:gsLst>
            <a:lin ang="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spcAft>
                <a:spcPts val="400"/>
              </a:spcAft>
              <a:buNone/>
            </a:pPr>
            <a:r>
              <a:rPr sz="2100" b="1">
                <a:solidFill>
                  <a:srgbClr val="FFFFFF"/>
                </a:solidFill>
                <a:latin typeface="Yu Gothic"/>
              </a:rPr>
              <a:t>🩺 事例4：医療ニーズの高い退院支援・看取り</a:t>
            </a:r>
          </a:p>
        </p:txBody>
      </p:sp>
      <p:sp>
        <p:nvSpPr>
          <p:cNvPr id="6" name="Rounded Rectangle 5"/>
          <p:cNvSpPr/>
          <p:nvPr/>
        </p:nvSpPr>
        <p:spPr>
          <a:xfrm>
            <a:off x="640080" y="1280160"/>
            <a:ext cx="10881360" cy="105156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10424160" cy="914400"/>
          </a:xfrm>
          <a:prstGeom prst="rect">
            <a:avLst/>
          </a:prstGeom>
          <a:noFill/>
        </p:spPr>
        <p:txBody>
          <a:bodyPr wrap="square" anchor="ctr" lIns="25400" rIns="25400" tIns="25400" bIns="25400">
            <a:spAutoFit/>
          </a:bodyPr>
          <a:lstStyle/>
          <a:p>
            <a:pPr algn="l">
              <a:spcAft>
                <a:spcPts val="400"/>
              </a:spcAft>
              <a:buNone/>
            </a:pPr>
            <a:r>
              <a:rPr sz="1500" b="1">
                <a:solidFill>
                  <a:srgbClr val="10335C"/>
                </a:solidFill>
                <a:latin typeface="Yu Gothic"/>
              </a:rPr>
              <a:t>状況：</a:t>
            </a:r>
            <a:r>
              <a:rPr sz="1500" b="0">
                <a:solidFill>
                  <a:srgbClr val="212E38"/>
                </a:solidFill>
                <a:latin typeface="Yu Gothic"/>
              </a:rPr>
              <a:t>末期がんで余命が限られ、本人は在宅での看取りを希望。退院日が迫り、医療・介護・家族の調整を短期間で整える必要がある。</a:t>
            </a:r>
          </a:p>
        </p:txBody>
      </p:sp>
      <p:sp>
        <p:nvSpPr>
          <p:cNvPr id="8" name="Rounded Rectangle 7"/>
          <p:cNvSpPr/>
          <p:nvPr/>
        </p:nvSpPr>
        <p:spPr>
          <a:xfrm>
            <a:off x="640080" y="2514600"/>
            <a:ext cx="5349240" cy="2148840"/>
          </a:xfrm>
          <a:prstGeom prst="roundRect">
            <a:avLst>
              <a:gd name="adj" fmla="val 6000"/>
            </a:avLst>
          </a:prstGeom>
          <a:solidFill>
            <a:srgbClr val="FB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2514600"/>
            <a:ext cx="76200" cy="2148840"/>
          </a:xfrm>
          <a:prstGeom prst="rect">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D96A4A"/>
                </a:solidFill>
                <a:latin typeface="Yu Gothic"/>
              </a:rPr>
              <a:t>NG対応</a:t>
            </a:r>
          </a:p>
          <a:p>
            <a:pPr algn="l" indent="-228600" marL="228600">
              <a:spcAft>
                <a:spcPts val="300"/>
              </a:spcAft>
              <a:buFont typeface="Yu Gothic"/>
              <a:buChar char="・"/>
            </a:pPr>
            <a:r>
              <a:rPr sz="1400" b="0">
                <a:solidFill>
                  <a:srgbClr val="212E38"/>
                </a:solidFill>
                <a:latin typeface="Yu Gothic"/>
              </a:rPr>
              <a:t>退院日直前まで調整に着手しない</a:t>
            </a:r>
          </a:p>
          <a:p>
            <a:pPr algn="l" indent="-228600" marL="228600">
              <a:spcAft>
                <a:spcPts val="300"/>
              </a:spcAft>
              <a:buFont typeface="Yu Gothic"/>
              <a:buChar char="・"/>
            </a:pPr>
            <a:r>
              <a:rPr sz="1400" b="0">
                <a:solidFill>
                  <a:srgbClr val="212E38"/>
                </a:solidFill>
                <a:latin typeface="Yu Gothic"/>
              </a:rPr>
              <a:t>医療側との情報共有が不十分なまま受任</a:t>
            </a:r>
          </a:p>
          <a:p>
            <a:pPr algn="l" indent="-228600" marL="228600">
              <a:spcAft>
                <a:spcPts val="300"/>
              </a:spcAft>
              <a:buFont typeface="Yu Gothic"/>
              <a:buChar char="・"/>
            </a:pPr>
            <a:r>
              <a:rPr sz="1400" b="0">
                <a:solidFill>
                  <a:srgbClr val="212E38"/>
                </a:solidFill>
                <a:latin typeface="Yu Gothic"/>
              </a:rPr>
              <a:t>急変時の方針・連絡体制を決めずに開始</a:t>
            </a:r>
          </a:p>
        </p:txBody>
      </p:sp>
      <p:sp>
        <p:nvSpPr>
          <p:cNvPr id="11" name="Rounded Rectangle 10"/>
          <p:cNvSpPr/>
          <p:nvPr/>
        </p:nvSpPr>
        <p:spPr>
          <a:xfrm>
            <a:off x="6263640" y="2514600"/>
            <a:ext cx="5349240" cy="214884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63640" y="2514600"/>
            <a:ext cx="76200" cy="214884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624328"/>
            <a:ext cx="4983480" cy="1965960"/>
          </a:xfrm>
          <a:prstGeom prst="rect">
            <a:avLst/>
          </a:prstGeom>
          <a:noFill/>
        </p:spPr>
        <p:txBody>
          <a:bodyPr wrap="square" anchor="t" lIns="25400" rIns="25400" tIns="25400" bIns="25400">
            <a:spAutoFit/>
          </a:bodyPr>
          <a:lstStyle/>
          <a:p>
            <a:pPr algn="l">
              <a:spcAft>
                <a:spcPts val="400"/>
              </a:spcAft>
              <a:buNone/>
            </a:pPr>
            <a:r>
              <a:rPr sz="1700" b="1">
                <a:solidFill>
                  <a:srgbClr val="1B9A8B"/>
                </a:solidFill>
                <a:latin typeface="Yu Gothic"/>
              </a:rPr>
              <a:t>GOOD対応</a:t>
            </a:r>
          </a:p>
          <a:p>
            <a:pPr algn="l" indent="-228600" marL="228600">
              <a:spcAft>
                <a:spcPts val="300"/>
              </a:spcAft>
              <a:buFont typeface="Yu Gothic"/>
              <a:buChar char="・"/>
            </a:pPr>
            <a:r>
              <a:rPr sz="1400" b="0">
                <a:solidFill>
                  <a:srgbClr val="212E38"/>
                </a:solidFill>
                <a:latin typeface="Yu Gothic"/>
              </a:rPr>
              <a:t>退院前カンファレンスに参加し医療と方針共有</a:t>
            </a:r>
          </a:p>
          <a:p>
            <a:pPr algn="l" indent="-228600" marL="228600">
              <a:spcAft>
                <a:spcPts val="300"/>
              </a:spcAft>
              <a:buFont typeface="Yu Gothic"/>
              <a:buChar char="・"/>
            </a:pPr>
            <a:r>
              <a:rPr sz="1400" b="0">
                <a:solidFill>
                  <a:srgbClr val="212E38"/>
                </a:solidFill>
                <a:latin typeface="Yu Gothic"/>
              </a:rPr>
              <a:t>訪問看護・主治医・薬剤師と役割分担を明確化</a:t>
            </a:r>
          </a:p>
          <a:p>
            <a:pPr algn="l" indent="-228600" marL="228600">
              <a:spcAft>
                <a:spcPts val="300"/>
              </a:spcAft>
              <a:buFont typeface="Yu Gothic"/>
              <a:buChar char="・"/>
            </a:pPr>
            <a:r>
              <a:rPr sz="1400" b="0">
                <a:solidFill>
                  <a:srgbClr val="212E38"/>
                </a:solidFill>
                <a:latin typeface="Yu Gothic"/>
              </a:rPr>
              <a:t>本人の意向（ACP）と急変時対応を担当者会議で確認</a:t>
            </a:r>
          </a:p>
        </p:txBody>
      </p:sp>
      <p:sp>
        <p:nvSpPr>
          <p:cNvPr id="14" name="Rounded Rectangle 13"/>
          <p:cNvSpPr/>
          <p:nvPr/>
        </p:nvSpPr>
        <p:spPr>
          <a:xfrm>
            <a:off x="640080" y="4892040"/>
            <a:ext cx="10881360" cy="100584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4892040"/>
            <a:ext cx="76200" cy="100584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892040"/>
            <a:ext cx="10561320" cy="100584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体制のポイント：</a:t>
            </a:r>
            <a:r>
              <a:rPr sz="1400" b="0">
                <a:solidFill>
                  <a:srgbClr val="212E38"/>
                </a:solidFill>
                <a:latin typeface="Yu Gothic"/>
              </a:rPr>
              <a:t>医療ニーズの高い事例は時間との勝負。24時間連絡体制と医療介護連携の段取り力が、在宅生活の質を左右する。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ORGANIZATION</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困難事例を「組織で受ける」3原則</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18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554480"/>
            <a:ext cx="3520440" cy="228600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41248" y="1737360"/>
            <a:ext cx="1371600" cy="310896"/>
          </a:xfrm>
          <a:prstGeom prst="roundRect">
            <a:avLst>
              <a:gd name="adj" fmla="val 50000"/>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原則1</a:t>
            </a:r>
          </a:p>
        </p:txBody>
      </p:sp>
      <p:sp>
        <p:nvSpPr>
          <p:cNvPr id="10" name="TextBox 9"/>
          <p:cNvSpPr txBox="1"/>
          <p:nvPr/>
        </p:nvSpPr>
        <p:spPr>
          <a:xfrm>
            <a:off x="868680" y="2240280"/>
            <a:ext cx="3063240" cy="1463040"/>
          </a:xfrm>
          <a:prstGeom prst="rect">
            <a:avLst/>
          </a:prstGeom>
          <a:noFill/>
        </p:spPr>
        <p:txBody>
          <a:bodyPr wrap="square" anchor="t" lIns="25400" rIns="25400" tIns="25400" bIns="25400">
            <a:spAutoFit/>
          </a:bodyPr>
          <a:lstStyle/>
          <a:p>
            <a:pPr algn="l">
              <a:spcAft>
                <a:spcPts val="600"/>
              </a:spcAft>
              <a:buNone/>
            </a:pPr>
            <a:r>
              <a:rPr sz="2000" b="1">
                <a:solidFill>
                  <a:srgbClr val="10335C"/>
                </a:solidFill>
                <a:latin typeface="Yu Gothic"/>
              </a:rPr>
              <a:t>一人で判断しない</a:t>
            </a:r>
          </a:p>
          <a:p>
            <a:pPr algn="l">
              <a:spcAft>
                <a:spcPts val="400"/>
              </a:spcAft>
              <a:buNone/>
            </a:pPr>
            <a:r>
              <a:rPr sz="1500" b="0">
                <a:solidFill>
                  <a:srgbClr val="212E38"/>
                </a:solidFill>
                <a:latin typeface="Yu Gothic"/>
              </a:rPr>
              <a:t>受任・方針・撤退は管理者・主任CMと会議で決める。</a:t>
            </a:r>
          </a:p>
        </p:txBody>
      </p:sp>
      <p:sp>
        <p:nvSpPr>
          <p:cNvPr id="11" name="Rounded Rectangle 10"/>
          <p:cNvSpPr/>
          <p:nvPr/>
        </p:nvSpPr>
        <p:spPr>
          <a:xfrm>
            <a:off x="4416552" y="1554480"/>
            <a:ext cx="3520440" cy="228600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17720" y="1737360"/>
            <a:ext cx="1371600" cy="310896"/>
          </a:xfrm>
          <a:prstGeom prst="roundRect">
            <a:avLst>
              <a:gd name="adj" fmla="val 50000"/>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原則2</a:t>
            </a:r>
          </a:p>
        </p:txBody>
      </p:sp>
      <p:sp>
        <p:nvSpPr>
          <p:cNvPr id="13" name="TextBox 12"/>
          <p:cNvSpPr txBox="1"/>
          <p:nvPr/>
        </p:nvSpPr>
        <p:spPr>
          <a:xfrm>
            <a:off x="4645152" y="2240280"/>
            <a:ext cx="3063240" cy="1463040"/>
          </a:xfrm>
          <a:prstGeom prst="rect">
            <a:avLst/>
          </a:prstGeom>
          <a:noFill/>
        </p:spPr>
        <p:txBody>
          <a:bodyPr wrap="square" anchor="t" lIns="25400" rIns="25400" tIns="25400" bIns="25400">
            <a:spAutoFit/>
          </a:bodyPr>
          <a:lstStyle/>
          <a:p>
            <a:pPr algn="l">
              <a:spcAft>
                <a:spcPts val="600"/>
              </a:spcAft>
              <a:buNone/>
            </a:pPr>
            <a:r>
              <a:rPr sz="2000" b="1">
                <a:solidFill>
                  <a:srgbClr val="10335C"/>
                </a:solidFill>
                <a:latin typeface="Yu Gothic"/>
              </a:rPr>
              <a:t>つないで受ける</a:t>
            </a:r>
          </a:p>
          <a:p>
            <a:pPr algn="l">
              <a:spcAft>
                <a:spcPts val="400"/>
              </a:spcAft>
              <a:buNone/>
            </a:pPr>
            <a:r>
              <a:rPr sz="1500" b="0">
                <a:solidFill>
                  <a:srgbClr val="212E38"/>
                </a:solidFill>
                <a:latin typeface="Yu Gothic"/>
              </a:rPr>
              <a:t>1事業所で抱えず、多職種・地域・行政と役割分担する。</a:t>
            </a:r>
          </a:p>
        </p:txBody>
      </p:sp>
      <p:sp>
        <p:nvSpPr>
          <p:cNvPr id="14" name="Rounded Rectangle 13"/>
          <p:cNvSpPr/>
          <p:nvPr/>
        </p:nvSpPr>
        <p:spPr>
          <a:xfrm>
            <a:off x="8193024" y="1554480"/>
            <a:ext cx="3520440" cy="228600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94192" y="1737360"/>
            <a:ext cx="1371600" cy="310896"/>
          </a:xfrm>
          <a:prstGeom prst="roundRect">
            <a:avLst>
              <a:gd name="adj" fmla="val 50000"/>
            </a:avLst>
          </a:prstGeom>
          <a:solidFill>
            <a:srgbClr val="D96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12700" bIns="12700"/>
          <a:lstStyle/>
          <a:p>
            <a:pPr algn="ctr">
              <a:spcAft>
                <a:spcPts val="400"/>
              </a:spcAft>
              <a:buNone/>
            </a:pPr>
            <a:r>
              <a:rPr sz="1200" b="1">
                <a:solidFill>
                  <a:srgbClr val="FFFFFF"/>
                </a:solidFill>
                <a:latin typeface="Yu Gothic"/>
              </a:rPr>
              <a:t>原則3</a:t>
            </a:r>
          </a:p>
        </p:txBody>
      </p:sp>
      <p:sp>
        <p:nvSpPr>
          <p:cNvPr id="16" name="TextBox 15"/>
          <p:cNvSpPr txBox="1"/>
          <p:nvPr/>
        </p:nvSpPr>
        <p:spPr>
          <a:xfrm>
            <a:off x="8421624" y="2240280"/>
            <a:ext cx="3063240" cy="1463040"/>
          </a:xfrm>
          <a:prstGeom prst="rect">
            <a:avLst/>
          </a:prstGeom>
          <a:noFill/>
        </p:spPr>
        <p:txBody>
          <a:bodyPr wrap="square" anchor="t" lIns="25400" rIns="25400" tIns="25400" bIns="25400">
            <a:spAutoFit/>
          </a:bodyPr>
          <a:lstStyle/>
          <a:p>
            <a:pPr algn="l">
              <a:spcAft>
                <a:spcPts val="600"/>
              </a:spcAft>
              <a:buNone/>
            </a:pPr>
            <a:r>
              <a:rPr sz="2000" b="1">
                <a:solidFill>
                  <a:srgbClr val="10335C"/>
                </a:solidFill>
                <a:latin typeface="Yu Gothic"/>
              </a:rPr>
              <a:t>記録で残す</a:t>
            </a:r>
          </a:p>
          <a:p>
            <a:pPr algn="l">
              <a:spcAft>
                <a:spcPts val="400"/>
              </a:spcAft>
              <a:buNone/>
            </a:pPr>
            <a:r>
              <a:rPr sz="1500" b="0">
                <a:solidFill>
                  <a:srgbClr val="212E38"/>
                </a:solidFill>
                <a:latin typeface="Yu Gothic"/>
              </a:rPr>
              <a:t>判断根拠・経過・連携を残し、誰でも引き継げる状態に。</a:t>
            </a:r>
          </a:p>
        </p:txBody>
      </p:sp>
      <p:sp>
        <p:nvSpPr>
          <p:cNvPr id="17" name="Rounded Rectangle 16"/>
          <p:cNvSpPr/>
          <p:nvPr/>
        </p:nvSpPr>
        <p:spPr>
          <a:xfrm>
            <a:off x="640080" y="4114800"/>
            <a:ext cx="10881360" cy="128016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114800"/>
            <a:ext cx="76200" cy="1280160"/>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114800"/>
            <a:ext cx="10561320" cy="1280160"/>
          </a:xfrm>
          <a:prstGeom prst="rect">
            <a:avLst/>
          </a:prstGeom>
          <a:noFill/>
        </p:spPr>
        <p:txBody>
          <a:bodyPr wrap="square" anchor="ctr" lIns="25400" rIns="25400" tIns="25400" bIns="25400">
            <a:spAutoFit/>
          </a:bodyPr>
          <a:lstStyle/>
          <a:p>
            <a:pPr algn="l">
              <a:spcAft>
                <a:spcPts val="400"/>
              </a:spcAft>
              <a:buNone/>
            </a:pPr>
            <a:r>
              <a:rPr sz="1400" b="1">
                <a:solidFill>
                  <a:srgbClr val="1B9A8B"/>
                </a:solidFill>
                <a:latin typeface="Yu Gothic"/>
              </a:rPr>
              <a:t>これが「確実性のあるケアマネジメント」：</a:t>
            </a:r>
            <a:r>
              <a:rPr sz="1400" b="0">
                <a:solidFill>
                  <a:srgbClr val="212E38"/>
                </a:solidFill>
                <a:latin typeface="Yu Gothic"/>
              </a:rPr>
              <a:t>個人の力量や善意でなく、主任CMによるSV・会議・記録という仕組みで再現性を担保する。これが加算IIを算定する事業所の責任の果たし方。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NETWORK</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多職種・地域との連携マップ</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19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TextBox 7"/>
          <p:cNvSpPr txBox="1"/>
          <p:nvPr/>
        </p:nvSpPr>
        <p:spPr>
          <a:xfrm>
            <a:off x="640080" y="1371600"/>
            <a:ext cx="10972800" cy="457200"/>
          </a:xfrm>
          <a:prstGeom prst="rect">
            <a:avLst/>
          </a:prstGeom>
          <a:noFill/>
        </p:spPr>
        <p:txBody>
          <a:bodyPr wrap="square" anchor="t" lIns="25400" rIns="25400" tIns="25400" bIns="25400">
            <a:spAutoFit/>
          </a:bodyPr>
          <a:lstStyle/>
          <a:p>
            <a:pPr algn="l">
              <a:spcAft>
                <a:spcPts val="400"/>
              </a:spcAft>
              <a:buNone/>
            </a:pPr>
            <a:r>
              <a:rPr sz="1700" b="0">
                <a:solidFill>
                  <a:srgbClr val="576873"/>
                </a:solidFill>
                <a:latin typeface="Yu Gothic"/>
              </a:rPr>
              <a:t>困難事例ほど、居宅介護支援「だけ」では完結しない。つなぐ先を全員が把握する。</a:t>
            </a:r>
          </a:p>
        </p:txBody>
      </p:sp>
      <p:sp>
        <p:nvSpPr>
          <p:cNvPr id="9" name="Rounded Rectangle 8"/>
          <p:cNvSpPr/>
          <p:nvPr/>
        </p:nvSpPr>
        <p:spPr>
          <a:xfrm>
            <a:off x="640080" y="2011680"/>
            <a:ext cx="3520440" cy="19202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2194560"/>
            <a:ext cx="3118104" cy="502920"/>
          </a:xfrm>
          <a:prstGeom prst="roundRect">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700" b="1">
                <a:solidFill>
                  <a:srgbClr val="FFFFFF"/>
                </a:solidFill>
                <a:latin typeface="Yu Gothic"/>
              </a:rPr>
              <a:t>医療</a:t>
            </a:r>
          </a:p>
        </p:txBody>
      </p:sp>
      <p:sp>
        <p:nvSpPr>
          <p:cNvPr id="11" name="TextBox 10"/>
          <p:cNvSpPr txBox="1"/>
          <p:nvPr/>
        </p:nvSpPr>
        <p:spPr>
          <a:xfrm>
            <a:off x="868680" y="2880360"/>
            <a:ext cx="3063240" cy="914400"/>
          </a:xfrm>
          <a:prstGeom prst="rect">
            <a:avLst/>
          </a:prstGeom>
          <a:noFill/>
        </p:spPr>
        <p:txBody>
          <a:bodyPr wrap="square" anchor="t" lIns="25400" rIns="25400" tIns="25400" bIns="25400">
            <a:spAutoFit/>
          </a:bodyPr>
          <a:lstStyle/>
          <a:p>
            <a:pPr algn="l">
              <a:spcAft>
                <a:spcPts val="400"/>
              </a:spcAft>
              <a:buNone/>
            </a:pPr>
            <a:r>
              <a:rPr sz="1400" b="0">
                <a:solidFill>
                  <a:srgbClr val="212E38"/>
                </a:solidFill>
                <a:latin typeface="Yu Gothic"/>
              </a:rPr>
              <a:t>主治医／訪問看護／病院MSW／薬剤師。退院支援・看取り・服薬の連携。</a:t>
            </a:r>
          </a:p>
        </p:txBody>
      </p:sp>
      <p:sp>
        <p:nvSpPr>
          <p:cNvPr id="12" name="Rounded Rectangle 11"/>
          <p:cNvSpPr/>
          <p:nvPr/>
        </p:nvSpPr>
        <p:spPr>
          <a:xfrm>
            <a:off x="4416552" y="2011680"/>
            <a:ext cx="3520440" cy="19202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17720" y="2194560"/>
            <a:ext cx="3118104" cy="502920"/>
          </a:xfrm>
          <a:prstGeom prst="roundRect">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700" b="1">
                <a:solidFill>
                  <a:srgbClr val="FFFFFF"/>
                </a:solidFill>
                <a:latin typeface="Yu Gothic"/>
              </a:rPr>
              <a:t>介護・インフォーマル</a:t>
            </a:r>
          </a:p>
        </p:txBody>
      </p:sp>
      <p:sp>
        <p:nvSpPr>
          <p:cNvPr id="14" name="TextBox 13"/>
          <p:cNvSpPr txBox="1"/>
          <p:nvPr/>
        </p:nvSpPr>
        <p:spPr>
          <a:xfrm>
            <a:off x="4645152" y="2880360"/>
            <a:ext cx="3063240" cy="914400"/>
          </a:xfrm>
          <a:prstGeom prst="rect">
            <a:avLst/>
          </a:prstGeom>
          <a:noFill/>
        </p:spPr>
        <p:txBody>
          <a:bodyPr wrap="square" anchor="t" lIns="25400" rIns="25400" tIns="25400" bIns="25400">
            <a:spAutoFit/>
          </a:bodyPr>
          <a:lstStyle/>
          <a:p>
            <a:pPr algn="l">
              <a:spcAft>
                <a:spcPts val="400"/>
              </a:spcAft>
              <a:buNone/>
            </a:pPr>
            <a:r>
              <a:rPr sz="1400" b="0">
                <a:solidFill>
                  <a:srgbClr val="212E38"/>
                </a:solidFill>
                <a:latin typeface="Yu Gothic"/>
              </a:rPr>
              <a:t>各サービス事業所／福祉用具／家族・近隣／ボランティア・通いの場。</a:t>
            </a:r>
          </a:p>
        </p:txBody>
      </p:sp>
      <p:sp>
        <p:nvSpPr>
          <p:cNvPr id="15" name="Rounded Rectangle 14"/>
          <p:cNvSpPr/>
          <p:nvPr/>
        </p:nvSpPr>
        <p:spPr>
          <a:xfrm>
            <a:off x="8193024" y="2011680"/>
            <a:ext cx="3520440" cy="19202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94192" y="2194560"/>
            <a:ext cx="3118104" cy="502920"/>
          </a:xfrm>
          <a:prstGeom prst="roundRect">
            <a:avLst/>
          </a:prstGeom>
          <a:solidFill>
            <a:srgbClr val="216A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400"/>
              </a:spcAft>
              <a:buNone/>
            </a:pPr>
            <a:r>
              <a:rPr sz="1700" b="1">
                <a:solidFill>
                  <a:srgbClr val="FFFFFF"/>
                </a:solidFill>
                <a:latin typeface="Yu Gothic"/>
              </a:rPr>
              <a:t>地域・行政・権利擁護</a:t>
            </a:r>
          </a:p>
        </p:txBody>
      </p:sp>
      <p:sp>
        <p:nvSpPr>
          <p:cNvPr id="17" name="TextBox 16"/>
          <p:cNvSpPr txBox="1"/>
          <p:nvPr/>
        </p:nvSpPr>
        <p:spPr>
          <a:xfrm>
            <a:off x="8421624" y="2880360"/>
            <a:ext cx="3063240" cy="914400"/>
          </a:xfrm>
          <a:prstGeom prst="rect">
            <a:avLst/>
          </a:prstGeom>
          <a:noFill/>
        </p:spPr>
        <p:txBody>
          <a:bodyPr wrap="square" anchor="t" lIns="25400" rIns="25400" tIns="25400" bIns="25400">
            <a:spAutoFit/>
          </a:bodyPr>
          <a:lstStyle/>
          <a:p>
            <a:pPr algn="l">
              <a:spcAft>
                <a:spcPts val="400"/>
              </a:spcAft>
              <a:buNone/>
            </a:pPr>
            <a:r>
              <a:rPr sz="1400" b="0">
                <a:solidFill>
                  <a:srgbClr val="212E38"/>
                </a:solidFill>
                <a:latin typeface="Yu Gothic"/>
              </a:rPr>
              <a:t>地域包括支援センター／市町村／社協／成年後見・虐待対応窓口。</a:t>
            </a:r>
          </a:p>
        </p:txBody>
      </p:sp>
      <p:sp>
        <p:nvSpPr>
          <p:cNvPr id="18" name="Rounded Rectangle 17"/>
          <p:cNvSpPr/>
          <p:nvPr/>
        </p:nvSpPr>
        <p:spPr>
          <a:xfrm>
            <a:off x="640080" y="4297680"/>
            <a:ext cx="10881360" cy="109728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4297680"/>
            <a:ext cx="76200" cy="109728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297680"/>
            <a:ext cx="10561320" cy="109728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ケアマネの動き：</a:t>
            </a:r>
            <a:r>
              <a:rPr sz="1400" b="0">
                <a:solidFill>
                  <a:srgbClr val="212E38"/>
                </a:solidFill>
                <a:latin typeface="Yu Gothic"/>
              </a:rPr>
              <a:t>ケアマネは地域のハブ。困難事例ほどサービス担当者会議・地域ケア会議を活用し、抱え込まず多機関で支える。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CHECK</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自事業所の体制セルフチェック</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20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TextBox 7"/>
          <p:cNvSpPr txBox="1"/>
          <p:nvPr/>
        </p:nvSpPr>
        <p:spPr>
          <a:xfrm>
            <a:off x="640080" y="1371600"/>
            <a:ext cx="10972800" cy="457200"/>
          </a:xfrm>
          <a:prstGeom prst="rect">
            <a:avLst/>
          </a:prstGeom>
          <a:noFill/>
        </p:spPr>
        <p:txBody>
          <a:bodyPr wrap="square" anchor="t" lIns="25400" rIns="25400" tIns="25400" bIns="25400">
            <a:spAutoFit/>
          </a:bodyPr>
          <a:lstStyle/>
          <a:p>
            <a:pPr algn="l">
              <a:spcAft>
                <a:spcPts val="400"/>
              </a:spcAft>
              <a:buNone/>
            </a:pPr>
            <a:r>
              <a:rPr sz="1700" b="0">
                <a:solidFill>
                  <a:srgbClr val="576873"/>
                </a:solidFill>
                <a:latin typeface="Yu Gothic"/>
              </a:rPr>
              <a:t>「はい」と言える項目はいくつ？　△の項目を今日の宿題に。</a:t>
            </a:r>
          </a:p>
        </p:txBody>
      </p:sp>
      <p:sp>
        <p:nvSpPr>
          <p:cNvPr id="9" name="Rounded Rectangle 8"/>
          <p:cNvSpPr/>
          <p:nvPr/>
        </p:nvSpPr>
        <p:spPr>
          <a:xfrm>
            <a:off x="640080" y="1965960"/>
            <a:ext cx="5349240" cy="23774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48840"/>
            <a:ext cx="4846320" cy="2103120"/>
          </a:xfrm>
          <a:prstGeom prst="rect">
            <a:avLst/>
          </a:prstGeom>
          <a:noFill/>
        </p:spPr>
        <p:txBody>
          <a:bodyPr wrap="square" anchor="t" lIns="25400" rIns="25400" tIns="25400" bIns="25400">
            <a:spAutoFit/>
          </a:bodyPr>
          <a:lstStyle/>
          <a:p>
            <a:pPr algn="l">
              <a:spcAft>
                <a:spcPts val="1000"/>
              </a:spcAft>
              <a:buNone/>
            </a:pPr>
            <a:r>
              <a:rPr sz="1500" b="1">
                <a:solidFill>
                  <a:srgbClr val="1B9A8B"/>
                </a:solidFill>
                <a:latin typeface="Yu Gothic"/>
              </a:rPr>
              <a:t>✔ </a:t>
            </a:r>
            <a:r>
              <a:rPr sz="1500" b="0">
                <a:solidFill>
                  <a:srgbClr val="212E38"/>
                </a:solidFill>
                <a:latin typeface="Yu Gothic"/>
              </a:rPr>
              <a:t>困難事例の受任を管理者・主任CMが判断する仕組みがある</a:t>
            </a:r>
          </a:p>
          <a:p>
            <a:pPr algn="l">
              <a:spcAft>
                <a:spcPts val="1000"/>
              </a:spcAft>
              <a:buNone/>
            </a:pPr>
            <a:r>
              <a:rPr sz="1500" b="1">
                <a:solidFill>
                  <a:srgbClr val="1B9A8B"/>
                </a:solidFill>
                <a:latin typeface="Yu Gothic"/>
              </a:rPr>
              <a:t>✔ </a:t>
            </a:r>
            <a:r>
              <a:rPr sz="1500" b="0">
                <a:solidFill>
                  <a:srgbClr val="212E38"/>
                </a:solidFill>
                <a:latin typeface="Yu Gothic"/>
              </a:rPr>
              <a:t>担当件数・難易度の偏りをチームで調整している</a:t>
            </a:r>
          </a:p>
          <a:p>
            <a:pPr algn="l">
              <a:spcAft>
                <a:spcPts val="1000"/>
              </a:spcAft>
              <a:buNone/>
            </a:pPr>
            <a:r>
              <a:rPr sz="1500" b="1">
                <a:solidFill>
                  <a:srgbClr val="1B9A8B"/>
                </a:solidFill>
                <a:latin typeface="Yu Gothic"/>
              </a:rPr>
              <a:t>✔ </a:t>
            </a:r>
            <a:r>
              <a:rPr sz="1500" b="0">
                <a:solidFill>
                  <a:srgbClr val="212E38"/>
                </a:solidFill>
                <a:latin typeface="Yu Gothic"/>
              </a:rPr>
              <a:t>主任CMによるSV（助言・同行）が機能している</a:t>
            </a:r>
          </a:p>
          <a:p>
            <a:pPr algn="l">
              <a:spcAft>
                <a:spcPts val="1000"/>
              </a:spcAft>
              <a:buNone/>
            </a:pPr>
            <a:r>
              <a:rPr sz="1500" b="1">
                <a:solidFill>
                  <a:srgbClr val="1B9A8B"/>
                </a:solidFill>
                <a:latin typeface="Yu Gothic"/>
              </a:rPr>
              <a:t>✔ </a:t>
            </a:r>
            <a:r>
              <a:rPr sz="1500" b="0">
                <a:solidFill>
                  <a:srgbClr val="212E38"/>
                </a:solidFill>
                <a:latin typeface="Yu Gothic"/>
              </a:rPr>
              <a:t>24時間連絡体制が事業所として整っている</a:t>
            </a:r>
          </a:p>
        </p:txBody>
      </p:sp>
      <p:sp>
        <p:nvSpPr>
          <p:cNvPr id="11" name="Rounded Rectangle 10"/>
          <p:cNvSpPr/>
          <p:nvPr/>
        </p:nvSpPr>
        <p:spPr>
          <a:xfrm>
            <a:off x="6263640" y="1965960"/>
            <a:ext cx="5349240" cy="237744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148840"/>
            <a:ext cx="4846320" cy="2103120"/>
          </a:xfrm>
          <a:prstGeom prst="rect">
            <a:avLst/>
          </a:prstGeom>
          <a:noFill/>
        </p:spPr>
        <p:txBody>
          <a:bodyPr wrap="square" anchor="t" lIns="25400" rIns="25400" tIns="25400" bIns="25400">
            <a:spAutoFit/>
          </a:bodyPr>
          <a:lstStyle/>
          <a:p>
            <a:pPr algn="l">
              <a:spcAft>
                <a:spcPts val="1000"/>
              </a:spcAft>
              <a:buNone/>
            </a:pPr>
            <a:r>
              <a:rPr sz="1500" b="1">
                <a:solidFill>
                  <a:srgbClr val="1B9A8B"/>
                </a:solidFill>
                <a:latin typeface="Yu Gothic"/>
              </a:rPr>
              <a:t>✔ </a:t>
            </a:r>
            <a:r>
              <a:rPr sz="1500" b="0">
                <a:solidFill>
                  <a:srgbClr val="212E38"/>
                </a:solidFill>
                <a:latin typeface="Yu Gothic"/>
              </a:rPr>
              <a:t>虐待・権利擁護の通報・連携ルートが明確</a:t>
            </a:r>
          </a:p>
          <a:p>
            <a:pPr algn="l">
              <a:spcAft>
                <a:spcPts val="1000"/>
              </a:spcAft>
              <a:buNone/>
            </a:pPr>
            <a:r>
              <a:rPr sz="1500" b="1">
                <a:solidFill>
                  <a:srgbClr val="1B9A8B"/>
                </a:solidFill>
                <a:latin typeface="Yu Gothic"/>
              </a:rPr>
              <a:t>✔ </a:t>
            </a:r>
            <a:r>
              <a:rPr sz="1500" b="0">
                <a:solidFill>
                  <a:srgbClr val="212E38"/>
                </a:solidFill>
                <a:latin typeface="Yu Gothic"/>
              </a:rPr>
              <a:t>研修計画に困難事例対応が位置づけられている</a:t>
            </a:r>
          </a:p>
          <a:p>
            <a:pPr algn="l">
              <a:spcAft>
                <a:spcPts val="1000"/>
              </a:spcAft>
              <a:buNone/>
            </a:pPr>
            <a:r>
              <a:rPr sz="1500" b="1">
                <a:solidFill>
                  <a:srgbClr val="1B9A8B"/>
                </a:solidFill>
                <a:latin typeface="Yu Gothic"/>
              </a:rPr>
              <a:t>✔ </a:t>
            </a:r>
            <a:r>
              <a:rPr sz="1500" b="0">
                <a:solidFill>
                  <a:srgbClr val="212E38"/>
                </a:solidFill>
                <a:latin typeface="Yu Gothic"/>
              </a:rPr>
              <a:t>他法人との事例検討会を実施している</a:t>
            </a:r>
          </a:p>
          <a:p>
            <a:pPr algn="l">
              <a:spcAft>
                <a:spcPts val="1000"/>
              </a:spcAft>
              <a:buNone/>
            </a:pPr>
            <a:r>
              <a:rPr sz="1500" b="1">
                <a:solidFill>
                  <a:srgbClr val="1B9A8B"/>
                </a:solidFill>
                <a:latin typeface="Yu Gothic"/>
              </a:rPr>
              <a:t>✔ </a:t>
            </a:r>
            <a:r>
              <a:rPr sz="1500" b="0">
                <a:solidFill>
                  <a:srgbClr val="212E38"/>
                </a:solidFill>
                <a:latin typeface="Yu Gothic"/>
              </a:rPr>
              <a:t>受任判断・SV・会議の記録が残っている</a:t>
            </a:r>
          </a:p>
        </p:txBody>
      </p:sp>
      <p:sp>
        <p:nvSpPr>
          <p:cNvPr id="13" name="Rounded Rectangle 12"/>
          <p:cNvSpPr/>
          <p:nvPr/>
        </p:nvSpPr>
        <p:spPr>
          <a:xfrm>
            <a:off x="640080" y="4572000"/>
            <a:ext cx="10881360" cy="1051560"/>
          </a:xfrm>
          <a:prstGeom prst="roundRect">
            <a:avLst>
              <a:gd name="adj" fmla="val 6000"/>
            </a:avLst>
          </a:prstGeom>
          <a:solidFill>
            <a:srgbClr val="FDF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572000"/>
            <a:ext cx="76200" cy="1051560"/>
          </a:xfrm>
          <a:prstGeom prst="rect">
            <a:avLst/>
          </a:prstGeom>
          <a:solidFill>
            <a:srgbClr val="E3B5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572000"/>
            <a:ext cx="10561320" cy="1051560"/>
          </a:xfrm>
          <a:prstGeom prst="rect">
            <a:avLst/>
          </a:prstGeom>
          <a:noFill/>
        </p:spPr>
        <p:txBody>
          <a:bodyPr wrap="square" anchor="ctr" lIns="25400" rIns="25400" tIns="25400" bIns="25400">
            <a:spAutoFit/>
          </a:bodyPr>
          <a:lstStyle/>
          <a:p>
            <a:pPr algn="l">
              <a:spcAft>
                <a:spcPts val="400"/>
              </a:spcAft>
              <a:buNone/>
            </a:pPr>
            <a:r>
              <a:rPr sz="1400" b="1">
                <a:solidFill>
                  <a:srgbClr val="E3B54A"/>
                </a:solidFill>
                <a:latin typeface="Yu Gothic"/>
              </a:rPr>
              <a:t>使い方：</a:t>
            </a:r>
            <a:r>
              <a:rPr sz="1400" b="0">
                <a:solidFill>
                  <a:srgbClr val="212E38"/>
                </a:solidFill>
                <a:latin typeface="Yu Gothic"/>
              </a:rPr>
              <a:t>各自で採点 → グループで「△を1つ、来月までにどう改善するか」を1つ決める。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lIns="25400" rIns="25400" tIns="25400" bIns="25400">
            <a:spAutoFit/>
          </a:bodyPr>
          <a:lstStyle/>
          <a:p>
            <a:pPr algn="l">
              <a:spcAft>
                <a:spcPts val="400"/>
              </a:spcAft>
              <a:buNone/>
            </a:pPr>
            <a:r>
              <a:rPr sz="1300" b="1">
                <a:solidFill>
                  <a:srgbClr val="1B9A8B"/>
                </a:solidFill>
                <a:latin typeface="Yu Gothic"/>
              </a:rPr>
              <a:t>SUMMARY</a:t>
            </a:r>
          </a:p>
        </p:txBody>
      </p:sp>
      <p:sp>
        <p:nvSpPr>
          <p:cNvPr id="4" name="Rectangle 3"/>
          <p:cNvSpPr/>
          <p:nvPr/>
        </p:nvSpPr>
        <p:spPr>
          <a:xfrm>
            <a:off x="640080" y="713232"/>
            <a:ext cx="101600" cy="566928"/>
          </a:xfrm>
          <a:prstGeom prst="rect">
            <a:avLst/>
          </a:prstGeom>
          <a:solidFill>
            <a:srgbClr val="1B9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658368"/>
            <a:ext cx="10607040" cy="731520"/>
          </a:xfrm>
          <a:prstGeom prst="rect">
            <a:avLst/>
          </a:prstGeom>
          <a:noFill/>
        </p:spPr>
        <p:txBody>
          <a:bodyPr wrap="square" anchor="t" lIns="25400" rIns="25400" tIns="25400" bIns="25400">
            <a:spAutoFit/>
          </a:bodyPr>
          <a:lstStyle/>
          <a:p>
            <a:pPr algn="l">
              <a:spcAft>
                <a:spcPts val="400"/>
              </a:spcAft>
              <a:buNone/>
            </a:pPr>
            <a:r>
              <a:rPr sz="2900" b="1">
                <a:solidFill>
                  <a:srgbClr val="10335C"/>
                </a:solidFill>
                <a:latin typeface="Yu Gothic"/>
              </a:rPr>
              <a:t>まとめ：加算IIの責任を事業所の支援力に</a:t>
            </a:r>
          </a:p>
        </p:txBody>
      </p:sp>
      <p:sp>
        <p:nvSpPr>
          <p:cNvPr id="6" name="TextBox 5"/>
          <p:cNvSpPr txBox="1"/>
          <p:nvPr/>
        </p:nvSpPr>
        <p:spPr>
          <a:xfrm>
            <a:off x="10607040" y="6446520"/>
            <a:ext cx="1371600" cy="320040"/>
          </a:xfrm>
          <a:prstGeom prst="rect">
            <a:avLst/>
          </a:prstGeom>
          <a:noFill/>
        </p:spPr>
        <p:txBody>
          <a:bodyPr wrap="square" anchor="t" lIns="25400" rIns="25400" tIns="25400" bIns="25400">
            <a:spAutoFit/>
          </a:bodyPr>
          <a:lstStyle/>
          <a:p>
            <a:pPr algn="r">
              <a:spcAft>
                <a:spcPts val="400"/>
              </a:spcAft>
              <a:buNone/>
            </a:pPr>
            <a:r>
              <a:rPr sz="1100" b="0">
                <a:solidFill>
                  <a:srgbClr val="576873"/>
                </a:solidFill>
                <a:latin typeface="Yu Gothic"/>
              </a:rPr>
              <a:t>21 / 22</a:t>
            </a:r>
          </a:p>
        </p:txBody>
      </p:sp>
      <p:sp>
        <p:nvSpPr>
          <p:cNvPr id="7" name="TextBox 6"/>
          <p:cNvSpPr txBox="1"/>
          <p:nvPr/>
        </p:nvSpPr>
        <p:spPr>
          <a:xfrm>
            <a:off x="640080" y="6446520"/>
            <a:ext cx="8229600" cy="320040"/>
          </a:xfrm>
          <a:prstGeom prst="rect">
            <a:avLst/>
          </a:prstGeom>
          <a:noFill/>
        </p:spPr>
        <p:txBody>
          <a:bodyPr wrap="square" anchor="t" lIns="25400" rIns="25400" tIns="25400" bIns="25400">
            <a:spAutoFit/>
          </a:bodyPr>
          <a:lstStyle/>
          <a:p>
            <a:pPr algn="l">
              <a:spcAft>
                <a:spcPts val="400"/>
              </a:spcAft>
              <a:buNone/>
            </a:pPr>
            <a:r>
              <a:rPr sz="1000" b="0">
                <a:solidFill>
                  <a:srgbClr val="576873"/>
                </a:solidFill>
                <a:latin typeface="Yu Gothic"/>
              </a:rPr>
              <a:t>特定事業所加算II 内部勉強会｜居宅介護支援・困難事例受け入れ体制</a:t>
            </a:r>
          </a:p>
        </p:txBody>
      </p:sp>
      <p:sp>
        <p:nvSpPr>
          <p:cNvPr id="8" name="Rounded Rectangle 7"/>
          <p:cNvSpPr/>
          <p:nvPr/>
        </p:nvSpPr>
        <p:spPr>
          <a:xfrm>
            <a:off x="640080" y="1554480"/>
            <a:ext cx="5349240" cy="310896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664208"/>
            <a:ext cx="4946904" cy="2926080"/>
          </a:xfrm>
          <a:prstGeom prst="rect">
            <a:avLst/>
          </a:prstGeom>
          <a:noFill/>
        </p:spPr>
        <p:txBody>
          <a:bodyPr wrap="square" anchor="t" lIns="25400" rIns="25400" tIns="25400" bIns="25400">
            <a:spAutoFit/>
          </a:bodyPr>
          <a:lstStyle/>
          <a:p>
            <a:pPr algn="l">
              <a:spcAft>
                <a:spcPts val="500"/>
              </a:spcAft>
              <a:buNone/>
            </a:pPr>
            <a:r>
              <a:rPr sz="1800" b="1">
                <a:solidFill>
                  <a:srgbClr val="216A8C"/>
                </a:solidFill>
                <a:latin typeface="Yu Gothic"/>
              </a:rPr>
              <a:t>今日のキーメッセージ</a:t>
            </a:r>
          </a:p>
          <a:p>
            <a:pPr algn="l" indent="-228600" marL="228600">
              <a:spcAft>
                <a:spcPts val="300"/>
              </a:spcAft>
              <a:buFont typeface="Yu Gothic"/>
              <a:buChar char="・"/>
            </a:pPr>
            <a:r>
              <a:rPr sz="1600" b="0">
                <a:solidFill>
                  <a:srgbClr val="212E38"/>
                </a:solidFill>
                <a:latin typeface="Yu Gothic"/>
              </a:rPr>
              <a:t>困難事例の受け入れは加算IIの根幹（要件）</a:t>
            </a:r>
          </a:p>
          <a:p>
            <a:pPr algn="l" indent="-228600" marL="228600">
              <a:spcAft>
                <a:spcPts val="300"/>
              </a:spcAft>
              <a:buFont typeface="Yu Gothic"/>
              <a:buChar char="・"/>
            </a:pPr>
            <a:r>
              <a:rPr sz="1600" b="0">
                <a:solidFill>
                  <a:srgbClr val="212E38"/>
                </a:solidFill>
                <a:latin typeface="Yu Gothic"/>
              </a:rPr>
              <a:t>受任は5ステップで組織判断、担当一人で抱えない</a:t>
            </a:r>
          </a:p>
          <a:p>
            <a:pPr algn="l" indent="-228600" marL="228600">
              <a:spcAft>
                <a:spcPts val="300"/>
              </a:spcAft>
              <a:buFont typeface="Yu Gothic"/>
              <a:buChar char="・"/>
            </a:pPr>
            <a:r>
              <a:rPr sz="1600" b="0">
                <a:solidFill>
                  <a:srgbClr val="212E38"/>
                </a:solidFill>
                <a:latin typeface="Yu Gothic"/>
              </a:rPr>
              <a:t>「一人で判断しない・つないで受ける・記録で残す」</a:t>
            </a:r>
          </a:p>
          <a:p>
            <a:pPr algn="l" indent="-228600" marL="228600">
              <a:spcAft>
                <a:spcPts val="300"/>
              </a:spcAft>
              <a:buFont typeface="Yu Gothic"/>
              <a:buChar char="・"/>
            </a:pPr>
            <a:r>
              <a:rPr sz="1600" b="0">
                <a:solidFill>
                  <a:srgbClr val="212E38"/>
                </a:solidFill>
                <a:latin typeface="Yu Gothic"/>
              </a:rPr>
              <a:t>主任CMのSV・会議・研修・記録が再現性を生む</a:t>
            </a:r>
          </a:p>
        </p:txBody>
      </p:sp>
      <p:sp>
        <p:nvSpPr>
          <p:cNvPr id="10" name="Rounded Rectangle 9"/>
          <p:cNvSpPr/>
          <p:nvPr/>
        </p:nvSpPr>
        <p:spPr>
          <a:xfrm>
            <a:off x="6263640" y="1554480"/>
            <a:ext cx="5349240" cy="3108960"/>
          </a:xfrm>
          <a:prstGeom prst="roundRect">
            <a:avLst>
              <a:gd name="adj" fmla="val 6000"/>
            </a:avLst>
          </a:prstGeom>
          <a:solidFill>
            <a:srgbClr val="FFFFFF"/>
          </a:solidFill>
          <a:ln w="12700">
            <a:solidFill>
              <a:srgbClr val="D4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19072"/>
            <a:ext cx="4892040" cy="2834640"/>
          </a:xfrm>
          <a:prstGeom prst="rect">
            <a:avLst/>
          </a:prstGeom>
          <a:noFill/>
        </p:spPr>
        <p:txBody>
          <a:bodyPr wrap="square" anchor="t" lIns="25400" rIns="25400" tIns="25400" bIns="25400">
            <a:spAutoFit/>
          </a:bodyPr>
          <a:lstStyle/>
          <a:p>
            <a:pPr algn="l">
              <a:spcAft>
                <a:spcPts val="400"/>
              </a:spcAft>
              <a:buNone/>
            </a:pPr>
            <a:r>
              <a:rPr sz="1800" b="1">
                <a:solidFill>
                  <a:srgbClr val="216A8C"/>
                </a:solidFill>
                <a:latin typeface="Yu Gothic"/>
              </a:rPr>
              <a:t>明日からのアクション宣言</a:t>
            </a:r>
          </a:p>
          <a:p>
            <a:pPr algn="l">
              <a:spcAft>
                <a:spcPts val="600"/>
              </a:spcAft>
              <a:buNone/>
            </a:pPr>
            <a:r>
              <a:rPr sz="1300" b="0">
                <a:solidFill>
                  <a:srgbClr val="576873"/>
                </a:solidFill>
                <a:latin typeface="Yu Gothic"/>
              </a:rPr>
              <a:t>グループで1つずつ発表してください。</a:t>
            </a:r>
          </a:p>
          <a:p>
            <a:pPr algn="l">
              <a:spcAft>
                <a:spcPts val="400"/>
              </a:spcAft>
              <a:buNone/>
            </a:pPr>
            <a:r>
              <a:rPr sz="1600" b="0">
                <a:solidFill>
                  <a:srgbClr val="212E38"/>
                </a:solidFill>
                <a:latin typeface="Yu Gothic"/>
              </a:rPr>
              <a:t>・私の事業所が次に整えるのは「　　　　　」</a:t>
            </a:r>
          </a:p>
          <a:p>
            <a:pPr algn="l">
              <a:spcAft>
                <a:spcPts val="800"/>
              </a:spcAft>
              <a:buNone/>
            </a:pPr>
            <a:r>
              <a:rPr sz="1600" b="0">
                <a:solidFill>
                  <a:srgbClr val="212E38"/>
                </a:solidFill>
                <a:latin typeface="Yu Gothic"/>
              </a:rPr>
              <a:t>・私が個人として変えるのは「　　　　　」</a:t>
            </a:r>
          </a:p>
        </p:txBody>
      </p:sp>
      <p:sp>
        <p:nvSpPr>
          <p:cNvPr id="12" name="Rounded Rectangle 11"/>
          <p:cNvSpPr/>
          <p:nvPr/>
        </p:nvSpPr>
        <p:spPr>
          <a:xfrm>
            <a:off x="6492240" y="3840480"/>
            <a:ext cx="4892040" cy="685800"/>
          </a:xfrm>
          <a:prstGeom prst="roundRect">
            <a:avLst>
              <a:gd name="adj" fmla="val 6000"/>
            </a:avLst>
          </a:prstGeom>
          <a:solidFill>
            <a:srgbClr val="E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86200"/>
            <a:ext cx="4617720" cy="594360"/>
          </a:xfrm>
          <a:prstGeom prst="rect">
            <a:avLst/>
          </a:prstGeom>
          <a:noFill/>
        </p:spPr>
        <p:txBody>
          <a:bodyPr wrap="square" anchor="ctr" lIns="25400" rIns="25400" tIns="25400" bIns="25400">
            <a:spAutoFit/>
          </a:bodyPr>
          <a:lstStyle/>
          <a:p>
            <a:pPr algn="l">
              <a:spcAft>
                <a:spcPts val="400"/>
              </a:spcAft>
              <a:buNone/>
            </a:pPr>
            <a:r>
              <a:rPr sz="1500" b="0">
                <a:solidFill>
                  <a:srgbClr val="212E38"/>
                </a:solidFill>
                <a:latin typeface="Yu Gothic"/>
              </a:rPr>
              <a:t>小さな一歩を、必ず</a:t>
            </a:r>
            <a:r>
              <a:rPr sz="1500" b="1">
                <a:solidFill>
                  <a:srgbClr val="1B9A8B"/>
                </a:solidFill>
                <a:latin typeface="Yu Gothic"/>
              </a:rPr>
              <a:t>仕組み（手順・記録）</a:t>
            </a:r>
            <a:r>
              <a:rPr sz="1500" b="0">
                <a:solidFill>
                  <a:srgbClr val="212E38"/>
                </a:solidFill>
                <a:latin typeface="Yu Gothic"/>
              </a:rPr>
              <a:t>に落とす。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a:gsLst>
              <a:gs pos="0">
                <a:srgbClr val="10335C"/>
              </a:gs>
              <a:gs pos="100000">
                <a:srgbClr val="1B9A8B"/>
              </a:gs>
            </a:gsLst>
            <a:lin ang="27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15600" cy="1371600"/>
          </a:xfrm>
          <a:prstGeom prst="rect">
            <a:avLst/>
          </a:prstGeom>
          <a:noFill/>
        </p:spPr>
        <p:txBody>
          <a:bodyPr wrap="square" anchor="t" lIns="25400" rIns="25400" tIns="25400" bIns="25400">
            <a:spAutoFit/>
          </a:bodyPr>
          <a:lstStyle/>
          <a:p>
            <a:pPr algn="l">
              <a:spcAft>
                <a:spcPts val="1000"/>
              </a:spcAft>
              <a:buNone/>
            </a:pPr>
            <a:r>
              <a:rPr sz="4000" b="1">
                <a:solidFill>
                  <a:srgbClr val="FFFFFF"/>
                </a:solidFill>
                <a:latin typeface="Yu Gothic"/>
              </a:rPr>
              <a:t>ご清聴ありがとうございました</a:t>
            </a:r>
          </a:p>
          <a:p>
            <a:pPr algn="l">
              <a:spcAft>
                <a:spcPts val="400"/>
              </a:spcAft>
              <a:buNone/>
            </a:pPr>
            <a:r>
              <a:rPr sz="2000" b="1">
                <a:solidFill>
                  <a:srgbClr val="E3B54A"/>
                </a:solidFill>
                <a:latin typeface="Yu Gothic"/>
              </a:rPr>
              <a:t>「断れない」のではなく、「組織で困難事例を受けきれる」事業所へ。</a:t>
            </a:r>
          </a:p>
        </p:txBody>
      </p:sp>
      <p:sp>
        <p:nvSpPr>
          <p:cNvPr id="4" name="TextBox 3"/>
          <p:cNvSpPr txBox="1"/>
          <p:nvPr/>
        </p:nvSpPr>
        <p:spPr>
          <a:xfrm>
            <a:off x="822960" y="4297680"/>
            <a:ext cx="10515600" cy="1463040"/>
          </a:xfrm>
          <a:prstGeom prst="rect">
            <a:avLst/>
          </a:prstGeom>
          <a:noFill/>
        </p:spPr>
        <p:txBody>
          <a:bodyPr wrap="square" anchor="t" lIns="25400" rIns="25400" tIns="25400" bIns="25400">
            <a:spAutoFit/>
          </a:bodyPr>
          <a:lstStyle/>
          <a:p>
            <a:pPr algn="l">
              <a:spcAft>
                <a:spcPts val="800"/>
              </a:spcAft>
              <a:buNone/>
            </a:pPr>
            <a:r>
              <a:rPr sz="1800" b="0">
                <a:solidFill>
                  <a:srgbClr val="CFE0EE"/>
                </a:solidFill>
                <a:latin typeface="Yu Gothic"/>
              </a:rPr>
              <a:t>質疑・ディスカッションタイム</a:t>
            </a:r>
          </a:p>
          <a:p>
            <a:pPr algn="l">
              <a:spcAft>
                <a:spcPts val="400"/>
              </a:spcAft>
              <a:buNone/>
            </a:pPr>
            <a:r>
              <a:rPr sz="1200" b="0">
                <a:solidFill>
                  <a:srgbClr val="CFE0EE"/>
                </a:solidFill>
                <a:latin typeface="Yu Gothic"/>
              </a:rPr>
              <a:t>※本資料の要件・人員数・割合等は、運用前に最新の介護報酬告示・解釈通知でご確認ください。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