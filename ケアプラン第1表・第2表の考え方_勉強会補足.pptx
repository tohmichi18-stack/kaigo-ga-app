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0335C"/>
              </a:gs>
              <a:gs pos="100000">
                <a:srgbClr val="1B9A8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5852160" cy="457200"/>
          </a:xfrm>
          <a:prstGeom prst="roundRect">
            <a:avLst/>
          </a:prstGeom>
          <a:solidFill>
            <a:srgbClr val="215576"/>
          </a:solidFill>
          <a:ln w="12700">
            <a:solidFill>
              <a:srgbClr val="8F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400" b="1">
                <a:solidFill>
                  <a:srgbClr val="FFFFFF"/>
                </a:solidFill>
                <a:latin typeface="Yu Gothic"/>
              </a:rPr>
              <a:t>居宅介護支援 勉強会 補足資料（ケアマネジメント深掘り編）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4400" b="1">
                <a:solidFill>
                  <a:srgbClr val="FFFFFF"/>
                </a:solidFill>
                <a:latin typeface="Yu Gothic"/>
              </a:rPr>
              <a:t>ケアプラン第1表・第2表の考え方</a:t>
            </a:r>
          </a:p>
          <a:p>
            <a:pPr algn="l">
              <a:spcAft>
                <a:spcPts val="400"/>
              </a:spcAft>
              <a:buNone/>
            </a:pPr>
            <a:r>
              <a:rPr sz="2000" b="1">
                <a:solidFill>
                  <a:srgbClr val="E3B54A"/>
                </a:solidFill>
                <a:latin typeface="Yu Gothic"/>
              </a:rPr>
              <a:t>～ 意向から始まり、ニーズ・目標・サービスへ一本の線でつなぐ 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CFE0EE"/>
                </a:solidFill>
                <a:latin typeface="Yu Gothic"/>
              </a:rPr>
              <a:t>対象：介護支援専門員・主任介護支援専門員　／　困難事例にも通じるケアプランの基本を再確認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居宅サービス計画書の全体像と第1表・第2表の役割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補足｜ケアプラン第1表・第2表の考え方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>
                <a:solidFill>
                  <a:srgbClr val="576873"/>
                </a:solidFill>
                <a:latin typeface="Yu Gothic"/>
              </a:rPr>
              <a:t>居宅サービス計画書は複数の帳票で構成される。中でも第1表・第2表が計画の「背骨」。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6F5F2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121407"/>
            <a:ext cx="1097280" cy="420624"/>
          </a:xfrm>
          <a:prstGeom prst="round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FFFFFF"/>
                </a:solidFill>
                <a:latin typeface="Yu Gothic"/>
              </a:rPr>
              <a:t>第1表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65959"/>
            <a:ext cx="27432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1500" b="1">
                <a:solidFill>
                  <a:srgbClr val="10335C"/>
                </a:solidFill>
                <a:latin typeface="Yu Gothic"/>
              </a:rPr>
              <a:t>居宅サービス計画書(1)</a:t>
            </a:r>
          </a:p>
          <a:p>
            <a:pPr algn="l">
              <a:spcAft>
                <a:spcPts val="400"/>
              </a:spcAft>
              <a:buNone/>
            </a:pPr>
            <a:r>
              <a:rPr sz="1200" b="1">
                <a:solidFill>
                  <a:srgbClr val="216A8C"/>
                </a:solidFill>
                <a:latin typeface="Yu Gothic"/>
              </a:rPr>
              <a:t>意向・方針・全体像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65959"/>
            <a:ext cx="64008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>
                <a:solidFill>
                  <a:srgbClr val="212E38"/>
                </a:solidFill>
                <a:latin typeface="Yu Gothic"/>
              </a:rPr>
              <a:t>本人/家族の意向、総合的な援助の方針、認定情報、同意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62071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6F5F2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108959"/>
            <a:ext cx="1097280" cy="420624"/>
          </a:xfrm>
          <a:prstGeom prst="round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FFFFFF"/>
                </a:solidFill>
                <a:latin typeface="Yu Gothic"/>
              </a:rPr>
              <a:t>第2表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953511"/>
            <a:ext cx="27432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1500" b="1">
                <a:solidFill>
                  <a:srgbClr val="10335C"/>
                </a:solidFill>
                <a:latin typeface="Yu Gothic"/>
              </a:rPr>
              <a:t>居宅サービス計画書(2)</a:t>
            </a:r>
          </a:p>
          <a:p>
            <a:pPr algn="l">
              <a:spcAft>
                <a:spcPts val="400"/>
              </a:spcAft>
              <a:buNone/>
            </a:pPr>
            <a:r>
              <a:rPr sz="1200" b="1">
                <a:solidFill>
                  <a:srgbClr val="216A8C"/>
                </a:solidFill>
                <a:latin typeface="Yu Gothic"/>
              </a:rPr>
              <a:t>課題・目標・サービス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953511"/>
            <a:ext cx="64008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>
                <a:solidFill>
                  <a:srgbClr val="212E38"/>
                </a:solidFill>
                <a:latin typeface="Yu Gothic"/>
              </a:rPr>
              <a:t>生活全般の解決すべき課題（ニーズ）、長期/短期目標、援助内容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9623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096511"/>
            <a:ext cx="1097280" cy="420624"/>
          </a:xfrm>
          <a:prstGeom prst="roundRect">
            <a:avLst/>
          </a:prstGeom>
          <a:solidFill>
            <a:srgbClr val="576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FFFFFF"/>
                </a:solidFill>
                <a:latin typeface="Yu Gothic"/>
              </a:rPr>
              <a:t>第3表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941063"/>
            <a:ext cx="27432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1500" b="1">
                <a:solidFill>
                  <a:srgbClr val="10335C"/>
                </a:solidFill>
                <a:latin typeface="Yu Gothic"/>
              </a:rPr>
              <a:t>週間サービス計画表</a:t>
            </a:r>
          </a:p>
          <a:p>
            <a:pPr algn="l">
              <a:spcAft>
                <a:spcPts val="400"/>
              </a:spcAft>
              <a:buNone/>
            </a:pPr>
            <a:r>
              <a:rPr sz="1200" b="1">
                <a:solidFill>
                  <a:srgbClr val="216A8C"/>
                </a:solidFill>
                <a:latin typeface="Yu Gothic"/>
              </a:rPr>
              <a:t>1週間の組み立て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941063"/>
            <a:ext cx="64008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>
                <a:solidFill>
                  <a:srgbClr val="212E38"/>
                </a:solidFill>
                <a:latin typeface="Yu Gothic"/>
              </a:rPr>
              <a:t>曜日・時間ごとのサービスと主な日常生活上の活動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37175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5084063"/>
            <a:ext cx="1097280" cy="420624"/>
          </a:xfrm>
          <a:prstGeom prst="roundRect">
            <a:avLst/>
          </a:prstGeom>
          <a:solidFill>
            <a:srgbClr val="576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500" b="1">
                <a:solidFill>
                  <a:srgbClr val="FFFFFF"/>
                </a:solidFill>
                <a:latin typeface="Yu Gothic"/>
              </a:rPr>
              <a:t>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928615"/>
            <a:ext cx="27432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1500" b="1">
                <a:solidFill>
                  <a:srgbClr val="10335C"/>
                </a:solidFill>
                <a:latin typeface="Yu Gothic"/>
              </a:rPr>
              <a:t>第4〜7表ほか</a:t>
            </a:r>
          </a:p>
          <a:p>
            <a:pPr algn="l">
              <a:spcAft>
                <a:spcPts val="400"/>
              </a:spcAft>
              <a:buNone/>
            </a:pPr>
            <a:r>
              <a:rPr sz="1200" b="1">
                <a:solidFill>
                  <a:srgbClr val="216A8C"/>
                </a:solidFill>
                <a:latin typeface="Yu Gothic"/>
              </a:rPr>
              <a:t>会議・経過・給付管理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928615"/>
            <a:ext cx="64008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>
                <a:solidFill>
                  <a:srgbClr val="212E38"/>
                </a:solidFill>
                <a:latin typeface="Yu Gothic"/>
              </a:rPr>
              <a:t>担当者会議記録、支援経過、利用票・別表 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PRINCIPLE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最重要原則：第1表から第2表へ「一本の線」でつなぐ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補足｜ケアプラン第1表・第2表の考え方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>
                <a:solidFill>
                  <a:srgbClr val="212E38"/>
                </a:solidFill>
                <a:latin typeface="Yu Gothic"/>
              </a:rPr>
              <a:t>良いケアプランは各欄がバラバラでなく、</a:t>
            </a:r>
            <a:r>
              <a:rPr sz="1600" b="1">
                <a:solidFill>
                  <a:srgbClr val="D96A4A"/>
                </a:solidFill>
                <a:latin typeface="Yu Gothic"/>
              </a:rPr>
              <a:t>意向 → 方針 → ニーズ → 目標 → サービスが論理的につながっている。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8288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16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1554480" cy="457200"/>
          </a:xfrm>
          <a:prstGeom prst="roundRect">
            <a:avLst/>
          </a:prstGeom>
          <a:solidFill>
            <a:srgbClr val="21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600" b="1">
                <a:solidFill>
                  <a:srgbClr val="FFFFFF"/>
                </a:solidFill>
                <a:latin typeface="Yu Gothic"/>
              </a:rPr>
              <a:t>意向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164592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>
                <a:solidFill>
                  <a:srgbClr val="212E38"/>
                </a:solidFill>
                <a:latin typeface="Yu Gothic"/>
              </a:rPr>
              <a:t>第1表
本人・家族の望む暮らし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50592" y="2871216"/>
            <a:ext cx="470916" cy="201168"/>
          </a:xfrm>
          <a:prstGeom prst="right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03220" y="2194560"/>
            <a:ext cx="18288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16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40380" y="2331720"/>
            <a:ext cx="1554480" cy="457200"/>
          </a:xfrm>
          <a:prstGeom prst="roundRect">
            <a:avLst/>
          </a:prstGeom>
          <a:solidFill>
            <a:srgbClr val="21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600" b="1">
                <a:solidFill>
                  <a:srgbClr val="FFFFFF"/>
                </a:solidFill>
                <a:latin typeface="Yu Gothic"/>
              </a:rPr>
              <a:t>方針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4660" y="2880360"/>
            <a:ext cx="164592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>
                <a:solidFill>
                  <a:srgbClr val="212E38"/>
                </a:solidFill>
                <a:latin typeface="Yu Gothic"/>
              </a:rPr>
              <a:t>第1表
総合的な援助の方針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13732" y="2871216"/>
            <a:ext cx="470916" cy="201168"/>
          </a:xfrm>
          <a:prstGeom prst="right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66360" y="2194560"/>
            <a:ext cx="18288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B9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03520" y="2331720"/>
            <a:ext cx="1554480" cy="457200"/>
          </a:xfrm>
          <a:prstGeom prst="round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600" b="1">
                <a:solidFill>
                  <a:srgbClr val="FFFFFF"/>
                </a:solidFill>
                <a:latin typeface="Yu Gothic"/>
              </a:rPr>
              <a:t>ニーズ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880360"/>
            <a:ext cx="164592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>
                <a:solidFill>
                  <a:srgbClr val="212E38"/>
                </a:solidFill>
                <a:latin typeface="Yu Gothic"/>
              </a:rPr>
              <a:t>第2表
解決すべき課題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76872" y="2871216"/>
            <a:ext cx="470916" cy="201168"/>
          </a:xfrm>
          <a:prstGeom prst="right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29500" y="2194560"/>
            <a:ext cx="18288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B9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66660" y="2331720"/>
            <a:ext cx="1554480" cy="457200"/>
          </a:xfrm>
          <a:prstGeom prst="round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600" b="1">
                <a:solidFill>
                  <a:srgbClr val="FFFFFF"/>
                </a:solidFill>
                <a:latin typeface="Yu Gothic"/>
              </a:rPr>
              <a:t>目標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0940" y="2880360"/>
            <a:ext cx="164592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>
                <a:solidFill>
                  <a:srgbClr val="212E38"/>
                </a:solidFill>
                <a:latin typeface="Yu Gothic"/>
              </a:rPr>
              <a:t>第2表
長期・短期目標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40012" y="2871216"/>
            <a:ext cx="470916" cy="201168"/>
          </a:xfrm>
          <a:prstGeom prst="right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2194560"/>
            <a:ext cx="18288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B9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29800" y="2331720"/>
            <a:ext cx="1554480" cy="457200"/>
          </a:xfrm>
          <a:prstGeom prst="round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600" b="1">
                <a:solidFill>
                  <a:srgbClr val="FFFFFF"/>
                </a:solidFill>
                <a:latin typeface="Yu Gothic"/>
              </a:rPr>
              <a:t>サービス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880360"/>
            <a:ext cx="164592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>
                <a:solidFill>
                  <a:srgbClr val="212E38"/>
                </a:solidFill>
                <a:latin typeface="Yu Gothic"/>
              </a:rPr>
              <a:t>第2表
援助内容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11480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114800"/>
            <a:ext cx="76200" cy="1280160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114800"/>
            <a:ext cx="1056132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点検の問い：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「このサービスは、どの目標のため？ その目標はどのニーズを解決する？ そのニーズは本人の意向とつながっている？」を逆向きにたどれるか。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FORM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第1表の構成と各欄の考え方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補足｜ケアプラン第1表・第2表の考え方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89204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700" b="1">
                <a:solidFill>
                  <a:srgbClr val="216A8C"/>
                </a:solidFill>
                <a:latin typeface="Yu Gothic"/>
              </a:rPr>
              <a:t>利用者・家族の生活に対する意向</a:t>
            </a:r>
          </a:p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本人と家族、それぞれの「こうありたい暮らし」。サービス名でなく生活の言葉で。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489204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700" b="1">
                <a:solidFill>
                  <a:srgbClr val="216A8C"/>
                </a:solidFill>
                <a:latin typeface="Yu Gothic"/>
              </a:rPr>
              <a:t>総合的な援助の方針</a:t>
            </a:r>
          </a:p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チーム全員の羅針盤。誰が・何を目指し・緊急時はどうするかを共有。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22192"/>
            <a:ext cx="489204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700" b="1">
                <a:solidFill>
                  <a:srgbClr val="216A8C"/>
                </a:solidFill>
                <a:latin typeface="Yu Gothic"/>
              </a:rPr>
              <a:t>介護認定審査会の意見／
サービスの種類の指定</a:t>
            </a:r>
          </a:p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意見が付されていれば計画に反映。指定がある場合はその範囲で。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657600"/>
            <a:ext cx="5349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22192"/>
            <a:ext cx="489204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700" b="1">
                <a:solidFill>
                  <a:srgbClr val="216A8C"/>
                </a:solidFill>
                <a:latin typeface="Yu Gothic"/>
              </a:rPr>
              <a:t>課題分析の結果・同意等</a:t>
            </a:r>
          </a:p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アセスメント結果の総括。利用者の同意・説明日・交付を確実に。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FORM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第1表①　利用者・家族の意向の考え方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補足｜ケアプラン第1表・第2表の考え方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216A8C"/>
                </a:solidFill>
                <a:latin typeface="Yu Gothic"/>
              </a:rPr>
              <a:t>押さえる視点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本人の言葉・思いを主語にする（本人と家族は分けて）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「〜したい」という生活・人生レベルの願い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サービス利用が前提の表現にしない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意思表示が難しい人は意思決定支援の視点で代弁・推定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ここがケアプラン全体の出発点になる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89204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>
                <a:solidFill>
                  <a:srgbClr val="216A8C"/>
                </a:solidFill>
                <a:latin typeface="Yu Gothic"/>
              </a:rPr>
              <a:t>書きぶりの例</a:t>
            </a:r>
          </a:p>
          <a:p>
            <a:pPr algn="l">
              <a:spcAft>
                <a:spcPts val="200"/>
              </a:spcAft>
              <a:buNone/>
            </a:pPr>
            <a:r>
              <a:rPr sz="1400" b="1">
                <a:solidFill>
                  <a:srgbClr val="D96A4A"/>
                </a:solidFill>
                <a:latin typeface="Yu Gothic"/>
              </a:rPr>
              <a:t>△ </a:t>
            </a:r>
            <a:r>
              <a:rPr sz="1400" b="0">
                <a:solidFill>
                  <a:srgbClr val="212E38"/>
                </a:solidFill>
                <a:latin typeface="Yu Gothic"/>
              </a:rPr>
              <a:t>「デイサービスを週2回利用したい」</a:t>
            </a:r>
          </a:p>
          <a:p>
            <a:pPr algn="l">
              <a:spcAft>
                <a:spcPts val="800"/>
              </a:spcAft>
              <a:buNone/>
            </a:pPr>
            <a:r>
              <a:rPr sz="1200" b="0">
                <a:solidFill>
                  <a:srgbClr val="576873"/>
                </a:solidFill>
                <a:latin typeface="Yu Gothic"/>
              </a:rPr>
              <a:t>（＝サービスありき。意向ではなく手段）</a:t>
            </a:r>
          </a:p>
          <a:p>
            <a:pPr algn="l">
              <a:spcAft>
                <a:spcPts val="2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○ </a:t>
            </a:r>
            <a:r>
              <a:rPr sz="1400" b="0">
                <a:solidFill>
                  <a:srgbClr val="212E38"/>
                </a:solidFill>
                <a:latin typeface="Yu Gothic"/>
              </a:rPr>
              <a:t>本人：「転ばないように歩けるようになり、また畑仕事をしたい」</a:t>
            </a:r>
          </a:p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○ </a:t>
            </a:r>
            <a:r>
              <a:rPr sz="1400" b="0">
                <a:solidFill>
                  <a:srgbClr val="212E38"/>
                </a:solidFill>
                <a:latin typeface="Yu Gothic"/>
              </a:rPr>
              <a:t>家族：「日中も安心して仕事に行けるようにしたい」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D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434840"/>
            <a:ext cx="76200" cy="914400"/>
          </a:xfrm>
          <a:prstGeom prst="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1056132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3B54A"/>
                </a:solidFill>
                <a:latin typeface="Yu Gothic"/>
              </a:rPr>
              <a:t>ポイント：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意向は第2表のニーズ・目標へ直結する。ここがサービス名で埋まると、計画全体が「サービス調整表」になってしまう。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FORM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第1表②　総合的な援助の方針の考え方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補足｜ケアプラン第1表・第2表の考え方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216A8C"/>
                </a:solidFill>
                <a:latin typeface="Yu Gothic"/>
              </a:rPr>
              <a:t>この欄の役割＝チームの羅針盤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利用者像と支援の方向性をチームで共有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誰が中心に、何を目指して関わるか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本人の強み・本人にできることも明記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困難事例ほど方針の言語化が支援をそろえる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664208"/>
            <a:ext cx="4946904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B9A8B"/>
                </a:solidFill>
                <a:latin typeface="Yu Gothic"/>
              </a:rPr>
              <a:t>必ず盛り込みたい要素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緊急時・急変時の連絡体制と対応方針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医療との連携（主治医・訪問看護の役割）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想定されるリスクと予防の方針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権利擁護・意思決定支援の視点（必要時）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434840"/>
            <a:ext cx="76200" cy="914400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1056132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困難事例での要点：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支援拒否・虐待・看取り等では、緊急時対応と多職種の役割をこの欄に明記。方針が共有されていれば、担当が代わっても支援がぶれない。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FORM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第2表の構成と各欄の考え方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補足｜ケアプラン第1表・第2表の考え方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>
                <a:solidFill>
                  <a:srgbClr val="576873"/>
                </a:solidFill>
                <a:latin typeface="Yu Gothic"/>
              </a:rPr>
              <a:t>第2表は「課題（ニーズ）→ 目標 →（援助内容）」の対応関係が一目で読めることが命。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101600" cy="1143000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217419"/>
            <a:ext cx="457200" cy="457200"/>
          </a:xfrm>
          <a:prstGeom prst="ellipse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84247"/>
            <a:ext cx="9692640" cy="9235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>
                <a:solidFill>
                  <a:srgbClr val="10335C"/>
                </a:solidFill>
                <a:latin typeface="Yu Gothic"/>
              </a:rPr>
              <a:t>生活全般の解決すべき課題（ニーズ）</a:t>
            </a:r>
          </a:p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本人が望む生活と現状のギャップ。本人主体・ICFの視点で。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27247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27247"/>
            <a:ext cx="101600" cy="1143000"/>
          </a:xfrm>
          <a:prstGeom prst="rect">
            <a:avLst/>
          </a:prstGeom>
          <a:solidFill>
            <a:srgbClr val="21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470147"/>
            <a:ext cx="457200" cy="457200"/>
          </a:xfrm>
          <a:prstGeom prst="ellipse">
            <a:avLst/>
          </a:prstGeom>
          <a:solidFill>
            <a:srgbClr val="21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36975"/>
            <a:ext cx="9692640" cy="9235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>
                <a:solidFill>
                  <a:srgbClr val="10335C"/>
                </a:solidFill>
                <a:latin typeface="Yu Gothic"/>
              </a:rPr>
              <a:t>長期目標／短期目標（と期間）</a:t>
            </a:r>
          </a:p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ニーズが解決・改善した状態。評価できる具体性と期間を。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9975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379975"/>
            <a:ext cx="101600" cy="1143000"/>
          </a:xfrm>
          <a:prstGeom prst="rect">
            <a:avLst/>
          </a:prstGeom>
          <a:solidFill>
            <a:srgbClr val="21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4722875"/>
            <a:ext cx="457200" cy="457200"/>
          </a:xfrm>
          <a:prstGeom prst="ellipse">
            <a:avLst/>
          </a:prstGeom>
          <a:solidFill>
            <a:srgbClr val="21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489703"/>
            <a:ext cx="9692640" cy="9235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>
                <a:solidFill>
                  <a:srgbClr val="10335C"/>
                </a:solidFill>
                <a:latin typeface="Yu Gothic"/>
              </a:rPr>
              <a:t>援助内容（サービス内容・種別・頻度・期間）</a:t>
            </a:r>
          </a:p>
          <a:p>
            <a:pPr algn="l">
              <a:spcAft>
                <a:spcPts val="400"/>
              </a:spcAft>
              <a:buNone/>
            </a:pPr>
            <a:r>
              <a:rPr sz="1400" b="0">
                <a:solidFill>
                  <a:srgbClr val="212E38"/>
                </a:solidFill>
                <a:latin typeface="Yu Gothic"/>
              </a:rPr>
              <a:t>目標達成の手段。保険給付外・インフォーマルも記載。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FORM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第2表①　生活全般の解決すべき課題（ニーズ）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補足｜ケアプラン第1表・第2表の考え方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2514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1B9A8B"/>
                </a:solidFill>
                <a:latin typeface="Yu Gothic"/>
              </a:rPr>
              <a:t>ニーズの捉え方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「望む生活」と「現状」のギャップが課題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心身機能だけでなく活動・参加・環境（ICF）で捉える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本人の困りごと・本人の言葉を起点に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できないこと探しでなく、強み・できることも見る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原因→結果の構造で整理（なぜ困っているか）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892040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>
                <a:solidFill>
                  <a:srgbClr val="216A8C"/>
                </a:solidFill>
                <a:latin typeface="Yu Gothic"/>
              </a:rPr>
              <a:t>書きぶりの例</a:t>
            </a:r>
          </a:p>
          <a:p>
            <a:pPr algn="l">
              <a:spcAft>
                <a:spcPts val="800"/>
              </a:spcAft>
              <a:buNone/>
            </a:pPr>
            <a:r>
              <a:rPr sz="1400" b="1">
                <a:solidFill>
                  <a:srgbClr val="D96A4A"/>
                </a:solidFill>
                <a:latin typeface="Yu Gothic"/>
              </a:rPr>
              <a:t>△ </a:t>
            </a:r>
            <a:r>
              <a:rPr sz="1400" b="0">
                <a:solidFill>
                  <a:srgbClr val="212E38"/>
                </a:solidFill>
                <a:latin typeface="Yu Gothic"/>
              </a:rPr>
              <a:t>「歩行が不安定」（＝状態・課題分析の断片）</a:t>
            </a:r>
          </a:p>
          <a:p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○ </a:t>
            </a:r>
            <a:r>
              <a:rPr sz="1400" b="0">
                <a:solidFill>
                  <a:srgbClr val="212E38"/>
                </a:solidFill>
                <a:latin typeface="Yu Gothic"/>
              </a:rPr>
              <a:t>「転倒の不安なく歩けるようになり、自分で買い物に行けるようになりたい」</a:t>
            </a:r>
          </a:p>
          <a:p>
            <a:pPr algn="l">
              <a:spcAft>
                <a:spcPts val="400"/>
              </a:spcAft>
              <a:buNone/>
            </a:pPr>
            <a:r>
              <a:rPr sz="1200" b="0">
                <a:solidFill>
                  <a:srgbClr val="576873"/>
                </a:solidFill>
                <a:latin typeface="Yu Gothic"/>
              </a:rPr>
              <a:t>→ 望む生活が見え、目標・サービスが導ける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8056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D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480560"/>
            <a:ext cx="76200" cy="868680"/>
          </a:xfrm>
          <a:prstGeom prst="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105613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3B54A"/>
                </a:solidFill>
                <a:latin typeface="Yu Gothic"/>
              </a:rPr>
              <a:t>注意：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ニーズを「サービスが必要」と書かない（例：×訪問介護が必要）。それは手段。課題は本人の生活の言葉で。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FORM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第2表②　長期目標・短期目標と期間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補足｜ケアプラン第1表・第2表の考え方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2514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216A8C"/>
                </a:solidFill>
                <a:latin typeface="Yu Gothic"/>
              </a:rPr>
              <a:t>目標設定の考え方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長期目標＝ニーズが解決・改善した状態（ゴール）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短期目標＝長期目標への段階・足がかり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本人が主語／達成度を評価できる表現で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「期間」は認定有効期間等もふまえ現実的に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本人が見て「やってみよう」と思える言葉に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892040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>
                <a:solidFill>
                  <a:srgbClr val="216A8C"/>
                </a:solidFill>
                <a:latin typeface="Yu Gothic"/>
              </a:rPr>
              <a:t>長期 → 短期の例</a:t>
            </a:r>
          </a:p>
          <a:p>
            <a:pPr algn="l">
              <a:spcAft>
                <a:spcPts val="800"/>
              </a:spcAft>
              <a:buNone/>
            </a:pPr>
            <a:r>
              <a:rPr sz="1400" b="1">
                <a:solidFill>
                  <a:srgbClr val="216A8C"/>
                </a:solidFill>
                <a:latin typeface="Yu Gothic"/>
              </a:rPr>
              <a:t>長期：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「一人で近所のスーパーまで買い物に行ける」（6か月）</a:t>
            </a:r>
          </a:p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短期：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「見守りがあれば家の中を伝い歩きできる」（2か月）</a:t>
            </a:r>
          </a:p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短期：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「下肢筋力が向上し、玄関の段差をまたげる」（3か月）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8056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D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480560"/>
            <a:ext cx="76200" cy="868680"/>
          </a:xfrm>
          <a:prstGeom prst="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105613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3B54A"/>
                </a:solidFill>
                <a:latin typeface="Yu Gothic"/>
              </a:rPr>
              <a:t>ポイント：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「〜の支援を受ける」は目標でなくサービス。目標は“本人がどうなるか”。評価日に達成を判定できる粒度にする。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FORM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第2表③　援助内容（サービス内容・種別・頻度・期間）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補足｜ケアプラン第1表・第2表の考え方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2514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216A8C"/>
                </a:solidFill>
                <a:latin typeface="Yu Gothic"/>
              </a:rPr>
              <a:t>記載の考え方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短期目標を達成するための具体的な手段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「サービス内容」は何をするかを具体的に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保険給付対象か（※印）を区別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種別・事業所・頻度・期間を明確に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家族・近隣・インフォーマル資源も書く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892040" cy="2468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00" b="1">
                <a:solidFill>
                  <a:srgbClr val="216A8C"/>
                </a:solidFill>
                <a:latin typeface="Yu Gothic"/>
              </a:rPr>
              <a:t>考え方のコツ</a:t>
            </a:r>
          </a:p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・</a:t>
            </a:r>
            <a:r>
              <a:rPr sz="1400" b="0">
                <a:solidFill>
                  <a:srgbClr val="212E38"/>
                </a:solidFill>
                <a:latin typeface="Yu Gothic"/>
              </a:rPr>
              <a:t>「短期目標」と援助内容が1対1で対応しているか</a:t>
            </a:r>
          </a:p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・</a:t>
            </a:r>
            <a:r>
              <a:rPr sz="1400" b="0">
                <a:solidFill>
                  <a:srgbClr val="212E38"/>
                </a:solidFill>
                <a:latin typeface="Yu Gothic"/>
              </a:rPr>
              <a:t>フォーマルサービスだけで埋めない（自助・互助も）</a:t>
            </a:r>
          </a:p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・</a:t>
            </a:r>
            <a:r>
              <a:rPr sz="1400" b="0">
                <a:solidFill>
                  <a:srgbClr val="212E38"/>
                </a:solidFill>
                <a:latin typeface="Yu Gothic"/>
              </a:rPr>
              <a:t>本人・家族が担う役割も明記し、自立を支える</a:t>
            </a:r>
          </a:p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・</a:t>
            </a:r>
            <a:r>
              <a:rPr sz="1400" b="0">
                <a:solidFill>
                  <a:srgbClr val="212E38"/>
                </a:solidFill>
                <a:latin typeface="Yu Gothic"/>
              </a:rPr>
              <a:t>頻度・期間はモニタリングで見直す前提で設定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8056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480560"/>
            <a:ext cx="76200" cy="868680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105613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1B9A8B"/>
                </a:solidFill>
                <a:latin typeface="Yu Gothic"/>
              </a:rPr>
              <a:t>一貫性の確認：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援助内容 →（達成する）短期目標 →（解決する）ニーズ →（実現する）意向、と下から上へ説明できればOK。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通し事例：第1表・第2表を一本の線でつなぐ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補足｜ケアプラン第1表・第2表の考え方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576873"/>
                </a:solidFill>
                <a:latin typeface="Yu Gothic"/>
              </a:rPr>
              <a:t>Aさん（要介護2・脳梗塞後の右麻痺・独居）。「また自分で料理を作りたい」という思い。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975104"/>
            <a:ext cx="2103120" cy="402336"/>
          </a:xfrm>
          <a:prstGeom prst="roundRect">
            <a:avLst/>
          </a:prstGeom>
          <a:solidFill>
            <a:srgbClr val="21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300" b="1">
                <a:solidFill>
                  <a:srgbClr val="FFFFFF"/>
                </a:solidFill>
                <a:latin typeface="Yu Gothic"/>
              </a:rPr>
              <a:t>第1表 意向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28800"/>
            <a:ext cx="8229600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本人：また自分で簡単な料理を作り、自分の生活を続けたい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783080" y="2551176"/>
            <a:ext cx="182880" cy="91440"/>
          </a:xfrm>
          <a:prstGeom prst="down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624328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816352"/>
            <a:ext cx="2103120" cy="402336"/>
          </a:xfrm>
          <a:prstGeom prst="roundRect">
            <a:avLst/>
          </a:prstGeom>
          <a:solidFill>
            <a:srgbClr val="216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300" b="1">
                <a:solidFill>
                  <a:srgbClr val="FFFFFF"/>
                </a:solidFill>
                <a:latin typeface="Yu Gothic"/>
              </a:rPr>
              <a:t>第1表 方針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670048"/>
            <a:ext cx="8229600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残存機能を活かし、できることを増やしながら独居生活を支える。緊急時は長女と訪問看護に連絡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783080" y="3392424"/>
            <a:ext cx="182880" cy="91440"/>
          </a:xfrm>
          <a:prstGeom prst="down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465576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657600"/>
            <a:ext cx="2103120" cy="402336"/>
          </a:xfrm>
          <a:prstGeom prst="round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300" b="1">
                <a:solidFill>
                  <a:srgbClr val="FFFFFF"/>
                </a:solidFill>
                <a:latin typeface="Yu Gothic"/>
              </a:rPr>
              <a:t>第2表 ニーズ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511296"/>
            <a:ext cx="8229600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右手が使いにくく台所に立つのが不安。安全に調理を再開して自分らしく暮らしたい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783080" y="4233672"/>
            <a:ext cx="182880" cy="91440"/>
          </a:xfrm>
          <a:prstGeom prst="down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306824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498848"/>
            <a:ext cx="2103120" cy="402336"/>
          </a:xfrm>
          <a:prstGeom prst="round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300" b="1">
                <a:solidFill>
                  <a:srgbClr val="FFFFFF"/>
                </a:solidFill>
                <a:latin typeface="Yu Gothic"/>
              </a:rPr>
              <a:t>第2表 目標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352544"/>
            <a:ext cx="8229600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短期：手すりと自助具を使い座って調理ができる（3か月）／長期：見守りで一食分を作れる（6か月）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783080" y="5074920"/>
            <a:ext cx="182880" cy="91440"/>
          </a:xfrm>
          <a:prstGeom prst="downArrow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5148072"/>
            <a:ext cx="1088136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5340096"/>
            <a:ext cx="2103120" cy="402336"/>
          </a:xfrm>
          <a:prstGeom prst="round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buNone/>
            </a:pPr>
            <a:r>
              <a:rPr sz="1300" b="1">
                <a:solidFill>
                  <a:srgbClr val="5A4500"/>
                </a:solidFill>
                <a:latin typeface="Yu Gothic"/>
              </a:rPr>
              <a:t>第2表 援助内容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193792"/>
            <a:ext cx="8229600" cy="69494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訪問リハ（調理動作訓練・週1）／福祉用具（自助具）／訪問介護（共に調理・見守り）／長女の声かけ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DIFFICULT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困難事例における第1表・第2表のポイント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補足｜ケアプラン第1表・第2表の考え方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01600" cy="1691640"/>
          </a:xfrm>
          <a:prstGeom prst="rect">
            <a:avLst/>
          </a:prstGeom>
          <a:solidFill>
            <a:srgbClr val="D9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484632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>
                <a:solidFill>
                  <a:srgbClr val="10335C"/>
                </a:solidFill>
                <a:latin typeface="Yu Gothic"/>
              </a:rPr>
              <a:t>支援拒否のあるケース</a:t>
            </a:r>
          </a:p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意向は「拒否」でなく背景にある思いを探る。方針に関係構築の段階と緊急時を明記。目標は小さく刻む。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101600" cy="1691640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19072"/>
            <a:ext cx="484632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>
                <a:solidFill>
                  <a:srgbClr val="10335C"/>
                </a:solidFill>
                <a:latin typeface="Yu Gothic"/>
              </a:rPr>
              <a:t>認知症・意思決定支援</a:t>
            </a:r>
          </a:p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意思の推定・代弁の根拠を残す。本人の言葉を可能な限り記載。方針に権利擁護の視点を。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044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20440"/>
            <a:ext cx="101600" cy="1691640"/>
          </a:xfrm>
          <a:prstGeom prst="rect">
            <a:avLst/>
          </a:prstGeom>
          <a:solidFill>
            <a:srgbClr val="D96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85032"/>
            <a:ext cx="484632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>
                <a:solidFill>
                  <a:srgbClr val="10335C"/>
                </a:solidFill>
                <a:latin typeface="Yu Gothic"/>
              </a:rPr>
              <a:t>虐待・複合課題世帯</a:t>
            </a:r>
          </a:p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本人と家族の意向を分けて記載。方針に多機関連携・通報体制。家族支援もニーズに位置づける。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20440"/>
            <a:ext cx="101600" cy="1691640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685032"/>
            <a:ext cx="484632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>
                <a:solidFill>
                  <a:srgbClr val="10335C"/>
                </a:solidFill>
                <a:latin typeface="Yu Gothic"/>
              </a:rPr>
              <a:t>看取り・医療依存</a:t>
            </a:r>
          </a:p>
          <a:p>
            <a:pPr algn="l">
              <a:spcAft>
                <a:spcPts val="400"/>
              </a:spcAft>
              <a:buNone/>
            </a:pPr>
            <a:r>
              <a:rPr sz="1350" b="0">
                <a:solidFill>
                  <a:srgbClr val="212E38"/>
                </a:solidFill>
                <a:latin typeface="Yu Gothic"/>
              </a:rPr>
              <a:t>本人の意向（ACP）を中心に。方針に急変時対応・医療連携を明確化。目標・期間は状態変化に応じ柔軟に。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D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120640"/>
            <a:ext cx="76200" cy="868680"/>
          </a:xfrm>
          <a:prstGeom prst="rect">
            <a:avLst/>
          </a:prstGeom>
          <a:solidFill>
            <a:srgbClr val="E3B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1056132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E3B54A"/>
                </a:solidFill>
                <a:latin typeface="Yu Gothic"/>
              </a:rPr>
              <a:t>共通：</a:t>
            </a:r>
            <a:r>
              <a:rPr sz="1400" b="0">
                <a:solidFill>
                  <a:srgbClr val="212E38"/>
                </a:solidFill>
                <a:latin typeface="Yu Gothic"/>
              </a:rPr>
              <a:t>困難事例ほど、第1表「総合的な援助の方針」に緊急時・連携・権利擁護を書き、チームと多職種で方針を共有することが要。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>
                <a:solidFill>
                  <a:srgbClr val="1B9A8B"/>
                </a:solidFill>
                <a:latin typeface="Yu Gothic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1600" cy="566928"/>
          </a:xfrm>
          <a:prstGeom prst="rect">
            <a:avLst/>
          </a:prstGeom>
          <a:solidFill>
            <a:srgbClr val="1B9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>
                <a:solidFill>
                  <a:srgbClr val="10335C"/>
                </a:solidFill>
                <a:latin typeface="Yu Gothic"/>
              </a:rPr>
              <a:t>まとめ：ケアプラン点検の視点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>
                <a:solidFill>
                  <a:srgbClr val="576873"/>
                </a:solidFill>
                <a:latin typeface="Yu Gothic"/>
              </a:rPr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576873"/>
                </a:solidFill>
                <a:latin typeface="Yu Gothic"/>
              </a:rPr>
              <a:t>居宅介護支援 勉強会 補足｜ケアプラン第1表・第2表の考え方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349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8"/>
            <a:ext cx="4946904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1800" b="1">
                <a:solidFill>
                  <a:srgbClr val="216A8C"/>
                </a:solidFill>
                <a:latin typeface="Yu Gothic"/>
              </a:rPr>
              <a:t>セルフチェック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意向がサービス名でなく生活の言葉になっているか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意向→方針→ニーズ→目標→サービスが一本でつながるか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ニーズが本人主体・ICFの視点で書けているか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目標は本人が主語で、評価できる具体性があるか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援助内容にインフォーマル資源も入っているか</a:t>
            </a:r>
          </a:p>
          <a:p>
            <a:pPr algn="l" indent="-228600" marL="228600">
              <a:spcAft>
                <a:spcPts val="300"/>
              </a:spcAft>
              <a:buFont typeface="Yu Gothic"/>
              <a:buChar char="・"/>
            </a:pPr>
            <a:r>
              <a:rPr sz="1400" b="0">
                <a:solidFill>
                  <a:srgbClr val="212E38"/>
                </a:solidFill>
                <a:latin typeface="Yu Gothic"/>
              </a:rPr>
              <a:t>困難事例で方針に緊急時・連携・権利擁護があるか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892040" cy="3017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800" b="1">
                <a:solidFill>
                  <a:srgbClr val="216A8C"/>
                </a:solidFill>
                <a:latin typeface="Yu Gothic"/>
              </a:rPr>
              <a:t>キーメッセージ</a:t>
            </a:r>
          </a:p>
          <a:p>
            <a:pPr algn="l">
              <a:spcAft>
                <a:spcPts val="1000"/>
              </a:spcAft>
              <a:buNone/>
            </a:pPr>
            <a:r>
              <a:rPr sz="1500" b="0">
                <a:solidFill>
                  <a:srgbClr val="212E38"/>
                </a:solidFill>
                <a:latin typeface="Yu Gothic"/>
              </a:rPr>
              <a:t>ケアプランは「サービス調整表」ではなく</a:t>
            </a:r>
            <a:r>
              <a:rPr sz="1500" b="1">
                <a:solidFill>
                  <a:srgbClr val="D96A4A"/>
                </a:solidFill>
                <a:latin typeface="Yu Gothic"/>
              </a:rPr>
              <a:t>本人の望む暮らしの設計図</a:t>
            </a:r>
            <a:r>
              <a:rPr sz="1500" b="0">
                <a:solidFill>
                  <a:srgbClr val="212E38"/>
                </a:solidFill>
                <a:latin typeface="Yu Gothic"/>
              </a:rPr>
              <a:t>。</a:t>
            </a:r>
          </a:p>
          <a:p>
            <a:pPr algn="l">
              <a:spcAft>
                <a:spcPts val="1000"/>
              </a:spcAft>
              <a:buNone/>
            </a:pPr>
            <a:r>
              <a:rPr sz="1500" b="0">
                <a:solidFill>
                  <a:srgbClr val="212E38"/>
                </a:solidFill>
                <a:latin typeface="Yu Gothic"/>
              </a:rPr>
              <a:t>第1表で“どこを目指すか”を共有し、第2表で“どう実現するか”を具体化する。</a:t>
            </a:r>
          </a:p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212E38"/>
                </a:solidFill>
                <a:latin typeface="Yu Gothic"/>
              </a:rPr>
              <a:t>この一貫性こそ、困難事例でもチームがぶれずに支援できる土台になる。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7492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074920"/>
            <a:ext cx="76200" cy="777240"/>
          </a:xfrm>
          <a:prstGeom prst="rect">
            <a:avLst/>
          </a:prstGeom>
          <a:solidFill>
            <a:srgbClr val="576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56132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>
                <a:solidFill>
                  <a:srgbClr val="576873"/>
                </a:solidFill>
                <a:latin typeface="Yu Gothic"/>
              </a:rPr>
              <a:t>※</a:t>
            </a:r>
            <a:r>
              <a:rPr sz="1400" b="0">
                <a:solidFill>
                  <a:srgbClr val="576873"/>
                </a:solidFill>
                <a:latin typeface="Yu Gothic"/>
              </a:rPr>
              <a:t>帳票様式・記載要領の詳細は、最新の「介護サービス計画書の様式及び課題分析標準項目」等の通知でご確認ください。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