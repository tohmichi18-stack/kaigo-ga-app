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20640"/>
            <a:ext cx="12191695" cy="13716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49240"/>
            <a:ext cx="12191695"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6600" b="1">
                <a:solidFill>
                  <a:srgbClr val="FFFFFF"/>
                </a:solidFill>
                <a:latin typeface="Yu Gothic"/>
              </a:rPr>
              <a:t>ヤングケアラー</a:t>
            </a:r>
          </a:p>
        </p:txBody>
      </p:sp>
      <p:sp>
        <p:nvSpPr>
          <p:cNvPr id="6" name="TextBox 5"/>
          <p:cNvSpPr txBox="1"/>
          <p:nvPr/>
        </p:nvSpPr>
        <p:spPr>
          <a:xfrm>
            <a:off x="731520" y="2377440"/>
            <a:ext cx="10698480" cy="640080"/>
          </a:xfrm>
          <a:prstGeom prst="rect">
            <a:avLst/>
          </a:prstGeom>
          <a:noFill/>
        </p:spPr>
        <p:txBody>
          <a:bodyPr wrap="square" lIns="0" rIns="0" tIns="0" bIns="0" anchor="t">
            <a:spAutoFit/>
          </a:bodyPr>
          <a:lstStyle/>
          <a:p>
            <a:pPr algn="l"/>
            <a:r>
              <a:rPr sz="2400" b="0">
                <a:solidFill>
                  <a:srgbClr val="F28C28"/>
                </a:solidFill>
                <a:latin typeface="Yu Gothic"/>
              </a:rPr>
              <a:t>Young Carers / Young Caregivers</a:t>
            </a:r>
          </a:p>
        </p:txBody>
      </p:sp>
      <p:sp>
        <p:nvSpPr>
          <p:cNvPr id="7" name="TextBox 6"/>
          <p:cNvSpPr txBox="1"/>
          <p:nvPr/>
        </p:nvSpPr>
        <p:spPr>
          <a:xfrm>
            <a:off x="731520" y="3291840"/>
            <a:ext cx="10698480" cy="1280160"/>
          </a:xfrm>
          <a:prstGeom prst="rect">
            <a:avLst/>
          </a:prstGeom>
          <a:noFill/>
        </p:spPr>
        <p:txBody>
          <a:bodyPr wrap="square" lIns="0" rIns="0" tIns="0" bIns="0" anchor="t">
            <a:spAutoFit/>
          </a:bodyPr>
          <a:lstStyle/>
          <a:p>
            <a:pPr algn="l"/>
            <a:r>
              <a:rPr sz="2800" b="0">
                <a:solidFill>
                  <a:srgbClr val="FFFFFF"/>
                </a:solidFill>
                <a:latin typeface="Yu Gothic"/>
              </a:rPr>
              <a:t>家族の世話を担う子どもたちを</a:t>
            </a:r>
          </a:p>
          <a:p>
            <a:pPr algn="l"/>
            <a:r>
              <a:rPr sz="2800" b="0">
                <a:solidFill>
                  <a:srgbClr val="FFFFFF"/>
                </a:solidFill>
                <a:latin typeface="Yu Gothic"/>
              </a:rPr>
              <a:t>どう理解し、どう支えるか</a:t>
            </a:r>
          </a:p>
        </p:txBody>
      </p:sp>
      <p:sp>
        <p:nvSpPr>
          <p:cNvPr id="8" name="TextBox 7"/>
          <p:cNvSpPr txBox="1"/>
          <p:nvPr/>
        </p:nvSpPr>
        <p:spPr>
          <a:xfrm>
            <a:off x="731520" y="5852160"/>
            <a:ext cx="10698480" cy="365760"/>
          </a:xfrm>
          <a:prstGeom prst="rect">
            <a:avLst/>
          </a:prstGeom>
          <a:noFill/>
        </p:spPr>
        <p:txBody>
          <a:bodyPr wrap="square" lIns="0" rIns="0" tIns="0" bIns="0" anchor="t">
            <a:spAutoFit/>
          </a:bodyPr>
          <a:lstStyle/>
          <a:p>
            <a:pPr algn="l"/>
            <a:r>
              <a:rPr sz="1400" b="0">
                <a:solidFill>
                  <a:srgbClr val="F5F7FA"/>
                </a:solidFill>
                <a:latin typeface="Yu Gothic"/>
              </a:rPr>
              <a:t>2026年5月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058400" cy="640080"/>
          </a:xfrm>
          <a:prstGeom prst="rect">
            <a:avLst/>
          </a:prstGeom>
          <a:noFill/>
        </p:spPr>
        <p:txBody>
          <a:bodyPr wrap="square" lIns="0" rIns="0" tIns="0" bIns="0" anchor="ctr">
            <a:spAutoFit/>
          </a:bodyPr>
          <a:lstStyle/>
          <a:p>
            <a:pPr algn="l"/>
            <a:r>
              <a:rPr sz="2800" b="1">
                <a:solidFill>
                  <a:srgbClr val="FFFFFF"/>
                </a:solidFill>
                <a:latin typeface="Yu Gothic"/>
              </a:rPr>
              <a:t>目次</a:t>
            </a:r>
          </a:p>
        </p:txBody>
      </p:sp>
      <p:sp>
        <p:nvSpPr>
          <p:cNvPr id="5" name="TextBox 4"/>
          <p:cNvSpPr txBox="1"/>
          <p:nvPr/>
        </p:nvSpPr>
        <p:spPr>
          <a:xfrm>
            <a:off x="10789920" y="292608"/>
            <a:ext cx="1188720" cy="457200"/>
          </a:xfrm>
          <a:prstGeom prst="rect">
            <a:avLst/>
          </a:prstGeom>
          <a:noFill/>
        </p:spPr>
        <p:txBody>
          <a:bodyPr wrap="square" lIns="0" rIns="0" tIns="0" bIns="0" anchor="t">
            <a:spAutoFit/>
          </a:bodyPr>
          <a:lstStyle/>
          <a:p>
            <a:pPr algn="r"/>
            <a:r>
              <a:rPr sz="1200" b="0">
                <a:solidFill>
                  <a:srgbClr val="FFFFFF"/>
                </a:solidFill>
                <a:latin typeface="Yu Gothic"/>
              </a:rPr>
              <a:t>2 / 12</a:t>
            </a:r>
          </a:p>
        </p:txBody>
      </p:sp>
      <p:sp>
        <p:nvSpPr>
          <p:cNvPr id="6" name="Rectangle 5"/>
          <p:cNvSpPr/>
          <p:nvPr/>
        </p:nvSpPr>
        <p:spPr>
          <a:xfrm>
            <a:off x="0" y="960120"/>
            <a:ext cx="12191695"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058400" cy="320040"/>
          </a:xfrm>
          <a:prstGeom prst="rect">
            <a:avLst/>
          </a:prstGeom>
          <a:noFill/>
        </p:spPr>
        <p:txBody>
          <a:bodyPr wrap="square" lIns="0" rIns="0" tIns="0" bIns="0" anchor="t">
            <a:spAutoFit/>
          </a:bodyPr>
          <a:lstStyle/>
          <a:p>
            <a:pPr algn="l"/>
            <a:r>
              <a:rPr sz="1000" b="0">
                <a:solidFill>
                  <a:srgbClr val="667080"/>
                </a:solidFill>
                <a:latin typeface="Yu Gothic"/>
              </a:rPr>
              <a:t>ヤングケアラーを知る・支える</a:t>
            </a:r>
          </a:p>
        </p:txBody>
      </p:sp>
      <p:sp>
        <p:nvSpPr>
          <p:cNvPr id="8" name="Rounded Rectangle 7"/>
          <p:cNvSpPr/>
          <p:nvPr/>
        </p:nvSpPr>
        <p:spPr>
          <a:xfrm>
            <a:off x="640080" y="146304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63040"/>
            <a:ext cx="640080" cy="640080"/>
          </a:xfrm>
          <a:prstGeom prst="rect">
            <a:avLst/>
          </a:prstGeom>
          <a:noFill/>
        </p:spPr>
        <p:txBody>
          <a:bodyPr wrap="square" lIns="0" rIns="0" tIns="0" bIns="0" anchor="ctr">
            <a:spAutoFit/>
          </a:bodyPr>
          <a:lstStyle/>
          <a:p>
            <a:pPr algn="ctr"/>
            <a:r>
              <a:rPr sz="1800" b="1">
                <a:solidFill>
                  <a:srgbClr val="FFFFFF"/>
                </a:solidFill>
                <a:latin typeface="Yu Gothic"/>
              </a:rPr>
              <a:t>01</a:t>
            </a:r>
          </a:p>
        </p:txBody>
      </p:sp>
      <p:sp>
        <p:nvSpPr>
          <p:cNvPr id="10" name="TextBox 9"/>
          <p:cNvSpPr txBox="1"/>
          <p:nvPr/>
        </p:nvSpPr>
        <p:spPr>
          <a:xfrm>
            <a:off x="1463040" y="1508760"/>
            <a:ext cx="4572000" cy="548640"/>
          </a:xfrm>
          <a:prstGeom prst="rect">
            <a:avLst/>
          </a:prstGeom>
          <a:noFill/>
        </p:spPr>
        <p:txBody>
          <a:bodyPr wrap="square" lIns="0" rIns="0" tIns="0" bIns="0" anchor="ctr">
            <a:spAutoFit/>
          </a:bodyPr>
          <a:lstStyle/>
          <a:p>
            <a:pPr algn="l"/>
            <a:r>
              <a:rPr sz="1800" b="1">
                <a:solidFill>
                  <a:srgbClr val="222B3A"/>
                </a:solidFill>
                <a:latin typeface="Yu Gothic"/>
              </a:rPr>
              <a:t>ヤングケアラーとは</a:t>
            </a:r>
          </a:p>
        </p:txBody>
      </p:sp>
      <p:sp>
        <p:nvSpPr>
          <p:cNvPr id="11" name="Rounded Rectangle 10"/>
          <p:cNvSpPr/>
          <p:nvPr/>
        </p:nvSpPr>
        <p:spPr>
          <a:xfrm>
            <a:off x="640080" y="233172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331720"/>
            <a:ext cx="640080" cy="640080"/>
          </a:xfrm>
          <a:prstGeom prst="rect">
            <a:avLst/>
          </a:prstGeom>
          <a:noFill/>
        </p:spPr>
        <p:txBody>
          <a:bodyPr wrap="square" lIns="0" rIns="0" tIns="0" bIns="0" anchor="ctr">
            <a:spAutoFit/>
          </a:bodyPr>
          <a:lstStyle/>
          <a:p>
            <a:pPr algn="ctr"/>
            <a:r>
              <a:rPr sz="1800" b="1">
                <a:solidFill>
                  <a:srgbClr val="FFFFFF"/>
                </a:solidFill>
                <a:latin typeface="Yu Gothic"/>
              </a:rPr>
              <a:t>02</a:t>
            </a:r>
          </a:p>
        </p:txBody>
      </p:sp>
      <p:sp>
        <p:nvSpPr>
          <p:cNvPr id="13" name="TextBox 12"/>
          <p:cNvSpPr txBox="1"/>
          <p:nvPr/>
        </p:nvSpPr>
        <p:spPr>
          <a:xfrm>
            <a:off x="1463040" y="2377440"/>
            <a:ext cx="4572000" cy="548640"/>
          </a:xfrm>
          <a:prstGeom prst="rect">
            <a:avLst/>
          </a:prstGeom>
          <a:noFill/>
        </p:spPr>
        <p:txBody>
          <a:bodyPr wrap="square" lIns="0" rIns="0" tIns="0" bIns="0" anchor="ctr">
            <a:spAutoFit/>
          </a:bodyPr>
          <a:lstStyle/>
          <a:p>
            <a:pPr algn="l"/>
            <a:r>
              <a:rPr sz="1800" b="1">
                <a:solidFill>
                  <a:srgbClr val="222B3A"/>
                </a:solidFill>
                <a:latin typeface="Yu Gothic"/>
              </a:rPr>
              <a:t>どんなケアをしているのか</a:t>
            </a:r>
          </a:p>
        </p:txBody>
      </p:sp>
      <p:sp>
        <p:nvSpPr>
          <p:cNvPr id="14" name="Rounded Rectangle 13"/>
          <p:cNvSpPr/>
          <p:nvPr/>
        </p:nvSpPr>
        <p:spPr>
          <a:xfrm>
            <a:off x="640080" y="320040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00400"/>
            <a:ext cx="640080" cy="640080"/>
          </a:xfrm>
          <a:prstGeom prst="rect">
            <a:avLst/>
          </a:prstGeom>
          <a:noFill/>
        </p:spPr>
        <p:txBody>
          <a:bodyPr wrap="square" lIns="0" rIns="0" tIns="0" bIns="0" anchor="ctr">
            <a:spAutoFit/>
          </a:bodyPr>
          <a:lstStyle/>
          <a:p>
            <a:pPr algn="ctr"/>
            <a:r>
              <a:rPr sz="1800" b="1">
                <a:solidFill>
                  <a:srgbClr val="FFFFFF"/>
                </a:solidFill>
                <a:latin typeface="Yu Gothic"/>
              </a:rPr>
              <a:t>03</a:t>
            </a:r>
          </a:p>
        </p:txBody>
      </p:sp>
      <p:sp>
        <p:nvSpPr>
          <p:cNvPr id="16" name="TextBox 15"/>
          <p:cNvSpPr txBox="1"/>
          <p:nvPr/>
        </p:nvSpPr>
        <p:spPr>
          <a:xfrm>
            <a:off x="1463040" y="3246120"/>
            <a:ext cx="4572000" cy="548640"/>
          </a:xfrm>
          <a:prstGeom prst="rect">
            <a:avLst/>
          </a:prstGeom>
          <a:noFill/>
        </p:spPr>
        <p:txBody>
          <a:bodyPr wrap="square" lIns="0" rIns="0" tIns="0" bIns="0" anchor="ctr">
            <a:spAutoFit/>
          </a:bodyPr>
          <a:lstStyle/>
          <a:p>
            <a:pPr algn="l"/>
            <a:r>
              <a:rPr sz="1800" b="1">
                <a:solidFill>
                  <a:srgbClr val="222B3A"/>
                </a:solidFill>
                <a:latin typeface="Yu Gothic"/>
              </a:rPr>
              <a:t>日本における現状（統計）</a:t>
            </a:r>
          </a:p>
        </p:txBody>
      </p:sp>
      <p:sp>
        <p:nvSpPr>
          <p:cNvPr id="17" name="Rounded Rectangle 16"/>
          <p:cNvSpPr/>
          <p:nvPr/>
        </p:nvSpPr>
        <p:spPr>
          <a:xfrm>
            <a:off x="640080" y="406908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69080"/>
            <a:ext cx="640080" cy="640080"/>
          </a:xfrm>
          <a:prstGeom prst="rect">
            <a:avLst/>
          </a:prstGeom>
          <a:noFill/>
        </p:spPr>
        <p:txBody>
          <a:bodyPr wrap="square" lIns="0" rIns="0" tIns="0" bIns="0" anchor="ctr">
            <a:spAutoFit/>
          </a:bodyPr>
          <a:lstStyle/>
          <a:p>
            <a:pPr algn="ctr"/>
            <a:r>
              <a:rPr sz="1800" b="1">
                <a:solidFill>
                  <a:srgbClr val="FFFFFF"/>
                </a:solidFill>
                <a:latin typeface="Yu Gothic"/>
              </a:rPr>
              <a:t>04</a:t>
            </a:r>
          </a:p>
        </p:txBody>
      </p:sp>
      <p:sp>
        <p:nvSpPr>
          <p:cNvPr id="19" name="TextBox 18"/>
          <p:cNvSpPr txBox="1"/>
          <p:nvPr/>
        </p:nvSpPr>
        <p:spPr>
          <a:xfrm>
            <a:off x="1463040" y="4114800"/>
            <a:ext cx="4572000" cy="548640"/>
          </a:xfrm>
          <a:prstGeom prst="rect">
            <a:avLst/>
          </a:prstGeom>
          <a:noFill/>
        </p:spPr>
        <p:txBody>
          <a:bodyPr wrap="square" lIns="0" rIns="0" tIns="0" bIns="0" anchor="ctr">
            <a:spAutoFit/>
          </a:bodyPr>
          <a:lstStyle/>
          <a:p>
            <a:pPr algn="l"/>
            <a:r>
              <a:rPr sz="1800" b="1">
                <a:solidFill>
                  <a:srgbClr val="222B3A"/>
                </a:solidFill>
                <a:latin typeface="Yu Gothic"/>
              </a:rPr>
              <a:t>背景にある社会的要因</a:t>
            </a:r>
          </a:p>
        </p:txBody>
      </p:sp>
      <p:sp>
        <p:nvSpPr>
          <p:cNvPr id="20" name="Rounded Rectangle 19"/>
          <p:cNvSpPr/>
          <p:nvPr/>
        </p:nvSpPr>
        <p:spPr>
          <a:xfrm>
            <a:off x="640080" y="493776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937760"/>
            <a:ext cx="640080" cy="640080"/>
          </a:xfrm>
          <a:prstGeom prst="rect">
            <a:avLst/>
          </a:prstGeom>
          <a:noFill/>
        </p:spPr>
        <p:txBody>
          <a:bodyPr wrap="square" lIns="0" rIns="0" tIns="0" bIns="0" anchor="ctr">
            <a:spAutoFit/>
          </a:bodyPr>
          <a:lstStyle/>
          <a:p>
            <a:pPr algn="ctr"/>
            <a:r>
              <a:rPr sz="1800" b="1">
                <a:solidFill>
                  <a:srgbClr val="FFFFFF"/>
                </a:solidFill>
                <a:latin typeface="Yu Gothic"/>
              </a:rPr>
              <a:t>05</a:t>
            </a:r>
          </a:p>
        </p:txBody>
      </p:sp>
      <p:sp>
        <p:nvSpPr>
          <p:cNvPr id="22" name="TextBox 21"/>
          <p:cNvSpPr txBox="1"/>
          <p:nvPr/>
        </p:nvSpPr>
        <p:spPr>
          <a:xfrm>
            <a:off x="1463040" y="4983480"/>
            <a:ext cx="4572000" cy="548640"/>
          </a:xfrm>
          <a:prstGeom prst="rect">
            <a:avLst/>
          </a:prstGeom>
          <a:noFill/>
        </p:spPr>
        <p:txBody>
          <a:bodyPr wrap="square" lIns="0" rIns="0" tIns="0" bIns="0" anchor="ctr">
            <a:spAutoFit/>
          </a:bodyPr>
          <a:lstStyle/>
          <a:p>
            <a:pPr algn="l"/>
            <a:r>
              <a:rPr sz="1800" b="1">
                <a:solidFill>
                  <a:srgbClr val="222B3A"/>
                </a:solidFill>
                <a:latin typeface="Yu Gothic"/>
              </a:rPr>
              <a:t>本人が直面する課題</a:t>
            </a:r>
          </a:p>
        </p:txBody>
      </p:sp>
      <p:sp>
        <p:nvSpPr>
          <p:cNvPr id="23" name="Rounded Rectangle 22"/>
          <p:cNvSpPr/>
          <p:nvPr/>
        </p:nvSpPr>
        <p:spPr>
          <a:xfrm>
            <a:off x="6126480" y="146304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1463040"/>
            <a:ext cx="640080" cy="640080"/>
          </a:xfrm>
          <a:prstGeom prst="rect">
            <a:avLst/>
          </a:prstGeom>
          <a:noFill/>
        </p:spPr>
        <p:txBody>
          <a:bodyPr wrap="square" lIns="0" rIns="0" tIns="0" bIns="0" anchor="ctr">
            <a:spAutoFit/>
          </a:bodyPr>
          <a:lstStyle/>
          <a:p>
            <a:pPr algn="ctr"/>
            <a:r>
              <a:rPr sz="1800" b="1">
                <a:solidFill>
                  <a:srgbClr val="FFFFFF"/>
                </a:solidFill>
                <a:latin typeface="Yu Gothic"/>
              </a:rPr>
              <a:t>06</a:t>
            </a:r>
          </a:p>
        </p:txBody>
      </p:sp>
      <p:sp>
        <p:nvSpPr>
          <p:cNvPr id="25" name="TextBox 24"/>
          <p:cNvSpPr txBox="1"/>
          <p:nvPr/>
        </p:nvSpPr>
        <p:spPr>
          <a:xfrm>
            <a:off x="6949440" y="1508760"/>
            <a:ext cx="4572000" cy="548640"/>
          </a:xfrm>
          <a:prstGeom prst="rect">
            <a:avLst/>
          </a:prstGeom>
          <a:noFill/>
        </p:spPr>
        <p:txBody>
          <a:bodyPr wrap="square" lIns="0" rIns="0" tIns="0" bIns="0" anchor="ctr">
            <a:spAutoFit/>
          </a:bodyPr>
          <a:lstStyle/>
          <a:p>
            <a:pPr algn="l"/>
            <a:r>
              <a:rPr sz="1800" b="1">
                <a:solidFill>
                  <a:srgbClr val="222B3A"/>
                </a:solidFill>
                <a:latin typeface="Yu Gothic"/>
              </a:rPr>
              <a:t>周囲が気づくサイン</a:t>
            </a:r>
          </a:p>
        </p:txBody>
      </p:sp>
      <p:sp>
        <p:nvSpPr>
          <p:cNvPr id="26" name="Rounded Rectangle 25"/>
          <p:cNvSpPr/>
          <p:nvPr/>
        </p:nvSpPr>
        <p:spPr>
          <a:xfrm>
            <a:off x="6126480" y="233172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2331720"/>
            <a:ext cx="640080" cy="640080"/>
          </a:xfrm>
          <a:prstGeom prst="rect">
            <a:avLst/>
          </a:prstGeom>
          <a:noFill/>
        </p:spPr>
        <p:txBody>
          <a:bodyPr wrap="square" lIns="0" rIns="0" tIns="0" bIns="0" anchor="ctr">
            <a:spAutoFit/>
          </a:bodyPr>
          <a:lstStyle/>
          <a:p>
            <a:pPr algn="ctr"/>
            <a:r>
              <a:rPr sz="1800" b="1">
                <a:solidFill>
                  <a:srgbClr val="FFFFFF"/>
                </a:solidFill>
                <a:latin typeface="Yu Gothic"/>
              </a:rPr>
              <a:t>07</a:t>
            </a:r>
          </a:p>
        </p:txBody>
      </p:sp>
      <p:sp>
        <p:nvSpPr>
          <p:cNvPr id="28" name="TextBox 27"/>
          <p:cNvSpPr txBox="1"/>
          <p:nvPr/>
        </p:nvSpPr>
        <p:spPr>
          <a:xfrm>
            <a:off x="6949440" y="2377440"/>
            <a:ext cx="4572000" cy="548640"/>
          </a:xfrm>
          <a:prstGeom prst="rect">
            <a:avLst/>
          </a:prstGeom>
          <a:noFill/>
        </p:spPr>
        <p:txBody>
          <a:bodyPr wrap="square" lIns="0" rIns="0" tIns="0" bIns="0" anchor="ctr">
            <a:spAutoFit/>
          </a:bodyPr>
          <a:lstStyle/>
          <a:p>
            <a:pPr algn="l"/>
            <a:r>
              <a:rPr sz="1800" b="1">
                <a:solidFill>
                  <a:srgbClr val="222B3A"/>
                </a:solidFill>
                <a:latin typeface="Yu Gothic"/>
              </a:rPr>
              <a:t>支援の仕組みと相談窓口</a:t>
            </a:r>
          </a:p>
        </p:txBody>
      </p:sp>
      <p:sp>
        <p:nvSpPr>
          <p:cNvPr id="29" name="Rounded Rectangle 28"/>
          <p:cNvSpPr/>
          <p:nvPr/>
        </p:nvSpPr>
        <p:spPr>
          <a:xfrm>
            <a:off x="6126480" y="320040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0" y="3200400"/>
            <a:ext cx="640080" cy="640080"/>
          </a:xfrm>
          <a:prstGeom prst="rect">
            <a:avLst/>
          </a:prstGeom>
          <a:noFill/>
        </p:spPr>
        <p:txBody>
          <a:bodyPr wrap="square" lIns="0" rIns="0" tIns="0" bIns="0" anchor="ctr">
            <a:spAutoFit/>
          </a:bodyPr>
          <a:lstStyle/>
          <a:p>
            <a:pPr algn="ctr"/>
            <a:r>
              <a:rPr sz="1800" b="1">
                <a:solidFill>
                  <a:srgbClr val="FFFFFF"/>
                </a:solidFill>
                <a:latin typeface="Yu Gothic"/>
              </a:rPr>
              <a:t>08</a:t>
            </a:r>
          </a:p>
        </p:txBody>
      </p:sp>
      <p:sp>
        <p:nvSpPr>
          <p:cNvPr id="31" name="TextBox 30"/>
          <p:cNvSpPr txBox="1"/>
          <p:nvPr/>
        </p:nvSpPr>
        <p:spPr>
          <a:xfrm>
            <a:off x="6949440" y="3246120"/>
            <a:ext cx="4572000" cy="548640"/>
          </a:xfrm>
          <a:prstGeom prst="rect">
            <a:avLst/>
          </a:prstGeom>
          <a:noFill/>
        </p:spPr>
        <p:txBody>
          <a:bodyPr wrap="square" lIns="0" rIns="0" tIns="0" bIns="0" anchor="ctr">
            <a:spAutoFit/>
          </a:bodyPr>
          <a:lstStyle/>
          <a:p>
            <a:pPr algn="l"/>
            <a:r>
              <a:rPr sz="1800" b="1">
                <a:solidFill>
                  <a:srgbClr val="222B3A"/>
                </a:solidFill>
                <a:latin typeface="Yu Gothic"/>
              </a:rPr>
              <a:t>私たちにできること</a:t>
            </a:r>
          </a:p>
        </p:txBody>
      </p:sp>
      <p:sp>
        <p:nvSpPr>
          <p:cNvPr id="32" name="Rounded Rectangle 31"/>
          <p:cNvSpPr/>
          <p:nvPr/>
        </p:nvSpPr>
        <p:spPr>
          <a:xfrm>
            <a:off x="6126480" y="406908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0" y="4069080"/>
            <a:ext cx="640080" cy="640080"/>
          </a:xfrm>
          <a:prstGeom prst="rect">
            <a:avLst/>
          </a:prstGeom>
          <a:noFill/>
        </p:spPr>
        <p:txBody>
          <a:bodyPr wrap="square" lIns="0" rIns="0" tIns="0" bIns="0" anchor="ctr">
            <a:spAutoFit/>
          </a:bodyPr>
          <a:lstStyle/>
          <a:p>
            <a:pPr algn="ctr"/>
            <a:r>
              <a:rPr sz="1800" b="1">
                <a:solidFill>
                  <a:srgbClr val="FFFFFF"/>
                </a:solidFill>
                <a:latin typeface="Yu Gothic"/>
              </a:rPr>
              <a:t>09</a:t>
            </a:r>
          </a:p>
        </p:txBody>
      </p:sp>
      <p:sp>
        <p:nvSpPr>
          <p:cNvPr id="34" name="TextBox 33"/>
          <p:cNvSpPr txBox="1"/>
          <p:nvPr/>
        </p:nvSpPr>
        <p:spPr>
          <a:xfrm>
            <a:off x="6949440" y="4114800"/>
            <a:ext cx="4572000" cy="548640"/>
          </a:xfrm>
          <a:prstGeom prst="rect">
            <a:avLst/>
          </a:prstGeom>
          <a:noFill/>
        </p:spPr>
        <p:txBody>
          <a:bodyPr wrap="square" lIns="0" rIns="0" tIns="0" bIns="0" anchor="ctr">
            <a:spAutoFit/>
          </a:bodyPr>
          <a:lstStyle/>
          <a:p>
            <a:pPr algn="l"/>
            <a:r>
              <a:rPr sz="1800" b="1">
                <a:solidFill>
                  <a:srgbClr val="222B3A"/>
                </a:solidFill>
                <a:latin typeface="Yu Gothic"/>
              </a:rPr>
              <a:t>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058400" cy="640080"/>
          </a:xfrm>
          <a:prstGeom prst="rect">
            <a:avLst/>
          </a:prstGeom>
          <a:noFill/>
        </p:spPr>
        <p:txBody>
          <a:bodyPr wrap="square" lIns="0" rIns="0" tIns="0" bIns="0" anchor="ctr">
            <a:spAutoFit/>
          </a:bodyPr>
          <a:lstStyle/>
          <a:p>
            <a:pPr algn="l"/>
            <a:r>
              <a:rPr sz="2800" b="1">
                <a:solidFill>
                  <a:srgbClr val="FFFFFF"/>
                </a:solidFill>
                <a:latin typeface="Yu Gothic"/>
              </a:rPr>
              <a:t>01. ヤングケアラーとは</a:t>
            </a:r>
          </a:p>
        </p:txBody>
      </p:sp>
      <p:sp>
        <p:nvSpPr>
          <p:cNvPr id="5" name="TextBox 4"/>
          <p:cNvSpPr txBox="1"/>
          <p:nvPr/>
        </p:nvSpPr>
        <p:spPr>
          <a:xfrm>
            <a:off x="10789920" y="292608"/>
            <a:ext cx="1188720" cy="457200"/>
          </a:xfrm>
          <a:prstGeom prst="rect">
            <a:avLst/>
          </a:prstGeom>
          <a:noFill/>
        </p:spPr>
        <p:txBody>
          <a:bodyPr wrap="square" lIns="0" rIns="0" tIns="0" bIns="0" anchor="t">
            <a:spAutoFit/>
          </a:bodyPr>
          <a:lstStyle/>
          <a:p>
            <a:pPr algn="r"/>
            <a:r>
              <a:rPr sz="1200" b="0">
                <a:solidFill>
                  <a:srgbClr val="FFFFFF"/>
                </a:solidFill>
                <a:latin typeface="Yu Gothic"/>
              </a:rPr>
              <a:t>3 / 12</a:t>
            </a:r>
          </a:p>
        </p:txBody>
      </p:sp>
      <p:sp>
        <p:nvSpPr>
          <p:cNvPr id="6" name="Rectangle 5"/>
          <p:cNvSpPr/>
          <p:nvPr/>
        </p:nvSpPr>
        <p:spPr>
          <a:xfrm>
            <a:off x="0" y="960120"/>
            <a:ext cx="12191695"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058400" cy="320040"/>
          </a:xfrm>
          <a:prstGeom prst="rect">
            <a:avLst/>
          </a:prstGeom>
          <a:noFill/>
        </p:spPr>
        <p:txBody>
          <a:bodyPr wrap="square" lIns="0" rIns="0" tIns="0" bIns="0" anchor="t">
            <a:spAutoFit/>
          </a:bodyPr>
          <a:lstStyle/>
          <a:p>
            <a:pPr algn="l"/>
            <a:r>
              <a:rPr sz="1000" b="0">
                <a:solidFill>
                  <a:srgbClr val="667080"/>
                </a:solidFill>
                <a:latin typeface="Yu Gothic"/>
              </a:rPr>
              <a:t>ヤングケアラーを知る・支える</a:t>
            </a:r>
          </a:p>
        </p:txBody>
      </p:sp>
      <p:sp>
        <p:nvSpPr>
          <p:cNvPr id="8" name="Rounded Rectangle 7"/>
          <p:cNvSpPr/>
          <p:nvPr/>
        </p:nvSpPr>
        <p:spPr>
          <a:xfrm>
            <a:off x="640080" y="1371600"/>
            <a:ext cx="10972800" cy="14630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57200" cy="457200"/>
          </a:xfrm>
          <a:prstGeom prst="rect">
            <a:avLst/>
          </a:prstGeom>
          <a:noFill/>
        </p:spPr>
        <p:txBody>
          <a:bodyPr wrap="square" lIns="0" rIns="0" tIns="0" bIns="0" anchor="t">
            <a:spAutoFit/>
          </a:bodyPr>
          <a:lstStyle/>
          <a:p>
            <a:pPr algn="l"/>
            <a:r>
              <a:rPr sz="4800" b="1">
                <a:solidFill>
                  <a:srgbClr val="F28C28"/>
                </a:solidFill>
                <a:latin typeface="Yu Gothic"/>
              </a:rPr>
              <a:t>“</a:t>
            </a:r>
          </a:p>
        </p:txBody>
      </p:sp>
      <p:sp>
        <p:nvSpPr>
          <p:cNvPr id="10" name="TextBox 9"/>
          <p:cNvSpPr txBox="1"/>
          <p:nvPr/>
        </p:nvSpPr>
        <p:spPr>
          <a:xfrm>
            <a:off x="1371600" y="1600200"/>
            <a:ext cx="9875520" cy="1188720"/>
          </a:xfrm>
          <a:prstGeom prst="rect">
            <a:avLst/>
          </a:prstGeom>
          <a:noFill/>
        </p:spPr>
        <p:txBody>
          <a:bodyPr wrap="square" lIns="0" rIns="0" tIns="0" bIns="0" anchor="t">
            <a:spAutoFit/>
          </a:bodyPr>
          <a:lstStyle/>
          <a:p>
            <a:pPr algn="l"/>
            <a:r>
              <a:rPr sz="2200" b="1">
                <a:solidFill>
                  <a:srgbClr val="222B3A"/>
                </a:solidFill>
                <a:latin typeface="Yu Gothic"/>
              </a:rPr>
              <a:t>本来大人が担うと想定されている家事や家族の世話などを</a:t>
            </a:r>
          </a:p>
          <a:p>
            <a:pPr algn="l"/>
            <a:r>
              <a:rPr sz="2200" b="1">
                <a:solidFill>
                  <a:srgbClr val="222B3A"/>
                </a:solidFill>
                <a:latin typeface="Yu Gothic"/>
              </a:rPr>
              <a:t>日常的に行っている、おおむね18歳未満の子ども</a:t>
            </a:r>
          </a:p>
        </p:txBody>
      </p:sp>
      <p:sp>
        <p:nvSpPr>
          <p:cNvPr id="11" name="TextBox 10"/>
          <p:cNvSpPr txBox="1"/>
          <p:nvPr/>
        </p:nvSpPr>
        <p:spPr>
          <a:xfrm>
            <a:off x="1371600" y="2468880"/>
            <a:ext cx="9875520" cy="365760"/>
          </a:xfrm>
          <a:prstGeom prst="rect">
            <a:avLst/>
          </a:prstGeom>
          <a:noFill/>
        </p:spPr>
        <p:txBody>
          <a:bodyPr wrap="square" lIns="0" rIns="0" tIns="0" bIns="0" anchor="t">
            <a:spAutoFit/>
          </a:bodyPr>
          <a:lstStyle/>
          <a:p>
            <a:pPr algn="l"/>
            <a:r>
              <a:rPr sz="1200" b="0">
                <a:solidFill>
                  <a:srgbClr val="667080"/>
                </a:solidFill>
                <a:latin typeface="Yu Gothic"/>
              </a:rPr>
              <a:t>（厚生労働省・こども家庭庁による定義をもとに）</a:t>
            </a:r>
          </a:p>
        </p:txBody>
      </p:sp>
      <p:sp>
        <p:nvSpPr>
          <p:cNvPr id="12" name="Rounded Rectangle 11"/>
          <p:cNvSpPr/>
          <p:nvPr/>
        </p:nvSpPr>
        <p:spPr>
          <a:xfrm>
            <a:off x="640080" y="3200400"/>
            <a:ext cx="3593592" cy="2560320"/>
          </a:xfrm>
          <a:prstGeom prst="roundRect">
            <a:avLst/>
          </a:prstGeom>
          <a:solidFill>
            <a:srgbClr val="FFFFFF"/>
          </a:solidFill>
          <a:ln>
            <a:solidFill>
              <a:srgbClr val="2E5E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200400"/>
            <a:ext cx="3593592" cy="64008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200400"/>
            <a:ext cx="3593592" cy="640080"/>
          </a:xfrm>
          <a:prstGeom prst="rect">
            <a:avLst/>
          </a:prstGeom>
          <a:noFill/>
        </p:spPr>
        <p:txBody>
          <a:bodyPr wrap="square" lIns="0" rIns="0" tIns="0" bIns="0" anchor="ctr">
            <a:spAutoFit/>
          </a:bodyPr>
          <a:lstStyle/>
          <a:p>
            <a:pPr algn="ctr"/>
            <a:r>
              <a:rPr sz="1800" b="1">
                <a:solidFill>
                  <a:srgbClr val="FFFFFF"/>
                </a:solidFill>
                <a:latin typeface="Yu Gothic"/>
              </a:rPr>
              <a:t>家族のケア</a:t>
            </a:r>
          </a:p>
        </p:txBody>
      </p:sp>
      <p:sp>
        <p:nvSpPr>
          <p:cNvPr id="15" name="TextBox 14"/>
          <p:cNvSpPr txBox="1"/>
          <p:nvPr/>
        </p:nvSpPr>
        <p:spPr>
          <a:xfrm>
            <a:off x="822960" y="4023360"/>
            <a:ext cx="3200400" cy="1645920"/>
          </a:xfrm>
          <a:prstGeom prst="rect">
            <a:avLst/>
          </a:prstGeom>
          <a:noFill/>
        </p:spPr>
        <p:txBody>
          <a:bodyPr wrap="square" lIns="0" rIns="0" tIns="0" bIns="0" anchor="t">
            <a:spAutoFit/>
          </a:bodyPr>
          <a:lstStyle/>
          <a:p>
            <a:pPr algn="ctr"/>
            <a:r>
              <a:rPr sz="1500" b="0">
                <a:solidFill>
                  <a:srgbClr val="222B3A"/>
                </a:solidFill>
                <a:latin typeface="Yu Gothic"/>
              </a:rPr>
              <a:t>親・きょうだい・祖父母など</a:t>
            </a:r>
          </a:p>
          <a:p>
            <a:pPr algn="ctr"/>
            <a:r>
              <a:rPr sz="1500" b="0">
                <a:solidFill>
                  <a:srgbClr val="222B3A"/>
                </a:solidFill>
                <a:latin typeface="Yu Gothic"/>
              </a:rPr>
              <a:t>身近な家族をケアしている</a:t>
            </a:r>
          </a:p>
        </p:txBody>
      </p:sp>
      <p:sp>
        <p:nvSpPr>
          <p:cNvPr id="16" name="Rounded Rectangle 15"/>
          <p:cNvSpPr/>
          <p:nvPr/>
        </p:nvSpPr>
        <p:spPr>
          <a:xfrm>
            <a:off x="4416552" y="3200400"/>
            <a:ext cx="3593592" cy="2560320"/>
          </a:xfrm>
          <a:prstGeom prst="roundRect">
            <a:avLst/>
          </a:prstGeom>
          <a:solidFill>
            <a:srgbClr val="FFFFFF"/>
          </a:solidFill>
          <a:ln>
            <a:solidFill>
              <a:srgbClr val="2E5E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16552" y="3200400"/>
            <a:ext cx="3593592" cy="64008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16552" y="3200400"/>
            <a:ext cx="3593592" cy="640080"/>
          </a:xfrm>
          <a:prstGeom prst="rect">
            <a:avLst/>
          </a:prstGeom>
          <a:noFill/>
        </p:spPr>
        <p:txBody>
          <a:bodyPr wrap="square" lIns="0" rIns="0" tIns="0" bIns="0" anchor="ctr">
            <a:spAutoFit/>
          </a:bodyPr>
          <a:lstStyle/>
          <a:p>
            <a:pPr algn="ctr"/>
            <a:r>
              <a:rPr sz="1800" b="1">
                <a:solidFill>
                  <a:srgbClr val="FFFFFF"/>
                </a:solidFill>
                <a:latin typeface="Yu Gothic"/>
              </a:rPr>
              <a:t>日常的・継続的</a:t>
            </a:r>
          </a:p>
        </p:txBody>
      </p:sp>
      <p:sp>
        <p:nvSpPr>
          <p:cNvPr id="19" name="TextBox 18"/>
          <p:cNvSpPr txBox="1"/>
          <p:nvPr/>
        </p:nvSpPr>
        <p:spPr>
          <a:xfrm>
            <a:off x="4599432" y="4023360"/>
            <a:ext cx="3200400" cy="1645920"/>
          </a:xfrm>
          <a:prstGeom prst="rect">
            <a:avLst/>
          </a:prstGeom>
          <a:noFill/>
        </p:spPr>
        <p:txBody>
          <a:bodyPr wrap="square" lIns="0" rIns="0" tIns="0" bIns="0" anchor="t">
            <a:spAutoFit/>
          </a:bodyPr>
          <a:lstStyle/>
          <a:p>
            <a:pPr algn="ctr"/>
            <a:r>
              <a:rPr sz="1500" b="0">
                <a:solidFill>
                  <a:srgbClr val="222B3A"/>
                </a:solidFill>
                <a:latin typeface="Yu Gothic"/>
              </a:rPr>
              <a:t>一時的な手伝いではなく</a:t>
            </a:r>
          </a:p>
          <a:p>
            <a:pPr algn="ctr"/>
            <a:r>
              <a:rPr sz="1500" b="0">
                <a:solidFill>
                  <a:srgbClr val="222B3A"/>
                </a:solidFill>
                <a:latin typeface="Yu Gothic"/>
              </a:rPr>
              <a:t>日々の生活に組み込まれている</a:t>
            </a:r>
          </a:p>
        </p:txBody>
      </p:sp>
      <p:sp>
        <p:nvSpPr>
          <p:cNvPr id="20" name="Rounded Rectangle 19"/>
          <p:cNvSpPr/>
          <p:nvPr/>
        </p:nvSpPr>
        <p:spPr>
          <a:xfrm>
            <a:off x="8193024" y="3200400"/>
            <a:ext cx="3593592" cy="2560320"/>
          </a:xfrm>
          <a:prstGeom prst="roundRect">
            <a:avLst/>
          </a:prstGeom>
          <a:solidFill>
            <a:srgbClr val="FFFFFF"/>
          </a:solidFill>
          <a:ln>
            <a:solidFill>
              <a:srgbClr val="2E5E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93024" y="3200400"/>
            <a:ext cx="3593592" cy="64008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93024" y="3200400"/>
            <a:ext cx="3593592" cy="640080"/>
          </a:xfrm>
          <a:prstGeom prst="rect">
            <a:avLst/>
          </a:prstGeom>
          <a:noFill/>
        </p:spPr>
        <p:txBody>
          <a:bodyPr wrap="square" lIns="0" rIns="0" tIns="0" bIns="0" anchor="ctr">
            <a:spAutoFit/>
          </a:bodyPr>
          <a:lstStyle/>
          <a:p>
            <a:pPr algn="ctr"/>
            <a:r>
              <a:rPr sz="1800" b="1">
                <a:solidFill>
                  <a:srgbClr val="FFFFFF"/>
                </a:solidFill>
                <a:latin typeface="Yu Gothic"/>
              </a:rPr>
              <a:t>年齢に見合わない責任</a:t>
            </a:r>
          </a:p>
        </p:txBody>
      </p:sp>
      <p:sp>
        <p:nvSpPr>
          <p:cNvPr id="23" name="TextBox 22"/>
          <p:cNvSpPr txBox="1"/>
          <p:nvPr/>
        </p:nvSpPr>
        <p:spPr>
          <a:xfrm>
            <a:off x="8375904" y="4023360"/>
            <a:ext cx="3200400" cy="1645920"/>
          </a:xfrm>
          <a:prstGeom prst="rect">
            <a:avLst/>
          </a:prstGeom>
          <a:noFill/>
        </p:spPr>
        <p:txBody>
          <a:bodyPr wrap="square" lIns="0" rIns="0" tIns="0" bIns="0" anchor="t">
            <a:spAutoFit/>
          </a:bodyPr>
          <a:lstStyle/>
          <a:p>
            <a:pPr algn="ctr"/>
            <a:r>
              <a:rPr sz="1500" b="0">
                <a:solidFill>
                  <a:srgbClr val="222B3A"/>
                </a:solidFill>
                <a:latin typeface="Yu Gothic"/>
              </a:rPr>
              <a:t>学業や友人関係に影響が出る</a:t>
            </a:r>
          </a:p>
          <a:p>
            <a:pPr algn="ctr"/>
            <a:r>
              <a:rPr sz="1500" b="0">
                <a:solidFill>
                  <a:srgbClr val="222B3A"/>
                </a:solidFill>
                <a:latin typeface="Yu Gothic"/>
              </a:rPr>
              <a:t>ほどの負担を担っている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058400" cy="640080"/>
          </a:xfrm>
          <a:prstGeom prst="rect">
            <a:avLst/>
          </a:prstGeom>
          <a:noFill/>
        </p:spPr>
        <p:txBody>
          <a:bodyPr wrap="square" lIns="0" rIns="0" tIns="0" bIns="0" anchor="ctr">
            <a:spAutoFit/>
          </a:bodyPr>
          <a:lstStyle/>
          <a:p>
            <a:pPr algn="l"/>
            <a:r>
              <a:rPr sz="2800" b="1">
                <a:solidFill>
                  <a:srgbClr val="FFFFFF"/>
                </a:solidFill>
                <a:latin typeface="Yu Gothic"/>
              </a:rPr>
              <a:t>02. どんなケアをしているのか</a:t>
            </a:r>
          </a:p>
        </p:txBody>
      </p:sp>
      <p:sp>
        <p:nvSpPr>
          <p:cNvPr id="5" name="TextBox 4"/>
          <p:cNvSpPr txBox="1"/>
          <p:nvPr/>
        </p:nvSpPr>
        <p:spPr>
          <a:xfrm>
            <a:off x="10789920" y="292608"/>
            <a:ext cx="1188720" cy="457200"/>
          </a:xfrm>
          <a:prstGeom prst="rect">
            <a:avLst/>
          </a:prstGeom>
          <a:noFill/>
        </p:spPr>
        <p:txBody>
          <a:bodyPr wrap="square" lIns="0" rIns="0" tIns="0" bIns="0" anchor="t">
            <a:spAutoFit/>
          </a:bodyPr>
          <a:lstStyle/>
          <a:p>
            <a:pPr algn="r"/>
            <a:r>
              <a:rPr sz="1200" b="0">
                <a:solidFill>
                  <a:srgbClr val="FFFFFF"/>
                </a:solidFill>
                <a:latin typeface="Yu Gothic"/>
              </a:rPr>
              <a:t>4 / 12</a:t>
            </a:r>
          </a:p>
        </p:txBody>
      </p:sp>
      <p:sp>
        <p:nvSpPr>
          <p:cNvPr id="6" name="Rectangle 5"/>
          <p:cNvSpPr/>
          <p:nvPr/>
        </p:nvSpPr>
        <p:spPr>
          <a:xfrm>
            <a:off x="0" y="960120"/>
            <a:ext cx="12191695"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058400" cy="320040"/>
          </a:xfrm>
          <a:prstGeom prst="rect">
            <a:avLst/>
          </a:prstGeom>
          <a:noFill/>
        </p:spPr>
        <p:txBody>
          <a:bodyPr wrap="square" lIns="0" rIns="0" tIns="0" bIns="0" anchor="t">
            <a:spAutoFit/>
          </a:bodyPr>
          <a:lstStyle/>
          <a:p>
            <a:pPr algn="l"/>
            <a:r>
              <a:rPr sz="1000" b="0">
                <a:solidFill>
                  <a:srgbClr val="667080"/>
                </a:solidFill>
                <a:latin typeface="Yu Gothic"/>
              </a:rPr>
              <a:t>ヤングケアラーを知る・支える</a:t>
            </a:r>
          </a:p>
        </p:txBody>
      </p:sp>
      <p:sp>
        <p:nvSpPr>
          <p:cNvPr id="8" name="TextBox 7"/>
          <p:cNvSpPr txBox="1"/>
          <p:nvPr/>
        </p:nvSpPr>
        <p:spPr>
          <a:xfrm>
            <a:off x="640080" y="1234440"/>
            <a:ext cx="10972800" cy="457200"/>
          </a:xfrm>
          <a:prstGeom prst="rect">
            <a:avLst/>
          </a:prstGeom>
          <a:noFill/>
        </p:spPr>
        <p:txBody>
          <a:bodyPr wrap="square" lIns="0" rIns="0" tIns="0" bIns="0" anchor="t">
            <a:spAutoFit/>
          </a:bodyPr>
          <a:lstStyle/>
          <a:p>
            <a:pPr algn="l"/>
            <a:r>
              <a:rPr sz="1600" b="0">
                <a:solidFill>
                  <a:srgbClr val="667080"/>
                </a:solidFill>
                <a:latin typeface="Yu Gothic"/>
              </a:rPr>
              <a:t>ヤングケアラーが担うケアは、多岐にわたります。</a:t>
            </a:r>
          </a:p>
        </p:txBody>
      </p:sp>
      <p:sp>
        <p:nvSpPr>
          <p:cNvPr id="9" name="Rounded Rectangle 8"/>
          <p:cNvSpPr/>
          <p:nvPr/>
        </p:nvSpPr>
        <p:spPr>
          <a:xfrm>
            <a:off x="640080" y="1828800"/>
            <a:ext cx="2743200" cy="1920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057400"/>
            <a:ext cx="109728" cy="4114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11680"/>
            <a:ext cx="2377440" cy="457200"/>
          </a:xfrm>
          <a:prstGeom prst="rect">
            <a:avLst/>
          </a:prstGeom>
          <a:noFill/>
        </p:spPr>
        <p:txBody>
          <a:bodyPr wrap="square" lIns="0" rIns="0" tIns="0" bIns="0" anchor="t">
            <a:spAutoFit/>
          </a:bodyPr>
          <a:lstStyle/>
          <a:p>
            <a:pPr algn="l"/>
            <a:r>
              <a:rPr sz="1800" b="1">
                <a:solidFill>
                  <a:srgbClr val="2E5E8A"/>
                </a:solidFill>
                <a:latin typeface="Yu Gothic"/>
              </a:rPr>
              <a:t>家事</a:t>
            </a:r>
          </a:p>
        </p:txBody>
      </p:sp>
      <p:sp>
        <p:nvSpPr>
          <p:cNvPr id="12" name="TextBox 11"/>
          <p:cNvSpPr txBox="1"/>
          <p:nvPr/>
        </p:nvSpPr>
        <p:spPr>
          <a:xfrm>
            <a:off x="960120" y="2606040"/>
            <a:ext cx="2377440" cy="1005840"/>
          </a:xfrm>
          <a:prstGeom prst="rect">
            <a:avLst/>
          </a:prstGeom>
          <a:noFill/>
        </p:spPr>
        <p:txBody>
          <a:bodyPr wrap="square" lIns="0" rIns="0" tIns="0" bIns="0" anchor="t">
            <a:spAutoFit/>
          </a:bodyPr>
          <a:lstStyle/>
          <a:p>
            <a:pPr algn="l"/>
            <a:r>
              <a:rPr sz="1400" b="0">
                <a:solidFill>
                  <a:srgbClr val="222B3A"/>
                </a:solidFill>
                <a:latin typeface="Yu Gothic"/>
              </a:rPr>
              <a:t>食事の準備・洗濯・</a:t>
            </a:r>
          </a:p>
          <a:p>
            <a:pPr algn="l"/>
            <a:r>
              <a:rPr sz="1400" b="0">
                <a:solidFill>
                  <a:srgbClr val="222B3A"/>
                </a:solidFill>
                <a:latin typeface="Yu Gothic"/>
              </a:rPr>
              <a:t>掃除・買い物</a:t>
            </a:r>
          </a:p>
        </p:txBody>
      </p:sp>
      <p:sp>
        <p:nvSpPr>
          <p:cNvPr id="13" name="Rounded Rectangle 12"/>
          <p:cNvSpPr/>
          <p:nvPr/>
        </p:nvSpPr>
        <p:spPr>
          <a:xfrm>
            <a:off x="3474720" y="1828800"/>
            <a:ext cx="2743200" cy="1920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11880" y="2057400"/>
            <a:ext cx="109728" cy="4114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4760" y="2011680"/>
            <a:ext cx="2377440" cy="457200"/>
          </a:xfrm>
          <a:prstGeom prst="rect">
            <a:avLst/>
          </a:prstGeom>
          <a:noFill/>
        </p:spPr>
        <p:txBody>
          <a:bodyPr wrap="square" lIns="0" rIns="0" tIns="0" bIns="0" anchor="t">
            <a:spAutoFit/>
          </a:bodyPr>
          <a:lstStyle/>
          <a:p>
            <a:pPr algn="l"/>
            <a:r>
              <a:rPr sz="1800" b="1">
                <a:solidFill>
                  <a:srgbClr val="2E5E8A"/>
                </a:solidFill>
                <a:latin typeface="Yu Gothic"/>
              </a:rPr>
              <a:t>身体的ケア</a:t>
            </a:r>
          </a:p>
        </p:txBody>
      </p:sp>
      <p:sp>
        <p:nvSpPr>
          <p:cNvPr id="16" name="TextBox 15"/>
          <p:cNvSpPr txBox="1"/>
          <p:nvPr/>
        </p:nvSpPr>
        <p:spPr>
          <a:xfrm>
            <a:off x="3794760" y="2606040"/>
            <a:ext cx="2377440" cy="1005840"/>
          </a:xfrm>
          <a:prstGeom prst="rect">
            <a:avLst/>
          </a:prstGeom>
          <a:noFill/>
        </p:spPr>
        <p:txBody>
          <a:bodyPr wrap="square" lIns="0" rIns="0" tIns="0" bIns="0" anchor="t">
            <a:spAutoFit/>
          </a:bodyPr>
          <a:lstStyle/>
          <a:p>
            <a:pPr algn="l"/>
            <a:r>
              <a:rPr sz="1400" b="0">
                <a:solidFill>
                  <a:srgbClr val="222B3A"/>
                </a:solidFill>
                <a:latin typeface="Yu Gothic"/>
              </a:rPr>
              <a:t>入浴・トイレ・</a:t>
            </a:r>
          </a:p>
          <a:p>
            <a:pPr algn="l"/>
            <a:r>
              <a:rPr sz="1400" b="0">
                <a:solidFill>
                  <a:srgbClr val="222B3A"/>
                </a:solidFill>
                <a:latin typeface="Yu Gothic"/>
              </a:rPr>
              <a:t>着替えの介助</a:t>
            </a:r>
          </a:p>
        </p:txBody>
      </p:sp>
      <p:sp>
        <p:nvSpPr>
          <p:cNvPr id="17" name="Rounded Rectangle 16"/>
          <p:cNvSpPr/>
          <p:nvPr/>
        </p:nvSpPr>
        <p:spPr>
          <a:xfrm>
            <a:off x="6309360" y="1828800"/>
            <a:ext cx="2743200" cy="1920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2057400"/>
            <a:ext cx="109728" cy="4114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2011680"/>
            <a:ext cx="2377440" cy="457200"/>
          </a:xfrm>
          <a:prstGeom prst="rect">
            <a:avLst/>
          </a:prstGeom>
          <a:noFill/>
        </p:spPr>
        <p:txBody>
          <a:bodyPr wrap="square" lIns="0" rIns="0" tIns="0" bIns="0" anchor="t">
            <a:spAutoFit/>
          </a:bodyPr>
          <a:lstStyle/>
          <a:p>
            <a:pPr algn="l"/>
            <a:r>
              <a:rPr sz="1800" b="1">
                <a:solidFill>
                  <a:srgbClr val="2E5E8A"/>
                </a:solidFill>
                <a:latin typeface="Yu Gothic"/>
              </a:rPr>
              <a:t>感情的サポート</a:t>
            </a:r>
          </a:p>
        </p:txBody>
      </p:sp>
      <p:sp>
        <p:nvSpPr>
          <p:cNvPr id="20" name="TextBox 19"/>
          <p:cNvSpPr txBox="1"/>
          <p:nvPr/>
        </p:nvSpPr>
        <p:spPr>
          <a:xfrm>
            <a:off x="6629400" y="2606040"/>
            <a:ext cx="2377440" cy="1005840"/>
          </a:xfrm>
          <a:prstGeom prst="rect">
            <a:avLst/>
          </a:prstGeom>
          <a:noFill/>
        </p:spPr>
        <p:txBody>
          <a:bodyPr wrap="square" lIns="0" rIns="0" tIns="0" bIns="0" anchor="t">
            <a:spAutoFit/>
          </a:bodyPr>
          <a:lstStyle/>
          <a:p>
            <a:pPr algn="l"/>
            <a:r>
              <a:rPr sz="1400" b="0">
                <a:solidFill>
                  <a:srgbClr val="222B3A"/>
                </a:solidFill>
                <a:latin typeface="Yu Gothic"/>
              </a:rPr>
              <a:t>病気の家族の</a:t>
            </a:r>
          </a:p>
          <a:p>
            <a:pPr algn="l"/>
            <a:r>
              <a:rPr sz="1400" b="0">
                <a:solidFill>
                  <a:srgbClr val="222B3A"/>
                </a:solidFill>
                <a:latin typeface="Yu Gothic"/>
              </a:rPr>
              <a:t>話し相手・見守り</a:t>
            </a:r>
          </a:p>
        </p:txBody>
      </p:sp>
      <p:sp>
        <p:nvSpPr>
          <p:cNvPr id="21" name="Rounded Rectangle 20"/>
          <p:cNvSpPr/>
          <p:nvPr/>
        </p:nvSpPr>
        <p:spPr>
          <a:xfrm>
            <a:off x="9144000" y="1828800"/>
            <a:ext cx="2743200" cy="1920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81160" y="2057400"/>
            <a:ext cx="109728" cy="4114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64040" y="2011680"/>
            <a:ext cx="2377440" cy="457200"/>
          </a:xfrm>
          <a:prstGeom prst="rect">
            <a:avLst/>
          </a:prstGeom>
          <a:noFill/>
        </p:spPr>
        <p:txBody>
          <a:bodyPr wrap="square" lIns="0" rIns="0" tIns="0" bIns="0" anchor="t">
            <a:spAutoFit/>
          </a:bodyPr>
          <a:lstStyle/>
          <a:p>
            <a:pPr algn="l"/>
            <a:r>
              <a:rPr sz="1800" b="1">
                <a:solidFill>
                  <a:srgbClr val="2E5E8A"/>
                </a:solidFill>
                <a:latin typeface="Yu Gothic"/>
              </a:rPr>
              <a:t>きょうだいの世話</a:t>
            </a:r>
          </a:p>
        </p:txBody>
      </p:sp>
      <p:sp>
        <p:nvSpPr>
          <p:cNvPr id="24" name="TextBox 23"/>
          <p:cNvSpPr txBox="1"/>
          <p:nvPr/>
        </p:nvSpPr>
        <p:spPr>
          <a:xfrm>
            <a:off x="9464040" y="2606040"/>
            <a:ext cx="2377440" cy="1005840"/>
          </a:xfrm>
          <a:prstGeom prst="rect">
            <a:avLst/>
          </a:prstGeom>
          <a:noFill/>
        </p:spPr>
        <p:txBody>
          <a:bodyPr wrap="square" lIns="0" rIns="0" tIns="0" bIns="0" anchor="t">
            <a:spAutoFit/>
          </a:bodyPr>
          <a:lstStyle/>
          <a:p>
            <a:pPr algn="l"/>
            <a:r>
              <a:rPr sz="1400" b="0">
                <a:solidFill>
                  <a:srgbClr val="222B3A"/>
                </a:solidFill>
                <a:latin typeface="Yu Gothic"/>
              </a:rPr>
              <a:t>幼い弟妹の世話・</a:t>
            </a:r>
          </a:p>
          <a:p>
            <a:pPr algn="l"/>
            <a:r>
              <a:rPr sz="1400" b="0">
                <a:solidFill>
                  <a:srgbClr val="222B3A"/>
                </a:solidFill>
                <a:latin typeface="Yu Gothic"/>
              </a:rPr>
              <a:t>保育園送り迎え</a:t>
            </a:r>
          </a:p>
        </p:txBody>
      </p:sp>
      <p:sp>
        <p:nvSpPr>
          <p:cNvPr id="25" name="Rounded Rectangle 24"/>
          <p:cNvSpPr/>
          <p:nvPr/>
        </p:nvSpPr>
        <p:spPr>
          <a:xfrm>
            <a:off x="640080" y="3886200"/>
            <a:ext cx="2743200" cy="1920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114800"/>
            <a:ext cx="109728" cy="4114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69080"/>
            <a:ext cx="2377440" cy="457200"/>
          </a:xfrm>
          <a:prstGeom prst="rect">
            <a:avLst/>
          </a:prstGeom>
          <a:noFill/>
        </p:spPr>
        <p:txBody>
          <a:bodyPr wrap="square" lIns="0" rIns="0" tIns="0" bIns="0" anchor="t">
            <a:spAutoFit/>
          </a:bodyPr>
          <a:lstStyle/>
          <a:p>
            <a:pPr algn="l"/>
            <a:r>
              <a:rPr sz="1800" b="1">
                <a:solidFill>
                  <a:srgbClr val="2E5E8A"/>
                </a:solidFill>
                <a:latin typeface="Yu Gothic"/>
              </a:rPr>
              <a:t>通訳</a:t>
            </a:r>
          </a:p>
        </p:txBody>
      </p:sp>
      <p:sp>
        <p:nvSpPr>
          <p:cNvPr id="28" name="TextBox 27"/>
          <p:cNvSpPr txBox="1"/>
          <p:nvPr/>
        </p:nvSpPr>
        <p:spPr>
          <a:xfrm>
            <a:off x="960120" y="4663440"/>
            <a:ext cx="2377440" cy="1005840"/>
          </a:xfrm>
          <a:prstGeom prst="rect">
            <a:avLst/>
          </a:prstGeom>
          <a:noFill/>
        </p:spPr>
        <p:txBody>
          <a:bodyPr wrap="square" lIns="0" rIns="0" tIns="0" bIns="0" anchor="t">
            <a:spAutoFit/>
          </a:bodyPr>
          <a:lstStyle/>
          <a:p>
            <a:pPr algn="l"/>
            <a:r>
              <a:rPr sz="1400" b="0">
                <a:solidFill>
                  <a:srgbClr val="222B3A"/>
                </a:solidFill>
                <a:latin typeface="Yu Gothic"/>
              </a:rPr>
              <a:t>日本語が苦手な</a:t>
            </a:r>
          </a:p>
          <a:p>
            <a:pPr algn="l"/>
            <a:r>
              <a:rPr sz="1400" b="0">
                <a:solidFill>
                  <a:srgbClr val="222B3A"/>
                </a:solidFill>
                <a:latin typeface="Yu Gothic"/>
              </a:rPr>
              <a:t>家族の通訳・代筆</a:t>
            </a:r>
          </a:p>
        </p:txBody>
      </p:sp>
      <p:sp>
        <p:nvSpPr>
          <p:cNvPr id="29" name="Rounded Rectangle 28"/>
          <p:cNvSpPr/>
          <p:nvPr/>
        </p:nvSpPr>
        <p:spPr>
          <a:xfrm>
            <a:off x="3474720" y="3886200"/>
            <a:ext cx="2743200" cy="1920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11880" y="4114800"/>
            <a:ext cx="109728" cy="4114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94760" y="4069080"/>
            <a:ext cx="2377440" cy="457200"/>
          </a:xfrm>
          <a:prstGeom prst="rect">
            <a:avLst/>
          </a:prstGeom>
          <a:noFill/>
        </p:spPr>
        <p:txBody>
          <a:bodyPr wrap="square" lIns="0" rIns="0" tIns="0" bIns="0" anchor="t">
            <a:spAutoFit/>
          </a:bodyPr>
          <a:lstStyle/>
          <a:p>
            <a:pPr algn="l"/>
            <a:r>
              <a:rPr sz="1800" b="1">
                <a:solidFill>
                  <a:srgbClr val="2E5E8A"/>
                </a:solidFill>
                <a:latin typeface="Yu Gothic"/>
              </a:rPr>
              <a:t>金銭管理</a:t>
            </a:r>
          </a:p>
        </p:txBody>
      </p:sp>
      <p:sp>
        <p:nvSpPr>
          <p:cNvPr id="32" name="TextBox 31"/>
          <p:cNvSpPr txBox="1"/>
          <p:nvPr/>
        </p:nvSpPr>
        <p:spPr>
          <a:xfrm>
            <a:off x="3794760" y="4663440"/>
            <a:ext cx="2377440" cy="1005840"/>
          </a:xfrm>
          <a:prstGeom prst="rect">
            <a:avLst/>
          </a:prstGeom>
          <a:noFill/>
        </p:spPr>
        <p:txBody>
          <a:bodyPr wrap="square" lIns="0" rIns="0" tIns="0" bIns="0" anchor="t">
            <a:spAutoFit/>
          </a:bodyPr>
          <a:lstStyle/>
          <a:p>
            <a:pPr algn="l"/>
            <a:r>
              <a:rPr sz="1400" b="0">
                <a:solidFill>
                  <a:srgbClr val="222B3A"/>
                </a:solidFill>
                <a:latin typeface="Yu Gothic"/>
              </a:rPr>
              <a:t>家計のやりくり・</a:t>
            </a:r>
          </a:p>
          <a:p>
            <a:pPr algn="l"/>
            <a:r>
              <a:rPr sz="1400" b="0">
                <a:solidFill>
                  <a:srgbClr val="222B3A"/>
                </a:solidFill>
                <a:latin typeface="Yu Gothic"/>
              </a:rPr>
              <a:t>手続きの代行</a:t>
            </a:r>
          </a:p>
        </p:txBody>
      </p:sp>
      <p:sp>
        <p:nvSpPr>
          <p:cNvPr id="33" name="Rounded Rectangle 32"/>
          <p:cNvSpPr/>
          <p:nvPr/>
        </p:nvSpPr>
        <p:spPr>
          <a:xfrm>
            <a:off x="6309360" y="3886200"/>
            <a:ext cx="2743200" cy="1920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46520" y="4114800"/>
            <a:ext cx="109728" cy="4114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9400" y="4069080"/>
            <a:ext cx="2377440" cy="457200"/>
          </a:xfrm>
          <a:prstGeom prst="rect">
            <a:avLst/>
          </a:prstGeom>
          <a:noFill/>
        </p:spPr>
        <p:txBody>
          <a:bodyPr wrap="square" lIns="0" rIns="0" tIns="0" bIns="0" anchor="t">
            <a:spAutoFit/>
          </a:bodyPr>
          <a:lstStyle/>
          <a:p>
            <a:pPr algn="l"/>
            <a:r>
              <a:rPr sz="1800" b="1">
                <a:solidFill>
                  <a:srgbClr val="2E5E8A"/>
                </a:solidFill>
                <a:latin typeface="Yu Gothic"/>
              </a:rPr>
              <a:t>見守り</a:t>
            </a:r>
          </a:p>
        </p:txBody>
      </p:sp>
      <p:sp>
        <p:nvSpPr>
          <p:cNvPr id="36" name="TextBox 35"/>
          <p:cNvSpPr txBox="1"/>
          <p:nvPr/>
        </p:nvSpPr>
        <p:spPr>
          <a:xfrm>
            <a:off x="6629400" y="4663440"/>
            <a:ext cx="2377440" cy="1005840"/>
          </a:xfrm>
          <a:prstGeom prst="rect">
            <a:avLst/>
          </a:prstGeom>
          <a:noFill/>
        </p:spPr>
        <p:txBody>
          <a:bodyPr wrap="square" lIns="0" rIns="0" tIns="0" bIns="0" anchor="t">
            <a:spAutoFit/>
          </a:bodyPr>
          <a:lstStyle/>
          <a:p>
            <a:pPr algn="l"/>
            <a:r>
              <a:rPr sz="1400" b="0">
                <a:solidFill>
                  <a:srgbClr val="222B3A"/>
                </a:solidFill>
                <a:latin typeface="Yu Gothic"/>
              </a:rPr>
              <a:t>目を離せない家族と</a:t>
            </a:r>
          </a:p>
          <a:p>
            <a:pPr algn="l"/>
            <a:r>
              <a:rPr sz="1400" b="0">
                <a:solidFill>
                  <a:srgbClr val="222B3A"/>
                </a:solidFill>
                <a:latin typeface="Yu Gothic"/>
              </a:rPr>
              <a:t>常に一緒にいる</a:t>
            </a:r>
          </a:p>
        </p:txBody>
      </p:sp>
      <p:sp>
        <p:nvSpPr>
          <p:cNvPr id="37" name="Rounded Rectangle 36"/>
          <p:cNvSpPr/>
          <p:nvPr/>
        </p:nvSpPr>
        <p:spPr>
          <a:xfrm>
            <a:off x="9144000" y="3886200"/>
            <a:ext cx="2743200" cy="1920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81160" y="4114800"/>
            <a:ext cx="109728" cy="4114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64040" y="4069080"/>
            <a:ext cx="2377440" cy="457200"/>
          </a:xfrm>
          <a:prstGeom prst="rect">
            <a:avLst/>
          </a:prstGeom>
          <a:noFill/>
        </p:spPr>
        <p:txBody>
          <a:bodyPr wrap="square" lIns="0" rIns="0" tIns="0" bIns="0" anchor="t">
            <a:spAutoFit/>
          </a:bodyPr>
          <a:lstStyle/>
          <a:p>
            <a:pPr algn="l"/>
            <a:r>
              <a:rPr sz="1800" b="1">
                <a:solidFill>
                  <a:srgbClr val="2E5E8A"/>
                </a:solidFill>
                <a:latin typeface="Yu Gothic"/>
              </a:rPr>
              <a:t>通院付き添い</a:t>
            </a:r>
          </a:p>
        </p:txBody>
      </p:sp>
      <p:sp>
        <p:nvSpPr>
          <p:cNvPr id="40" name="TextBox 39"/>
          <p:cNvSpPr txBox="1"/>
          <p:nvPr/>
        </p:nvSpPr>
        <p:spPr>
          <a:xfrm>
            <a:off x="9464040" y="4663440"/>
            <a:ext cx="2377440" cy="1005840"/>
          </a:xfrm>
          <a:prstGeom prst="rect">
            <a:avLst/>
          </a:prstGeom>
          <a:noFill/>
        </p:spPr>
        <p:txBody>
          <a:bodyPr wrap="square" lIns="0" rIns="0" tIns="0" bIns="0" anchor="t">
            <a:spAutoFit/>
          </a:bodyPr>
          <a:lstStyle/>
          <a:p>
            <a:pPr algn="l"/>
            <a:r>
              <a:rPr sz="1400" b="0">
                <a:solidFill>
                  <a:srgbClr val="222B3A"/>
                </a:solidFill>
                <a:latin typeface="Yu Gothic"/>
              </a:rPr>
              <a:t>病院への同行・</a:t>
            </a:r>
          </a:p>
          <a:p>
            <a:pPr algn="l"/>
            <a:r>
              <a:rPr sz="1400" b="0">
                <a:solidFill>
                  <a:srgbClr val="222B3A"/>
                </a:solidFill>
                <a:latin typeface="Yu Gothic"/>
              </a:rPr>
              <a:t>薬の管理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058400" cy="640080"/>
          </a:xfrm>
          <a:prstGeom prst="rect">
            <a:avLst/>
          </a:prstGeom>
          <a:noFill/>
        </p:spPr>
        <p:txBody>
          <a:bodyPr wrap="square" lIns="0" rIns="0" tIns="0" bIns="0" anchor="ctr">
            <a:spAutoFit/>
          </a:bodyPr>
          <a:lstStyle/>
          <a:p>
            <a:pPr algn="l"/>
            <a:r>
              <a:rPr sz="2800" b="1">
                <a:solidFill>
                  <a:srgbClr val="FFFFFF"/>
                </a:solidFill>
                <a:latin typeface="Yu Gothic"/>
              </a:rPr>
              <a:t>03. 日本における現状</a:t>
            </a:r>
          </a:p>
        </p:txBody>
      </p:sp>
      <p:sp>
        <p:nvSpPr>
          <p:cNvPr id="5" name="TextBox 4"/>
          <p:cNvSpPr txBox="1"/>
          <p:nvPr/>
        </p:nvSpPr>
        <p:spPr>
          <a:xfrm>
            <a:off x="10789920" y="292608"/>
            <a:ext cx="1188720" cy="457200"/>
          </a:xfrm>
          <a:prstGeom prst="rect">
            <a:avLst/>
          </a:prstGeom>
          <a:noFill/>
        </p:spPr>
        <p:txBody>
          <a:bodyPr wrap="square" lIns="0" rIns="0" tIns="0" bIns="0" anchor="t">
            <a:spAutoFit/>
          </a:bodyPr>
          <a:lstStyle/>
          <a:p>
            <a:pPr algn="r"/>
            <a:r>
              <a:rPr sz="1200" b="0">
                <a:solidFill>
                  <a:srgbClr val="FFFFFF"/>
                </a:solidFill>
                <a:latin typeface="Yu Gothic"/>
              </a:rPr>
              <a:t>5 / 12</a:t>
            </a:r>
          </a:p>
        </p:txBody>
      </p:sp>
      <p:sp>
        <p:nvSpPr>
          <p:cNvPr id="6" name="Rectangle 5"/>
          <p:cNvSpPr/>
          <p:nvPr/>
        </p:nvSpPr>
        <p:spPr>
          <a:xfrm>
            <a:off x="0" y="960120"/>
            <a:ext cx="12191695"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058400" cy="320040"/>
          </a:xfrm>
          <a:prstGeom prst="rect">
            <a:avLst/>
          </a:prstGeom>
          <a:noFill/>
        </p:spPr>
        <p:txBody>
          <a:bodyPr wrap="square" lIns="0" rIns="0" tIns="0" bIns="0" anchor="t">
            <a:spAutoFit/>
          </a:bodyPr>
          <a:lstStyle/>
          <a:p>
            <a:pPr algn="l"/>
            <a:r>
              <a:rPr sz="1000" b="0">
                <a:solidFill>
                  <a:srgbClr val="667080"/>
                </a:solidFill>
                <a:latin typeface="Yu Gothic"/>
              </a:rPr>
              <a:t>ヤングケアラーを知る・支える</a:t>
            </a:r>
          </a:p>
        </p:txBody>
      </p:sp>
      <p:sp>
        <p:nvSpPr>
          <p:cNvPr id="8" name="TextBox 7"/>
          <p:cNvSpPr txBox="1"/>
          <p:nvPr/>
        </p:nvSpPr>
        <p:spPr>
          <a:xfrm>
            <a:off x="640080" y="1188720"/>
            <a:ext cx="10972800" cy="457200"/>
          </a:xfrm>
          <a:prstGeom prst="rect">
            <a:avLst/>
          </a:prstGeom>
          <a:noFill/>
        </p:spPr>
        <p:txBody>
          <a:bodyPr wrap="square" lIns="0" rIns="0" tIns="0" bIns="0" anchor="t">
            <a:spAutoFit/>
          </a:bodyPr>
          <a:lstStyle/>
          <a:p>
            <a:pPr algn="l"/>
            <a:r>
              <a:rPr sz="1400" b="0">
                <a:solidFill>
                  <a:srgbClr val="667080"/>
                </a:solidFill>
                <a:latin typeface="Yu Gothic"/>
              </a:rPr>
              <a:t>国の実態調査では、決して少なくない子どもがケアを担っていることが分かっています。</a:t>
            </a:r>
          </a:p>
        </p:txBody>
      </p:sp>
      <p:sp>
        <p:nvSpPr>
          <p:cNvPr id="9" name="Rounded Rectangle 8"/>
          <p:cNvSpPr/>
          <p:nvPr/>
        </p:nvSpPr>
        <p:spPr>
          <a:xfrm>
            <a:off x="640080" y="1828800"/>
            <a:ext cx="3593592" cy="2743200"/>
          </a:xfrm>
          <a:prstGeom prst="round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57400"/>
            <a:ext cx="3593592" cy="457200"/>
          </a:xfrm>
          <a:prstGeom prst="rect">
            <a:avLst/>
          </a:prstGeom>
          <a:noFill/>
        </p:spPr>
        <p:txBody>
          <a:bodyPr wrap="square" lIns="0" rIns="0" tIns="0" bIns="0" anchor="t">
            <a:spAutoFit/>
          </a:bodyPr>
          <a:lstStyle/>
          <a:p>
            <a:pPr algn="ctr"/>
            <a:r>
              <a:rPr sz="1600" b="1">
                <a:solidFill>
                  <a:srgbClr val="F5F7FA"/>
                </a:solidFill>
                <a:latin typeface="Yu Gothic"/>
              </a:rPr>
              <a:t>中学2年生</a:t>
            </a:r>
          </a:p>
        </p:txBody>
      </p:sp>
      <p:sp>
        <p:nvSpPr>
          <p:cNvPr id="11" name="TextBox 10"/>
          <p:cNvSpPr txBox="1"/>
          <p:nvPr/>
        </p:nvSpPr>
        <p:spPr>
          <a:xfrm>
            <a:off x="640080" y="2651760"/>
            <a:ext cx="3593592" cy="1097280"/>
          </a:xfrm>
          <a:prstGeom prst="rect">
            <a:avLst/>
          </a:prstGeom>
          <a:noFill/>
        </p:spPr>
        <p:txBody>
          <a:bodyPr wrap="square" lIns="0" rIns="0" tIns="0" bIns="0" anchor="ctr">
            <a:spAutoFit/>
          </a:bodyPr>
          <a:lstStyle/>
          <a:p>
            <a:pPr algn="ctr"/>
            <a:r>
              <a:rPr sz="2800" b="1">
                <a:solidFill>
                  <a:srgbClr val="FFFFFF"/>
                </a:solidFill>
                <a:latin typeface="Yu Gothic"/>
              </a:rPr>
              <a:t>約 17 人に 1 人</a:t>
            </a:r>
          </a:p>
        </p:txBody>
      </p:sp>
      <p:sp>
        <p:nvSpPr>
          <p:cNvPr id="12" name="Rectangle 11"/>
          <p:cNvSpPr/>
          <p:nvPr/>
        </p:nvSpPr>
        <p:spPr>
          <a:xfrm>
            <a:off x="1737360" y="3794760"/>
            <a:ext cx="1399032" cy="3657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931920"/>
            <a:ext cx="3593592" cy="548640"/>
          </a:xfrm>
          <a:prstGeom prst="rect">
            <a:avLst/>
          </a:prstGeom>
          <a:noFill/>
        </p:spPr>
        <p:txBody>
          <a:bodyPr wrap="square" lIns="0" rIns="0" tIns="0" bIns="0" anchor="t">
            <a:spAutoFit/>
          </a:bodyPr>
          <a:lstStyle/>
          <a:p>
            <a:pPr algn="ctr"/>
            <a:r>
              <a:rPr sz="1200" b="0">
                <a:solidFill>
                  <a:srgbClr val="F5F7FA"/>
                </a:solidFill>
                <a:latin typeface="Yu Gothic"/>
              </a:rPr>
              <a:t>クラスに1〜2人いる計算</a:t>
            </a:r>
          </a:p>
        </p:txBody>
      </p:sp>
      <p:sp>
        <p:nvSpPr>
          <p:cNvPr id="14" name="Rounded Rectangle 13"/>
          <p:cNvSpPr/>
          <p:nvPr/>
        </p:nvSpPr>
        <p:spPr>
          <a:xfrm>
            <a:off x="4416552" y="1828800"/>
            <a:ext cx="3593592" cy="2743200"/>
          </a:xfrm>
          <a:prstGeom prst="round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6552" y="2057400"/>
            <a:ext cx="3593592" cy="457200"/>
          </a:xfrm>
          <a:prstGeom prst="rect">
            <a:avLst/>
          </a:prstGeom>
          <a:noFill/>
        </p:spPr>
        <p:txBody>
          <a:bodyPr wrap="square" lIns="0" rIns="0" tIns="0" bIns="0" anchor="t">
            <a:spAutoFit/>
          </a:bodyPr>
          <a:lstStyle/>
          <a:p>
            <a:pPr algn="ctr"/>
            <a:r>
              <a:rPr sz="1600" b="1">
                <a:solidFill>
                  <a:srgbClr val="F5F7FA"/>
                </a:solidFill>
                <a:latin typeface="Yu Gothic"/>
              </a:rPr>
              <a:t>全日制高校2年生</a:t>
            </a:r>
          </a:p>
        </p:txBody>
      </p:sp>
      <p:sp>
        <p:nvSpPr>
          <p:cNvPr id="16" name="TextBox 15"/>
          <p:cNvSpPr txBox="1"/>
          <p:nvPr/>
        </p:nvSpPr>
        <p:spPr>
          <a:xfrm>
            <a:off x="4416552" y="2651760"/>
            <a:ext cx="3593592" cy="1097280"/>
          </a:xfrm>
          <a:prstGeom prst="rect">
            <a:avLst/>
          </a:prstGeom>
          <a:noFill/>
        </p:spPr>
        <p:txBody>
          <a:bodyPr wrap="square" lIns="0" rIns="0" tIns="0" bIns="0" anchor="ctr">
            <a:spAutoFit/>
          </a:bodyPr>
          <a:lstStyle/>
          <a:p>
            <a:pPr algn="ctr"/>
            <a:r>
              <a:rPr sz="2800" b="1">
                <a:solidFill>
                  <a:srgbClr val="FFFFFF"/>
                </a:solidFill>
                <a:latin typeface="Yu Gothic"/>
              </a:rPr>
              <a:t>約 24 人に 1 人</a:t>
            </a:r>
          </a:p>
        </p:txBody>
      </p:sp>
      <p:sp>
        <p:nvSpPr>
          <p:cNvPr id="17" name="Rectangle 16"/>
          <p:cNvSpPr/>
          <p:nvPr/>
        </p:nvSpPr>
        <p:spPr>
          <a:xfrm>
            <a:off x="5513832" y="3794760"/>
            <a:ext cx="1399032" cy="3657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16552" y="3931920"/>
            <a:ext cx="3593592" cy="548640"/>
          </a:xfrm>
          <a:prstGeom prst="rect">
            <a:avLst/>
          </a:prstGeom>
          <a:noFill/>
        </p:spPr>
        <p:txBody>
          <a:bodyPr wrap="square" lIns="0" rIns="0" tIns="0" bIns="0" anchor="t">
            <a:spAutoFit/>
          </a:bodyPr>
          <a:lstStyle/>
          <a:p>
            <a:pPr algn="ctr"/>
            <a:r>
              <a:rPr sz="1200" b="0">
                <a:solidFill>
                  <a:srgbClr val="F5F7FA"/>
                </a:solidFill>
                <a:latin typeface="Yu Gothic"/>
              </a:rPr>
              <a:t>見えにくいが確実に存在</a:t>
            </a:r>
          </a:p>
        </p:txBody>
      </p:sp>
      <p:sp>
        <p:nvSpPr>
          <p:cNvPr id="19" name="Rounded Rectangle 18"/>
          <p:cNvSpPr/>
          <p:nvPr/>
        </p:nvSpPr>
        <p:spPr>
          <a:xfrm>
            <a:off x="8193024" y="1828800"/>
            <a:ext cx="3593592" cy="2743200"/>
          </a:xfrm>
          <a:prstGeom prst="round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93024" y="2057400"/>
            <a:ext cx="3593592" cy="457200"/>
          </a:xfrm>
          <a:prstGeom prst="rect">
            <a:avLst/>
          </a:prstGeom>
          <a:noFill/>
        </p:spPr>
        <p:txBody>
          <a:bodyPr wrap="square" lIns="0" rIns="0" tIns="0" bIns="0" anchor="t">
            <a:spAutoFit/>
          </a:bodyPr>
          <a:lstStyle/>
          <a:p>
            <a:pPr algn="ctr"/>
            <a:r>
              <a:rPr sz="1600" b="1">
                <a:solidFill>
                  <a:srgbClr val="F5F7FA"/>
                </a:solidFill>
                <a:latin typeface="Yu Gothic"/>
              </a:rPr>
              <a:t>小学6年生</a:t>
            </a:r>
          </a:p>
        </p:txBody>
      </p:sp>
      <p:sp>
        <p:nvSpPr>
          <p:cNvPr id="21" name="TextBox 20"/>
          <p:cNvSpPr txBox="1"/>
          <p:nvPr/>
        </p:nvSpPr>
        <p:spPr>
          <a:xfrm>
            <a:off x="8193024" y="2651760"/>
            <a:ext cx="3593592" cy="1097280"/>
          </a:xfrm>
          <a:prstGeom prst="rect">
            <a:avLst/>
          </a:prstGeom>
          <a:noFill/>
        </p:spPr>
        <p:txBody>
          <a:bodyPr wrap="square" lIns="0" rIns="0" tIns="0" bIns="0" anchor="ctr">
            <a:spAutoFit/>
          </a:bodyPr>
          <a:lstStyle/>
          <a:p>
            <a:pPr algn="ctr"/>
            <a:r>
              <a:rPr sz="2800" b="1">
                <a:solidFill>
                  <a:srgbClr val="FFFFFF"/>
                </a:solidFill>
                <a:latin typeface="Yu Gothic"/>
              </a:rPr>
              <a:t>約 15 人に 1 人</a:t>
            </a:r>
          </a:p>
        </p:txBody>
      </p:sp>
      <p:sp>
        <p:nvSpPr>
          <p:cNvPr id="22" name="Rectangle 21"/>
          <p:cNvSpPr/>
          <p:nvPr/>
        </p:nvSpPr>
        <p:spPr>
          <a:xfrm>
            <a:off x="9290304" y="3794760"/>
            <a:ext cx="1399032" cy="3657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93024" y="3931920"/>
            <a:ext cx="3593592" cy="548640"/>
          </a:xfrm>
          <a:prstGeom prst="rect">
            <a:avLst/>
          </a:prstGeom>
          <a:noFill/>
        </p:spPr>
        <p:txBody>
          <a:bodyPr wrap="square" lIns="0" rIns="0" tIns="0" bIns="0" anchor="t">
            <a:spAutoFit/>
          </a:bodyPr>
          <a:lstStyle/>
          <a:p>
            <a:pPr algn="ctr"/>
            <a:r>
              <a:rPr sz="1200" b="0">
                <a:solidFill>
                  <a:srgbClr val="F5F7FA"/>
                </a:solidFill>
                <a:latin typeface="Yu Gothic"/>
              </a:rPr>
              <a:t>低年齢化も指摘される</a:t>
            </a:r>
          </a:p>
        </p:txBody>
      </p:sp>
      <p:sp>
        <p:nvSpPr>
          <p:cNvPr id="24" name="Rounded Rectangle 23"/>
          <p:cNvSpPr/>
          <p:nvPr/>
        </p:nvSpPr>
        <p:spPr>
          <a:xfrm>
            <a:off x="640080" y="4846320"/>
            <a:ext cx="10972800" cy="128016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83480"/>
            <a:ext cx="10515600" cy="457200"/>
          </a:xfrm>
          <a:prstGeom prst="rect">
            <a:avLst/>
          </a:prstGeom>
          <a:noFill/>
        </p:spPr>
        <p:txBody>
          <a:bodyPr wrap="square" lIns="0" rIns="0" tIns="0" bIns="0" anchor="t">
            <a:spAutoFit/>
          </a:bodyPr>
          <a:lstStyle/>
          <a:p>
            <a:pPr algn="l"/>
            <a:r>
              <a:rPr sz="1500" b="1">
                <a:solidFill>
                  <a:srgbClr val="F28C28"/>
                </a:solidFill>
                <a:latin typeface="Yu Gothic"/>
              </a:rPr>
              <a:t>■ 気づかれにくい問題</a:t>
            </a:r>
          </a:p>
        </p:txBody>
      </p:sp>
      <p:sp>
        <p:nvSpPr>
          <p:cNvPr id="26" name="TextBox 25"/>
          <p:cNvSpPr txBox="1"/>
          <p:nvPr/>
        </p:nvSpPr>
        <p:spPr>
          <a:xfrm>
            <a:off x="914400" y="5394960"/>
            <a:ext cx="10515600" cy="731520"/>
          </a:xfrm>
          <a:prstGeom prst="rect">
            <a:avLst/>
          </a:prstGeom>
          <a:noFill/>
        </p:spPr>
        <p:txBody>
          <a:bodyPr wrap="square" lIns="0" rIns="0" tIns="0" bIns="0" anchor="t">
            <a:spAutoFit/>
          </a:bodyPr>
          <a:lstStyle/>
          <a:p>
            <a:pPr algn="l"/>
            <a:r>
              <a:rPr sz="1300" b="0">
                <a:solidFill>
                  <a:srgbClr val="222B3A"/>
                </a:solidFill>
                <a:latin typeface="Yu Gothic"/>
              </a:rPr>
              <a:t>・自分が「ヤングケアラー」だと自覚していない子どもが多い</a:t>
            </a:r>
          </a:p>
          <a:p>
            <a:pPr algn="l"/>
            <a:r>
              <a:rPr sz="1300" b="0">
                <a:solidFill>
                  <a:srgbClr val="222B3A"/>
                </a:solidFill>
                <a:latin typeface="Yu Gothic"/>
              </a:rPr>
              <a:t>・「家のことだから」と外に相談できないまま我慢してしまうケースが目立つ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058400" cy="640080"/>
          </a:xfrm>
          <a:prstGeom prst="rect">
            <a:avLst/>
          </a:prstGeom>
          <a:noFill/>
        </p:spPr>
        <p:txBody>
          <a:bodyPr wrap="square" lIns="0" rIns="0" tIns="0" bIns="0" anchor="ctr">
            <a:spAutoFit/>
          </a:bodyPr>
          <a:lstStyle/>
          <a:p>
            <a:pPr algn="l"/>
            <a:r>
              <a:rPr sz="2800" b="1">
                <a:solidFill>
                  <a:srgbClr val="FFFFFF"/>
                </a:solidFill>
                <a:latin typeface="Yu Gothic"/>
              </a:rPr>
              <a:t>04. 背景にある社会的要因</a:t>
            </a:r>
          </a:p>
        </p:txBody>
      </p:sp>
      <p:sp>
        <p:nvSpPr>
          <p:cNvPr id="5" name="TextBox 4"/>
          <p:cNvSpPr txBox="1"/>
          <p:nvPr/>
        </p:nvSpPr>
        <p:spPr>
          <a:xfrm>
            <a:off x="10789920" y="292608"/>
            <a:ext cx="1188720" cy="457200"/>
          </a:xfrm>
          <a:prstGeom prst="rect">
            <a:avLst/>
          </a:prstGeom>
          <a:noFill/>
        </p:spPr>
        <p:txBody>
          <a:bodyPr wrap="square" lIns="0" rIns="0" tIns="0" bIns="0" anchor="t">
            <a:spAutoFit/>
          </a:bodyPr>
          <a:lstStyle/>
          <a:p>
            <a:pPr algn="r"/>
            <a:r>
              <a:rPr sz="1200" b="0">
                <a:solidFill>
                  <a:srgbClr val="FFFFFF"/>
                </a:solidFill>
                <a:latin typeface="Yu Gothic"/>
              </a:rPr>
              <a:t>6 / 12</a:t>
            </a:r>
          </a:p>
        </p:txBody>
      </p:sp>
      <p:sp>
        <p:nvSpPr>
          <p:cNvPr id="6" name="Rectangle 5"/>
          <p:cNvSpPr/>
          <p:nvPr/>
        </p:nvSpPr>
        <p:spPr>
          <a:xfrm>
            <a:off x="0" y="960120"/>
            <a:ext cx="12191695"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058400" cy="320040"/>
          </a:xfrm>
          <a:prstGeom prst="rect">
            <a:avLst/>
          </a:prstGeom>
          <a:noFill/>
        </p:spPr>
        <p:txBody>
          <a:bodyPr wrap="square" lIns="0" rIns="0" tIns="0" bIns="0" anchor="t">
            <a:spAutoFit/>
          </a:bodyPr>
          <a:lstStyle/>
          <a:p>
            <a:pPr algn="l"/>
            <a:r>
              <a:rPr sz="1000" b="0">
                <a:solidFill>
                  <a:srgbClr val="667080"/>
                </a:solidFill>
                <a:latin typeface="Yu Gothic"/>
              </a:rPr>
              <a:t>ヤングケアラーを知る・支える</a:t>
            </a:r>
          </a:p>
        </p:txBody>
      </p:sp>
      <p:sp>
        <p:nvSpPr>
          <p:cNvPr id="8" name="Rounded Rectangle 7"/>
          <p:cNvSpPr/>
          <p:nvPr/>
        </p:nvSpPr>
        <p:spPr>
          <a:xfrm>
            <a:off x="640080" y="1463040"/>
            <a:ext cx="3593592" cy="2286000"/>
          </a:xfrm>
          <a:prstGeom prst="roundRect">
            <a:avLst/>
          </a:prstGeom>
          <a:solidFill>
            <a:srgbClr val="FFFFFF"/>
          </a:solidFill>
          <a:ln>
            <a:solidFill>
              <a:srgbClr val="F28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28016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280160"/>
            <a:ext cx="640080" cy="640080"/>
          </a:xfrm>
          <a:prstGeom prst="rect">
            <a:avLst/>
          </a:prstGeom>
          <a:noFill/>
        </p:spPr>
        <p:txBody>
          <a:bodyPr wrap="square" lIns="0" rIns="0" tIns="0" bIns="0" anchor="ctr">
            <a:spAutoFit/>
          </a:bodyPr>
          <a:lstStyle/>
          <a:p>
            <a:pPr algn="ctr"/>
            <a:r>
              <a:rPr sz="1800" b="1">
                <a:solidFill>
                  <a:srgbClr val="FFFFFF"/>
                </a:solidFill>
                <a:latin typeface="Yu Gothic"/>
              </a:rPr>
              <a:t>1</a:t>
            </a:r>
          </a:p>
        </p:txBody>
      </p:sp>
      <p:sp>
        <p:nvSpPr>
          <p:cNvPr id="11" name="TextBox 10"/>
          <p:cNvSpPr txBox="1"/>
          <p:nvPr/>
        </p:nvSpPr>
        <p:spPr>
          <a:xfrm>
            <a:off x="1737360" y="1508760"/>
            <a:ext cx="2377440" cy="548640"/>
          </a:xfrm>
          <a:prstGeom prst="rect">
            <a:avLst/>
          </a:prstGeom>
          <a:noFill/>
        </p:spPr>
        <p:txBody>
          <a:bodyPr wrap="square" lIns="0" rIns="0" tIns="0" bIns="0" anchor="ctr">
            <a:spAutoFit/>
          </a:bodyPr>
          <a:lstStyle/>
          <a:p>
            <a:pPr algn="l"/>
            <a:r>
              <a:rPr sz="1700" b="1">
                <a:solidFill>
                  <a:srgbClr val="2E5E8A"/>
                </a:solidFill>
                <a:latin typeface="Yu Gothic"/>
              </a:rPr>
              <a:t>少子高齢化</a:t>
            </a:r>
          </a:p>
        </p:txBody>
      </p:sp>
      <p:sp>
        <p:nvSpPr>
          <p:cNvPr id="12" name="TextBox 11"/>
          <p:cNvSpPr txBox="1"/>
          <p:nvPr/>
        </p:nvSpPr>
        <p:spPr>
          <a:xfrm>
            <a:off x="914400" y="2377440"/>
            <a:ext cx="3017520" cy="1188720"/>
          </a:xfrm>
          <a:prstGeom prst="rect">
            <a:avLst/>
          </a:prstGeom>
          <a:noFill/>
        </p:spPr>
        <p:txBody>
          <a:bodyPr wrap="square" lIns="0" rIns="0" tIns="0" bIns="0" anchor="t">
            <a:spAutoFit/>
          </a:bodyPr>
          <a:lstStyle/>
          <a:p>
            <a:pPr algn="l"/>
            <a:r>
              <a:rPr sz="1400" b="0">
                <a:solidFill>
                  <a:srgbClr val="222B3A"/>
                </a:solidFill>
                <a:latin typeface="Yu Gothic"/>
              </a:rPr>
              <a:t>祖父母世代の介護を</a:t>
            </a:r>
          </a:p>
          <a:p>
            <a:pPr algn="l"/>
            <a:r>
              <a:rPr sz="1400" b="0">
                <a:solidFill>
                  <a:srgbClr val="222B3A"/>
                </a:solidFill>
                <a:latin typeface="Yu Gothic"/>
              </a:rPr>
              <a:t>孫が担う家庭が増加</a:t>
            </a:r>
          </a:p>
        </p:txBody>
      </p:sp>
      <p:sp>
        <p:nvSpPr>
          <p:cNvPr id="13" name="Rounded Rectangle 12"/>
          <p:cNvSpPr/>
          <p:nvPr/>
        </p:nvSpPr>
        <p:spPr>
          <a:xfrm>
            <a:off x="4416552" y="1463040"/>
            <a:ext cx="3593592" cy="2286000"/>
          </a:xfrm>
          <a:prstGeom prst="roundRect">
            <a:avLst/>
          </a:prstGeom>
          <a:solidFill>
            <a:srgbClr val="FFFFFF"/>
          </a:solidFill>
          <a:ln>
            <a:solidFill>
              <a:srgbClr val="F28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90872" y="128016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90872" y="1280160"/>
            <a:ext cx="640080" cy="640080"/>
          </a:xfrm>
          <a:prstGeom prst="rect">
            <a:avLst/>
          </a:prstGeom>
          <a:noFill/>
        </p:spPr>
        <p:txBody>
          <a:bodyPr wrap="square" lIns="0" rIns="0" tIns="0" bIns="0" anchor="ctr">
            <a:spAutoFit/>
          </a:bodyPr>
          <a:lstStyle/>
          <a:p>
            <a:pPr algn="ctr"/>
            <a:r>
              <a:rPr sz="1800" b="1">
                <a:solidFill>
                  <a:srgbClr val="FFFFFF"/>
                </a:solidFill>
                <a:latin typeface="Yu Gothic"/>
              </a:rPr>
              <a:t>2</a:t>
            </a:r>
          </a:p>
        </p:txBody>
      </p:sp>
      <p:sp>
        <p:nvSpPr>
          <p:cNvPr id="16" name="TextBox 15"/>
          <p:cNvSpPr txBox="1"/>
          <p:nvPr/>
        </p:nvSpPr>
        <p:spPr>
          <a:xfrm>
            <a:off x="5513832" y="1508760"/>
            <a:ext cx="2377440" cy="548640"/>
          </a:xfrm>
          <a:prstGeom prst="rect">
            <a:avLst/>
          </a:prstGeom>
          <a:noFill/>
        </p:spPr>
        <p:txBody>
          <a:bodyPr wrap="square" lIns="0" rIns="0" tIns="0" bIns="0" anchor="ctr">
            <a:spAutoFit/>
          </a:bodyPr>
          <a:lstStyle/>
          <a:p>
            <a:pPr algn="l"/>
            <a:r>
              <a:rPr sz="1700" b="1">
                <a:solidFill>
                  <a:srgbClr val="2E5E8A"/>
                </a:solidFill>
                <a:latin typeface="Yu Gothic"/>
              </a:rPr>
              <a:t>核家族化・ひとり親</a:t>
            </a:r>
          </a:p>
        </p:txBody>
      </p:sp>
      <p:sp>
        <p:nvSpPr>
          <p:cNvPr id="17" name="TextBox 16"/>
          <p:cNvSpPr txBox="1"/>
          <p:nvPr/>
        </p:nvSpPr>
        <p:spPr>
          <a:xfrm>
            <a:off x="4690872" y="2377440"/>
            <a:ext cx="3017520" cy="1188720"/>
          </a:xfrm>
          <a:prstGeom prst="rect">
            <a:avLst/>
          </a:prstGeom>
          <a:noFill/>
        </p:spPr>
        <p:txBody>
          <a:bodyPr wrap="square" lIns="0" rIns="0" tIns="0" bIns="0" anchor="t">
            <a:spAutoFit/>
          </a:bodyPr>
          <a:lstStyle/>
          <a:p>
            <a:pPr algn="l"/>
            <a:r>
              <a:rPr sz="1400" b="0">
                <a:solidFill>
                  <a:srgbClr val="222B3A"/>
                </a:solidFill>
                <a:latin typeface="Yu Gothic"/>
              </a:rPr>
              <a:t>家族内に</a:t>
            </a:r>
          </a:p>
          <a:p>
            <a:pPr algn="l"/>
            <a:r>
              <a:rPr sz="1400" b="0">
                <a:solidFill>
                  <a:srgbClr val="222B3A"/>
                </a:solidFill>
                <a:latin typeface="Yu Gothic"/>
              </a:rPr>
              <a:t>大人の手が少ない</a:t>
            </a:r>
          </a:p>
        </p:txBody>
      </p:sp>
      <p:sp>
        <p:nvSpPr>
          <p:cNvPr id="18" name="Rounded Rectangle 17"/>
          <p:cNvSpPr/>
          <p:nvPr/>
        </p:nvSpPr>
        <p:spPr>
          <a:xfrm>
            <a:off x="8193024" y="1463040"/>
            <a:ext cx="3593592" cy="2286000"/>
          </a:xfrm>
          <a:prstGeom prst="roundRect">
            <a:avLst/>
          </a:prstGeom>
          <a:solidFill>
            <a:srgbClr val="FFFFFF"/>
          </a:solidFill>
          <a:ln>
            <a:solidFill>
              <a:srgbClr val="F28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67344" y="128016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67344" y="1280160"/>
            <a:ext cx="640080" cy="640080"/>
          </a:xfrm>
          <a:prstGeom prst="rect">
            <a:avLst/>
          </a:prstGeom>
          <a:noFill/>
        </p:spPr>
        <p:txBody>
          <a:bodyPr wrap="square" lIns="0" rIns="0" tIns="0" bIns="0" anchor="ctr">
            <a:spAutoFit/>
          </a:bodyPr>
          <a:lstStyle/>
          <a:p>
            <a:pPr algn="ctr"/>
            <a:r>
              <a:rPr sz="1800" b="1">
                <a:solidFill>
                  <a:srgbClr val="FFFFFF"/>
                </a:solidFill>
                <a:latin typeface="Yu Gothic"/>
              </a:rPr>
              <a:t>3</a:t>
            </a:r>
          </a:p>
        </p:txBody>
      </p:sp>
      <p:sp>
        <p:nvSpPr>
          <p:cNvPr id="21" name="TextBox 20"/>
          <p:cNvSpPr txBox="1"/>
          <p:nvPr/>
        </p:nvSpPr>
        <p:spPr>
          <a:xfrm>
            <a:off x="9290304" y="1508760"/>
            <a:ext cx="2377440" cy="548640"/>
          </a:xfrm>
          <a:prstGeom prst="rect">
            <a:avLst/>
          </a:prstGeom>
          <a:noFill/>
        </p:spPr>
        <p:txBody>
          <a:bodyPr wrap="square" lIns="0" rIns="0" tIns="0" bIns="0" anchor="ctr">
            <a:spAutoFit/>
          </a:bodyPr>
          <a:lstStyle/>
          <a:p>
            <a:pPr algn="l"/>
            <a:r>
              <a:rPr sz="1700" b="1">
                <a:solidFill>
                  <a:srgbClr val="2E5E8A"/>
                </a:solidFill>
                <a:latin typeface="Yu Gothic"/>
              </a:rPr>
              <a:t>共働きの増加</a:t>
            </a:r>
          </a:p>
        </p:txBody>
      </p:sp>
      <p:sp>
        <p:nvSpPr>
          <p:cNvPr id="22" name="TextBox 21"/>
          <p:cNvSpPr txBox="1"/>
          <p:nvPr/>
        </p:nvSpPr>
        <p:spPr>
          <a:xfrm>
            <a:off x="8467344" y="2377440"/>
            <a:ext cx="3017520" cy="1188720"/>
          </a:xfrm>
          <a:prstGeom prst="rect">
            <a:avLst/>
          </a:prstGeom>
          <a:noFill/>
        </p:spPr>
        <p:txBody>
          <a:bodyPr wrap="square" lIns="0" rIns="0" tIns="0" bIns="0" anchor="t">
            <a:spAutoFit/>
          </a:bodyPr>
          <a:lstStyle/>
          <a:p>
            <a:pPr algn="l"/>
            <a:r>
              <a:rPr sz="1400" b="0">
                <a:solidFill>
                  <a:srgbClr val="222B3A"/>
                </a:solidFill>
                <a:latin typeface="Yu Gothic"/>
              </a:rPr>
              <a:t>保護者が日中不在の</a:t>
            </a:r>
          </a:p>
          <a:p>
            <a:pPr algn="l"/>
            <a:r>
              <a:rPr sz="1400" b="0">
                <a:solidFill>
                  <a:srgbClr val="222B3A"/>
                </a:solidFill>
                <a:latin typeface="Yu Gothic"/>
              </a:rPr>
              <a:t>時間が長くなる</a:t>
            </a:r>
          </a:p>
        </p:txBody>
      </p:sp>
      <p:sp>
        <p:nvSpPr>
          <p:cNvPr id="23" name="Rounded Rectangle 22"/>
          <p:cNvSpPr/>
          <p:nvPr/>
        </p:nvSpPr>
        <p:spPr>
          <a:xfrm>
            <a:off x="640080" y="3931920"/>
            <a:ext cx="3593592" cy="2286000"/>
          </a:xfrm>
          <a:prstGeom prst="roundRect">
            <a:avLst/>
          </a:prstGeom>
          <a:solidFill>
            <a:srgbClr val="FFFFFF"/>
          </a:solidFill>
          <a:ln>
            <a:solidFill>
              <a:srgbClr val="F28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4400" y="374904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749040"/>
            <a:ext cx="640080" cy="640080"/>
          </a:xfrm>
          <a:prstGeom prst="rect">
            <a:avLst/>
          </a:prstGeom>
          <a:noFill/>
        </p:spPr>
        <p:txBody>
          <a:bodyPr wrap="square" lIns="0" rIns="0" tIns="0" bIns="0" anchor="ctr">
            <a:spAutoFit/>
          </a:bodyPr>
          <a:lstStyle/>
          <a:p>
            <a:pPr algn="ctr"/>
            <a:r>
              <a:rPr sz="1800" b="1">
                <a:solidFill>
                  <a:srgbClr val="FFFFFF"/>
                </a:solidFill>
                <a:latin typeface="Yu Gothic"/>
              </a:rPr>
              <a:t>4</a:t>
            </a:r>
          </a:p>
        </p:txBody>
      </p:sp>
      <p:sp>
        <p:nvSpPr>
          <p:cNvPr id="26" name="TextBox 25"/>
          <p:cNvSpPr txBox="1"/>
          <p:nvPr/>
        </p:nvSpPr>
        <p:spPr>
          <a:xfrm>
            <a:off x="1737360" y="3977640"/>
            <a:ext cx="2377440" cy="548640"/>
          </a:xfrm>
          <a:prstGeom prst="rect">
            <a:avLst/>
          </a:prstGeom>
          <a:noFill/>
        </p:spPr>
        <p:txBody>
          <a:bodyPr wrap="square" lIns="0" rIns="0" tIns="0" bIns="0" anchor="ctr">
            <a:spAutoFit/>
          </a:bodyPr>
          <a:lstStyle/>
          <a:p>
            <a:pPr algn="l"/>
            <a:r>
              <a:rPr sz="1700" b="1">
                <a:solidFill>
                  <a:srgbClr val="2E5E8A"/>
                </a:solidFill>
                <a:latin typeface="Yu Gothic"/>
              </a:rPr>
              <a:t>精神疾患・障害</a:t>
            </a:r>
          </a:p>
        </p:txBody>
      </p:sp>
      <p:sp>
        <p:nvSpPr>
          <p:cNvPr id="27" name="TextBox 26"/>
          <p:cNvSpPr txBox="1"/>
          <p:nvPr/>
        </p:nvSpPr>
        <p:spPr>
          <a:xfrm>
            <a:off x="914400" y="4846320"/>
            <a:ext cx="3017520" cy="1188720"/>
          </a:xfrm>
          <a:prstGeom prst="rect">
            <a:avLst/>
          </a:prstGeom>
          <a:noFill/>
        </p:spPr>
        <p:txBody>
          <a:bodyPr wrap="square" lIns="0" rIns="0" tIns="0" bIns="0" anchor="t">
            <a:spAutoFit/>
          </a:bodyPr>
          <a:lstStyle/>
          <a:p>
            <a:pPr algn="l"/>
            <a:r>
              <a:rPr sz="1400" b="0">
                <a:solidFill>
                  <a:srgbClr val="222B3A"/>
                </a:solidFill>
                <a:latin typeface="Yu Gothic"/>
              </a:rPr>
              <a:t>親やきょうだいに</a:t>
            </a:r>
          </a:p>
          <a:p>
            <a:pPr algn="l"/>
            <a:r>
              <a:rPr sz="1400" b="0">
                <a:solidFill>
                  <a:srgbClr val="222B3A"/>
                </a:solidFill>
                <a:latin typeface="Yu Gothic"/>
              </a:rPr>
              <a:t>ケアが必要な場合</a:t>
            </a:r>
          </a:p>
        </p:txBody>
      </p:sp>
      <p:sp>
        <p:nvSpPr>
          <p:cNvPr id="28" name="Rounded Rectangle 27"/>
          <p:cNvSpPr/>
          <p:nvPr/>
        </p:nvSpPr>
        <p:spPr>
          <a:xfrm>
            <a:off x="4416552" y="3931920"/>
            <a:ext cx="3593592" cy="2286000"/>
          </a:xfrm>
          <a:prstGeom prst="roundRect">
            <a:avLst/>
          </a:prstGeom>
          <a:solidFill>
            <a:srgbClr val="FFFFFF"/>
          </a:solidFill>
          <a:ln>
            <a:solidFill>
              <a:srgbClr val="F28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690872" y="374904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90872" y="3749040"/>
            <a:ext cx="640080" cy="640080"/>
          </a:xfrm>
          <a:prstGeom prst="rect">
            <a:avLst/>
          </a:prstGeom>
          <a:noFill/>
        </p:spPr>
        <p:txBody>
          <a:bodyPr wrap="square" lIns="0" rIns="0" tIns="0" bIns="0" anchor="ctr">
            <a:spAutoFit/>
          </a:bodyPr>
          <a:lstStyle/>
          <a:p>
            <a:pPr algn="ctr"/>
            <a:r>
              <a:rPr sz="1800" b="1">
                <a:solidFill>
                  <a:srgbClr val="FFFFFF"/>
                </a:solidFill>
                <a:latin typeface="Yu Gothic"/>
              </a:rPr>
              <a:t>5</a:t>
            </a:r>
          </a:p>
        </p:txBody>
      </p:sp>
      <p:sp>
        <p:nvSpPr>
          <p:cNvPr id="31" name="TextBox 30"/>
          <p:cNvSpPr txBox="1"/>
          <p:nvPr/>
        </p:nvSpPr>
        <p:spPr>
          <a:xfrm>
            <a:off x="5513832" y="3977640"/>
            <a:ext cx="2377440" cy="548640"/>
          </a:xfrm>
          <a:prstGeom prst="rect">
            <a:avLst/>
          </a:prstGeom>
          <a:noFill/>
        </p:spPr>
        <p:txBody>
          <a:bodyPr wrap="square" lIns="0" rIns="0" tIns="0" bIns="0" anchor="ctr">
            <a:spAutoFit/>
          </a:bodyPr>
          <a:lstStyle/>
          <a:p>
            <a:pPr algn="l"/>
            <a:r>
              <a:rPr sz="1700" b="1">
                <a:solidFill>
                  <a:srgbClr val="2E5E8A"/>
                </a:solidFill>
                <a:latin typeface="Yu Gothic"/>
              </a:rPr>
              <a:t>経済的困窮</a:t>
            </a:r>
          </a:p>
        </p:txBody>
      </p:sp>
      <p:sp>
        <p:nvSpPr>
          <p:cNvPr id="32" name="TextBox 31"/>
          <p:cNvSpPr txBox="1"/>
          <p:nvPr/>
        </p:nvSpPr>
        <p:spPr>
          <a:xfrm>
            <a:off x="4690872" y="4846320"/>
            <a:ext cx="3017520" cy="1188720"/>
          </a:xfrm>
          <a:prstGeom prst="rect">
            <a:avLst/>
          </a:prstGeom>
          <a:noFill/>
        </p:spPr>
        <p:txBody>
          <a:bodyPr wrap="square" lIns="0" rIns="0" tIns="0" bIns="0" anchor="t">
            <a:spAutoFit/>
          </a:bodyPr>
          <a:lstStyle/>
          <a:p>
            <a:pPr algn="l"/>
            <a:r>
              <a:rPr sz="1400" b="0">
                <a:solidFill>
                  <a:srgbClr val="222B3A"/>
                </a:solidFill>
                <a:latin typeface="Yu Gothic"/>
              </a:rPr>
              <a:t>外部サービスを</a:t>
            </a:r>
          </a:p>
          <a:p>
            <a:pPr algn="l"/>
            <a:r>
              <a:rPr sz="1400" b="0">
                <a:solidFill>
                  <a:srgbClr val="222B3A"/>
                </a:solidFill>
                <a:latin typeface="Yu Gothic"/>
              </a:rPr>
              <a:t>利用しづらい</a:t>
            </a:r>
          </a:p>
        </p:txBody>
      </p:sp>
      <p:sp>
        <p:nvSpPr>
          <p:cNvPr id="33" name="Rounded Rectangle 32"/>
          <p:cNvSpPr/>
          <p:nvPr/>
        </p:nvSpPr>
        <p:spPr>
          <a:xfrm>
            <a:off x="8193024" y="3931920"/>
            <a:ext cx="3593592" cy="2286000"/>
          </a:xfrm>
          <a:prstGeom prst="roundRect">
            <a:avLst/>
          </a:prstGeom>
          <a:solidFill>
            <a:srgbClr val="FFFFFF"/>
          </a:solidFill>
          <a:ln>
            <a:solidFill>
              <a:srgbClr val="F28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467344" y="3749040"/>
            <a:ext cx="640080" cy="64008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7344" y="3749040"/>
            <a:ext cx="640080" cy="640080"/>
          </a:xfrm>
          <a:prstGeom prst="rect">
            <a:avLst/>
          </a:prstGeom>
          <a:noFill/>
        </p:spPr>
        <p:txBody>
          <a:bodyPr wrap="square" lIns="0" rIns="0" tIns="0" bIns="0" anchor="ctr">
            <a:spAutoFit/>
          </a:bodyPr>
          <a:lstStyle/>
          <a:p>
            <a:pPr algn="ctr"/>
            <a:r>
              <a:rPr sz="1800" b="1">
                <a:solidFill>
                  <a:srgbClr val="FFFFFF"/>
                </a:solidFill>
                <a:latin typeface="Yu Gothic"/>
              </a:rPr>
              <a:t>6</a:t>
            </a:r>
          </a:p>
        </p:txBody>
      </p:sp>
      <p:sp>
        <p:nvSpPr>
          <p:cNvPr id="36" name="TextBox 35"/>
          <p:cNvSpPr txBox="1"/>
          <p:nvPr/>
        </p:nvSpPr>
        <p:spPr>
          <a:xfrm>
            <a:off x="9290304" y="3977640"/>
            <a:ext cx="2377440" cy="548640"/>
          </a:xfrm>
          <a:prstGeom prst="rect">
            <a:avLst/>
          </a:prstGeom>
          <a:noFill/>
        </p:spPr>
        <p:txBody>
          <a:bodyPr wrap="square" lIns="0" rIns="0" tIns="0" bIns="0" anchor="ctr">
            <a:spAutoFit/>
          </a:bodyPr>
          <a:lstStyle/>
          <a:p>
            <a:pPr algn="l"/>
            <a:r>
              <a:rPr sz="1700" b="1">
                <a:solidFill>
                  <a:srgbClr val="2E5E8A"/>
                </a:solidFill>
                <a:latin typeface="Yu Gothic"/>
              </a:rPr>
              <a:t>外国ルーツの家庭</a:t>
            </a:r>
          </a:p>
        </p:txBody>
      </p:sp>
      <p:sp>
        <p:nvSpPr>
          <p:cNvPr id="37" name="TextBox 36"/>
          <p:cNvSpPr txBox="1"/>
          <p:nvPr/>
        </p:nvSpPr>
        <p:spPr>
          <a:xfrm>
            <a:off x="8467344" y="4846320"/>
            <a:ext cx="3017520" cy="1188720"/>
          </a:xfrm>
          <a:prstGeom prst="rect">
            <a:avLst/>
          </a:prstGeom>
          <a:noFill/>
        </p:spPr>
        <p:txBody>
          <a:bodyPr wrap="square" lIns="0" rIns="0" tIns="0" bIns="0" anchor="t">
            <a:spAutoFit/>
          </a:bodyPr>
          <a:lstStyle/>
          <a:p>
            <a:pPr algn="l"/>
            <a:r>
              <a:rPr sz="1400" b="0">
                <a:solidFill>
                  <a:srgbClr val="222B3A"/>
                </a:solidFill>
                <a:latin typeface="Yu Gothic"/>
              </a:rPr>
              <a:t>言語の壁を</a:t>
            </a:r>
          </a:p>
          <a:p>
            <a:pPr algn="l"/>
            <a:r>
              <a:rPr sz="1400" b="0">
                <a:solidFill>
                  <a:srgbClr val="222B3A"/>
                </a:solidFill>
                <a:latin typeface="Yu Gothic"/>
              </a:rPr>
              <a:t>子どもが埋めている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058400" cy="640080"/>
          </a:xfrm>
          <a:prstGeom prst="rect">
            <a:avLst/>
          </a:prstGeom>
          <a:noFill/>
        </p:spPr>
        <p:txBody>
          <a:bodyPr wrap="square" lIns="0" rIns="0" tIns="0" bIns="0" anchor="ctr">
            <a:spAutoFit/>
          </a:bodyPr>
          <a:lstStyle/>
          <a:p>
            <a:pPr algn="l"/>
            <a:r>
              <a:rPr sz="2800" b="1">
                <a:solidFill>
                  <a:srgbClr val="FFFFFF"/>
                </a:solidFill>
                <a:latin typeface="Yu Gothic"/>
              </a:rPr>
              <a:t>05. 本人が直面する課題</a:t>
            </a:r>
          </a:p>
        </p:txBody>
      </p:sp>
      <p:sp>
        <p:nvSpPr>
          <p:cNvPr id="5" name="TextBox 4"/>
          <p:cNvSpPr txBox="1"/>
          <p:nvPr/>
        </p:nvSpPr>
        <p:spPr>
          <a:xfrm>
            <a:off x="10789920" y="292608"/>
            <a:ext cx="1188720" cy="457200"/>
          </a:xfrm>
          <a:prstGeom prst="rect">
            <a:avLst/>
          </a:prstGeom>
          <a:noFill/>
        </p:spPr>
        <p:txBody>
          <a:bodyPr wrap="square" lIns="0" rIns="0" tIns="0" bIns="0" anchor="t">
            <a:spAutoFit/>
          </a:bodyPr>
          <a:lstStyle/>
          <a:p>
            <a:pPr algn="r"/>
            <a:r>
              <a:rPr sz="1200" b="0">
                <a:solidFill>
                  <a:srgbClr val="FFFFFF"/>
                </a:solidFill>
                <a:latin typeface="Yu Gothic"/>
              </a:rPr>
              <a:t>7 / 12</a:t>
            </a:r>
          </a:p>
        </p:txBody>
      </p:sp>
      <p:sp>
        <p:nvSpPr>
          <p:cNvPr id="6" name="Rectangle 5"/>
          <p:cNvSpPr/>
          <p:nvPr/>
        </p:nvSpPr>
        <p:spPr>
          <a:xfrm>
            <a:off x="0" y="960120"/>
            <a:ext cx="12191695"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058400" cy="320040"/>
          </a:xfrm>
          <a:prstGeom prst="rect">
            <a:avLst/>
          </a:prstGeom>
          <a:noFill/>
        </p:spPr>
        <p:txBody>
          <a:bodyPr wrap="square" lIns="0" rIns="0" tIns="0" bIns="0" anchor="t">
            <a:spAutoFit/>
          </a:bodyPr>
          <a:lstStyle/>
          <a:p>
            <a:pPr algn="l"/>
            <a:r>
              <a:rPr sz="1000" b="0">
                <a:solidFill>
                  <a:srgbClr val="667080"/>
                </a:solidFill>
                <a:latin typeface="Yu Gothic"/>
              </a:rPr>
              <a:t>ヤングケアラーを知る・支える</a:t>
            </a:r>
          </a:p>
        </p:txBody>
      </p:sp>
      <p:sp>
        <p:nvSpPr>
          <p:cNvPr id="8" name="Rounded Rectangle 7"/>
          <p:cNvSpPr/>
          <p:nvPr/>
        </p:nvSpPr>
        <p:spPr>
          <a:xfrm>
            <a:off x="640080" y="1371600"/>
            <a:ext cx="5212080" cy="246888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71600"/>
            <a:ext cx="164592" cy="246888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508760"/>
            <a:ext cx="4754880" cy="457200"/>
          </a:xfrm>
          <a:prstGeom prst="rect">
            <a:avLst/>
          </a:prstGeom>
          <a:noFill/>
        </p:spPr>
        <p:txBody>
          <a:bodyPr wrap="square" lIns="0" rIns="0" tIns="0" bIns="0" anchor="t">
            <a:spAutoFit/>
          </a:bodyPr>
          <a:lstStyle/>
          <a:p>
            <a:pPr algn="l"/>
            <a:r>
              <a:rPr sz="2000" b="1">
                <a:solidFill>
                  <a:srgbClr val="2E5E8A"/>
                </a:solidFill>
                <a:latin typeface="Yu Gothic"/>
              </a:rPr>
              <a:t>学業面</a:t>
            </a:r>
          </a:p>
        </p:txBody>
      </p:sp>
      <p:sp>
        <p:nvSpPr>
          <p:cNvPr id="11" name="TextBox 10"/>
          <p:cNvSpPr txBox="1"/>
          <p:nvPr/>
        </p:nvSpPr>
        <p:spPr>
          <a:xfrm>
            <a:off x="1005840" y="2057400"/>
            <a:ext cx="4754880" cy="1737360"/>
          </a:xfrm>
          <a:prstGeom prst="rect">
            <a:avLst/>
          </a:prstGeom>
          <a:noFill/>
        </p:spPr>
        <p:txBody>
          <a:bodyPr wrap="square" lIns="0" rIns="0" tIns="0" bIns="0" anchor="t">
            <a:spAutoFit/>
          </a:bodyPr>
          <a:lstStyle/>
          <a:p>
            <a:pPr algn="l"/>
            <a:r>
              <a:rPr sz="1400" b="0">
                <a:solidFill>
                  <a:srgbClr val="222B3A"/>
                </a:solidFill>
                <a:latin typeface="Yu Gothic"/>
              </a:rPr>
              <a:t>・遅刻、欠席が増える</a:t>
            </a:r>
          </a:p>
          <a:p>
            <a:pPr algn="l"/>
            <a:r>
              <a:rPr sz="1400" b="0">
                <a:solidFill>
                  <a:srgbClr val="222B3A"/>
                </a:solidFill>
                <a:latin typeface="Yu Gothic"/>
              </a:rPr>
              <a:t>・宿題ができない</a:t>
            </a:r>
          </a:p>
          <a:p>
            <a:pPr algn="l"/>
            <a:r>
              <a:rPr sz="1400" b="0">
                <a:solidFill>
                  <a:srgbClr val="222B3A"/>
                </a:solidFill>
                <a:latin typeface="Yu Gothic"/>
              </a:rPr>
              <a:t>・進学・就職をあきらめる</a:t>
            </a:r>
          </a:p>
          <a:p>
            <a:pPr algn="l"/>
            <a:r>
              <a:rPr sz="1400" b="0">
                <a:solidFill>
                  <a:srgbClr val="222B3A"/>
                </a:solidFill>
                <a:latin typeface="Yu Gothic"/>
              </a:rPr>
              <a:t>・授業に集中できない</a:t>
            </a:r>
          </a:p>
        </p:txBody>
      </p:sp>
      <p:sp>
        <p:nvSpPr>
          <p:cNvPr id="12" name="Rounded Rectangle 11"/>
          <p:cNvSpPr/>
          <p:nvPr/>
        </p:nvSpPr>
        <p:spPr>
          <a:xfrm>
            <a:off x="6336792" y="1371600"/>
            <a:ext cx="5212080" cy="246888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36792" y="1371600"/>
            <a:ext cx="164592" cy="2468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02552" y="1508760"/>
            <a:ext cx="4754880" cy="457200"/>
          </a:xfrm>
          <a:prstGeom prst="rect">
            <a:avLst/>
          </a:prstGeom>
          <a:noFill/>
        </p:spPr>
        <p:txBody>
          <a:bodyPr wrap="square" lIns="0" rIns="0" tIns="0" bIns="0" anchor="t">
            <a:spAutoFit/>
          </a:bodyPr>
          <a:lstStyle/>
          <a:p>
            <a:pPr algn="l"/>
            <a:r>
              <a:rPr sz="2000" b="1">
                <a:solidFill>
                  <a:srgbClr val="F28C28"/>
                </a:solidFill>
                <a:latin typeface="Yu Gothic"/>
              </a:rPr>
              <a:t>健康面</a:t>
            </a:r>
          </a:p>
        </p:txBody>
      </p:sp>
      <p:sp>
        <p:nvSpPr>
          <p:cNvPr id="15" name="TextBox 14"/>
          <p:cNvSpPr txBox="1"/>
          <p:nvPr/>
        </p:nvSpPr>
        <p:spPr>
          <a:xfrm>
            <a:off x="6702552" y="2057400"/>
            <a:ext cx="4754880" cy="1737360"/>
          </a:xfrm>
          <a:prstGeom prst="rect">
            <a:avLst/>
          </a:prstGeom>
          <a:noFill/>
        </p:spPr>
        <p:txBody>
          <a:bodyPr wrap="square" lIns="0" rIns="0" tIns="0" bIns="0" anchor="t">
            <a:spAutoFit/>
          </a:bodyPr>
          <a:lstStyle/>
          <a:p>
            <a:pPr algn="l"/>
            <a:r>
              <a:rPr sz="1400" b="0">
                <a:solidFill>
                  <a:srgbClr val="222B3A"/>
                </a:solidFill>
                <a:latin typeface="Yu Gothic"/>
              </a:rPr>
              <a:t>・睡眠不足、慢性的な疲労</a:t>
            </a:r>
          </a:p>
          <a:p>
            <a:pPr algn="l"/>
            <a:r>
              <a:rPr sz="1400" b="0">
                <a:solidFill>
                  <a:srgbClr val="222B3A"/>
                </a:solidFill>
                <a:latin typeface="Yu Gothic"/>
              </a:rPr>
              <a:t>・食事が不規則になる</a:t>
            </a:r>
          </a:p>
          <a:p>
            <a:pPr algn="l"/>
            <a:r>
              <a:rPr sz="1400" b="0">
                <a:solidFill>
                  <a:srgbClr val="222B3A"/>
                </a:solidFill>
                <a:latin typeface="Yu Gothic"/>
              </a:rPr>
              <a:t>・心身の不調・うつ症状</a:t>
            </a:r>
          </a:p>
          <a:p>
            <a:pPr algn="l"/>
            <a:r>
              <a:rPr sz="1400" b="0">
                <a:solidFill>
                  <a:srgbClr val="222B3A"/>
                </a:solidFill>
                <a:latin typeface="Yu Gothic"/>
              </a:rPr>
              <a:t>・通院・受診の時間がない</a:t>
            </a:r>
          </a:p>
        </p:txBody>
      </p:sp>
      <p:sp>
        <p:nvSpPr>
          <p:cNvPr id="16" name="Rounded Rectangle 15"/>
          <p:cNvSpPr/>
          <p:nvPr/>
        </p:nvSpPr>
        <p:spPr>
          <a:xfrm>
            <a:off x="640080" y="4023360"/>
            <a:ext cx="5212080" cy="246888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023360"/>
            <a:ext cx="164592" cy="24688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160520"/>
            <a:ext cx="4754880" cy="457200"/>
          </a:xfrm>
          <a:prstGeom prst="rect">
            <a:avLst/>
          </a:prstGeom>
          <a:noFill/>
        </p:spPr>
        <p:txBody>
          <a:bodyPr wrap="square" lIns="0" rIns="0" tIns="0" bIns="0" anchor="t">
            <a:spAutoFit/>
          </a:bodyPr>
          <a:lstStyle/>
          <a:p>
            <a:pPr algn="l"/>
            <a:r>
              <a:rPr sz="2000" b="1">
                <a:solidFill>
                  <a:srgbClr val="2E8B57"/>
                </a:solidFill>
                <a:latin typeface="Yu Gothic"/>
              </a:rPr>
              <a:t>人間関係</a:t>
            </a:r>
          </a:p>
        </p:txBody>
      </p:sp>
      <p:sp>
        <p:nvSpPr>
          <p:cNvPr id="19" name="TextBox 18"/>
          <p:cNvSpPr txBox="1"/>
          <p:nvPr/>
        </p:nvSpPr>
        <p:spPr>
          <a:xfrm>
            <a:off x="1005840" y="4709160"/>
            <a:ext cx="4754880" cy="1737360"/>
          </a:xfrm>
          <a:prstGeom prst="rect">
            <a:avLst/>
          </a:prstGeom>
          <a:noFill/>
        </p:spPr>
        <p:txBody>
          <a:bodyPr wrap="square" lIns="0" rIns="0" tIns="0" bIns="0" anchor="t">
            <a:spAutoFit/>
          </a:bodyPr>
          <a:lstStyle/>
          <a:p>
            <a:pPr algn="l"/>
            <a:r>
              <a:rPr sz="1400" b="0">
                <a:solidFill>
                  <a:srgbClr val="222B3A"/>
                </a:solidFill>
                <a:latin typeface="Yu Gothic"/>
              </a:rPr>
              <a:t>・友人と遊ぶ時間がない</a:t>
            </a:r>
          </a:p>
          <a:p>
            <a:pPr algn="l"/>
            <a:r>
              <a:rPr sz="1400" b="0">
                <a:solidFill>
                  <a:srgbClr val="222B3A"/>
                </a:solidFill>
                <a:latin typeface="Yu Gothic"/>
              </a:rPr>
              <a:t>・部活動に参加できない</a:t>
            </a:r>
          </a:p>
          <a:p>
            <a:pPr algn="l"/>
            <a:r>
              <a:rPr sz="1400" b="0">
                <a:solidFill>
                  <a:srgbClr val="222B3A"/>
                </a:solidFill>
                <a:latin typeface="Yu Gothic"/>
              </a:rPr>
              <a:t>・孤立感、疎外感</a:t>
            </a:r>
          </a:p>
          <a:p>
            <a:pPr algn="l"/>
            <a:r>
              <a:rPr sz="1400" b="0">
                <a:solidFill>
                  <a:srgbClr val="222B3A"/>
                </a:solidFill>
                <a:latin typeface="Yu Gothic"/>
              </a:rPr>
              <a:t>・恋愛・結婚をあきらめる</a:t>
            </a:r>
          </a:p>
        </p:txBody>
      </p:sp>
      <p:sp>
        <p:nvSpPr>
          <p:cNvPr id="20" name="Rounded Rectangle 19"/>
          <p:cNvSpPr/>
          <p:nvPr/>
        </p:nvSpPr>
        <p:spPr>
          <a:xfrm>
            <a:off x="6336792" y="4023360"/>
            <a:ext cx="5212080" cy="246888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36792" y="4023360"/>
            <a:ext cx="164592" cy="2468880"/>
          </a:xfrm>
          <a:prstGeom prst="rect">
            <a:avLst/>
          </a:prstGeom>
          <a:solidFill>
            <a:srgbClr val="2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02552" y="4160520"/>
            <a:ext cx="4754880" cy="457200"/>
          </a:xfrm>
          <a:prstGeom prst="rect">
            <a:avLst/>
          </a:prstGeom>
          <a:noFill/>
        </p:spPr>
        <p:txBody>
          <a:bodyPr wrap="square" lIns="0" rIns="0" tIns="0" bIns="0" anchor="t">
            <a:spAutoFit/>
          </a:bodyPr>
          <a:lstStyle/>
          <a:p>
            <a:pPr algn="l"/>
            <a:r>
              <a:rPr sz="2000" b="1">
                <a:solidFill>
                  <a:srgbClr val="222B3A"/>
                </a:solidFill>
                <a:latin typeface="Yu Gothic"/>
              </a:rPr>
              <a:t>将来</a:t>
            </a:r>
          </a:p>
        </p:txBody>
      </p:sp>
      <p:sp>
        <p:nvSpPr>
          <p:cNvPr id="23" name="TextBox 22"/>
          <p:cNvSpPr txBox="1"/>
          <p:nvPr/>
        </p:nvSpPr>
        <p:spPr>
          <a:xfrm>
            <a:off x="6702552" y="4709160"/>
            <a:ext cx="4754880" cy="1737360"/>
          </a:xfrm>
          <a:prstGeom prst="rect">
            <a:avLst/>
          </a:prstGeom>
          <a:noFill/>
        </p:spPr>
        <p:txBody>
          <a:bodyPr wrap="square" lIns="0" rIns="0" tIns="0" bIns="0" anchor="t">
            <a:spAutoFit/>
          </a:bodyPr>
          <a:lstStyle/>
          <a:p>
            <a:pPr algn="l"/>
            <a:r>
              <a:rPr sz="1400" b="0">
                <a:solidFill>
                  <a:srgbClr val="222B3A"/>
                </a:solidFill>
                <a:latin typeface="Yu Gothic"/>
              </a:rPr>
              <a:t>・キャリア形成の機会損失</a:t>
            </a:r>
          </a:p>
          <a:p>
            <a:pPr algn="l"/>
            <a:r>
              <a:rPr sz="1400" b="0">
                <a:solidFill>
                  <a:srgbClr val="222B3A"/>
                </a:solidFill>
                <a:latin typeface="Yu Gothic"/>
              </a:rPr>
              <a:t>・経済的自立の遅れ</a:t>
            </a:r>
          </a:p>
          <a:p>
            <a:pPr algn="l"/>
            <a:r>
              <a:rPr sz="1400" b="0">
                <a:solidFill>
                  <a:srgbClr val="222B3A"/>
                </a:solidFill>
                <a:latin typeface="Yu Gothic"/>
              </a:rPr>
              <a:t>・自己肯定感の低下</a:t>
            </a:r>
          </a:p>
          <a:p>
            <a:pPr algn="l"/>
            <a:r>
              <a:rPr sz="1400" b="0">
                <a:solidFill>
                  <a:srgbClr val="222B3A"/>
                </a:solidFill>
                <a:latin typeface="Yu Gothic"/>
              </a:rPr>
              <a:t>・「自分」を持てなくなる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058400" cy="640080"/>
          </a:xfrm>
          <a:prstGeom prst="rect">
            <a:avLst/>
          </a:prstGeom>
          <a:noFill/>
        </p:spPr>
        <p:txBody>
          <a:bodyPr wrap="square" lIns="0" rIns="0" tIns="0" bIns="0" anchor="ctr">
            <a:spAutoFit/>
          </a:bodyPr>
          <a:lstStyle/>
          <a:p>
            <a:pPr algn="l"/>
            <a:r>
              <a:rPr sz="2800" b="1">
                <a:solidFill>
                  <a:srgbClr val="FFFFFF"/>
                </a:solidFill>
                <a:latin typeface="Yu Gothic"/>
              </a:rPr>
              <a:t>06. 周囲が気づくサイン</a:t>
            </a:r>
          </a:p>
        </p:txBody>
      </p:sp>
      <p:sp>
        <p:nvSpPr>
          <p:cNvPr id="5" name="TextBox 4"/>
          <p:cNvSpPr txBox="1"/>
          <p:nvPr/>
        </p:nvSpPr>
        <p:spPr>
          <a:xfrm>
            <a:off x="10789920" y="292608"/>
            <a:ext cx="1188720" cy="457200"/>
          </a:xfrm>
          <a:prstGeom prst="rect">
            <a:avLst/>
          </a:prstGeom>
          <a:noFill/>
        </p:spPr>
        <p:txBody>
          <a:bodyPr wrap="square" lIns="0" rIns="0" tIns="0" bIns="0" anchor="t">
            <a:spAutoFit/>
          </a:bodyPr>
          <a:lstStyle/>
          <a:p>
            <a:pPr algn="r"/>
            <a:r>
              <a:rPr sz="1200" b="0">
                <a:solidFill>
                  <a:srgbClr val="FFFFFF"/>
                </a:solidFill>
                <a:latin typeface="Yu Gothic"/>
              </a:rPr>
              <a:t>8 / 12</a:t>
            </a:r>
          </a:p>
        </p:txBody>
      </p:sp>
      <p:sp>
        <p:nvSpPr>
          <p:cNvPr id="6" name="Rectangle 5"/>
          <p:cNvSpPr/>
          <p:nvPr/>
        </p:nvSpPr>
        <p:spPr>
          <a:xfrm>
            <a:off x="0" y="960120"/>
            <a:ext cx="12191695"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058400" cy="320040"/>
          </a:xfrm>
          <a:prstGeom prst="rect">
            <a:avLst/>
          </a:prstGeom>
          <a:noFill/>
        </p:spPr>
        <p:txBody>
          <a:bodyPr wrap="square" lIns="0" rIns="0" tIns="0" bIns="0" anchor="t">
            <a:spAutoFit/>
          </a:bodyPr>
          <a:lstStyle/>
          <a:p>
            <a:pPr algn="l"/>
            <a:r>
              <a:rPr sz="1000" b="0">
                <a:solidFill>
                  <a:srgbClr val="667080"/>
                </a:solidFill>
                <a:latin typeface="Yu Gothic"/>
              </a:rPr>
              <a:t>ヤングケアラーを知る・支える</a:t>
            </a:r>
          </a:p>
        </p:txBody>
      </p:sp>
      <p:sp>
        <p:nvSpPr>
          <p:cNvPr id="8" name="TextBox 7"/>
          <p:cNvSpPr txBox="1"/>
          <p:nvPr/>
        </p:nvSpPr>
        <p:spPr>
          <a:xfrm>
            <a:off x="640080" y="1188720"/>
            <a:ext cx="10972800" cy="457200"/>
          </a:xfrm>
          <a:prstGeom prst="rect">
            <a:avLst/>
          </a:prstGeom>
          <a:noFill/>
        </p:spPr>
        <p:txBody>
          <a:bodyPr wrap="square" lIns="0" rIns="0" tIns="0" bIns="0" anchor="t">
            <a:spAutoFit/>
          </a:bodyPr>
          <a:lstStyle/>
          <a:p>
            <a:pPr algn="l"/>
            <a:r>
              <a:rPr sz="1400" b="0">
                <a:solidFill>
                  <a:srgbClr val="667080"/>
                </a:solidFill>
                <a:latin typeface="Yu Gothic"/>
              </a:rPr>
              <a:t>学校・地域・職場で、こんな様子に気づいたら声をかけてみてください。</a:t>
            </a:r>
          </a:p>
        </p:txBody>
      </p:sp>
      <p:sp>
        <p:nvSpPr>
          <p:cNvPr id="9" name="Rounded Rectangle 8"/>
          <p:cNvSpPr/>
          <p:nvPr/>
        </p:nvSpPr>
        <p:spPr>
          <a:xfrm>
            <a:off x="640080" y="1828800"/>
            <a:ext cx="5422392" cy="777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1993392"/>
            <a:ext cx="457200" cy="45720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993392"/>
            <a:ext cx="457200" cy="457200"/>
          </a:xfrm>
          <a:prstGeom prst="rect">
            <a:avLst/>
          </a:prstGeom>
          <a:noFill/>
        </p:spPr>
        <p:txBody>
          <a:bodyPr wrap="square" lIns="0" rIns="0" tIns="0" bIns="0" anchor="ctr">
            <a:spAutoFit/>
          </a:bodyPr>
          <a:lstStyle/>
          <a:p>
            <a:pPr algn="ctr"/>
            <a:r>
              <a:rPr sz="1800" b="1">
                <a:solidFill>
                  <a:srgbClr val="FFFFFF"/>
                </a:solidFill>
                <a:latin typeface="Yu Gothic"/>
              </a:rPr>
              <a:t>✓</a:t>
            </a:r>
          </a:p>
        </p:txBody>
      </p:sp>
      <p:sp>
        <p:nvSpPr>
          <p:cNvPr id="12" name="TextBox 11"/>
          <p:cNvSpPr txBox="1"/>
          <p:nvPr/>
        </p:nvSpPr>
        <p:spPr>
          <a:xfrm>
            <a:off x="1508760" y="1828800"/>
            <a:ext cx="4480560" cy="777240"/>
          </a:xfrm>
          <a:prstGeom prst="rect">
            <a:avLst/>
          </a:prstGeom>
          <a:noFill/>
        </p:spPr>
        <p:txBody>
          <a:bodyPr wrap="square" lIns="0" rIns="0" tIns="0" bIns="0" anchor="ctr">
            <a:spAutoFit/>
          </a:bodyPr>
          <a:lstStyle/>
          <a:p>
            <a:pPr algn="l"/>
            <a:r>
              <a:rPr sz="1500" b="0">
                <a:solidFill>
                  <a:srgbClr val="222B3A"/>
                </a:solidFill>
                <a:latin typeface="Yu Gothic"/>
              </a:rPr>
              <a:t>遅刻や欠席、早退が目立つ</a:t>
            </a:r>
          </a:p>
        </p:txBody>
      </p:sp>
      <p:sp>
        <p:nvSpPr>
          <p:cNvPr id="13" name="Rounded Rectangle 12"/>
          <p:cNvSpPr/>
          <p:nvPr/>
        </p:nvSpPr>
        <p:spPr>
          <a:xfrm>
            <a:off x="6245352" y="1828800"/>
            <a:ext cx="5422392" cy="777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73952" y="1993392"/>
            <a:ext cx="457200" cy="45720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993392"/>
            <a:ext cx="457200" cy="457200"/>
          </a:xfrm>
          <a:prstGeom prst="rect">
            <a:avLst/>
          </a:prstGeom>
          <a:noFill/>
        </p:spPr>
        <p:txBody>
          <a:bodyPr wrap="square" lIns="0" rIns="0" tIns="0" bIns="0" anchor="ctr">
            <a:spAutoFit/>
          </a:bodyPr>
          <a:lstStyle/>
          <a:p>
            <a:pPr algn="ctr"/>
            <a:r>
              <a:rPr sz="1800" b="1">
                <a:solidFill>
                  <a:srgbClr val="FFFFFF"/>
                </a:solidFill>
                <a:latin typeface="Yu Gothic"/>
              </a:rPr>
              <a:t>✓</a:t>
            </a:r>
          </a:p>
        </p:txBody>
      </p:sp>
      <p:sp>
        <p:nvSpPr>
          <p:cNvPr id="16" name="TextBox 15"/>
          <p:cNvSpPr txBox="1"/>
          <p:nvPr/>
        </p:nvSpPr>
        <p:spPr>
          <a:xfrm>
            <a:off x="7114032" y="1828800"/>
            <a:ext cx="4480560" cy="777240"/>
          </a:xfrm>
          <a:prstGeom prst="rect">
            <a:avLst/>
          </a:prstGeom>
          <a:noFill/>
        </p:spPr>
        <p:txBody>
          <a:bodyPr wrap="square" lIns="0" rIns="0" tIns="0" bIns="0" anchor="ctr">
            <a:spAutoFit/>
          </a:bodyPr>
          <a:lstStyle/>
          <a:p>
            <a:pPr algn="l"/>
            <a:r>
              <a:rPr sz="1500" b="0">
                <a:solidFill>
                  <a:srgbClr val="222B3A"/>
                </a:solidFill>
                <a:latin typeface="Yu Gothic"/>
              </a:rPr>
              <a:t>忘れ物・宿題未提出が多い</a:t>
            </a:r>
          </a:p>
        </p:txBody>
      </p:sp>
      <p:sp>
        <p:nvSpPr>
          <p:cNvPr id="17" name="Rounded Rectangle 16"/>
          <p:cNvSpPr/>
          <p:nvPr/>
        </p:nvSpPr>
        <p:spPr>
          <a:xfrm>
            <a:off x="640080" y="2788920"/>
            <a:ext cx="5422392" cy="777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2953512"/>
            <a:ext cx="457200" cy="45720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953512"/>
            <a:ext cx="457200" cy="457200"/>
          </a:xfrm>
          <a:prstGeom prst="rect">
            <a:avLst/>
          </a:prstGeom>
          <a:noFill/>
        </p:spPr>
        <p:txBody>
          <a:bodyPr wrap="square" lIns="0" rIns="0" tIns="0" bIns="0" anchor="ctr">
            <a:spAutoFit/>
          </a:bodyPr>
          <a:lstStyle/>
          <a:p>
            <a:pPr algn="ctr"/>
            <a:r>
              <a:rPr sz="1800" b="1">
                <a:solidFill>
                  <a:srgbClr val="FFFFFF"/>
                </a:solidFill>
                <a:latin typeface="Yu Gothic"/>
              </a:rPr>
              <a:t>✓</a:t>
            </a:r>
          </a:p>
        </p:txBody>
      </p:sp>
      <p:sp>
        <p:nvSpPr>
          <p:cNvPr id="20" name="TextBox 19"/>
          <p:cNvSpPr txBox="1"/>
          <p:nvPr/>
        </p:nvSpPr>
        <p:spPr>
          <a:xfrm>
            <a:off x="1508760" y="2788920"/>
            <a:ext cx="4480560" cy="777240"/>
          </a:xfrm>
          <a:prstGeom prst="rect">
            <a:avLst/>
          </a:prstGeom>
          <a:noFill/>
        </p:spPr>
        <p:txBody>
          <a:bodyPr wrap="square" lIns="0" rIns="0" tIns="0" bIns="0" anchor="ctr">
            <a:spAutoFit/>
          </a:bodyPr>
          <a:lstStyle/>
          <a:p>
            <a:pPr algn="l"/>
            <a:r>
              <a:rPr sz="1500" b="0">
                <a:solidFill>
                  <a:srgbClr val="222B3A"/>
                </a:solidFill>
                <a:latin typeface="Yu Gothic"/>
              </a:rPr>
              <a:t>授業中に眠そうにしている</a:t>
            </a:r>
          </a:p>
        </p:txBody>
      </p:sp>
      <p:sp>
        <p:nvSpPr>
          <p:cNvPr id="21" name="Rounded Rectangle 20"/>
          <p:cNvSpPr/>
          <p:nvPr/>
        </p:nvSpPr>
        <p:spPr>
          <a:xfrm>
            <a:off x="6245352" y="2788920"/>
            <a:ext cx="5422392" cy="777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73952" y="2953512"/>
            <a:ext cx="457200" cy="45720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2953512"/>
            <a:ext cx="457200" cy="457200"/>
          </a:xfrm>
          <a:prstGeom prst="rect">
            <a:avLst/>
          </a:prstGeom>
          <a:noFill/>
        </p:spPr>
        <p:txBody>
          <a:bodyPr wrap="square" lIns="0" rIns="0" tIns="0" bIns="0" anchor="ctr">
            <a:spAutoFit/>
          </a:bodyPr>
          <a:lstStyle/>
          <a:p>
            <a:pPr algn="ctr"/>
            <a:r>
              <a:rPr sz="1800" b="1">
                <a:solidFill>
                  <a:srgbClr val="FFFFFF"/>
                </a:solidFill>
                <a:latin typeface="Yu Gothic"/>
              </a:rPr>
              <a:t>✓</a:t>
            </a:r>
          </a:p>
        </p:txBody>
      </p:sp>
      <p:sp>
        <p:nvSpPr>
          <p:cNvPr id="24" name="TextBox 23"/>
          <p:cNvSpPr txBox="1"/>
          <p:nvPr/>
        </p:nvSpPr>
        <p:spPr>
          <a:xfrm>
            <a:off x="7114032" y="2788920"/>
            <a:ext cx="4480560" cy="777240"/>
          </a:xfrm>
          <a:prstGeom prst="rect">
            <a:avLst/>
          </a:prstGeom>
          <a:noFill/>
        </p:spPr>
        <p:txBody>
          <a:bodyPr wrap="square" lIns="0" rIns="0" tIns="0" bIns="0" anchor="ctr">
            <a:spAutoFit/>
          </a:bodyPr>
          <a:lstStyle/>
          <a:p>
            <a:pPr algn="l"/>
            <a:r>
              <a:rPr sz="1500" b="0">
                <a:solidFill>
                  <a:srgbClr val="222B3A"/>
                </a:solidFill>
                <a:latin typeface="Yu Gothic"/>
              </a:rPr>
              <a:t>服装や持ち物の手入れが行き届かない</a:t>
            </a:r>
          </a:p>
        </p:txBody>
      </p:sp>
      <p:sp>
        <p:nvSpPr>
          <p:cNvPr id="25" name="Rounded Rectangle 24"/>
          <p:cNvSpPr/>
          <p:nvPr/>
        </p:nvSpPr>
        <p:spPr>
          <a:xfrm>
            <a:off x="640080" y="3749040"/>
            <a:ext cx="5422392" cy="777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68680" y="3913632"/>
            <a:ext cx="457200" cy="45720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3913632"/>
            <a:ext cx="457200" cy="457200"/>
          </a:xfrm>
          <a:prstGeom prst="rect">
            <a:avLst/>
          </a:prstGeom>
          <a:noFill/>
        </p:spPr>
        <p:txBody>
          <a:bodyPr wrap="square" lIns="0" rIns="0" tIns="0" bIns="0" anchor="ctr">
            <a:spAutoFit/>
          </a:bodyPr>
          <a:lstStyle/>
          <a:p>
            <a:pPr algn="ctr"/>
            <a:r>
              <a:rPr sz="1800" b="1">
                <a:solidFill>
                  <a:srgbClr val="FFFFFF"/>
                </a:solidFill>
                <a:latin typeface="Yu Gothic"/>
              </a:rPr>
              <a:t>✓</a:t>
            </a:r>
          </a:p>
        </p:txBody>
      </p:sp>
      <p:sp>
        <p:nvSpPr>
          <p:cNvPr id="28" name="TextBox 27"/>
          <p:cNvSpPr txBox="1"/>
          <p:nvPr/>
        </p:nvSpPr>
        <p:spPr>
          <a:xfrm>
            <a:off x="1508760" y="3749040"/>
            <a:ext cx="4480560" cy="777240"/>
          </a:xfrm>
          <a:prstGeom prst="rect">
            <a:avLst/>
          </a:prstGeom>
          <a:noFill/>
        </p:spPr>
        <p:txBody>
          <a:bodyPr wrap="square" lIns="0" rIns="0" tIns="0" bIns="0" anchor="ctr">
            <a:spAutoFit/>
          </a:bodyPr>
          <a:lstStyle/>
          <a:p>
            <a:pPr algn="l"/>
            <a:r>
              <a:rPr sz="1500" b="0">
                <a:solidFill>
                  <a:srgbClr val="222B3A"/>
                </a:solidFill>
                <a:latin typeface="Yu Gothic"/>
              </a:rPr>
              <a:t>保護者と連絡が取りづらい</a:t>
            </a:r>
          </a:p>
        </p:txBody>
      </p:sp>
      <p:sp>
        <p:nvSpPr>
          <p:cNvPr id="29" name="Rounded Rectangle 28"/>
          <p:cNvSpPr/>
          <p:nvPr/>
        </p:nvSpPr>
        <p:spPr>
          <a:xfrm>
            <a:off x="6245352" y="3749040"/>
            <a:ext cx="5422392" cy="777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73952" y="3913632"/>
            <a:ext cx="457200" cy="45720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3952" y="3913632"/>
            <a:ext cx="457200" cy="457200"/>
          </a:xfrm>
          <a:prstGeom prst="rect">
            <a:avLst/>
          </a:prstGeom>
          <a:noFill/>
        </p:spPr>
        <p:txBody>
          <a:bodyPr wrap="square" lIns="0" rIns="0" tIns="0" bIns="0" anchor="ctr">
            <a:spAutoFit/>
          </a:bodyPr>
          <a:lstStyle/>
          <a:p>
            <a:pPr algn="ctr"/>
            <a:r>
              <a:rPr sz="1800" b="1">
                <a:solidFill>
                  <a:srgbClr val="FFFFFF"/>
                </a:solidFill>
                <a:latin typeface="Yu Gothic"/>
              </a:rPr>
              <a:t>✓</a:t>
            </a:r>
          </a:p>
        </p:txBody>
      </p:sp>
      <p:sp>
        <p:nvSpPr>
          <p:cNvPr id="32" name="TextBox 31"/>
          <p:cNvSpPr txBox="1"/>
          <p:nvPr/>
        </p:nvSpPr>
        <p:spPr>
          <a:xfrm>
            <a:off x="7114032" y="3749040"/>
            <a:ext cx="4480560" cy="777240"/>
          </a:xfrm>
          <a:prstGeom prst="rect">
            <a:avLst/>
          </a:prstGeom>
          <a:noFill/>
        </p:spPr>
        <p:txBody>
          <a:bodyPr wrap="square" lIns="0" rIns="0" tIns="0" bIns="0" anchor="ctr">
            <a:spAutoFit/>
          </a:bodyPr>
          <a:lstStyle/>
          <a:p>
            <a:pPr algn="l"/>
            <a:r>
              <a:rPr sz="1500" b="0">
                <a:solidFill>
                  <a:srgbClr val="222B3A"/>
                </a:solidFill>
                <a:latin typeface="Yu Gothic"/>
              </a:rPr>
              <a:t>急いで帰宅する、放課後に活動しない</a:t>
            </a:r>
          </a:p>
        </p:txBody>
      </p:sp>
      <p:sp>
        <p:nvSpPr>
          <p:cNvPr id="33" name="Rounded Rectangle 32"/>
          <p:cNvSpPr/>
          <p:nvPr/>
        </p:nvSpPr>
        <p:spPr>
          <a:xfrm>
            <a:off x="640080" y="4709160"/>
            <a:ext cx="5422392" cy="777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68680" y="4873752"/>
            <a:ext cx="457200" cy="45720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4873752"/>
            <a:ext cx="457200" cy="457200"/>
          </a:xfrm>
          <a:prstGeom prst="rect">
            <a:avLst/>
          </a:prstGeom>
          <a:noFill/>
        </p:spPr>
        <p:txBody>
          <a:bodyPr wrap="square" lIns="0" rIns="0" tIns="0" bIns="0" anchor="ctr">
            <a:spAutoFit/>
          </a:bodyPr>
          <a:lstStyle/>
          <a:p>
            <a:pPr algn="ctr"/>
            <a:r>
              <a:rPr sz="1800" b="1">
                <a:solidFill>
                  <a:srgbClr val="FFFFFF"/>
                </a:solidFill>
                <a:latin typeface="Yu Gothic"/>
              </a:rPr>
              <a:t>✓</a:t>
            </a:r>
          </a:p>
        </p:txBody>
      </p:sp>
      <p:sp>
        <p:nvSpPr>
          <p:cNvPr id="36" name="TextBox 35"/>
          <p:cNvSpPr txBox="1"/>
          <p:nvPr/>
        </p:nvSpPr>
        <p:spPr>
          <a:xfrm>
            <a:off x="1508760" y="4709160"/>
            <a:ext cx="4480560" cy="777240"/>
          </a:xfrm>
          <a:prstGeom prst="rect">
            <a:avLst/>
          </a:prstGeom>
          <a:noFill/>
        </p:spPr>
        <p:txBody>
          <a:bodyPr wrap="square" lIns="0" rIns="0" tIns="0" bIns="0" anchor="ctr">
            <a:spAutoFit/>
          </a:bodyPr>
          <a:lstStyle/>
          <a:p>
            <a:pPr algn="l"/>
            <a:r>
              <a:rPr sz="1500" b="0">
                <a:solidFill>
                  <a:srgbClr val="222B3A"/>
                </a:solidFill>
                <a:latin typeface="Yu Gothic"/>
              </a:rPr>
              <a:t>年齢に比べて大人びた発言・態度</a:t>
            </a:r>
          </a:p>
        </p:txBody>
      </p:sp>
      <p:sp>
        <p:nvSpPr>
          <p:cNvPr id="37" name="Rounded Rectangle 36"/>
          <p:cNvSpPr/>
          <p:nvPr/>
        </p:nvSpPr>
        <p:spPr>
          <a:xfrm>
            <a:off x="6245352" y="4709160"/>
            <a:ext cx="5422392" cy="77724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473952" y="4873752"/>
            <a:ext cx="457200" cy="457200"/>
          </a:xfrm>
          <a:prstGeom prst="round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3952" y="4873752"/>
            <a:ext cx="457200" cy="457200"/>
          </a:xfrm>
          <a:prstGeom prst="rect">
            <a:avLst/>
          </a:prstGeom>
          <a:noFill/>
        </p:spPr>
        <p:txBody>
          <a:bodyPr wrap="square" lIns="0" rIns="0" tIns="0" bIns="0" anchor="ctr">
            <a:spAutoFit/>
          </a:bodyPr>
          <a:lstStyle/>
          <a:p>
            <a:pPr algn="ctr"/>
            <a:r>
              <a:rPr sz="1800" b="1">
                <a:solidFill>
                  <a:srgbClr val="FFFFFF"/>
                </a:solidFill>
                <a:latin typeface="Yu Gothic"/>
              </a:rPr>
              <a:t>✓</a:t>
            </a:r>
          </a:p>
        </p:txBody>
      </p:sp>
      <p:sp>
        <p:nvSpPr>
          <p:cNvPr id="40" name="TextBox 39"/>
          <p:cNvSpPr txBox="1"/>
          <p:nvPr/>
        </p:nvSpPr>
        <p:spPr>
          <a:xfrm>
            <a:off x="7114032" y="4709160"/>
            <a:ext cx="4480560" cy="777240"/>
          </a:xfrm>
          <a:prstGeom prst="rect">
            <a:avLst/>
          </a:prstGeom>
          <a:noFill/>
        </p:spPr>
        <p:txBody>
          <a:bodyPr wrap="square" lIns="0" rIns="0" tIns="0" bIns="0" anchor="ctr">
            <a:spAutoFit/>
          </a:bodyPr>
          <a:lstStyle/>
          <a:p>
            <a:pPr algn="l"/>
            <a:r>
              <a:rPr sz="1500" b="0">
                <a:solidFill>
                  <a:srgbClr val="222B3A"/>
                </a:solidFill>
                <a:latin typeface="Yu Gothic"/>
              </a:rPr>
              <a:t>家庭の話題を避ける、または極端に詳しい</a:t>
            </a:r>
          </a:p>
        </p:txBody>
      </p:sp>
      <p:sp>
        <p:nvSpPr>
          <p:cNvPr id="41" name="Rounded Rectangle 40"/>
          <p:cNvSpPr/>
          <p:nvPr/>
        </p:nvSpPr>
        <p:spPr>
          <a:xfrm>
            <a:off x="640080" y="5897880"/>
            <a:ext cx="10972800" cy="457200"/>
          </a:xfrm>
          <a:prstGeom prst="round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897880"/>
            <a:ext cx="10972800" cy="457200"/>
          </a:xfrm>
          <a:prstGeom prst="rect">
            <a:avLst/>
          </a:prstGeom>
          <a:noFill/>
        </p:spPr>
        <p:txBody>
          <a:bodyPr wrap="square" lIns="0" rIns="0" tIns="0" bIns="0" anchor="ctr">
            <a:spAutoFit/>
          </a:bodyPr>
          <a:lstStyle/>
          <a:p>
            <a:pPr algn="ctr"/>
            <a:r>
              <a:rPr sz="1400" b="1">
                <a:solidFill>
                  <a:srgbClr val="FFFFFF"/>
                </a:solidFill>
                <a:latin typeface="Yu Gothic"/>
              </a:rPr>
              <a:t>ポイント：「がんばっているね」より「困っていない？」の一声を。</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058400" cy="640080"/>
          </a:xfrm>
          <a:prstGeom prst="rect">
            <a:avLst/>
          </a:prstGeom>
          <a:noFill/>
        </p:spPr>
        <p:txBody>
          <a:bodyPr wrap="square" lIns="0" rIns="0" tIns="0" bIns="0" anchor="ctr">
            <a:spAutoFit/>
          </a:bodyPr>
          <a:lstStyle/>
          <a:p>
            <a:pPr algn="l"/>
            <a:r>
              <a:rPr sz="2800" b="1">
                <a:solidFill>
                  <a:srgbClr val="FFFFFF"/>
                </a:solidFill>
                <a:latin typeface="Yu Gothic"/>
              </a:rPr>
              <a:t>07. 支援の仕組みと相談窓口</a:t>
            </a:r>
          </a:p>
        </p:txBody>
      </p:sp>
      <p:sp>
        <p:nvSpPr>
          <p:cNvPr id="5" name="TextBox 4"/>
          <p:cNvSpPr txBox="1"/>
          <p:nvPr/>
        </p:nvSpPr>
        <p:spPr>
          <a:xfrm>
            <a:off x="10789920" y="292608"/>
            <a:ext cx="1188720" cy="457200"/>
          </a:xfrm>
          <a:prstGeom prst="rect">
            <a:avLst/>
          </a:prstGeom>
          <a:noFill/>
        </p:spPr>
        <p:txBody>
          <a:bodyPr wrap="square" lIns="0" rIns="0" tIns="0" bIns="0" anchor="t">
            <a:spAutoFit/>
          </a:bodyPr>
          <a:lstStyle/>
          <a:p>
            <a:pPr algn="r"/>
            <a:r>
              <a:rPr sz="1200" b="0">
                <a:solidFill>
                  <a:srgbClr val="FFFFFF"/>
                </a:solidFill>
                <a:latin typeface="Yu Gothic"/>
              </a:rPr>
              <a:t>9 / 12</a:t>
            </a:r>
          </a:p>
        </p:txBody>
      </p:sp>
      <p:sp>
        <p:nvSpPr>
          <p:cNvPr id="6" name="Rectangle 5"/>
          <p:cNvSpPr/>
          <p:nvPr/>
        </p:nvSpPr>
        <p:spPr>
          <a:xfrm>
            <a:off x="0" y="960120"/>
            <a:ext cx="12191695"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058400" cy="320040"/>
          </a:xfrm>
          <a:prstGeom prst="rect">
            <a:avLst/>
          </a:prstGeom>
          <a:noFill/>
        </p:spPr>
        <p:txBody>
          <a:bodyPr wrap="square" lIns="0" rIns="0" tIns="0" bIns="0" anchor="t">
            <a:spAutoFit/>
          </a:bodyPr>
          <a:lstStyle/>
          <a:p>
            <a:pPr algn="l"/>
            <a:r>
              <a:rPr sz="1000" b="0">
                <a:solidFill>
                  <a:srgbClr val="667080"/>
                </a:solidFill>
                <a:latin typeface="Yu Gothic"/>
              </a:rPr>
              <a:t>ヤングケアラーを知る・支える</a:t>
            </a:r>
          </a:p>
        </p:txBody>
      </p:sp>
      <p:sp>
        <p:nvSpPr>
          <p:cNvPr id="8" name="Rounded Rectangle 7"/>
          <p:cNvSpPr/>
          <p:nvPr/>
        </p:nvSpPr>
        <p:spPr>
          <a:xfrm>
            <a:off x="640080" y="1371600"/>
            <a:ext cx="5486400" cy="475488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71600"/>
            <a:ext cx="5486400" cy="54864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71600"/>
            <a:ext cx="5486400" cy="548640"/>
          </a:xfrm>
          <a:prstGeom prst="rect">
            <a:avLst/>
          </a:prstGeom>
          <a:noFill/>
        </p:spPr>
        <p:txBody>
          <a:bodyPr wrap="square" lIns="0" rIns="0" tIns="0" bIns="0" anchor="ctr">
            <a:spAutoFit/>
          </a:bodyPr>
          <a:lstStyle/>
          <a:p>
            <a:pPr algn="ctr"/>
            <a:r>
              <a:rPr sz="1800" b="1">
                <a:solidFill>
                  <a:srgbClr val="FFFFFF"/>
                </a:solidFill>
                <a:latin typeface="Yu Gothic"/>
              </a:rPr>
              <a:t>公的な支援の枠組み</a:t>
            </a:r>
          </a:p>
        </p:txBody>
      </p:sp>
      <p:sp>
        <p:nvSpPr>
          <p:cNvPr id="11" name="TextBox 10"/>
          <p:cNvSpPr txBox="1"/>
          <p:nvPr/>
        </p:nvSpPr>
        <p:spPr>
          <a:xfrm>
            <a:off x="914400" y="2103120"/>
            <a:ext cx="5029200" cy="274320"/>
          </a:xfrm>
          <a:prstGeom prst="rect">
            <a:avLst/>
          </a:prstGeom>
          <a:noFill/>
        </p:spPr>
        <p:txBody>
          <a:bodyPr wrap="square" lIns="0" rIns="0" tIns="0" bIns="0" anchor="t">
            <a:spAutoFit/>
          </a:bodyPr>
          <a:lstStyle/>
          <a:p>
            <a:pPr algn="l"/>
            <a:r>
              <a:rPr sz="1300" b="1">
                <a:solidFill>
                  <a:srgbClr val="2E5E8A"/>
                </a:solidFill>
                <a:latin typeface="Yu Gothic"/>
              </a:rPr>
              <a:t>● こども家庭庁</a:t>
            </a:r>
          </a:p>
        </p:txBody>
      </p:sp>
      <p:sp>
        <p:nvSpPr>
          <p:cNvPr id="12" name="TextBox 11"/>
          <p:cNvSpPr txBox="1"/>
          <p:nvPr/>
        </p:nvSpPr>
        <p:spPr>
          <a:xfrm>
            <a:off x="1097280" y="2377440"/>
            <a:ext cx="4846320" cy="274320"/>
          </a:xfrm>
          <a:prstGeom prst="rect">
            <a:avLst/>
          </a:prstGeom>
          <a:noFill/>
        </p:spPr>
        <p:txBody>
          <a:bodyPr wrap="square" lIns="0" rIns="0" tIns="0" bIns="0" anchor="t">
            <a:spAutoFit/>
          </a:bodyPr>
          <a:lstStyle/>
          <a:p>
            <a:pPr algn="l"/>
            <a:r>
              <a:rPr sz="1100" b="0">
                <a:solidFill>
                  <a:srgbClr val="667080"/>
                </a:solidFill>
                <a:latin typeface="Yu Gothic"/>
              </a:rPr>
              <a:t>実態把握・支援強化の旗振り役</a:t>
            </a:r>
          </a:p>
        </p:txBody>
      </p:sp>
      <p:sp>
        <p:nvSpPr>
          <p:cNvPr id="13" name="TextBox 12"/>
          <p:cNvSpPr txBox="1"/>
          <p:nvPr/>
        </p:nvSpPr>
        <p:spPr>
          <a:xfrm>
            <a:off x="914400" y="2743200"/>
            <a:ext cx="5029200" cy="274320"/>
          </a:xfrm>
          <a:prstGeom prst="rect">
            <a:avLst/>
          </a:prstGeom>
          <a:noFill/>
        </p:spPr>
        <p:txBody>
          <a:bodyPr wrap="square" lIns="0" rIns="0" tIns="0" bIns="0" anchor="t">
            <a:spAutoFit/>
          </a:bodyPr>
          <a:lstStyle/>
          <a:p>
            <a:pPr algn="l"/>
            <a:r>
              <a:rPr sz="1300" b="1">
                <a:solidFill>
                  <a:srgbClr val="2E5E8A"/>
                </a:solidFill>
                <a:latin typeface="Yu Gothic"/>
              </a:rPr>
              <a:t>● スクールソーシャルワーカー</a:t>
            </a:r>
          </a:p>
        </p:txBody>
      </p:sp>
      <p:sp>
        <p:nvSpPr>
          <p:cNvPr id="14" name="TextBox 13"/>
          <p:cNvSpPr txBox="1"/>
          <p:nvPr/>
        </p:nvSpPr>
        <p:spPr>
          <a:xfrm>
            <a:off x="1097280" y="3017520"/>
            <a:ext cx="4846320" cy="274320"/>
          </a:xfrm>
          <a:prstGeom prst="rect">
            <a:avLst/>
          </a:prstGeom>
          <a:noFill/>
        </p:spPr>
        <p:txBody>
          <a:bodyPr wrap="square" lIns="0" rIns="0" tIns="0" bIns="0" anchor="t">
            <a:spAutoFit/>
          </a:bodyPr>
          <a:lstStyle/>
          <a:p>
            <a:pPr algn="l"/>
            <a:r>
              <a:rPr sz="1100" b="0">
                <a:solidFill>
                  <a:srgbClr val="667080"/>
                </a:solidFill>
                <a:latin typeface="Yu Gothic"/>
              </a:rPr>
              <a:t>学校での発見・関係機関への橋渡し</a:t>
            </a:r>
          </a:p>
        </p:txBody>
      </p:sp>
      <p:sp>
        <p:nvSpPr>
          <p:cNvPr id="15" name="TextBox 14"/>
          <p:cNvSpPr txBox="1"/>
          <p:nvPr/>
        </p:nvSpPr>
        <p:spPr>
          <a:xfrm>
            <a:off x="914400" y="3383280"/>
            <a:ext cx="5029200" cy="274320"/>
          </a:xfrm>
          <a:prstGeom prst="rect">
            <a:avLst/>
          </a:prstGeom>
          <a:noFill/>
        </p:spPr>
        <p:txBody>
          <a:bodyPr wrap="square" lIns="0" rIns="0" tIns="0" bIns="0" anchor="t">
            <a:spAutoFit/>
          </a:bodyPr>
          <a:lstStyle/>
          <a:p>
            <a:pPr algn="l"/>
            <a:r>
              <a:rPr sz="1300" b="1">
                <a:solidFill>
                  <a:srgbClr val="2E5E8A"/>
                </a:solidFill>
                <a:latin typeface="Yu Gothic"/>
              </a:rPr>
              <a:t>● 市区町村のこども家庭センター</a:t>
            </a:r>
          </a:p>
        </p:txBody>
      </p:sp>
      <p:sp>
        <p:nvSpPr>
          <p:cNvPr id="16" name="TextBox 15"/>
          <p:cNvSpPr txBox="1"/>
          <p:nvPr/>
        </p:nvSpPr>
        <p:spPr>
          <a:xfrm>
            <a:off x="1097280" y="3657600"/>
            <a:ext cx="4846320" cy="274320"/>
          </a:xfrm>
          <a:prstGeom prst="rect">
            <a:avLst/>
          </a:prstGeom>
          <a:noFill/>
        </p:spPr>
        <p:txBody>
          <a:bodyPr wrap="square" lIns="0" rIns="0" tIns="0" bIns="0" anchor="t">
            <a:spAutoFit/>
          </a:bodyPr>
          <a:lstStyle/>
          <a:p>
            <a:pPr algn="l"/>
            <a:r>
              <a:rPr sz="1100" b="0">
                <a:solidFill>
                  <a:srgbClr val="667080"/>
                </a:solidFill>
                <a:latin typeface="Yu Gothic"/>
              </a:rPr>
              <a:t>家庭全体の包括的な相談支援</a:t>
            </a:r>
          </a:p>
        </p:txBody>
      </p:sp>
      <p:sp>
        <p:nvSpPr>
          <p:cNvPr id="17" name="TextBox 16"/>
          <p:cNvSpPr txBox="1"/>
          <p:nvPr/>
        </p:nvSpPr>
        <p:spPr>
          <a:xfrm>
            <a:off x="914400" y="4023360"/>
            <a:ext cx="5029200" cy="274320"/>
          </a:xfrm>
          <a:prstGeom prst="rect">
            <a:avLst/>
          </a:prstGeom>
          <a:noFill/>
        </p:spPr>
        <p:txBody>
          <a:bodyPr wrap="square" lIns="0" rIns="0" tIns="0" bIns="0" anchor="t">
            <a:spAutoFit/>
          </a:bodyPr>
          <a:lstStyle/>
          <a:p>
            <a:pPr algn="l"/>
            <a:r>
              <a:rPr sz="1300" b="1">
                <a:solidFill>
                  <a:srgbClr val="2E5E8A"/>
                </a:solidFill>
                <a:latin typeface="Yu Gothic"/>
              </a:rPr>
              <a:t>● 地域包括支援センター</a:t>
            </a:r>
          </a:p>
        </p:txBody>
      </p:sp>
      <p:sp>
        <p:nvSpPr>
          <p:cNvPr id="18" name="TextBox 17"/>
          <p:cNvSpPr txBox="1"/>
          <p:nvPr/>
        </p:nvSpPr>
        <p:spPr>
          <a:xfrm>
            <a:off x="1097280" y="4297680"/>
            <a:ext cx="4846320" cy="274320"/>
          </a:xfrm>
          <a:prstGeom prst="rect">
            <a:avLst/>
          </a:prstGeom>
          <a:noFill/>
        </p:spPr>
        <p:txBody>
          <a:bodyPr wrap="square" lIns="0" rIns="0" tIns="0" bIns="0" anchor="t">
            <a:spAutoFit/>
          </a:bodyPr>
          <a:lstStyle/>
          <a:p>
            <a:pPr algn="l"/>
            <a:r>
              <a:rPr sz="1100" b="0">
                <a:solidFill>
                  <a:srgbClr val="667080"/>
                </a:solidFill>
                <a:latin typeface="Yu Gothic"/>
              </a:rPr>
              <a:t>高齢者ケアに関する家族の相談</a:t>
            </a:r>
          </a:p>
        </p:txBody>
      </p:sp>
      <p:sp>
        <p:nvSpPr>
          <p:cNvPr id="19" name="TextBox 18"/>
          <p:cNvSpPr txBox="1"/>
          <p:nvPr/>
        </p:nvSpPr>
        <p:spPr>
          <a:xfrm>
            <a:off x="914400" y="4663440"/>
            <a:ext cx="5029200" cy="274320"/>
          </a:xfrm>
          <a:prstGeom prst="rect">
            <a:avLst/>
          </a:prstGeom>
          <a:noFill/>
        </p:spPr>
        <p:txBody>
          <a:bodyPr wrap="square" lIns="0" rIns="0" tIns="0" bIns="0" anchor="t">
            <a:spAutoFit/>
          </a:bodyPr>
          <a:lstStyle/>
          <a:p>
            <a:pPr algn="l"/>
            <a:r>
              <a:rPr sz="1300" b="1">
                <a:solidFill>
                  <a:srgbClr val="2E5E8A"/>
                </a:solidFill>
                <a:latin typeface="Yu Gothic"/>
              </a:rPr>
              <a:t>● 障害者相談支援事業所</a:t>
            </a:r>
          </a:p>
        </p:txBody>
      </p:sp>
      <p:sp>
        <p:nvSpPr>
          <p:cNvPr id="20" name="TextBox 19"/>
          <p:cNvSpPr txBox="1"/>
          <p:nvPr/>
        </p:nvSpPr>
        <p:spPr>
          <a:xfrm>
            <a:off x="1097280" y="4937760"/>
            <a:ext cx="4846320" cy="274320"/>
          </a:xfrm>
          <a:prstGeom prst="rect">
            <a:avLst/>
          </a:prstGeom>
          <a:noFill/>
        </p:spPr>
        <p:txBody>
          <a:bodyPr wrap="square" lIns="0" rIns="0" tIns="0" bIns="0" anchor="t">
            <a:spAutoFit/>
          </a:bodyPr>
          <a:lstStyle/>
          <a:p>
            <a:pPr algn="l"/>
            <a:r>
              <a:rPr sz="1100" b="0">
                <a:solidFill>
                  <a:srgbClr val="667080"/>
                </a:solidFill>
                <a:latin typeface="Yu Gothic"/>
              </a:rPr>
              <a:t>障害のある家族のケアプラン作成</a:t>
            </a:r>
          </a:p>
        </p:txBody>
      </p:sp>
      <p:sp>
        <p:nvSpPr>
          <p:cNvPr id="21" name="TextBox 20"/>
          <p:cNvSpPr txBox="1"/>
          <p:nvPr/>
        </p:nvSpPr>
        <p:spPr>
          <a:xfrm>
            <a:off x="914400" y="5303520"/>
            <a:ext cx="5029200" cy="274320"/>
          </a:xfrm>
          <a:prstGeom prst="rect">
            <a:avLst/>
          </a:prstGeom>
          <a:noFill/>
        </p:spPr>
        <p:txBody>
          <a:bodyPr wrap="square" lIns="0" rIns="0" tIns="0" bIns="0" anchor="t">
            <a:spAutoFit/>
          </a:bodyPr>
          <a:lstStyle/>
          <a:p>
            <a:pPr algn="l"/>
            <a:r>
              <a:rPr sz="1300" b="1">
                <a:solidFill>
                  <a:srgbClr val="2E5E8A"/>
                </a:solidFill>
                <a:latin typeface="Yu Gothic"/>
              </a:rPr>
              <a:t>● ヤングケアラー・コーディネーター</a:t>
            </a:r>
          </a:p>
        </p:txBody>
      </p:sp>
      <p:sp>
        <p:nvSpPr>
          <p:cNvPr id="22" name="TextBox 21"/>
          <p:cNvSpPr txBox="1"/>
          <p:nvPr/>
        </p:nvSpPr>
        <p:spPr>
          <a:xfrm>
            <a:off x="1097280" y="5577840"/>
            <a:ext cx="4846320" cy="274320"/>
          </a:xfrm>
          <a:prstGeom prst="rect">
            <a:avLst/>
          </a:prstGeom>
          <a:noFill/>
        </p:spPr>
        <p:txBody>
          <a:bodyPr wrap="square" lIns="0" rIns="0" tIns="0" bIns="0" anchor="t">
            <a:spAutoFit/>
          </a:bodyPr>
          <a:lstStyle/>
          <a:p>
            <a:pPr algn="l"/>
            <a:r>
              <a:rPr sz="1100" b="0">
                <a:solidFill>
                  <a:srgbClr val="667080"/>
                </a:solidFill>
                <a:latin typeface="Yu Gothic"/>
              </a:rPr>
              <a:t>本人と支援を結ぶ専門人材</a:t>
            </a:r>
          </a:p>
        </p:txBody>
      </p:sp>
      <p:sp>
        <p:nvSpPr>
          <p:cNvPr id="23" name="Rounded Rectangle 22"/>
          <p:cNvSpPr/>
          <p:nvPr/>
        </p:nvSpPr>
        <p:spPr>
          <a:xfrm>
            <a:off x="6336792" y="1371600"/>
            <a:ext cx="5303520" cy="475488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36792" y="1371600"/>
            <a:ext cx="5303520" cy="54864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36792" y="1371600"/>
            <a:ext cx="5303520" cy="548640"/>
          </a:xfrm>
          <a:prstGeom prst="rect">
            <a:avLst/>
          </a:prstGeom>
          <a:noFill/>
        </p:spPr>
        <p:txBody>
          <a:bodyPr wrap="square" lIns="0" rIns="0" tIns="0" bIns="0" anchor="ctr">
            <a:spAutoFit/>
          </a:bodyPr>
          <a:lstStyle/>
          <a:p>
            <a:pPr algn="ctr"/>
            <a:r>
              <a:rPr sz="1800" b="1">
                <a:solidFill>
                  <a:srgbClr val="FFFFFF"/>
                </a:solidFill>
                <a:latin typeface="Yu Gothic"/>
              </a:rPr>
              <a:t>相談できる窓口（一例）</a:t>
            </a:r>
          </a:p>
        </p:txBody>
      </p:sp>
      <p:sp>
        <p:nvSpPr>
          <p:cNvPr id="26" name="TextBox 25"/>
          <p:cNvSpPr txBox="1"/>
          <p:nvPr/>
        </p:nvSpPr>
        <p:spPr>
          <a:xfrm>
            <a:off x="6583680" y="2103120"/>
            <a:ext cx="4846320" cy="365760"/>
          </a:xfrm>
          <a:prstGeom prst="rect">
            <a:avLst/>
          </a:prstGeom>
          <a:noFill/>
        </p:spPr>
        <p:txBody>
          <a:bodyPr wrap="square" lIns="0" rIns="0" tIns="0" bIns="0" anchor="t">
            <a:spAutoFit/>
          </a:bodyPr>
          <a:lstStyle/>
          <a:p>
            <a:pPr algn="l"/>
            <a:r>
              <a:rPr sz="1400" b="1">
                <a:solidFill>
                  <a:srgbClr val="222B3A"/>
                </a:solidFill>
                <a:latin typeface="Yu Gothic"/>
              </a:rPr>
              <a:t>24時間子供SOSダイヤル</a:t>
            </a:r>
          </a:p>
        </p:txBody>
      </p:sp>
      <p:sp>
        <p:nvSpPr>
          <p:cNvPr id="27" name="TextBox 26"/>
          <p:cNvSpPr txBox="1"/>
          <p:nvPr/>
        </p:nvSpPr>
        <p:spPr>
          <a:xfrm>
            <a:off x="6583680" y="2450592"/>
            <a:ext cx="4846320" cy="365760"/>
          </a:xfrm>
          <a:prstGeom prst="rect">
            <a:avLst/>
          </a:prstGeom>
          <a:noFill/>
        </p:spPr>
        <p:txBody>
          <a:bodyPr wrap="square" lIns="0" rIns="0" tIns="0" bIns="0" anchor="t">
            <a:spAutoFit/>
          </a:bodyPr>
          <a:lstStyle/>
          <a:p>
            <a:pPr algn="l"/>
            <a:r>
              <a:rPr sz="1300" b="1">
                <a:solidFill>
                  <a:srgbClr val="2E5E8A"/>
                </a:solidFill>
                <a:latin typeface="Yu Gothic"/>
              </a:rPr>
              <a:t>☎ 0120-0-78310</a:t>
            </a:r>
          </a:p>
        </p:txBody>
      </p:sp>
      <p:sp>
        <p:nvSpPr>
          <p:cNvPr id="28" name="TextBox 27"/>
          <p:cNvSpPr txBox="1"/>
          <p:nvPr/>
        </p:nvSpPr>
        <p:spPr>
          <a:xfrm>
            <a:off x="6583680" y="2880360"/>
            <a:ext cx="4846320" cy="365760"/>
          </a:xfrm>
          <a:prstGeom prst="rect">
            <a:avLst/>
          </a:prstGeom>
          <a:noFill/>
        </p:spPr>
        <p:txBody>
          <a:bodyPr wrap="square" lIns="0" rIns="0" tIns="0" bIns="0" anchor="t">
            <a:spAutoFit/>
          </a:bodyPr>
          <a:lstStyle/>
          <a:p>
            <a:pPr algn="l"/>
            <a:r>
              <a:rPr sz="1400" b="1">
                <a:solidFill>
                  <a:srgbClr val="222B3A"/>
                </a:solidFill>
                <a:latin typeface="Yu Gothic"/>
              </a:rPr>
              <a:t>チャイルドライン</a:t>
            </a:r>
          </a:p>
        </p:txBody>
      </p:sp>
      <p:sp>
        <p:nvSpPr>
          <p:cNvPr id="29" name="TextBox 28"/>
          <p:cNvSpPr txBox="1"/>
          <p:nvPr/>
        </p:nvSpPr>
        <p:spPr>
          <a:xfrm>
            <a:off x="6583680" y="3227832"/>
            <a:ext cx="4846320" cy="365760"/>
          </a:xfrm>
          <a:prstGeom prst="rect">
            <a:avLst/>
          </a:prstGeom>
          <a:noFill/>
        </p:spPr>
        <p:txBody>
          <a:bodyPr wrap="square" lIns="0" rIns="0" tIns="0" bIns="0" anchor="t">
            <a:spAutoFit/>
          </a:bodyPr>
          <a:lstStyle/>
          <a:p>
            <a:pPr algn="l"/>
            <a:r>
              <a:rPr sz="1300" b="1">
                <a:solidFill>
                  <a:srgbClr val="2E5E8A"/>
                </a:solidFill>
                <a:latin typeface="Yu Gothic"/>
              </a:rPr>
              <a:t>☎ 0120-99-7777</a:t>
            </a:r>
          </a:p>
        </p:txBody>
      </p:sp>
      <p:sp>
        <p:nvSpPr>
          <p:cNvPr id="30" name="TextBox 29"/>
          <p:cNvSpPr txBox="1"/>
          <p:nvPr/>
        </p:nvSpPr>
        <p:spPr>
          <a:xfrm>
            <a:off x="6583680" y="3657600"/>
            <a:ext cx="4846320" cy="365760"/>
          </a:xfrm>
          <a:prstGeom prst="rect">
            <a:avLst/>
          </a:prstGeom>
          <a:noFill/>
        </p:spPr>
        <p:txBody>
          <a:bodyPr wrap="square" lIns="0" rIns="0" tIns="0" bIns="0" anchor="t">
            <a:spAutoFit/>
          </a:bodyPr>
          <a:lstStyle/>
          <a:p>
            <a:pPr algn="l"/>
            <a:r>
              <a:rPr sz="1400" b="1">
                <a:solidFill>
                  <a:srgbClr val="222B3A"/>
                </a:solidFill>
                <a:latin typeface="Yu Gothic"/>
              </a:rPr>
              <a:t>よりそいホットライン</a:t>
            </a:r>
          </a:p>
        </p:txBody>
      </p:sp>
      <p:sp>
        <p:nvSpPr>
          <p:cNvPr id="31" name="TextBox 30"/>
          <p:cNvSpPr txBox="1"/>
          <p:nvPr/>
        </p:nvSpPr>
        <p:spPr>
          <a:xfrm>
            <a:off x="6583680" y="4005072"/>
            <a:ext cx="4846320" cy="365760"/>
          </a:xfrm>
          <a:prstGeom prst="rect">
            <a:avLst/>
          </a:prstGeom>
          <a:noFill/>
        </p:spPr>
        <p:txBody>
          <a:bodyPr wrap="square" lIns="0" rIns="0" tIns="0" bIns="0" anchor="t">
            <a:spAutoFit/>
          </a:bodyPr>
          <a:lstStyle/>
          <a:p>
            <a:pPr algn="l"/>
            <a:r>
              <a:rPr sz="1300" b="1">
                <a:solidFill>
                  <a:srgbClr val="2E5E8A"/>
                </a:solidFill>
                <a:latin typeface="Yu Gothic"/>
              </a:rPr>
              <a:t>☎ 0120-279-338</a:t>
            </a:r>
          </a:p>
        </p:txBody>
      </p:sp>
      <p:sp>
        <p:nvSpPr>
          <p:cNvPr id="32" name="TextBox 31"/>
          <p:cNvSpPr txBox="1"/>
          <p:nvPr/>
        </p:nvSpPr>
        <p:spPr>
          <a:xfrm>
            <a:off x="6583680" y="4434840"/>
            <a:ext cx="4846320" cy="365760"/>
          </a:xfrm>
          <a:prstGeom prst="rect">
            <a:avLst/>
          </a:prstGeom>
          <a:noFill/>
        </p:spPr>
        <p:txBody>
          <a:bodyPr wrap="square" lIns="0" rIns="0" tIns="0" bIns="0" anchor="t">
            <a:spAutoFit/>
          </a:bodyPr>
          <a:lstStyle/>
          <a:p>
            <a:pPr algn="l"/>
            <a:r>
              <a:rPr sz="1400" b="1">
                <a:solidFill>
                  <a:srgbClr val="222B3A"/>
                </a:solidFill>
                <a:latin typeface="Yu Gothic"/>
              </a:rPr>
              <a:t>いのちの電話</a:t>
            </a:r>
          </a:p>
        </p:txBody>
      </p:sp>
      <p:sp>
        <p:nvSpPr>
          <p:cNvPr id="33" name="TextBox 32"/>
          <p:cNvSpPr txBox="1"/>
          <p:nvPr/>
        </p:nvSpPr>
        <p:spPr>
          <a:xfrm>
            <a:off x="6583680" y="4782312"/>
            <a:ext cx="4846320" cy="365760"/>
          </a:xfrm>
          <a:prstGeom prst="rect">
            <a:avLst/>
          </a:prstGeom>
          <a:noFill/>
        </p:spPr>
        <p:txBody>
          <a:bodyPr wrap="square" lIns="0" rIns="0" tIns="0" bIns="0" anchor="t">
            <a:spAutoFit/>
          </a:bodyPr>
          <a:lstStyle/>
          <a:p>
            <a:pPr algn="l"/>
            <a:r>
              <a:rPr sz="1300" b="1">
                <a:solidFill>
                  <a:srgbClr val="2E5E8A"/>
                </a:solidFill>
                <a:latin typeface="Yu Gothic"/>
              </a:rPr>
              <a:t>☎ 0570-783-556</a:t>
            </a:r>
          </a:p>
        </p:txBody>
      </p:sp>
      <p:sp>
        <p:nvSpPr>
          <p:cNvPr id="34" name="TextBox 33"/>
          <p:cNvSpPr txBox="1"/>
          <p:nvPr/>
        </p:nvSpPr>
        <p:spPr>
          <a:xfrm>
            <a:off x="6583680" y="5212080"/>
            <a:ext cx="4846320" cy="365760"/>
          </a:xfrm>
          <a:prstGeom prst="rect">
            <a:avLst/>
          </a:prstGeom>
          <a:noFill/>
        </p:spPr>
        <p:txBody>
          <a:bodyPr wrap="square" lIns="0" rIns="0" tIns="0" bIns="0" anchor="t">
            <a:spAutoFit/>
          </a:bodyPr>
          <a:lstStyle/>
          <a:p>
            <a:pPr algn="l"/>
            <a:r>
              <a:rPr sz="1400" b="1">
                <a:solidFill>
                  <a:srgbClr val="222B3A"/>
                </a:solidFill>
                <a:latin typeface="Yu Gothic"/>
              </a:rPr>
              <a:t>各自治体の児童相談所</a:t>
            </a:r>
          </a:p>
        </p:txBody>
      </p:sp>
      <p:sp>
        <p:nvSpPr>
          <p:cNvPr id="35" name="TextBox 34"/>
          <p:cNvSpPr txBox="1"/>
          <p:nvPr/>
        </p:nvSpPr>
        <p:spPr>
          <a:xfrm>
            <a:off x="6583680" y="5559552"/>
            <a:ext cx="4846320" cy="365760"/>
          </a:xfrm>
          <a:prstGeom prst="rect">
            <a:avLst/>
          </a:prstGeom>
          <a:noFill/>
        </p:spPr>
        <p:txBody>
          <a:bodyPr wrap="square" lIns="0" rIns="0" tIns="0" bIns="0" anchor="t">
            <a:spAutoFit/>
          </a:bodyPr>
          <a:lstStyle/>
          <a:p>
            <a:pPr algn="l"/>
            <a:r>
              <a:rPr sz="1300" b="1">
                <a:solidFill>
                  <a:srgbClr val="2E5E8A"/>
                </a:solidFill>
                <a:latin typeface="Yu Gothic"/>
              </a:rPr>
              <a:t>☎ 189（いちはやく）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058400" cy="640080"/>
          </a:xfrm>
          <a:prstGeom prst="rect">
            <a:avLst/>
          </a:prstGeom>
          <a:noFill/>
        </p:spPr>
        <p:txBody>
          <a:bodyPr wrap="square" lIns="0" rIns="0" tIns="0" bIns="0" anchor="ctr">
            <a:spAutoFit/>
          </a:bodyPr>
          <a:lstStyle/>
          <a:p>
            <a:pPr algn="l"/>
            <a:r>
              <a:rPr sz="2800" b="1">
                <a:solidFill>
                  <a:srgbClr val="FFFFFF"/>
                </a:solidFill>
                <a:latin typeface="Yu Gothic"/>
              </a:rPr>
              <a:t>08. 私たちにできること</a:t>
            </a:r>
          </a:p>
        </p:txBody>
      </p:sp>
      <p:sp>
        <p:nvSpPr>
          <p:cNvPr id="5" name="TextBox 4"/>
          <p:cNvSpPr txBox="1"/>
          <p:nvPr/>
        </p:nvSpPr>
        <p:spPr>
          <a:xfrm>
            <a:off x="10789920" y="292608"/>
            <a:ext cx="1188720" cy="457200"/>
          </a:xfrm>
          <a:prstGeom prst="rect">
            <a:avLst/>
          </a:prstGeom>
          <a:noFill/>
        </p:spPr>
        <p:txBody>
          <a:bodyPr wrap="square" lIns="0" rIns="0" tIns="0" bIns="0" anchor="t">
            <a:spAutoFit/>
          </a:bodyPr>
          <a:lstStyle/>
          <a:p>
            <a:pPr algn="r"/>
            <a:r>
              <a:rPr sz="1200" b="0">
                <a:solidFill>
                  <a:srgbClr val="FFFFFF"/>
                </a:solidFill>
                <a:latin typeface="Yu Gothic"/>
              </a:rPr>
              <a:t>10 / 12</a:t>
            </a:r>
          </a:p>
        </p:txBody>
      </p:sp>
      <p:sp>
        <p:nvSpPr>
          <p:cNvPr id="6" name="Rectangle 5"/>
          <p:cNvSpPr/>
          <p:nvPr/>
        </p:nvSpPr>
        <p:spPr>
          <a:xfrm>
            <a:off x="0" y="960120"/>
            <a:ext cx="12191695"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058400" cy="320040"/>
          </a:xfrm>
          <a:prstGeom prst="rect">
            <a:avLst/>
          </a:prstGeom>
          <a:noFill/>
        </p:spPr>
        <p:txBody>
          <a:bodyPr wrap="square" lIns="0" rIns="0" tIns="0" bIns="0" anchor="t">
            <a:spAutoFit/>
          </a:bodyPr>
          <a:lstStyle/>
          <a:p>
            <a:pPr algn="l"/>
            <a:r>
              <a:rPr sz="1000" b="0">
                <a:solidFill>
                  <a:srgbClr val="667080"/>
                </a:solidFill>
                <a:latin typeface="Yu Gothic"/>
              </a:rPr>
              <a:t>ヤングケアラーを知る・支える</a:t>
            </a:r>
          </a:p>
        </p:txBody>
      </p:sp>
      <p:sp>
        <p:nvSpPr>
          <p:cNvPr id="8" name="Rounded Rectangle 7"/>
          <p:cNvSpPr/>
          <p:nvPr/>
        </p:nvSpPr>
        <p:spPr>
          <a:xfrm>
            <a:off x="640080" y="1371600"/>
            <a:ext cx="5212080" cy="2468880"/>
          </a:xfrm>
          <a:prstGeom prst="roundRect">
            <a:avLst/>
          </a:prstGeom>
          <a:solidFill>
            <a:srgbClr val="FFFFFF"/>
          </a:solidFill>
          <a:ln>
            <a:solidFill>
              <a:srgbClr val="2E5E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71600"/>
            <a:ext cx="5212080" cy="5029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71600"/>
            <a:ext cx="5212080" cy="502920"/>
          </a:xfrm>
          <a:prstGeom prst="rect">
            <a:avLst/>
          </a:prstGeom>
          <a:noFill/>
        </p:spPr>
        <p:txBody>
          <a:bodyPr wrap="square" lIns="0" rIns="0" tIns="0" bIns="0" anchor="ctr">
            <a:spAutoFit/>
          </a:bodyPr>
          <a:lstStyle/>
          <a:p>
            <a:pPr algn="ctr"/>
            <a:r>
              <a:rPr sz="1800" b="1">
                <a:solidFill>
                  <a:srgbClr val="FFFFFF"/>
                </a:solidFill>
                <a:latin typeface="Yu Gothic"/>
              </a:rPr>
              <a:t>学校・教員</a:t>
            </a:r>
          </a:p>
        </p:txBody>
      </p:sp>
      <p:sp>
        <p:nvSpPr>
          <p:cNvPr id="11" name="TextBox 10"/>
          <p:cNvSpPr txBox="1"/>
          <p:nvPr/>
        </p:nvSpPr>
        <p:spPr>
          <a:xfrm>
            <a:off x="914400" y="2057400"/>
            <a:ext cx="4754880" cy="1737360"/>
          </a:xfrm>
          <a:prstGeom prst="rect">
            <a:avLst/>
          </a:prstGeom>
          <a:noFill/>
        </p:spPr>
        <p:txBody>
          <a:bodyPr wrap="square" lIns="0" rIns="0" tIns="0" bIns="0" anchor="t">
            <a:spAutoFit/>
          </a:bodyPr>
          <a:lstStyle/>
          <a:p>
            <a:pPr algn="l"/>
            <a:r>
              <a:rPr sz="1400" b="0">
                <a:solidFill>
                  <a:srgbClr val="222B3A"/>
                </a:solidFill>
                <a:latin typeface="Yu Gothic"/>
              </a:rPr>
              <a:t>・サインに気づく目を持つ</a:t>
            </a:r>
          </a:p>
          <a:p>
            <a:pPr algn="l"/>
            <a:r>
              <a:rPr sz="1400" b="0">
                <a:solidFill>
                  <a:srgbClr val="222B3A"/>
                </a:solidFill>
                <a:latin typeface="Yu Gothic"/>
              </a:rPr>
              <a:t>・SSWや養護教諭と連携</a:t>
            </a:r>
          </a:p>
          <a:p>
            <a:pPr algn="l"/>
            <a:r>
              <a:rPr sz="1400" b="0">
                <a:solidFill>
                  <a:srgbClr val="222B3A"/>
                </a:solidFill>
                <a:latin typeface="Yu Gothic"/>
              </a:rPr>
              <a:t>・「家庭の事情」で片づけない</a:t>
            </a:r>
          </a:p>
          <a:p>
            <a:pPr algn="l"/>
            <a:r>
              <a:rPr sz="1400" b="0">
                <a:solidFill>
                  <a:srgbClr val="222B3A"/>
                </a:solidFill>
                <a:latin typeface="Yu Gothic"/>
              </a:rPr>
              <a:t>・本人の声を否定せず聴く</a:t>
            </a:r>
          </a:p>
        </p:txBody>
      </p:sp>
      <p:sp>
        <p:nvSpPr>
          <p:cNvPr id="12" name="Rounded Rectangle 11"/>
          <p:cNvSpPr/>
          <p:nvPr/>
        </p:nvSpPr>
        <p:spPr>
          <a:xfrm>
            <a:off x="6336792" y="1371600"/>
            <a:ext cx="5212080" cy="2468880"/>
          </a:xfrm>
          <a:prstGeom prst="roundRect">
            <a:avLst/>
          </a:prstGeom>
          <a:solidFill>
            <a:srgbClr val="FFFFFF"/>
          </a:solidFill>
          <a:ln>
            <a:solidFill>
              <a:srgbClr val="F28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36792" y="1371600"/>
            <a:ext cx="5212080" cy="5029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371600"/>
            <a:ext cx="5212080" cy="502920"/>
          </a:xfrm>
          <a:prstGeom prst="rect">
            <a:avLst/>
          </a:prstGeom>
          <a:noFill/>
        </p:spPr>
        <p:txBody>
          <a:bodyPr wrap="square" lIns="0" rIns="0" tIns="0" bIns="0" anchor="ctr">
            <a:spAutoFit/>
          </a:bodyPr>
          <a:lstStyle/>
          <a:p>
            <a:pPr algn="ctr"/>
            <a:r>
              <a:rPr sz="1800" b="1">
                <a:solidFill>
                  <a:srgbClr val="FFFFFF"/>
                </a:solidFill>
                <a:latin typeface="Yu Gothic"/>
              </a:rPr>
              <a:t>地域・近所</a:t>
            </a:r>
          </a:p>
        </p:txBody>
      </p:sp>
      <p:sp>
        <p:nvSpPr>
          <p:cNvPr id="15" name="TextBox 14"/>
          <p:cNvSpPr txBox="1"/>
          <p:nvPr/>
        </p:nvSpPr>
        <p:spPr>
          <a:xfrm>
            <a:off x="6611112" y="2057400"/>
            <a:ext cx="4754880" cy="1737360"/>
          </a:xfrm>
          <a:prstGeom prst="rect">
            <a:avLst/>
          </a:prstGeom>
          <a:noFill/>
        </p:spPr>
        <p:txBody>
          <a:bodyPr wrap="square" lIns="0" rIns="0" tIns="0" bIns="0" anchor="t">
            <a:spAutoFit/>
          </a:bodyPr>
          <a:lstStyle/>
          <a:p>
            <a:pPr algn="l"/>
            <a:r>
              <a:rPr sz="1400" b="0">
                <a:solidFill>
                  <a:srgbClr val="222B3A"/>
                </a:solidFill>
                <a:latin typeface="Yu Gothic"/>
              </a:rPr>
              <a:t>・家事や送迎を手伝う</a:t>
            </a:r>
          </a:p>
          <a:p>
            <a:pPr algn="l"/>
            <a:r>
              <a:rPr sz="1400" b="0">
                <a:solidFill>
                  <a:srgbClr val="222B3A"/>
                </a:solidFill>
                <a:latin typeface="Yu Gothic"/>
              </a:rPr>
              <a:t>・「いつでも頼って」と伝える</a:t>
            </a:r>
          </a:p>
          <a:p>
            <a:pPr algn="l"/>
            <a:r>
              <a:rPr sz="1400" b="0">
                <a:solidFill>
                  <a:srgbClr val="222B3A"/>
                </a:solidFill>
                <a:latin typeface="Yu Gothic"/>
              </a:rPr>
              <a:t>・行政につなぐ役を担う</a:t>
            </a:r>
          </a:p>
          <a:p>
            <a:pPr algn="l"/>
            <a:r>
              <a:rPr sz="1400" b="0">
                <a:solidFill>
                  <a:srgbClr val="222B3A"/>
                </a:solidFill>
                <a:latin typeface="Yu Gothic"/>
              </a:rPr>
              <a:t>・家族全体を孤立させない</a:t>
            </a:r>
          </a:p>
        </p:txBody>
      </p:sp>
      <p:sp>
        <p:nvSpPr>
          <p:cNvPr id="16" name="Rounded Rectangle 15"/>
          <p:cNvSpPr/>
          <p:nvPr/>
        </p:nvSpPr>
        <p:spPr>
          <a:xfrm>
            <a:off x="640080" y="4023360"/>
            <a:ext cx="5212080" cy="2468880"/>
          </a:xfrm>
          <a:prstGeom prst="roundRect">
            <a:avLst/>
          </a:prstGeom>
          <a:solidFill>
            <a:srgbClr val="FFFFFF"/>
          </a:solidFill>
          <a:ln>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023360"/>
            <a:ext cx="5212080" cy="5029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23360"/>
            <a:ext cx="5212080" cy="502920"/>
          </a:xfrm>
          <a:prstGeom prst="rect">
            <a:avLst/>
          </a:prstGeom>
          <a:noFill/>
        </p:spPr>
        <p:txBody>
          <a:bodyPr wrap="square" lIns="0" rIns="0" tIns="0" bIns="0" anchor="ctr">
            <a:spAutoFit/>
          </a:bodyPr>
          <a:lstStyle/>
          <a:p>
            <a:pPr algn="ctr"/>
            <a:r>
              <a:rPr sz="1800" b="1">
                <a:solidFill>
                  <a:srgbClr val="FFFFFF"/>
                </a:solidFill>
                <a:latin typeface="Yu Gothic"/>
              </a:rPr>
              <a:t>行政・専門職</a:t>
            </a:r>
          </a:p>
        </p:txBody>
      </p:sp>
      <p:sp>
        <p:nvSpPr>
          <p:cNvPr id="19" name="TextBox 18"/>
          <p:cNvSpPr txBox="1"/>
          <p:nvPr/>
        </p:nvSpPr>
        <p:spPr>
          <a:xfrm>
            <a:off x="914400" y="4709160"/>
            <a:ext cx="4754880" cy="1737360"/>
          </a:xfrm>
          <a:prstGeom prst="rect">
            <a:avLst/>
          </a:prstGeom>
          <a:noFill/>
        </p:spPr>
        <p:txBody>
          <a:bodyPr wrap="square" lIns="0" rIns="0" tIns="0" bIns="0" anchor="t">
            <a:spAutoFit/>
          </a:bodyPr>
          <a:lstStyle/>
          <a:p>
            <a:pPr algn="l"/>
            <a:r>
              <a:rPr sz="1400" b="0">
                <a:solidFill>
                  <a:srgbClr val="222B3A"/>
                </a:solidFill>
                <a:latin typeface="Yu Gothic"/>
              </a:rPr>
              <a:t>・横断的なケース会議の実施</a:t>
            </a:r>
          </a:p>
          <a:p>
            <a:pPr algn="l"/>
            <a:r>
              <a:rPr sz="1400" b="0">
                <a:solidFill>
                  <a:srgbClr val="222B3A"/>
                </a:solidFill>
                <a:latin typeface="Yu Gothic"/>
              </a:rPr>
              <a:t>・家族全体のアセスメント</a:t>
            </a:r>
          </a:p>
          <a:p>
            <a:pPr algn="l"/>
            <a:r>
              <a:rPr sz="1400" b="0">
                <a:solidFill>
                  <a:srgbClr val="222B3A"/>
                </a:solidFill>
                <a:latin typeface="Yu Gothic"/>
              </a:rPr>
              <a:t>・レスパイト支援の充実</a:t>
            </a:r>
          </a:p>
          <a:p>
            <a:pPr algn="l"/>
            <a:r>
              <a:rPr sz="1400" b="0">
                <a:solidFill>
                  <a:srgbClr val="222B3A"/>
                </a:solidFill>
                <a:latin typeface="Yu Gothic"/>
              </a:rPr>
              <a:t>・継続的なフォローアップ</a:t>
            </a:r>
          </a:p>
        </p:txBody>
      </p:sp>
      <p:sp>
        <p:nvSpPr>
          <p:cNvPr id="20" name="Rounded Rectangle 19"/>
          <p:cNvSpPr/>
          <p:nvPr/>
        </p:nvSpPr>
        <p:spPr>
          <a:xfrm>
            <a:off x="6336792" y="4023360"/>
            <a:ext cx="5212080" cy="2468880"/>
          </a:xfrm>
          <a:prstGeom prst="roundRect">
            <a:avLst/>
          </a:prstGeom>
          <a:solidFill>
            <a:srgbClr val="FFFFFF"/>
          </a:solidFill>
          <a:ln>
            <a:solidFill>
              <a:srgbClr val="222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36792" y="4023360"/>
            <a:ext cx="5212080" cy="502920"/>
          </a:xfrm>
          <a:prstGeom prst="rect">
            <a:avLst/>
          </a:prstGeom>
          <a:solidFill>
            <a:srgbClr val="22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4023360"/>
            <a:ext cx="5212080" cy="502920"/>
          </a:xfrm>
          <a:prstGeom prst="rect">
            <a:avLst/>
          </a:prstGeom>
          <a:noFill/>
        </p:spPr>
        <p:txBody>
          <a:bodyPr wrap="square" lIns="0" rIns="0" tIns="0" bIns="0" anchor="ctr">
            <a:spAutoFit/>
          </a:bodyPr>
          <a:lstStyle/>
          <a:p>
            <a:pPr algn="ctr"/>
            <a:r>
              <a:rPr sz="1800" b="1">
                <a:solidFill>
                  <a:srgbClr val="FFFFFF"/>
                </a:solidFill>
                <a:latin typeface="Yu Gothic"/>
              </a:rPr>
              <a:t>私たち一人ひとり</a:t>
            </a:r>
          </a:p>
        </p:txBody>
      </p:sp>
      <p:sp>
        <p:nvSpPr>
          <p:cNvPr id="23" name="TextBox 22"/>
          <p:cNvSpPr txBox="1"/>
          <p:nvPr/>
        </p:nvSpPr>
        <p:spPr>
          <a:xfrm>
            <a:off x="6611112" y="4709160"/>
            <a:ext cx="4754880" cy="1737360"/>
          </a:xfrm>
          <a:prstGeom prst="rect">
            <a:avLst/>
          </a:prstGeom>
          <a:noFill/>
        </p:spPr>
        <p:txBody>
          <a:bodyPr wrap="square" lIns="0" rIns="0" tIns="0" bIns="0" anchor="t">
            <a:spAutoFit/>
          </a:bodyPr>
          <a:lstStyle/>
          <a:p>
            <a:pPr algn="l"/>
            <a:r>
              <a:rPr sz="1400" b="0">
                <a:solidFill>
                  <a:srgbClr val="222B3A"/>
                </a:solidFill>
                <a:latin typeface="Yu Gothic"/>
              </a:rPr>
              <a:t>・正しく知り、偏見を持たない</a:t>
            </a:r>
          </a:p>
          <a:p>
            <a:pPr algn="l"/>
            <a:r>
              <a:rPr sz="1400" b="0">
                <a:solidFill>
                  <a:srgbClr val="222B3A"/>
                </a:solidFill>
                <a:latin typeface="Yu Gothic"/>
              </a:rPr>
              <a:t>・身近な子に関心を向ける</a:t>
            </a:r>
          </a:p>
          <a:p>
            <a:pPr algn="l"/>
            <a:r>
              <a:rPr sz="1400" b="0">
                <a:solidFill>
                  <a:srgbClr val="222B3A"/>
                </a:solidFill>
                <a:latin typeface="Yu Gothic"/>
              </a:rPr>
              <a:t>・「がんばれ」より「休んでいい」</a:t>
            </a:r>
          </a:p>
          <a:p>
            <a:pPr algn="l"/>
            <a:r>
              <a:rPr sz="1400" b="0">
                <a:solidFill>
                  <a:srgbClr val="222B3A"/>
                </a:solidFill>
                <a:latin typeface="Yu Gothic"/>
              </a:rPr>
              <a:t>・SOSを受けとめる準備を持つ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0058400" cy="640080"/>
          </a:xfrm>
          <a:prstGeom prst="rect">
            <a:avLst/>
          </a:prstGeom>
          <a:noFill/>
        </p:spPr>
        <p:txBody>
          <a:bodyPr wrap="square" lIns="0" rIns="0" tIns="0" bIns="0" anchor="ctr">
            <a:spAutoFit/>
          </a:bodyPr>
          <a:lstStyle/>
          <a:p>
            <a:pPr algn="l"/>
            <a:r>
              <a:rPr sz="2800" b="1">
                <a:solidFill>
                  <a:srgbClr val="FFFFFF"/>
                </a:solidFill>
                <a:latin typeface="Yu Gothic"/>
              </a:rPr>
              <a:t>09. まとめ</a:t>
            </a:r>
          </a:p>
        </p:txBody>
      </p:sp>
      <p:sp>
        <p:nvSpPr>
          <p:cNvPr id="5" name="TextBox 4"/>
          <p:cNvSpPr txBox="1"/>
          <p:nvPr/>
        </p:nvSpPr>
        <p:spPr>
          <a:xfrm>
            <a:off x="10789920" y="292608"/>
            <a:ext cx="1188720" cy="457200"/>
          </a:xfrm>
          <a:prstGeom prst="rect">
            <a:avLst/>
          </a:prstGeom>
          <a:noFill/>
        </p:spPr>
        <p:txBody>
          <a:bodyPr wrap="square" lIns="0" rIns="0" tIns="0" bIns="0" anchor="t">
            <a:spAutoFit/>
          </a:bodyPr>
          <a:lstStyle/>
          <a:p>
            <a:pPr algn="r"/>
            <a:r>
              <a:rPr sz="1200" b="0">
                <a:solidFill>
                  <a:srgbClr val="FFFFFF"/>
                </a:solidFill>
                <a:latin typeface="Yu Gothic"/>
              </a:rPr>
              <a:t>11 / 12</a:t>
            </a:r>
          </a:p>
        </p:txBody>
      </p:sp>
      <p:sp>
        <p:nvSpPr>
          <p:cNvPr id="6" name="Rectangle 5"/>
          <p:cNvSpPr/>
          <p:nvPr/>
        </p:nvSpPr>
        <p:spPr>
          <a:xfrm>
            <a:off x="0" y="960120"/>
            <a:ext cx="12191695" cy="731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0058400" cy="320040"/>
          </a:xfrm>
          <a:prstGeom prst="rect">
            <a:avLst/>
          </a:prstGeom>
          <a:noFill/>
        </p:spPr>
        <p:txBody>
          <a:bodyPr wrap="square" lIns="0" rIns="0" tIns="0" bIns="0" anchor="t">
            <a:spAutoFit/>
          </a:bodyPr>
          <a:lstStyle/>
          <a:p>
            <a:pPr algn="l"/>
            <a:r>
              <a:rPr sz="1000" b="0">
                <a:solidFill>
                  <a:srgbClr val="667080"/>
                </a:solidFill>
                <a:latin typeface="Yu Gothic"/>
              </a:rPr>
              <a:t>ヤングケアラーを知る・支える</a:t>
            </a:r>
          </a:p>
        </p:txBody>
      </p:sp>
      <p:sp>
        <p:nvSpPr>
          <p:cNvPr id="8" name="Rounded Rectangle 7"/>
          <p:cNvSpPr/>
          <p:nvPr/>
        </p:nvSpPr>
        <p:spPr>
          <a:xfrm>
            <a:off x="640080" y="1417320"/>
            <a:ext cx="10972800" cy="141732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417320"/>
            <a:ext cx="182880" cy="1417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05840" y="1691640"/>
            <a:ext cx="868680" cy="868680"/>
          </a:xfrm>
          <a:prstGeom prst="round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91640"/>
            <a:ext cx="868680" cy="868680"/>
          </a:xfrm>
          <a:prstGeom prst="rect">
            <a:avLst/>
          </a:prstGeom>
          <a:noFill/>
        </p:spPr>
        <p:txBody>
          <a:bodyPr wrap="square" lIns="0" rIns="0" tIns="0" bIns="0" anchor="ctr">
            <a:spAutoFit/>
          </a:bodyPr>
          <a:lstStyle/>
          <a:p>
            <a:pPr algn="ctr"/>
            <a:r>
              <a:rPr sz="2800" b="1">
                <a:solidFill>
                  <a:srgbClr val="FFFFFF"/>
                </a:solidFill>
                <a:latin typeface="Yu Gothic"/>
              </a:rPr>
              <a:t>1</a:t>
            </a:r>
          </a:p>
        </p:txBody>
      </p:sp>
      <p:sp>
        <p:nvSpPr>
          <p:cNvPr id="12" name="TextBox 11"/>
          <p:cNvSpPr txBox="1"/>
          <p:nvPr/>
        </p:nvSpPr>
        <p:spPr>
          <a:xfrm>
            <a:off x="2103120" y="1600200"/>
            <a:ext cx="9326880" cy="640080"/>
          </a:xfrm>
          <a:prstGeom prst="rect">
            <a:avLst/>
          </a:prstGeom>
          <a:noFill/>
        </p:spPr>
        <p:txBody>
          <a:bodyPr wrap="square" lIns="0" rIns="0" tIns="0" bIns="0" anchor="t">
            <a:spAutoFit/>
          </a:bodyPr>
          <a:lstStyle/>
          <a:p>
            <a:pPr algn="l"/>
            <a:r>
              <a:rPr sz="1800" b="1">
                <a:solidFill>
                  <a:srgbClr val="2E5E8A"/>
                </a:solidFill>
                <a:latin typeface="Yu Gothic"/>
              </a:rPr>
              <a:t>家族を支える子どもは「えらい子」ではなく、</a:t>
            </a:r>
          </a:p>
          <a:p>
            <a:pPr algn="l"/>
            <a:r>
              <a:rPr sz="1800" b="1">
                <a:solidFill>
                  <a:srgbClr val="2E5E8A"/>
                </a:solidFill>
                <a:latin typeface="Yu Gothic"/>
              </a:rPr>
              <a:t>支えられるべき子ども。</a:t>
            </a:r>
          </a:p>
        </p:txBody>
      </p:sp>
      <p:sp>
        <p:nvSpPr>
          <p:cNvPr id="13" name="TextBox 12"/>
          <p:cNvSpPr txBox="1"/>
          <p:nvPr/>
        </p:nvSpPr>
        <p:spPr>
          <a:xfrm>
            <a:off x="2103120" y="2194560"/>
            <a:ext cx="9326880" cy="640080"/>
          </a:xfrm>
          <a:prstGeom prst="rect">
            <a:avLst/>
          </a:prstGeom>
          <a:noFill/>
        </p:spPr>
        <p:txBody>
          <a:bodyPr wrap="square" lIns="0" rIns="0" tIns="0" bIns="0" anchor="t">
            <a:spAutoFit/>
          </a:bodyPr>
          <a:lstStyle/>
          <a:p>
            <a:pPr algn="l"/>
            <a:r>
              <a:rPr sz="1300" b="0">
                <a:solidFill>
                  <a:srgbClr val="222B3A"/>
                </a:solidFill>
                <a:latin typeface="Yu Gothic"/>
              </a:rPr>
              <a:t>ケアを担うことそのものを否定するのではなく、</a:t>
            </a:r>
          </a:p>
          <a:p>
            <a:pPr algn="l"/>
            <a:r>
              <a:rPr sz="1300" b="0">
                <a:solidFill>
                  <a:srgbClr val="222B3A"/>
                </a:solidFill>
                <a:latin typeface="Yu Gothic"/>
              </a:rPr>
              <a:t>過度な負担から守る視点が必要。</a:t>
            </a:r>
          </a:p>
        </p:txBody>
      </p:sp>
      <p:sp>
        <p:nvSpPr>
          <p:cNvPr id="14" name="Rounded Rectangle 13"/>
          <p:cNvSpPr/>
          <p:nvPr/>
        </p:nvSpPr>
        <p:spPr>
          <a:xfrm>
            <a:off x="640080" y="3017520"/>
            <a:ext cx="10972800" cy="141732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017520"/>
            <a:ext cx="182880" cy="1417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291840"/>
            <a:ext cx="868680" cy="868680"/>
          </a:xfrm>
          <a:prstGeom prst="round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291840"/>
            <a:ext cx="868680" cy="868680"/>
          </a:xfrm>
          <a:prstGeom prst="rect">
            <a:avLst/>
          </a:prstGeom>
          <a:noFill/>
        </p:spPr>
        <p:txBody>
          <a:bodyPr wrap="square" lIns="0" rIns="0" tIns="0" bIns="0" anchor="ctr">
            <a:spAutoFit/>
          </a:bodyPr>
          <a:lstStyle/>
          <a:p>
            <a:pPr algn="ctr"/>
            <a:r>
              <a:rPr sz="2800" b="1">
                <a:solidFill>
                  <a:srgbClr val="FFFFFF"/>
                </a:solidFill>
                <a:latin typeface="Yu Gothic"/>
              </a:rPr>
              <a:t>2</a:t>
            </a:r>
          </a:p>
        </p:txBody>
      </p:sp>
      <p:sp>
        <p:nvSpPr>
          <p:cNvPr id="18" name="TextBox 17"/>
          <p:cNvSpPr txBox="1"/>
          <p:nvPr/>
        </p:nvSpPr>
        <p:spPr>
          <a:xfrm>
            <a:off x="2103120" y="3200400"/>
            <a:ext cx="9326880" cy="640080"/>
          </a:xfrm>
          <a:prstGeom prst="rect">
            <a:avLst/>
          </a:prstGeom>
          <a:noFill/>
        </p:spPr>
        <p:txBody>
          <a:bodyPr wrap="square" lIns="0" rIns="0" tIns="0" bIns="0" anchor="t">
            <a:spAutoFit/>
          </a:bodyPr>
          <a:lstStyle/>
          <a:p>
            <a:pPr algn="l"/>
            <a:r>
              <a:rPr sz="1800" b="1">
                <a:solidFill>
                  <a:srgbClr val="2E5E8A"/>
                </a:solidFill>
                <a:latin typeface="Yu Gothic"/>
              </a:rPr>
              <a:t>見つけにくいから「見つける仕組み」を。</a:t>
            </a:r>
          </a:p>
        </p:txBody>
      </p:sp>
      <p:sp>
        <p:nvSpPr>
          <p:cNvPr id="19" name="TextBox 18"/>
          <p:cNvSpPr txBox="1"/>
          <p:nvPr/>
        </p:nvSpPr>
        <p:spPr>
          <a:xfrm>
            <a:off x="2103120" y="3794760"/>
            <a:ext cx="9326880" cy="640080"/>
          </a:xfrm>
          <a:prstGeom prst="rect">
            <a:avLst/>
          </a:prstGeom>
          <a:noFill/>
        </p:spPr>
        <p:txBody>
          <a:bodyPr wrap="square" lIns="0" rIns="0" tIns="0" bIns="0" anchor="t">
            <a:spAutoFit/>
          </a:bodyPr>
          <a:lstStyle/>
          <a:p>
            <a:pPr algn="l"/>
            <a:r>
              <a:rPr sz="1300" b="0">
                <a:solidFill>
                  <a:srgbClr val="222B3A"/>
                </a:solidFill>
                <a:latin typeface="Yu Gothic"/>
              </a:rPr>
              <a:t>学校・地域・医療・福祉が連携し、</a:t>
            </a:r>
          </a:p>
          <a:p>
            <a:pPr algn="l"/>
            <a:r>
              <a:rPr sz="1300" b="0">
                <a:solidFill>
                  <a:srgbClr val="222B3A"/>
                </a:solidFill>
                <a:latin typeface="Yu Gothic"/>
              </a:rPr>
              <a:t>大人の側からつながりに行くことが大切。</a:t>
            </a:r>
          </a:p>
        </p:txBody>
      </p:sp>
      <p:sp>
        <p:nvSpPr>
          <p:cNvPr id="20" name="Rounded Rectangle 19"/>
          <p:cNvSpPr/>
          <p:nvPr/>
        </p:nvSpPr>
        <p:spPr>
          <a:xfrm>
            <a:off x="640080" y="4617720"/>
            <a:ext cx="10972800" cy="1417320"/>
          </a:xfrm>
          <a:prstGeom prst="round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4617720"/>
            <a:ext cx="182880" cy="1417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05840" y="4892040"/>
            <a:ext cx="868680" cy="868680"/>
          </a:xfrm>
          <a:prstGeom prst="round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892040"/>
            <a:ext cx="868680" cy="868680"/>
          </a:xfrm>
          <a:prstGeom prst="rect">
            <a:avLst/>
          </a:prstGeom>
          <a:noFill/>
        </p:spPr>
        <p:txBody>
          <a:bodyPr wrap="square" lIns="0" rIns="0" tIns="0" bIns="0" anchor="ctr">
            <a:spAutoFit/>
          </a:bodyPr>
          <a:lstStyle/>
          <a:p>
            <a:pPr algn="ctr"/>
            <a:r>
              <a:rPr sz="2800" b="1">
                <a:solidFill>
                  <a:srgbClr val="FFFFFF"/>
                </a:solidFill>
                <a:latin typeface="Yu Gothic"/>
              </a:rPr>
              <a:t>3</a:t>
            </a:r>
          </a:p>
        </p:txBody>
      </p:sp>
      <p:sp>
        <p:nvSpPr>
          <p:cNvPr id="24" name="TextBox 23"/>
          <p:cNvSpPr txBox="1"/>
          <p:nvPr/>
        </p:nvSpPr>
        <p:spPr>
          <a:xfrm>
            <a:off x="2103120" y="4800600"/>
            <a:ext cx="9326880" cy="640080"/>
          </a:xfrm>
          <a:prstGeom prst="rect">
            <a:avLst/>
          </a:prstGeom>
          <a:noFill/>
        </p:spPr>
        <p:txBody>
          <a:bodyPr wrap="square" lIns="0" rIns="0" tIns="0" bIns="0" anchor="t">
            <a:spAutoFit/>
          </a:bodyPr>
          <a:lstStyle/>
          <a:p>
            <a:pPr algn="l"/>
            <a:r>
              <a:rPr sz="1800" b="1">
                <a:solidFill>
                  <a:srgbClr val="2E5E8A"/>
                </a:solidFill>
                <a:latin typeface="Yu Gothic"/>
              </a:rPr>
              <a:t>「子どもが子どもでいられる時間」を取り戻す。</a:t>
            </a:r>
          </a:p>
        </p:txBody>
      </p:sp>
      <p:sp>
        <p:nvSpPr>
          <p:cNvPr id="25" name="TextBox 24"/>
          <p:cNvSpPr txBox="1"/>
          <p:nvPr/>
        </p:nvSpPr>
        <p:spPr>
          <a:xfrm>
            <a:off x="2103120" y="5394960"/>
            <a:ext cx="9326880" cy="640080"/>
          </a:xfrm>
          <a:prstGeom prst="rect">
            <a:avLst/>
          </a:prstGeom>
          <a:noFill/>
        </p:spPr>
        <p:txBody>
          <a:bodyPr wrap="square" lIns="0" rIns="0" tIns="0" bIns="0" anchor="t">
            <a:spAutoFit/>
          </a:bodyPr>
          <a:lstStyle/>
          <a:p>
            <a:pPr algn="l"/>
            <a:r>
              <a:rPr sz="1300" b="0">
                <a:solidFill>
                  <a:srgbClr val="222B3A"/>
                </a:solidFill>
                <a:latin typeface="Yu Gothic"/>
              </a:rPr>
              <a:t>勉強・遊び・友人関係・将来の選択肢——</a:t>
            </a:r>
          </a:p>
          <a:p>
            <a:pPr algn="l"/>
            <a:r>
              <a:rPr sz="1300" b="0">
                <a:solidFill>
                  <a:srgbClr val="222B3A"/>
                </a:solidFill>
                <a:latin typeface="Yu Gothic"/>
              </a:rPr>
              <a:t>そのすべてを諦めずに済む社会へ。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5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20640"/>
            <a:ext cx="12191695" cy="13716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914400"/>
          </a:xfrm>
          <a:prstGeom prst="rect">
            <a:avLst/>
          </a:prstGeom>
          <a:noFill/>
        </p:spPr>
        <p:txBody>
          <a:bodyPr wrap="square" lIns="0" rIns="0" tIns="0" bIns="0" anchor="t">
            <a:spAutoFit/>
          </a:bodyPr>
          <a:lstStyle/>
          <a:p>
            <a:pPr algn="l"/>
            <a:r>
              <a:rPr sz="5600" b="1">
                <a:solidFill>
                  <a:srgbClr val="FFFFFF"/>
                </a:solidFill>
                <a:latin typeface="Yu Gothic"/>
              </a:rPr>
              <a:t>Thank you</a:t>
            </a:r>
          </a:p>
        </p:txBody>
      </p:sp>
      <p:sp>
        <p:nvSpPr>
          <p:cNvPr id="5" name="TextBox 4"/>
          <p:cNvSpPr txBox="1"/>
          <p:nvPr/>
        </p:nvSpPr>
        <p:spPr>
          <a:xfrm>
            <a:off x="731520" y="2743200"/>
            <a:ext cx="10698480" cy="640080"/>
          </a:xfrm>
          <a:prstGeom prst="rect">
            <a:avLst/>
          </a:prstGeom>
          <a:noFill/>
        </p:spPr>
        <p:txBody>
          <a:bodyPr wrap="square" lIns="0" rIns="0" tIns="0" bIns="0" anchor="t">
            <a:spAutoFit/>
          </a:bodyPr>
          <a:lstStyle/>
          <a:p>
            <a:pPr algn="l"/>
            <a:r>
              <a:rPr sz="2200" b="0">
                <a:solidFill>
                  <a:srgbClr val="F28C28"/>
                </a:solidFill>
                <a:latin typeface="Yu Gothic"/>
              </a:rPr>
              <a:t>ご清聴ありがとうございました。</a:t>
            </a:r>
          </a:p>
        </p:txBody>
      </p:sp>
      <p:sp>
        <p:nvSpPr>
          <p:cNvPr id="6" name="TextBox 5"/>
          <p:cNvSpPr txBox="1"/>
          <p:nvPr/>
        </p:nvSpPr>
        <p:spPr>
          <a:xfrm>
            <a:off x="731520" y="3840480"/>
            <a:ext cx="10698480" cy="1371600"/>
          </a:xfrm>
          <a:prstGeom prst="rect">
            <a:avLst/>
          </a:prstGeom>
          <a:noFill/>
        </p:spPr>
        <p:txBody>
          <a:bodyPr wrap="square" lIns="0" rIns="0" tIns="0" bIns="0" anchor="t">
            <a:spAutoFit/>
          </a:bodyPr>
          <a:lstStyle/>
          <a:p>
            <a:pPr algn="l"/>
            <a:r>
              <a:rPr sz="1800" b="0">
                <a:solidFill>
                  <a:srgbClr val="FFFFFF"/>
                </a:solidFill>
                <a:latin typeface="Yu Gothic"/>
              </a:rPr>
              <a:t>「気づくこと」から、すべてが始まります。</a:t>
            </a:r>
          </a:p>
          <a:p>
            <a:pPr algn="l"/>
            <a:r>
              <a:rPr sz="1800" b="0">
                <a:solidFill>
                  <a:srgbClr val="FFFFFF"/>
                </a:solidFill>
                <a:latin typeface="Yu Gothic"/>
              </a:rPr>
              <a:t>あなたのまわりの子どもたちに、もう一度目を向けてみませんか。</a:t>
            </a:r>
          </a:p>
        </p:txBody>
      </p:sp>
      <p:sp>
        <p:nvSpPr>
          <p:cNvPr id="7" name="TextBox 6"/>
          <p:cNvSpPr txBox="1"/>
          <p:nvPr/>
        </p:nvSpPr>
        <p:spPr>
          <a:xfrm>
            <a:off x="731520" y="5943600"/>
            <a:ext cx="10698480" cy="365760"/>
          </a:xfrm>
          <a:prstGeom prst="rect">
            <a:avLst/>
          </a:prstGeom>
          <a:noFill/>
        </p:spPr>
        <p:txBody>
          <a:bodyPr wrap="square" lIns="0" rIns="0" tIns="0" bIns="0" anchor="t">
            <a:spAutoFit/>
          </a:bodyPr>
          <a:lstStyle/>
          <a:p>
            <a:pPr algn="l"/>
            <a:r>
              <a:rPr sz="1100" b="0">
                <a:solidFill>
                  <a:srgbClr val="F5F7FA"/>
                </a:solidFill>
                <a:latin typeface="Yu Gothic"/>
              </a:rPr>
              <a:t>References: 厚生労働省 / こども家庭庁 ヤングケアラー実態調査ほか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