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3057"/>
              </a:gs>
              <a:gs pos="100000">
                <a:srgbClr val="2A9D8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280160"/>
            <a:ext cx="5120640" cy="457200"/>
          </a:xfrm>
          <a:prstGeom prst="roundRect">
            <a:avLst/>
          </a:prstGeom>
          <a:solidFill>
            <a:srgbClr val="2B557A"/>
          </a:solidFill>
          <a:ln w="12700">
            <a:solidFill>
              <a:srgbClr val="8F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buNone/>
            </a:pPr>
            <a:r>
              <a:rPr sz="1400" b="1">
                <a:solidFill>
                  <a:srgbClr val="FFFFFF"/>
                </a:solidFill>
                <a:latin typeface="Yu Gothic"/>
              </a:rPr>
              <a:t>特定事業所加算II 算定事業所　内部勉強会資料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2194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4400" b="1">
                <a:solidFill>
                  <a:srgbClr val="FFFFFF"/>
                </a:solidFill>
                <a:latin typeface="Yu Gothic"/>
              </a:rPr>
              <a:t>困難ケースの受け入れ体制で実現する</a:t>
            </a:r>
          </a:p>
          <a:p>
            <a:pPr algn="l">
              <a:spcAft>
                <a:spcPts val="1000"/>
              </a:spcAft>
              <a:buNone/>
            </a:pPr>
            <a:r>
              <a:rPr sz="4400" b="1">
                <a:solidFill>
                  <a:srgbClr val="FFFFFF"/>
                </a:solidFill>
                <a:latin typeface="Yu Gothic"/>
              </a:rPr>
              <a:t>確実性のある業務推進</a:t>
            </a:r>
          </a:p>
          <a:p>
            <a:pPr algn="l">
              <a:spcAft>
                <a:spcPts val="400"/>
              </a:spcAft>
              <a:buNone/>
            </a:pPr>
            <a:r>
              <a:rPr sz="2200" b="1">
                <a:solidFill>
                  <a:srgbClr val="E9C46A"/>
                </a:solidFill>
                <a:latin typeface="Yu Gothic"/>
              </a:rPr>
              <a:t>～ 加算IIの責任を、現場の力に変える 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754880"/>
            <a:ext cx="1051560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500" b="0">
                <a:solidFill>
                  <a:srgbClr val="CFE0EE"/>
                </a:solidFill>
                <a:latin typeface="Yu Gothic"/>
              </a:rPr>
              <a:t>対象：サービス提供責任者・訪問介護員・管理者　／　形式：事例検討型グループワーク</a:t>
            </a:r>
          </a:p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CFE0EE"/>
                </a:solidFill>
                <a:latin typeface="Yu Gothic"/>
              </a:rPr>
              <a:t>開催日：2026年　　月　　日　　　会場：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2A9D8F"/>
                </a:solidFill>
                <a:latin typeface="Yu Gothic"/>
              </a:rPr>
              <a:t>PURPOSE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160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6070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000" b="1">
                <a:solidFill>
                  <a:srgbClr val="0F3057"/>
                </a:solidFill>
                <a:latin typeface="Yu Gothic"/>
              </a:rPr>
              <a:t>本日のねらい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>
                <a:solidFill>
                  <a:srgbClr val="5A6B76"/>
                </a:solidFill>
                <a:latin typeface="Yu Gothic"/>
              </a:rPr>
              <a:t>2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>
                <a:solidFill>
                  <a:srgbClr val="5A6B76"/>
                </a:solidFill>
                <a:latin typeface="Yu Gothic"/>
              </a:rPr>
              <a:t>特定事業所加算II 内部勉強会｜困難ケース受け入れ体制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000" b="0">
                <a:solidFill>
                  <a:srgbClr val="5A6B76"/>
                </a:solidFill>
                <a:latin typeface="Yu Gothic"/>
              </a:rPr>
              <a:t>「断らない事業所」ではなく、</a:t>
            </a:r>
            <a:r>
              <a:rPr sz="2000" b="1">
                <a:solidFill>
                  <a:srgbClr val="E76F51"/>
                </a:solidFill>
                <a:latin typeface="Yu Gothic"/>
              </a:rPr>
              <a:t>「組織として安全に受けられる事業所」</a:t>
            </a:r>
            <a:r>
              <a:rPr sz="2000" b="0">
                <a:solidFill>
                  <a:srgbClr val="5A6B76"/>
                </a:solidFill>
                <a:latin typeface="Yu Gothic"/>
              </a:rPr>
              <a:t>を目指す。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" y="233172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E6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>
              <a:spcAft>
                <a:spcPts val="400"/>
              </a:spcAft>
              <a:buNone/>
            </a:pPr>
            <a:r>
              <a:rPr sz="1200" b="1">
                <a:solidFill>
                  <a:srgbClr val="FFFFFF"/>
                </a:solidFill>
                <a:latin typeface="Yu Gothic"/>
              </a:rPr>
              <a:t>1. 共通理解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834640"/>
            <a:ext cx="3118104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23303A"/>
                </a:solidFill>
                <a:latin typeface="Yu Gothic"/>
              </a:rPr>
              <a:t>特定事業所加算IIの趣旨と、私たちに求められる体制を再確認する。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214884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17720" y="233172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>
              <a:spcAft>
                <a:spcPts val="400"/>
              </a:spcAft>
              <a:buNone/>
            </a:pPr>
            <a:r>
              <a:rPr sz="1200" b="1">
                <a:solidFill>
                  <a:srgbClr val="FFFFFF"/>
                </a:solidFill>
                <a:latin typeface="Yu Gothic"/>
              </a:rPr>
              <a:t>2. 体制の見える化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834640"/>
            <a:ext cx="3118104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23303A"/>
                </a:solidFill>
                <a:latin typeface="Yu Gothic"/>
              </a:rPr>
              <a:t>困難ケースを「個人」でなく「仕組み」で受ける流れを理解する。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93024" y="214884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94192" y="233172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>
              <a:spcAft>
                <a:spcPts val="400"/>
              </a:spcAft>
              <a:buNone/>
            </a:pPr>
            <a:r>
              <a:rPr sz="1200" b="1">
                <a:solidFill>
                  <a:srgbClr val="FFFFFF"/>
                </a:solidFill>
                <a:latin typeface="Yu Gothic"/>
              </a:rPr>
              <a:t>3. 事例で実践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2834640"/>
            <a:ext cx="3118104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23303A"/>
                </a:solidFill>
                <a:latin typeface="Yu Gothic"/>
              </a:rPr>
              <a:t>4つの事例で、判断・連携・記録の勘所を体得する。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9768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FFF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297680"/>
            <a:ext cx="76200" cy="86868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97680"/>
            <a:ext cx="1056132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>
                <a:solidFill>
                  <a:srgbClr val="E76F51"/>
                </a:solidFill>
                <a:latin typeface="Yu Gothic"/>
              </a:rPr>
              <a:t>合言葉：</a:t>
            </a:r>
            <a:r>
              <a:rPr sz="1400" b="0">
                <a:solidFill>
                  <a:srgbClr val="23303A"/>
                </a:solidFill>
                <a:latin typeface="Yu Gothic"/>
              </a:rPr>
              <a:t>属人化を減らし、誰が対応しても一定の質を保てる仕組みをつくる。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2A9D8F"/>
                </a:solidFill>
                <a:latin typeface="Yu Gothic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160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6070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000" b="1">
                <a:solidFill>
                  <a:srgbClr val="0F3057"/>
                </a:solidFill>
                <a:latin typeface="Yu Gothic"/>
              </a:rPr>
              <a:t>本日の流れ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>
                <a:solidFill>
                  <a:srgbClr val="5A6B76"/>
                </a:solidFill>
                <a:latin typeface="Yu Gothic"/>
              </a:rPr>
              <a:t>3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>
                <a:solidFill>
                  <a:srgbClr val="5A6B76"/>
                </a:solidFill>
                <a:latin typeface="Yu Gothic"/>
              </a:rPr>
              <a:t>特定事業所加算II 内部勉強会｜困難ケース受け入れ体制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709928"/>
            <a:ext cx="4946904" cy="1737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E6091"/>
                </a:solidFill>
                <a:latin typeface="Yu Gothic"/>
              </a:rPr>
              <a:t>第1部　理解編（約20分）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特定事業所加算IIの位置づけ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なぜ困難ケース受け入れ体制が要なのか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「困難ケース」の定義と類型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1709928"/>
            <a:ext cx="4946904" cy="1737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E6091"/>
                </a:solidFill>
                <a:latin typeface="Yu Gothic"/>
              </a:rPr>
              <a:t>第2部　体制編（約20分）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受け入れの基本フロー（5ステップ）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5つの体制づくり（情報・チーム・緊急時・記録・育成）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9476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904488"/>
            <a:ext cx="4946904" cy="1737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E6091"/>
                </a:solidFill>
                <a:latin typeface="Yu Gothic"/>
              </a:rPr>
              <a:t>第3部　事例編（約30分）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事例1〜4のグループ検討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NG対応とGOOD対応の比較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9476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3904488"/>
            <a:ext cx="4946904" cy="1737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E6091"/>
                </a:solidFill>
                <a:latin typeface="Yu Gothic"/>
              </a:rPr>
              <a:t>第4部　まとめ（約10分）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自事業所の体制セルフチェック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明日からのアクション宣言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2A9D8F"/>
                </a:solidFill>
                <a:latin typeface="Yu Gothic"/>
              </a:rPr>
              <a:t>BASIC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160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6070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000" b="1">
                <a:solidFill>
                  <a:srgbClr val="0F3057"/>
                </a:solidFill>
                <a:latin typeface="Yu Gothic"/>
              </a:rPr>
              <a:t>特定事業所加算IIの位置づけ（再確認）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>
                <a:solidFill>
                  <a:srgbClr val="5A6B76"/>
                </a:solidFill>
                <a:latin typeface="Yu Gothic"/>
              </a:rPr>
              <a:t>4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>
                <a:solidFill>
                  <a:srgbClr val="5A6B76"/>
                </a:solidFill>
                <a:latin typeface="Yu Gothic"/>
              </a:rPr>
              <a:t>特定事業所加算II 内部勉強会｜困難ケース受け入れ体制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>
                <a:solidFill>
                  <a:srgbClr val="23303A"/>
                </a:solidFill>
                <a:latin typeface="Yu Gothic"/>
              </a:rPr>
              <a:t>特定事業所加算は、</a:t>
            </a:r>
            <a:r>
              <a:rPr sz="1600" b="1">
                <a:solidFill>
                  <a:srgbClr val="E76F51"/>
                </a:solidFill>
                <a:latin typeface="Yu Gothic"/>
              </a:rPr>
              <a:t>質の高いサービスを安定的に提供する体制</a:t>
            </a:r>
            <a:r>
              <a:rPr sz="1600" b="0">
                <a:solidFill>
                  <a:srgbClr val="23303A"/>
                </a:solidFill>
                <a:latin typeface="Yu Gothic"/>
              </a:rPr>
              <a:t>を評価する加算です。区分により求める要件が異なります。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92024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560320"/>
                <a:gridCol w="2560320"/>
                <a:gridCol w="256032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</a:rPr>
                        <a:t>区分</a:t>
                      </a:r>
                    </a:p>
                  </a:txBody>
                  <a:tcPr>
                    <a:solidFill>
                      <a:srgbClr val="0F30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</a:rPr>
                        <a:t>体制要件</a:t>
                      </a:r>
                    </a:p>
                  </a:txBody>
                  <a:tcPr>
                    <a:solidFill>
                      <a:srgbClr val="0F30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</a:rPr>
                        <a:t>人材要件</a:t>
                      </a:r>
                    </a:p>
                  </a:txBody>
                  <a:tcPr>
                    <a:solidFill>
                      <a:srgbClr val="0F30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</a:rPr>
                        <a:t>重度者等対応要件</a:t>
                      </a:r>
                    </a:p>
                  </a:txBody>
                  <a:tcPr>
                    <a:solidFill>
                      <a:srgbClr val="0F305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3303A"/>
                          </a:solidFill>
                          <a:latin typeface="Yu Gothic"/>
                        </a:rPr>
                        <a:t>加算I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303A"/>
                          </a:solidFill>
                          <a:latin typeface="Yu Gothic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303A"/>
                          </a:solidFill>
                          <a:latin typeface="Yu Gothic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303A"/>
                          </a:solidFill>
                          <a:latin typeface="Yu Gothic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3303A"/>
                          </a:solidFill>
                          <a:latin typeface="Yu Gothic"/>
                        </a:rPr>
                        <a:t>加算II（当事業所）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3303A"/>
                          </a:solidFill>
                          <a:latin typeface="Yu Gothic"/>
                        </a:rPr>
                        <a:t>○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3303A"/>
                          </a:solidFill>
                          <a:latin typeface="Yu Gothic"/>
                        </a:rPr>
                        <a:t>○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3303A"/>
                          </a:solidFill>
                          <a:latin typeface="Yu Gothic"/>
                        </a:rPr>
                        <a:t>－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3303A"/>
                          </a:solidFill>
                          <a:latin typeface="Yu Gothic"/>
                        </a:rPr>
                        <a:t>加算III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303A"/>
                          </a:solidFill>
                          <a:latin typeface="Yu Gothic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303A"/>
                          </a:solidFill>
                          <a:latin typeface="Yu Gothic"/>
                        </a:rPr>
                        <a:t>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303A"/>
                          </a:solidFill>
                          <a:latin typeface="Yu Gothic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3977639"/>
            <a:ext cx="10881360" cy="1417320"/>
          </a:xfrm>
          <a:prstGeom prst="roundRect">
            <a:avLst>
              <a:gd name="adj" fmla="val 6000"/>
            </a:avLst>
          </a:prstGeom>
          <a:solidFill>
            <a:srgbClr val="FFF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977639"/>
            <a:ext cx="76200" cy="141732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977639"/>
            <a:ext cx="10561320" cy="1417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>
                <a:solidFill>
                  <a:srgbClr val="23303A"/>
                </a:solidFill>
                <a:latin typeface="Yu Gothic"/>
              </a:rPr>
              <a:t>加算IIは</a:t>
            </a:r>
            <a:r>
              <a:rPr sz="1400" b="1">
                <a:solidFill>
                  <a:srgbClr val="E76F51"/>
                </a:solidFill>
                <a:latin typeface="Yu Gothic"/>
              </a:rPr>
              <a:t>「体制要件」＋「人材要件（有資格者の割合・勤続年数等）」</a:t>
            </a:r>
            <a:r>
              <a:rPr sz="1400" b="0">
                <a:solidFill>
                  <a:srgbClr val="23303A"/>
                </a:solidFill>
                <a:latin typeface="Yu Gothic"/>
              </a:rPr>
              <a:t>で算定。重度者対応は必須ではないが、体制要件である研修・会議・緊急時対応・健康管理の質こそが、困難ケースを受けられる組織力の土台となる。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486400"/>
            <a:ext cx="10607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>
                <a:solidFill>
                  <a:srgbClr val="5A6B76"/>
                </a:solidFill>
                <a:latin typeface="Yu Gothic"/>
              </a:rPr>
              <a:t>※要件・割合の詳細は最新の介護報酬告示・解釈通知（直近改定版）で必ずご確認ください。本資料は体制づくりの考え方を共有するものです。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2A9D8F"/>
                </a:solidFill>
                <a:latin typeface="Yu Gothic"/>
              </a:rPr>
              <a:t>WHY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160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6070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000" b="1">
                <a:solidFill>
                  <a:srgbClr val="0F3057"/>
                </a:solidFill>
                <a:latin typeface="Yu Gothic"/>
              </a:rPr>
              <a:t>なぜ「困難ケース受け入れ体制」が要なのか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>
                <a:solidFill>
                  <a:srgbClr val="5A6B76"/>
                </a:solidFill>
                <a:latin typeface="Yu Gothic"/>
              </a:rPr>
              <a:t>5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>
                <a:solidFill>
                  <a:srgbClr val="5A6B76"/>
                </a:solidFill>
                <a:latin typeface="Yu Gothic"/>
              </a:rPr>
              <a:t>特定事業所加算II 内部勉強会｜困難ケース受け入れ体制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34924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19072"/>
            <a:ext cx="4892040" cy="160019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E6091"/>
                </a:solidFill>
                <a:latin typeface="Yu Gothic"/>
              </a:rPr>
              <a:t>① 加算の趣旨に直結する</a:t>
            </a:r>
          </a:p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23303A"/>
                </a:solidFill>
                <a:latin typeface="Yu Gothic"/>
              </a:rPr>
              <a:t>加算IIの体制要件（個別研修計画／定期会議／文書による指示と報告／緊急時対応／健康管理）は、そのまま困難ケースを安全に受けるための装置。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34924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19072"/>
            <a:ext cx="4892040" cy="160019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E6091"/>
                </a:solidFill>
                <a:latin typeface="Yu Gothic"/>
              </a:rPr>
              <a:t>② 加算の「説明責任」になる</a:t>
            </a:r>
          </a:p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23303A"/>
                </a:solidFill>
                <a:latin typeface="Yu Gothic"/>
              </a:rPr>
              <a:t>加算算定＝対外的に質を約束すること。実地指導の場でも、体制が機能していることを記録で示せることが重要。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03319"/>
            <a:ext cx="534924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867911"/>
            <a:ext cx="4892040" cy="160019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E6091"/>
                </a:solidFill>
                <a:latin typeface="Yu Gothic"/>
              </a:rPr>
              <a:t>③ 地域からの信頼につながる</a:t>
            </a:r>
          </a:p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23303A"/>
                </a:solidFill>
                <a:latin typeface="Yu Gothic"/>
              </a:rPr>
              <a:t>「あの事業所なら相談できる」という評価が、安定した依頼・稼働率・人材定着を生む。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03319"/>
            <a:ext cx="534924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867911"/>
            <a:ext cx="4892040" cy="160019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E6091"/>
                </a:solidFill>
                <a:latin typeface="Yu Gothic"/>
              </a:rPr>
              <a:t>④ 職員を守る</a:t>
            </a:r>
          </a:p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23303A"/>
                </a:solidFill>
                <a:latin typeface="Yu Gothic"/>
              </a:rPr>
              <a:t>体制があれば、難しいケースを個人の頑張りに依存させない。バーンアウト・離職・事故を防ぐ。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2A9D8F"/>
                </a:solidFill>
                <a:latin typeface="Yu Gothic"/>
              </a:rPr>
              <a:t>DEFINE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160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6070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000" b="1">
                <a:solidFill>
                  <a:srgbClr val="0F3057"/>
                </a:solidFill>
                <a:latin typeface="Yu Gothic"/>
              </a:rPr>
              <a:t>「困難ケース」とは何か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>
                <a:solidFill>
                  <a:srgbClr val="5A6B76"/>
                </a:solidFill>
                <a:latin typeface="Yu Gothic"/>
              </a:rPr>
              <a:t>6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>
                <a:solidFill>
                  <a:srgbClr val="5A6B76"/>
                </a:solidFill>
                <a:latin typeface="Yu Gothic"/>
              </a:rPr>
              <a:t>特定事業所加算II 内部勉強会｜困難ケース受け入れ体制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>
                <a:solidFill>
                  <a:srgbClr val="5A6B76"/>
                </a:solidFill>
                <a:latin typeface="Yu Gothic"/>
              </a:rPr>
              <a:t>「対応が難しい」を分解すると、原因ごとに必要な備えが見えてくる。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" y="208483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E6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>
              <a:spcAft>
                <a:spcPts val="400"/>
              </a:spcAft>
              <a:buNone/>
            </a:pPr>
            <a:r>
              <a:rPr sz="1200" b="1">
                <a:solidFill>
                  <a:srgbClr val="FFFFFF"/>
                </a:solidFill>
                <a:latin typeface="Yu Gothic"/>
              </a:rPr>
              <a:t>医療・身体面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23744"/>
            <a:ext cx="4946904" cy="685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>
                <a:solidFill>
                  <a:srgbClr val="23303A"/>
                </a:solidFill>
                <a:latin typeface="Yu Gothic"/>
              </a:rPr>
              <a:t>重度（要介護4・5）、喀痰吸引・経管栄養等の医療的ケア、ターミナル、急変リスク。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920240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64808" y="208483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>
              <a:spcAft>
                <a:spcPts val="400"/>
              </a:spcAft>
              <a:buNone/>
            </a:pPr>
            <a:r>
              <a:rPr sz="1200" b="1">
                <a:solidFill>
                  <a:srgbClr val="FFFFFF"/>
                </a:solidFill>
                <a:latin typeface="Yu Gothic"/>
              </a:rPr>
              <a:t>認知・精神面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523744"/>
            <a:ext cx="4946904" cy="685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>
                <a:solidFill>
                  <a:srgbClr val="23303A"/>
                </a:solidFill>
                <a:latin typeface="Yu Gothic"/>
              </a:rPr>
              <a:t>認知症によるBPSD（拒否・暴言・徘徊）、精神疾患、意思疎通の困難。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93592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3758184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>
              <a:spcAft>
                <a:spcPts val="400"/>
              </a:spcAft>
              <a:buNone/>
            </a:pPr>
            <a:r>
              <a:rPr sz="1200" b="1">
                <a:solidFill>
                  <a:srgbClr val="FFFFFF"/>
                </a:solidFill>
                <a:latin typeface="Yu Gothic"/>
              </a:rPr>
              <a:t>家族・環境面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197096"/>
            <a:ext cx="4946904" cy="685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>
                <a:solidFill>
                  <a:srgbClr val="23303A"/>
                </a:solidFill>
                <a:latin typeface="Yu Gothic"/>
              </a:rPr>
              <a:t>家族関係の葛藤、介護力不足、ハラスメント、不衛生な住環境、孤立。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593592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64808" y="3758184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>
              <a:spcAft>
                <a:spcPts val="400"/>
              </a:spcAft>
              <a:buNone/>
            </a:pPr>
            <a:r>
              <a:rPr sz="1200" b="1">
                <a:solidFill>
                  <a:srgbClr val="5A4500"/>
                </a:solidFill>
                <a:latin typeface="Yu Gothic"/>
              </a:rPr>
              <a:t>社会・制度面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4197096"/>
            <a:ext cx="4946904" cy="685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>
                <a:solidFill>
                  <a:srgbClr val="23303A"/>
                </a:solidFill>
                <a:latin typeface="Yu Gothic"/>
              </a:rPr>
              <a:t>経済的困窮、サービス拒否、虐待の疑い、多問題を抱える世帯。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029200"/>
            <a:ext cx="10881360" cy="1005840"/>
          </a:xfrm>
          <a:prstGeom prst="roundRect">
            <a:avLst>
              <a:gd name="adj" fmla="val 6000"/>
            </a:avLst>
          </a:prstGeom>
          <a:solidFill>
            <a:srgbClr val="E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5029200"/>
            <a:ext cx="76200" cy="1005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029200"/>
            <a:ext cx="10561320" cy="10058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>
                <a:solidFill>
                  <a:srgbClr val="2A9D8F"/>
                </a:solidFill>
                <a:latin typeface="Yu Gothic"/>
              </a:rPr>
              <a:t>視点：</a:t>
            </a:r>
            <a:r>
              <a:rPr sz="1400" b="0">
                <a:solidFill>
                  <a:srgbClr val="23303A"/>
                </a:solidFill>
                <a:latin typeface="Yu Gothic"/>
              </a:rPr>
              <a:t>困難さは利用者の「属性」ではなく、支援する側の体制の不足から生まれることもある。体制を整えれば「困難」は「対応可能」に変わる。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2A9D8F"/>
                </a:solidFill>
                <a:latin typeface="Yu Gothic"/>
              </a:rPr>
              <a:t>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160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6070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000" b="1">
                <a:solidFill>
                  <a:srgbClr val="0F3057"/>
                </a:solidFill>
                <a:latin typeface="Yu Gothic"/>
              </a:rPr>
              <a:t>困難ケース受け入れの基本フロー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>
                <a:solidFill>
                  <a:srgbClr val="5A6B76"/>
                </a:solidFill>
                <a:latin typeface="Yu Gothic"/>
              </a:rPr>
              <a:t>7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>
                <a:solidFill>
                  <a:srgbClr val="5A6B76"/>
                </a:solidFill>
                <a:latin typeface="Yu Gothic"/>
              </a:rPr>
              <a:t>特定事業所加算II 内部勉強会｜困難ケース受け入れ体制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>
                <a:solidFill>
                  <a:srgbClr val="23303A"/>
                </a:solidFill>
                <a:latin typeface="Yu Gothic"/>
              </a:rPr>
              <a:t>「受けるか／断るか」を個人が即答しない。</a:t>
            </a:r>
            <a:r>
              <a:rPr sz="1800" b="1">
                <a:solidFill>
                  <a:srgbClr val="E76F51"/>
                </a:solidFill>
                <a:latin typeface="Yu Gothic"/>
              </a:rPr>
              <a:t>5ステップで組織判断する。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19659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E60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1892" y="2148840"/>
            <a:ext cx="402336" cy="402336"/>
          </a:xfrm>
          <a:prstGeom prst="ellipse">
            <a:avLst/>
          </a:prstGeom>
          <a:solidFill>
            <a:srgbClr val="1E6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buNone/>
            </a:pPr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578608"/>
            <a:ext cx="1819656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400" b="1">
                <a:solidFill>
                  <a:srgbClr val="0F3057"/>
                </a:solidFill>
                <a:latin typeface="Yu Gothic"/>
              </a:rPr>
              <a:t>相談受付</a:t>
            </a:r>
          </a:p>
          <a:p>
            <a:pPr algn="ctr">
              <a:spcAft>
                <a:spcPts val="400"/>
              </a:spcAft>
              <a:buNone/>
            </a:pPr>
            <a:r>
              <a:rPr sz="1100" b="0">
                <a:solidFill>
                  <a:srgbClr val="5A6B76"/>
                </a:solidFill>
                <a:latin typeface="Yu Gothic"/>
              </a:rPr>
              <a:t>情報を一旦すべて受け止める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87752" y="2679192"/>
            <a:ext cx="299466" cy="219456"/>
          </a:xfrm>
          <a:prstGeom prst="rightArrow">
            <a:avLst/>
          </a:prstGeom>
          <a:solidFill>
            <a:srgbClr val="1E6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68930" y="2011680"/>
            <a:ext cx="19659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E60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0742" y="2148840"/>
            <a:ext cx="402336" cy="402336"/>
          </a:xfrm>
          <a:prstGeom prst="ellipse">
            <a:avLst/>
          </a:prstGeom>
          <a:solidFill>
            <a:srgbClr val="1E6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buNone/>
            </a:pPr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2082" y="2578608"/>
            <a:ext cx="1819656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400" b="1">
                <a:solidFill>
                  <a:srgbClr val="0F3057"/>
                </a:solidFill>
                <a:latin typeface="Yu Gothic"/>
              </a:rPr>
              <a:t>情報収集・
アセスメント</a:t>
            </a:r>
          </a:p>
          <a:p>
            <a:pPr algn="ctr">
              <a:spcAft>
                <a:spcPts val="400"/>
              </a:spcAft>
              <a:buNone/>
            </a:pPr>
            <a:r>
              <a:rPr sz="1100" b="0">
                <a:solidFill>
                  <a:srgbClr val="5A6B76"/>
                </a:solidFill>
                <a:latin typeface="Yu Gothic"/>
              </a:rPr>
              <a:t>リスクと必要体制を見極める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16602" y="2679192"/>
            <a:ext cx="299466" cy="219456"/>
          </a:xfrm>
          <a:prstGeom prst="rightArrow">
            <a:avLst/>
          </a:prstGeom>
          <a:solidFill>
            <a:srgbClr val="1E6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97780" y="2011680"/>
            <a:ext cx="19659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E60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79592" y="2148840"/>
            <a:ext cx="402336" cy="402336"/>
          </a:xfrm>
          <a:prstGeom prst="ellipse">
            <a:avLst/>
          </a:prstGeom>
          <a:solidFill>
            <a:srgbClr val="1E6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buNone/>
            </a:pPr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0932" y="2578608"/>
            <a:ext cx="1819656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400" b="1">
                <a:solidFill>
                  <a:srgbClr val="0F3057"/>
                </a:solidFill>
                <a:latin typeface="Yu Gothic"/>
              </a:rPr>
              <a:t>受入判定会議</a:t>
            </a:r>
          </a:p>
          <a:p>
            <a:pPr algn="ctr">
              <a:spcAft>
                <a:spcPts val="400"/>
              </a:spcAft>
              <a:buNone/>
            </a:pPr>
            <a:r>
              <a:rPr sz="1100" b="0">
                <a:solidFill>
                  <a:srgbClr val="5A6B76"/>
                </a:solidFill>
                <a:latin typeface="Yu Gothic"/>
              </a:rPr>
              <a:t>組織で可否・条件を判断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045452" y="2679192"/>
            <a:ext cx="299466" cy="219456"/>
          </a:xfrm>
          <a:prstGeom prst="rightArrow">
            <a:avLst/>
          </a:prstGeom>
          <a:solidFill>
            <a:srgbClr val="1E6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26630" y="2011680"/>
            <a:ext cx="19659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E60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108442" y="2148840"/>
            <a:ext cx="402336" cy="402336"/>
          </a:xfrm>
          <a:prstGeom prst="ellipse">
            <a:avLst/>
          </a:prstGeom>
          <a:solidFill>
            <a:srgbClr val="1E6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buNone/>
            </a:pPr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9782" y="2578608"/>
            <a:ext cx="1819656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400" b="1">
                <a:solidFill>
                  <a:srgbClr val="0F3057"/>
                </a:solidFill>
                <a:latin typeface="Yu Gothic"/>
              </a:rPr>
              <a:t>体制構築・開始</a:t>
            </a:r>
          </a:p>
          <a:p>
            <a:pPr algn="ctr">
              <a:spcAft>
                <a:spcPts val="400"/>
              </a:spcAft>
              <a:buNone/>
            </a:pPr>
            <a:r>
              <a:rPr sz="1100" b="0">
                <a:solidFill>
                  <a:srgbClr val="5A6B76"/>
                </a:solidFill>
                <a:latin typeface="Yu Gothic"/>
              </a:rPr>
              <a:t>役割分担・手順・緊急時を明示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274302" y="2679192"/>
            <a:ext cx="299466" cy="219456"/>
          </a:xfrm>
          <a:prstGeom prst="rightArrow">
            <a:avLst/>
          </a:prstGeom>
          <a:solidFill>
            <a:srgbClr val="1E6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555480" y="2011680"/>
            <a:ext cx="19659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E60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337292" y="2148840"/>
            <a:ext cx="402336" cy="402336"/>
          </a:xfrm>
          <a:prstGeom prst="ellipse">
            <a:avLst/>
          </a:prstGeom>
          <a:solidFill>
            <a:srgbClr val="1E6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buNone/>
            </a:pPr>
            <a:r>
              <a:rPr sz="18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28632" y="2578608"/>
            <a:ext cx="1819656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400" b="1">
                <a:solidFill>
                  <a:srgbClr val="0F3057"/>
                </a:solidFill>
                <a:latin typeface="Yu Gothic"/>
              </a:rPr>
              <a:t>モニタリング</a:t>
            </a:r>
          </a:p>
          <a:p>
            <a:pPr algn="ctr">
              <a:spcAft>
                <a:spcPts val="400"/>
              </a:spcAft>
              <a:buNone/>
            </a:pPr>
            <a:r>
              <a:rPr sz="1100" b="0">
                <a:solidFill>
                  <a:srgbClr val="5A6B76"/>
                </a:solidFill>
                <a:latin typeface="Yu Gothic"/>
              </a:rPr>
              <a:t>定期会議で改善・撤退判断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93192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3931920"/>
            <a:ext cx="76200" cy="77724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931920"/>
            <a:ext cx="1056132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>
                <a:solidFill>
                  <a:srgbClr val="E76F51"/>
                </a:solidFill>
                <a:latin typeface="Yu Gothic"/>
              </a:rPr>
              <a:t>NG：</a:t>
            </a:r>
            <a:r>
              <a:rPr sz="1400" b="0">
                <a:solidFill>
                  <a:srgbClr val="23303A"/>
                </a:solidFill>
                <a:latin typeface="Yu Gothic"/>
              </a:rPr>
              <a:t>電話口でサ責が一人で「うちでは無理です」／逆に「大丈夫です受けます」と即断する。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84632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4846320"/>
            <a:ext cx="76200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846320"/>
            <a:ext cx="1056132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>
                <a:solidFill>
                  <a:srgbClr val="2A9D8F"/>
                </a:solidFill>
                <a:latin typeface="Yu Gothic"/>
              </a:rPr>
              <a:t>GOOD：</a:t>
            </a:r>
            <a:r>
              <a:rPr sz="1400" b="0">
                <a:solidFill>
                  <a:srgbClr val="23303A"/>
                </a:solidFill>
                <a:latin typeface="Yu Gothic"/>
              </a:rPr>
              <a:t>「持ち帰ってチームで検討し、◯日までにご連絡します」と、判断を仕組みに乗せる。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2A9D8F"/>
                </a:solidFill>
                <a:latin typeface="Yu Gothic"/>
              </a:rPr>
              <a:t>SYSTEM 1/5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160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6070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000" b="1">
                <a:solidFill>
                  <a:srgbClr val="0F3057"/>
                </a:solidFill>
                <a:latin typeface="Yu Gothic"/>
              </a:rPr>
              <a:t>体制づくり①　情報収集とアセスメント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>
                <a:solidFill>
                  <a:srgbClr val="5A6B76"/>
                </a:solidFill>
                <a:latin typeface="Yu Gothic"/>
              </a:rPr>
              <a:t>8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>
                <a:solidFill>
                  <a:srgbClr val="5A6B76"/>
                </a:solidFill>
                <a:latin typeface="Yu Gothic"/>
              </a:rPr>
              <a:t>特定事業所加算II 内部勉強会｜困難ケース受け入れ体制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34924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664208"/>
            <a:ext cx="4946904" cy="2606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E6091"/>
                </a:solidFill>
                <a:latin typeface="Yu Gothic"/>
              </a:rPr>
              <a:t>受付時に必ず押さえる項目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心身状態・医療的ケアの有無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認知症・精神症状とその現れ方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家族構成・介護力・キーパーソン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住環境・動物・衛生・段差等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過去のサービス利用歴と中止理由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これまで何が「困難」とされたか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34924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1664208"/>
            <a:ext cx="4946904" cy="2606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E6091"/>
                </a:solidFill>
                <a:latin typeface="Yu Gothic"/>
              </a:rPr>
              <a:t>リスクアセスメントの観点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利用者の安全（急変・転倒・服薬）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職員の安全（感染・腰痛・ハラスメント）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必要なスキル・資格は揃うか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必要な人員・時間を確保できるか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連携先（医療・ケアマネ・地域包括）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61772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FFF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617720"/>
            <a:ext cx="76200" cy="105156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617720"/>
            <a:ext cx="10561320" cy="10515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>
                <a:solidFill>
                  <a:srgbClr val="E9C46A"/>
                </a:solidFill>
                <a:latin typeface="Yu Gothic"/>
              </a:rPr>
              <a:t>ポイント：</a:t>
            </a:r>
            <a:r>
              <a:rPr sz="1400" b="0">
                <a:solidFill>
                  <a:srgbClr val="23303A"/>
                </a:solidFill>
                <a:latin typeface="Yu Gothic"/>
              </a:rPr>
              <a:t>「受けられない理由」だけでなく「何が揃えば受けられるか（条件）」をセットで整理する。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2A9D8F"/>
                </a:solidFill>
                <a:latin typeface="Yu Gothic"/>
              </a:rPr>
              <a:t>SYSTEM 2/5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160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6070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000" b="1">
                <a:solidFill>
                  <a:srgbClr val="0F3057"/>
                </a:solidFill>
                <a:latin typeface="Yu Gothic"/>
              </a:rPr>
              <a:t>体制づくり②　チーム体制・役割分担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>
                <a:solidFill>
                  <a:srgbClr val="5A6B76"/>
                </a:solidFill>
                <a:latin typeface="Yu Gothic"/>
              </a:rPr>
              <a:t>9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>
                <a:solidFill>
                  <a:srgbClr val="5A6B76"/>
                </a:solidFill>
                <a:latin typeface="Yu Gothic"/>
              </a:rPr>
              <a:t>特定事業所加算II 内部勉強会｜困難ケース受け入れ体制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34924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664208"/>
            <a:ext cx="4946904" cy="2606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E6091"/>
                </a:solidFill>
                <a:latin typeface="Yu Gothic"/>
              </a:rPr>
              <a:t>「一人で抱えない」設計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主担当＋副担当の複数担当制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困難ケースは経験者とペアで導入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サ責が司令塔として手順書を整備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相談・SOSを上げてよい文化を明示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34924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1664208"/>
            <a:ext cx="4946904" cy="2606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E6091"/>
                </a:solidFill>
                <a:latin typeface="Yu Gothic"/>
              </a:rPr>
              <a:t>サービス提供責任者の役割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受入判定会議の招集・進行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個別の手順書・留意点の作成と周知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ヘルパーへの文書による指示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提供後の報告の収集とフィードバック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61772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E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617720"/>
            <a:ext cx="76200" cy="10515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617720"/>
            <a:ext cx="10561320" cy="10515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>
                <a:solidFill>
                  <a:srgbClr val="2A9D8F"/>
                </a:solidFill>
                <a:latin typeface="Yu Gothic"/>
              </a:rPr>
              <a:t>加算要件との接続：</a:t>
            </a:r>
            <a:r>
              <a:rPr sz="1400" b="0">
                <a:solidFill>
                  <a:srgbClr val="23303A"/>
                </a:solidFill>
                <a:latin typeface="Yu Gothic"/>
              </a:rPr>
              <a:t>「文書等による指示及び提供後の報告」「定期的な会議」は加算IIの体制要件そのもの。困難ケースほど、この運用が品質を左右する。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2A9D8F"/>
                </a:solidFill>
                <a:latin typeface="Yu Gothic"/>
              </a:rPr>
              <a:t>SYSTEM 3/5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160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6070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000" b="1">
                <a:solidFill>
                  <a:srgbClr val="0F3057"/>
                </a:solidFill>
                <a:latin typeface="Yu Gothic"/>
              </a:rPr>
              <a:t>体制づくり③　緊急時対応・リスク管理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>
                <a:solidFill>
                  <a:srgbClr val="5A6B76"/>
                </a:solidFill>
                <a:latin typeface="Yu Gothic"/>
              </a:rPr>
              <a:t>10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>
                <a:solidFill>
                  <a:srgbClr val="5A6B76"/>
                </a:solidFill>
                <a:latin typeface="Yu Gothic"/>
              </a:rPr>
              <a:t>特定事業所加算II 内部勉強会｜困難ケース受け入れ体制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34924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664208"/>
            <a:ext cx="4946904" cy="2606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E6091"/>
                </a:solidFill>
                <a:latin typeface="Yu Gothic"/>
              </a:rPr>
              <a:t>緊急時対応の「明示」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急変・事故・連絡不能時の連絡フローを1枚に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連絡先（家族／主治医／ケアマネ／管理者／119）の優先順位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各利用者宅に応じた個別の留意事項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夜間・休日の連絡当番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34924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1664208"/>
            <a:ext cx="4946904" cy="2606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E6091"/>
                </a:solidFill>
                <a:latin typeface="Yu Gothic"/>
              </a:rPr>
              <a:t>職員を守るリスク管理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ハラスメント発生時の手順（中断・退避・報告）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感染症・身体的負担への備え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ヒヤリ・ハットの収集と共有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「撤退・中止」も正当な選択肢と明文化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61772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FFF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617720"/>
            <a:ext cx="76200" cy="105156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617720"/>
            <a:ext cx="10561320" cy="10515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>
                <a:solidFill>
                  <a:srgbClr val="E9C46A"/>
                </a:solidFill>
                <a:latin typeface="Yu Gothic"/>
              </a:rPr>
              <a:t>カスタマーハラスメント：</a:t>
            </a:r>
            <a:r>
              <a:rPr sz="1400" b="0">
                <a:solidFill>
                  <a:srgbClr val="23303A"/>
                </a:solidFill>
                <a:latin typeface="Yu Gothic"/>
              </a:rPr>
              <a:t>「利用者・家族だから我慢」ではなく、組織として線引きと対応手順を持つことが、結果的にサービス継続を可能にする。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2A9D8F"/>
                </a:solidFill>
                <a:latin typeface="Yu Gothic"/>
              </a:rPr>
              <a:t>SYSTEM 4/5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160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6070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000" b="1">
                <a:solidFill>
                  <a:srgbClr val="0F3057"/>
                </a:solidFill>
                <a:latin typeface="Yu Gothic"/>
              </a:rPr>
              <a:t>体制づくり④　記録・報告・情報共有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>
                <a:solidFill>
                  <a:srgbClr val="5A6B76"/>
                </a:solidFill>
                <a:latin typeface="Yu Gothic"/>
              </a:rPr>
              <a:t>11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>
                <a:solidFill>
                  <a:srgbClr val="5A6B76"/>
                </a:solidFill>
                <a:latin typeface="Yu Gothic"/>
              </a:rPr>
              <a:t>特定事業所加算II 内部勉強会｜困難ケース受け入れ体制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34924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664208"/>
            <a:ext cx="4946904" cy="2606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E6091"/>
                </a:solidFill>
                <a:latin typeface="Yu Gothic"/>
              </a:rPr>
              <a:t>記録は「確実性」の証拠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受入判定会議の議事録（誰が・何を根拠に判断したか）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個別手順書・指示書とその更新履歴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日々のサービス提供記録・報告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ヒヤリ・ハット／事故報告／苦情対応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34924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1664208"/>
            <a:ext cx="4946904" cy="2606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E6091"/>
                </a:solidFill>
                <a:latin typeface="Yu Gothic"/>
              </a:rPr>
              <a:t>情報共有の仕組み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申し送りノート・チャット等の一元化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変化があればその日のうちに共有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定期会議で全員が同じ理解を持つ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ケアマネ・多職種への報告ルート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61772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E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617720"/>
            <a:ext cx="76200" cy="10515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617720"/>
            <a:ext cx="10561320" cy="10515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>
                <a:solidFill>
                  <a:srgbClr val="2A9D8F"/>
                </a:solidFill>
                <a:latin typeface="Yu Gothic"/>
              </a:rPr>
              <a:t>実地指導の視点：</a:t>
            </a:r>
            <a:r>
              <a:rPr sz="1400" b="0">
                <a:solidFill>
                  <a:srgbClr val="23303A"/>
                </a:solidFill>
                <a:latin typeface="Yu Gothic"/>
              </a:rPr>
              <a:t>「やっている」を「記録で示せる」へ。困難ケースほど、判断の根拠と経過の記録が事業所を守る。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2A9D8F"/>
                </a:solidFill>
                <a:latin typeface="Yu Gothic"/>
              </a:rPr>
              <a:t>SYSTEM 5/5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160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6070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000" b="1">
                <a:solidFill>
                  <a:srgbClr val="0F3057"/>
                </a:solidFill>
                <a:latin typeface="Yu Gothic"/>
              </a:rPr>
              <a:t>体制づくり⑤　研修・人材育成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>
                <a:solidFill>
                  <a:srgbClr val="5A6B76"/>
                </a:solidFill>
                <a:latin typeface="Yu Gothic"/>
              </a:rPr>
              <a:t>12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>
                <a:solidFill>
                  <a:srgbClr val="5A6B76"/>
                </a:solidFill>
                <a:latin typeface="Yu Gothic"/>
              </a:rPr>
              <a:t>特定事業所加算II 内部勉強会｜困難ケース受け入れ体制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34924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664208"/>
            <a:ext cx="4946904" cy="2606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E6091"/>
                </a:solidFill>
                <a:latin typeface="Yu Gothic"/>
              </a:rPr>
              <a:t>個別研修計画（加算要件）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一人ひとりの課題に応じた個別研修計画の作成・実施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困難ケース対応スキル（認知症ケア・医療的ケア・接遇）を計画に位置づけ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OJT＝経験者同行による実地学習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34924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1664208"/>
            <a:ext cx="4946904" cy="2606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E6091"/>
                </a:solidFill>
                <a:latin typeface="Yu Gothic"/>
              </a:rPr>
              <a:t>本日のような事例検討会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うまくいった／いかなかった事例を共有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「自分ならどうするか」を言語化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暗黙知を手順・ナレッジに変える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500" b="0">
                <a:solidFill>
                  <a:srgbClr val="23303A"/>
                </a:solidFill>
                <a:latin typeface="Yu Gothic"/>
              </a:rPr>
              <a:t>新人も同じ判断軸を持てるようにする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61772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FFF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617720"/>
            <a:ext cx="76200" cy="105156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617720"/>
            <a:ext cx="10561320" cy="10515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>
                <a:solidFill>
                  <a:srgbClr val="E9C46A"/>
                </a:solidFill>
                <a:latin typeface="Yu Gothic"/>
              </a:rPr>
              <a:t>狙い：</a:t>
            </a:r>
            <a:r>
              <a:rPr sz="1400" b="0">
                <a:solidFill>
                  <a:srgbClr val="23303A"/>
                </a:solidFill>
                <a:latin typeface="Yu Gothic"/>
              </a:rPr>
              <a:t>研修を「加算のための義務」で終わらせず、困難ケースを受けられる現場力に転換する。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E76F51"/>
              </a:gs>
              <a:gs pos="100000">
                <a:srgbClr val="E9C46A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2194560" cy="457200"/>
          </a:xfrm>
          <a:prstGeom prst="roundRect">
            <a:avLst/>
          </a:prstGeom>
          <a:solidFill>
            <a:srgbClr val="C85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buNone/>
            </a:pPr>
            <a:r>
              <a:rPr sz="1400" b="1">
                <a:solidFill>
                  <a:srgbClr val="FFFFFF"/>
                </a:solidFill>
                <a:latin typeface="Yu Gothic"/>
              </a:rPr>
              <a:t>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2011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4200" b="1">
                <a:solidFill>
                  <a:srgbClr val="FFFFFF"/>
                </a:solidFill>
                <a:latin typeface="Yu Gothic"/>
              </a:rPr>
              <a:t>第3部　事例で学ぶ</a:t>
            </a:r>
          </a:p>
          <a:p>
            <a:pPr algn="l">
              <a:spcAft>
                <a:spcPts val="400"/>
              </a:spcAft>
              <a:buNone/>
            </a:pPr>
            <a:r>
              <a:rPr sz="4200" b="1">
                <a:solidFill>
                  <a:srgbClr val="FFFFFF"/>
                </a:solidFill>
                <a:latin typeface="Yu Gothic"/>
              </a:rPr>
              <a:t>困難ケースの受け入れ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800" b="1">
                <a:solidFill>
                  <a:srgbClr val="FFFFFF"/>
                </a:solidFill>
                <a:latin typeface="Yu Gothic"/>
              </a:rPr>
              <a:t>各事例：① 状況把握 → ② NG対応 → ③ GOOD対応 → ④ 体制のポイント</a:t>
            </a:r>
          </a:p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FFFFFF"/>
                </a:solidFill>
                <a:latin typeface="Yu Gothic"/>
              </a:rPr>
              <a:t>グループで「自分の事業所ならどう動くか」を3分間ディスカッションしてください。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>
                <a:solidFill>
                  <a:srgbClr val="5A6B76"/>
                </a:solidFill>
                <a:latin typeface="Yu Gothic"/>
              </a:rPr>
              <a:t>14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>
                <a:solidFill>
                  <a:srgbClr val="5A6B76"/>
                </a:solidFill>
                <a:latin typeface="Yu Gothic"/>
              </a:rPr>
              <a:t>特定事業所加算II 内部勉強会｜困難ケース受け入れ体制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11480"/>
            <a:ext cx="10881360" cy="685800"/>
          </a:xfrm>
          <a:prstGeom prst="roundRect">
            <a:avLst/>
          </a:prstGeom>
          <a:gradFill>
            <a:gsLst>
              <a:gs pos="0">
                <a:srgbClr val="E76F51"/>
              </a:gs>
              <a:gs pos="100000">
                <a:srgbClr val="E9C46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400"/>
              </a:spcAft>
              <a:buNone/>
            </a:pPr>
            <a:r>
              <a:rPr sz="2200" b="1">
                <a:solidFill>
                  <a:srgbClr val="FFFFFF"/>
                </a:solidFill>
                <a:latin typeface="Yu Gothic"/>
              </a:rPr>
              <a:t>🧩 事例1：訪問拒否のある認知症（BPSD）のケース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1042416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1">
                <a:solidFill>
                  <a:srgbClr val="0F3057"/>
                </a:solidFill>
                <a:latin typeface="Yu Gothic"/>
              </a:rPr>
              <a:t>状況：</a:t>
            </a:r>
            <a:r>
              <a:rPr sz="1500" b="0">
                <a:solidFill>
                  <a:srgbClr val="23303A"/>
                </a:solidFill>
                <a:latin typeface="Yu Gothic"/>
              </a:rPr>
              <a:t>独居・要介護3、アルツハイマー型認知症。ヘルパーを「泥棒」と呼び玄関で拒否。日によって態度が大きく変わり、担当が定まらず複数のヘルパーが交代で入っていた。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14600"/>
            <a:ext cx="5349240" cy="2148840"/>
          </a:xfrm>
          <a:prstGeom prst="roundRect">
            <a:avLst>
              <a:gd name="adj" fmla="val 6000"/>
            </a:avLst>
          </a:prstGeom>
          <a:solidFill>
            <a:srgbClr val="F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514600"/>
            <a:ext cx="76200" cy="214884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24328"/>
            <a:ext cx="4983480" cy="1965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1">
                <a:solidFill>
                  <a:srgbClr val="E76F51"/>
                </a:solidFill>
                <a:latin typeface="Yu Gothic"/>
              </a:rPr>
              <a:t>NG対応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3303A"/>
                </a:solidFill>
                <a:latin typeface="Yu Gothic"/>
              </a:rPr>
              <a:t>毎回ちがうヘルパーが訪問し関係が築けない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3303A"/>
                </a:solidFill>
                <a:latin typeface="Yu Gothic"/>
              </a:rPr>
              <a:t>「拒否されたので帰りました」を個人判断で繰り返す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3303A"/>
                </a:solidFill>
                <a:latin typeface="Yu Gothic"/>
              </a:rPr>
              <a:t>記録が共有されず原因が分析されない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514600"/>
            <a:ext cx="5349240" cy="2148840"/>
          </a:xfrm>
          <a:prstGeom prst="roundRect">
            <a:avLst>
              <a:gd name="adj" fmla="val 6000"/>
            </a:avLst>
          </a:prstGeom>
          <a:solidFill>
            <a:srgbClr val="E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514600"/>
            <a:ext cx="76200" cy="2148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624328"/>
            <a:ext cx="4983480" cy="1965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1">
                <a:solidFill>
                  <a:srgbClr val="2A9D8F"/>
                </a:solidFill>
                <a:latin typeface="Yu Gothic"/>
              </a:rPr>
              <a:t>GOOD対応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3303A"/>
                </a:solidFill>
                <a:latin typeface="Yu Gothic"/>
              </a:rPr>
              <a:t>主担当を固定し、声かけ・訪問時間を統一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3303A"/>
                </a:solidFill>
                <a:latin typeface="Yu Gothic"/>
              </a:rPr>
              <a:t>拒否のパターンを記録・分析し手順書化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3303A"/>
                </a:solidFill>
                <a:latin typeface="Yu Gothic"/>
              </a:rPr>
              <a:t>ケアマネ・主治医と共有し服薬・受診も検討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892040"/>
            <a:ext cx="10881360" cy="1005840"/>
          </a:xfrm>
          <a:prstGeom prst="roundRect">
            <a:avLst>
              <a:gd name="adj" fmla="val 6000"/>
            </a:avLst>
          </a:prstGeom>
          <a:solidFill>
            <a:srgbClr val="FFF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892040"/>
            <a:ext cx="76200" cy="100584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92040"/>
            <a:ext cx="10561320" cy="10058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>
                <a:solidFill>
                  <a:srgbClr val="E9C46A"/>
                </a:solidFill>
                <a:latin typeface="Yu Gothic"/>
              </a:rPr>
              <a:t>体制のポイント：</a:t>
            </a:r>
            <a:r>
              <a:rPr sz="1400" b="0">
                <a:solidFill>
                  <a:srgbClr val="23303A"/>
                </a:solidFill>
                <a:latin typeface="Yu Gothic"/>
              </a:rPr>
              <a:t>BPSDは「対応の一貫性」が鍵。担当固定＋記録の蓄積＋チームでの分析を仕組みにする（＝情報共有・会議・研修の体制が効く）。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>
                <a:solidFill>
                  <a:srgbClr val="5A6B76"/>
                </a:solidFill>
                <a:latin typeface="Yu Gothic"/>
              </a:rPr>
              <a:t>15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>
                <a:solidFill>
                  <a:srgbClr val="5A6B76"/>
                </a:solidFill>
                <a:latin typeface="Yu Gothic"/>
              </a:rPr>
              <a:t>特定事業所加算II 内部勉強会｜困難ケース受け入れ体制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11480"/>
            <a:ext cx="10881360" cy="685800"/>
          </a:xfrm>
          <a:prstGeom prst="roundRect">
            <a:avLst/>
          </a:prstGeom>
          <a:gradFill>
            <a:gsLst>
              <a:gs pos="0">
                <a:srgbClr val="E76F51"/>
              </a:gs>
              <a:gs pos="100000">
                <a:srgbClr val="E9C46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400"/>
              </a:spcAft>
              <a:buNone/>
            </a:pPr>
            <a:r>
              <a:rPr sz="2200" b="1">
                <a:solidFill>
                  <a:srgbClr val="FFFFFF"/>
                </a:solidFill>
                <a:latin typeface="Yu Gothic"/>
              </a:rPr>
              <a:t>🩺 事例2：医療依存度が高いケース（喀痰吸引等）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1042416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1">
                <a:solidFill>
                  <a:srgbClr val="0F3057"/>
                </a:solidFill>
                <a:latin typeface="Yu Gothic"/>
              </a:rPr>
              <a:t>状況：</a:t>
            </a:r>
            <a:r>
              <a:rPr sz="1500" b="0">
                <a:solidFill>
                  <a:srgbClr val="23303A"/>
                </a:solidFill>
                <a:latin typeface="Yu Gothic"/>
              </a:rPr>
              <a:t>要介護5、神経難病で喀痰吸引・経管栄養が必要。退院に伴い在宅へ。家族から「夜間も含めて対応してほしい」と依頼。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14600"/>
            <a:ext cx="5349240" cy="2148840"/>
          </a:xfrm>
          <a:prstGeom prst="roundRect">
            <a:avLst>
              <a:gd name="adj" fmla="val 6000"/>
            </a:avLst>
          </a:prstGeom>
          <a:solidFill>
            <a:srgbClr val="F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514600"/>
            <a:ext cx="76200" cy="214884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24328"/>
            <a:ext cx="4983480" cy="1965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1">
                <a:solidFill>
                  <a:srgbClr val="E76F51"/>
                </a:solidFill>
                <a:latin typeface="Yu Gothic"/>
              </a:rPr>
              <a:t>NG対応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3303A"/>
                </a:solidFill>
                <a:latin typeface="Yu Gothic"/>
              </a:rPr>
              <a:t>資格・体制を確認せず「受けます」と即答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3303A"/>
                </a:solidFill>
                <a:latin typeface="Yu Gothic"/>
              </a:rPr>
              <a:t>研修未修了のヘルパーに任せてしまう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3303A"/>
                </a:solidFill>
                <a:latin typeface="Yu Gothic"/>
              </a:rPr>
              <a:t>急変時の連絡先・手順が未整備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514600"/>
            <a:ext cx="5349240" cy="2148840"/>
          </a:xfrm>
          <a:prstGeom prst="roundRect">
            <a:avLst>
              <a:gd name="adj" fmla="val 6000"/>
            </a:avLst>
          </a:prstGeom>
          <a:solidFill>
            <a:srgbClr val="E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514600"/>
            <a:ext cx="76200" cy="2148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624328"/>
            <a:ext cx="4983480" cy="1965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1">
                <a:solidFill>
                  <a:srgbClr val="2A9D8F"/>
                </a:solidFill>
                <a:latin typeface="Yu Gothic"/>
              </a:rPr>
              <a:t>GOOD対応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3303A"/>
                </a:solidFill>
                <a:latin typeface="Yu Gothic"/>
              </a:rPr>
              <a:t>喀痰吸引等研修修了者と登録状況を確認のうえ受入判定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3303A"/>
                </a:solidFill>
                <a:latin typeface="Yu Gothic"/>
              </a:rPr>
              <a:t>主治医・訪問看護と役割分担と指示書を明確化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3303A"/>
                </a:solidFill>
                <a:latin typeface="Yu Gothic"/>
              </a:rPr>
              <a:t>急変時フロー・緊急連絡網を1枚にして全員に配布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892040"/>
            <a:ext cx="10881360" cy="1005840"/>
          </a:xfrm>
          <a:prstGeom prst="roundRect">
            <a:avLst>
              <a:gd name="adj" fmla="val 6000"/>
            </a:avLst>
          </a:prstGeom>
          <a:solidFill>
            <a:srgbClr val="FFF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892040"/>
            <a:ext cx="76200" cy="100584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92040"/>
            <a:ext cx="10561320" cy="10058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>
                <a:solidFill>
                  <a:srgbClr val="E9C46A"/>
                </a:solidFill>
                <a:latin typeface="Yu Gothic"/>
              </a:rPr>
              <a:t>体制のポイント：</a:t>
            </a:r>
            <a:r>
              <a:rPr sz="1400" b="0">
                <a:solidFill>
                  <a:srgbClr val="23303A"/>
                </a:solidFill>
                <a:latin typeface="Yu Gothic"/>
              </a:rPr>
              <a:t>「できる人がいるか」「指示系統が明確か」「緊急時が定まっているか」の3点を会議で確認してから受ける。医療連携は文書で残す。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>
                <a:solidFill>
                  <a:srgbClr val="5A6B76"/>
                </a:solidFill>
                <a:latin typeface="Yu Gothic"/>
              </a:rPr>
              <a:t>16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>
                <a:solidFill>
                  <a:srgbClr val="5A6B76"/>
                </a:solidFill>
                <a:latin typeface="Yu Gothic"/>
              </a:rPr>
              <a:t>特定事業所加算II 内部勉強会｜困難ケース受け入れ体制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11480"/>
            <a:ext cx="10881360" cy="685800"/>
          </a:xfrm>
          <a:prstGeom prst="roundRect">
            <a:avLst/>
          </a:prstGeom>
          <a:gradFill>
            <a:gsLst>
              <a:gs pos="0">
                <a:srgbClr val="E76F51"/>
              </a:gs>
              <a:gs pos="100000">
                <a:srgbClr val="E9C46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400"/>
              </a:spcAft>
              <a:buNone/>
            </a:pPr>
            <a:r>
              <a:rPr sz="2200" b="1">
                <a:solidFill>
                  <a:srgbClr val="FFFFFF"/>
                </a:solidFill>
                <a:latin typeface="Yu Gothic"/>
              </a:rPr>
              <a:t>⚠️ 事例3：家族関係が複雑／ハラスメントリスク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1042416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1">
                <a:solidFill>
                  <a:srgbClr val="0F3057"/>
                </a:solidFill>
                <a:latin typeface="Yu Gothic"/>
              </a:rPr>
              <a:t>状況：</a:t>
            </a:r>
            <a:r>
              <a:rPr sz="1500" b="0">
                <a:solidFill>
                  <a:srgbClr val="23303A"/>
                </a:solidFill>
                <a:latin typeface="Yu Gothic"/>
              </a:rPr>
              <a:t>同居の家族がサービス内容に細かく介入し、ヘルパーに強い口調で要求を繰り返す。担当ヘルパーが訪問のたびに精神的に疲弊。担当を外してほしいと相談があった。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14600"/>
            <a:ext cx="5349240" cy="2148840"/>
          </a:xfrm>
          <a:prstGeom prst="roundRect">
            <a:avLst>
              <a:gd name="adj" fmla="val 6000"/>
            </a:avLst>
          </a:prstGeom>
          <a:solidFill>
            <a:srgbClr val="F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514600"/>
            <a:ext cx="76200" cy="214884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24328"/>
            <a:ext cx="4983480" cy="1965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1">
                <a:solidFill>
                  <a:srgbClr val="E76F51"/>
                </a:solidFill>
                <a:latin typeface="Yu Gothic"/>
              </a:rPr>
              <a:t>NG対応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3303A"/>
                </a:solidFill>
                <a:latin typeface="Yu Gothic"/>
              </a:rPr>
              <a:t>「利用者のため」と我慢を強い、個人で抱えさせる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3303A"/>
                </a:solidFill>
                <a:latin typeface="Yu Gothic"/>
              </a:rPr>
              <a:t>担当を黙って交代させ根本対応をしない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3303A"/>
                </a:solidFill>
                <a:latin typeface="Yu Gothic"/>
              </a:rPr>
              <a:t>記録に残さず管理者まで情報が上がらない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514600"/>
            <a:ext cx="5349240" cy="2148840"/>
          </a:xfrm>
          <a:prstGeom prst="roundRect">
            <a:avLst>
              <a:gd name="adj" fmla="val 6000"/>
            </a:avLst>
          </a:prstGeom>
          <a:solidFill>
            <a:srgbClr val="E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514600"/>
            <a:ext cx="76200" cy="2148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624328"/>
            <a:ext cx="4983480" cy="1965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1">
                <a:solidFill>
                  <a:srgbClr val="2A9D8F"/>
                </a:solidFill>
                <a:latin typeface="Yu Gothic"/>
              </a:rPr>
              <a:t>GOOD対応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3303A"/>
                </a:solidFill>
                <a:latin typeface="Yu Gothic"/>
              </a:rPr>
              <a:t>事実を記録し、管理者・ケアマネと共有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3303A"/>
                </a:solidFill>
                <a:latin typeface="Yu Gothic"/>
              </a:rPr>
              <a:t>契約・重要事項に基づく対応範囲を家族へ説明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3303A"/>
                </a:solidFill>
                <a:latin typeface="Yu Gothic"/>
              </a:rPr>
              <a:t>ハラスメント手順に沿い、必要なら複数名訪問・条件提示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892040"/>
            <a:ext cx="10881360" cy="1005840"/>
          </a:xfrm>
          <a:prstGeom prst="roundRect">
            <a:avLst>
              <a:gd name="adj" fmla="val 6000"/>
            </a:avLst>
          </a:prstGeom>
          <a:solidFill>
            <a:srgbClr val="FFF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892040"/>
            <a:ext cx="76200" cy="100584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92040"/>
            <a:ext cx="10561320" cy="10058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>
                <a:solidFill>
                  <a:srgbClr val="E9C46A"/>
                </a:solidFill>
                <a:latin typeface="Yu Gothic"/>
              </a:rPr>
              <a:t>体制のポイント：</a:t>
            </a:r>
            <a:r>
              <a:rPr sz="1400" b="0">
                <a:solidFill>
                  <a:srgbClr val="23303A"/>
                </a:solidFill>
                <a:latin typeface="Yu Gothic"/>
              </a:rPr>
              <a:t>職員を守ることがサービス継続の前提。「我慢」ではなく「手順」で対応。組織として線引きを示すことが信頼にもつながる。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>
                <a:solidFill>
                  <a:srgbClr val="5A6B76"/>
                </a:solidFill>
                <a:latin typeface="Yu Gothic"/>
              </a:rPr>
              <a:t>17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>
                <a:solidFill>
                  <a:srgbClr val="5A6B76"/>
                </a:solidFill>
                <a:latin typeface="Yu Gothic"/>
              </a:rPr>
              <a:t>特定事業所加算II 内部勉強会｜困難ケース受け入れ体制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11480"/>
            <a:ext cx="10881360" cy="685800"/>
          </a:xfrm>
          <a:prstGeom prst="roundRect">
            <a:avLst/>
          </a:prstGeom>
          <a:gradFill>
            <a:gsLst>
              <a:gs pos="0">
                <a:srgbClr val="E76F51"/>
              </a:gs>
              <a:gs pos="100000">
                <a:srgbClr val="E9C46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400"/>
              </a:spcAft>
              <a:buNone/>
            </a:pPr>
            <a:r>
              <a:rPr sz="2200" b="1">
                <a:solidFill>
                  <a:srgbClr val="FFFFFF"/>
                </a:solidFill>
                <a:latin typeface="Yu Gothic"/>
              </a:rPr>
              <a:t>🏠 事例4：セルフネグレクト／不衛生な住環境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1042416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1">
                <a:solidFill>
                  <a:srgbClr val="0F3057"/>
                </a:solidFill>
                <a:latin typeface="Yu Gothic"/>
              </a:rPr>
              <a:t>状況：</a:t>
            </a:r>
            <a:r>
              <a:rPr sz="1500" b="0">
                <a:solidFill>
                  <a:srgbClr val="23303A"/>
                </a:solidFill>
                <a:latin typeface="Yu Gothic"/>
              </a:rPr>
              <a:t>独居・要介護2。室内にゴミが堆積、入浴・受診を拒否。近隣からの苦情もあり、地域包括支援センターから相談が入った。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14600"/>
            <a:ext cx="5349240" cy="2148840"/>
          </a:xfrm>
          <a:prstGeom prst="roundRect">
            <a:avLst>
              <a:gd name="adj" fmla="val 6000"/>
            </a:avLst>
          </a:prstGeom>
          <a:solidFill>
            <a:srgbClr val="F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514600"/>
            <a:ext cx="76200" cy="214884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24328"/>
            <a:ext cx="4983480" cy="1965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1">
                <a:solidFill>
                  <a:srgbClr val="E76F51"/>
                </a:solidFill>
                <a:latin typeface="Yu Gothic"/>
              </a:rPr>
              <a:t>NG対応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3303A"/>
                </a:solidFill>
                <a:latin typeface="Yu Gothic"/>
              </a:rPr>
              <a:t>「不衛生だから」と訪問介護単独で抱え込む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3303A"/>
                </a:solidFill>
                <a:latin typeface="Yu Gothic"/>
              </a:rPr>
              <a:t>本人の意思を無視して一気に片付けようとする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3303A"/>
                </a:solidFill>
                <a:latin typeface="Yu Gothic"/>
              </a:rPr>
              <a:t>虐待・権利擁護の視点が抜ける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514600"/>
            <a:ext cx="5349240" cy="2148840"/>
          </a:xfrm>
          <a:prstGeom prst="roundRect">
            <a:avLst>
              <a:gd name="adj" fmla="val 6000"/>
            </a:avLst>
          </a:prstGeom>
          <a:solidFill>
            <a:srgbClr val="E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514600"/>
            <a:ext cx="76200" cy="2148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624328"/>
            <a:ext cx="4983480" cy="1965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1">
                <a:solidFill>
                  <a:srgbClr val="2A9D8F"/>
                </a:solidFill>
                <a:latin typeface="Yu Gothic"/>
              </a:rPr>
              <a:t>GOOD対応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3303A"/>
                </a:solidFill>
                <a:latin typeface="Yu Gothic"/>
              </a:rPr>
              <a:t>地域包括・行政・ケアマネと役割分担して関わる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3303A"/>
                </a:solidFill>
                <a:latin typeface="Yu Gothic"/>
              </a:rPr>
              <a:t>本人との関係構築を優先し段階的に支援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3303A"/>
                </a:solidFill>
                <a:latin typeface="Yu Gothic"/>
              </a:rPr>
              <a:t>セルフネグレクト＝権利擁護課題として記録・共有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892040"/>
            <a:ext cx="10881360" cy="1005840"/>
          </a:xfrm>
          <a:prstGeom prst="roundRect">
            <a:avLst>
              <a:gd name="adj" fmla="val 6000"/>
            </a:avLst>
          </a:prstGeom>
          <a:solidFill>
            <a:srgbClr val="FFF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892040"/>
            <a:ext cx="76200" cy="100584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92040"/>
            <a:ext cx="10561320" cy="10058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>
                <a:solidFill>
                  <a:srgbClr val="E9C46A"/>
                </a:solidFill>
                <a:latin typeface="Yu Gothic"/>
              </a:rPr>
              <a:t>体制のポイント：</a:t>
            </a:r>
            <a:r>
              <a:rPr sz="1400" b="0">
                <a:solidFill>
                  <a:srgbClr val="23303A"/>
                </a:solidFill>
                <a:latin typeface="Yu Gothic"/>
              </a:rPr>
              <a:t>多問題ケースは1事業所で抱えない。地域のネットワークに「つなぐ」ことも、困難ケース受け入れ体制の一部。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2A9D8F"/>
                </a:solidFill>
                <a:latin typeface="Yu Gothic"/>
              </a:rPr>
              <a:t>ORGANIZATION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160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6070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000" b="1">
                <a:solidFill>
                  <a:srgbClr val="0F3057"/>
                </a:solidFill>
                <a:latin typeface="Yu Gothic"/>
              </a:rPr>
              <a:t>困難ケースを「組織で受ける」3原則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>
                <a:solidFill>
                  <a:srgbClr val="5A6B76"/>
                </a:solidFill>
                <a:latin typeface="Yu Gothic"/>
              </a:rPr>
              <a:t>18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>
                <a:solidFill>
                  <a:srgbClr val="5A6B76"/>
                </a:solidFill>
                <a:latin typeface="Yu Gothic"/>
              </a:rPr>
              <a:t>特定事業所加算II 内部勉強会｜困難ケース受け入れ体制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73736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E6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>
              <a:spcAft>
                <a:spcPts val="400"/>
              </a:spcAft>
              <a:buNone/>
            </a:pPr>
            <a:r>
              <a:rPr sz="1200" b="1">
                <a:solidFill>
                  <a:srgbClr val="FFFFFF"/>
                </a:solidFill>
                <a:latin typeface="Yu Gothic"/>
              </a:rPr>
              <a:t>原則1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306324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000" b="1">
                <a:solidFill>
                  <a:srgbClr val="0F3057"/>
                </a:solidFill>
                <a:latin typeface="Yu Gothic"/>
              </a:rPr>
              <a:t>一人で判断しない</a:t>
            </a:r>
          </a:p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23303A"/>
                </a:solidFill>
                <a:latin typeface="Yu Gothic"/>
              </a:rPr>
              <a:t>受入可否・撤退は会議で決める。個人を矢面に立たせない。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55448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7720" y="173736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>
              <a:spcAft>
                <a:spcPts val="400"/>
              </a:spcAft>
              <a:buNone/>
            </a:pPr>
            <a:r>
              <a:rPr sz="1200" b="1">
                <a:solidFill>
                  <a:srgbClr val="FFFFFF"/>
                </a:solidFill>
                <a:latin typeface="Yu Gothic"/>
              </a:rPr>
              <a:t>原則2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240280"/>
            <a:ext cx="306324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000" b="1">
                <a:solidFill>
                  <a:srgbClr val="0F3057"/>
                </a:solidFill>
                <a:latin typeface="Yu Gothic"/>
              </a:rPr>
              <a:t>条件で受ける</a:t>
            </a:r>
          </a:p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23303A"/>
                </a:solidFill>
                <a:latin typeface="Yu Gothic"/>
              </a:rPr>
              <a:t>「Yes/No」でなく「何が揃えば受けられるか」で考える。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3024" y="155448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94192" y="173736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>
              <a:spcAft>
                <a:spcPts val="400"/>
              </a:spcAft>
              <a:buNone/>
            </a:pPr>
            <a:r>
              <a:rPr sz="1200" b="1">
                <a:solidFill>
                  <a:srgbClr val="FFFFFF"/>
                </a:solidFill>
                <a:latin typeface="Yu Gothic"/>
              </a:rPr>
              <a:t>原則3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1624" y="2240280"/>
            <a:ext cx="306324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2000" b="1">
                <a:solidFill>
                  <a:srgbClr val="0F3057"/>
                </a:solidFill>
                <a:latin typeface="Yu Gothic"/>
              </a:rPr>
              <a:t>記録で残す</a:t>
            </a:r>
          </a:p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23303A"/>
                </a:solidFill>
                <a:latin typeface="Yu Gothic"/>
              </a:rPr>
              <a:t>判断根拠・経過・連携を残し、誰でも引き継げる状態にする。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14800"/>
            <a:ext cx="10881360" cy="1280160"/>
          </a:xfrm>
          <a:prstGeom prst="roundRect">
            <a:avLst>
              <a:gd name="adj" fmla="val 6000"/>
            </a:avLst>
          </a:prstGeom>
          <a:solidFill>
            <a:srgbClr val="E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114800"/>
            <a:ext cx="76200" cy="12801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114800"/>
            <a:ext cx="10561320" cy="12801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>
                <a:solidFill>
                  <a:srgbClr val="2A9D8F"/>
                </a:solidFill>
                <a:latin typeface="Yu Gothic"/>
              </a:rPr>
              <a:t>これが「確実性のある業務推進」：</a:t>
            </a:r>
            <a:r>
              <a:rPr sz="1400" b="0">
                <a:solidFill>
                  <a:srgbClr val="23303A"/>
                </a:solidFill>
                <a:latin typeface="Yu Gothic"/>
              </a:rPr>
              <a:t>属人的な勘や善意ではなく、仕組みと記録で再現性を担保する。これこそ加算IIを算定する事業所の責任の果たし方。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2A9D8F"/>
                </a:solidFill>
                <a:latin typeface="Yu Gothic"/>
              </a:rPr>
              <a:t>NETWORK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160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6070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000" b="1">
                <a:solidFill>
                  <a:srgbClr val="0F3057"/>
                </a:solidFill>
                <a:latin typeface="Yu Gothic"/>
              </a:rPr>
              <a:t>多職種・地域との連携マップ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>
                <a:solidFill>
                  <a:srgbClr val="5A6B76"/>
                </a:solidFill>
                <a:latin typeface="Yu Gothic"/>
              </a:rPr>
              <a:t>19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>
                <a:solidFill>
                  <a:srgbClr val="5A6B76"/>
                </a:solidFill>
                <a:latin typeface="Yu Gothic"/>
              </a:rPr>
              <a:t>特定事業所加算II 内部勉強会｜困難ケース受け入れ体制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>
                <a:solidFill>
                  <a:srgbClr val="5A6B76"/>
                </a:solidFill>
                <a:latin typeface="Yu Gothic"/>
              </a:rPr>
              <a:t>困難ケースほど、訪問介護「だけ」では完結しない。つなぐ先を全員が知っておく。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" y="2194560"/>
            <a:ext cx="3118104" cy="502920"/>
          </a:xfrm>
          <a:prstGeom prst="roundRect">
            <a:avLst/>
          </a:prstGeom>
          <a:solidFill>
            <a:srgbClr val="1E6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buNone/>
            </a:pPr>
            <a:r>
              <a:rPr sz="1800" b="1">
                <a:solidFill>
                  <a:srgbClr val="FFFFFF"/>
                </a:solidFill>
                <a:latin typeface="Yu Gothic"/>
              </a:rPr>
              <a:t>医療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80360"/>
            <a:ext cx="30632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23303A"/>
                </a:solidFill>
                <a:latin typeface="Yu Gothic"/>
              </a:rPr>
              <a:t>主治医／訪問看護／薬剤師。急変・医療的ケア・服薬管理の連携。指示は文書で。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201168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17720" y="2194560"/>
            <a:ext cx="3118104" cy="502920"/>
          </a:xfrm>
          <a:prstGeom prst="roundRect">
            <a:avLst/>
          </a:prstGeom>
          <a:solidFill>
            <a:srgbClr val="1E6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buNone/>
            </a:pPr>
            <a:r>
              <a:rPr sz="1800" b="1">
                <a:solidFill>
                  <a:srgbClr val="FFFFFF"/>
                </a:solidFill>
                <a:latin typeface="Yu Gothic"/>
              </a:rPr>
              <a:t>介護・相談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880360"/>
            <a:ext cx="30632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23303A"/>
                </a:solidFill>
                <a:latin typeface="Yu Gothic"/>
              </a:rPr>
              <a:t>ケアマネ（中心）／福祉用具／通所。情報共有と担当者会議の活用。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93024" y="201168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94192" y="2194560"/>
            <a:ext cx="3118104" cy="502920"/>
          </a:xfrm>
          <a:prstGeom prst="roundRect">
            <a:avLst/>
          </a:prstGeom>
          <a:solidFill>
            <a:srgbClr val="1E6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buNone/>
            </a:pPr>
            <a:r>
              <a:rPr sz="1800" b="1">
                <a:solidFill>
                  <a:srgbClr val="FFFFFF"/>
                </a:solidFill>
                <a:latin typeface="Yu Gothic"/>
              </a:rPr>
              <a:t>地域・行政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1624" y="2880360"/>
            <a:ext cx="30632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23303A"/>
                </a:solidFill>
                <a:latin typeface="Yu Gothic"/>
              </a:rPr>
              <a:t>地域包括支援センター／市区町村／民生委員。虐待・権利擁護・経済問題。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9768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FFF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297680"/>
            <a:ext cx="76200" cy="109728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97680"/>
            <a:ext cx="1056132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>
                <a:solidFill>
                  <a:srgbClr val="E9C46A"/>
                </a:solidFill>
                <a:latin typeface="Yu Gothic"/>
              </a:rPr>
              <a:t>サ責の動き：</a:t>
            </a:r>
            <a:r>
              <a:rPr sz="1400" b="0">
                <a:solidFill>
                  <a:srgbClr val="23303A"/>
                </a:solidFill>
                <a:latin typeface="Yu Gothic"/>
              </a:rPr>
              <a:t>変化を察知したら、まずケアマネへ報告・相談。一事業所で抱えず、サービス担当者会議で体制を組み直す。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2A9D8F"/>
                </a:solidFill>
                <a:latin typeface="Yu Gothic"/>
              </a:rPr>
              <a:t>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160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6070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000" b="1">
                <a:solidFill>
                  <a:srgbClr val="0F3057"/>
                </a:solidFill>
                <a:latin typeface="Yu Gothic"/>
              </a:rPr>
              <a:t>自事業所の体制セルフチェック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>
                <a:solidFill>
                  <a:srgbClr val="5A6B76"/>
                </a:solidFill>
                <a:latin typeface="Yu Gothic"/>
              </a:rPr>
              <a:t>20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>
                <a:solidFill>
                  <a:srgbClr val="5A6B76"/>
                </a:solidFill>
                <a:latin typeface="Yu Gothic"/>
              </a:rPr>
              <a:t>特定事業所加算II 内部勉強会｜困難ケース受け入れ体制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>
                <a:solidFill>
                  <a:srgbClr val="5A6B76"/>
                </a:solidFill>
                <a:latin typeface="Yu Gothic"/>
              </a:rPr>
              <a:t>「はい」と言える項目はいくつ？　△の項目を今日の宿題に。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53492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4846320" cy="21031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000"/>
              </a:spcAft>
              <a:buNone/>
            </a:pPr>
            <a:r>
              <a:rPr sz="1500" b="1">
                <a:solidFill>
                  <a:srgbClr val="2A9D8F"/>
                </a:solidFill>
                <a:latin typeface="Yu Gothic"/>
              </a:rPr>
              <a:t>✔ </a:t>
            </a:r>
            <a:r>
              <a:rPr sz="1500" b="0">
                <a:solidFill>
                  <a:srgbClr val="23303A"/>
                </a:solidFill>
                <a:latin typeface="Yu Gothic"/>
              </a:rPr>
              <a:t>困難ケースの受入を会議で判断する仕組みがある</a:t>
            </a:r>
          </a:p>
          <a:p>
            <a:pPr algn="l">
              <a:spcAft>
                <a:spcPts val="1000"/>
              </a:spcAft>
              <a:buNone/>
            </a:pPr>
            <a:r>
              <a:rPr sz="1500" b="1">
                <a:solidFill>
                  <a:srgbClr val="2A9D8F"/>
                </a:solidFill>
                <a:latin typeface="Yu Gothic"/>
              </a:rPr>
              <a:t>✔ </a:t>
            </a:r>
            <a:r>
              <a:rPr sz="1500" b="0">
                <a:solidFill>
                  <a:srgbClr val="23303A"/>
                </a:solidFill>
                <a:latin typeface="Yu Gothic"/>
              </a:rPr>
              <a:t>受付時の情報収集項目が標準化されている</a:t>
            </a:r>
          </a:p>
          <a:p>
            <a:pPr algn="l">
              <a:spcAft>
                <a:spcPts val="1000"/>
              </a:spcAft>
              <a:buNone/>
            </a:pPr>
            <a:r>
              <a:rPr sz="1500" b="1">
                <a:solidFill>
                  <a:srgbClr val="2A9D8F"/>
                </a:solidFill>
                <a:latin typeface="Yu Gothic"/>
              </a:rPr>
              <a:t>✔ </a:t>
            </a:r>
            <a:r>
              <a:rPr sz="1500" b="0">
                <a:solidFill>
                  <a:srgbClr val="23303A"/>
                </a:solidFill>
                <a:latin typeface="Yu Gothic"/>
              </a:rPr>
              <a:t>個別の手順書・指示書を作成している</a:t>
            </a:r>
          </a:p>
          <a:p>
            <a:pPr algn="l">
              <a:spcAft>
                <a:spcPts val="1000"/>
              </a:spcAft>
              <a:buNone/>
            </a:pPr>
            <a:r>
              <a:rPr sz="1500" b="1">
                <a:solidFill>
                  <a:srgbClr val="2A9D8F"/>
                </a:solidFill>
                <a:latin typeface="Yu Gothic"/>
              </a:rPr>
              <a:t>✔ </a:t>
            </a:r>
            <a:r>
              <a:rPr sz="1500" b="0">
                <a:solidFill>
                  <a:srgbClr val="23303A"/>
                </a:solidFill>
                <a:latin typeface="Yu Gothic"/>
              </a:rPr>
              <a:t>サービス提供後の報告が回収・共有される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965960"/>
            <a:ext cx="53492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148840"/>
            <a:ext cx="4846320" cy="21031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000"/>
              </a:spcAft>
              <a:buNone/>
            </a:pPr>
            <a:r>
              <a:rPr sz="1500" b="1">
                <a:solidFill>
                  <a:srgbClr val="2A9D8F"/>
                </a:solidFill>
                <a:latin typeface="Yu Gothic"/>
              </a:rPr>
              <a:t>✔ </a:t>
            </a:r>
            <a:r>
              <a:rPr sz="1500" b="0">
                <a:solidFill>
                  <a:srgbClr val="23303A"/>
                </a:solidFill>
                <a:latin typeface="Yu Gothic"/>
              </a:rPr>
              <a:t>緊急時連絡フローが1枚で全員に共有されている</a:t>
            </a:r>
          </a:p>
          <a:p>
            <a:pPr algn="l">
              <a:spcAft>
                <a:spcPts val="1000"/>
              </a:spcAft>
              <a:buNone/>
            </a:pPr>
            <a:r>
              <a:rPr sz="1500" b="1">
                <a:solidFill>
                  <a:srgbClr val="2A9D8F"/>
                </a:solidFill>
                <a:latin typeface="Yu Gothic"/>
              </a:rPr>
              <a:t>✔ </a:t>
            </a:r>
            <a:r>
              <a:rPr sz="1500" b="0">
                <a:solidFill>
                  <a:srgbClr val="23303A"/>
                </a:solidFill>
                <a:latin typeface="Yu Gothic"/>
              </a:rPr>
              <a:t>ハラスメント対応手順が明文化されている</a:t>
            </a:r>
          </a:p>
          <a:p>
            <a:pPr algn="l">
              <a:spcAft>
                <a:spcPts val="1000"/>
              </a:spcAft>
              <a:buNone/>
            </a:pPr>
            <a:r>
              <a:rPr sz="1500" b="1">
                <a:solidFill>
                  <a:srgbClr val="2A9D8F"/>
                </a:solidFill>
                <a:latin typeface="Yu Gothic"/>
              </a:rPr>
              <a:t>✔ </a:t>
            </a:r>
            <a:r>
              <a:rPr sz="1500" b="0">
                <a:solidFill>
                  <a:srgbClr val="23303A"/>
                </a:solidFill>
                <a:latin typeface="Yu Gothic"/>
              </a:rPr>
              <a:t>個別研修計画に困難ケース対応が含まれる</a:t>
            </a:r>
          </a:p>
          <a:p>
            <a:pPr algn="l">
              <a:spcAft>
                <a:spcPts val="1000"/>
              </a:spcAft>
              <a:buNone/>
            </a:pPr>
            <a:r>
              <a:rPr sz="1500" b="1">
                <a:solidFill>
                  <a:srgbClr val="2A9D8F"/>
                </a:solidFill>
                <a:latin typeface="Yu Gothic"/>
              </a:rPr>
              <a:t>✔ </a:t>
            </a:r>
            <a:r>
              <a:rPr sz="1500" b="0">
                <a:solidFill>
                  <a:srgbClr val="23303A"/>
                </a:solidFill>
                <a:latin typeface="Yu Gothic"/>
              </a:rPr>
              <a:t>ケアマネ・地域包括への連携ルートが明確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7200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FFF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572000"/>
            <a:ext cx="76200" cy="105156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572000"/>
            <a:ext cx="10561320" cy="10515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>
                <a:solidFill>
                  <a:srgbClr val="E9C46A"/>
                </a:solidFill>
                <a:latin typeface="Yu Gothic"/>
              </a:rPr>
              <a:t>使い方：</a:t>
            </a:r>
            <a:r>
              <a:rPr sz="1400" b="0">
                <a:solidFill>
                  <a:srgbClr val="23303A"/>
                </a:solidFill>
                <a:latin typeface="Yu Gothic"/>
              </a:rPr>
              <a:t>各自で採点 → グループで「△を1つ、来月までにどう改善するか」を1つ決める。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2A9D8F"/>
                </a:solidFill>
                <a:latin typeface="Yu Gothic"/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160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6070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000" b="1">
                <a:solidFill>
                  <a:srgbClr val="0F3057"/>
                </a:solidFill>
                <a:latin typeface="Yu Gothic"/>
              </a:rPr>
              <a:t>まとめ：加算IIの責任を現場の力に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>
                <a:solidFill>
                  <a:srgbClr val="5A6B76"/>
                </a:solidFill>
                <a:latin typeface="Yu Gothic"/>
              </a:rPr>
              <a:t>21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>
                <a:solidFill>
                  <a:srgbClr val="5A6B76"/>
                </a:solidFill>
                <a:latin typeface="Yu Gothic"/>
              </a:rPr>
              <a:t>特定事業所加算II 内部勉強会｜困難ケース受け入れ体制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34924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664208"/>
            <a:ext cx="4946904" cy="2926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E6091"/>
                </a:solidFill>
                <a:latin typeface="Yu Gothic"/>
              </a:rPr>
              <a:t>今日のキーメッセージ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600" b="0">
                <a:solidFill>
                  <a:srgbClr val="23303A"/>
                </a:solidFill>
                <a:latin typeface="Yu Gothic"/>
              </a:rPr>
              <a:t>困難さは「属性」でなく「体制不足」から生まれる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600" b="0">
                <a:solidFill>
                  <a:srgbClr val="23303A"/>
                </a:solidFill>
                <a:latin typeface="Yu Gothic"/>
              </a:rPr>
              <a:t>受け入れは5ステップで組織判断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600" b="0">
                <a:solidFill>
                  <a:srgbClr val="23303A"/>
                </a:solidFill>
                <a:latin typeface="Yu Gothic"/>
              </a:rPr>
              <a:t>「一人で判断しない・条件で受ける・記録で残す」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600" b="0">
                <a:solidFill>
                  <a:srgbClr val="23303A"/>
                </a:solidFill>
                <a:latin typeface="Yu Gothic"/>
              </a:rPr>
              <a:t>加算の体制要件＝困難ケースを受ける装置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34924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19072"/>
            <a:ext cx="4892040" cy="2834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1">
                <a:solidFill>
                  <a:srgbClr val="1E6091"/>
                </a:solidFill>
                <a:latin typeface="Yu Gothic"/>
              </a:rPr>
              <a:t>明日からのアクション宣言</a:t>
            </a:r>
          </a:p>
          <a:p>
            <a:pPr algn="l">
              <a:spcAft>
                <a:spcPts val="600"/>
              </a:spcAft>
              <a:buNone/>
            </a:pPr>
            <a:r>
              <a:rPr sz="1300" b="0">
                <a:solidFill>
                  <a:srgbClr val="5A6B76"/>
                </a:solidFill>
                <a:latin typeface="Yu Gothic"/>
              </a:rPr>
              <a:t>グループで1つずつ発表してください。</a:t>
            </a:r>
          </a:p>
          <a:p>
            <a:pPr algn="l">
              <a:spcAft>
                <a:spcPts val="400"/>
              </a:spcAft>
              <a:buNone/>
            </a:pPr>
            <a:r>
              <a:rPr sz="1600" b="0">
                <a:solidFill>
                  <a:srgbClr val="23303A"/>
                </a:solidFill>
                <a:latin typeface="Yu Gothic"/>
              </a:rPr>
              <a:t>・私の事業所が次に整えるのは「　　　　　」</a:t>
            </a:r>
          </a:p>
          <a:p>
            <a:pPr algn="l">
              <a:spcAft>
                <a:spcPts val="800"/>
              </a:spcAft>
              <a:buNone/>
            </a:pPr>
            <a:r>
              <a:rPr sz="1600" b="0">
                <a:solidFill>
                  <a:srgbClr val="23303A"/>
                </a:solidFill>
                <a:latin typeface="Yu Gothic"/>
              </a:rPr>
              <a:t>・私が個人として変えるのは「　　　　　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3840480"/>
            <a:ext cx="4892040" cy="685800"/>
          </a:xfrm>
          <a:prstGeom prst="roundRect">
            <a:avLst>
              <a:gd name="adj" fmla="val 6000"/>
            </a:avLst>
          </a:prstGeom>
          <a:solidFill>
            <a:srgbClr val="E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3886200"/>
            <a:ext cx="4617720" cy="5943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23303A"/>
                </a:solidFill>
                <a:latin typeface="Yu Gothic"/>
              </a:rPr>
              <a:t>小さな一歩を、必ず</a:t>
            </a:r>
            <a:r>
              <a:rPr sz="1500" b="1">
                <a:solidFill>
                  <a:srgbClr val="2A9D8F"/>
                </a:solidFill>
                <a:latin typeface="Yu Gothic"/>
              </a:rPr>
              <a:t>仕組み（手順・記録）</a:t>
            </a:r>
            <a:r>
              <a:rPr sz="1500" b="0">
                <a:solidFill>
                  <a:srgbClr val="23303A"/>
                </a:solidFill>
                <a:latin typeface="Yu Gothic"/>
              </a:rPr>
              <a:t>に落とす。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3057"/>
              </a:gs>
              <a:gs pos="100000">
                <a:srgbClr val="2A9D8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000"/>
              </a:spcAft>
              <a:buNone/>
            </a:pPr>
            <a:r>
              <a:rPr sz="4000" b="1">
                <a:solidFill>
                  <a:srgbClr val="FFFFFF"/>
                </a:solidFill>
                <a:latin typeface="Yu Gothic"/>
              </a:rPr>
              <a:t>ご清聴ありがとうございました</a:t>
            </a:r>
          </a:p>
          <a:p>
            <a:pPr algn="l">
              <a:spcAft>
                <a:spcPts val="400"/>
              </a:spcAft>
              <a:buNone/>
            </a:pPr>
            <a:r>
              <a:rPr sz="2000" b="1">
                <a:solidFill>
                  <a:srgbClr val="E9C46A"/>
                </a:solidFill>
                <a:latin typeface="Yu Gothic"/>
              </a:rPr>
              <a:t>「断らない」のではなく、「組織で安全に受けられる」事業所へ。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97680"/>
            <a:ext cx="1051560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  <a:buNone/>
            </a:pPr>
            <a:r>
              <a:rPr sz="1800" b="0">
                <a:solidFill>
                  <a:srgbClr val="CFE0EE"/>
                </a:solidFill>
                <a:latin typeface="Yu Gothic"/>
              </a:rPr>
              <a:t>質疑・ディスカッションタイム</a:t>
            </a:r>
          </a:p>
          <a:p>
            <a:pPr algn="l">
              <a:spcAft>
                <a:spcPts val="400"/>
              </a:spcAft>
              <a:buNone/>
            </a:pPr>
            <a:r>
              <a:rPr sz="1200" b="0">
                <a:solidFill>
                  <a:srgbClr val="CFE0EE"/>
                </a:solidFill>
                <a:latin typeface="Yu Gothic"/>
              </a:rPr>
              <a:t>※本資料の要件・割合等は、運用前に最新の介護報酬告示・解釈通知でご確認ください。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