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000"/>
            <a:ext cx="12192119" cy="54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2119" cy="18000"/>
          </a:xfrm>
          <a:prstGeom prst="rect">
            <a:avLst/>
          </a:prstGeom>
          <a:solidFill>
            <a:srgbClr val="73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D06A47"/>
                </a:solidFill>
                <a:latin typeface="Yu Gothic"/>
              </a:rPr>
              <a:t>主任介護支援専門員 研修会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015999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48000"/>
            <a:ext cx="1111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Yu Gothic"/>
              </a:rPr>
              <a:t>ー 介護保険の枠を超えて、世帯まるごとを支える 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608000"/>
            <a:ext cx="11112119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8050問題 ・ セルフネグレクト ・ 精神疾患を抱える利用者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重層的支援体制整備事業との連携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FAF1DB"/>
                </a:solidFill>
                <a:latin typeface="Yu Gothic"/>
              </a:rPr>
              <a:t>■ 抱え込まず、つなぎ、チームで支える技術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868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主任ケアマネジャーの会  主催  ・  研修時間 90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本日の研修目標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7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「困難事例」を捉え直し、複合課題・多問題世帯への視点を持つ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2268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322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重層的支援体制整備事業のしくみと、CMから見た連携の活かし方を理解する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916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970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8050問題 ― 親の介護を入口に、世帯全体を見る視点と連携先を知る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564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18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セルフネグレクト ― 支援拒否への向き合い方と、信頼関係づくりを学ぶ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212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4266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精神疾患を抱える利用者への関わりの基本と、精神科医療との連携を整理する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860000"/>
            <a:ext cx="180000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4914000"/>
            <a:ext cx="1093211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E3336"/>
                </a:solidFill>
                <a:latin typeface="Yu Gothic"/>
              </a:rPr>
              <a:t>抱え込まず・チームで・つなぐ ― 主任CMとして困難事例に向き合う技術を持ち帰る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本日の流れ(90分)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3 / 32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000" y="174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困難事例・複合課題とは ― 捉え直す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2119" y="176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10分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58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412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重層的支援体制整備事業との連携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119" y="2430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15分</a:t>
            </a:r>
          </a:p>
        </p:txBody>
      </p:sp>
      <p:sp>
        <p:nvSpPr>
          <p:cNvPr id="14" name="Oval 13"/>
          <p:cNvSpPr/>
          <p:nvPr/>
        </p:nvSpPr>
        <p:spPr>
          <a:xfrm>
            <a:off x="540000" y="3024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0" y="3078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8050問題への対応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52119" y="3096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15分</a:t>
            </a:r>
          </a:p>
        </p:txBody>
      </p:sp>
      <p:sp>
        <p:nvSpPr>
          <p:cNvPr id="17" name="Oval 16"/>
          <p:cNvSpPr/>
          <p:nvPr/>
        </p:nvSpPr>
        <p:spPr>
          <a:xfrm>
            <a:off x="540000" y="3690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3744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セルフネグレクトへの対応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3762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15分</a:t>
            </a:r>
          </a:p>
        </p:txBody>
      </p:sp>
      <p:sp>
        <p:nvSpPr>
          <p:cNvPr id="20" name="Oval 19"/>
          <p:cNvSpPr/>
          <p:nvPr/>
        </p:nvSpPr>
        <p:spPr>
          <a:xfrm>
            <a:off x="540000" y="4356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0" y="4410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精神疾患を抱える利用者への対応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2119" y="4428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20分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5022000"/>
            <a:ext cx="468000" cy="468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5076000"/>
            <a:ext cx="79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B3D4F"/>
                </a:solidFill>
                <a:latin typeface="Yu Gothic"/>
              </a:rPr>
              <a:t>困難事例に向き合う技術 ・ 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52119" y="5094000"/>
            <a:ext cx="10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400" b="1" i="0">
                <a:solidFill>
                  <a:srgbClr val="D06A47"/>
                </a:solidFill>
                <a:latin typeface="Yu Gothic"/>
              </a:rPr>
              <a:t>15分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困難事例・複合課題とは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Rethinking Complex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困難事例・複合課題とは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「困難事例」とは誰にとっての困難か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5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「困難事例」という言葉を捉え直す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「困難事例」と呼ぶとき、それは多くの場合「支援者にとっての困難」を指している。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本人にとっての「困りごと」と、支援者にとっての「困難」は、同じではない。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支援者にとっての「困難」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62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支援を拒否される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制度・サービスにあてはまらない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関わる機関が多く、調整が大変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解決の糸口が見えない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対応に時間と労力がかかる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本人にとっての「困りごと」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620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これまでの生き方・価値観がある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助けを求めることへの葛藤・不信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過去の傷つき体験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「困っている」自覚がないこともある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▶ 本人の世界から見ることが出発点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B3D4F"/>
                </a:solidFill>
                <a:latin typeface="Yu Gothic"/>
              </a:rPr>
              <a:t>▶ 「困難事例」とラベルを貼った瞬間、本人が「困らせる人」に見えてしまう。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B3D4F"/>
                </a:solidFill>
                <a:latin typeface="Yu Gothic"/>
              </a:rPr>
              <a:t>▶ 「困難を抱えた、その人」として捉え直すことが、支援の第一歩。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困難事例・複合課題とは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複合課題・多問題世帯の広がり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6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1つの世帯に、いくつもの課題が重なる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高齢の親の介護課題だけでなく、同居の子の課題、経済、住まい、孤立 ―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複数の課題が絡み合い、1つの制度だけでは支えきれない世帯が増えている。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592000"/>
            <a:ext cx="3671999" cy="342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61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8050問題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3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00" y="300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高齢の親と、ひきこもり等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の中高年の子の同居世帯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7999" y="2592000"/>
            <a:ext cx="3671999" cy="342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5999" y="261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ダブルケア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7999" y="293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1999" y="300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介護と育児が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同時期に重なる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3998" y="2592000"/>
            <a:ext cx="3671999" cy="342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1998" y="261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セルフネグレクト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3998" y="293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7998" y="300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自分自身のケアを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放棄してしまう状態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672000"/>
            <a:ext cx="3671999" cy="342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69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経済的困窮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01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00" y="408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生活困窮・滞納・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債務・年金頼みの家計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7999" y="3672000"/>
            <a:ext cx="3671999" cy="342000"/>
          </a:xfrm>
          <a:prstGeom prst="rect">
            <a:avLst/>
          </a:prstGeom>
          <a:solidFill>
            <a:srgbClr val="B24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5999" y="369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精神疾患・障害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7999" y="401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1999" y="408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本人や家族が精神疾患・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障害を抱える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3998" y="3672000"/>
            <a:ext cx="3671999" cy="342000"/>
          </a:xfrm>
          <a:prstGeom prst="rect">
            <a:avLst/>
          </a:prstGeom>
          <a:solidFill>
            <a:srgbClr val="738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1998" y="3690000"/>
            <a:ext cx="3455999" cy="30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社会的孤立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3998" y="4014000"/>
            <a:ext cx="3671999" cy="63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07998" y="4085999"/>
            <a:ext cx="3383999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地域・親族とのつながり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が断たれている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5148000"/>
            <a:ext cx="11304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4000" y="51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なぜ「複合課題」が支えにくいのか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5508000"/>
            <a:ext cx="11304000" cy="612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55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介護保険は「高齢者本人」を対象とする制度 ― 同居家族の課題は守備範囲外になりがち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制度ごとに窓口・担当が分かれ、世帯全体を見る人がいない「制度の縦割り」が壁になる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1. 困難事例・複合課題とは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CMは「世帯まるごと」に出会っている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7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CMだからこそ気づける立場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72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居宅CMは、利用者宅を訪問し、生活の場に入る数少ない専門職。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高齢者本人だけでなく、同居家族・住まい・暮らしぶり ―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「世帯まるごと」の状況に、最初に気づける立場にいる。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CMにできること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368000"/>
          </a:xfrm>
          <a:prstGeom prst="rect">
            <a:avLst/>
          </a:prstGeom>
          <a:solidFill>
            <a:srgbClr val="E6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訪問を通じて世帯の異変に気づく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高齢者支援を入口に、世帯全体を見る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必要な機関・制度につなぐ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多機関協働の一員として関わり続ける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CMだけでは担えないこと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368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高齢者以外の家族への直接の支援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制度横断的な調整の主導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長期的・専門的な伴走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▶ だからこそ「つなぐ」「協働する」が要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B3D4F"/>
                </a:solidFill>
                <a:latin typeface="Yu Gothic"/>
              </a:rPr>
              <a:t>▶ 「介護保険の範囲外だから」と見て見ぬふりをしない。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2B3D4F"/>
                </a:solidFill>
                <a:latin typeface="Yu Gothic"/>
              </a:rPr>
              <a:t>▶ かといって一人で抱え込まない ― 「気づき、つなぐ」のがCMの役割。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重層的支援体制整備事業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との連携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Working with Community-Based Integrated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重層的支援体制整備事業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重層的支援体制整備事業とは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9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制度の「はざま」を埋めるしくみ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828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社会福祉法に基づき、市町村が実施する事業(任意事業)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介護・障害・子ども・生活困窮 ― 分野ごとの相談支援を「一体的」に行い、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    属性や世代を問わず、複合課題を抱える人・世帯を丸ごと受けとめる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なぜ生まれたのか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368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「縦割り」では複合課題に対応できない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「どの窓口にも当てはまらない」人がいる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8050・ダブルケア・孤立など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制度のはざまの課題の顕在化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「断らない相談支援」をめざして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知っておきたいこと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368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「任意事業」のため、実施状況は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市町村によって異なる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自分の市町村が実施しているか、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窓口はどこかを確認しておく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未実施の地域でも、各分野の相談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機関の連携で同様の対応をめざす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B3D4F"/>
                </a:solidFill>
                <a:latin typeface="Yu Gothic"/>
              </a:rPr>
              <a:t>▶ まず「自分の市町村ではどうなっているか」を知ることが、連携の出発点。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重層的支援体制整備事業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重層事業を支える支援のかたち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10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3つの支援 + それを支える2つの機能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288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25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属性を問わない相談 / 参加支援 / 地域づくり ― を、多機関協働とアウトリーチが支える。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61" y="2412000"/>
            <a:ext cx="3671999" cy="54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61" y="2412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包括的相談支援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061" y="2952000"/>
            <a:ext cx="3671999" cy="126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61" y="3060000"/>
            <a:ext cx="3383999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属性・世代を問わず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相談を受けとめる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「断らない相談支援」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0060" y="2412000"/>
            <a:ext cx="3671999" cy="54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0060" y="2412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参加支援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0060" y="2952000"/>
            <a:ext cx="3671999" cy="126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4060" y="3060000"/>
            <a:ext cx="3383999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社会的なつながり・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社会参加・就労等の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「出番」をつくる支援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059" y="2412000"/>
            <a:ext cx="3671999" cy="54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6059" y="2412000"/>
            <a:ext cx="3671999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地域づくりに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向けた支援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76059" y="2952000"/>
            <a:ext cx="3671999" cy="126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059" y="3060000"/>
            <a:ext cx="3383999" cy="104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住民同士のつながり・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交流・支え合いの</a:t>
            </a:r>
          </a:p>
          <a:p>
            <a:pPr algn="ctr">
              <a:lnSpc>
                <a:spcPct val="15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場をつくる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92000"/>
            <a:ext cx="5580000" cy="360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428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多機関協働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752000"/>
            <a:ext cx="5580000" cy="1368000"/>
          </a:xfrm>
          <a:prstGeom prst="rect">
            <a:avLst/>
          </a:prstGeom>
          <a:solidFill>
            <a:srgbClr val="DF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4788000"/>
            <a:ext cx="536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各分野の支援者をつなぎ、世帯全体の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支援の方向性を調整する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「重層的支援会議」「支援会議」等で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関係機関が情報を共有・検討する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CMも、その協働のメンバーになる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000" y="4392000"/>
            <a:ext cx="5400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2000" y="4428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アウトリーチ等を通じた継続的支援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0000" y="4752000"/>
            <a:ext cx="5400000" cy="1368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8000" y="4788000"/>
            <a:ext cx="5184000" cy="13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自ら相談に来られない人へ、支援者から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出向いて関わる(アウトリーチ)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すぐに解決しなくても、つながり続ける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「待つ」のではなく「届ける」支援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2. 重層的支援体制整備事業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CMから見た ― 重層事業の活かし方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11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36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こんなとき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6000" y="1656000"/>
            <a:ext cx="3672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重層事業を通じて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000" y="1656000"/>
            <a:ext cx="36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CMの動き方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980000"/>
            <a:ext cx="11304000" cy="720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03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同居の子の課題に</a:t>
            </a:r>
          </a:p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気づいた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6000" y="203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高齢者以外の家族の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相談先につながる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000" y="203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市町村の相談窓口・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包括に相談・情報共有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0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000" y="275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どこに相談すれば</a:t>
            </a:r>
          </a:p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よいか分からない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6000" y="275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「断らない相談支援」が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受けとめてくれる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000" y="275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迷ったら、まず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包括的相談支援につなぐ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420000"/>
            <a:ext cx="11304000" cy="720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47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関わる機関が多く</a:t>
            </a:r>
          </a:p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調整が難しい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6000" y="347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多機関協働で支援の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方向性が整理される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000" y="347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重層的支援会議等に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参加し情報を持ち寄る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140000"/>
            <a:ext cx="11304000" cy="720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19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本人が孤立し</a:t>
            </a:r>
          </a:p>
          <a:p>
            <a:pPr algn="ctr"/>
            <a:r>
              <a:rPr sz="1100" b="1" i="0">
                <a:solidFill>
                  <a:srgbClr val="2B3D4F"/>
                </a:solidFill>
                <a:latin typeface="Yu Gothic"/>
              </a:rPr>
              <a:t>出番がない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6000" y="4194000"/>
            <a:ext cx="3672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参加支援で社会との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つながりをつくる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000" y="4194000"/>
            <a:ext cx="3636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本人の希望を伝え</a:t>
            </a:r>
          </a:p>
          <a:p>
            <a:pPr algn="l"/>
            <a:r>
              <a:rPr sz="1100" b="0" i="0">
                <a:solidFill>
                  <a:srgbClr val="2E3336"/>
                </a:solidFill>
                <a:latin typeface="Yu Gothic"/>
              </a:rPr>
              <a:t>参加支援につなぐ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860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48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連携を活かすために、主任CMがしておくこと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220000"/>
            <a:ext cx="11304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256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自分の市町村の重層事業の実施状況・相談窓口・キーパーソンを把握しておく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「介護の課題」として閉じず、世帯の課題として包括・市町村に共有する習慣をつくる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後輩CMに「一人で抱え込まず、つなぐ」ことを、具体的なつなぎ先とともに伝える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8050問題への対応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Responding to the 8050 Problem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8050問題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8050問題とは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13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「8050問題」が指すもの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72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80代の高齢の親と、50代の中高年の子(ひきこもり等)が同居する世帯の課題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親の介護・年金に依存して生活が成り立ってきたが、親の高齢化・要介護化・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    死亡により、世帯全体が立ち行かなくなる ― そのリスクが顕在化する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880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916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背景にあるもの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240000"/>
            <a:ext cx="5580000" cy="14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276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ひきこもりの長期化・高年齢化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親子ともに社会的に孤立している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親の年金が世帯の唯一の収入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「家のことは家で」という意識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子の課題(障害・疾患・離職等)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880000"/>
            <a:ext cx="540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916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なぜ気づかれにくいのか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3240000"/>
            <a:ext cx="5400000" cy="1440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276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子の存在自体が「見えない」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親が子のことを語りたがらない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「恥」「世間体」の意識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介護の相談に、子の課題は出てこない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▶ 介護をきっかけに「見えてくる」ことが多い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86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B3D4F"/>
                </a:solidFill>
                <a:latin typeface="Yu Gothic"/>
              </a:rPr>
              <a:t>▶ 親の介護に入ったCMが、世帯の中の「もう一つの課題」に最初に気づくことが多い。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3. 8050問題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CMの関わり ― 親の介護を入口に、世帯を見る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14 / 32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728000"/>
            <a:ext cx="432000" cy="432000"/>
          </a:xfrm>
          <a:prstGeom prst="ellipse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52000" y="1584000"/>
            <a:ext cx="2340000" cy="792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000" y="1584000"/>
            <a:ext cx="226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気づく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1999" y="1584000"/>
            <a:ext cx="8268119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6000" y="1656000"/>
            <a:ext cx="805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・同居の子の存在・状況に気を配る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・「日中、お子さんは?」とさりげなく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・世帯の経済状況・将来の見通し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610000"/>
            <a:ext cx="432000" cy="432000"/>
          </a:xfrm>
          <a:prstGeom prst="ellipse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2000" y="2466000"/>
            <a:ext cx="2340000" cy="792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000" y="2466000"/>
            <a:ext cx="226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否定せず受けとめる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1999" y="2466000"/>
            <a:ext cx="8268119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6000" y="2538000"/>
            <a:ext cx="805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・親・子を責めない、せかさない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・「親亡き後」の不安を受けとめる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・まず親(利用者)との信頼を大切に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3492000"/>
            <a:ext cx="432000" cy="432000"/>
          </a:xfrm>
          <a:prstGeom prst="ellipse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52000" y="3348000"/>
            <a:ext cx="2340000" cy="792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000" y="3348000"/>
            <a:ext cx="226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一人で抱えない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1999" y="3348000"/>
            <a:ext cx="8268119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6000" y="3420000"/>
            <a:ext cx="805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・主任CM・地域包括に相談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・子の課題はCMの守備範囲を超える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・「つなぐ」判断を早めに</a:t>
            </a:r>
          </a:p>
        </p:txBody>
      </p:sp>
      <p:sp>
        <p:nvSpPr>
          <p:cNvPr id="23" name="Oval 22"/>
          <p:cNvSpPr/>
          <p:nvPr/>
        </p:nvSpPr>
        <p:spPr>
          <a:xfrm>
            <a:off x="540000" y="4374000"/>
            <a:ext cx="432000" cy="432000"/>
          </a:xfrm>
          <a:prstGeom prst="ellipse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52000" y="4230000"/>
            <a:ext cx="2340000" cy="792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000" y="4230000"/>
            <a:ext cx="2268000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つなぐ・協働する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1999" y="4230000"/>
            <a:ext cx="8268119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6000" y="4302000"/>
            <a:ext cx="8052119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・市町村の相談窓口・重層事業へ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・ひきこもり支援・生活困窮・障害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・多機関で世帯を支える形をつくる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5256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5292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連携先を知っておく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616000"/>
            <a:ext cx="11304000" cy="5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652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ひきこもり地域支援センター ■ 生活困窮者自立支援の相談窓口 ■ 障害福祉の相談支援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市町村の重層的支援の窓口・地域包括支援センター ― 「つなぐ先のリスト」を持っておく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セルフネグレクトへの対応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Responding to Self-Neglect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セルフネグレクト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セルフネグレクトとは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16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セルフネグレクト = 自己放任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健康・安全・生活に関わる、自分自身のケアを行えない・行わない状態。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高齢者虐待防止法の「虐待」の定義には含まれないが、生命・健康に関わる重大な課題。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262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住環境のサイン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060000"/>
            <a:ext cx="5220000" cy="64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・ごみ・物が大量にたまる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・不衛生・異臭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・ライフラインが止まっている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6000" y="2628000"/>
            <a:ext cx="5580000" cy="360000"/>
          </a:xfrm>
          <a:prstGeom prst="rect">
            <a:avLst/>
          </a:prstGeom>
          <a:solidFill>
            <a:srgbClr val="B24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262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身体・健康のサイン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000" y="2988000"/>
            <a:ext cx="5580000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3060000"/>
            <a:ext cx="5220000" cy="64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・極端なやせ・脱水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・必要な受診・服薬をしない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・けが・病気を放置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888000"/>
            <a:ext cx="558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88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生活のサイン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248000"/>
            <a:ext cx="5580000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4320000"/>
            <a:ext cx="5220000" cy="64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・食事をとらない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・入浴・着替えをしない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・金銭管理ができていない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000" y="3888000"/>
            <a:ext cx="5580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000" y="388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関わりのサイン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6000" y="4248000"/>
            <a:ext cx="5580000" cy="7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000" y="4320000"/>
            <a:ext cx="5220000" cy="64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・支援・受診を強く拒む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・近隣との関係が断たれている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2E3336"/>
                </a:solidFill>
                <a:latin typeface="Yu Gothic"/>
              </a:rPr>
              <a:t>・「困っていない」と言う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868000"/>
            <a:ext cx="11328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2B3D4F"/>
                </a:solidFill>
                <a:latin typeface="Yu Gothic"/>
              </a:rPr>
              <a:t>▶ 背景に、認知症・精神疾患・喪失体験・あきらめ・プライドなどが隠れていることが多い。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セルフネグレクト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支援拒否への向き合い方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17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「拒否」の奥にあるものを考える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支援を拒むのには理由がある ― 過去の傷つき、不信、プライド、あきらめ、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「困っている自覚がない」こと。「拒否」を「NO」と即断せず、その背景を見る。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2664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関係を遠ざける関わり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8000" y="2664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信頼に近づく関わり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2988000"/>
            <a:ext cx="11304000" cy="540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" y="304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「このままでは危険です」と説得する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8000" y="304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本人の暮らし方・思いをまず否定せず聴く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528000"/>
            <a:ext cx="113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000" y="358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すぐに片づけ・受診をさせようとする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8000" y="358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本人が受け入れられる小さな一歩から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4068000"/>
            <a:ext cx="11304000" cy="540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" y="412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訪問のたびに支援を勧める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8000" y="412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支援の話を急がず、まず関係をつくる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608000"/>
            <a:ext cx="11304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466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「困っていますよね」と決めつける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8000" y="466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本人なりの「困りごと」に焦点を当てる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5148000"/>
            <a:ext cx="11304000" cy="540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000" y="520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一度断られたら関わりをやめる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8000" y="5202000"/>
            <a:ext cx="5544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断られても、つながり続ける(見守る)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508000"/>
            <a:ext cx="11304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554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支援の原則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5868000"/>
            <a:ext cx="11304000" cy="432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000" y="5904000"/>
            <a:ext cx="11088000" cy="3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ゴールは「すぐに解決」ではなく「つながり続ける」こと ― 関係こそが支援の土台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ただし、生命の危険が切迫している場合は、本人の同意を待たず関係機関と緊急対応する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4. セルフネグレクト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つながり続ける ― 見守りとチーム対応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18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関わり続けるための工夫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1908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訪問の理由を「支援」でなく自然な形で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(「近くまで来たので」等)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本人の関心・得意なことを糸口にする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小さな「できた」「受け入れた」を大切に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焦らず、本人のペースに合わせる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変化が見えなくても、関わりを記録する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チーム・地域で見守る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1908000"/>
          </a:xfrm>
          <a:prstGeom prst="rect">
            <a:avLst/>
          </a:prstGeom>
          <a:solidFill>
            <a:srgbClr val="DF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CM一人で抱えない ― 地域包括と共有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民生委員・近隣・ライフライン事業者等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   地域の「見守りの目」と連携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緊急時の連絡体制を決めておく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重層事業のアウトリーチ支援と連携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医療(認知症・精神)の視点も入れる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主任CM・支援者として大切にしたいこと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「説得できないこと」を支援者の失敗と捉えない ― つながり続けること自体が成果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後輩CMが「拒否されてつらい」と感じたとき、その気持ちを支える(支持的SV)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支援者の安全も確保する ― 不衛生な環境・予測しにくい状況では複数人で訪問する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「いつ・誰が・どう動くか」を地域包括・関係機関と取り決め、CMだけに集中させない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精神疾患を抱える</a:t>
            </a:r>
          </a:p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利用者への対応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Supporting People with Mental Illness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精神疾患を抱える利用者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精神疾患を抱える利用者を理解する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20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「分かりにくさ」を、まず受けとめる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61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精神疾患は外から見えにくく、症状や状態に波がある。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「気分」や「性格」と捉えず、疾患による状態として理解することが、関わりの出発点。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理解しておきたいこと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62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症状・状態には波がある(良い時/悪い時)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服薬の継続が安定の鍵になることが多い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不安・不信・被害的な思いを抱きやすい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長年の生きづらさ・孤立を抱えてきた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認知症とは異なる ― 安易に混同しない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高齢期に出会う精神疾患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620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5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若い頃からの疾患を抱えて高齢化した人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高齢期に発症・顕在化する場合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うつ・不安、アルコール関連の課題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認知症との併存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▶ 「介護」と「精神保健福祉」が交わる領域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788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B3D4F"/>
                </a:solidFill>
                <a:latin typeface="Yu Gothic"/>
              </a:rPr>
              <a:t>▶ 診断名で人を見ない。「疾患を抱えながら生きてきた、その人」として理解する。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精神疾患を抱える利用者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関わりの基本 ― 安心できる関係をつくる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21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1656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不安・不信を強める関わり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8000" y="1656000"/>
            <a:ext cx="554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</a:rPr>
              <a:t>安心できる関わり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980000"/>
            <a:ext cx="11304000" cy="558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000" y="2034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約束・予定を急に変える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8000" y="2034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予定を一定に保ち、変更は早めに丁寧に伝える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538000"/>
            <a:ext cx="11304000" cy="558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000" y="2592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大勢で訪問する・距離が近すぎる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8000" y="2592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落ち着いた人数・適度な距離感を保つ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3096000"/>
            <a:ext cx="11304000" cy="558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3150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本人の訴え・不安を否定する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8000" y="3150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訴えをまず受けとめ、否定から入らない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654000"/>
            <a:ext cx="11304000" cy="558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" y="3708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一度に多くを求める・急かす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8000" y="3708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一つずつ、本人のペースで進める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4212000"/>
            <a:ext cx="11304000" cy="558000"/>
          </a:xfrm>
          <a:prstGeom prst="rect">
            <a:avLst/>
          </a:prstGeom>
          <a:solidFill>
            <a:srgbClr val="E7EBEE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000" y="4266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症状の波を「わがまま」と捉える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8000" y="4266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波があることを前提に、調子に合わせる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4770000"/>
            <a:ext cx="11304000" cy="558000"/>
          </a:xfrm>
          <a:prstGeom prst="rect">
            <a:avLst/>
          </a:prstGeom>
          <a:solidFill>
            <a:srgbClr val="FFFFFF"/>
          </a:solidFill>
          <a:ln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000" y="4824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0">
                <a:solidFill>
                  <a:srgbClr val="B24239"/>
                </a:solidFill>
                <a:latin typeface="Yu Gothic"/>
              </a:rPr>
              <a:t>できないことばかりを指摘する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8000" y="4824000"/>
            <a:ext cx="5544000" cy="4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できていること・本人の強みに目を向ける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土台となる姿勢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「安心」「一定」「予測できる」関わりが、不安を和らげ、信頼の土台になる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本人の訴えの「内容の正誤」より、その背後にある「不安・つらさ」に応える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精神疾患を抱える利用者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精神科医療・精神保健福祉との連携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介護だけで抱えず、医療・精神保健福祉と組む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467999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43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精神疾患を抱える利用者の支援は、医療(精神科)との連携が不可欠。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CMは「介護の専門職」として、医療チームと役割を分担し、協働する。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59" y="2520000"/>
            <a:ext cx="2772000" cy="648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059" y="2520000"/>
            <a:ext cx="270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精神科医療機関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・主治医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0059" y="3168000"/>
            <a:ext cx="2772000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" y="3276000"/>
            <a:ext cx="2592000" cy="11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病状の管理・服薬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医学的な見立て・助言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0059" y="2520000"/>
            <a:ext cx="2772000" cy="648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6059" y="2520000"/>
            <a:ext cx="270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精神保健福祉士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(PSW)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0059" y="3168000"/>
            <a:ext cx="2772000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0059" y="3276000"/>
            <a:ext cx="2592000" cy="11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生活・社会復帰の支援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医療と地域をつなぐ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0059" y="2520000"/>
            <a:ext cx="2772000" cy="648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6059" y="2520000"/>
            <a:ext cx="270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保健所・精神保健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福祉センター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0059" y="3168000"/>
            <a:ext cx="2772000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0059" y="3276000"/>
            <a:ext cx="2592000" cy="11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精神保健の相談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対応に迷うときの相談先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0059" y="2520000"/>
            <a:ext cx="2772000" cy="648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6059" y="2520000"/>
            <a:ext cx="270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Yu Gothic"/>
              </a:rPr>
              <a:t>障害福祉サービス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0059" y="3168000"/>
            <a:ext cx="2772000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0059" y="3276000"/>
            <a:ext cx="2592000" cy="11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自立生活・就労等の支援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2E3336"/>
                </a:solidFill>
                <a:latin typeface="Yu Gothic"/>
              </a:rPr>
              <a:t>相談支援専門員と連携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932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000" y="4968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連携を機能させるために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5292000"/>
            <a:ext cx="11304000" cy="828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5328000"/>
            <a:ext cx="11088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「介護保険サービス」と「障害福祉サービス」の両方を視野に入れる(併用・移行)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服薬・通院が途切れていないか、生活の中で見える変化を医療チームに共有する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対応に迷うとき・緊急時の相談先(保健所・精神保健福祉センター等)を把握しておく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5. 精神疾患を抱える利用者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家族への支援も視野に入れる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23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家族もまた、長く支え、疲れてきた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精神疾患を抱える人の家族は、長年にわたり対応を続け、孤立し、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疲弊していることが多い。家族もまた「支えられる対象」である。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" y="266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家族が抱えやすいもの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14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024000"/>
            <a:ext cx="536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長年の対応による心身の疲弊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「自分のせいでは」という自責感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周囲に相談できず孤立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親亡き後・自分亡き後への不安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高齢の親が高齢の子を支える構図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628000"/>
            <a:ext cx="5400000" cy="36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2000" y="266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CMができること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2988000"/>
            <a:ext cx="5400000" cy="1440000"/>
          </a:xfrm>
          <a:prstGeom prst="rect">
            <a:avLst/>
          </a:prstGeom>
          <a:solidFill>
            <a:srgbClr val="E6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8000" y="3024000"/>
            <a:ext cx="5184000" cy="14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家族の労をねぎらい、話を聴く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家族を責めない・追い詰めない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家族会・ピアの集まりにつなぐ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家族の課題は、家族支援の窓口へ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「親亡き後」を見据えた連携を早めに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680000"/>
            <a:ext cx="11328119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B3D4F"/>
                </a:solidFill>
                <a:latin typeface="Yu Gothic"/>
              </a:rPr>
              <a:t>▶ 8050問題とも重なる ― 「世帯まるごと」「親亡き後」の視点を、ここでも忘れない。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 i="0">
                <a:solidFill>
                  <a:srgbClr val="D06A47"/>
                </a:solidFill>
                <a:latin typeface="Yu Gothic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1147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Yu Gothic"/>
              </a:rPr>
              <a:t>困難事例に向き合う技術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680000"/>
            <a:ext cx="1147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Skills &amp; Wrap 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向き合う技術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困難事例のアセスメント ― 3つの視点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25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061" y="1620000"/>
            <a:ext cx="3671999" cy="648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061" y="1620000"/>
            <a:ext cx="3527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世帯まるごと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見る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061" y="2268000"/>
            <a:ext cx="3671999" cy="25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061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・利用者本人だけでなく、同居家族・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  世帯全体の状況を捉える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・収入・住まい・つながりも視野に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・「見えていない人」に気を配る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0060" y="1620000"/>
            <a:ext cx="3671999" cy="648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060" y="1620000"/>
            <a:ext cx="3527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ストレングス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(強み)を見る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0060" y="2268000"/>
            <a:ext cx="3671999" cy="25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4060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・課題・できないことだけを見ない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・本人・世帯の強み・資源・願いを探す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・これまで生き抜いてきた力に着目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・本人の「したい」を支援の起点に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6059" y="1620000"/>
            <a:ext cx="3671999" cy="648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8059" y="1620000"/>
            <a:ext cx="3527999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時間の流れで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Yu Gothic"/>
              </a:rPr>
              <a:t>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6059" y="2268000"/>
            <a:ext cx="3671999" cy="259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059" y="2412000"/>
            <a:ext cx="3383999" cy="23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・なぜ今の状態になったのか(経過)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・本人の人生史・関係史を理解する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・「親亡き後」など将来も見据える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・すぐ解決を求めず長い目で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220000"/>
            <a:ext cx="11304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525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アセスメントが支援の質を決める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5580000"/>
            <a:ext cx="11304000" cy="540000"/>
          </a:xfrm>
          <a:prstGeom prst="rect">
            <a:avLst/>
          </a:prstGeom>
          <a:solidFill>
            <a:srgbClr val="FA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5616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「困難」に見える事例ほど、丁寧なアセスメントで「糸口」が見えてくる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課題の山を前に立ちすくむより、「小さくても動かせる一点」を一緒に探す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向き合う技術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抱え込まない ― チームで・つなぐ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26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困難事例こそ、一人で支えてはいけない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11304000" cy="54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11088000" cy="50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複合課題は、一人のCM・一つの機関では支えきれない。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「抱え込まない」ことは、力不足ではなく、適切な支援判断そのもの。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628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000" y="262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早めに共有する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88000"/>
            <a:ext cx="5580000" cy="9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060000"/>
            <a:ext cx="5220000" cy="75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・「困難かも」と感じた段階で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  主任CM・包括に共有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・こじれてからでは連携が難しい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6000" y="2628000"/>
            <a:ext cx="5580000" cy="360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2628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会議の場を使う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000" y="2988000"/>
            <a:ext cx="5580000" cy="9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3060000"/>
            <a:ext cx="5220000" cy="75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・地域ケア会議・支援会議等で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  多機関で検討する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・一人の見立てを複数の目で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996000"/>
            <a:ext cx="5580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000" y="3996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役割を分担する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4356000"/>
            <a:ext cx="5580000" cy="9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4428000"/>
            <a:ext cx="5220000" cy="75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・「誰が・何を担うか」を明確に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・CMの守備範囲を超える課題は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  専門機関につなぐ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000" y="3996000"/>
            <a:ext cx="5580000" cy="36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000" y="3996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つながり続ける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6000" y="4356000"/>
            <a:ext cx="5580000" cy="9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000" y="4428000"/>
            <a:ext cx="5220000" cy="756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・つないだら終わり、ではない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・多機関協働の一員として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  関わり続ける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903999"/>
            <a:ext cx="11328119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2B3D4F"/>
                </a:solidFill>
                <a:latin typeface="Yu Gothic"/>
              </a:rPr>
              <a:t>▶ 主任CMは、後輩が「抱え込まず相談できる」空気と仕組みをつくる。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向き合う技術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支援者を守る ― 安全と燃え尽きの予防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27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48000"/>
            <a:ext cx="5580000" cy="360000"/>
          </a:xfrm>
          <a:prstGeom prst="rect">
            <a:avLst/>
          </a:prstGeom>
          <a:solidFill>
            <a:srgbClr val="B24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584000"/>
            <a:ext cx="543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支援者の安全を守る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08000"/>
            <a:ext cx="5580000" cy="1908000"/>
          </a:xfrm>
          <a:prstGeom prst="rect">
            <a:avLst/>
          </a:prstGeom>
          <a:solidFill>
            <a:srgbClr val="F8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944000"/>
            <a:ext cx="536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リスクのある訪問は複数人で行う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訪問の予定・行き先を事業所で共有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不衛生な環境での健康・衛生に配慮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暴言・暴力等のリスクには組織で対応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「一人で行かせない」を主任CMが徹底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548000"/>
            <a:ext cx="5400000" cy="36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584000"/>
            <a:ext cx="525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燃え尽きを防ぐ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1908000"/>
            <a:ext cx="5400000" cy="1908000"/>
          </a:xfrm>
          <a:prstGeom prst="rect">
            <a:avLst/>
          </a:prstGeom>
          <a:solidFill>
            <a:srgbClr val="E6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8000" y="1944000"/>
            <a:ext cx="5184000" cy="18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困難事例は、成果が見えにくく消耗する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「解決できない」を失敗と捉えさせない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感情を言葉にして吐き出せる場をつくる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困難事例の負担を一人に集中させない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「つながり続けたこと」を成果と認める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960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000" y="3996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主任CMの役割 ― 支える人を支える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4320000"/>
            <a:ext cx="11304000" cy="1800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000" y="4356000"/>
            <a:ext cx="11088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困難事例を担当するCMを孤立させない ― 定期的に状況を聴き、ねぎらう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「つながり続けられたこと」「小さな変化」を、一緒に成果として確認する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支持的スーパービジョン(第4弾)で、CMの感情・つらさを受けとめる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/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困難事例を特定のCMに集中させず、チーム・事業所全体で分かち合う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6. 向き合う技術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困難事例対応における主任CMの役割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28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5580000" cy="360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見立てを支える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980000"/>
            <a:ext cx="5580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・後輩の事例を一緒にアセスメント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・世帯まるごと・強みの視点を伝える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・「困難」のラベルを問い直す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000" y="1620000"/>
            <a:ext cx="5580000" cy="360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162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つなぎ先を持つ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000" y="1980000"/>
            <a:ext cx="5580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000" y="205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・重層事業・専門機関のリストを整備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・地域の窓口・キーパーソンを把握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・「どこにつなぐか」を即答できる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3060000"/>
            <a:ext cx="5580000" cy="360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会議・連携を動かす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420000"/>
            <a:ext cx="5580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・地域ケア会議・支援会議を活用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・多機関協働のハブになる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・地域の連携体制づくりに関わる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6000" y="3060000"/>
            <a:ext cx="5580000" cy="360000"/>
          </a:xfrm>
          <a:prstGeom prst="rect">
            <a:avLst/>
          </a:prstGeom>
          <a:solidFill>
            <a:srgbClr val="537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000" y="3060000"/>
            <a:ext cx="52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Yu Gothic"/>
              </a:rPr>
              <a:t>人を支える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56000" y="3420000"/>
            <a:ext cx="5580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3492000"/>
            <a:ext cx="5220000" cy="828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・担当CMを孤立させない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・安全を確保し、燃え尽きを防ぐ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・困難事例を一人に集中させない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困難事例は「地域の力」で支える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困難事例は、CM個人の力量の問題ではなく、地域全体で支えるべき課題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主任CMは、事業所と地域・多機関をつなぎ、「支える網」をつくる役割を担う</a:t>
            </a:r>
          </a:p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本シリーズで学んだSV・ファシリテーション・意思決定支援が、ここでも一貫して生きる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明日からの 3 つのアクション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29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620000"/>
            <a:ext cx="1620000" cy="1332000"/>
          </a:xfrm>
          <a:prstGeom prst="rect">
            <a:avLst/>
          </a:prstGeom>
          <a:solidFill>
            <a:srgbClr val="44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76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16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620000"/>
            <a:ext cx="9708119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172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B3D4F"/>
                </a:solidFill>
                <a:latin typeface="Yu Gothic"/>
              </a:rPr>
              <a:t>自分の市町村の「つなぎ先」を確認する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0" y="212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・重層的支援体制整備事業の実施状況・相談窓口を調べる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・ひきこもり支援・生活困窮・精神保健等の連携先をリスト化しておく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060000"/>
            <a:ext cx="1620000" cy="1332000"/>
          </a:xfrm>
          <a:prstGeom prst="rect">
            <a:avLst/>
          </a:prstGeom>
          <a:solidFill>
            <a:srgbClr val="2C7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" y="320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360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2000" y="3060000"/>
            <a:ext cx="9708119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316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B3D4F"/>
                </a:solidFill>
                <a:latin typeface="Yu Gothic"/>
              </a:rPr>
              <a:t>担当ケースを「世帯まるごと」で見直す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0000" y="356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・気になるケースを、同居家族・経済・つながりも含めて捉え直す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・「介護の課題」に閉じず、世帯の課題として包括と共有する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4500000"/>
            <a:ext cx="1620000" cy="1332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4644000"/>
            <a:ext cx="16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5040000"/>
            <a:ext cx="1620000" cy="64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2000" y="4500000"/>
            <a:ext cx="9708119" cy="1332000"/>
          </a:xfrm>
          <a:prstGeom prst="rect">
            <a:avLst/>
          </a:prstGeom>
          <a:solidFill>
            <a:srgbClr val="E7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0000" y="4608000"/>
            <a:ext cx="949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B3D4F"/>
                </a:solidFill>
                <a:latin typeface="Yu Gothic"/>
              </a:rPr>
              <a:t>困難事例を「一人で抱えない」体制を点検する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0" y="5003999"/>
            <a:ext cx="949211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・後輩CMが抱える困難事例を把握し、相談できる場をつくる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E3336"/>
                </a:solidFill>
                <a:latin typeface="Yu Gothic"/>
              </a:rPr>
              <a:t>・リスクのある訪問の安全確保(複数訪問・行き先共有)を徹底する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20000"/>
            <a:ext cx="12192119" cy="360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D06A47"/>
                </a:solidFill>
                <a:latin typeface="Yu Gothic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1075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「困難事例」とは、</a:t>
            </a:r>
          </a:p>
          <a:p>
            <a:pPr algn="ctr">
              <a:lnSpc>
                <a:spcPct val="140000"/>
              </a:lnSpc>
            </a:pPr>
            <a:r>
              <a:rPr sz="2500" b="1" i="0">
                <a:solidFill>
                  <a:srgbClr val="FFFFFF"/>
                </a:solidFill>
                <a:latin typeface="Yu Gothic"/>
              </a:rPr>
              <a:t>一人では支えきれない、という合図。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10032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ADE"/>
                </a:solidFill>
                <a:latin typeface="Yu Gothic"/>
              </a:rPr>
              <a:t>解決できないことに立ちすくむより、つながり続けること。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ADE"/>
                </a:solidFill>
                <a:latin typeface="Yu Gothic"/>
              </a:rPr>
              <a:t>一人で抱えるより、つなぎ、分かち合うこと。</a:t>
            </a:r>
          </a:p>
          <a:p>
            <a:pPr algn="ctr">
              <a:lnSpc>
                <a:spcPct val="160000"/>
              </a:lnSpc>
            </a:pPr>
            <a:r>
              <a:rPr sz="1400" b="0" i="0">
                <a:solidFill>
                  <a:srgbClr val="D4DADE"/>
                </a:solidFill>
                <a:latin typeface="Yu Gothic"/>
              </a:rPr>
              <a:t>その積み重ねが、制度のはざまで孤立する誰かを、地域の網で受けとめます。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Yu Gothic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684000"/>
            <a:ext cx="11616119" cy="46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300" b="1" i="0">
                <a:solidFill>
                  <a:srgbClr val="2B3D4F"/>
                </a:solidFill>
                <a:latin typeface="Yu Gothic"/>
              </a:rPr>
              <a:t>参考資料 ・ 情報源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1152000"/>
            <a:ext cx="900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936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 i="0">
                <a:solidFill>
                  <a:srgbClr val="73889C"/>
                </a:solidFill>
                <a:latin typeface="Yu Gothic"/>
              </a:rPr>
              <a:t>主任CM研修 / 困難事例・複合課題への対応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2119" y="6570000"/>
            <a:ext cx="792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 i="0">
                <a:solidFill>
                  <a:srgbClr val="73889C"/>
                </a:solidFill>
                <a:latin typeface="Yu Gothic"/>
              </a:rPr>
              <a:t>31 /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社会福祉法(重層的支援体制整備事業の根拠法)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0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厚生労働省「重層的支援体制整備事業」関連の通知・手引き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5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厚生労働省「地域共生社会」関連資料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9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8050問題・ひきこもり支援に関する厚生労働省・自治体の資料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4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高齢者虐待防止法、養護者支援関連の対応マニュアル(セルフネグレクトの記載)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7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各市町村の重層的支援・包括的相談支援の窓口情報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20000"/>
            <a:ext cx="10752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2E3336"/>
                </a:solidFill>
                <a:latin typeface="Yu Gothic"/>
              </a:rPr>
              <a:t>■ ひきこもり地域支援センター・生活困窮者自立支援・精神保健福祉センター等の情報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788000"/>
            <a:ext cx="11304000" cy="360000"/>
          </a:xfrm>
          <a:prstGeom prst="rect">
            <a:avLst/>
          </a:prstGeom>
          <a:solidFill>
            <a:srgbClr val="CB9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" y="4824000"/>
            <a:ext cx="11160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Yu Gothic"/>
              </a:rPr>
              <a:t>ご注意 ・ 学び続けるために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5148000"/>
            <a:ext cx="11304000" cy="972000"/>
          </a:xfrm>
          <a:prstGeom prst="rect">
            <a:avLst/>
          </a:prstGeom>
          <a:solidFill>
            <a:srgbClr val="FAF1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5184000"/>
            <a:ext cx="11088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重層的支援体制整備事業は市町村の任意事業です。実施状況・窓口は地域ごとに異なります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困難事例への対応は、知識だけでなく「事例を多機関で振り返る」ことを通じて深まります</a:t>
            </a:r>
          </a:p>
          <a:p>
            <a:pPr algn="l"/>
            <a:r>
              <a:rPr sz="1200" b="0" i="0">
                <a:solidFill>
                  <a:srgbClr val="2E3336"/>
                </a:solidFill>
                <a:latin typeface="Yu Gothic"/>
              </a:rPr>
              <a:t>■ 本資料は 2026年5月時点の一般的な情報を基に構成しています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B3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60000" y="2700000"/>
            <a:ext cx="4248000" cy="43200"/>
          </a:xfrm>
          <a:prstGeom prst="rect">
            <a:avLst/>
          </a:prstGeom>
          <a:solidFill>
            <a:srgbClr val="D06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808000"/>
            <a:ext cx="10752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0">
                <a:solidFill>
                  <a:srgbClr val="D06A47"/>
                </a:solidFill>
                <a:latin typeface="Yu Gothic"/>
              </a:rPr>
              <a:t>質疑応答 ・ 事例検討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680000"/>
            <a:ext cx="10752119" cy="5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0">
                <a:solidFill>
                  <a:srgbClr val="D4DADE"/>
                </a:solidFill>
                <a:latin typeface="Yu Gothic"/>
              </a:rPr>
              <a:t>現場で出会った困難事例を持ち寄り、つなぎ方・支え方を一緒に考えましょう。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