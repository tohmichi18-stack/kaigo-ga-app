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x="1219211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80000"/>
            <a:ext cx="12192119" cy="54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500000"/>
            <a:ext cx="12192119" cy="18000"/>
          </a:xfrm>
          <a:prstGeom prst="rect">
            <a:avLst/>
          </a:prstGeom>
          <a:solidFill>
            <a:srgbClr val="375A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0000" y="1440000"/>
            <a:ext cx="10752119" cy="360000"/>
          </a:xfrm>
          <a:prstGeom prst="rect">
            <a:avLst/>
          </a:prstGeom>
          <a:noFill/>
        </p:spPr>
        <p:txBody>
          <a:bodyPr wrap="square" lIns="36000" rIns="36000" tIns="18000" bIns="18000" anchor="t">
            <a:spAutoFit/>
          </a:bodyPr>
          <a:lstStyle/>
          <a:p>
            <a:pPr algn="ctr"/>
            <a:r>
              <a:rPr sz="1800" b="1" i="0">
                <a:solidFill>
                  <a:srgbClr val="C03A2E"/>
                </a:solidFill>
                <a:latin typeface="Yu Gothic"/>
              </a:rPr>
              <a:t>主任介護支援専門員 研修会</a:t>
            </a:r>
          </a:p>
        </p:txBody>
      </p:sp>
      <p:sp>
        <p:nvSpPr>
          <p:cNvPr id="6" name="TextBox 5"/>
          <p:cNvSpPr txBox="1"/>
          <p:nvPr/>
        </p:nvSpPr>
        <p:spPr>
          <a:xfrm>
            <a:off x="360000" y="1980000"/>
            <a:ext cx="11472119" cy="900000"/>
          </a:xfrm>
          <a:prstGeom prst="rect">
            <a:avLst/>
          </a:prstGeom>
          <a:noFill/>
        </p:spPr>
        <p:txBody>
          <a:bodyPr wrap="square" lIns="36000" rIns="36000" tIns="18000" bIns="18000" anchor="t">
            <a:spAutoFit/>
          </a:bodyPr>
          <a:lstStyle/>
          <a:p>
            <a:pPr algn="ctr">
              <a:lnSpc>
                <a:spcPct val="130000"/>
              </a:lnSpc>
            </a:pPr>
            <a:r>
              <a:rPr sz="3000" b="1" i="0">
                <a:solidFill>
                  <a:srgbClr val="FFFFFF"/>
                </a:solidFill>
                <a:latin typeface="Yu Gothic"/>
              </a:rPr>
              <a:t>令和6年度介護報酬改定の振り返りと</a:t>
            </a:r>
          </a:p>
          <a:p>
            <a:pPr algn="ctr">
              <a:lnSpc>
                <a:spcPct val="130000"/>
              </a:lnSpc>
            </a:pPr>
            <a:r>
              <a:rPr sz="3000" b="1" i="0">
                <a:solidFill>
                  <a:srgbClr val="FFFFFF"/>
                </a:solidFill>
                <a:latin typeface="Yu Gothic"/>
              </a:rPr>
              <a:t>令和9年度改定に向けた論点整理</a:t>
            </a:r>
          </a:p>
        </p:txBody>
      </p:sp>
      <p:sp>
        <p:nvSpPr>
          <p:cNvPr id="7" name="TextBox 6"/>
          <p:cNvSpPr txBox="1"/>
          <p:nvPr/>
        </p:nvSpPr>
        <p:spPr>
          <a:xfrm>
            <a:off x="540000" y="3600000"/>
            <a:ext cx="11112119" cy="900000"/>
          </a:xfrm>
          <a:prstGeom prst="rect">
            <a:avLst/>
          </a:prstGeom>
          <a:noFill/>
        </p:spPr>
        <p:txBody>
          <a:bodyPr wrap="square" lIns="36000" rIns="36000" tIns="18000" bIns="18000" anchor="t">
            <a:spAutoFit/>
          </a:bodyPr>
          <a:lstStyle/>
          <a:p>
            <a:pPr algn="ctr">
              <a:lnSpc>
                <a:spcPct val="140000"/>
              </a:lnSpc>
            </a:pPr>
            <a:r>
              <a:rPr sz="1600" b="0" i="0">
                <a:solidFill>
                  <a:srgbClr val="FFFFFF"/>
                </a:solidFill>
                <a:latin typeface="Yu Gothic"/>
              </a:rPr>
              <a:t>ー 特定事業所加算 / ターミナルCM加算など主要加算の運用実態と、</a:t>
            </a:r>
          </a:p>
          <a:p>
            <a:pPr algn="ctr">
              <a:lnSpc>
                <a:spcPct val="140000"/>
              </a:lnSpc>
            </a:pPr>
            <a:r>
              <a:rPr sz="1600" b="0" i="0">
                <a:solidFill>
                  <a:srgbClr val="FFFFFF"/>
                </a:solidFill>
                <a:latin typeface="Yu Gothic"/>
              </a:rPr>
              <a:t>  次期改定に向けた制度設計の動向を読み解く ー</a:t>
            </a:r>
          </a:p>
        </p:txBody>
      </p:sp>
      <p:sp>
        <p:nvSpPr>
          <p:cNvPr id="8" name="TextBox 7"/>
          <p:cNvSpPr txBox="1"/>
          <p:nvPr/>
        </p:nvSpPr>
        <p:spPr>
          <a:xfrm>
            <a:off x="540000" y="4860000"/>
            <a:ext cx="11112119" cy="360000"/>
          </a:xfrm>
          <a:prstGeom prst="rect">
            <a:avLst/>
          </a:prstGeom>
          <a:noFill/>
        </p:spPr>
        <p:txBody>
          <a:bodyPr wrap="square" lIns="36000" rIns="36000" tIns="18000" bIns="18000" anchor="t">
            <a:spAutoFit/>
          </a:bodyPr>
          <a:lstStyle/>
          <a:p>
            <a:pPr algn="ctr">
              <a:lnSpc>
                <a:spcPct val="150000"/>
              </a:lnSpc>
            </a:pPr>
            <a:r>
              <a:rPr sz="1400" b="0" i="0">
                <a:solidFill>
                  <a:srgbClr val="E0A636"/>
                </a:solidFill>
                <a:latin typeface="Yu Gothic"/>
              </a:rPr>
              <a:t>■ R6 改定施行から 2 年経過時点での運用棚卸し</a:t>
            </a:r>
          </a:p>
          <a:p>
            <a:pPr algn="ctr">
              <a:lnSpc>
                <a:spcPct val="150000"/>
              </a:lnSpc>
            </a:pPr>
            <a:r>
              <a:rPr sz="1400" b="0" i="0">
                <a:solidFill>
                  <a:srgbClr val="E0A636"/>
                </a:solidFill>
                <a:latin typeface="Yu Gothic"/>
              </a:rPr>
              <a:t>■ R9 (2027.4) 同時改定の論点を制度設計視点で俯瞰</a:t>
            </a:r>
          </a:p>
        </p:txBody>
      </p:sp>
      <p:sp>
        <p:nvSpPr>
          <p:cNvPr id="9" name="TextBox 8"/>
          <p:cNvSpPr txBox="1"/>
          <p:nvPr/>
        </p:nvSpPr>
        <p:spPr>
          <a:xfrm>
            <a:off x="720000" y="5760000"/>
            <a:ext cx="10752119" cy="360000"/>
          </a:xfrm>
          <a:prstGeom prst="rect">
            <a:avLst/>
          </a:prstGeom>
          <a:noFill/>
        </p:spPr>
        <p:txBody>
          <a:bodyPr wrap="square" lIns="36000" rIns="36000" tIns="18000" bIns="18000" anchor="t">
            <a:spAutoFit/>
          </a:bodyPr>
          <a:lstStyle/>
          <a:p>
            <a:pPr algn="ctr"/>
            <a:r>
              <a:rPr sz="1400" b="0" i="0">
                <a:solidFill>
                  <a:srgbClr val="D6DCE3"/>
                </a:solidFill>
                <a:latin typeface="Yu Gothic"/>
              </a:rPr>
              <a:t>主任ケアマネジャーの会  主催  ・  研修時間 90 分</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Introduction</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本日の研修目標</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2 / 38</a:t>
            </a:r>
          </a:p>
        </p:txBody>
      </p:sp>
      <p:sp>
        <p:nvSpPr>
          <p:cNvPr id="8" name="Rectangle 7"/>
          <p:cNvSpPr/>
          <p:nvPr/>
        </p:nvSpPr>
        <p:spPr>
          <a:xfrm>
            <a:off x="432000" y="1620000"/>
            <a:ext cx="180000" cy="540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000" y="1674000"/>
            <a:ext cx="10932119" cy="432000"/>
          </a:xfrm>
          <a:prstGeom prst="rect">
            <a:avLst/>
          </a:prstGeom>
          <a:noFill/>
        </p:spPr>
        <p:txBody>
          <a:bodyPr wrap="square" lIns="36000" rIns="36000" tIns="18000" bIns="18000" anchor="ctr">
            <a:spAutoFit/>
          </a:bodyPr>
          <a:lstStyle/>
          <a:p>
            <a:pPr algn="l">
              <a:lnSpc>
                <a:spcPct val="130000"/>
              </a:lnSpc>
            </a:pPr>
            <a:r>
              <a:rPr sz="1500" b="0" i="0">
                <a:solidFill>
                  <a:srgbClr val="33383F"/>
                </a:solidFill>
                <a:latin typeface="Yu Gothic"/>
              </a:rPr>
              <a:t>令和6年度改定の居宅介護支援関連の主要変更点を、施行2年経過の視点で棚卸しできる</a:t>
            </a:r>
          </a:p>
        </p:txBody>
      </p:sp>
      <p:sp>
        <p:nvSpPr>
          <p:cNvPr id="10" name="Rectangle 9"/>
          <p:cNvSpPr/>
          <p:nvPr/>
        </p:nvSpPr>
        <p:spPr>
          <a:xfrm>
            <a:off x="432000" y="2268000"/>
            <a:ext cx="180000" cy="540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2322000"/>
            <a:ext cx="10932119" cy="432000"/>
          </a:xfrm>
          <a:prstGeom prst="rect">
            <a:avLst/>
          </a:prstGeom>
          <a:noFill/>
        </p:spPr>
        <p:txBody>
          <a:bodyPr wrap="square" lIns="36000" rIns="36000" tIns="18000" bIns="18000" anchor="ctr">
            <a:spAutoFit/>
          </a:bodyPr>
          <a:lstStyle/>
          <a:p>
            <a:pPr algn="l">
              <a:lnSpc>
                <a:spcPct val="130000"/>
              </a:lnSpc>
            </a:pPr>
            <a:r>
              <a:rPr sz="1500" b="0" i="0">
                <a:solidFill>
                  <a:srgbClr val="33383F"/>
                </a:solidFill>
                <a:latin typeface="Yu Gothic"/>
              </a:rPr>
              <a:t>特定事業所加算(Ⅰ〜Ⅳ)の要件・算定実態・運用上の落とし穴を体系的に整理する</a:t>
            </a:r>
          </a:p>
        </p:txBody>
      </p:sp>
      <p:sp>
        <p:nvSpPr>
          <p:cNvPr id="12" name="Rectangle 11"/>
          <p:cNvSpPr/>
          <p:nvPr/>
        </p:nvSpPr>
        <p:spPr>
          <a:xfrm>
            <a:off x="432000" y="2916000"/>
            <a:ext cx="180000" cy="540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0000" y="2970000"/>
            <a:ext cx="10932119" cy="432000"/>
          </a:xfrm>
          <a:prstGeom prst="rect">
            <a:avLst/>
          </a:prstGeom>
          <a:noFill/>
        </p:spPr>
        <p:txBody>
          <a:bodyPr wrap="square" lIns="36000" rIns="36000" tIns="18000" bIns="18000" anchor="ctr">
            <a:spAutoFit/>
          </a:bodyPr>
          <a:lstStyle/>
          <a:p>
            <a:pPr algn="l">
              <a:lnSpc>
                <a:spcPct val="130000"/>
              </a:lnSpc>
            </a:pPr>
            <a:r>
              <a:rPr sz="1500" b="0" i="0">
                <a:solidFill>
                  <a:srgbClr val="33383F"/>
                </a:solidFill>
                <a:latin typeface="Yu Gothic"/>
              </a:rPr>
              <a:t>ターミナルケアマネジメント加算の算定漏れ・記録不備のリスクを洗い出せる</a:t>
            </a:r>
          </a:p>
        </p:txBody>
      </p:sp>
      <p:sp>
        <p:nvSpPr>
          <p:cNvPr id="14" name="Rectangle 13"/>
          <p:cNvSpPr/>
          <p:nvPr/>
        </p:nvSpPr>
        <p:spPr>
          <a:xfrm>
            <a:off x="432000" y="3564000"/>
            <a:ext cx="180000" cy="540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0000" y="3618000"/>
            <a:ext cx="10932119" cy="432000"/>
          </a:xfrm>
          <a:prstGeom prst="rect">
            <a:avLst/>
          </a:prstGeom>
          <a:noFill/>
        </p:spPr>
        <p:txBody>
          <a:bodyPr wrap="square" lIns="36000" rIns="36000" tIns="18000" bIns="18000" anchor="ctr">
            <a:spAutoFit/>
          </a:bodyPr>
          <a:lstStyle/>
          <a:p>
            <a:pPr algn="l">
              <a:lnSpc>
                <a:spcPct val="130000"/>
              </a:lnSpc>
            </a:pPr>
            <a:r>
              <a:rPr sz="1500" b="0" i="0">
                <a:solidFill>
                  <a:srgbClr val="33383F"/>
                </a:solidFill>
                <a:latin typeface="Yu Gothic"/>
              </a:rPr>
              <a:t>同一建物減算・逓減制・BCP・虐待防止など、改定で論点となった項目を再確認する</a:t>
            </a:r>
          </a:p>
        </p:txBody>
      </p:sp>
      <p:sp>
        <p:nvSpPr>
          <p:cNvPr id="16" name="Rectangle 15"/>
          <p:cNvSpPr/>
          <p:nvPr/>
        </p:nvSpPr>
        <p:spPr>
          <a:xfrm>
            <a:off x="432000" y="4212000"/>
            <a:ext cx="180000" cy="540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0000" y="4266000"/>
            <a:ext cx="10932119" cy="432000"/>
          </a:xfrm>
          <a:prstGeom prst="rect">
            <a:avLst/>
          </a:prstGeom>
          <a:noFill/>
        </p:spPr>
        <p:txBody>
          <a:bodyPr wrap="square" lIns="36000" rIns="36000" tIns="18000" bIns="18000" anchor="ctr">
            <a:spAutoFit/>
          </a:bodyPr>
          <a:lstStyle/>
          <a:p>
            <a:pPr algn="l">
              <a:lnSpc>
                <a:spcPct val="130000"/>
              </a:lnSpc>
            </a:pPr>
            <a:r>
              <a:rPr sz="1500" b="0" i="0">
                <a:solidFill>
                  <a:srgbClr val="33383F"/>
                </a:solidFill>
                <a:latin typeface="Yu Gothic"/>
              </a:rPr>
              <a:t>令和9年度改定(同時改定)に向けた制度設計の方向性を理解する</a:t>
            </a:r>
          </a:p>
        </p:txBody>
      </p:sp>
      <p:sp>
        <p:nvSpPr>
          <p:cNvPr id="18" name="Rectangle 17"/>
          <p:cNvSpPr/>
          <p:nvPr/>
        </p:nvSpPr>
        <p:spPr>
          <a:xfrm>
            <a:off x="432000" y="4860000"/>
            <a:ext cx="180000" cy="540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0000" y="4914000"/>
            <a:ext cx="10932119" cy="432000"/>
          </a:xfrm>
          <a:prstGeom prst="rect">
            <a:avLst/>
          </a:prstGeom>
          <a:noFill/>
        </p:spPr>
        <p:txBody>
          <a:bodyPr wrap="square" lIns="36000" rIns="36000" tIns="18000" bIns="18000" anchor="ctr">
            <a:spAutoFit/>
          </a:bodyPr>
          <a:lstStyle/>
          <a:p>
            <a:pPr algn="l">
              <a:lnSpc>
                <a:spcPct val="130000"/>
              </a:lnSpc>
            </a:pPr>
            <a:r>
              <a:rPr sz="1500" b="0" i="0">
                <a:solidFill>
                  <a:srgbClr val="33383F"/>
                </a:solidFill>
                <a:latin typeface="Yu Gothic"/>
              </a:rPr>
              <a:t>主任CMとして、事業所内・地域でどう情報を共有し議論を導くかを持ち帰る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Agenda</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本日の流れ(90分)</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3 / 38</a:t>
            </a:r>
          </a:p>
        </p:txBody>
      </p:sp>
      <p:sp>
        <p:nvSpPr>
          <p:cNvPr id="8" name="Oval 7"/>
          <p:cNvSpPr/>
          <p:nvPr/>
        </p:nvSpPr>
        <p:spPr>
          <a:xfrm>
            <a:off x="540000" y="1620000"/>
            <a:ext cx="432000" cy="432000"/>
          </a:xfrm>
          <a:prstGeom prst="ellipse">
            <a:avLst/>
          </a:prstGeom>
          <a:solidFill>
            <a:srgbClr val="375A7F"/>
          </a:solidFill>
          <a:ln>
            <a:noFill/>
          </a:ln>
        </p:spPr>
        <p:style>
          <a:lnRef idx="1">
            <a:schemeClr val="accent1"/>
          </a:lnRef>
          <a:fillRef idx="3">
            <a:schemeClr val="accent1"/>
          </a:fillRef>
          <a:effectRef idx="2">
            <a:schemeClr val="accent1"/>
          </a:effectRef>
          <a:fontRef idx="minor">
            <a:schemeClr val="lt1"/>
          </a:fontRef>
        </p:style>
        <p:txBody>
          <a:bodyPr rtlCol="0" anchor="ctr" tIns="0"/>
          <a:lstStyle/>
          <a:p>
            <a:pPr algn="ctr"/>
            <a:r>
              <a:rPr sz="1800" b="1">
                <a:solidFill>
                  <a:srgbClr val="FFFFFF"/>
                </a:solidFill>
                <a:latin typeface="Yu Gothic"/>
              </a:rPr>
              <a:t>1</a:t>
            </a:r>
          </a:p>
        </p:txBody>
      </p:sp>
      <p:sp>
        <p:nvSpPr>
          <p:cNvPr id="9" name="TextBox 8"/>
          <p:cNvSpPr txBox="1"/>
          <p:nvPr/>
        </p:nvSpPr>
        <p:spPr>
          <a:xfrm>
            <a:off x="1152000" y="1674000"/>
            <a:ext cx="7920000" cy="360000"/>
          </a:xfrm>
          <a:prstGeom prst="rect">
            <a:avLst/>
          </a:prstGeom>
          <a:noFill/>
        </p:spPr>
        <p:txBody>
          <a:bodyPr wrap="square" lIns="36000" rIns="36000" tIns="18000" bIns="18000" anchor="t">
            <a:spAutoFit/>
          </a:bodyPr>
          <a:lstStyle/>
          <a:p>
            <a:pPr algn="l"/>
            <a:r>
              <a:rPr sz="1700" b="1" i="0">
                <a:solidFill>
                  <a:srgbClr val="142B4A"/>
                </a:solidFill>
                <a:latin typeface="Yu Gothic"/>
              </a:rPr>
              <a:t>令和6年度改定の全体像 ― 何が変わったか</a:t>
            </a:r>
          </a:p>
        </p:txBody>
      </p:sp>
      <p:sp>
        <p:nvSpPr>
          <p:cNvPr id="10" name="TextBox 9"/>
          <p:cNvSpPr txBox="1"/>
          <p:nvPr/>
        </p:nvSpPr>
        <p:spPr>
          <a:xfrm>
            <a:off x="10752119" y="1692000"/>
            <a:ext cx="1080000" cy="360000"/>
          </a:xfrm>
          <a:prstGeom prst="rect">
            <a:avLst/>
          </a:prstGeom>
          <a:noFill/>
        </p:spPr>
        <p:txBody>
          <a:bodyPr wrap="square" lIns="36000" rIns="36000" tIns="18000" bIns="18000" anchor="t">
            <a:spAutoFit/>
          </a:bodyPr>
          <a:lstStyle/>
          <a:p>
            <a:pPr algn="r"/>
            <a:r>
              <a:rPr sz="1400" b="1" i="0">
                <a:solidFill>
                  <a:srgbClr val="C03A2E"/>
                </a:solidFill>
                <a:latin typeface="Yu Gothic"/>
              </a:rPr>
              <a:t>10分</a:t>
            </a:r>
          </a:p>
        </p:txBody>
      </p:sp>
      <p:sp>
        <p:nvSpPr>
          <p:cNvPr id="11" name="Oval 10"/>
          <p:cNvSpPr/>
          <p:nvPr/>
        </p:nvSpPr>
        <p:spPr>
          <a:xfrm>
            <a:off x="540000" y="2178000"/>
            <a:ext cx="432000" cy="432000"/>
          </a:xfrm>
          <a:prstGeom prst="ellipse">
            <a:avLst/>
          </a:prstGeom>
          <a:solidFill>
            <a:srgbClr val="375A7F"/>
          </a:solidFill>
          <a:ln>
            <a:noFill/>
          </a:ln>
        </p:spPr>
        <p:style>
          <a:lnRef idx="1">
            <a:schemeClr val="accent1"/>
          </a:lnRef>
          <a:fillRef idx="3">
            <a:schemeClr val="accent1"/>
          </a:fillRef>
          <a:effectRef idx="2">
            <a:schemeClr val="accent1"/>
          </a:effectRef>
          <a:fontRef idx="minor">
            <a:schemeClr val="lt1"/>
          </a:fontRef>
        </p:style>
        <p:txBody>
          <a:bodyPr rtlCol="0" anchor="ctr" tIns="0"/>
          <a:lstStyle/>
          <a:p>
            <a:pPr algn="ctr"/>
            <a:r>
              <a:rPr sz="1800" b="1">
                <a:solidFill>
                  <a:srgbClr val="FFFFFF"/>
                </a:solidFill>
                <a:latin typeface="Yu Gothic"/>
              </a:rPr>
              <a:t>2</a:t>
            </a:r>
          </a:p>
        </p:txBody>
      </p:sp>
      <p:sp>
        <p:nvSpPr>
          <p:cNvPr id="12" name="TextBox 11"/>
          <p:cNvSpPr txBox="1"/>
          <p:nvPr/>
        </p:nvSpPr>
        <p:spPr>
          <a:xfrm>
            <a:off x="1152000" y="2232000"/>
            <a:ext cx="7920000" cy="360000"/>
          </a:xfrm>
          <a:prstGeom prst="rect">
            <a:avLst/>
          </a:prstGeom>
          <a:noFill/>
        </p:spPr>
        <p:txBody>
          <a:bodyPr wrap="square" lIns="36000" rIns="36000" tIns="18000" bIns="18000" anchor="t">
            <a:spAutoFit/>
          </a:bodyPr>
          <a:lstStyle/>
          <a:p>
            <a:pPr algn="l"/>
            <a:r>
              <a:rPr sz="1700" b="1" i="0">
                <a:solidFill>
                  <a:srgbClr val="142B4A"/>
                </a:solidFill>
                <a:latin typeface="Yu Gothic"/>
              </a:rPr>
              <a:t>特定事業所加算 ― 要件・実態・運用上の論点</a:t>
            </a:r>
          </a:p>
        </p:txBody>
      </p:sp>
      <p:sp>
        <p:nvSpPr>
          <p:cNvPr id="13" name="TextBox 12"/>
          <p:cNvSpPr txBox="1"/>
          <p:nvPr/>
        </p:nvSpPr>
        <p:spPr>
          <a:xfrm>
            <a:off x="10752119" y="2250000"/>
            <a:ext cx="1080000" cy="360000"/>
          </a:xfrm>
          <a:prstGeom prst="rect">
            <a:avLst/>
          </a:prstGeom>
          <a:noFill/>
        </p:spPr>
        <p:txBody>
          <a:bodyPr wrap="square" lIns="36000" rIns="36000" tIns="18000" bIns="18000" anchor="t">
            <a:spAutoFit/>
          </a:bodyPr>
          <a:lstStyle/>
          <a:p>
            <a:pPr algn="r"/>
            <a:r>
              <a:rPr sz="1400" b="1" i="0">
                <a:solidFill>
                  <a:srgbClr val="C03A2E"/>
                </a:solidFill>
                <a:latin typeface="Yu Gothic"/>
              </a:rPr>
              <a:t>20分</a:t>
            </a:r>
          </a:p>
        </p:txBody>
      </p:sp>
      <p:sp>
        <p:nvSpPr>
          <p:cNvPr id="14" name="Oval 13"/>
          <p:cNvSpPr/>
          <p:nvPr/>
        </p:nvSpPr>
        <p:spPr>
          <a:xfrm>
            <a:off x="540000" y="2736000"/>
            <a:ext cx="432000" cy="432000"/>
          </a:xfrm>
          <a:prstGeom prst="ellipse">
            <a:avLst/>
          </a:prstGeom>
          <a:solidFill>
            <a:srgbClr val="375A7F"/>
          </a:solidFill>
          <a:ln>
            <a:noFill/>
          </a:ln>
        </p:spPr>
        <p:style>
          <a:lnRef idx="1">
            <a:schemeClr val="accent1"/>
          </a:lnRef>
          <a:fillRef idx="3">
            <a:schemeClr val="accent1"/>
          </a:fillRef>
          <a:effectRef idx="2">
            <a:schemeClr val="accent1"/>
          </a:effectRef>
          <a:fontRef idx="minor">
            <a:schemeClr val="lt1"/>
          </a:fontRef>
        </p:style>
        <p:txBody>
          <a:bodyPr rtlCol="0" anchor="ctr" tIns="0"/>
          <a:lstStyle/>
          <a:p>
            <a:pPr algn="ctr"/>
            <a:r>
              <a:rPr sz="1800" b="1">
                <a:solidFill>
                  <a:srgbClr val="FFFFFF"/>
                </a:solidFill>
                <a:latin typeface="Yu Gothic"/>
              </a:rPr>
              <a:t>3</a:t>
            </a:r>
          </a:p>
        </p:txBody>
      </p:sp>
      <p:sp>
        <p:nvSpPr>
          <p:cNvPr id="15" name="TextBox 14"/>
          <p:cNvSpPr txBox="1"/>
          <p:nvPr/>
        </p:nvSpPr>
        <p:spPr>
          <a:xfrm>
            <a:off x="1152000" y="2790000"/>
            <a:ext cx="7920000" cy="360000"/>
          </a:xfrm>
          <a:prstGeom prst="rect">
            <a:avLst/>
          </a:prstGeom>
          <a:noFill/>
        </p:spPr>
        <p:txBody>
          <a:bodyPr wrap="square" lIns="36000" rIns="36000" tIns="18000" bIns="18000" anchor="t">
            <a:spAutoFit/>
          </a:bodyPr>
          <a:lstStyle/>
          <a:p>
            <a:pPr algn="l"/>
            <a:r>
              <a:rPr sz="1700" b="1" i="0">
                <a:solidFill>
                  <a:srgbClr val="142B4A"/>
                </a:solidFill>
                <a:latin typeface="Yu Gothic"/>
              </a:rPr>
              <a:t>ターミナルケアマネジメント加算 ― 算定漏れを防ぐ</a:t>
            </a:r>
          </a:p>
        </p:txBody>
      </p:sp>
      <p:sp>
        <p:nvSpPr>
          <p:cNvPr id="16" name="TextBox 15"/>
          <p:cNvSpPr txBox="1"/>
          <p:nvPr/>
        </p:nvSpPr>
        <p:spPr>
          <a:xfrm>
            <a:off x="10752119" y="2808000"/>
            <a:ext cx="1080000" cy="360000"/>
          </a:xfrm>
          <a:prstGeom prst="rect">
            <a:avLst/>
          </a:prstGeom>
          <a:noFill/>
        </p:spPr>
        <p:txBody>
          <a:bodyPr wrap="square" lIns="36000" rIns="36000" tIns="18000" bIns="18000" anchor="t">
            <a:spAutoFit/>
          </a:bodyPr>
          <a:lstStyle/>
          <a:p>
            <a:pPr algn="r"/>
            <a:r>
              <a:rPr sz="1400" b="1" i="0">
                <a:solidFill>
                  <a:srgbClr val="C03A2E"/>
                </a:solidFill>
                <a:latin typeface="Yu Gothic"/>
              </a:rPr>
              <a:t>15分</a:t>
            </a:r>
          </a:p>
        </p:txBody>
      </p:sp>
      <p:sp>
        <p:nvSpPr>
          <p:cNvPr id="17" name="Oval 16"/>
          <p:cNvSpPr/>
          <p:nvPr/>
        </p:nvSpPr>
        <p:spPr>
          <a:xfrm>
            <a:off x="540000" y="3294000"/>
            <a:ext cx="432000" cy="432000"/>
          </a:xfrm>
          <a:prstGeom prst="ellipse">
            <a:avLst/>
          </a:prstGeom>
          <a:solidFill>
            <a:srgbClr val="375A7F"/>
          </a:solidFill>
          <a:ln>
            <a:noFill/>
          </a:ln>
        </p:spPr>
        <p:style>
          <a:lnRef idx="1">
            <a:schemeClr val="accent1"/>
          </a:lnRef>
          <a:fillRef idx="3">
            <a:schemeClr val="accent1"/>
          </a:fillRef>
          <a:effectRef idx="2">
            <a:schemeClr val="accent1"/>
          </a:effectRef>
          <a:fontRef idx="minor">
            <a:schemeClr val="lt1"/>
          </a:fontRef>
        </p:style>
        <p:txBody>
          <a:bodyPr rtlCol="0" anchor="ctr" tIns="0"/>
          <a:lstStyle/>
          <a:p>
            <a:pPr algn="ctr"/>
            <a:r>
              <a:rPr sz="1800" b="1">
                <a:solidFill>
                  <a:srgbClr val="FFFFFF"/>
                </a:solidFill>
                <a:latin typeface="Yu Gothic"/>
              </a:rPr>
              <a:t>4</a:t>
            </a:r>
          </a:p>
        </p:txBody>
      </p:sp>
      <p:sp>
        <p:nvSpPr>
          <p:cNvPr id="18" name="TextBox 17"/>
          <p:cNvSpPr txBox="1"/>
          <p:nvPr/>
        </p:nvSpPr>
        <p:spPr>
          <a:xfrm>
            <a:off x="1152000" y="3348000"/>
            <a:ext cx="7920000" cy="360000"/>
          </a:xfrm>
          <a:prstGeom prst="rect">
            <a:avLst/>
          </a:prstGeom>
          <a:noFill/>
        </p:spPr>
        <p:txBody>
          <a:bodyPr wrap="square" lIns="36000" rIns="36000" tIns="18000" bIns="18000" anchor="t">
            <a:spAutoFit/>
          </a:bodyPr>
          <a:lstStyle/>
          <a:p>
            <a:pPr algn="l"/>
            <a:r>
              <a:rPr sz="1700" b="1" i="0">
                <a:solidFill>
                  <a:srgbClr val="142B4A"/>
                </a:solidFill>
                <a:latin typeface="Yu Gothic"/>
              </a:rPr>
              <a:t>その他 R6 改定の論点 ― 減算・逓減制・BCP・LIFE</a:t>
            </a:r>
          </a:p>
        </p:txBody>
      </p:sp>
      <p:sp>
        <p:nvSpPr>
          <p:cNvPr id="19" name="TextBox 18"/>
          <p:cNvSpPr txBox="1"/>
          <p:nvPr/>
        </p:nvSpPr>
        <p:spPr>
          <a:xfrm>
            <a:off x="10752119" y="3366000"/>
            <a:ext cx="1080000" cy="360000"/>
          </a:xfrm>
          <a:prstGeom prst="rect">
            <a:avLst/>
          </a:prstGeom>
          <a:noFill/>
        </p:spPr>
        <p:txBody>
          <a:bodyPr wrap="square" lIns="36000" rIns="36000" tIns="18000" bIns="18000" anchor="t">
            <a:spAutoFit/>
          </a:bodyPr>
          <a:lstStyle/>
          <a:p>
            <a:pPr algn="r"/>
            <a:r>
              <a:rPr sz="1400" b="1" i="0">
                <a:solidFill>
                  <a:srgbClr val="C03A2E"/>
                </a:solidFill>
                <a:latin typeface="Yu Gothic"/>
              </a:rPr>
              <a:t>15分</a:t>
            </a:r>
          </a:p>
        </p:txBody>
      </p:sp>
      <p:sp>
        <p:nvSpPr>
          <p:cNvPr id="20" name="Oval 19"/>
          <p:cNvSpPr/>
          <p:nvPr/>
        </p:nvSpPr>
        <p:spPr>
          <a:xfrm>
            <a:off x="540000" y="3852000"/>
            <a:ext cx="432000" cy="432000"/>
          </a:xfrm>
          <a:prstGeom prst="ellipse">
            <a:avLst/>
          </a:prstGeom>
          <a:solidFill>
            <a:srgbClr val="375A7F"/>
          </a:solidFill>
          <a:ln>
            <a:noFill/>
          </a:ln>
        </p:spPr>
        <p:style>
          <a:lnRef idx="1">
            <a:schemeClr val="accent1"/>
          </a:lnRef>
          <a:fillRef idx="3">
            <a:schemeClr val="accent1"/>
          </a:fillRef>
          <a:effectRef idx="2">
            <a:schemeClr val="accent1"/>
          </a:effectRef>
          <a:fontRef idx="minor">
            <a:schemeClr val="lt1"/>
          </a:fontRef>
        </p:style>
        <p:txBody>
          <a:bodyPr rtlCol="0" anchor="ctr" tIns="0"/>
          <a:lstStyle/>
          <a:p>
            <a:pPr algn="ctr"/>
            <a:r>
              <a:rPr sz="1800" b="1">
                <a:solidFill>
                  <a:srgbClr val="FFFFFF"/>
                </a:solidFill>
                <a:latin typeface="Yu Gothic"/>
              </a:rPr>
              <a:t>5</a:t>
            </a:r>
          </a:p>
        </p:txBody>
      </p:sp>
      <p:sp>
        <p:nvSpPr>
          <p:cNvPr id="21" name="TextBox 20"/>
          <p:cNvSpPr txBox="1"/>
          <p:nvPr/>
        </p:nvSpPr>
        <p:spPr>
          <a:xfrm>
            <a:off x="1152000" y="3906000"/>
            <a:ext cx="7920000" cy="360000"/>
          </a:xfrm>
          <a:prstGeom prst="rect">
            <a:avLst/>
          </a:prstGeom>
          <a:noFill/>
        </p:spPr>
        <p:txBody>
          <a:bodyPr wrap="square" lIns="36000" rIns="36000" tIns="18000" bIns="18000" anchor="t">
            <a:spAutoFit/>
          </a:bodyPr>
          <a:lstStyle/>
          <a:p>
            <a:pPr algn="l"/>
            <a:r>
              <a:rPr sz="1700" b="1" i="0">
                <a:solidFill>
                  <a:srgbClr val="142B4A"/>
                </a:solidFill>
                <a:latin typeface="Yu Gothic"/>
              </a:rPr>
              <a:t>R6 改定の運用棚卸し ― 自事業所点検チェック</a:t>
            </a:r>
          </a:p>
        </p:txBody>
      </p:sp>
      <p:sp>
        <p:nvSpPr>
          <p:cNvPr id="22" name="TextBox 21"/>
          <p:cNvSpPr txBox="1"/>
          <p:nvPr/>
        </p:nvSpPr>
        <p:spPr>
          <a:xfrm>
            <a:off x="10752119" y="3924000"/>
            <a:ext cx="1080000" cy="360000"/>
          </a:xfrm>
          <a:prstGeom prst="rect">
            <a:avLst/>
          </a:prstGeom>
          <a:noFill/>
        </p:spPr>
        <p:txBody>
          <a:bodyPr wrap="square" lIns="36000" rIns="36000" tIns="18000" bIns="18000" anchor="t">
            <a:spAutoFit/>
          </a:bodyPr>
          <a:lstStyle/>
          <a:p>
            <a:pPr algn="r"/>
            <a:r>
              <a:rPr sz="1400" b="1" i="0">
                <a:solidFill>
                  <a:srgbClr val="C03A2E"/>
                </a:solidFill>
                <a:latin typeface="Yu Gothic"/>
              </a:rPr>
              <a:t>10分</a:t>
            </a:r>
          </a:p>
        </p:txBody>
      </p:sp>
      <p:sp>
        <p:nvSpPr>
          <p:cNvPr id="23" name="Oval 22"/>
          <p:cNvSpPr/>
          <p:nvPr/>
        </p:nvSpPr>
        <p:spPr>
          <a:xfrm>
            <a:off x="540000" y="4410000"/>
            <a:ext cx="432000" cy="432000"/>
          </a:xfrm>
          <a:prstGeom prst="ellipse">
            <a:avLst/>
          </a:prstGeom>
          <a:solidFill>
            <a:srgbClr val="375A7F"/>
          </a:solidFill>
          <a:ln>
            <a:noFill/>
          </a:ln>
        </p:spPr>
        <p:style>
          <a:lnRef idx="1">
            <a:schemeClr val="accent1"/>
          </a:lnRef>
          <a:fillRef idx="3">
            <a:schemeClr val="accent1"/>
          </a:fillRef>
          <a:effectRef idx="2">
            <a:schemeClr val="accent1"/>
          </a:effectRef>
          <a:fontRef idx="minor">
            <a:schemeClr val="lt1"/>
          </a:fontRef>
        </p:style>
        <p:txBody>
          <a:bodyPr rtlCol="0" anchor="ctr" tIns="0"/>
          <a:lstStyle/>
          <a:p>
            <a:pPr algn="ctr"/>
            <a:r>
              <a:rPr sz="1800" b="1">
                <a:solidFill>
                  <a:srgbClr val="FFFFFF"/>
                </a:solidFill>
                <a:latin typeface="Yu Gothic"/>
              </a:rPr>
              <a:t>6</a:t>
            </a:r>
          </a:p>
        </p:txBody>
      </p:sp>
      <p:sp>
        <p:nvSpPr>
          <p:cNvPr id="24" name="TextBox 23"/>
          <p:cNvSpPr txBox="1"/>
          <p:nvPr/>
        </p:nvSpPr>
        <p:spPr>
          <a:xfrm>
            <a:off x="1152000" y="4464000"/>
            <a:ext cx="7920000" cy="360000"/>
          </a:xfrm>
          <a:prstGeom prst="rect">
            <a:avLst/>
          </a:prstGeom>
          <a:noFill/>
        </p:spPr>
        <p:txBody>
          <a:bodyPr wrap="square" lIns="36000" rIns="36000" tIns="18000" bIns="18000" anchor="t">
            <a:spAutoFit/>
          </a:bodyPr>
          <a:lstStyle/>
          <a:p>
            <a:pPr algn="l"/>
            <a:r>
              <a:rPr sz="1700" b="1" i="0">
                <a:solidFill>
                  <a:srgbClr val="142B4A"/>
                </a:solidFill>
                <a:latin typeface="Yu Gothic"/>
              </a:rPr>
              <a:t>令和9年度改定に向けた論点(制度設計視点)</a:t>
            </a:r>
          </a:p>
        </p:txBody>
      </p:sp>
      <p:sp>
        <p:nvSpPr>
          <p:cNvPr id="25" name="TextBox 24"/>
          <p:cNvSpPr txBox="1"/>
          <p:nvPr/>
        </p:nvSpPr>
        <p:spPr>
          <a:xfrm>
            <a:off x="10752119" y="4482000"/>
            <a:ext cx="1080000" cy="360000"/>
          </a:xfrm>
          <a:prstGeom prst="rect">
            <a:avLst/>
          </a:prstGeom>
          <a:noFill/>
        </p:spPr>
        <p:txBody>
          <a:bodyPr wrap="square" lIns="36000" rIns="36000" tIns="18000" bIns="18000" anchor="t">
            <a:spAutoFit/>
          </a:bodyPr>
          <a:lstStyle/>
          <a:p>
            <a:pPr algn="r"/>
            <a:r>
              <a:rPr sz="1400" b="1" i="0">
                <a:solidFill>
                  <a:srgbClr val="C03A2E"/>
                </a:solidFill>
                <a:latin typeface="Yu Gothic"/>
              </a:rPr>
              <a:t>15分</a:t>
            </a:r>
          </a:p>
        </p:txBody>
      </p:sp>
      <p:sp>
        <p:nvSpPr>
          <p:cNvPr id="26" name="Oval 25"/>
          <p:cNvSpPr/>
          <p:nvPr/>
        </p:nvSpPr>
        <p:spPr>
          <a:xfrm>
            <a:off x="540000" y="4968000"/>
            <a:ext cx="432000" cy="432000"/>
          </a:xfrm>
          <a:prstGeom prst="ellipse">
            <a:avLst/>
          </a:prstGeom>
          <a:solidFill>
            <a:srgbClr val="375A7F"/>
          </a:solidFill>
          <a:ln>
            <a:noFill/>
          </a:ln>
        </p:spPr>
        <p:style>
          <a:lnRef idx="1">
            <a:schemeClr val="accent1"/>
          </a:lnRef>
          <a:fillRef idx="3">
            <a:schemeClr val="accent1"/>
          </a:fillRef>
          <a:effectRef idx="2">
            <a:schemeClr val="accent1"/>
          </a:effectRef>
          <a:fontRef idx="minor">
            <a:schemeClr val="lt1"/>
          </a:fontRef>
        </p:style>
        <p:txBody>
          <a:bodyPr rtlCol="0" anchor="ctr" tIns="0"/>
          <a:lstStyle/>
          <a:p>
            <a:pPr algn="ctr"/>
            <a:r>
              <a:rPr sz="1800" b="1">
                <a:solidFill>
                  <a:srgbClr val="FFFFFF"/>
                </a:solidFill>
                <a:latin typeface="Yu Gothic"/>
              </a:rPr>
              <a:t>7</a:t>
            </a:r>
          </a:p>
        </p:txBody>
      </p:sp>
      <p:sp>
        <p:nvSpPr>
          <p:cNvPr id="27" name="TextBox 26"/>
          <p:cNvSpPr txBox="1"/>
          <p:nvPr/>
        </p:nvSpPr>
        <p:spPr>
          <a:xfrm>
            <a:off x="1152000" y="5022000"/>
            <a:ext cx="7920000" cy="360000"/>
          </a:xfrm>
          <a:prstGeom prst="rect">
            <a:avLst/>
          </a:prstGeom>
          <a:noFill/>
        </p:spPr>
        <p:txBody>
          <a:bodyPr wrap="square" lIns="36000" rIns="36000" tIns="18000" bIns="18000" anchor="t">
            <a:spAutoFit/>
          </a:bodyPr>
          <a:lstStyle/>
          <a:p>
            <a:pPr algn="l"/>
            <a:r>
              <a:rPr sz="1700" b="1" i="0">
                <a:solidFill>
                  <a:srgbClr val="142B4A"/>
                </a:solidFill>
                <a:latin typeface="Yu Gothic"/>
              </a:rPr>
              <a:t>主任CMが事業所・地域に持ち帰るもの</a:t>
            </a:r>
          </a:p>
        </p:txBody>
      </p:sp>
      <p:sp>
        <p:nvSpPr>
          <p:cNvPr id="28" name="TextBox 27"/>
          <p:cNvSpPr txBox="1"/>
          <p:nvPr/>
        </p:nvSpPr>
        <p:spPr>
          <a:xfrm>
            <a:off x="10752119" y="5040000"/>
            <a:ext cx="1080000" cy="360000"/>
          </a:xfrm>
          <a:prstGeom prst="rect">
            <a:avLst/>
          </a:prstGeom>
          <a:noFill/>
        </p:spPr>
        <p:txBody>
          <a:bodyPr wrap="square" lIns="36000" rIns="36000" tIns="18000" bIns="18000" anchor="t">
            <a:spAutoFit/>
          </a:bodyPr>
          <a:lstStyle/>
          <a:p>
            <a:pPr algn="r"/>
            <a:r>
              <a:rPr sz="1400" b="1" i="0">
                <a:solidFill>
                  <a:srgbClr val="C03A2E"/>
                </a:solidFill>
                <a:latin typeface="Yu Gothic"/>
              </a:rPr>
              <a:t> 5分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0000"/>
            <a:ext cx="12192119" cy="36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340000"/>
            <a:ext cx="10752119" cy="540000"/>
          </a:xfrm>
          <a:prstGeom prst="rect">
            <a:avLst/>
          </a:prstGeom>
          <a:noFill/>
        </p:spPr>
        <p:txBody>
          <a:bodyPr wrap="square" lIns="36000" rIns="36000" tIns="18000" bIns="18000" anchor="t">
            <a:spAutoFit/>
          </a:bodyPr>
          <a:lstStyle/>
          <a:p>
            <a:pPr algn="ctr"/>
            <a:r>
              <a:rPr sz="2200" b="1" i="0">
                <a:solidFill>
                  <a:srgbClr val="C03A2E"/>
                </a:solidFill>
                <a:latin typeface="Yu Gothic"/>
              </a:rPr>
              <a:t>PART 1</a:t>
            </a:r>
          </a:p>
        </p:txBody>
      </p:sp>
      <p:sp>
        <p:nvSpPr>
          <p:cNvPr id="5" name="TextBox 4"/>
          <p:cNvSpPr txBox="1"/>
          <p:nvPr/>
        </p:nvSpPr>
        <p:spPr>
          <a:xfrm>
            <a:off x="360000" y="3420000"/>
            <a:ext cx="11472119" cy="720000"/>
          </a:xfrm>
          <a:prstGeom prst="rect">
            <a:avLst/>
          </a:prstGeom>
          <a:noFill/>
        </p:spPr>
        <p:txBody>
          <a:bodyPr wrap="square" lIns="36000" rIns="36000" tIns="18000" bIns="18000" anchor="t">
            <a:spAutoFit/>
          </a:bodyPr>
          <a:lstStyle/>
          <a:p>
            <a:pPr algn="ctr"/>
            <a:r>
              <a:rPr sz="3600" b="1" i="0">
                <a:solidFill>
                  <a:srgbClr val="FFFFFF"/>
                </a:solidFill>
                <a:latin typeface="Yu Gothic"/>
              </a:rPr>
              <a:t>令和6年度改定の全体像</a:t>
            </a:r>
          </a:p>
        </p:txBody>
      </p:sp>
      <p:sp>
        <p:nvSpPr>
          <p:cNvPr id="6" name="TextBox 5"/>
          <p:cNvSpPr txBox="1"/>
          <p:nvPr/>
        </p:nvSpPr>
        <p:spPr>
          <a:xfrm>
            <a:off x="360000" y="4680000"/>
            <a:ext cx="11472119" cy="360000"/>
          </a:xfrm>
          <a:prstGeom prst="rect">
            <a:avLst/>
          </a:prstGeom>
          <a:noFill/>
        </p:spPr>
        <p:txBody>
          <a:bodyPr wrap="square" lIns="36000" rIns="36000" tIns="18000" bIns="18000" anchor="t">
            <a:spAutoFit/>
          </a:bodyPr>
          <a:lstStyle/>
          <a:p>
            <a:pPr algn="ctr"/>
            <a:r>
              <a:rPr sz="1400" b="0" i="0">
                <a:solidFill>
                  <a:srgbClr val="D6DCE3"/>
                </a:solidFill>
                <a:latin typeface="Yu Gothic"/>
              </a:rPr>
              <a:t>Overview of the FY2024 Revision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1. R6改定の全体像</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R6改定の位置づけ ― 「3 年に 1 度」「同時改定」の意味</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5 / 38</a:t>
            </a:r>
          </a:p>
        </p:txBody>
      </p:sp>
      <p:sp>
        <p:nvSpPr>
          <p:cNvPr id="8" name="Rectangle 7"/>
          <p:cNvSpPr/>
          <p:nvPr/>
        </p:nvSpPr>
        <p:spPr>
          <a:xfrm>
            <a:off x="390059" y="1620000"/>
            <a:ext cx="2772000" cy="432000"/>
          </a:xfrm>
          <a:prstGeom prst="rect">
            <a:avLst/>
          </a:prstGeom>
          <a:solidFill>
            <a:srgbClr val="375A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2059" y="1674000"/>
            <a:ext cx="2628000" cy="360000"/>
          </a:xfrm>
          <a:prstGeom prst="rect">
            <a:avLst/>
          </a:prstGeom>
          <a:noFill/>
        </p:spPr>
        <p:txBody>
          <a:bodyPr wrap="square" lIns="36000" rIns="36000" tIns="18000" bIns="18000" anchor="ctr">
            <a:spAutoFit/>
          </a:bodyPr>
          <a:lstStyle/>
          <a:p>
            <a:pPr algn="ctr"/>
            <a:r>
              <a:rPr sz="1500" b="1" i="0">
                <a:solidFill>
                  <a:srgbClr val="FFFFFF"/>
                </a:solidFill>
                <a:latin typeface="Yu Gothic"/>
              </a:rPr>
              <a:t>R3 (2021)</a:t>
            </a:r>
          </a:p>
        </p:txBody>
      </p:sp>
      <p:sp>
        <p:nvSpPr>
          <p:cNvPr id="10" name="Rectangle 9"/>
          <p:cNvSpPr/>
          <p:nvPr/>
        </p:nvSpPr>
        <p:spPr>
          <a:xfrm>
            <a:off x="390059" y="2052000"/>
            <a:ext cx="2772000" cy="1368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2059" y="2088000"/>
            <a:ext cx="2628000" cy="360000"/>
          </a:xfrm>
          <a:prstGeom prst="rect">
            <a:avLst/>
          </a:prstGeom>
          <a:noFill/>
        </p:spPr>
        <p:txBody>
          <a:bodyPr wrap="square" lIns="36000" rIns="36000" tIns="18000" bIns="18000" anchor="t">
            <a:spAutoFit/>
          </a:bodyPr>
          <a:lstStyle/>
          <a:p>
            <a:pPr algn="ctr"/>
            <a:r>
              <a:rPr sz="1300" b="1" i="0">
                <a:solidFill>
                  <a:srgbClr val="375A7F"/>
                </a:solidFill>
                <a:latin typeface="Yu Gothic"/>
              </a:rPr>
              <a:t>介護のみ</a:t>
            </a:r>
          </a:p>
        </p:txBody>
      </p:sp>
      <p:sp>
        <p:nvSpPr>
          <p:cNvPr id="12" name="TextBox 11"/>
          <p:cNvSpPr txBox="1"/>
          <p:nvPr/>
        </p:nvSpPr>
        <p:spPr>
          <a:xfrm>
            <a:off x="462059" y="2484000"/>
            <a:ext cx="2628000" cy="720000"/>
          </a:xfrm>
          <a:prstGeom prst="rect">
            <a:avLst/>
          </a:prstGeom>
          <a:noFill/>
        </p:spPr>
        <p:txBody>
          <a:bodyPr wrap="square" lIns="36000" rIns="36000" tIns="18000" bIns="18000" anchor="t">
            <a:spAutoFit/>
          </a:bodyPr>
          <a:lstStyle/>
          <a:p>
            <a:pPr algn="ctr"/>
            <a:r>
              <a:rPr sz="1100" b="0" i="0">
                <a:solidFill>
                  <a:srgbClr val="33383F"/>
                </a:solidFill>
                <a:latin typeface="Yu Gothic"/>
              </a:rPr>
              <a:t>コロナ対応・LIFE 導入</a:t>
            </a:r>
          </a:p>
        </p:txBody>
      </p:sp>
      <p:sp>
        <p:nvSpPr>
          <p:cNvPr id="13" name="Rectangle 12"/>
          <p:cNvSpPr/>
          <p:nvPr/>
        </p:nvSpPr>
        <p:spPr>
          <a:xfrm>
            <a:off x="3270059" y="1620000"/>
            <a:ext cx="2772000" cy="432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42059" y="1674000"/>
            <a:ext cx="2628000" cy="360000"/>
          </a:xfrm>
          <a:prstGeom prst="rect">
            <a:avLst/>
          </a:prstGeom>
          <a:noFill/>
        </p:spPr>
        <p:txBody>
          <a:bodyPr wrap="square" lIns="36000" rIns="36000" tIns="18000" bIns="18000" anchor="ctr">
            <a:spAutoFit/>
          </a:bodyPr>
          <a:lstStyle/>
          <a:p>
            <a:pPr algn="ctr"/>
            <a:r>
              <a:rPr sz="1500" b="1" i="0">
                <a:solidFill>
                  <a:srgbClr val="FFFFFF"/>
                </a:solidFill>
                <a:latin typeface="Yu Gothic"/>
              </a:rPr>
              <a:t>R6 (2024)</a:t>
            </a:r>
          </a:p>
        </p:txBody>
      </p:sp>
      <p:sp>
        <p:nvSpPr>
          <p:cNvPr id="15" name="Rectangle 14"/>
          <p:cNvSpPr/>
          <p:nvPr/>
        </p:nvSpPr>
        <p:spPr>
          <a:xfrm>
            <a:off x="3270059" y="2052000"/>
            <a:ext cx="2772000" cy="1368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42059" y="2088000"/>
            <a:ext cx="2628000" cy="360000"/>
          </a:xfrm>
          <a:prstGeom prst="rect">
            <a:avLst/>
          </a:prstGeom>
          <a:noFill/>
        </p:spPr>
        <p:txBody>
          <a:bodyPr wrap="square" lIns="36000" rIns="36000" tIns="18000" bIns="18000" anchor="t">
            <a:spAutoFit/>
          </a:bodyPr>
          <a:lstStyle/>
          <a:p>
            <a:pPr algn="ctr"/>
            <a:r>
              <a:rPr sz="1300" b="1" i="0">
                <a:solidFill>
                  <a:srgbClr val="C03A2E"/>
                </a:solidFill>
                <a:latin typeface="Yu Gothic"/>
              </a:rPr>
              <a:t>同時改定</a:t>
            </a:r>
          </a:p>
        </p:txBody>
      </p:sp>
      <p:sp>
        <p:nvSpPr>
          <p:cNvPr id="17" name="TextBox 16"/>
          <p:cNvSpPr txBox="1"/>
          <p:nvPr/>
        </p:nvSpPr>
        <p:spPr>
          <a:xfrm>
            <a:off x="3342059" y="2484000"/>
            <a:ext cx="2628000" cy="720000"/>
          </a:xfrm>
          <a:prstGeom prst="rect">
            <a:avLst/>
          </a:prstGeom>
          <a:noFill/>
        </p:spPr>
        <p:txBody>
          <a:bodyPr wrap="square" lIns="36000" rIns="36000" tIns="18000" bIns="18000" anchor="t">
            <a:spAutoFit/>
          </a:bodyPr>
          <a:lstStyle/>
          <a:p>
            <a:pPr algn="ctr"/>
            <a:r>
              <a:rPr sz="1100" b="0" i="0">
                <a:solidFill>
                  <a:srgbClr val="33383F"/>
                </a:solidFill>
                <a:latin typeface="Yu Gothic"/>
              </a:rPr>
              <a:t>医療・介護・障害</a:t>
            </a:r>
          </a:p>
          <a:p>
            <a:pPr algn="ctr"/>
            <a:r>
              <a:rPr sz="1100" b="0" i="0">
                <a:solidFill>
                  <a:srgbClr val="33383F"/>
                </a:solidFill>
                <a:latin typeface="Yu Gothic"/>
              </a:rPr>
              <a:t>3制度同時</a:t>
            </a:r>
          </a:p>
        </p:txBody>
      </p:sp>
      <p:sp>
        <p:nvSpPr>
          <p:cNvPr id="18" name="Rectangle 17"/>
          <p:cNvSpPr/>
          <p:nvPr/>
        </p:nvSpPr>
        <p:spPr>
          <a:xfrm>
            <a:off x="6150059" y="1620000"/>
            <a:ext cx="2772000" cy="432000"/>
          </a:xfrm>
          <a:prstGeom prst="rect">
            <a:avLst/>
          </a:prstGeom>
          <a:solidFill>
            <a:srgbClr val="E0A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22059" y="1674000"/>
            <a:ext cx="2628000" cy="360000"/>
          </a:xfrm>
          <a:prstGeom prst="rect">
            <a:avLst/>
          </a:prstGeom>
          <a:noFill/>
        </p:spPr>
        <p:txBody>
          <a:bodyPr wrap="square" lIns="36000" rIns="36000" tIns="18000" bIns="18000" anchor="ctr">
            <a:spAutoFit/>
          </a:bodyPr>
          <a:lstStyle/>
          <a:p>
            <a:pPr algn="ctr"/>
            <a:r>
              <a:rPr sz="1500" b="1" i="0">
                <a:solidFill>
                  <a:srgbClr val="FFFFFF"/>
                </a:solidFill>
                <a:latin typeface="Yu Gothic"/>
              </a:rPr>
              <a:t>R9 (2027)</a:t>
            </a:r>
          </a:p>
        </p:txBody>
      </p:sp>
      <p:sp>
        <p:nvSpPr>
          <p:cNvPr id="20" name="Rectangle 19"/>
          <p:cNvSpPr/>
          <p:nvPr/>
        </p:nvSpPr>
        <p:spPr>
          <a:xfrm>
            <a:off x="6150059" y="2052000"/>
            <a:ext cx="2772000" cy="1368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22059" y="2088000"/>
            <a:ext cx="2628000" cy="360000"/>
          </a:xfrm>
          <a:prstGeom prst="rect">
            <a:avLst/>
          </a:prstGeom>
          <a:noFill/>
        </p:spPr>
        <p:txBody>
          <a:bodyPr wrap="square" lIns="36000" rIns="36000" tIns="18000" bIns="18000" anchor="t">
            <a:spAutoFit/>
          </a:bodyPr>
          <a:lstStyle/>
          <a:p>
            <a:pPr algn="ctr"/>
            <a:r>
              <a:rPr sz="1300" b="1" i="0">
                <a:solidFill>
                  <a:srgbClr val="E0A636"/>
                </a:solidFill>
                <a:latin typeface="Yu Gothic"/>
              </a:rPr>
              <a:t>同時改定</a:t>
            </a:r>
          </a:p>
        </p:txBody>
      </p:sp>
      <p:sp>
        <p:nvSpPr>
          <p:cNvPr id="22" name="TextBox 21"/>
          <p:cNvSpPr txBox="1"/>
          <p:nvPr/>
        </p:nvSpPr>
        <p:spPr>
          <a:xfrm>
            <a:off x="6222059" y="2484000"/>
            <a:ext cx="2628000" cy="720000"/>
          </a:xfrm>
          <a:prstGeom prst="rect">
            <a:avLst/>
          </a:prstGeom>
          <a:noFill/>
        </p:spPr>
        <p:txBody>
          <a:bodyPr wrap="square" lIns="36000" rIns="36000" tIns="18000" bIns="18000" anchor="t">
            <a:spAutoFit/>
          </a:bodyPr>
          <a:lstStyle/>
          <a:p>
            <a:pPr algn="ctr"/>
            <a:r>
              <a:rPr sz="1100" b="0" i="0">
                <a:solidFill>
                  <a:srgbClr val="33383F"/>
                </a:solidFill>
                <a:latin typeface="Yu Gothic"/>
              </a:rPr>
              <a:t>次回・診療報酬と同時</a:t>
            </a:r>
          </a:p>
        </p:txBody>
      </p:sp>
      <p:sp>
        <p:nvSpPr>
          <p:cNvPr id="23" name="Rectangle 22"/>
          <p:cNvSpPr/>
          <p:nvPr/>
        </p:nvSpPr>
        <p:spPr>
          <a:xfrm>
            <a:off x="9030059" y="1620000"/>
            <a:ext cx="2772000" cy="432000"/>
          </a:xfrm>
          <a:prstGeom prst="rect">
            <a:avLst/>
          </a:prstGeom>
          <a:solidFill>
            <a:srgbClr val="375A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02059" y="1674000"/>
            <a:ext cx="2628000" cy="360000"/>
          </a:xfrm>
          <a:prstGeom prst="rect">
            <a:avLst/>
          </a:prstGeom>
          <a:noFill/>
        </p:spPr>
        <p:txBody>
          <a:bodyPr wrap="square" lIns="36000" rIns="36000" tIns="18000" bIns="18000" anchor="ctr">
            <a:spAutoFit/>
          </a:bodyPr>
          <a:lstStyle/>
          <a:p>
            <a:pPr algn="ctr"/>
            <a:r>
              <a:rPr sz="1500" b="1" i="0">
                <a:solidFill>
                  <a:srgbClr val="FFFFFF"/>
                </a:solidFill>
                <a:latin typeface="Yu Gothic"/>
              </a:rPr>
              <a:t>R12(2030)</a:t>
            </a:r>
          </a:p>
        </p:txBody>
      </p:sp>
      <p:sp>
        <p:nvSpPr>
          <p:cNvPr id="25" name="Rectangle 24"/>
          <p:cNvSpPr/>
          <p:nvPr/>
        </p:nvSpPr>
        <p:spPr>
          <a:xfrm>
            <a:off x="9030059" y="2052000"/>
            <a:ext cx="2772000" cy="1368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02059" y="2088000"/>
            <a:ext cx="2628000" cy="360000"/>
          </a:xfrm>
          <a:prstGeom prst="rect">
            <a:avLst/>
          </a:prstGeom>
          <a:noFill/>
        </p:spPr>
        <p:txBody>
          <a:bodyPr wrap="square" lIns="36000" rIns="36000" tIns="18000" bIns="18000" anchor="t">
            <a:spAutoFit/>
          </a:bodyPr>
          <a:lstStyle/>
          <a:p>
            <a:pPr algn="ctr"/>
            <a:r>
              <a:rPr sz="1300" b="1" i="0">
                <a:solidFill>
                  <a:srgbClr val="375A7F"/>
                </a:solidFill>
                <a:latin typeface="Yu Gothic"/>
              </a:rPr>
              <a:t>介護のみ</a:t>
            </a:r>
          </a:p>
        </p:txBody>
      </p:sp>
      <p:sp>
        <p:nvSpPr>
          <p:cNvPr id="27" name="TextBox 26"/>
          <p:cNvSpPr txBox="1"/>
          <p:nvPr/>
        </p:nvSpPr>
        <p:spPr>
          <a:xfrm>
            <a:off x="9102059" y="2484000"/>
            <a:ext cx="2628000" cy="720000"/>
          </a:xfrm>
          <a:prstGeom prst="rect">
            <a:avLst/>
          </a:prstGeom>
          <a:noFill/>
        </p:spPr>
        <p:txBody>
          <a:bodyPr wrap="square" lIns="36000" rIns="36000" tIns="18000" bIns="18000" anchor="t">
            <a:spAutoFit/>
          </a:bodyPr>
          <a:lstStyle/>
          <a:p>
            <a:pPr algn="ctr"/>
            <a:r>
              <a:rPr sz="1100" b="0" i="0">
                <a:solidFill>
                  <a:srgbClr val="33383F"/>
                </a:solidFill>
                <a:latin typeface="Yu Gothic"/>
              </a:rPr>
              <a:t>予測:抜本的見直し</a:t>
            </a:r>
          </a:p>
        </p:txBody>
      </p:sp>
      <p:sp>
        <p:nvSpPr>
          <p:cNvPr id="28" name="Rectangle 27"/>
          <p:cNvSpPr/>
          <p:nvPr/>
        </p:nvSpPr>
        <p:spPr>
          <a:xfrm>
            <a:off x="432000" y="3780000"/>
            <a:ext cx="11304000" cy="360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4000" y="381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「同時改定」の意味するもの</a:t>
            </a:r>
          </a:p>
        </p:txBody>
      </p:sp>
      <p:sp>
        <p:nvSpPr>
          <p:cNvPr id="30" name="Rectangle 29"/>
          <p:cNvSpPr/>
          <p:nvPr/>
        </p:nvSpPr>
        <p:spPr>
          <a:xfrm>
            <a:off x="432000" y="4140000"/>
            <a:ext cx="11304000" cy="198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0000" y="4176000"/>
            <a:ext cx="11088000" cy="1944000"/>
          </a:xfrm>
          <a:prstGeom prst="rect">
            <a:avLst/>
          </a:prstGeom>
          <a:noFill/>
        </p:spPr>
        <p:txBody>
          <a:bodyPr wrap="square" lIns="36000" rIns="36000" tIns="18000" bIns="18000" anchor="t">
            <a:spAutoFit/>
          </a:bodyPr>
          <a:lstStyle/>
          <a:p>
            <a:pPr algn="l"/>
            <a:r>
              <a:rPr sz="1300" b="0" i="0">
                <a:solidFill>
                  <a:srgbClr val="33383F"/>
                </a:solidFill>
                <a:latin typeface="Yu Gothic"/>
              </a:rPr>
              <a:t>■ 医療(診療報酬)・介護・障害(障害福祉サービス等)が同じ年度に同時改定される</a:t>
            </a:r>
          </a:p>
          <a:p>
            <a:pPr algn="l"/>
            <a:r>
              <a:rPr sz="1300" b="0" i="0">
                <a:solidFill>
                  <a:srgbClr val="33383F"/>
                </a:solidFill>
                <a:latin typeface="Yu Gothic"/>
              </a:rPr>
              <a:t>    → 制度間の整合性・連携が強く意識される</a:t>
            </a:r>
          </a:p>
          <a:p>
            <a:pPr algn="l"/>
            <a:r>
              <a:rPr sz="1300" b="0" i="0">
                <a:solidFill>
                  <a:srgbClr val="33383F"/>
                </a:solidFill>
                <a:latin typeface="Yu Gothic"/>
              </a:rPr>
              <a:t/>
            </a:r>
          </a:p>
          <a:p>
            <a:pPr algn="l"/>
            <a:r>
              <a:rPr sz="1300" b="0" i="0">
                <a:solidFill>
                  <a:srgbClr val="33383F"/>
                </a:solidFill>
                <a:latin typeface="Yu Gothic"/>
              </a:rPr>
              <a:t>■ R6 改定の柱(社会保障審議会・介護給付費分科会の答申より)</a:t>
            </a:r>
          </a:p>
          <a:p>
            <a:pPr algn="l"/>
            <a:r>
              <a:rPr sz="1300" b="0" i="0">
                <a:solidFill>
                  <a:srgbClr val="33383F"/>
                </a:solidFill>
                <a:latin typeface="Yu Gothic"/>
              </a:rPr>
              <a:t>    ① 地域包括ケアシステムの深化・推進</a:t>
            </a:r>
          </a:p>
          <a:p>
            <a:pPr algn="l"/>
            <a:r>
              <a:rPr sz="1300" b="0" i="0">
                <a:solidFill>
                  <a:srgbClr val="33383F"/>
                </a:solidFill>
                <a:latin typeface="Yu Gothic"/>
              </a:rPr>
              <a:t>    ② 自立支援・重度化防止の質の向上</a:t>
            </a:r>
          </a:p>
          <a:p>
            <a:pPr algn="l"/>
            <a:r>
              <a:rPr sz="1300" b="0" i="0">
                <a:solidFill>
                  <a:srgbClr val="33383F"/>
                </a:solidFill>
                <a:latin typeface="Yu Gothic"/>
              </a:rPr>
              <a:t>    ③ 良質な介護サービスの効率的な提供への取組</a:t>
            </a:r>
          </a:p>
          <a:p>
            <a:pPr algn="l"/>
            <a:r>
              <a:rPr sz="1300" b="0" i="0">
                <a:solidFill>
                  <a:srgbClr val="33383F"/>
                </a:solidFill>
                <a:latin typeface="Yu Gothic"/>
              </a:rPr>
              <a:t>    ④ 制度の安定性・持続可能性の確保</a:t>
            </a:r>
          </a:p>
          <a:p>
            <a:pPr algn="l"/>
            <a:r>
              <a:rPr sz="1300" b="0" i="0">
                <a:solidFill>
                  <a:srgbClr val="33383F"/>
                </a:solidFill>
                <a:latin typeface="Yu Gothic"/>
              </a:rPr>
              <a:t/>
            </a:r>
          </a:p>
          <a:p>
            <a:pPr algn="l"/>
            <a:r>
              <a:rPr sz="1300" b="0" i="0">
                <a:solidFill>
                  <a:srgbClr val="33383F"/>
                </a:solidFill>
                <a:latin typeface="Yu Gothic"/>
              </a:rPr>
              <a:t>■ R9 改定 (2027.4) も同時改定。R6 で残された課題が次の俎上に乗る。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1. R6改定の全体像</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居宅介護支援に関わる主要変更点 ― 一覧マップ</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6 / 38</a:t>
            </a:r>
          </a:p>
        </p:txBody>
      </p:sp>
      <p:sp>
        <p:nvSpPr>
          <p:cNvPr id="8" name="Rectangle 7"/>
          <p:cNvSpPr/>
          <p:nvPr/>
        </p:nvSpPr>
        <p:spPr>
          <a:xfrm>
            <a:off x="390059" y="1620000"/>
            <a:ext cx="2772000" cy="432000"/>
          </a:xfrm>
          <a:prstGeom prst="rect">
            <a:avLst/>
          </a:prstGeom>
          <a:solidFill>
            <a:srgbClr val="375A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2059" y="1674000"/>
            <a:ext cx="2628000" cy="360000"/>
          </a:xfrm>
          <a:prstGeom prst="rect">
            <a:avLst/>
          </a:prstGeom>
          <a:noFill/>
        </p:spPr>
        <p:txBody>
          <a:bodyPr wrap="square" lIns="36000" rIns="36000" tIns="18000" bIns="18000" anchor="ctr">
            <a:spAutoFit/>
          </a:bodyPr>
          <a:lstStyle/>
          <a:p>
            <a:pPr algn="ctr"/>
            <a:r>
              <a:rPr sz="1400" b="1" i="0">
                <a:solidFill>
                  <a:srgbClr val="FFFFFF"/>
                </a:solidFill>
                <a:latin typeface="Yu Gothic"/>
              </a:rPr>
              <a:t>加算の見直し</a:t>
            </a:r>
          </a:p>
        </p:txBody>
      </p:sp>
      <p:sp>
        <p:nvSpPr>
          <p:cNvPr id="10" name="Rectangle 9"/>
          <p:cNvSpPr/>
          <p:nvPr/>
        </p:nvSpPr>
        <p:spPr>
          <a:xfrm>
            <a:off x="390059" y="2052000"/>
            <a:ext cx="2772000" cy="3708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059" y="2123999"/>
            <a:ext cx="2556000" cy="3564000"/>
          </a:xfrm>
          <a:prstGeom prst="rect">
            <a:avLst/>
          </a:prstGeom>
          <a:noFill/>
        </p:spPr>
        <p:txBody>
          <a:bodyPr wrap="square" lIns="36000" rIns="36000" tIns="18000" bIns="18000" anchor="t">
            <a:spAutoFit/>
          </a:bodyPr>
          <a:lstStyle/>
          <a:p>
            <a:pPr algn="l">
              <a:lnSpc>
                <a:spcPct val="125000"/>
              </a:lnSpc>
            </a:pPr>
            <a:r>
              <a:rPr sz="1100" b="0" i="0">
                <a:solidFill>
                  <a:srgbClr val="33383F"/>
                </a:solidFill>
                <a:latin typeface="Yu Gothic"/>
              </a:rPr>
              <a:t>・特定事業所加算 (要件強化)</a:t>
            </a:r>
          </a:p>
          <a:p>
            <a:pPr algn="l">
              <a:lnSpc>
                <a:spcPct val="125000"/>
              </a:lnSpc>
            </a:pPr>
            <a:r>
              <a:rPr sz="1100" b="0" i="0">
                <a:solidFill>
                  <a:srgbClr val="33383F"/>
                </a:solidFill>
                <a:latin typeface="Yu Gothic"/>
              </a:rPr>
              <a:t/>
            </a:r>
          </a:p>
          <a:p>
            <a:pPr algn="l">
              <a:lnSpc>
                <a:spcPct val="125000"/>
              </a:lnSpc>
            </a:pPr>
            <a:r>
              <a:rPr sz="1100" b="0" i="0">
                <a:solidFill>
                  <a:srgbClr val="33383F"/>
                </a:solidFill>
                <a:latin typeface="Yu Gothic"/>
              </a:rPr>
              <a:t>・ターミナルCM加算 (算定要件明確化)</a:t>
            </a:r>
          </a:p>
          <a:p>
            <a:pPr algn="l">
              <a:lnSpc>
                <a:spcPct val="125000"/>
              </a:lnSpc>
            </a:pPr>
            <a:r>
              <a:rPr sz="1100" b="0" i="0">
                <a:solidFill>
                  <a:srgbClr val="33383F"/>
                </a:solidFill>
                <a:latin typeface="Yu Gothic"/>
              </a:rPr>
              <a:t/>
            </a:r>
          </a:p>
          <a:p>
            <a:pPr algn="l">
              <a:lnSpc>
                <a:spcPct val="125000"/>
              </a:lnSpc>
            </a:pPr>
            <a:r>
              <a:rPr sz="1100" b="0" i="0">
                <a:solidFill>
                  <a:srgbClr val="33383F"/>
                </a:solidFill>
                <a:latin typeface="Yu Gothic"/>
              </a:rPr>
              <a:t>・入院時情報連携加算 (区分見直し)</a:t>
            </a:r>
          </a:p>
          <a:p>
            <a:pPr algn="l">
              <a:lnSpc>
                <a:spcPct val="125000"/>
              </a:lnSpc>
            </a:pPr>
            <a:r>
              <a:rPr sz="1100" b="0" i="0">
                <a:solidFill>
                  <a:srgbClr val="33383F"/>
                </a:solidFill>
                <a:latin typeface="Yu Gothic"/>
              </a:rPr>
              <a:t/>
            </a:r>
          </a:p>
          <a:p>
            <a:pPr algn="l">
              <a:lnSpc>
                <a:spcPct val="125000"/>
              </a:lnSpc>
            </a:pPr>
            <a:r>
              <a:rPr sz="1100" b="0" i="0">
                <a:solidFill>
                  <a:srgbClr val="33383F"/>
                </a:solidFill>
                <a:latin typeface="Yu Gothic"/>
              </a:rPr>
              <a:t>・通院時情報連携加算 (継続)</a:t>
            </a:r>
          </a:p>
        </p:txBody>
      </p:sp>
      <p:sp>
        <p:nvSpPr>
          <p:cNvPr id="12" name="Rectangle 11"/>
          <p:cNvSpPr/>
          <p:nvPr/>
        </p:nvSpPr>
        <p:spPr>
          <a:xfrm>
            <a:off x="3270059" y="1620000"/>
            <a:ext cx="2772000" cy="432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42059" y="1674000"/>
            <a:ext cx="2628000" cy="360000"/>
          </a:xfrm>
          <a:prstGeom prst="rect">
            <a:avLst/>
          </a:prstGeom>
          <a:noFill/>
        </p:spPr>
        <p:txBody>
          <a:bodyPr wrap="square" lIns="36000" rIns="36000" tIns="18000" bIns="18000" anchor="ctr">
            <a:spAutoFit/>
          </a:bodyPr>
          <a:lstStyle/>
          <a:p>
            <a:pPr algn="ctr"/>
            <a:r>
              <a:rPr sz="1400" b="1" i="0">
                <a:solidFill>
                  <a:srgbClr val="FFFFFF"/>
                </a:solidFill>
                <a:latin typeface="Yu Gothic"/>
              </a:rPr>
              <a:t>減算・基準改定</a:t>
            </a:r>
          </a:p>
        </p:txBody>
      </p:sp>
      <p:sp>
        <p:nvSpPr>
          <p:cNvPr id="14" name="Rectangle 13"/>
          <p:cNvSpPr/>
          <p:nvPr/>
        </p:nvSpPr>
        <p:spPr>
          <a:xfrm>
            <a:off x="3270059" y="2052000"/>
            <a:ext cx="2772000" cy="3708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78059" y="2123999"/>
            <a:ext cx="2556000" cy="3564000"/>
          </a:xfrm>
          <a:prstGeom prst="rect">
            <a:avLst/>
          </a:prstGeom>
          <a:noFill/>
        </p:spPr>
        <p:txBody>
          <a:bodyPr wrap="square" lIns="36000" rIns="36000" tIns="18000" bIns="18000" anchor="t">
            <a:spAutoFit/>
          </a:bodyPr>
          <a:lstStyle/>
          <a:p>
            <a:pPr algn="l">
              <a:lnSpc>
                <a:spcPct val="125000"/>
              </a:lnSpc>
            </a:pPr>
            <a:r>
              <a:rPr sz="1100" b="0" i="0">
                <a:solidFill>
                  <a:srgbClr val="33383F"/>
                </a:solidFill>
                <a:latin typeface="Yu Gothic"/>
              </a:rPr>
              <a:t>・同一建物減算 (居宅CMに新設)</a:t>
            </a:r>
          </a:p>
          <a:p>
            <a:pPr algn="l">
              <a:lnSpc>
                <a:spcPct val="125000"/>
              </a:lnSpc>
            </a:pPr>
            <a:r>
              <a:rPr sz="1100" b="0" i="0">
                <a:solidFill>
                  <a:srgbClr val="33383F"/>
                </a:solidFill>
                <a:latin typeface="Yu Gothic"/>
              </a:rPr>
              <a:t/>
            </a:r>
          </a:p>
          <a:p>
            <a:pPr algn="l">
              <a:lnSpc>
                <a:spcPct val="125000"/>
              </a:lnSpc>
            </a:pPr>
            <a:r>
              <a:rPr sz="1100" b="0" i="0">
                <a:solidFill>
                  <a:srgbClr val="33383F"/>
                </a:solidFill>
                <a:latin typeface="Yu Gothic"/>
              </a:rPr>
              <a:t>・逓減制 (ICT活用要件の見直し)</a:t>
            </a:r>
          </a:p>
          <a:p>
            <a:pPr algn="l">
              <a:lnSpc>
                <a:spcPct val="125000"/>
              </a:lnSpc>
            </a:pPr>
            <a:r>
              <a:rPr sz="1100" b="0" i="0">
                <a:solidFill>
                  <a:srgbClr val="33383F"/>
                </a:solidFill>
                <a:latin typeface="Yu Gothic"/>
              </a:rPr>
              <a:t/>
            </a:r>
          </a:p>
          <a:p>
            <a:pPr algn="l">
              <a:lnSpc>
                <a:spcPct val="125000"/>
              </a:lnSpc>
            </a:pPr>
            <a:r>
              <a:rPr sz="1100" b="0" i="0">
                <a:solidFill>
                  <a:srgbClr val="33383F"/>
                </a:solidFill>
                <a:latin typeface="Yu Gothic"/>
              </a:rPr>
              <a:t>・運営基準減算 (継続)</a:t>
            </a:r>
          </a:p>
        </p:txBody>
      </p:sp>
      <p:sp>
        <p:nvSpPr>
          <p:cNvPr id="16" name="Rectangle 15"/>
          <p:cNvSpPr/>
          <p:nvPr/>
        </p:nvSpPr>
        <p:spPr>
          <a:xfrm>
            <a:off x="6150059" y="1620000"/>
            <a:ext cx="2772000" cy="432000"/>
          </a:xfrm>
          <a:prstGeom prst="rect">
            <a:avLst/>
          </a:prstGeom>
          <a:solidFill>
            <a:srgbClr val="E0A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22059" y="1674000"/>
            <a:ext cx="2628000" cy="360000"/>
          </a:xfrm>
          <a:prstGeom prst="rect">
            <a:avLst/>
          </a:prstGeom>
          <a:noFill/>
        </p:spPr>
        <p:txBody>
          <a:bodyPr wrap="square" lIns="36000" rIns="36000" tIns="18000" bIns="18000" anchor="ctr">
            <a:spAutoFit/>
          </a:bodyPr>
          <a:lstStyle/>
          <a:p>
            <a:pPr algn="ctr"/>
            <a:r>
              <a:rPr sz="1400" b="1" i="0">
                <a:solidFill>
                  <a:srgbClr val="FFFFFF"/>
                </a:solidFill>
                <a:latin typeface="Yu Gothic"/>
              </a:rPr>
              <a:t>基準・体制整備</a:t>
            </a:r>
          </a:p>
        </p:txBody>
      </p:sp>
      <p:sp>
        <p:nvSpPr>
          <p:cNvPr id="18" name="Rectangle 17"/>
          <p:cNvSpPr/>
          <p:nvPr/>
        </p:nvSpPr>
        <p:spPr>
          <a:xfrm>
            <a:off x="6150059" y="2052000"/>
            <a:ext cx="2772000" cy="3708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8059" y="2123999"/>
            <a:ext cx="2556000" cy="3564000"/>
          </a:xfrm>
          <a:prstGeom prst="rect">
            <a:avLst/>
          </a:prstGeom>
          <a:noFill/>
        </p:spPr>
        <p:txBody>
          <a:bodyPr wrap="square" lIns="36000" rIns="36000" tIns="18000" bIns="18000" anchor="t">
            <a:spAutoFit/>
          </a:bodyPr>
          <a:lstStyle/>
          <a:p>
            <a:pPr algn="l">
              <a:lnSpc>
                <a:spcPct val="125000"/>
              </a:lnSpc>
            </a:pPr>
            <a:r>
              <a:rPr sz="1100" b="0" i="0">
                <a:solidFill>
                  <a:srgbClr val="33383F"/>
                </a:solidFill>
                <a:latin typeface="Yu Gothic"/>
              </a:rPr>
              <a:t>・BCP策定の本格運用 (経過措置終了)</a:t>
            </a:r>
          </a:p>
          <a:p>
            <a:pPr algn="l">
              <a:lnSpc>
                <a:spcPct val="125000"/>
              </a:lnSpc>
            </a:pPr>
            <a:r>
              <a:rPr sz="1100" b="0" i="0">
                <a:solidFill>
                  <a:srgbClr val="33383F"/>
                </a:solidFill>
                <a:latin typeface="Yu Gothic"/>
              </a:rPr>
              <a:t/>
            </a:r>
          </a:p>
          <a:p>
            <a:pPr algn="l">
              <a:lnSpc>
                <a:spcPct val="125000"/>
              </a:lnSpc>
            </a:pPr>
            <a:r>
              <a:rPr sz="1100" b="0" i="0">
                <a:solidFill>
                  <a:srgbClr val="33383F"/>
                </a:solidFill>
                <a:latin typeface="Yu Gothic"/>
              </a:rPr>
              <a:t>・高齢者虐待防止 委員会・指針・研修</a:t>
            </a:r>
          </a:p>
          <a:p>
            <a:pPr algn="l">
              <a:lnSpc>
                <a:spcPct val="125000"/>
              </a:lnSpc>
            </a:pPr>
            <a:r>
              <a:rPr sz="1100" b="0" i="0">
                <a:solidFill>
                  <a:srgbClr val="33383F"/>
                </a:solidFill>
                <a:latin typeface="Yu Gothic"/>
              </a:rPr>
              <a:t/>
            </a:r>
          </a:p>
          <a:p>
            <a:pPr algn="l">
              <a:lnSpc>
                <a:spcPct val="125000"/>
              </a:lnSpc>
            </a:pPr>
            <a:r>
              <a:rPr sz="1100" b="0" i="0">
                <a:solidFill>
                  <a:srgbClr val="33383F"/>
                </a:solidFill>
                <a:latin typeface="Yu Gothic"/>
              </a:rPr>
              <a:t>・身体的拘束等の適正化</a:t>
            </a:r>
          </a:p>
          <a:p>
            <a:pPr algn="l">
              <a:lnSpc>
                <a:spcPct val="125000"/>
              </a:lnSpc>
            </a:pPr>
            <a:r>
              <a:rPr sz="1100" b="0" i="0">
                <a:solidFill>
                  <a:srgbClr val="33383F"/>
                </a:solidFill>
                <a:latin typeface="Yu Gothic"/>
              </a:rPr>
              <a:t/>
            </a:r>
          </a:p>
          <a:p>
            <a:pPr algn="l">
              <a:lnSpc>
                <a:spcPct val="125000"/>
              </a:lnSpc>
            </a:pPr>
            <a:r>
              <a:rPr sz="1100" b="0" i="0">
                <a:solidFill>
                  <a:srgbClr val="33383F"/>
                </a:solidFill>
                <a:latin typeface="Yu Gothic"/>
              </a:rPr>
              <a:t>・ハラスメント対策の明示</a:t>
            </a:r>
          </a:p>
        </p:txBody>
      </p:sp>
      <p:sp>
        <p:nvSpPr>
          <p:cNvPr id="20" name="Rectangle 19"/>
          <p:cNvSpPr/>
          <p:nvPr/>
        </p:nvSpPr>
        <p:spPr>
          <a:xfrm>
            <a:off x="9030059" y="1620000"/>
            <a:ext cx="2772000" cy="4320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02059" y="1674000"/>
            <a:ext cx="2628000" cy="360000"/>
          </a:xfrm>
          <a:prstGeom prst="rect">
            <a:avLst/>
          </a:prstGeom>
          <a:noFill/>
        </p:spPr>
        <p:txBody>
          <a:bodyPr wrap="square" lIns="36000" rIns="36000" tIns="18000" bIns="18000" anchor="ctr">
            <a:spAutoFit/>
          </a:bodyPr>
          <a:lstStyle/>
          <a:p>
            <a:pPr algn="ctr"/>
            <a:r>
              <a:rPr sz="1400" b="1" i="0">
                <a:solidFill>
                  <a:srgbClr val="FFFFFF"/>
                </a:solidFill>
                <a:latin typeface="Yu Gothic"/>
              </a:rPr>
              <a:t>ICT・DX</a:t>
            </a:r>
          </a:p>
        </p:txBody>
      </p:sp>
      <p:sp>
        <p:nvSpPr>
          <p:cNvPr id="22" name="Rectangle 21"/>
          <p:cNvSpPr/>
          <p:nvPr/>
        </p:nvSpPr>
        <p:spPr>
          <a:xfrm>
            <a:off x="9030059" y="2052000"/>
            <a:ext cx="2772000" cy="3708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38059" y="2123999"/>
            <a:ext cx="2556000" cy="3564000"/>
          </a:xfrm>
          <a:prstGeom prst="rect">
            <a:avLst/>
          </a:prstGeom>
          <a:noFill/>
        </p:spPr>
        <p:txBody>
          <a:bodyPr wrap="square" lIns="36000" rIns="36000" tIns="18000" bIns="18000" anchor="t">
            <a:spAutoFit/>
          </a:bodyPr>
          <a:lstStyle/>
          <a:p>
            <a:pPr algn="l">
              <a:lnSpc>
                <a:spcPct val="125000"/>
              </a:lnSpc>
            </a:pPr>
            <a:r>
              <a:rPr sz="1100" b="0" i="0">
                <a:solidFill>
                  <a:srgbClr val="33383F"/>
                </a:solidFill>
                <a:latin typeface="Yu Gothic"/>
              </a:rPr>
              <a:t>・LIFE の活用方向性</a:t>
            </a:r>
          </a:p>
          <a:p>
            <a:pPr algn="l">
              <a:lnSpc>
                <a:spcPct val="125000"/>
              </a:lnSpc>
            </a:pPr>
            <a:r>
              <a:rPr sz="1100" b="0" i="0">
                <a:solidFill>
                  <a:srgbClr val="33383F"/>
                </a:solidFill>
                <a:latin typeface="Yu Gothic"/>
              </a:rPr>
              <a:t/>
            </a:r>
          </a:p>
          <a:p>
            <a:pPr algn="l">
              <a:lnSpc>
                <a:spcPct val="125000"/>
              </a:lnSpc>
            </a:pPr>
            <a:r>
              <a:rPr sz="1100" b="0" i="0">
                <a:solidFill>
                  <a:srgbClr val="33383F"/>
                </a:solidFill>
                <a:latin typeface="Yu Gothic"/>
              </a:rPr>
              <a:t>・テレワーク・オンラインモニタリング</a:t>
            </a:r>
          </a:p>
          <a:p>
            <a:pPr algn="l">
              <a:lnSpc>
                <a:spcPct val="125000"/>
              </a:lnSpc>
            </a:pPr>
            <a:r>
              <a:rPr sz="1100" b="0" i="0">
                <a:solidFill>
                  <a:srgbClr val="33383F"/>
                </a:solidFill>
                <a:latin typeface="Yu Gothic"/>
              </a:rPr>
              <a:t/>
            </a:r>
          </a:p>
          <a:p>
            <a:pPr algn="l">
              <a:lnSpc>
                <a:spcPct val="125000"/>
              </a:lnSpc>
            </a:pPr>
            <a:r>
              <a:rPr sz="1100" b="0" i="0">
                <a:solidFill>
                  <a:srgbClr val="33383F"/>
                </a:solidFill>
                <a:latin typeface="Yu Gothic"/>
              </a:rPr>
              <a:t>・ケアプランデータ連携システム</a:t>
            </a:r>
          </a:p>
        </p:txBody>
      </p:sp>
      <p:sp>
        <p:nvSpPr>
          <p:cNvPr id="24" name="TextBox 23"/>
          <p:cNvSpPr txBox="1"/>
          <p:nvPr/>
        </p:nvSpPr>
        <p:spPr>
          <a:xfrm>
            <a:off x="432000" y="5940000"/>
            <a:ext cx="11328119" cy="360000"/>
          </a:xfrm>
          <a:prstGeom prst="rect">
            <a:avLst/>
          </a:prstGeom>
          <a:noFill/>
        </p:spPr>
        <p:txBody>
          <a:bodyPr wrap="square" lIns="36000" rIns="36000" tIns="18000" bIns="18000" anchor="t">
            <a:spAutoFit/>
          </a:bodyPr>
          <a:lstStyle/>
          <a:p>
            <a:pPr algn="l"/>
            <a:r>
              <a:rPr sz="1300" b="1" i="0">
                <a:solidFill>
                  <a:srgbClr val="142B4A"/>
                </a:solidFill>
                <a:latin typeface="Yu Gothic"/>
              </a:rPr>
              <a:t>▶ 本日は左 2 列(加算 / 減算)を中心に、右 2 列(基準 / ICT)を R9 論点として扱う。</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0000"/>
            <a:ext cx="12192119" cy="36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340000"/>
            <a:ext cx="10752119" cy="540000"/>
          </a:xfrm>
          <a:prstGeom prst="rect">
            <a:avLst/>
          </a:prstGeom>
          <a:noFill/>
        </p:spPr>
        <p:txBody>
          <a:bodyPr wrap="square" lIns="36000" rIns="36000" tIns="18000" bIns="18000" anchor="t">
            <a:spAutoFit/>
          </a:bodyPr>
          <a:lstStyle/>
          <a:p>
            <a:pPr algn="ctr"/>
            <a:r>
              <a:rPr sz="2200" b="1" i="0">
                <a:solidFill>
                  <a:srgbClr val="C03A2E"/>
                </a:solidFill>
                <a:latin typeface="Yu Gothic"/>
              </a:rPr>
              <a:t>PART 2</a:t>
            </a:r>
          </a:p>
        </p:txBody>
      </p:sp>
      <p:sp>
        <p:nvSpPr>
          <p:cNvPr id="5" name="TextBox 4"/>
          <p:cNvSpPr txBox="1"/>
          <p:nvPr/>
        </p:nvSpPr>
        <p:spPr>
          <a:xfrm>
            <a:off x="360000" y="3420000"/>
            <a:ext cx="11472119" cy="720000"/>
          </a:xfrm>
          <a:prstGeom prst="rect">
            <a:avLst/>
          </a:prstGeom>
          <a:noFill/>
        </p:spPr>
        <p:txBody>
          <a:bodyPr wrap="square" lIns="36000" rIns="36000" tIns="18000" bIns="18000" anchor="t">
            <a:spAutoFit/>
          </a:bodyPr>
          <a:lstStyle/>
          <a:p>
            <a:pPr algn="ctr"/>
            <a:r>
              <a:rPr sz="3600" b="1" i="0">
                <a:solidFill>
                  <a:srgbClr val="FFFFFF"/>
                </a:solidFill>
                <a:latin typeface="Yu Gothic"/>
              </a:rPr>
              <a:t>特定事業所加算</a:t>
            </a:r>
          </a:p>
        </p:txBody>
      </p:sp>
      <p:sp>
        <p:nvSpPr>
          <p:cNvPr id="6" name="TextBox 5"/>
          <p:cNvSpPr txBox="1"/>
          <p:nvPr/>
        </p:nvSpPr>
        <p:spPr>
          <a:xfrm>
            <a:off x="360000" y="4680000"/>
            <a:ext cx="11472119" cy="360000"/>
          </a:xfrm>
          <a:prstGeom prst="rect">
            <a:avLst/>
          </a:prstGeom>
          <a:noFill/>
        </p:spPr>
        <p:txBody>
          <a:bodyPr wrap="square" lIns="36000" rIns="36000" tIns="18000" bIns="18000" anchor="t">
            <a:spAutoFit/>
          </a:bodyPr>
          <a:lstStyle/>
          <a:p>
            <a:pPr algn="ctr"/>
            <a:r>
              <a:rPr sz="1400" b="0" i="0">
                <a:solidFill>
                  <a:srgbClr val="D6DCE3"/>
                </a:solidFill>
                <a:latin typeface="Yu Gothic"/>
              </a:rPr>
              <a:t>Designated Office Bonus: Requirements and Reality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2. 特定事業所加算</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特定事業所加算とは ― 「質の高いケアマネジメント」の評価</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8 / 38</a:t>
            </a:r>
          </a:p>
        </p:txBody>
      </p:sp>
      <p:sp>
        <p:nvSpPr>
          <p:cNvPr id="8" name="Rectangle 7"/>
          <p:cNvSpPr/>
          <p:nvPr/>
        </p:nvSpPr>
        <p:spPr>
          <a:xfrm>
            <a:off x="432000" y="1620000"/>
            <a:ext cx="5580000" cy="360000"/>
          </a:xfrm>
          <a:prstGeom prst="rect">
            <a:avLst/>
          </a:prstGeom>
          <a:solidFill>
            <a:srgbClr val="375A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656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加算の趣旨</a:t>
            </a:r>
          </a:p>
        </p:txBody>
      </p:sp>
      <p:sp>
        <p:nvSpPr>
          <p:cNvPr id="10" name="Rectangle 9"/>
          <p:cNvSpPr/>
          <p:nvPr/>
        </p:nvSpPr>
        <p:spPr>
          <a:xfrm>
            <a:off x="432000" y="1980000"/>
            <a:ext cx="5580000" cy="180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2016000"/>
            <a:ext cx="5364000" cy="1764000"/>
          </a:xfrm>
          <a:prstGeom prst="rect">
            <a:avLst/>
          </a:prstGeom>
          <a:noFill/>
        </p:spPr>
        <p:txBody>
          <a:bodyPr wrap="square" lIns="36000" rIns="36000" tIns="18000" bIns="18000" anchor="t">
            <a:spAutoFit/>
          </a:bodyPr>
          <a:lstStyle/>
          <a:p>
            <a:pPr algn="l"/>
            <a:r>
              <a:rPr sz="1300" b="0" i="0">
                <a:solidFill>
                  <a:srgbClr val="33383F"/>
                </a:solidFill>
                <a:latin typeface="Yu Gothic"/>
              </a:rPr>
              <a:t>■ 中重度者・支援困難ケースへの積極的対応</a:t>
            </a:r>
          </a:p>
          <a:p>
            <a:pPr algn="l"/>
            <a:r>
              <a:rPr sz="1300" b="0" i="0">
                <a:solidFill>
                  <a:srgbClr val="33383F"/>
                </a:solidFill>
                <a:latin typeface="Yu Gothic"/>
              </a:rPr>
              <a:t>■ 主任CMを中心とした計画的研修・指導体制</a:t>
            </a:r>
          </a:p>
          <a:p>
            <a:pPr algn="l"/>
            <a:r>
              <a:rPr sz="1300" b="0" i="0">
                <a:solidFill>
                  <a:srgbClr val="33383F"/>
                </a:solidFill>
                <a:latin typeface="Yu Gothic"/>
              </a:rPr>
              <a:t>■ 24時間連絡体制と緊急時の即応性</a:t>
            </a:r>
          </a:p>
          <a:p>
            <a:pPr algn="l"/>
            <a:r>
              <a:rPr sz="1300" b="0" i="0">
                <a:solidFill>
                  <a:srgbClr val="33383F"/>
                </a:solidFill>
                <a:latin typeface="Yu Gothic"/>
              </a:rPr>
              <a:t>■ 地域包括支援センター・他機関との連携</a:t>
            </a:r>
          </a:p>
          <a:p>
            <a:pPr algn="l"/>
            <a:r>
              <a:rPr sz="1300" b="0" i="0">
                <a:solidFill>
                  <a:srgbClr val="33383F"/>
                </a:solidFill>
                <a:latin typeface="Yu Gothic"/>
              </a:rPr>
              <a:t>■ 多職種・多サービス事業者との協働</a:t>
            </a:r>
          </a:p>
          <a:p>
            <a:pPr algn="l"/>
            <a:r>
              <a:rPr sz="1300" b="0" i="0">
                <a:solidFill>
                  <a:srgbClr val="33383F"/>
                </a:solidFill>
                <a:latin typeface="Yu Gothic"/>
              </a:rPr>
              <a:t/>
            </a:r>
          </a:p>
          <a:p>
            <a:pPr algn="l"/>
            <a:r>
              <a:rPr sz="1300" b="0" i="0">
                <a:solidFill>
                  <a:srgbClr val="33383F"/>
                </a:solidFill>
                <a:latin typeface="Yu Gothic"/>
              </a:rPr>
              <a:t>→ 個別ケースの質を担保する 体制 への評価</a:t>
            </a:r>
          </a:p>
        </p:txBody>
      </p:sp>
      <p:sp>
        <p:nvSpPr>
          <p:cNvPr id="12" name="Rectangle 11"/>
          <p:cNvSpPr/>
          <p:nvPr/>
        </p:nvSpPr>
        <p:spPr>
          <a:xfrm>
            <a:off x="6300000" y="1620000"/>
            <a:ext cx="5400000" cy="3600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2000" y="1656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事業所への影響</a:t>
            </a:r>
          </a:p>
        </p:txBody>
      </p:sp>
      <p:sp>
        <p:nvSpPr>
          <p:cNvPr id="14" name="Rectangle 13"/>
          <p:cNvSpPr/>
          <p:nvPr/>
        </p:nvSpPr>
        <p:spPr>
          <a:xfrm>
            <a:off x="6300000" y="1980000"/>
            <a:ext cx="5400000" cy="1800000"/>
          </a:xfrm>
          <a:prstGeom prst="rect">
            <a:avLst/>
          </a:prstGeom>
          <a:solidFill>
            <a:srgbClr val="E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8000" y="2016000"/>
            <a:ext cx="5184000" cy="1764000"/>
          </a:xfrm>
          <a:prstGeom prst="rect">
            <a:avLst/>
          </a:prstGeom>
          <a:noFill/>
        </p:spPr>
        <p:txBody>
          <a:bodyPr wrap="square" lIns="36000" rIns="36000" tIns="18000" bIns="18000" anchor="t">
            <a:spAutoFit/>
          </a:bodyPr>
          <a:lstStyle/>
          <a:p>
            <a:pPr algn="l"/>
            <a:r>
              <a:rPr sz="1300" b="0" i="0">
                <a:solidFill>
                  <a:srgbClr val="33383F"/>
                </a:solidFill>
                <a:latin typeface="Yu Gothic"/>
              </a:rPr>
              <a:t>■ 経営的影響:大</a:t>
            </a:r>
          </a:p>
          <a:p>
            <a:pPr algn="l"/>
            <a:r>
              <a:rPr sz="1300" b="0" i="0">
                <a:solidFill>
                  <a:srgbClr val="33383F"/>
                </a:solidFill>
                <a:latin typeface="Yu Gothic"/>
              </a:rPr>
              <a:t>    収入の数% 〜 10%超に達することも</a:t>
            </a:r>
          </a:p>
          <a:p>
            <a:pPr algn="l"/>
            <a:r>
              <a:rPr sz="1300" b="0" i="0">
                <a:solidFill>
                  <a:srgbClr val="33383F"/>
                </a:solidFill>
                <a:latin typeface="Yu Gothic"/>
              </a:rPr>
              <a:t/>
            </a:r>
          </a:p>
          <a:p>
            <a:pPr algn="l"/>
            <a:r>
              <a:rPr sz="1300" b="0" i="0">
                <a:solidFill>
                  <a:srgbClr val="33383F"/>
                </a:solidFill>
                <a:latin typeface="Yu Gothic"/>
              </a:rPr>
              <a:t>■ 人材的影響:大</a:t>
            </a:r>
          </a:p>
          <a:p>
            <a:pPr algn="l"/>
            <a:r>
              <a:rPr sz="1300" b="0" i="0">
                <a:solidFill>
                  <a:srgbClr val="33383F"/>
                </a:solidFill>
                <a:latin typeface="Yu Gothic"/>
              </a:rPr>
              <a:t>    主任CMの配置・研修計画・採用戦略</a:t>
            </a:r>
          </a:p>
          <a:p>
            <a:pPr algn="l"/>
            <a:r>
              <a:rPr sz="1300" b="0" i="0">
                <a:solidFill>
                  <a:srgbClr val="33383F"/>
                </a:solidFill>
                <a:latin typeface="Yu Gothic"/>
              </a:rPr>
              <a:t/>
            </a:r>
          </a:p>
          <a:p>
            <a:pPr algn="l"/>
            <a:r>
              <a:rPr sz="1300" b="0" i="0">
                <a:solidFill>
                  <a:srgbClr val="33383F"/>
                </a:solidFill>
                <a:latin typeface="Yu Gothic"/>
              </a:rPr>
              <a:t>■ 業務的影響:大</a:t>
            </a:r>
          </a:p>
          <a:p>
            <a:pPr algn="l"/>
            <a:r>
              <a:rPr sz="1300" b="0" i="0">
                <a:solidFill>
                  <a:srgbClr val="33383F"/>
                </a:solidFill>
                <a:latin typeface="Yu Gothic"/>
              </a:rPr>
              <a:t>    24時間体制・困難事例の受入・記録整備</a:t>
            </a:r>
          </a:p>
          <a:p>
            <a:pPr algn="l"/>
            <a:r>
              <a:rPr sz="1300" b="0" i="0">
                <a:solidFill>
                  <a:srgbClr val="33383F"/>
                </a:solidFill>
                <a:latin typeface="Yu Gothic"/>
              </a:rPr>
              <a:t/>
            </a:r>
          </a:p>
          <a:p>
            <a:pPr algn="l"/>
            <a:r>
              <a:rPr sz="1300" b="0" i="0">
                <a:solidFill>
                  <a:srgbClr val="33383F"/>
                </a:solidFill>
                <a:latin typeface="Yu Gothic"/>
              </a:rPr>
              <a:t>▶ 「取る/取らない」の判断は事業所戦略そのもの</a:t>
            </a:r>
          </a:p>
        </p:txBody>
      </p:sp>
      <p:sp>
        <p:nvSpPr>
          <p:cNvPr id="16" name="Rectangle 15"/>
          <p:cNvSpPr/>
          <p:nvPr/>
        </p:nvSpPr>
        <p:spPr>
          <a:xfrm>
            <a:off x="432000" y="3960000"/>
            <a:ext cx="11304000" cy="360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4000" y="399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主任CMの役割 ― 特定事業所加算における要(かなめ)</a:t>
            </a:r>
          </a:p>
        </p:txBody>
      </p:sp>
      <p:sp>
        <p:nvSpPr>
          <p:cNvPr id="18" name="Rectangle 17"/>
          <p:cNvSpPr/>
          <p:nvPr/>
        </p:nvSpPr>
        <p:spPr>
          <a:xfrm>
            <a:off x="432000" y="4320000"/>
            <a:ext cx="11304000" cy="180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0000" y="4356000"/>
            <a:ext cx="11088000" cy="1764000"/>
          </a:xfrm>
          <a:prstGeom prst="rect">
            <a:avLst/>
          </a:prstGeom>
          <a:noFill/>
        </p:spPr>
        <p:txBody>
          <a:bodyPr wrap="square" lIns="36000" rIns="36000" tIns="18000" bIns="18000" anchor="t">
            <a:spAutoFit/>
          </a:bodyPr>
          <a:lstStyle/>
          <a:p>
            <a:pPr algn="l"/>
            <a:r>
              <a:rPr sz="1300" b="0" i="0">
                <a:solidFill>
                  <a:srgbClr val="33383F"/>
                </a:solidFill>
                <a:latin typeface="Yu Gothic"/>
              </a:rPr>
              <a:t>■ 配置要件:加算Ⅰ・Ⅱで複数名、Ⅲ・Ⅳで1名以上(区分により異なる)</a:t>
            </a:r>
          </a:p>
          <a:p>
            <a:pPr algn="l"/>
            <a:r>
              <a:rPr sz="1300" b="0" i="0">
                <a:solidFill>
                  <a:srgbClr val="33383F"/>
                </a:solidFill>
                <a:latin typeface="Yu Gothic"/>
              </a:rPr>
              <a:t>■ 機能要件:CMの指導・教育、計画的な研修、事例検討の主催</a:t>
            </a:r>
          </a:p>
          <a:p>
            <a:pPr algn="l"/>
            <a:r>
              <a:rPr sz="1300" b="0" i="0">
                <a:solidFill>
                  <a:srgbClr val="33383F"/>
                </a:solidFill>
                <a:latin typeface="Yu Gothic"/>
              </a:rPr>
              <a:t>■ 困難事例の受け持ち:他機関との調整役、虐待・身寄りなしへの対応</a:t>
            </a:r>
          </a:p>
          <a:p>
            <a:pPr algn="l"/>
            <a:r>
              <a:rPr sz="1300" b="0" i="0">
                <a:solidFill>
                  <a:srgbClr val="33383F"/>
                </a:solidFill>
                <a:latin typeface="Yu Gothic"/>
              </a:rPr>
              <a:t>■ 地域貢献:地域ケア会議への参加、他事業所への助言</a:t>
            </a:r>
          </a:p>
          <a:p>
            <a:pPr algn="l"/>
            <a:r>
              <a:rPr sz="1300" b="0" i="0">
                <a:solidFill>
                  <a:srgbClr val="33383F"/>
                </a:solidFill>
                <a:latin typeface="Yu Gothic"/>
              </a:rPr>
              <a:t/>
            </a:r>
          </a:p>
          <a:p>
            <a:pPr algn="l"/>
            <a:r>
              <a:rPr sz="1300" b="0" i="0">
                <a:solidFill>
                  <a:srgbClr val="33383F"/>
                </a:solidFill>
                <a:latin typeface="Yu Gothic"/>
              </a:rPr>
              <a:t>▶ 主任CMが「配置」されるだけでは不十分。実質的に機能していることが要件。</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2. 特定事業所加算</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特定事業所加算 Ⅰ〜Ⅳ の区分整理</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9 / 38</a:t>
            </a:r>
          </a:p>
        </p:txBody>
      </p:sp>
      <p:sp>
        <p:nvSpPr>
          <p:cNvPr id="8" name="Rectangle 7"/>
          <p:cNvSpPr/>
          <p:nvPr/>
        </p:nvSpPr>
        <p:spPr>
          <a:xfrm>
            <a:off x="251999" y="1620000"/>
            <a:ext cx="11124000" cy="360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5999" y="1656000"/>
            <a:ext cx="1512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区分</a:t>
            </a:r>
          </a:p>
        </p:txBody>
      </p:sp>
      <p:sp>
        <p:nvSpPr>
          <p:cNvPr id="10" name="TextBox 9"/>
          <p:cNvSpPr txBox="1"/>
          <p:nvPr/>
        </p:nvSpPr>
        <p:spPr>
          <a:xfrm>
            <a:off x="1925999" y="1656000"/>
            <a:ext cx="2412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主任CM 配置</a:t>
            </a:r>
          </a:p>
        </p:txBody>
      </p:sp>
      <p:sp>
        <p:nvSpPr>
          <p:cNvPr id="11" name="TextBox 10"/>
          <p:cNvSpPr txBox="1"/>
          <p:nvPr/>
        </p:nvSpPr>
        <p:spPr>
          <a:xfrm>
            <a:off x="4445999" y="1656000"/>
            <a:ext cx="2412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常勤CM 配置</a:t>
            </a:r>
          </a:p>
        </p:txBody>
      </p:sp>
      <p:sp>
        <p:nvSpPr>
          <p:cNvPr id="12" name="TextBox 11"/>
          <p:cNvSpPr txBox="1"/>
          <p:nvPr/>
        </p:nvSpPr>
        <p:spPr>
          <a:xfrm>
            <a:off x="6965999" y="1656000"/>
            <a:ext cx="2412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中重度者割合</a:t>
            </a:r>
          </a:p>
        </p:txBody>
      </p:sp>
      <p:sp>
        <p:nvSpPr>
          <p:cNvPr id="13" name="TextBox 12"/>
          <p:cNvSpPr txBox="1"/>
          <p:nvPr/>
        </p:nvSpPr>
        <p:spPr>
          <a:xfrm>
            <a:off x="9485999" y="1656000"/>
            <a:ext cx="1836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想定する事業所</a:t>
            </a:r>
          </a:p>
        </p:txBody>
      </p:sp>
      <p:sp>
        <p:nvSpPr>
          <p:cNvPr id="14" name="Rectangle 13"/>
          <p:cNvSpPr/>
          <p:nvPr/>
        </p:nvSpPr>
        <p:spPr>
          <a:xfrm>
            <a:off x="251999" y="1980000"/>
            <a:ext cx="11124000" cy="648000"/>
          </a:xfrm>
          <a:prstGeom prst="rect">
            <a:avLst/>
          </a:prstGeom>
          <a:solidFill>
            <a:srgbClr val="E8EDF3"/>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5999" y="2034000"/>
            <a:ext cx="1512000" cy="540000"/>
          </a:xfrm>
          <a:prstGeom prst="rect">
            <a:avLst/>
          </a:prstGeom>
          <a:noFill/>
        </p:spPr>
        <p:txBody>
          <a:bodyPr wrap="square" lIns="36000" rIns="36000" tIns="18000" bIns="18000" anchor="ctr">
            <a:spAutoFit/>
          </a:bodyPr>
          <a:lstStyle/>
          <a:p>
            <a:pPr algn="ctr"/>
            <a:r>
              <a:rPr sz="1200" b="1" i="0">
                <a:solidFill>
                  <a:srgbClr val="C03A2E"/>
                </a:solidFill>
                <a:latin typeface="Yu Gothic"/>
              </a:rPr>
              <a:t>Ⅰ</a:t>
            </a:r>
          </a:p>
        </p:txBody>
      </p:sp>
      <p:sp>
        <p:nvSpPr>
          <p:cNvPr id="16" name="TextBox 15"/>
          <p:cNvSpPr txBox="1"/>
          <p:nvPr/>
        </p:nvSpPr>
        <p:spPr>
          <a:xfrm>
            <a:off x="1925999" y="2034000"/>
            <a:ext cx="2412000" cy="540000"/>
          </a:xfrm>
          <a:prstGeom prst="rect">
            <a:avLst/>
          </a:prstGeom>
          <a:noFill/>
        </p:spPr>
        <p:txBody>
          <a:bodyPr wrap="square" lIns="36000" rIns="36000" tIns="18000" bIns="18000" anchor="ctr">
            <a:spAutoFit/>
          </a:bodyPr>
          <a:lstStyle/>
          <a:p>
            <a:pPr algn="l"/>
            <a:r>
              <a:rPr sz="1200" b="0" i="0">
                <a:solidFill>
                  <a:srgbClr val="33383F"/>
                </a:solidFill>
                <a:latin typeface="Yu Gothic"/>
              </a:rPr>
              <a:t>複数名</a:t>
            </a:r>
          </a:p>
        </p:txBody>
      </p:sp>
      <p:sp>
        <p:nvSpPr>
          <p:cNvPr id="17" name="TextBox 16"/>
          <p:cNvSpPr txBox="1"/>
          <p:nvPr/>
        </p:nvSpPr>
        <p:spPr>
          <a:xfrm>
            <a:off x="4445999" y="2034000"/>
            <a:ext cx="2412000" cy="540000"/>
          </a:xfrm>
          <a:prstGeom prst="rect">
            <a:avLst/>
          </a:prstGeom>
          <a:noFill/>
        </p:spPr>
        <p:txBody>
          <a:bodyPr wrap="square" lIns="36000" rIns="36000" tIns="18000" bIns="18000" anchor="ctr">
            <a:spAutoFit/>
          </a:bodyPr>
          <a:lstStyle/>
          <a:p>
            <a:pPr algn="l"/>
            <a:r>
              <a:rPr sz="1200" b="0" i="0">
                <a:solidFill>
                  <a:srgbClr val="33383F"/>
                </a:solidFill>
                <a:latin typeface="Yu Gothic"/>
              </a:rPr>
              <a:t>複数名</a:t>
            </a:r>
          </a:p>
        </p:txBody>
      </p:sp>
      <p:sp>
        <p:nvSpPr>
          <p:cNvPr id="18" name="TextBox 17"/>
          <p:cNvSpPr txBox="1"/>
          <p:nvPr/>
        </p:nvSpPr>
        <p:spPr>
          <a:xfrm>
            <a:off x="6965999" y="2034000"/>
            <a:ext cx="2412000" cy="540000"/>
          </a:xfrm>
          <a:prstGeom prst="rect">
            <a:avLst/>
          </a:prstGeom>
          <a:noFill/>
        </p:spPr>
        <p:txBody>
          <a:bodyPr wrap="square" lIns="36000" rIns="36000" tIns="18000" bIns="18000" anchor="ctr">
            <a:spAutoFit/>
          </a:bodyPr>
          <a:lstStyle/>
          <a:p>
            <a:pPr algn="l"/>
            <a:r>
              <a:rPr sz="1200" b="0" i="0">
                <a:solidFill>
                  <a:srgbClr val="33383F"/>
                </a:solidFill>
                <a:latin typeface="Yu Gothic"/>
              </a:rPr>
              <a:t>高水準</a:t>
            </a:r>
          </a:p>
        </p:txBody>
      </p:sp>
      <p:sp>
        <p:nvSpPr>
          <p:cNvPr id="19" name="TextBox 18"/>
          <p:cNvSpPr txBox="1"/>
          <p:nvPr/>
        </p:nvSpPr>
        <p:spPr>
          <a:xfrm>
            <a:off x="9485999" y="2034000"/>
            <a:ext cx="1836000" cy="540000"/>
          </a:xfrm>
          <a:prstGeom prst="rect">
            <a:avLst/>
          </a:prstGeom>
          <a:noFill/>
        </p:spPr>
        <p:txBody>
          <a:bodyPr wrap="square" lIns="36000" rIns="36000" tIns="18000" bIns="18000" anchor="ctr">
            <a:spAutoFit/>
          </a:bodyPr>
          <a:lstStyle/>
          <a:p>
            <a:pPr algn="l"/>
            <a:r>
              <a:rPr sz="1200" b="0" i="0">
                <a:solidFill>
                  <a:srgbClr val="33383F"/>
                </a:solidFill>
                <a:latin typeface="Yu Gothic"/>
              </a:rPr>
              <a:t>大規模・困難ケース</a:t>
            </a:r>
          </a:p>
          <a:p>
            <a:pPr algn="l"/>
            <a:r>
              <a:rPr sz="1200" b="0" i="0">
                <a:solidFill>
                  <a:srgbClr val="33383F"/>
                </a:solidFill>
                <a:latin typeface="Yu Gothic"/>
              </a:rPr>
              <a:t>主軸事業所</a:t>
            </a:r>
          </a:p>
        </p:txBody>
      </p:sp>
      <p:sp>
        <p:nvSpPr>
          <p:cNvPr id="20" name="Rectangle 19"/>
          <p:cNvSpPr/>
          <p:nvPr/>
        </p:nvSpPr>
        <p:spPr>
          <a:xfrm>
            <a:off x="251999" y="2628000"/>
            <a:ext cx="11124000" cy="648000"/>
          </a:xfrm>
          <a:prstGeom prst="rect">
            <a:avLst/>
          </a:prstGeom>
          <a:solidFill>
            <a:srgbClr val="FFFFFF"/>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999" y="2682000"/>
            <a:ext cx="1512000" cy="540000"/>
          </a:xfrm>
          <a:prstGeom prst="rect">
            <a:avLst/>
          </a:prstGeom>
          <a:noFill/>
        </p:spPr>
        <p:txBody>
          <a:bodyPr wrap="square" lIns="36000" rIns="36000" tIns="18000" bIns="18000" anchor="ctr">
            <a:spAutoFit/>
          </a:bodyPr>
          <a:lstStyle/>
          <a:p>
            <a:pPr algn="ctr"/>
            <a:r>
              <a:rPr sz="1200" b="1" i="0">
                <a:solidFill>
                  <a:srgbClr val="C03A2E"/>
                </a:solidFill>
                <a:latin typeface="Yu Gothic"/>
              </a:rPr>
              <a:t>Ⅱ</a:t>
            </a:r>
          </a:p>
        </p:txBody>
      </p:sp>
      <p:sp>
        <p:nvSpPr>
          <p:cNvPr id="22" name="TextBox 21"/>
          <p:cNvSpPr txBox="1"/>
          <p:nvPr/>
        </p:nvSpPr>
        <p:spPr>
          <a:xfrm>
            <a:off x="1925999" y="2682000"/>
            <a:ext cx="2412000" cy="540000"/>
          </a:xfrm>
          <a:prstGeom prst="rect">
            <a:avLst/>
          </a:prstGeom>
          <a:noFill/>
        </p:spPr>
        <p:txBody>
          <a:bodyPr wrap="square" lIns="36000" rIns="36000" tIns="18000" bIns="18000" anchor="ctr">
            <a:spAutoFit/>
          </a:bodyPr>
          <a:lstStyle/>
          <a:p>
            <a:pPr algn="l"/>
            <a:r>
              <a:rPr sz="1200" b="0" i="0">
                <a:solidFill>
                  <a:srgbClr val="33383F"/>
                </a:solidFill>
                <a:latin typeface="Yu Gothic"/>
              </a:rPr>
              <a:t>複数名</a:t>
            </a:r>
          </a:p>
        </p:txBody>
      </p:sp>
      <p:sp>
        <p:nvSpPr>
          <p:cNvPr id="23" name="TextBox 22"/>
          <p:cNvSpPr txBox="1"/>
          <p:nvPr/>
        </p:nvSpPr>
        <p:spPr>
          <a:xfrm>
            <a:off x="4445999" y="2682000"/>
            <a:ext cx="2412000" cy="540000"/>
          </a:xfrm>
          <a:prstGeom prst="rect">
            <a:avLst/>
          </a:prstGeom>
          <a:noFill/>
        </p:spPr>
        <p:txBody>
          <a:bodyPr wrap="square" lIns="36000" rIns="36000" tIns="18000" bIns="18000" anchor="ctr">
            <a:spAutoFit/>
          </a:bodyPr>
          <a:lstStyle/>
          <a:p>
            <a:pPr algn="l"/>
            <a:r>
              <a:rPr sz="1200" b="0" i="0">
                <a:solidFill>
                  <a:srgbClr val="33383F"/>
                </a:solidFill>
                <a:latin typeface="Yu Gothic"/>
              </a:rPr>
              <a:t>複数名</a:t>
            </a:r>
          </a:p>
        </p:txBody>
      </p:sp>
      <p:sp>
        <p:nvSpPr>
          <p:cNvPr id="24" name="TextBox 23"/>
          <p:cNvSpPr txBox="1"/>
          <p:nvPr/>
        </p:nvSpPr>
        <p:spPr>
          <a:xfrm>
            <a:off x="6965999" y="2682000"/>
            <a:ext cx="2412000" cy="540000"/>
          </a:xfrm>
          <a:prstGeom prst="rect">
            <a:avLst/>
          </a:prstGeom>
          <a:noFill/>
        </p:spPr>
        <p:txBody>
          <a:bodyPr wrap="square" lIns="36000" rIns="36000" tIns="18000" bIns="18000" anchor="ctr">
            <a:spAutoFit/>
          </a:bodyPr>
          <a:lstStyle/>
          <a:p>
            <a:pPr algn="l"/>
            <a:r>
              <a:rPr sz="1200" b="0" i="0">
                <a:solidFill>
                  <a:srgbClr val="33383F"/>
                </a:solidFill>
                <a:latin typeface="Yu Gothic"/>
              </a:rPr>
              <a:t>中水準</a:t>
            </a:r>
          </a:p>
        </p:txBody>
      </p:sp>
      <p:sp>
        <p:nvSpPr>
          <p:cNvPr id="25" name="TextBox 24"/>
          <p:cNvSpPr txBox="1"/>
          <p:nvPr/>
        </p:nvSpPr>
        <p:spPr>
          <a:xfrm>
            <a:off x="9485999" y="2682000"/>
            <a:ext cx="1836000" cy="540000"/>
          </a:xfrm>
          <a:prstGeom prst="rect">
            <a:avLst/>
          </a:prstGeom>
          <a:noFill/>
        </p:spPr>
        <p:txBody>
          <a:bodyPr wrap="square" lIns="36000" rIns="36000" tIns="18000" bIns="18000" anchor="ctr">
            <a:spAutoFit/>
          </a:bodyPr>
          <a:lstStyle/>
          <a:p>
            <a:pPr algn="l"/>
            <a:r>
              <a:rPr sz="1200" b="0" i="0">
                <a:solidFill>
                  <a:srgbClr val="33383F"/>
                </a:solidFill>
                <a:latin typeface="Yu Gothic"/>
              </a:rPr>
              <a:t>中規模・地域</a:t>
            </a:r>
          </a:p>
          <a:p>
            <a:pPr algn="l"/>
            <a:r>
              <a:rPr sz="1200" b="0" i="0">
                <a:solidFill>
                  <a:srgbClr val="33383F"/>
                </a:solidFill>
                <a:latin typeface="Yu Gothic"/>
              </a:rPr>
              <a:t>中核事業所</a:t>
            </a:r>
          </a:p>
        </p:txBody>
      </p:sp>
      <p:sp>
        <p:nvSpPr>
          <p:cNvPr id="26" name="Rectangle 25"/>
          <p:cNvSpPr/>
          <p:nvPr/>
        </p:nvSpPr>
        <p:spPr>
          <a:xfrm>
            <a:off x="251999" y="3276000"/>
            <a:ext cx="11124000" cy="648000"/>
          </a:xfrm>
          <a:prstGeom prst="rect">
            <a:avLst/>
          </a:prstGeom>
          <a:solidFill>
            <a:srgbClr val="E8EDF3"/>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999" y="3330000"/>
            <a:ext cx="1512000" cy="540000"/>
          </a:xfrm>
          <a:prstGeom prst="rect">
            <a:avLst/>
          </a:prstGeom>
          <a:noFill/>
        </p:spPr>
        <p:txBody>
          <a:bodyPr wrap="square" lIns="36000" rIns="36000" tIns="18000" bIns="18000" anchor="ctr">
            <a:spAutoFit/>
          </a:bodyPr>
          <a:lstStyle/>
          <a:p>
            <a:pPr algn="ctr"/>
            <a:r>
              <a:rPr sz="1200" b="1" i="0">
                <a:solidFill>
                  <a:srgbClr val="C03A2E"/>
                </a:solidFill>
                <a:latin typeface="Yu Gothic"/>
              </a:rPr>
              <a:t>Ⅲ</a:t>
            </a:r>
          </a:p>
        </p:txBody>
      </p:sp>
      <p:sp>
        <p:nvSpPr>
          <p:cNvPr id="28" name="TextBox 27"/>
          <p:cNvSpPr txBox="1"/>
          <p:nvPr/>
        </p:nvSpPr>
        <p:spPr>
          <a:xfrm>
            <a:off x="1925999" y="3330000"/>
            <a:ext cx="2412000" cy="540000"/>
          </a:xfrm>
          <a:prstGeom prst="rect">
            <a:avLst/>
          </a:prstGeom>
          <a:noFill/>
        </p:spPr>
        <p:txBody>
          <a:bodyPr wrap="square" lIns="36000" rIns="36000" tIns="18000" bIns="18000" anchor="ctr">
            <a:spAutoFit/>
          </a:bodyPr>
          <a:lstStyle/>
          <a:p>
            <a:pPr algn="l"/>
            <a:r>
              <a:rPr sz="1200" b="0" i="0">
                <a:solidFill>
                  <a:srgbClr val="33383F"/>
                </a:solidFill>
                <a:latin typeface="Yu Gothic"/>
              </a:rPr>
              <a:t>1 名以上</a:t>
            </a:r>
          </a:p>
        </p:txBody>
      </p:sp>
      <p:sp>
        <p:nvSpPr>
          <p:cNvPr id="29" name="TextBox 28"/>
          <p:cNvSpPr txBox="1"/>
          <p:nvPr/>
        </p:nvSpPr>
        <p:spPr>
          <a:xfrm>
            <a:off x="4445999" y="3330000"/>
            <a:ext cx="2412000" cy="540000"/>
          </a:xfrm>
          <a:prstGeom prst="rect">
            <a:avLst/>
          </a:prstGeom>
          <a:noFill/>
        </p:spPr>
        <p:txBody>
          <a:bodyPr wrap="square" lIns="36000" rIns="36000" tIns="18000" bIns="18000" anchor="ctr">
            <a:spAutoFit/>
          </a:bodyPr>
          <a:lstStyle/>
          <a:p>
            <a:pPr algn="l"/>
            <a:r>
              <a:rPr sz="1200" b="0" i="0">
                <a:solidFill>
                  <a:srgbClr val="33383F"/>
                </a:solidFill>
                <a:latin typeface="Yu Gothic"/>
              </a:rPr>
              <a:t>複数名</a:t>
            </a:r>
          </a:p>
        </p:txBody>
      </p:sp>
      <p:sp>
        <p:nvSpPr>
          <p:cNvPr id="30" name="TextBox 29"/>
          <p:cNvSpPr txBox="1"/>
          <p:nvPr/>
        </p:nvSpPr>
        <p:spPr>
          <a:xfrm>
            <a:off x="6965999" y="3330000"/>
            <a:ext cx="2412000" cy="540000"/>
          </a:xfrm>
          <a:prstGeom prst="rect">
            <a:avLst/>
          </a:prstGeom>
          <a:noFill/>
        </p:spPr>
        <p:txBody>
          <a:bodyPr wrap="square" lIns="36000" rIns="36000" tIns="18000" bIns="18000" anchor="ctr">
            <a:spAutoFit/>
          </a:bodyPr>
          <a:lstStyle/>
          <a:p>
            <a:pPr algn="l"/>
            <a:r>
              <a:rPr sz="1200" b="0" i="0">
                <a:solidFill>
                  <a:srgbClr val="33383F"/>
                </a:solidFill>
                <a:latin typeface="Yu Gothic"/>
              </a:rPr>
              <a:t>一定水準</a:t>
            </a:r>
          </a:p>
        </p:txBody>
      </p:sp>
      <p:sp>
        <p:nvSpPr>
          <p:cNvPr id="31" name="TextBox 30"/>
          <p:cNvSpPr txBox="1"/>
          <p:nvPr/>
        </p:nvSpPr>
        <p:spPr>
          <a:xfrm>
            <a:off x="9485999" y="3330000"/>
            <a:ext cx="1836000" cy="540000"/>
          </a:xfrm>
          <a:prstGeom prst="rect">
            <a:avLst/>
          </a:prstGeom>
          <a:noFill/>
        </p:spPr>
        <p:txBody>
          <a:bodyPr wrap="square" lIns="36000" rIns="36000" tIns="18000" bIns="18000" anchor="ctr">
            <a:spAutoFit/>
          </a:bodyPr>
          <a:lstStyle/>
          <a:p>
            <a:pPr algn="l"/>
            <a:r>
              <a:rPr sz="1200" b="0" i="0">
                <a:solidFill>
                  <a:srgbClr val="33383F"/>
                </a:solidFill>
                <a:latin typeface="Yu Gothic"/>
              </a:rPr>
              <a:t>中小規模・体制</a:t>
            </a:r>
          </a:p>
          <a:p>
            <a:pPr algn="l"/>
            <a:r>
              <a:rPr sz="1200" b="0" i="0">
                <a:solidFill>
                  <a:srgbClr val="33383F"/>
                </a:solidFill>
                <a:latin typeface="Yu Gothic"/>
              </a:rPr>
              <a:t>整備中事業所</a:t>
            </a:r>
          </a:p>
        </p:txBody>
      </p:sp>
      <p:sp>
        <p:nvSpPr>
          <p:cNvPr id="32" name="Rectangle 31"/>
          <p:cNvSpPr/>
          <p:nvPr/>
        </p:nvSpPr>
        <p:spPr>
          <a:xfrm>
            <a:off x="251999" y="3924000"/>
            <a:ext cx="11124000" cy="648000"/>
          </a:xfrm>
          <a:prstGeom prst="rect">
            <a:avLst/>
          </a:prstGeom>
          <a:solidFill>
            <a:srgbClr val="FFFFFF"/>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5999" y="3978000"/>
            <a:ext cx="1512000" cy="540000"/>
          </a:xfrm>
          <a:prstGeom prst="rect">
            <a:avLst/>
          </a:prstGeom>
          <a:noFill/>
        </p:spPr>
        <p:txBody>
          <a:bodyPr wrap="square" lIns="36000" rIns="36000" tIns="18000" bIns="18000" anchor="ctr">
            <a:spAutoFit/>
          </a:bodyPr>
          <a:lstStyle/>
          <a:p>
            <a:pPr algn="ctr"/>
            <a:r>
              <a:rPr sz="1200" b="1" i="0">
                <a:solidFill>
                  <a:srgbClr val="C03A2E"/>
                </a:solidFill>
                <a:latin typeface="Yu Gothic"/>
              </a:rPr>
              <a:t>Ⅳ</a:t>
            </a:r>
          </a:p>
        </p:txBody>
      </p:sp>
      <p:sp>
        <p:nvSpPr>
          <p:cNvPr id="34" name="TextBox 33"/>
          <p:cNvSpPr txBox="1"/>
          <p:nvPr/>
        </p:nvSpPr>
        <p:spPr>
          <a:xfrm>
            <a:off x="1925999" y="3978000"/>
            <a:ext cx="2412000" cy="540000"/>
          </a:xfrm>
          <a:prstGeom prst="rect">
            <a:avLst/>
          </a:prstGeom>
          <a:noFill/>
        </p:spPr>
        <p:txBody>
          <a:bodyPr wrap="square" lIns="36000" rIns="36000" tIns="18000" bIns="18000" anchor="ctr">
            <a:spAutoFit/>
          </a:bodyPr>
          <a:lstStyle/>
          <a:p>
            <a:pPr algn="l"/>
            <a:r>
              <a:rPr sz="1200" b="0" i="0">
                <a:solidFill>
                  <a:srgbClr val="33383F"/>
                </a:solidFill>
                <a:latin typeface="Yu Gothic"/>
              </a:rPr>
              <a:t>1 名以上</a:t>
            </a:r>
          </a:p>
        </p:txBody>
      </p:sp>
      <p:sp>
        <p:nvSpPr>
          <p:cNvPr id="35" name="TextBox 34"/>
          <p:cNvSpPr txBox="1"/>
          <p:nvPr/>
        </p:nvSpPr>
        <p:spPr>
          <a:xfrm>
            <a:off x="4445999" y="3978000"/>
            <a:ext cx="2412000" cy="540000"/>
          </a:xfrm>
          <a:prstGeom prst="rect">
            <a:avLst/>
          </a:prstGeom>
          <a:noFill/>
        </p:spPr>
        <p:txBody>
          <a:bodyPr wrap="square" lIns="36000" rIns="36000" tIns="18000" bIns="18000" anchor="ctr">
            <a:spAutoFit/>
          </a:bodyPr>
          <a:lstStyle/>
          <a:p>
            <a:pPr algn="l"/>
            <a:r>
              <a:rPr sz="1200" b="0" i="0">
                <a:solidFill>
                  <a:srgbClr val="33383F"/>
                </a:solidFill>
                <a:latin typeface="Yu Gothic"/>
              </a:rPr>
              <a:t>1 名以上</a:t>
            </a:r>
          </a:p>
        </p:txBody>
      </p:sp>
      <p:sp>
        <p:nvSpPr>
          <p:cNvPr id="36" name="TextBox 35"/>
          <p:cNvSpPr txBox="1"/>
          <p:nvPr/>
        </p:nvSpPr>
        <p:spPr>
          <a:xfrm>
            <a:off x="6965999" y="3978000"/>
            <a:ext cx="2412000" cy="540000"/>
          </a:xfrm>
          <a:prstGeom prst="rect">
            <a:avLst/>
          </a:prstGeom>
          <a:noFill/>
        </p:spPr>
        <p:txBody>
          <a:bodyPr wrap="square" lIns="36000" rIns="36000" tIns="18000" bIns="18000" anchor="ctr">
            <a:spAutoFit/>
          </a:bodyPr>
          <a:lstStyle/>
          <a:p>
            <a:pPr algn="l"/>
            <a:r>
              <a:rPr sz="1200" b="0" i="0">
                <a:solidFill>
                  <a:srgbClr val="33383F"/>
                </a:solidFill>
                <a:latin typeface="Yu Gothic"/>
              </a:rPr>
              <a:t>要件あり</a:t>
            </a:r>
          </a:p>
        </p:txBody>
      </p:sp>
      <p:sp>
        <p:nvSpPr>
          <p:cNvPr id="37" name="TextBox 36"/>
          <p:cNvSpPr txBox="1"/>
          <p:nvPr/>
        </p:nvSpPr>
        <p:spPr>
          <a:xfrm>
            <a:off x="9485999" y="3978000"/>
            <a:ext cx="1836000" cy="540000"/>
          </a:xfrm>
          <a:prstGeom prst="rect">
            <a:avLst/>
          </a:prstGeom>
          <a:noFill/>
        </p:spPr>
        <p:txBody>
          <a:bodyPr wrap="square" lIns="36000" rIns="36000" tIns="18000" bIns="18000" anchor="ctr">
            <a:spAutoFit/>
          </a:bodyPr>
          <a:lstStyle/>
          <a:p>
            <a:pPr algn="l"/>
            <a:r>
              <a:rPr sz="1200" b="0" i="0">
                <a:solidFill>
                  <a:srgbClr val="33383F"/>
                </a:solidFill>
                <a:latin typeface="Yu Gothic"/>
              </a:rPr>
              <a:t>新規取得を目指す</a:t>
            </a:r>
          </a:p>
          <a:p>
            <a:pPr algn="l"/>
            <a:r>
              <a:rPr sz="1200" b="0" i="0">
                <a:solidFill>
                  <a:srgbClr val="33383F"/>
                </a:solidFill>
                <a:latin typeface="Yu Gothic"/>
              </a:rPr>
              <a:t>小規模事業所</a:t>
            </a:r>
          </a:p>
        </p:txBody>
      </p:sp>
      <p:sp>
        <p:nvSpPr>
          <p:cNvPr id="38" name="Rectangle 37"/>
          <p:cNvSpPr/>
          <p:nvPr/>
        </p:nvSpPr>
        <p:spPr>
          <a:xfrm>
            <a:off x="432000" y="4860000"/>
            <a:ext cx="11304000" cy="360000"/>
          </a:xfrm>
          <a:prstGeom prst="rect">
            <a:avLst/>
          </a:prstGeom>
          <a:solidFill>
            <a:srgbClr val="375A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4000" y="489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区分共通の主要要件</a:t>
            </a:r>
          </a:p>
        </p:txBody>
      </p:sp>
      <p:sp>
        <p:nvSpPr>
          <p:cNvPr id="40" name="Rectangle 39"/>
          <p:cNvSpPr/>
          <p:nvPr/>
        </p:nvSpPr>
        <p:spPr>
          <a:xfrm>
            <a:off x="432000" y="5220000"/>
            <a:ext cx="11304000" cy="90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0000" y="5256000"/>
            <a:ext cx="11088000" cy="864000"/>
          </a:xfrm>
          <a:prstGeom prst="rect">
            <a:avLst/>
          </a:prstGeom>
          <a:noFill/>
        </p:spPr>
        <p:txBody>
          <a:bodyPr wrap="square" lIns="36000" rIns="36000" tIns="18000" bIns="18000" anchor="t">
            <a:spAutoFit/>
          </a:bodyPr>
          <a:lstStyle/>
          <a:p>
            <a:pPr algn="l"/>
            <a:r>
              <a:rPr sz="1200" b="0" i="0">
                <a:solidFill>
                  <a:srgbClr val="33383F"/>
                </a:solidFill>
                <a:latin typeface="Yu Gothic"/>
              </a:rPr>
              <a:t>■ 24時間連絡可能な体制  ■ 計画的な研修(年度計画)  ■ 事例検討の実施(自・他事業所も含む)</a:t>
            </a:r>
          </a:p>
          <a:p>
            <a:pPr algn="l"/>
            <a:r>
              <a:rPr sz="1200" b="0" i="0">
                <a:solidFill>
                  <a:srgbClr val="33383F"/>
                </a:solidFill>
                <a:latin typeface="Yu Gothic"/>
              </a:rPr>
              <a:t>■ 運営基準減算がない  ■ 居宅サービス計画の届出(条文上の要件)</a:t>
            </a:r>
          </a:p>
          <a:p>
            <a:pPr algn="l"/>
            <a:r>
              <a:rPr sz="1200" b="0" i="0">
                <a:solidFill>
                  <a:srgbClr val="33383F"/>
                </a:solidFill>
                <a:latin typeface="Yu Gothic"/>
              </a:rPr>
              <a:t>■ 必要に応じた利用者宅訪問・他機関連携  ■ 地域包括支援センターからの相談受け入れ実績</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2. 特定事業所加算</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算定要件チェックリスト ― 共通要件</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10 / 38</a:t>
            </a:r>
          </a:p>
        </p:txBody>
      </p:sp>
      <p:sp>
        <p:nvSpPr>
          <p:cNvPr id="8" name="Rectangle 7"/>
          <p:cNvSpPr/>
          <p:nvPr/>
        </p:nvSpPr>
        <p:spPr>
          <a:xfrm>
            <a:off x="432000" y="1620000"/>
            <a:ext cx="11304000" cy="432000"/>
          </a:xfrm>
          <a:prstGeom prst="rect">
            <a:avLst/>
          </a:prstGeom>
          <a:solidFill>
            <a:srgbClr val="E8EDF3"/>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0000" y="1710000"/>
            <a:ext cx="251999" cy="251999"/>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000" y="1692000"/>
            <a:ext cx="1980000" cy="288000"/>
          </a:xfrm>
          <a:prstGeom prst="rect">
            <a:avLst/>
          </a:prstGeom>
          <a:noFill/>
        </p:spPr>
        <p:txBody>
          <a:bodyPr wrap="square" lIns="36000" rIns="36000" tIns="18000" bIns="18000" anchor="ctr">
            <a:spAutoFit/>
          </a:bodyPr>
          <a:lstStyle/>
          <a:p>
            <a:pPr algn="l"/>
            <a:r>
              <a:rPr sz="1200" b="1" i="0">
                <a:solidFill>
                  <a:srgbClr val="142B4A"/>
                </a:solidFill>
                <a:latin typeface="Yu Gothic"/>
              </a:rPr>
              <a:t>人員配置</a:t>
            </a:r>
          </a:p>
        </p:txBody>
      </p:sp>
      <p:sp>
        <p:nvSpPr>
          <p:cNvPr id="11" name="TextBox 10"/>
          <p:cNvSpPr txBox="1"/>
          <p:nvPr/>
        </p:nvSpPr>
        <p:spPr>
          <a:xfrm>
            <a:off x="2880000" y="1692000"/>
            <a:ext cx="8952119" cy="288000"/>
          </a:xfrm>
          <a:prstGeom prst="rect">
            <a:avLst/>
          </a:prstGeom>
          <a:noFill/>
        </p:spPr>
        <p:txBody>
          <a:bodyPr wrap="square" lIns="36000" rIns="36000" tIns="18000" bIns="18000" anchor="ctr">
            <a:spAutoFit/>
          </a:bodyPr>
          <a:lstStyle/>
          <a:p>
            <a:pPr algn="l"/>
            <a:r>
              <a:rPr sz="1100" b="0" i="0">
                <a:solidFill>
                  <a:srgbClr val="33383F"/>
                </a:solidFill>
                <a:latin typeface="Yu Gothic"/>
              </a:rPr>
              <a:t>主任CM・常勤CMの配置基準を満たしているか(区分ごとに異なる)</a:t>
            </a:r>
          </a:p>
        </p:txBody>
      </p:sp>
      <p:sp>
        <p:nvSpPr>
          <p:cNvPr id="12" name="Rectangle 11"/>
          <p:cNvSpPr/>
          <p:nvPr/>
        </p:nvSpPr>
        <p:spPr>
          <a:xfrm>
            <a:off x="432000" y="2070000"/>
            <a:ext cx="11304000" cy="432000"/>
          </a:xfrm>
          <a:prstGeom prst="rect">
            <a:avLst/>
          </a:prstGeom>
          <a:solidFill>
            <a:srgbClr val="FFFFFF"/>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0000" y="2160000"/>
            <a:ext cx="251999" cy="251999"/>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000" y="2142000"/>
            <a:ext cx="1980000" cy="288000"/>
          </a:xfrm>
          <a:prstGeom prst="rect">
            <a:avLst/>
          </a:prstGeom>
          <a:noFill/>
        </p:spPr>
        <p:txBody>
          <a:bodyPr wrap="square" lIns="36000" rIns="36000" tIns="18000" bIns="18000" anchor="ctr">
            <a:spAutoFit/>
          </a:bodyPr>
          <a:lstStyle/>
          <a:p>
            <a:pPr algn="l"/>
            <a:r>
              <a:rPr sz="1200" b="1" i="0">
                <a:solidFill>
                  <a:srgbClr val="142B4A"/>
                </a:solidFill>
                <a:latin typeface="Yu Gothic"/>
              </a:rPr>
              <a:t>研修計画</a:t>
            </a:r>
          </a:p>
        </p:txBody>
      </p:sp>
      <p:sp>
        <p:nvSpPr>
          <p:cNvPr id="15" name="TextBox 14"/>
          <p:cNvSpPr txBox="1"/>
          <p:nvPr/>
        </p:nvSpPr>
        <p:spPr>
          <a:xfrm>
            <a:off x="2880000" y="2142000"/>
            <a:ext cx="8952119" cy="288000"/>
          </a:xfrm>
          <a:prstGeom prst="rect">
            <a:avLst/>
          </a:prstGeom>
          <a:noFill/>
        </p:spPr>
        <p:txBody>
          <a:bodyPr wrap="square" lIns="36000" rIns="36000" tIns="18000" bIns="18000" anchor="ctr">
            <a:spAutoFit/>
          </a:bodyPr>
          <a:lstStyle/>
          <a:p>
            <a:pPr algn="l"/>
            <a:r>
              <a:rPr sz="1100" b="0" i="0">
                <a:solidFill>
                  <a:srgbClr val="33383F"/>
                </a:solidFill>
                <a:latin typeface="Yu Gothic"/>
              </a:rPr>
              <a:t>個別CMの研修計画を策定し、実施・記録しているか</a:t>
            </a:r>
          </a:p>
        </p:txBody>
      </p:sp>
      <p:sp>
        <p:nvSpPr>
          <p:cNvPr id="16" name="Rectangle 15"/>
          <p:cNvSpPr/>
          <p:nvPr/>
        </p:nvSpPr>
        <p:spPr>
          <a:xfrm>
            <a:off x="432000" y="2520000"/>
            <a:ext cx="11304000" cy="432000"/>
          </a:xfrm>
          <a:prstGeom prst="rect">
            <a:avLst/>
          </a:prstGeom>
          <a:solidFill>
            <a:srgbClr val="E8EDF3"/>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0000" y="2610000"/>
            <a:ext cx="251999" cy="251999"/>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000" y="2592000"/>
            <a:ext cx="1980000" cy="288000"/>
          </a:xfrm>
          <a:prstGeom prst="rect">
            <a:avLst/>
          </a:prstGeom>
          <a:noFill/>
        </p:spPr>
        <p:txBody>
          <a:bodyPr wrap="square" lIns="36000" rIns="36000" tIns="18000" bIns="18000" anchor="ctr">
            <a:spAutoFit/>
          </a:bodyPr>
          <a:lstStyle/>
          <a:p>
            <a:pPr algn="l"/>
            <a:r>
              <a:rPr sz="1200" b="1" i="0">
                <a:solidFill>
                  <a:srgbClr val="142B4A"/>
                </a:solidFill>
                <a:latin typeface="Yu Gothic"/>
              </a:rPr>
              <a:t>会議の定例化</a:t>
            </a:r>
          </a:p>
        </p:txBody>
      </p:sp>
      <p:sp>
        <p:nvSpPr>
          <p:cNvPr id="19" name="TextBox 18"/>
          <p:cNvSpPr txBox="1"/>
          <p:nvPr/>
        </p:nvSpPr>
        <p:spPr>
          <a:xfrm>
            <a:off x="2880000" y="2592000"/>
            <a:ext cx="8952119" cy="288000"/>
          </a:xfrm>
          <a:prstGeom prst="rect">
            <a:avLst/>
          </a:prstGeom>
          <a:noFill/>
        </p:spPr>
        <p:txBody>
          <a:bodyPr wrap="square" lIns="36000" rIns="36000" tIns="18000" bIns="18000" anchor="ctr">
            <a:spAutoFit/>
          </a:bodyPr>
          <a:lstStyle/>
          <a:p>
            <a:pPr algn="l"/>
            <a:r>
              <a:rPr sz="1100" b="0" i="0">
                <a:solidFill>
                  <a:srgbClr val="33383F"/>
                </a:solidFill>
                <a:latin typeface="Yu Gothic"/>
              </a:rPr>
              <a:t>利用者情報の伝達・取扱方針について定期的な会議を開催しているか</a:t>
            </a:r>
          </a:p>
        </p:txBody>
      </p:sp>
      <p:sp>
        <p:nvSpPr>
          <p:cNvPr id="20" name="Rectangle 19"/>
          <p:cNvSpPr/>
          <p:nvPr/>
        </p:nvSpPr>
        <p:spPr>
          <a:xfrm>
            <a:off x="432000" y="2970000"/>
            <a:ext cx="11304000" cy="432000"/>
          </a:xfrm>
          <a:prstGeom prst="rect">
            <a:avLst/>
          </a:prstGeom>
          <a:solidFill>
            <a:srgbClr val="FFFFFF"/>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0000" y="3060000"/>
            <a:ext cx="251999" cy="251999"/>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4000" y="3042000"/>
            <a:ext cx="1980000" cy="288000"/>
          </a:xfrm>
          <a:prstGeom prst="rect">
            <a:avLst/>
          </a:prstGeom>
          <a:noFill/>
        </p:spPr>
        <p:txBody>
          <a:bodyPr wrap="square" lIns="36000" rIns="36000" tIns="18000" bIns="18000" anchor="ctr">
            <a:spAutoFit/>
          </a:bodyPr>
          <a:lstStyle/>
          <a:p>
            <a:pPr algn="l"/>
            <a:r>
              <a:rPr sz="1200" b="1" i="0">
                <a:solidFill>
                  <a:srgbClr val="142B4A"/>
                </a:solidFill>
                <a:latin typeface="Yu Gothic"/>
              </a:rPr>
              <a:t>事例検討</a:t>
            </a:r>
          </a:p>
        </p:txBody>
      </p:sp>
      <p:sp>
        <p:nvSpPr>
          <p:cNvPr id="23" name="TextBox 22"/>
          <p:cNvSpPr txBox="1"/>
          <p:nvPr/>
        </p:nvSpPr>
        <p:spPr>
          <a:xfrm>
            <a:off x="2880000" y="3042000"/>
            <a:ext cx="8952119" cy="288000"/>
          </a:xfrm>
          <a:prstGeom prst="rect">
            <a:avLst/>
          </a:prstGeom>
          <a:noFill/>
        </p:spPr>
        <p:txBody>
          <a:bodyPr wrap="square" lIns="36000" rIns="36000" tIns="18000" bIns="18000" anchor="ctr">
            <a:spAutoFit/>
          </a:bodyPr>
          <a:lstStyle/>
          <a:p>
            <a:pPr algn="l"/>
            <a:r>
              <a:rPr sz="1100" b="0" i="0">
                <a:solidFill>
                  <a:srgbClr val="33383F"/>
                </a:solidFill>
                <a:latin typeface="Yu Gothic"/>
              </a:rPr>
              <a:t>事業所内・他事業所も含めた事例検討会を定期的に実施しているか</a:t>
            </a:r>
          </a:p>
        </p:txBody>
      </p:sp>
      <p:sp>
        <p:nvSpPr>
          <p:cNvPr id="24" name="Rectangle 23"/>
          <p:cNvSpPr/>
          <p:nvPr/>
        </p:nvSpPr>
        <p:spPr>
          <a:xfrm>
            <a:off x="432000" y="3420000"/>
            <a:ext cx="11304000" cy="432000"/>
          </a:xfrm>
          <a:prstGeom prst="rect">
            <a:avLst/>
          </a:prstGeom>
          <a:solidFill>
            <a:srgbClr val="E8EDF3"/>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0000" y="3510000"/>
            <a:ext cx="251999" cy="251999"/>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4000" y="3492000"/>
            <a:ext cx="1980000" cy="288000"/>
          </a:xfrm>
          <a:prstGeom prst="rect">
            <a:avLst/>
          </a:prstGeom>
          <a:noFill/>
        </p:spPr>
        <p:txBody>
          <a:bodyPr wrap="square" lIns="36000" rIns="36000" tIns="18000" bIns="18000" anchor="ctr">
            <a:spAutoFit/>
          </a:bodyPr>
          <a:lstStyle/>
          <a:p>
            <a:pPr algn="l"/>
            <a:r>
              <a:rPr sz="1200" b="1" i="0">
                <a:solidFill>
                  <a:srgbClr val="142B4A"/>
                </a:solidFill>
                <a:latin typeface="Yu Gothic"/>
              </a:rPr>
              <a:t>24時間体制</a:t>
            </a:r>
          </a:p>
        </p:txBody>
      </p:sp>
      <p:sp>
        <p:nvSpPr>
          <p:cNvPr id="27" name="TextBox 26"/>
          <p:cNvSpPr txBox="1"/>
          <p:nvPr/>
        </p:nvSpPr>
        <p:spPr>
          <a:xfrm>
            <a:off x="2880000" y="3492000"/>
            <a:ext cx="8952119" cy="288000"/>
          </a:xfrm>
          <a:prstGeom prst="rect">
            <a:avLst/>
          </a:prstGeom>
          <a:noFill/>
        </p:spPr>
        <p:txBody>
          <a:bodyPr wrap="square" lIns="36000" rIns="36000" tIns="18000" bIns="18000" anchor="ctr">
            <a:spAutoFit/>
          </a:bodyPr>
          <a:lstStyle/>
          <a:p>
            <a:pPr algn="l"/>
            <a:r>
              <a:rPr sz="1100" b="0" i="0">
                <a:solidFill>
                  <a:srgbClr val="33383F"/>
                </a:solidFill>
                <a:latin typeface="Yu Gothic"/>
              </a:rPr>
              <a:t>夜間・休日の連絡体制を文書で定め、利用者・家族に周知しているか</a:t>
            </a:r>
          </a:p>
        </p:txBody>
      </p:sp>
      <p:sp>
        <p:nvSpPr>
          <p:cNvPr id="28" name="Rectangle 27"/>
          <p:cNvSpPr/>
          <p:nvPr/>
        </p:nvSpPr>
        <p:spPr>
          <a:xfrm>
            <a:off x="432000" y="3870000"/>
            <a:ext cx="11304000" cy="432000"/>
          </a:xfrm>
          <a:prstGeom prst="rect">
            <a:avLst/>
          </a:prstGeom>
          <a:solidFill>
            <a:srgbClr val="FFFFFF"/>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0000" y="3960000"/>
            <a:ext cx="251999" cy="251999"/>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4000" y="3942000"/>
            <a:ext cx="1980000" cy="288000"/>
          </a:xfrm>
          <a:prstGeom prst="rect">
            <a:avLst/>
          </a:prstGeom>
          <a:noFill/>
        </p:spPr>
        <p:txBody>
          <a:bodyPr wrap="square" lIns="36000" rIns="36000" tIns="18000" bIns="18000" anchor="ctr">
            <a:spAutoFit/>
          </a:bodyPr>
          <a:lstStyle/>
          <a:p>
            <a:pPr algn="l"/>
            <a:r>
              <a:rPr sz="1200" b="1" i="0">
                <a:solidFill>
                  <a:srgbClr val="142B4A"/>
                </a:solidFill>
                <a:latin typeface="Yu Gothic"/>
              </a:rPr>
              <a:t>運営基準減算</a:t>
            </a:r>
          </a:p>
        </p:txBody>
      </p:sp>
      <p:sp>
        <p:nvSpPr>
          <p:cNvPr id="31" name="TextBox 30"/>
          <p:cNvSpPr txBox="1"/>
          <p:nvPr/>
        </p:nvSpPr>
        <p:spPr>
          <a:xfrm>
            <a:off x="2880000" y="3942000"/>
            <a:ext cx="8952119" cy="288000"/>
          </a:xfrm>
          <a:prstGeom prst="rect">
            <a:avLst/>
          </a:prstGeom>
          <a:noFill/>
        </p:spPr>
        <p:txBody>
          <a:bodyPr wrap="square" lIns="36000" rIns="36000" tIns="18000" bIns="18000" anchor="ctr">
            <a:spAutoFit/>
          </a:bodyPr>
          <a:lstStyle/>
          <a:p>
            <a:pPr algn="l"/>
            <a:r>
              <a:rPr sz="1100" b="0" i="0">
                <a:solidFill>
                  <a:srgbClr val="33383F"/>
                </a:solidFill>
                <a:latin typeface="Yu Gothic"/>
              </a:rPr>
              <a:t>現在算定していない(過去 6 月以内に減算を受けていない)</a:t>
            </a:r>
          </a:p>
        </p:txBody>
      </p:sp>
      <p:sp>
        <p:nvSpPr>
          <p:cNvPr id="32" name="Rectangle 31"/>
          <p:cNvSpPr/>
          <p:nvPr/>
        </p:nvSpPr>
        <p:spPr>
          <a:xfrm>
            <a:off x="432000" y="4320000"/>
            <a:ext cx="11304000" cy="432000"/>
          </a:xfrm>
          <a:prstGeom prst="rect">
            <a:avLst/>
          </a:prstGeom>
          <a:solidFill>
            <a:srgbClr val="E8EDF3"/>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0000" y="4410000"/>
            <a:ext cx="251999" cy="251999"/>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4000" y="4392000"/>
            <a:ext cx="1980000" cy="288000"/>
          </a:xfrm>
          <a:prstGeom prst="rect">
            <a:avLst/>
          </a:prstGeom>
          <a:noFill/>
        </p:spPr>
        <p:txBody>
          <a:bodyPr wrap="square" lIns="36000" rIns="36000" tIns="18000" bIns="18000" anchor="ctr">
            <a:spAutoFit/>
          </a:bodyPr>
          <a:lstStyle/>
          <a:p>
            <a:pPr algn="l"/>
            <a:r>
              <a:rPr sz="1200" b="1" i="0">
                <a:solidFill>
                  <a:srgbClr val="142B4A"/>
                </a:solidFill>
                <a:latin typeface="Yu Gothic"/>
              </a:rPr>
              <a:t>中重度者割合</a:t>
            </a:r>
          </a:p>
        </p:txBody>
      </p:sp>
      <p:sp>
        <p:nvSpPr>
          <p:cNvPr id="35" name="TextBox 34"/>
          <p:cNvSpPr txBox="1"/>
          <p:nvPr/>
        </p:nvSpPr>
        <p:spPr>
          <a:xfrm>
            <a:off x="2880000" y="4392000"/>
            <a:ext cx="8952119" cy="288000"/>
          </a:xfrm>
          <a:prstGeom prst="rect">
            <a:avLst/>
          </a:prstGeom>
          <a:noFill/>
        </p:spPr>
        <p:txBody>
          <a:bodyPr wrap="square" lIns="36000" rIns="36000" tIns="18000" bIns="18000" anchor="ctr">
            <a:spAutoFit/>
          </a:bodyPr>
          <a:lstStyle/>
          <a:p>
            <a:pPr algn="l"/>
            <a:r>
              <a:rPr sz="1100" b="0" i="0">
                <a:solidFill>
                  <a:srgbClr val="33383F"/>
                </a:solidFill>
                <a:latin typeface="Yu Gothic"/>
              </a:rPr>
              <a:t>区分ごとの基準(要介護3以上の利用者割合)を満たしているか</a:t>
            </a:r>
          </a:p>
        </p:txBody>
      </p:sp>
      <p:sp>
        <p:nvSpPr>
          <p:cNvPr id="36" name="Rectangle 35"/>
          <p:cNvSpPr/>
          <p:nvPr/>
        </p:nvSpPr>
        <p:spPr>
          <a:xfrm>
            <a:off x="432000" y="4770000"/>
            <a:ext cx="11304000" cy="432000"/>
          </a:xfrm>
          <a:prstGeom prst="rect">
            <a:avLst/>
          </a:prstGeom>
          <a:solidFill>
            <a:srgbClr val="FFFFFF"/>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0000" y="4860000"/>
            <a:ext cx="251999" cy="251999"/>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4000" y="4842000"/>
            <a:ext cx="1980000" cy="288000"/>
          </a:xfrm>
          <a:prstGeom prst="rect">
            <a:avLst/>
          </a:prstGeom>
          <a:noFill/>
        </p:spPr>
        <p:txBody>
          <a:bodyPr wrap="square" lIns="36000" rIns="36000" tIns="18000" bIns="18000" anchor="ctr">
            <a:spAutoFit/>
          </a:bodyPr>
          <a:lstStyle/>
          <a:p>
            <a:pPr algn="l"/>
            <a:r>
              <a:rPr sz="1200" b="1" i="0">
                <a:solidFill>
                  <a:srgbClr val="142B4A"/>
                </a:solidFill>
                <a:latin typeface="Yu Gothic"/>
              </a:rPr>
              <a:t>計画届出</a:t>
            </a:r>
          </a:p>
        </p:txBody>
      </p:sp>
      <p:sp>
        <p:nvSpPr>
          <p:cNvPr id="39" name="TextBox 38"/>
          <p:cNvSpPr txBox="1"/>
          <p:nvPr/>
        </p:nvSpPr>
        <p:spPr>
          <a:xfrm>
            <a:off x="2880000" y="4842000"/>
            <a:ext cx="8952119" cy="288000"/>
          </a:xfrm>
          <a:prstGeom prst="rect">
            <a:avLst/>
          </a:prstGeom>
          <a:noFill/>
        </p:spPr>
        <p:txBody>
          <a:bodyPr wrap="square" lIns="36000" rIns="36000" tIns="18000" bIns="18000" anchor="ctr">
            <a:spAutoFit/>
          </a:bodyPr>
          <a:lstStyle/>
          <a:p>
            <a:pPr algn="l"/>
            <a:r>
              <a:rPr sz="1100" b="0" i="0">
                <a:solidFill>
                  <a:srgbClr val="33383F"/>
                </a:solidFill>
                <a:latin typeface="Yu Gothic"/>
              </a:rPr>
              <a:t>居宅サービス計画の総数のうち、地域包括等から依頼を受けた件数の把握</a:t>
            </a:r>
          </a:p>
        </p:txBody>
      </p:sp>
      <p:sp>
        <p:nvSpPr>
          <p:cNvPr id="40" name="Rectangle 39"/>
          <p:cNvSpPr/>
          <p:nvPr/>
        </p:nvSpPr>
        <p:spPr>
          <a:xfrm>
            <a:off x="432000" y="5220000"/>
            <a:ext cx="11304000" cy="432000"/>
          </a:xfrm>
          <a:prstGeom prst="rect">
            <a:avLst/>
          </a:prstGeom>
          <a:solidFill>
            <a:srgbClr val="E8EDF3"/>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0000" y="5310000"/>
            <a:ext cx="251999" cy="251999"/>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4000" y="5292000"/>
            <a:ext cx="1980000" cy="288000"/>
          </a:xfrm>
          <a:prstGeom prst="rect">
            <a:avLst/>
          </a:prstGeom>
          <a:noFill/>
        </p:spPr>
        <p:txBody>
          <a:bodyPr wrap="square" lIns="36000" rIns="36000" tIns="18000" bIns="18000" anchor="ctr">
            <a:spAutoFit/>
          </a:bodyPr>
          <a:lstStyle/>
          <a:p>
            <a:pPr algn="l"/>
            <a:r>
              <a:rPr sz="1200" b="1" i="0">
                <a:solidFill>
                  <a:srgbClr val="142B4A"/>
                </a:solidFill>
                <a:latin typeface="Yu Gothic"/>
              </a:rPr>
              <a:t>実地指導対応</a:t>
            </a:r>
          </a:p>
        </p:txBody>
      </p:sp>
      <p:sp>
        <p:nvSpPr>
          <p:cNvPr id="43" name="TextBox 42"/>
          <p:cNvSpPr txBox="1"/>
          <p:nvPr/>
        </p:nvSpPr>
        <p:spPr>
          <a:xfrm>
            <a:off x="2880000" y="5292000"/>
            <a:ext cx="8952119" cy="288000"/>
          </a:xfrm>
          <a:prstGeom prst="rect">
            <a:avLst/>
          </a:prstGeom>
          <a:noFill/>
        </p:spPr>
        <p:txBody>
          <a:bodyPr wrap="square" lIns="36000" rIns="36000" tIns="18000" bIns="18000" anchor="ctr">
            <a:spAutoFit/>
          </a:bodyPr>
          <a:lstStyle/>
          <a:p>
            <a:pPr algn="l"/>
            <a:r>
              <a:rPr sz="1100" b="0" i="0">
                <a:solidFill>
                  <a:srgbClr val="33383F"/>
                </a:solidFill>
                <a:latin typeface="Yu Gothic"/>
              </a:rPr>
              <a:t>上記の運用状況を書面で記録し、いつでも提示できるか</a:t>
            </a:r>
          </a:p>
        </p:txBody>
      </p:sp>
      <p:sp>
        <p:nvSpPr>
          <p:cNvPr id="44" name="TextBox 43"/>
          <p:cNvSpPr txBox="1"/>
          <p:nvPr/>
        </p:nvSpPr>
        <p:spPr>
          <a:xfrm>
            <a:off x="432000" y="5940000"/>
            <a:ext cx="11328119" cy="360000"/>
          </a:xfrm>
          <a:prstGeom prst="rect">
            <a:avLst/>
          </a:prstGeom>
          <a:noFill/>
        </p:spPr>
        <p:txBody>
          <a:bodyPr wrap="square" lIns="36000" rIns="36000" tIns="18000" bIns="18000" anchor="t">
            <a:spAutoFit/>
          </a:bodyPr>
          <a:lstStyle/>
          <a:p>
            <a:pPr algn="l"/>
            <a:r>
              <a:rPr sz="1200" b="1" i="0">
                <a:solidFill>
                  <a:srgbClr val="C03A2E"/>
                </a:solidFill>
                <a:latin typeface="Yu Gothic"/>
              </a:rPr>
              <a:t>▶ R6 改定で「実質的に機能しているか」の確認が強化。形だけの会議・研修は監査リスク。</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2. 特定事業所加算</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R6 改定で変わった/明確化された点</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11 / 38</a:t>
            </a:r>
          </a:p>
        </p:txBody>
      </p:sp>
      <p:sp>
        <p:nvSpPr>
          <p:cNvPr id="8" name="Rectangle 7"/>
          <p:cNvSpPr/>
          <p:nvPr/>
        </p:nvSpPr>
        <p:spPr>
          <a:xfrm>
            <a:off x="432000" y="1620000"/>
            <a:ext cx="5580000" cy="360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656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明確化・強化された要件</a:t>
            </a:r>
          </a:p>
        </p:txBody>
      </p:sp>
      <p:sp>
        <p:nvSpPr>
          <p:cNvPr id="10" name="Rectangle 9"/>
          <p:cNvSpPr/>
          <p:nvPr/>
        </p:nvSpPr>
        <p:spPr>
          <a:xfrm>
            <a:off x="432000" y="1980000"/>
            <a:ext cx="5580000" cy="1980000"/>
          </a:xfrm>
          <a:prstGeom prst="rect">
            <a:avLst/>
          </a:prstGeom>
          <a:solidFill>
            <a:srgbClr val="FB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2016000"/>
            <a:ext cx="5364000" cy="1944000"/>
          </a:xfrm>
          <a:prstGeom prst="rect">
            <a:avLst/>
          </a:prstGeom>
          <a:noFill/>
        </p:spPr>
        <p:txBody>
          <a:bodyPr wrap="square" lIns="36000" rIns="36000" tIns="18000" bIns="18000" anchor="t">
            <a:spAutoFit/>
          </a:bodyPr>
          <a:lstStyle/>
          <a:p>
            <a:pPr algn="l"/>
            <a:r>
              <a:rPr sz="1200" b="0" i="0">
                <a:solidFill>
                  <a:srgbClr val="33383F"/>
                </a:solidFill>
                <a:latin typeface="Yu Gothic"/>
              </a:rPr>
              <a:t>■ 多様な主体等が提供する生活支援サービスの活用</a:t>
            </a:r>
          </a:p>
          <a:p>
            <a:pPr algn="l"/>
            <a:r>
              <a:rPr sz="1200" b="0" i="0">
                <a:solidFill>
                  <a:srgbClr val="33383F"/>
                </a:solidFill>
                <a:latin typeface="Yu Gothic"/>
              </a:rPr>
              <a:t>    地域資源マップ作成・更新を求める運用が増加</a:t>
            </a:r>
          </a:p>
          <a:p>
            <a:pPr algn="l"/>
            <a:r>
              <a:rPr sz="1200" b="0" i="0">
                <a:solidFill>
                  <a:srgbClr val="33383F"/>
                </a:solidFill>
                <a:latin typeface="Yu Gothic"/>
              </a:rPr>
              <a:t/>
            </a:r>
          </a:p>
          <a:p>
            <a:pPr algn="l"/>
            <a:r>
              <a:rPr sz="1200" b="0" i="0">
                <a:solidFill>
                  <a:srgbClr val="33383F"/>
                </a:solidFill>
                <a:latin typeface="Yu Gothic"/>
              </a:rPr>
              <a:t>■ ヤングケアラー等を含む家族介護者への支援</a:t>
            </a:r>
          </a:p>
          <a:p>
            <a:pPr algn="l"/>
            <a:r>
              <a:rPr sz="1200" b="0" i="0">
                <a:solidFill>
                  <a:srgbClr val="33383F"/>
                </a:solidFill>
                <a:latin typeface="Yu Gothic"/>
              </a:rPr>
              <a:t>    アセスメント項目への明示</a:t>
            </a:r>
          </a:p>
          <a:p>
            <a:pPr algn="l"/>
            <a:r>
              <a:rPr sz="1200" b="0" i="0">
                <a:solidFill>
                  <a:srgbClr val="33383F"/>
                </a:solidFill>
                <a:latin typeface="Yu Gothic"/>
              </a:rPr>
              <a:t/>
            </a:r>
          </a:p>
          <a:p>
            <a:pPr algn="l"/>
            <a:r>
              <a:rPr sz="1200" b="0" i="0">
                <a:solidFill>
                  <a:srgbClr val="33383F"/>
                </a:solidFill>
                <a:latin typeface="Yu Gothic"/>
              </a:rPr>
              <a:t>■ 他法他制度の活用(障害・医療・成年後見・生活困窮)</a:t>
            </a:r>
          </a:p>
          <a:p>
            <a:pPr algn="l"/>
            <a:r>
              <a:rPr sz="1200" b="0" i="0">
                <a:solidFill>
                  <a:srgbClr val="33383F"/>
                </a:solidFill>
                <a:latin typeface="Yu Gothic"/>
              </a:rPr>
              <a:t>    連携の実績を記録に残す</a:t>
            </a:r>
          </a:p>
          <a:p>
            <a:pPr algn="l"/>
            <a:r>
              <a:rPr sz="1200" b="0" i="0">
                <a:solidFill>
                  <a:srgbClr val="33383F"/>
                </a:solidFill>
                <a:latin typeface="Yu Gothic"/>
              </a:rPr>
              <a:t/>
            </a:r>
          </a:p>
          <a:p>
            <a:pPr algn="l"/>
            <a:r>
              <a:rPr sz="1200" b="0" i="0">
                <a:solidFill>
                  <a:srgbClr val="33383F"/>
                </a:solidFill>
                <a:latin typeface="Yu Gothic"/>
              </a:rPr>
              <a:t>■ 必要に応じた地域包括ケア会議への参加</a:t>
            </a:r>
          </a:p>
        </p:txBody>
      </p:sp>
      <p:sp>
        <p:nvSpPr>
          <p:cNvPr id="12" name="Rectangle 11"/>
          <p:cNvSpPr/>
          <p:nvPr/>
        </p:nvSpPr>
        <p:spPr>
          <a:xfrm>
            <a:off x="6300000" y="1620000"/>
            <a:ext cx="5400000" cy="360000"/>
          </a:xfrm>
          <a:prstGeom prst="rect">
            <a:avLst/>
          </a:prstGeom>
          <a:solidFill>
            <a:srgbClr val="E0A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2000" y="1656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運用上の留意事項</a:t>
            </a:r>
          </a:p>
        </p:txBody>
      </p:sp>
      <p:sp>
        <p:nvSpPr>
          <p:cNvPr id="14" name="Rectangle 13"/>
          <p:cNvSpPr/>
          <p:nvPr/>
        </p:nvSpPr>
        <p:spPr>
          <a:xfrm>
            <a:off x="6300000" y="1980000"/>
            <a:ext cx="5400000" cy="1980000"/>
          </a:xfrm>
          <a:prstGeom prst="rect">
            <a:avLst/>
          </a:prstGeom>
          <a:solidFill>
            <a:srgbClr val="FBF1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8000" y="2016000"/>
            <a:ext cx="5184000" cy="1944000"/>
          </a:xfrm>
          <a:prstGeom prst="rect">
            <a:avLst/>
          </a:prstGeom>
          <a:noFill/>
        </p:spPr>
        <p:txBody>
          <a:bodyPr wrap="square" lIns="36000" rIns="36000" tIns="18000" bIns="18000" anchor="t">
            <a:spAutoFit/>
          </a:bodyPr>
          <a:lstStyle/>
          <a:p>
            <a:pPr algn="l"/>
            <a:r>
              <a:rPr sz="1200" b="0" i="0">
                <a:solidFill>
                  <a:srgbClr val="33383F"/>
                </a:solidFill>
                <a:latin typeface="Yu Gothic"/>
              </a:rPr>
              <a:t>■ BCP・虐待防止の体制整備が前提に</a:t>
            </a:r>
          </a:p>
          <a:p>
            <a:pPr algn="l"/>
            <a:r>
              <a:rPr sz="1200" b="0" i="0">
                <a:solidFill>
                  <a:srgbClr val="33383F"/>
                </a:solidFill>
                <a:latin typeface="Yu Gothic"/>
              </a:rPr>
              <a:t>   (未整備事業所は加算継続困難)</a:t>
            </a:r>
          </a:p>
          <a:p>
            <a:pPr algn="l"/>
            <a:r>
              <a:rPr sz="1200" b="0" i="0">
                <a:solidFill>
                  <a:srgbClr val="33383F"/>
                </a:solidFill>
                <a:latin typeface="Yu Gothic"/>
              </a:rPr>
              <a:t/>
            </a:r>
          </a:p>
          <a:p>
            <a:pPr algn="l"/>
            <a:r>
              <a:rPr sz="1200" b="0" i="0">
                <a:solidFill>
                  <a:srgbClr val="33383F"/>
                </a:solidFill>
                <a:latin typeface="Yu Gothic"/>
              </a:rPr>
              <a:t>■ 主任CMの「専門研修・更新研修」修了</a:t>
            </a:r>
          </a:p>
          <a:p>
            <a:pPr algn="l"/>
            <a:r>
              <a:rPr sz="1200" b="0" i="0">
                <a:solidFill>
                  <a:srgbClr val="33383F"/>
                </a:solidFill>
                <a:latin typeface="Yu Gothic"/>
              </a:rPr>
              <a:t>    が引き続き要件として運用される</a:t>
            </a:r>
          </a:p>
          <a:p>
            <a:pPr algn="l"/>
            <a:r>
              <a:rPr sz="1200" b="0" i="0">
                <a:solidFill>
                  <a:srgbClr val="33383F"/>
                </a:solidFill>
                <a:latin typeface="Yu Gothic"/>
              </a:rPr>
              <a:t/>
            </a:r>
          </a:p>
          <a:p>
            <a:pPr algn="l"/>
            <a:r>
              <a:rPr sz="1200" b="0" i="0">
                <a:solidFill>
                  <a:srgbClr val="33383F"/>
                </a:solidFill>
                <a:latin typeface="Yu Gothic"/>
              </a:rPr>
              <a:t>■ 「困難事例の受入」は数だけでなく</a:t>
            </a:r>
          </a:p>
          <a:p>
            <a:pPr algn="l"/>
            <a:r>
              <a:rPr sz="1200" b="0" i="0">
                <a:solidFill>
                  <a:srgbClr val="33383F"/>
                </a:solidFill>
                <a:latin typeface="Yu Gothic"/>
              </a:rPr>
              <a:t>    アセスメント・支援経過の質も問われる</a:t>
            </a:r>
          </a:p>
          <a:p>
            <a:pPr algn="l"/>
            <a:r>
              <a:rPr sz="1200" b="0" i="0">
                <a:solidFill>
                  <a:srgbClr val="33383F"/>
                </a:solidFill>
                <a:latin typeface="Yu Gothic"/>
              </a:rPr>
              <a:t/>
            </a:r>
          </a:p>
          <a:p>
            <a:pPr algn="l"/>
            <a:r>
              <a:rPr sz="1200" b="0" i="0">
                <a:solidFill>
                  <a:srgbClr val="33383F"/>
                </a:solidFill>
                <a:latin typeface="Yu Gothic"/>
              </a:rPr>
              <a:t>■ 地域包括との連携実績は</a:t>
            </a:r>
          </a:p>
          <a:p>
            <a:pPr algn="l"/>
            <a:r>
              <a:rPr sz="1200" b="0" i="0">
                <a:solidFill>
                  <a:srgbClr val="33383F"/>
                </a:solidFill>
                <a:latin typeface="Yu Gothic"/>
              </a:rPr>
              <a:t>    具体的件数・内容を記録</a:t>
            </a:r>
          </a:p>
        </p:txBody>
      </p:sp>
      <p:sp>
        <p:nvSpPr>
          <p:cNvPr id="16" name="Rectangle 15"/>
          <p:cNvSpPr/>
          <p:nvPr/>
        </p:nvSpPr>
        <p:spPr>
          <a:xfrm>
            <a:off x="432000" y="4140000"/>
            <a:ext cx="11304000" cy="360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4000" y="417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主任CMが押さえるべき変化のシグナル</a:t>
            </a:r>
          </a:p>
        </p:txBody>
      </p:sp>
      <p:sp>
        <p:nvSpPr>
          <p:cNvPr id="18" name="Rectangle 17"/>
          <p:cNvSpPr/>
          <p:nvPr/>
        </p:nvSpPr>
        <p:spPr>
          <a:xfrm>
            <a:off x="432000" y="4500000"/>
            <a:ext cx="11304000" cy="162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0000" y="4536000"/>
            <a:ext cx="11088000" cy="1584000"/>
          </a:xfrm>
          <a:prstGeom prst="rect">
            <a:avLst/>
          </a:prstGeom>
          <a:noFill/>
        </p:spPr>
        <p:txBody>
          <a:bodyPr wrap="square" lIns="36000" rIns="36000" tIns="18000" bIns="18000" anchor="t">
            <a:spAutoFit/>
          </a:bodyPr>
          <a:lstStyle/>
          <a:p>
            <a:pPr algn="l"/>
            <a:r>
              <a:rPr sz="1300" b="0" i="0">
                <a:solidFill>
                  <a:srgbClr val="33383F"/>
                </a:solidFill>
                <a:latin typeface="Yu Gothic"/>
              </a:rPr>
              <a:t>■ 「加算 = 報酬」ではなく 「加算 = 質の証明」 への転換が R6 の通底テーマ</a:t>
            </a:r>
          </a:p>
          <a:p>
            <a:pPr algn="l"/>
            <a:r>
              <a:rPr sz="1300" b="0" i="0">
                <a:solidFill>
                  <a:srgbClr val="33383F"/>
                </a:solidFill>
                <a:latin typeface="Yu Gothic"/>
              </a:rPr>
              <a:t>■ 「やったか/やっていないか」より 「どう機能したか」 を問われる方向</a:t>
            </a:r>
          </a:p>
          <a:p>
            <a:pPr algn="l"/>
            <a:r>
              <a:rPr sz="1300" b="0" i="0">
                <a:solidFill>
                  <a:srgbClr val="33383F"/>
                </a:solidFill>
                <a:latin typeface="Yu Gothic"/>
              </a:rPr>
              <a:t>■ R9 ではさらに、 アウトカム評価 (利用者の生活機能維持・再入院抑制等)が論点化する見込み</a:t>
            </a:r>
          </a:p>
          <a:p>
            <a:pPr algn="l"/>
            <a:r>
              <a:rPr sz="1300" b="0" i="0">
                <a:solidFill>
                  <a:srgbClr val="33383F"/>
                </a:solidFill>
                <a:latin typeface="Yu Gothic"/>
              </a:rPr>
              <a:t>■ 主任CMは、「加算を取るための作業」を超えて「事業所の質を可視化する道具」として位置づけ直す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2. 特定事業所加算</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算定実態と「落とし穴」 ― 実地指導で指摘されやすい点</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12 / 38</a:t>
            </a:r>
          </a:p>
        </p:txBody>
      </p:sp>
      <p:sp>
        <p:nvSpPr>
          <p:cNvPr id="8" name="Rectangle 7"/>
          <p:cNvSpPr/>
          <p:nvPr/>
        </p:nvSpPr>
        <p:spPr>
          <a:xfrm>
            <a:off x="432000" y="1620000"/>
            <a:ext cx="11304000" cy="360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6000" y="1656000"/>
            <a:ext cx="2772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落とし穴</a:t>
            </a:r>
          </a:p>
        </p:txBody>
      </p:sp>
      <p:sp>
        <p:nvSpPr>
          <p:cNvPr id="10" name="TextBox 9"/>
          <p:cNvSpPr txBox="1"/>
          <p:nvPr/>
        </p:nvSpPr>
        <p:spPr>
          <a:xfrm>
            <a:off x="3366000" y="1656000"/>
            <a:ext cx="3852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ありがちな実態</a:t>
            </a:r>
          </a:p>
        </p:txBody>
      </p:sp>
      <p:sp>
        <p:nvSpPr>
          <p:cNvPr id="11" name="TextBox 10"/>
          <p:cNvSpPr txBox="1"/>
          <p:nvPr/>
        </p:nvSpPr>
        <p:spPr>
          <a:xfrm>
            <a:off x="7326000" y="1656000"/>
            <a:ext cx="4356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監査・実地指導の指摘例</a:t>
            </a:r>
          </a:p>
        </p:txBody>
      </p:sp>
      <p:sp>
        <p:nvSpPr>
          <p:cNvPr id="12" name="Rectangle 11"/>
          <p:cNvSpPr/>
          <p:nvPr/>
        </p:nvSpPr>
        <p:spPr>
          <a:xfrm>
            <a:off x="432000" y="1980000"/>
            <a:ext cx="11304000" cy="720000"/>
          </a:xfrm>
          <a:prstGeom prst="rect">
            <a:avLst/>
          </a:prstGeom>
          <a:solidFill>
            <a:srgbClr val="E8EDF3"/>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6000" y="2034000"/>
            <a:ext cx="2772000" cy="612000"/>
          </a:xfrm>
          <a:prstGeom prst="rect">
            <a:avLst/>
          </a:prstGeom>
          <a:noFill/>
        </p:spPr>
        <p:txBody>
          <a:bodyPr wrap="square" lIns="36000" rIns="36000" tIns="18000" bIns="18000" anchor="ctr">
            <a:spAutoFit/>
          </a:bodyPr>
          <a:lstStyle/>
          <a:p>
            <a:pPr algn="ctr"/>
            <a:r>
              <a:rPr sz="1100" b="1" i="0">
                <a:solidFill>
                  <a:srgbClr val="C03A2E"/>
                </a:solidFill>
                <a:latin typeface="Yu Gothic"/>
              </a:rPr>
              <a:t>研修計画</a:t>
            </a:r>
          </a:p>
          <a:p>
            <a:pPr algn="ctr"/>
            <a:r>
              <a:rPr sz="1100" b="1" i="0">
                <a:solidFill>
                  <a:srgbClr val="C03A2E"/>
                </a:solidFill>
                <a:latin typeface="Yu Gothic"/>
              </a:rPr>
              <a:t>の形骸化</a:t>
            </a:r>
          </a:p>
        </p:txBody>
      </p:sp>
      <p:sp>
        <p:nvSpPr>
          <p:cNvPr id="14" name="TextBox 13"/>
          <p:cNvSpPr txBox="1"/>
          <p:nvPr/>
        </p:nvSpPr>
        <p:spPr>
          <a:xfrm>
            <a:off x="3366000" y="2034000"/>
            <a:ext cx="3852000" cy="612000"/>
          </a:xfrm>
          <a:prstGeom prst="rect">
            <a:avLst/>
          </a:prstGeom>
          <a:noFill/>
        </p:spPr>
        <p:txBody>
          <a:bodyPr wrap="square" lIns="36000" rIns="36000" tIns="18000" bIns="18000" anchor="ctr">
            <a:spAutoFit/>
          </a:bodyPr>
          <a:lstStyle/>
          <a:p>
            <a:pPr algn="l"/>
            <a:r>
              <a:rPr sz="1100" b="0" i="0">
                <a:solidFill>
                  <a:srgbClr val="33383F"/>
                </a:solidFill>
                <a:latin typeface="Yu Gothic"/>
              </a:rPr>
              <a:t>年度初めに作って、</a:t>
            </a:r>
          </a:p>
          <a:p>
            <a:pPr algn="l"/>
            <a:r>
              <a:rPr sz="1100" b="0" i="0">
                <a:solidFill>
                  <a:srgbClr val="33383F"/>
                </a:solidFill>
                <a:latin typeface="Yu Gothic"/>
              </a:rPr>
              <a:t>それっきり</a:t>
            </a:r>
          </a:p>
        </p:txBody>
      </p:sp>
      <p:sp>
        <p:nvSpPr>
          <p:cNvPr id="15" name="TextBox 14"/>
          <p:cNvSpPr txBox="1"/>
          <p:nvPr/>
        </p:nvSpPr>
        <p:spPr>
          <a:xfrm>
            <a:off x="7326000" y="2034000"/>
            <a:ext cx="4356000" cy="612000"/>
          </a:xfrm>
          <a:prstGeom prst="rect">
            <a:avLst/>
          </a:prstGeom>
          <a:noFill/>
        </p:spPr>
        <p:txBody>
          <a:bodyPr wrap="square" lIns="36000" rIns="36000" tIns="18000" bIns="18000" anchor="ctr">
            <a:spAutoFit/>
          </a:bodyPr>
          <a:lstStyle/>
          <a:p>
            <a:pPr algn="l"/>
            <a:r>
              <a:rPr sz="1100" b="0" i="0">
                <a:solidFill>
                  <a:srgbClr val="33383F"/>
                </a:solidFill>
                <a:latin typeface="Yu Gothic"/>
              </a:rPr>
              <a:t>「個別CMの研修記録がない」</a:t>
            </a:r>
          </a:p>
          <a:p>
            <a:pPr algn="l"/>
            <a:r>
              <a:rPr sz="1100" b="0" i="0">
                <a:solidFill>
                  <a:srgbClr val="33383F"/>
                </a:solidFill>
                <a:latin typeface="Yu Gothic"/>
              </a:rPr>
              <a:t>「年度末に振り返り・修正がない」</a:t>
            </a:r>
          </a:p>
        </p:txBody>
      </p:sp>
      <p:sp>
        <p:nvSpPr>
          <p:cNvPr id="16" name="Rectangle 15"/>
          <p:cNvSpPr/>
          <p:nvPr/>
        </p:nvSpPr>
        <p:spPr>
          <a:xfrm>
            <a:off x="432000" y="2700000"/>
            <a:ext cx="11304000" cy="720000"/>
          </a:xfrm>
          <a:prstGeom prst="rect">
            <a:avLst/>
          </a:prstGeom>
          <a:solidFill>
            <a:srgbClr val="FFFFFF"/>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6000" y="2754000"/>
            <a:ext cx="2772000" cy="612000"/>
          </a:xfrm>
          <a:prstGeom prst="rect">
            <a:avLst/>
          </a:prstGeom>
          <a:noFill/>
        </p:spPr>
        <p:txBody>
          <a:bodyPr wrap="square" lIns="36000" rIns="36000" tIns="18000" bIns="18000" anchor="ctr">
            <a:spAutoFit/>
          </a:bodyPr>
          <a:lstStyle/>
          <a:p>
            <a:pPr algn="ctr"/>
            <a:r>
              <a:rPr sz="1100" b="1" i="0">
                <a:solidFill>
                  <a:srgbClr val="C03A2E"/>
                </a:solidFill>
                <a:latin typeface="Yu Gothic"/>
              </a:rPr>
              <a:t>事例検討の</a:t>
            </a:r>
          </a:p>
          <a:p>
            <a:pPr algn="ctr"/>
            <a:r>
              <a:rPr sz="1100" b="1" i="0">
                <a:solidFill>
                  <a:srgbClr val="C03A2E"/>
                </a:solidFill>
                <a:latin typeface="Yu Gothic"/>
              </a:rPr>
              <a:t>形だけ実施</a:t>
            </a:r>
          </a:p>
        </p:txBody>
      </p:sp>
      <p:sp>
        <p:nvSpPr>
          <p:cNvPr id="18" name="TextBox 17"/>
          <p:cNvSpPr txBox="1"/>
          <p:nvPr/>
        </p:nvSpPr>
        <p:spPr>
          <a:xfrm>
            <a:off x="3366000" y="2754000"/>
            <a:ext cx="3852000" cy="612000"/>
          </a:xfrm>
          <a:prstGeom prst="rect">
            <a:avLst/>
          </a:prstGeom>
          <a:noFill/>
        </p:spPr>
        <p:txBody>
          <a:bodyPr wrap="square" lIns="36000" rIns="36000" tIns="18000" bIns="18000" anchor="ctr">
            <a:spAutoFit/>
          </a:bodyPr>
          <a:lstStyle/>
          <a:p>
            <a:pPr algn="l"/>
            <a:r>
              <a:rPr sz="1100" b="0" i="0">
                <a:solidFill>
                  <a:srgbClr val="33383F"/>
                </a:solidFill>
                <a:latin typeface="Yu Gothic"/>
              </a:rPr>
              <a:t>短時間・参加者偏り</a:t>
            </a:r>
          </a:p>
          <a:p>
            <a:pPr algn="l"/>
            <a:r>
              <a:rPr sz="1100" b="0" i="0">
                <a:solidFill>
                  <a:srgbClr val="33383F"/>
                </a:solidFill>
                <a:latin typeface="Yu Gothic"/>
              </a:rPr>
              <a:t>司会も主任CM一人</a:t>
            </a:r>
          </a:p>
        </p:txBody>
      </p:sp>
      <p:sp>
        <p:nvSpPr>
          <p:cNvPr id="19" name="TextBox 18"/>
          <p:cNvSpPr txBox="1"/>
          <p:nvPr/>
        </p:nvSpPr>
        <p:spPr>
          <a:xfrm>
            <a:off x="7326000" y="2754000"/>
            <a:ext cx="4356000" cy="612000"/>
          </a:xfrm>
          <a:prstGeom prst="rect">
            <a:avLst/>
          </a:prstGeom>
          <a:noFill/>
        </p:spPr>
        <p:txBody>
          <a:bodyPr wrap="square" lIns="36000" rIns="36000" tIns="18000" bIns="18000" anchor="ctr">
            <a:spAutoFit/>
          </a:bodyPr>
          <a:lstStyle/>
          <a:p>
            <a:pPr algn="l"/>
            <a:r>
              <a:rPr sz="1100" b="0" i="0">
                <a:solidFill>
                  <a:srgbClr val="33383F"/>
                </a:solidFill>
                <a:latin typeface="Yu Gothic"/>
              </a:rPr>
              <a:t>「議事録に学びが書かれていない」</a:t>
            </a:r>
          </a:p>
          <a:p>
            <a:pPr algn="l"/>
            <a:r>
              <a:rPr sz="1100" b="0" i="0">
                <a:solidFill>
                  <a:srgbClr val="33383F"/>
                </a:solidFill>
                <a:latin typeface="Yu Gothic"/>
              </a:rPr>
              <a:t>「参加CMが固定化している」</a:t>
            </a:r>
          </a:p>
        </p:txBody>
      </p:sp>
      <p:sp>
        <p:nvSpPr>
          <p:cNvPr id="20" name="Rectangle 19"/>
          <p:cNvSpPr/>
          <p:nvPr/>
        </p:nvSpPr>
        <p:spPr>
          <a:xfrm>
            <a:off x="432000" y="3420000"/>
            <a:ext cx="11304000" cy="720000"/>
          </a:xfrm>
          <a:prstGeom prst="rect">
            <a:avLst/>
          </a:prstGeom>
          <a:solidFill>
            <a:srgbClr val="E8EDF3"/>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6000" y="3474000"/>
            <a:ext cx="2772000" cy="612000"/>
          </a:xfrm>
          <a:prstGeom prst="rect">
            <a:avLst/>
          </a:prstGeom>
          <a:noFill/>
        </p:spPr>
        <p:txBody>
          <a:bodyPr wrap="square" lIns="36000" rIns="36000" tIns="18000" bIns="18000" anchor="ctr">
            <a:spAutoFit/>
          </a:bodyPr>
          <a:lstStyle/>
          <a:p>
            <a:pPr algn="ctr"/>
            <a:r>
              <a:rPr sz="1100" b="1" i="0">
                <a:solidFill>
                  <a:srgbClr val="C03A2E"/>
                </a:solidFill>
                <a:latin typeface="Yu Gothic"/>
              </a:rPr>
              <a:t>24時間体制</a:t>
            </a:r>
          </a:p>
          <a:p>
            <a:pPr algn="ctr"/>
            <a:r>
              <a:rPr sz="1100" b="1" i="0">
                <a:solidFill>
                  <a:srgbClr val="C03A2E"/>
                </a:solidFill>
                <a:latin typeface="Yu Gothic"/>
              </a:rPr>
              <a:t>の不十分</a:t>
            </a:r>
          </a:p>
        </p:txBody>
      </p:sp>
      <p:sp>
        <p:nvSpPr>
          <p:cNvPr id="22" name="TextBox 21"/>
          <p:cNvSpPr txBox="1"/>
          <p:nvPr/>
        </p:nvSpPr>
        <p:spPr>
          <a:xfrm>
            <a:off x="3366000" y="3474000"/>
            <a:ext cx="3852000" cy="612000"/>
          </a:xfrm>
          <a:prstGeom prst="rect">
            <a:avLst/>
          </a:prstGeom>
          <a:noFill/>
        </p:spPr>
        <p:txBody>
          <a:bodyPr wrap="square" lIns="36000" rIns="36000" tIns="18000" bIns="18000" anchor="ctr">
            <a:spAutoFit/>
          </a:bodyPr>
          <a:lstStyle/>
          <a:p>
            <a:pPr algn="l"/>
            <a:r>
              <a:rPr sz="1100" b="0" i="0">
                <a:solidFill>
                  <a:srgbClr val="33383F"/>
                </a:solidFill>
                <a:latin typeface="Yu Gothic"/>
              </a:rPr>
              <a:t>携帯転送のみ・</a:t>
            </a:r>
          </a:p>
          <a:p>
            <a:pPr algn="l"/>
            <a:r>
              <a:rPr sz="1100" b="0" i="0">
                <a:solidFill>
                  <a:srgbClr val="33383F"/>
                </a:solidFill>
                <a:latin typeface="Yu Gothic"/>
              </a:rPr>
              <a:t>利用者に周知不十分</a:t>
            </a:r>
          </a:p>
        </p:txBody>
      </p:sp>
      <p:sp>
        <p:nvSpPr>
          <p:cNvPr id="23" name="TextBox 22"/>
          <p:cNvSpPr txBox="1"/>
          <p:nvPr/>
        </p:nvSpPr>
        <p:spPr>
          <a:xfrm>
            <a:off x="7326000" y="3474000"/>
            <a:ext cx="4356000" cy="612000"/>
          </a:xfrm>
          <a:prstGeom prst="rect">
            <a:avLst/>
          </a:prstGeom>
          <a:noFill/>
        </p:spPr>
        <p:txBody>
          <a:bodyPr wrap="square" lIns="36000" rIns="36000" tIns="18000" bIns="18000" anchor="ctr">
            <a:spAutoFit/>
          </a:bodyPr>
          <a:lstStyle/>
          <a:p>
            <a:pPr algn="l"/>
            <a:r>
              <a:rPr sz="1100" b="0" i="0">
                <a:solidFill>
                  <a:srgbClr val="33383F"/>
                </a:solidFill>
                <a:latin typeface="Yu Gothic"/>
              </a:rPr>
              <a:t>「連絡先が利用者宅にない」</a:t>
            </a:r>
          </a:p>
          <a:p>
            <a:pPr algn="l"/>
            <a:r>
              <a:rPr sz="1100" b="0" i="0">
                <a:solidFill>
                  <a:srgbClr val="33383F"/>
                </a:solidFill>
                <a:latin typeface="Yu Gothic"/>
              </a:rPr>
              <a:t>「夜間応答記録が残っていない」</a:t>
            </a:r>
          </a:p>
        </p:txBody>
      </p:sp>
      <p:sp>
        <p:nvSpPr>
          <p:cNvPr id="24" name="Rectangle 23"/>
          <p:cNvSpPr/>
          <p:nvPr/>
        </p:nvSpPr>
        <p:spPr>
          <a:xfrm>
            <a:off x="432000" y="4140000"/>
            <a:ext cx="11304000" cy="720000"/>
          </a:xfrm>
          <a:prstGeom prst="rect">
            <a:avLst/>
          </a:prstGeom>
          <a:solidFill>
            <a:srgbClr val="FFFFFF"/>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6000" y="4194000"/>
            <a:ext cx="2772000" cy="612000"/>
          </a:xfrm>
          <a:prstGeom prst="rect">
            <a:avLst/>
          </a:prstGeom>
          <a:noFill/>
        </p:spPr>
        <p:txBody>
          <a:bodyPr wrap="square" lIns="36000" rIns="36000" tIns="18000" bIns="18000" anchor="ctr">
            <a:spAutoFit/>
          </a:bodyPr>
          <a:lstStyle/>
          <a:p>
            <a:pPr algn="ctr"/>
            <a:r>
              <a:rPr sz="1100" b="1" i="0">
                <a:solidFill>
                  <a:srgbClr val="C03A2E"/>
                </a:solidFill>
                <a:latin typeface="Yu Gothic"/>
              </a:rPr>
              <a:t>中重度者割合</a:t>
            </a:r>
          </a:p>
          <a:p>
            <a:pPr algn="ctr"/>
            <a:r>
              <a:rPr sz="1100" b="1" i="0">
                <a:solidFill>
                  <a:srgbClr val="C03A2E"/>
                </a:solidFill>
                <a:latin typeface="Yu Gothic"/>
              </a:rPr>
              <a:t>の記録不備</a:t>
            </a:r>
          </a:p>
        </p:txBody>
      </p:sp>
      <p:sp>
        <p:nvSpPr>
          <p:cNvPr id="26" name="TextBox 25"/>
          <p:cNvSpPr txBox="1"/>
          <p:nvPr/>
        </p:nvSpPr>
        <p:spPr>
          <a:xfrm>
            <a:off x="3366000" y="4194000"/>
            <a:ext cx="3852000" cy="612000"/>
          </a:xfrm>
          <a:prstGeom prst="rect">
            <a:avLst/>
          </a:prstGeom>
          <a:noFill/>
        </p:spPr>
        <p:txBody>
          <a:bodyPr wrap="square" lIns="36000" rIns="36000" tIns="18000" bIns="18000" anchor="ctr">
            <a:spAutoFit/>
          </a:bodyPr>
          <a:lstStyle/>
          <a:p>
            <a:pPr algn="l"/>
            <a:r>
              <a:rPr sz="1100" b="0" i="0">
                <a:solidFill>
                  <a:srgbClr val="33383F"/>
                </a:solidFill>
                <a:latin typeface="Yu Gothic"/>
              </a:rPr>
              <a:t>毎月の確認なし</a:t>
            </a:r>
          </a:p>
          <a:p>
            <a:pPr algn="l"/>
            <a:r>
              <a:rPr sz="1100" b="0" i="0">
                <a:solidFill>
                  <a:srgbClr val="33383F"/>
                </a:solidFill>
                <a:latin typeface="Yu Gothic"/>
              </a:rPr>
              <a:t>年度途中で低下</a:t>
            </a:r>
          </a:p>
        </p:txBody>
      </p:sp>
      <p:sp>
        <p:nvSpPr>
          <p:cNvPr id="27" name="TextBox 26"/>
          <p:cNvSpPr txBox="1"/>
          <p:nvPr/>
        </p:nvSpPr>
        <p:spPr>
          <a:xfrm>
            <a:off x="7326000" y="4194000"/>
            <a:ext cx="4356000" cy="612000"/>
          </a:xfrm>
          <a:prstGeom prst="rect">
            <a:avLst/>
          </a:prstGeom>
          <a:noFill/>
        </p:spPr>
        <p:txBody>
          <a:bodyPr wrap="square" lIns="36000" rIns="36000" tIns="18000" bIns="18000" anchor="ctr">
            <a:spAutoFit/>
          </a:bodyPr>
          <a:lstStyle/>
          <a:p>
            <a:pPr algn="l"/>
            <a:r>
              <a:rPr sz="1100" b="0" i="0">
                <a:solidFill>
                  <a:srgbClr val="33383F"/>
                </a:solidFill>
                <a:latin typeface="Yu Gothic"/>
              </a:rPr>
              <a:t>「割合計算の根拠書類がない」</a:t>
            </a:r>
          </a:p>
          <a:p>
            <a:pPr algn="l"/>
            <a:r>
              <a:rPr sz="1100" b="0" i="0">
                <a:solidFill>
                  <a:srgbClr val="33383F"/>
                </a:solidFill>
                <a:latin typeface="Yu Gothic"/>
              </a:rPr>
              <a:t>「割合低下時の対応記録がない」</a:t>
            </a:r>
          </a:p>
        </p:txBody>
      </p:sp>
      <p:sp>
        <p:nvSpPr>
          <p:cNvPr id="28" name="Rectangle 27"/>
          <p:cNvSpPr/>
          <p:nvPr/>
        </p:nvSpPr>
        <p:spPr>
          <a:xfrm>
            <a:off x="432000" y="4860000"/>
            <a:ext cx="11304000" cy="720000"/>
          </a:xfrm>
          <a:prstGeom prst="rect">
            <a:avLst/>
          </a:prstGeom>
          <a:solidFill>
            <a:srgbClr val="E8EDF3"/>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6000" y="4914000"/>
            <a:ext cx="2772000" cy="612000"/>
          </a:xfrm>
          <a:prstGeom prst="rect">
            <a:avLst/>
          </a:prstGeom>
          <a:noFill/>
        </p:spPr>
        <p:txBody>
          <a:bodyPr wrap="square" lIns="36000" rIns="36000" tIns="18000" bIns="18000" anchor="ctr">
            <a:spAutoFit/>
          </a:bodyPr>
          <a:lstStyle/>
          <a:p>
            <a:pPr algn="ctr"/>
            <a:r>
              <a:rPr sz="1100" b="1" i="0">
                <a:solidFill>
                  <a:srgbClr val="C03A2E"/>
                </a:solidFill>
                <a:latin typeface="Yu Gothic"/>
              </a:rPr>
              <a:t>主任CMの</a:t>
            </a:r>
          </a:p>
          <a:p>
            <a:pPr algn="ctr"/>
            <a:r>
              <a:rPr sz="1100" b="1" i="0">
                <a:solidFill>
                  <a:srgbClr val="C03A2E"/>
                </a:solidFill>
                <a:latin typeface="Yu Gothic"/>
              </a:rPr>
              <a:t>機能不全</a:t>
            </a:r>
          </a:p>
        </p:txBody>
      </p:sp>
      <p:sp>
        <p:nvSpPr>
          <p:cNvPr id="30" name="TextBox 29"/>
          <p:cNvSpPr txBox="1"/>
          <p:nvPr/>
        </p:nvSpPr>
        <p:spPr>
          <a:xfrm>
            <a:off x="3366000" y="4914000"/>
            <a:ext cx="3852000" cy="612000"/>
          </a:xfrm>
          <a:prstGeom prst="rect">
            <a:avLst/>
          </a:prstGeom>
          <a:noFill/>
        </p:spPr>
        <p:txBody>
          <a:bodyPr wrap="square" lIns="36000" rIns="36000" tIns="18000" bIns="18000" anchor="ctr">
            <a:spAutoFit/>
          </a:bodyPr>
          <a:lstStyle/>
          <a:p>
            <a:pPr algn="l"/>
            <a:r>
              <a:rPr sz="1100" b="0" i="0">
                <a:solidFill>
                  <a:srgbClr val="33383F"/>
                </a:solidFill>
                <a:latin typeface="Yu Gothic"/>
              </a:rPr>
              <a:t>配置はあるが</a:t>
            </a:r>
          </a:p>
          <a:p>
            <a:pPr algn="l"/>
            <a:r>
              <a:rPr sz="1100" b="0" i="0">
                <a:solidFill>
                  <a:srgbClr val="33383F"/>
                </a:solidFill>
                <a:latin typeface="Yu Gothic"/>
              </a:rPr>
              <a:t>指導実態がない</a:t>
            </a:r>
          </a:p>
        </p:txBody>
      </p:sp>
      <p:sp>
        <p:nvSpPr>
          <p:cNvPr id="31" name="TextBox 30"/>
          <p:cNvSpPr txBox="1"/>
          <p:nvPr/>
        </p:nvSpPr>
        <p:spPr>
          <a:xfrm>
            <a:off x="7326000" y="4914000"/>
            <a:ext cx="4356000" cy="612000"/>
          </a:xfrm>
          <a:prstGeom prst="rect">
            <a:avLst/>
          </a:prstGeom>
          <a:noFill/>
        </p:spPr>
        <p:txBody>
          <a:bodyPr wrap="square" lIns="36000" rIns="36000" tIns="18000" bIns="18000" anchor="ctr">
            <a:spAutoFit/>
          </a:bodyPr>
          <a:lstStyle/>
          <a:p>
            <a:pPr algn="l"/>
            <a:r>
              <a:rPr sz="1100" b="0" i="0">
                <a:solidFill>
                  <a:srgbClr val="33383F"/>
                </a:solidFill>
                <a:latin typeface="Yu Gothic"/>
              </a:rPr>
              <a:t>「個別ケース指導記録がない」</a:t>
            </a:r>
          </a:p>
          <a:p>
            <a:pPr algn="l"/>
            <a:r>
              <a:rPr sz="1100" b="0" i="0">
                <a:solidFill>
                  <a:srgbClr val="33383F"/>
                </a:solidFill>
                <a:latin typeface="Yu Gothic"/>
              </a:rPr>
              <a:t>「同行訪問・スーパーバイズ記録がない」</a:t>
            </a:r>
          </a:p>
        </p:txBody>
      </p:sp>
      <p:sp>
        <p:nvSpPr>
          <p:cNvPr id="32" name="TextBox 31"/>
          <p:cNvSpPr txBox="1"/>
          <p:nvPr/>
        </p:nvSpPr>
        <p:spPr>
          <a:xfrm>
            <a:off x="432000" y="5760000"/>
            <a:ext cx="11328119" cy="540000"/>
          </a:xfrm>
          <a:prstGeom prst="rect">
            <a:avLst/>
          </a:prstGeom>
          <a:noFill/>
        </p:spPr>
        <p:txBody>
          <a:bodyPr wrap="square" lIns="36000" rIns="36000" tIns="18000" bIns="18000" anchor="t">
            <a:spAutoFit/>
          </a:bodyPr>
          <a:lstStyle/>
          <a:p>
            <a:pPr algn="l">
              <a:lnSpc>
                <a:spcPct val="130000"/>
              </a:lnSpc>
            </a:pPr>
            <a:r>
              <a:rPr sz="1200" b="1" i="0">
                <a:solidFill>
                  <a:srgbClr val="142B4A"/>
                </a:solidFill>
                <a:latin typeface="Yu Gothic"/>
              </a:rPr>
              <a:t>▶ 「書類が揃っている」は最低条件。「中身が伴っている」を主任CM自身が定期的に点検する。</a:t>
            </a:r>
          </a:p>
          <a:p>
            <a:pPr algn="l">
              <a:lnSpc>
                <a:spcPct val="130000"/>
              </a:lnSpc>
            </a:pPr>
            <a:r>
              <a:rPr sz="1200" b="1" i="0">
                <a:solidFill>
                  <a:srgbClr val="142B4A"/>
                </a:solidFill>
                <a:latin typeface="Yu Gothic"/>
              </a:rPr>
              <a:t>▶ 自主点検 → 内部監査 → 外部相談(行政・職能団体)の 3 段階チェックを推奨。</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2. 特定事業所加算</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未取得事業所への助言 ― 段階的取得戦略</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13 / 38</a:t>
            </a:r>
          </a:p>
        </p:txBody>
      </p:sp>
      <p:sp>
        <p:nvSpPr>
          <p:cNvPr id="8" name="Rectangle 7"/>
          <p:cNvSpPr/>
          <p:nvPr/>
        </p:nvSpPr>
        <p:spPr>
          <a:xfrm>
            <a:off x="390059" y="1620000"/>
            <a:ext cx="2772000" cy="900000"/>
          </a:xfrm>
          <a:prstGeom prst="rect">
            <a:avLst/>
          </a:prstGeom>
          <a:solidFill>
            <a:srgbClr val="375A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2059" y="1692000"/>
            <a:ext cx="2628000" cy="540000"/>
          </a:xfrm>
          <a:prstGeom prst="rect">
            <a:avLst/>
          </a:prstGeom>
          <a:noFill/>
        </p:spPr>
        <p:txBody>
          <a:bodyPr wrap="square" lIns="36000" rIns="36000" tIns="18000" bIns="18000" anchor="ctr">
            <a:spAutoFit/>
          </a:bodyPr>
          <a:lstStyle/>
          <a:p>
            <a:pPr algn="ctr"/>
            <a:r>
              <a:rPr sz="1400" b="1" i="0">
                <a:solidFill>
                  <a:srgbClr val="FFFFFF"/>
                </a:solidFill>
                <a:latin typeface="Yu Gothic"/>
              </a:rPr>
              <a:t>Phase 1</a:t>
            </a:r>
          </a:p>
          <a:p>
            <a:pPr algn="ctr"/>
            <a:r>
              <a:rPr sz="1400" b="1" i="0">
                <a:solidFill>
                  <a:srgbClr val="FFFFFF"/>
                </a:solidFill>
                <a:latin typeface="Yu Gothic"/>
              </a:rPr>
              <a:t>基盤整備</a:t>
            </a:r>
          </a:p>
        </p:txBody>
      </p:sp>
      <p:sp>
        <p:nvSpPr>
          <p:cNvPr id="10" name="TextBox 9"/>
          <p:cNvSpPr txBox="1"/>
          <p:nvPr/>
        </p:nvSpPr>
        <p:spPr>
          <a:xfrm>
            <a:off x="462059" y="2232000"/>
            <a:ext cx="2628000" cy="288000"/>
          </a:xfrm>
          <a:prstGeom prst="rect">
            <a:avLst/>
          </a:prstGeom>
          <a:noFill/>
        </p:spPr>
        <p:txBody>
          <a:bodyPr wrap="square" lIns="36000" rIns="36000" tIns="18000" bIns="18000" anchor="t">
            <a:spAutoFit/>
          </a:bodyPr>
          <a:lstStyle/>
          <a:p>
            <a:pPr algn="ctr"/>
            <a:r>
              <a:rPr sz="1200" b="1" i="0">
                <a:solidFill>
                  <a:srgbClr val="FFFFFF"/>
                </a:solidFill>
                <a:latin typeface="Yu Gothic"/>
              </a:rPr>
              <a:t>0〜6ヶ月</a:t>
            </a:r>
          </a:p>
        </p:txBody>
      </p:sp>
      <p:sp>
        <p:nvSpPr>
          <p:cNvPr id="11" name="Rectangle 10"/>
          <p:cNvSpPr/>
          <p:nvPr/>
        </p:nvSpPr>
        <p:spPr>
          <a:xfrm>
            <a:off x="390059" y="2520000"/>
            <a:ext cx="2772000" cy="306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8059" y="2592000"/>
            <a:ext cx="2556000" cy="2988000"/>
          </a:xfrm>
          <a:prstGeom prst="rect">
            <a:avLst/>
          </a:prstGeom>
          <a:noFill/>
        </p:spPr>
        <p:txBody>
          <a:bodyPr wrap="square" lIns="36000" rIns="36000" tIns="18000" bIns="18000" anchor="t">
            <a:spAutoFit/>
          </a:bodyPr>
          <a:lstStyle/>
          <a:p>
            <a:pPr algn="l">
              <a:lnSpc>
                <a:spcPct val="130000"/>
              </a:lnSpc>
            </a:pPr>
            <a:r>
              <a:rPr sz="1100" b="0" i="0">
                <a:solidFill>
                  <a:srgbClr val="33383F"/>
                </a:solidFill>
                <a:latin typeface="Yu Gothic"/>
              </a:rPr>
              <a:t>・運営基準減算ゼロの徹底</a:t>
            </a:r>
          </a:p>
          <a:p>
            <a:pPr algn="l">
              <a:lnSpc>
                <a:spcPct val="130000"/>
              </a:lnSpc>
            </a:pPr>
            <a:r>
              <a:rPr sz="1100" b="0" i="0">
                <a:solidFill>
                  <a:srgbClr val="33383F"/>
                </a:solidFill>
                <a:latin typeface="Yu Gothic"/>
              </a:rPr>
              <a:t>・記録様式の統一・電子化</a:t>
            </a:r>
          </a:p>
          <a:p>
            <a:pPr algn="l">
              <a:lnSpc>
                <a:spcPct val="130000"/>
              </a:lnSpc>
            </a:pPr>
            <a:r>
              <a:rPr sz="1100" b="0" i="0">
                <a:solidFill>
                  <a:srgbClr val="33383F"/>
                </a:solidFill>
                <a:latin typeface="Yu Gothic"/>
              </a:rPr>
              <a:t>・BCP/虐待防止の体制整備</a:t>
            </a:r>
          </a:p>
        </p:txBody>
      </p:sp>
      <p:sp>
        <p:nvSpPr>
          <p:cNvPr id="13" name="Rectangle 12"/>
          <p:cNvSpPr/>
          <p:nvPr/>
        </p:nvSpPr>
        <p:spPr>
          <a:xfrm>
            <a:off x="3270059" y="1620000"/>
            <a:ext cx="2772000" cy="9000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42059" y="1692000"/>
            <a:ext cx="2628000" cy="540000"/>
          </a:xfrm>
          <a:prstGeom prst="rect">
            <a:avLst/>
          </a:prstGeom>
          <a:noFill/>
        </p:spPr>
        <p:txBody>
          <a:bodyPr wrap="square" lIns="36000" rIns="36000" tIns="18000" bIns="18000" anchor="ctr">
            <a:spAutoFit/>
          </a:bodyPr>
          <a:lstStyle/>
          <a:p>
            <a:pPr algn="ctr"/>
            <a:r>
              <a:rPr sz="1400" b="1" i="0">
                <a:solidFill>
                  <a:srgbClr val="FFFFFF"/>
                </a:solidFill>
                <a:latin typeface="Yu Gothic"/>
              </a:rPr>
              <a:t>Phase 2</a:t>
            </a:r>
          </a:p>
          <a:p>
            <a:pPr algn="ctr"/>
            <a:r>
              <a:rPr sz="1400" b="1" i="0">
                <a:solidFill>
                  <a:srgbClr val="FFFFFF"/>
                </a:solidFill>
                <a:latin typeface="Yu Gothic"/>
              </a:rPr>
              <a:t>Ⅳ 取得</a:t>
            </a:r>
          </a:p>
        </p:txBody>
      </p:sp>
      <p:sp>
        <p:nvSpPr>
          <p:cNvPr id="15" name="TextBox 14"/>
          <p:cNvSpPr txBox="1"/>
          <p:nvPr/>
        </p:nvSpPr>
        <p:spPr>
          <a:xfrm>
            <a:off x="3342059" y="2232000"/>
            <a:ext cx="2628000" cy="288000"/>
          </a:xfrm>
          <a:prstGeom prst="rect">
            <a:avLst/>
          </a:prstGeom>
          <a:noFill/>
        </p:spPr>
        <p:txBody>
          <a:bodyPr wrap="square" lIns="36000" rIns="36000" tIns="18000" bIns="18000" anchor="t">
            <a:spAutoFit/>
          </a:bodyPr>
          <a:lstStyle/>
          <a:p>
            <a:pPr algn="ctr"/>
            <a:r>
              <a:rPr sz="1200" b="1" i="0">
                <a:solidFill>
                  <a:srgbClr val="FFFFFF"/>
                </a:solidFill>
                <a:latin typeface="Yu Gothic"/>
              </a:rPr>
              <a:t>6〜12ヶ月</a:t>
            </a:r>
          </a:p>
        </p:txBody>
      </p:sp>
      <p:sp>
        <p:nvSpPr>
          <p:cNvPr id="16" name="Rectangle 15"/>
          <p:cNvSpPr/>
          <p:nvPr/>
        </p:nvSpPr>
        <p:spPr>
          <a:xfrm>
            <a:off x="3270059" y="2520000"/>
            <a:ext cx="2772000" cy="306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78059" y="2592000"/>
            <a:ext cx="2556000" cy="2988000"/>
          </a:xfrm>
          <a:prstGeom prst="rect">
            <a:avLst/>
          </a:prstGeom>
          <a:noFill/>
        </p:spPr>
        <p:txBody>
          <a:bodyPr wrap="square" lIns="36000" rIns="36000" tIns="18000" bIns="18000" anchor="t">
            <a:spAutoFit/>
          </a:bodyPr>
          <a:lstStyle/>
          <a:p>
            <a:pPr algn="l">
              <a:lnSpc>
                <a:spcPct val="130000"/>
              </a:lnSpc>
            </a:pPr>
            <a:r>
              <a:rPr sz="1100" b="0" i="0">
                <a:solidFill>
                  <a:srgbClr val="33383F"/>
                </a:solidFill>
                <a:latin typeface="Yu Gothic"/>
              </a:rPr>
              <a:t>・主任CM 1名配置</a:t>
            </a:r>
          </a:p>
          <a:p>
            <a:pPr algn="l">
              <a:lnSpc>
                <a:spcPct val="130000"/>
              </a:lnSpc>
            </a:pPr>
            <a:r>
              <a:rPr sz="1100" b="0" i="0">
                <a:solidFill>
                  <a:srgbClr val="33383F"/>
                </a:solidFill>
                <a:latin typeface="Yu Gothic"/>
              </a:rPr>
              <a:t>・24時間体制構築</a:t>
            </a:r>
          </a:p>
          <a:p>
            <a:pPr algn="l">
              <a:lnSpc>
                <a:spcPct val="130000"/>
              </a:lnSpc>
            </a:pPr>
            <a:r>
              <a:rPr sz="1100" b="0" i="0">
                <a:solidFill>
                  <a:srgbClr val="33383F"/>
                </a:solidFill>
                <a:latin typeface="Yu Gothic"/>
              </a:rPr>
              <a:t>・研修計画・事例検討の定例化</a:t>
            </a:r>
          </a:p>
        </p:txBody>
      </p:sp>
      <p:sp>
        <p:nvSpPr>
          <p:cNvPr id="18" name="Rectangle 17"/>
          <p:cNvSpPr/>
          <p:nvPr/>
        </p:nvSpPr>
        <p:spPr>
          <a:xfrm>
            <a:off x="6150059" y="1620000"/>
            <a:ext cx="2772000" cy="900000"/>
          </a:xfrm>
          <a:prstGeom prst="rect">
            <a:avLst/>
          </a:prstGeom>
          <a:solidFill>
            <a:srgbClr val="E0A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22059" y="1692000"/>
            <a:ext cx="2628000" cy="540000"/>
          </a:xfrm>
          <a:prstGeom prst="rect">
            <a:avLst/>
          </a:prstGeom>
          <a:noFill/>
        </p:spPr>
        <p:txBody>
          <a:bodyPr wrap="square" lIns="36000" rIns="36000" tIns="18000" bIns="18000" anchor="ctr">
            <a:spAutoFit/>
          </a:bodyPr>
          <a:lstStyle/>
          <a:p>
            <a:pPr algn="ctr"/>
            <a:r>
              <a:rPr sz="1400" b="1" i="0">
                <a:solidFill>
                  <a:srgbClr val="FFFFFF"/>
                </a:solidFill>
                <a:latin typeface="Yu Gothic"/>
              </a:rPr>
              <a:t>Phase 3</a:t>
            </a:r>
          </a:p>
          <a:p>
            <a:pPr algn="ctr"/>
            <a:r>
              <a:rPr sz="1400" b="1" i="0">
                <a:solidFill>
                  <a:srgbClr val="FFFFFF"/>
                </a:solidFill>
                <a:latin typeface="Yu Gothic"/>
              </a:rPr>
              <a:t>Ⅲ → Ⅱ</a:t>
            </a:r>
          </a:p>
        </p:txBody>
      </p:sp>
      <p:sp>
        <p:nvSpPr>
          <p:cNvPr id="20" name="TextBox 19"/>
          <p:cNvSpPr txBox="1"/>
          <p:nvPr/>
        </p:nvSpPr>
        <p:spPr>
          <a:xfrm>
            <a:off x="6222059" y="2232000"/>
            <a:ext cx="2628000" cy="288000"/>
          </a:xfrm>
          <a:prstGeom prst="rect">
            <a:avLst/>
          </a:prstGeom>
          <a:noFill/>
        </p:spPr>
        <p:txBody>
          <a:bodyPr wrap="square" lIns="36000" rIns="36000" tIns="18000" bIns="18000" anchor="t">
            <a:spAutoFit/>
          </a:bodyPr>
          <a:lstStyle/>
          <a:p>
            <a:pPr algn="ctr"/>
            <a:r>
              <a:rPr sz="1200" b="1" i="0">
                <a:solidFill>
                  <a:srgbClr val="FFFFFF"/>
                </a:solidFill>
                <a:latin typeface="Yu Gothic"/>
              </a:rPr>
              <a:t>12〜24ヶ月</a:t>
            </a:r>
          </a:p>
        </p:txBody>
      </p:sp>
      <p:sp>
        <p:nvSpPr>
          <p:cNvPr id="21" name="Rectangle 20"/>
          <p:cNvSpPr/>
          <p:nvPr/>
        </p:nvSpPr>
        <p:spPr>
          <a:xfrm>
            <a:off x="6150059" y="2520000"/>
            <a:ext cx="2772000" cy="306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58059" y="2592000"/>
            <a:ext cx="2556000" cy="2988000"/>
          </a:xfrm>
          <a:prstGeom prst="rect">
            <a:avLst/>
          </a:prstGeom>
          <a:noFill/>
        </p:spPr>
        <p:txBody>
          <a:bodyPr wrap="square" lIns="36000" rIns="36000" tIns="18000" bIns="18000" anchor="t">
            <a:spAutoFit/>
          </a:bodyPr>
          <a:lstStyle/>
          <a:p>
            <a:pPr algn="l">
              <a:lnSpc>
                <a:spcPct val="130000"/>
              </a:lnSpc>
            </a:pPr>
            <a:r>
              <a:rPr sz="1100" b="0" i="0">
                <a:solidFill>
                  <a:srgbClr val="33383F"/>
                </a:solidFill>
                <a:latin typeface="Yu Gothic"/>
              </a:rPr>
              <a:t>・常勤CM体制整備</a:t>
            </a:r>
          </a:p>
          <a:p>
            <a:pPr algn="l">
              <a:lnSpc>
                <a:spcPct val="130000"/>
              </a:lnSpc>
            </a:pPr>
            <a:r>
              <a:rPr sz="1100" b="0" i="0">
                <a:solidFill>
                  <a:srgbClr val="33383F"/>
                </a:solidFill>
                <a:latin typeface="Yu Gothic"/>
              </a:rPr>
              <a:t>・中重度者割合の確保</a:t>
            </a:r>
          </a:p>
          <a:p>
            <a:pPr algn="l">
              <a:lnSpc>
                <a:spcPct val="130000"/>
              </a:lnSpc>
            </a:pPr>
            <a:r>
              <a:rPr sz="1100" b="0" i="0">
                <a:solidFill>
                  <a:srgbClr val="33383F"/>
                </a:solidFill>
                <a:latin typeface="Yu Gothic"/>
              </a:rPr>
              <a:t>・地域連携実績の蓄積</a:t>
            </a:r>
          </a:p>
        </p:txBody>
      </p:sp>
      <p:sp>
        <p:nvSpPr>
          <p:cNvPr id="23" name="Rectangle 22"/>
          <p:cNvSpPr/>
          <p:nvPr/>
        </p:nvSpPr>
        <p:spPr>
          <a:xfrm>
            <a:off x="9030059" y="1620000"/>
            <a:ext cx="2772000" cy="900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02059" y="1692000"/>
            <a:ext cx="2628000" cy="540000"/>
          </a:xfrm>
          <a:prstGeom prst="rect">
            <a:avLst/>
          </a:prstGeom>
          <a:noFill/>
        </p:spPr>
        <p:txBody>
          <a:bodyPr wrap="square" lIns="36000" rIns="36000" tIns="18000" bIns="18000" anchor="ctr">
            <a:spAutoFit/>
          </a:bodyPr>
          <a:lstStyle/>
          <a:p>
            <a:pPr algn="ctr"/>
            <a:r>
              <a:rPr sz="1400" b="1" i="0">
                <a:solidFill>
                  <a:srgbClr val="FFFFFF"/>
                </a:solidFill>
                <a:latin typeface="Yu Gothic"/>
              </a:rPr>
              <a:t>Phase 4</a:t>
            </a:r>
          </a:p>
          <a:p>
            <a:pPr algn="ctr"/>
            <a:r>
              <a:rPr sz="1400" b="1" i="0">
                <a:solidFill>
                  <a:srgbClr val="FFFFFF"/>
                </a:solidFill>
                <a:latin typeface="Yu Gothic"/>
              </a:rPr>
              <a:t>Ⅱ → Ⅰ</a:t>
            </a:r>
          </a:p>
        </p:txBody>
      </p:sp>
      <p:sp>
        <p:nvSpPr>
          <p:cNvPr id="25" name="TextBox 24"/>
          <p:cNvSpPr txBox="1"/>
          <p:nvPr/>
        </p:nvSpPr>
        <p:spPr>
          <a:xfrm>
            <a:off x="9102059" y="2232000"/>
            <a:ext cx="2628000" cy="288000"/>
          </a:xfrm>
          <a:prstGeom prst="rect">
            <a:avLst/>
          </a:prstGeom>
          <a:noFill/>
        </p:spPr>
        <p:txBody>
          <a:bodyPr wrap="square" lIns="36000" rIns="36000" tIns="18000" bIns="18000" anchor="t">
            <a:spAutoFit/>
          </a:bodyPr>
          <a:lstStyle/>
          <a:p>
            <a:pPr algn="ctr"/>
            <a:r>
              <a:rPr sz="1200" b="1" i="0">
                <a:solidFill>
                  <a:srgbClr val="FFFFFF"/>
                </a:solidFill>
                <a:latin typeface="Yu Gothic"/>
              </a:rPr>
              <a:t>24ヶ月〜</a:t>
            </a:r>
          </a:p>
        </p:txBody>
      </p:sp>
      <p:sp>
        <p:nvSpPr>
          <p:cNvPr id="26" name="Rectangle 25"/>
          <p:cNvSpPr/>
          <p:nvPr/>
        </p:nvSpPr>
        <p:spPr>
          <a:xfrm>
            <a:off x="9030059" y="2520000"/>
            <a:ext cx="2772000" cy="306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38059" y="2592000"/>
            <a:ext cx="2556000" cy="2988000"/>
          </a:xfrm>
          <a:prstGeom prst="rect">
            <a:avLst/>
          </a:prstGeom>
          <a:noFill/>
        </p:spPr>
        <p:txBody>
          <a:bodyPr wrap="square" lIns="36000" rIns="36000" tIns="18000" bIns="18000" anchor="t">
            <a:spAutoFit/>
          </a:bodyPr>
          <a:lstStyle/>
          <a:p>
            <a:pPr algn="l">
              <a:lnSpc>
                <a:spcPct val="130000"/>
              </a:lnSpc>
            </a:pPr>
            <a:r>
              <a:rPr sz="1100" b="0" i="0">
                <a:solidFill>
                  <a:srgbClr val="33383F"/>
                </a:solidFill>
                <a:latin typeface="Yu Gothic"/>
              </a:rPr>
              <a:t>・困難事例の積極受入</a:t>
            </a:r>
          </a:p>
          <a:p>
            <a:pPr algn="l">
              <a:lnSpc>
                <a:spcPct val="130000"/>
              </a:lnSpc>
            </a:pPr>
            <a:r>
              <a:rPr sz="1100" b="0" i="0">
                <a:solidFill>
                  <a:srgbClr val="33383F"/>
                </a:solidFill>
                <a:latin typeface="Yu Gothic"/>
              </a:rPr>
              <a:t>・地域貢献の言語化</a:t>
            </a:r>
          </a:p>
          <a:p>
            <a:pPr algn="l">
              <a:lnSpc>
                <a:spcPct val="130000"/>
              </a:lnSpc>
            </a:pPr>
            <a:r>
              <a:rPr sz="1100" b="0" i="0">
                <a:solidFill>
                  <a:srgbClr val="33383F"/>
                </a:solidFill>
                <a:latin typeface="Yu Gothic"/>
              </a:rPr>
              <a:t>・主任CM 複数化</a:t>
            </a:r>
          </a:p>
        </p:txBody>
      </p:sp>
      <p:sp>
        <p:nvSpPr>
          <p:cNvPr id="28" name="TextBox 27"/>
          <p:cNvSpPr txBox="1"/>
          <p:nvPr/>
        </p:nvSpPr>
        <p:spPr>
          <a:xfrm>
            <a:off x="432000" y="5760000"/>
            <a:ext cx="11328119" cy="540000"/>
          </a:xfrm>
          <a:prstGeom prst="rect">
            <a:avLst/>
          </a:prstGeom>
          <a:noFill/>
        </p:spPr>
        <p:txBody>
          <a:bodyPr wrap="square" lIns="36000" rIns="36000" tIns="18000" bIns="18000" anchor="t">
            <a:spAutoFit/>
          </a:bodyPr>
          <a:lstStyle/>
          <a:p>
            <a:pPr algn="l">
              <a:lnSpc>
                <a:spcPct val="130000"/>
              </a:lnSpc>
            </a:pPr>
            <a:r>
              <a:rPr sz="1300" b="1" i="0">
                <a:solidFill>
                  <a:srgbClr val="142B4A"/>
                </a:solidFill>
                <a:latin typeface="Yu Gothic"/>
              </a:rPr>
              <a:t>▶ 一気にⅠを狙わず、段階を踏む。</a:t>
            </a:r>
          </a:p>
          <a:p>
            <a:pPr algn="l">
              <a:lnSpc>
                <a:spcPct val="130000"/>
              </a:lnSpc>
            </a:pPr>
            <a:r>
              <a:rPr sz="1300" b="1" i="0">
                <a:solidFill>
                  <a:srgbClr val="142B4A"/>
                </a:solidFill>
                <a:latin typeface="Yu Gothic"/>
              </a:rPr>
              <a:t>▶ 主任CM がいない事業所では「主任研修受講者の確保」が最優先課題。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0000"/>
            <a:ext cx="12192119" cy="36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340000"/>
            <a:ext cx="10752119" cy="540000"/>
          </a:xfrm>
          <a:prstGeom prst="rect">
            <a:avLst/>
          </a:prstGeom>
          <a:noFill/>
        </p:spPr>
        <p:txBody>
          <a:bodyPr wrap="square" lIns="36000" rIns="36000" tIns="18000" bIns="18000" anchor="t">
            <a:spAutoFit/>
          </a:bodyPr>
          <a:lstStyle/>
          <a:p>
            <a:pPr algn="ctr"/>
            <a:r>
              <a:rPr sz="2200" b="1" i="0">
                <a:solidFill>
                  <a:srgbClr val="C03A2E"/>
                </a:solidFill>
                <a:latin typeface="Yu Gothic"/>
              </a:rPr>
              <a:t>PART 3</a:t>
            </a:r>
          </a:p>
        </p:txBody>
      </p:sp>
      <p:sp>
        <p:nvSpPr>
          <p:cNvPr id="5" name="TextBox 4"/>
          <p:cNvSpPr txBox="1"/>
          <p:nvPr/>
        </p:nvSpPr>
        <p:spPr>
          <a:xfrm>
            <a:off x="360000" y="3420000"/>
            <a:ext cx="11472119" cy="720000"/>
          </a:xfrm>
          <a:prstGeom prst="rect">
            <a:avLst/>
          </a:prstGeom>
          <a:noFill/>
        </p:spPr>
        <p:txBody>
          <a:bodyPr wrap="square" lIns="36000" rIns="36000" tIns="18000" bIns="18000" anchor="t">
            <a:spAutoFit/>
          </a:bodyPr>
          <a:lstStyle/>
          <a:p>
            <a:pPr algn="ctr"/>
            <a:r>
              <a:rPr sz="3600" b="1" i="0">
                <a:solidFill>
                  <a:srgbClr val="FFFFFF"/>
                </a:solidFill>
                <a:latin typeface="Yu Gothic"/>
              </a:rPr>
              <a:t>ターミナルケアマネジメント加算</a:t>
            </a:r>
          </a:p>
        </p:txBody>
      </p:sp>
      <p:sp>
        <p:nvSpPr>
          <p:cNvPr id="6" name="TextBox 5"/>
          <p:cNvSpPr txBox="1"/>
          <p:nvPr/>
        </p:nvSpPr>
        <p:spPr>
          <a:xfrm>
            <a:off x="360000" y="4680000"/>
            <a:ext cx="11472119" cy="360000"/>
          </a:xfrm>
          <a:prstGeom prst="rect">
            <a:avLst/>
          </a:prstGeom>
          <a:noFill/>
        </p:spPr>
        <p:txBody>
          <a:bodyPr wrap="square" lIns="36000" rIns="36000" tIns="18000" bIns="18000" anchor="t">
            <a:spAutoFit/>
          </a:bodyPr>
          <a:lstStyle/>
          <a:p>
            <a:pPr algn="ctr"/>
            <a:r>
              <a:rPr sz="1400" b="0" i="0">
                <a:solidFill>
                  <a:srgbClr val="D6DCE3"/>
                </a:solidFill>
                <a:latin typeface="Yu Gothic"/>
              </a:rPr>
              <a:t>Terminal Care Management Bonus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3. ターミナルCM加算</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加算の概要と算定要件の構造</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15 / 38</a:t>
            </a:r>
          </a:p>
        </p:txBody>
      </p:sp>
      <p:sp>
        <p:nvSpPr>
          <p:cNvPr id="8" name="Rectangle 7"/>
          <p:cNvSpPr/>
          <p:nvPr/>
        </p:nvSpPr>
        <p:spPr>
          <a:xfrm>
            <a:off x="432000" y="1620000"/>
            <a:ext cx="11304000" cy="360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65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加算の趣旨</a:t>
            </a:r>
          </a:p>
        </p:txBody>
      </p:sp>
      <p:sp>
        <p:nvSpPr>
          <p:cNvPr id="10" name="Rectangle 9"/>
          <p:cNvSpPr/>
          <p:nvPr/>
        </p:nvSpPr>
        <p:spPr>
          <a:xfrm>
            <a:off x="432000" y="1980000"/>
            <a:ext cx="11304000" cy="1080000"/>
          </a:xfrm>
          <a:prstGeom prst="rect">
            <a:avLst/>
          </a:prstGeom>
          <a:solidFill>
            <a:srgbClr val="FB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2016000"/>
            <a:ext cx="11088000" cy="1044000"/>
          </a:xfrm>
          <a:prstGeom prst="rect">
            <a:avLst/>
          </a:prstGeom>
          <a:noFill/>
        </p:spPr>
        <p:txBody>
          <a:bodyPr wrap="square" lIns="36000" rIns="36000" tIns="18000" bIns="18000" anchor="t">
            <a:spAutoFit/>
          </a:bodyPr>
          <a:lstStyle/>
          <a:p>
            <a:pPr algn="l"/>
            <a:r>
              <a:rPr sz="1300" b="0" i="0">
                <a:solidFill>
                  <a:srgbClr val="33383F"/>
                </a:solidFill>
                <a:latin typeface="Yu Gothic"/>
              </a:rPr>
              <a:t>■ 末期がん等の利用者が、住み慣れた自宅で人生の最終段階を過ごせるよう、</a:t>
            </a:r>
          </a:p>
          <a:p>
            <a:pPr algn="l"/>
            <a:r>
              <a:rPr sz="1300" b="0" i="0">
                <a:solidFill>
                  <a:srgbClr val="33383F"/>
                </a:solidFill>
                <a:latin typeface="Yu Gothic"/>
              </a:rPr>
              <a:t>    CMが頻回の訪問・多職種連携・看取り後の対応まで一貫して支える業務を評価</a:t>
            </a:r>
          </a:p>
          <a:p>
            <a:pPr algn="l"/>
            <a:r>
              <a:rPr sz="1300" b="0" i="0">
                <a:solidFill>
                  <a:srgbClr val="33383F"/>
                </a:solidFill>
                <a:latin typeface="Yu Gothic"/>
              </a:rPr>
              <a:t/>
            </a:r>
          </a:p>
          <a:p>
            <a:pPr algn="l"/>
            <a:r>
              <a:rPr sz="1300" b="0" i="0">
                <a:solidFill>
                  <a:srgbClr val="33383F"/>
                </a:solidFill>
                <a:latin typeface="Yu Gothic"/>
              </a:rPr>
              <a:t>■ R6 改定では算定要件が明確化され、記録の整備がより重要に</a:t>
            </a:r>
          </a:p>
        </p:txBody>
      </p:sp>
      <p:sp>
        <p:nvSpPr>
          <p:cNvPr id="12" name="Rectangle 11"/>
          <p:cNvSpPr/>
          <p:nvPr/>
        </p:nvSpPr>
        <p:spPr>
          <a:xfrm>
            <a:off x="390059" y="3240000"/>
            <a:ext cx="2772000" cy="792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0059" y="3312000"/>
            <a:ext cx="2772000" cy="288000"/>
          </a:xfrm>
          <a:prstGeom prst="rect">
            <a:avLst/>
          </a:prstGeom>
          <a:noFill/>
        </p:spPr>
        <p:txBody>
          <a:bodyPr wrap="square" lIns="36000" rIns="36000" tIns="18000" bIns="18000" anchor="t">
            <a:spAutoFit/>
          </a:bodyPr>
          <a:lstStyle/>
          <a:p>
            <a:pPr algn="ctr"/>
            <a:r>
              <a:rPr sz="2200" b="1" i="0">
                <a:solidFill>
                  <a:srgbClr val="FFFFFF"/>
                </a:solidFill>
                <a:latin typeface="Yu Gothic"/>
              </a:rPr>
              <a:t>①</a:t>
            </a:r>
          </a:p>
        </p:txBody>
      </p:sp>
      <p:sp>
        <p:nvSpPr>
          <p:cNvPr id="14" name="TextBox 13"/>
          <p:cNvSpPr txBox="1"/>
          <p:nvPr/>
        </p:nvSpPr>
        <p:spPr>
          <a:xfrm>
            <a:off x="462059" y="3600000"/>
            <a:ext cx="2628000" cy="432000"/>
          </a:xfrm>
          <a:prstGeom prst="rect">
            <a:avLst/>
          </a:prstGeom>
          <a:noFill/>
        </p:spPr>
        <p:txBody>
          <a:bodyPr wrap="square" lIns="36000" rIns="36000" tIns="18000" bIns="18000" anchor="ctr">
            <a:spAutoFit/>
          </a:bodyPr>
          <a:lstStyle/>
          <a:p>
            <a:pPr algn="ctr"/>
            <a:r>
              <a:rPr sz="1300" b="1" i="0">
                <a:solidFill>
                  <a:srgbClr val="FFFFFF"/>
                </a:solidFill>
                <a:latin typeface="Yu Gothic"/>
              </a:rPr>
              <a:t>対象利用者</a:t>
            </a:r>
          </a:p>
        </p:txBody>
      </p:sp>
      <p:sp>
        <p:nvSpPr>
          <p:cNvPr id="15" name="Rectangle 14"/>
          <p:cNvSpPr/>
          <p:nvPr/>
        </p:nvSpPr>
        <p:spPr>
          <a:xfrm>
            <a:off x="390059" y="4032000"/>
            <a:ext cx="2772000" cy="1908000"/>
          </a:xfrm>
          <a:prstGeom prst="rect">
            <a:avLst/>
          </a:prstGeom>
          <a:solidFill>
            <a:srgbClr val="FB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059" y="4104000"/>
            <a:ext cx="2628000" cy="1764000"/>
          </a:xfrm>
          <a:prstGeom prst="rect">
            <a:avLst/>
          </a:prstGeom>
          <a:noFill/>
        </p:spPr>
        <p:txBody>
          <a:bodyPr wrap="square" lIns="36000" rIns="36000" tIns="18000" bIns="18000" anchor="ctr">
            <a:spAutoFit/>
          </a:bodyPr>
          <a:lstStyle/>
          <a:p>
            <a:pPr algn="ctr">
              <a:lnSpc>
                <a:spcPct val="130000"/>
              </a:lnSpc>
            </a:pPr>
            <a:r>
              <a:rPr sz="1100" b="0" i="0">
                <a:solidFill>
                  <a:srgbClr val="33383F"/>
                </a:solidFill>
                <a:latin typeface="Yu Gothic"/>
              </a:rPr>
              <a:t>末期の悪性腫瘍その他、</a:t>
            </a:r>
          </a:p>
          <a:p>
            <a:pPr algn="ctr">
              <a:lnSpc>
                <a:spcPct val="130000"/>
              </a:lnSpc>
            </a:pPr>
            <a:r>
              <a:rPr sz="1100" b="0" i="0">
                <a:solidFill>
                  <a:srgbClr val="33383F"/>
                </a:solidFill>
                <a:latin typeface="Yu Gothic"/>
              </a:rPr>
              <a:t>医師が一般的に認められて</a:t>
            </a:r>
          </a:p>
          <a:p>
            <a:pPr algn="ctr">
              <a:lnSpc>
                <a:spcPct val="130000"/>
              </a:lnSpc>
            </a:pPr>
            <a:r>
              <a:rPr sz="1100" b="0" i="0">
                <a:solidFill>
                  <a:srgbClr val="33383F"/>
                </a:solidFill>
                <a:latin typeface="Yu Gothic"/>
              </a:rPr>
              <a:t>いる医学的知見に基づき</a:t>
            </a:r>
          </a:p>
          <a:p>
            <a:pPr algn="ctr">
              <a:lnSpc>
                <a:spcPct val="130000"/>
              </a:lnSpc>
            </a:pPr>
            <a:r>
              <a:rPr sz="1100" b="0" i="0">
                <a:solidFill>
                  <a:srgbClr val="33383F"/>
                </a:solidFill>
                <a:latin typeface="Yu Gothic"/>
              </a:rPr>
              <a:t>回復の見込みがないと診断</a:t>
            </a:r>
          </a:p>
        </p:txBody>
      </p:sp>
      <p:sp>
        <p:nvSpPr>
          <p:cNvPr id="17" name="Rectangle 16"/>
          <p:cNvSpPr/>
          <p:nvPr/>
        </p:nvSpPr>
        <p:spPr>
          <a:xfrm>
            <a:off x="3270059" y="3240000"/>
            <a:ext cx="2772000" cy="792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70059" y="3312000"/>
            <a:ext cx="2772000" cy="288000"/>
          </a:xfrm>
          <a:prstGeom prst="rect">
            <a:avLst/>
          </a:prstGeom>
          <a:noFill/>
        </p:spPr>
        <p:txBody>
          <a:bodyPr wrap="square" lIns="36000" rIns="36000" tIns="18000" bIns="18000" anchor="t">
            <a:spAutoFit/>
          </a:bodyPr>
          <a:lstStyle/>
          <a:p>
            <a:pPr algn="ctr"/>
            <a:r>
              <a:rPr sz="2200" b="1" i="0">
                <a:solidFill>
                  <a:srgbClr val="FFFFFF"/>
                </a:solidFill>
                <a:latin typeface="Yu Gothic"/>
              </a:rPr>
              <a:t>②</a:t>
            </a:r>
          </a:p>
        </p:txBody>
      </p:sp>
      <p:sp>
        <p:nvSpPr>
          <p:cNvPr id="19" name="TextBox 18"/>
          <p:cNvSpPr txBox="1"/>
          <p:nvPr/>
        </p:nvSpPr>
        <p:spPr>
          <a:xfrm>
            <a:off x="3342059" y="3600000"/>
            <a:ext cx="2628000" cy="432000"/>
          </a:xfrm>
          <a:prstGeom prst="rect">
            <a:avLst/>
          </a:prstGeom>
          <a:noFill/>
        </p:spPr>
        <p:txBody>
          <a:bodyPr wrap="square" lIns="36000" rIns="36000" tIns="18000" bIns="18000" anchor="ctr">
            <a:spAutoFit/>
          </a:bodyPr>
          <a:lstStyle/>
          <a:p>
            <a:pPr algn="ctr"/>
            <a:r>
              <a:rPr sz="1300" b="1" i="0">
                <a:solidFill>
                  <a:srgbClr val="FFFFFF"/>
                </a:solidFill>
                <a:latin typeface="Yu Gothic"/>
              </a:rPr>
              <a:t>死亡日 + 死亡前</a:t>
            </a:r>
          </a:p>
          <a:p>
            <a:pPr algn="ctr"/>
            <a:r>
              <a:rPr sz="1300" b="1" i="0">
                <a:solidFill>
                  <a:srgbClr val="FFFFFF"/>
                </a:solidFill>
                <a:latin typeface="Yu Gothic"/>
              </a:rPr>
              <a:t>14 日以内の対応</a:t>
            </a:r>
          </a:p>
        </p:txBody>
      </p:sp>
      <p:sp>
        <p:nvSpPr>
          <p:cNvPr id="20" name="Rectangle 19"/>
          <p:cNvSpPr/>
          <p:nvPr/>
        </p:nvSpPr>
        <p:spPr>
          <a:xfrm>
            <a:off x="3270059" y="4032000"/>
            <a:ext cx="2772000" cy="1908000"/>
          </a:xfrm>
          <a:prstGeom prst="rect">
            <a:avLst/>
          </a:prstGeom>
          <a:solidFill>
            <a:srgbClr val="FB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42059" y="4104000"/>
            <a:ext cx="2628000" cy="1764000"/>
          </a:xfrm>
          <a:prstGeom prst="rect">
            <a:avLst/>
          </a:prstGeom>
          <a:noFill/>
        </p:spPr>
        <p:txBody>
          <a:bodyPr wrap="square" lIns="36000" rIns="36000" tIns="18000" bIns="18000" anchor="ctr">
            <a:spAutoFit/>
          </a:bodyPr>
          <a:lstStyle/>
          <a:p>
            <a:pPr algn="ctr">
              <a:lnSpc>
                <a:spcPct val="130000"/>
              </a:lnSpc>
            </a:pPr>
            <a:r>
              <a:rPr sz="1100" b="0" i="0">
                <a:solidFill>
                  <a:srgbClr val="33383F"/>
                </a:solidFill>
                <a:latin typeface="Yu Gothic"/>
              </a:rPr>
              <a:t>本人・家族の同意のもと、</a:t>
            </a:r>
          </a:p>
          <a:p>
            <a:pPr algn="ctr">
              <a:lnSpc>
                <a:spcPct val="130000"/>
              </a:lnSpc>
            </a:pPr>
            <a:r>
              <a:rPr sz="1100" b="0" i="0">
                <a:solidFill>
                  <a:srgbClr val="33383F"/>
                </a:solidFill>
                <a:latin typeface="Yu Gothic"/>
              </a:rPr>
              <a:t>2回以上の利用者宅訪問</a:t>
            </a:r>
          </a:p>
          <a:p>
            <a:pPr algn="ctr">
              <a:lnSpc>
                <a:spcPct val="130000"/>
              </a:lnSpc>
            </a:pPr>
            <a:r>
              <a:rPr sz="1100" b="0" i="0">
                <a:solidFill>
                  <a:srgbClr val="33383F"/>
                </a:solidFill>
                <a:latin typeface="Yu Gothic"/>
              </a:rPr>
              <a:t>(状態変化等の理由必須)</a:t>
            </a:r>
          </a:p>
        </p:txBody>
      </p:sp>
      <p:sp>
        <p:nvSpPr>
          <p:cNvPr id="22" name="Rectangle 21"/>
          <p:cNvSpPr/>
          <p:nvPr/>
        </p:nvSpPr>
        <p:spPr>
          <a:xfrm>
            <a:off x="6150059" y="3240000"/>
            <a:ext cx="2772000" cy="792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50059" y="3312000"/>
            <a:ext cx="2772000" cy="288000"/>
          </a:xfrm>
          <a:prstGeom prst="rect">
            <a:avLst/>
          </a:prstGeom>
          <a:noFill/>
        </p:spPr>
        <p:txBody>
          <a:bodyPr wrap="square" lIns="36000" rIns="36000" tIns="18000" bIns="18000" anchor="t">
            <a:spAutoFit/>
          </a:bodyPr>
          <a:lstStyle/>
          <a:p>
            <a:pPr algn="ctr"/>
            <a:r>
              <a:rPr sz="2200" b="1" i="0">
                <a:solidFill>
                  <a:srgbClr val="FFFFFF"/>
                </a:solidFill>
                <a:latin typeface="Yu Gothic"/>
              </a:rPr>
              <a:t>③</a:t>
            </a:r>
          </a:p>
        </p:txBody>
      </p:sp>
      <p:sp>
        <p:nvSpPr>
          <p:cNvPr id="24" name="TextBox 23"/>
          <p:cNvSpPr txBox="1"/>
          <p:nvPr/>
        </p:nvSpPr>
        <p:spPr>
          <a:xfrm>
            <a:off x="6222059" y="3600000"/>
            <a:ext cx="2628000" cy="432000"/>
          </a:xfrm>
          <a:prstGeom prst="rect">
            <a:avLst/>
          </a:prstGeom>
          <a:noFill/>
        </p:spPr>
        <p:txBody>
          <a:bodyPr wrap="square" lIns="36000" rIns="36000" tIns="18000" bIns="18000" anchor="ctr">
            <a:spAutoFit/>
          </a:bodyPr>
          <a:lstStyle/>
          <a:p>
            <a:pPr algn="ctr"/>
            <a:r>
              <a:rPr sz="1300" b="1" i="0">
                <a:solidFill>
                  <a:srgbClr val="FFFFFF"/>
                </a:solidFill>
                <a:latin typeface="Yu Gothic"/>
              </a:rPr>
              <a:t>多職種連携</a:t>
            </a:r>
          </a:p>
        </p:txBody>
      </p:sp>
      <p:sp>
        <p:nvSpPr>
          <p:cNvPr id="25" name="Rectangle 24"/>
          <p:cNvSpPr/>
          <p:nvPr/>
        </p:nvSpPr>
        <p:spPr>
          <a:xfrm>
            <a:off x="6150059" y="4032000"/>
            <a:ext cx="2772000" cy="1908000"/>
          </a:xfrm>
          <a:prstGeom prst="rect">
            <a:avLst/>
          </a:prstGeom>
          <a:solidFill>
            <a:srgbClr val="FB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22059" y="4104000"/>
            <a:ext cx="2628000" cy="1764000"/>
          </a:xfrm>
          <a:prstGeom prst="rect">
            <a:avLst/>
          </a:prstGeom>
          <a:noFill/>
        </p:spPr>
        <p:txBody>
          <a:bodyPr wrap="square" lIns="36000" rIns="36000" tIns="18000" bIns="18000" anchor="ctr">
            <a:spAutoFit/>
          </a:bodyPr>
          <a:lstStyle/>
          <a:p>
            <a:pPr algn="ctr">
              <a:lnSpc>
                <a:spcPct val="130000"/>
              </a:lnSpc>
            </a:pPr>
            <a:r>
              <a:rPr sz="1100" b="0" i="0">
                <a:solidFill>
                  <a:srgbClr val="33383F"/>
                </a:solidFill>
                <a:latin typeface="Yu Gothic"/>
              </a:rPr>
              <a:t>主治医・看護師等との</a:t>
            </a:r>
          </a:p>
          <a:p>
            <a:pPr algn="ctr">
              <a:lnSpc>
                <a:spcPct val="130000"/>
              </a:lnSpc>
            </a:pPr>
            <a:r>
              <a:rPr sz="1100" b="0" i="0">
                <a:solidFill>
                  <a:srgbClr val="33383F"/>
                </a:solidFill>
                <a:latin typeface="Yu Gothic"/>
              </a:rPr>
              <a:t>連携、サービス担当者会議</a:t>
            </a:r>
          </a:p>
          <a:p>
            <a:pPr algn="ctr">
              <a:lnSpc>
                <a:spcPct val="130000"/>
              </a:lnSpc>
            </a:pPr>
            <a:r>
              <a:rPr sz="1100" b="0" i="0">
                <a:solidFill>
                  <a:srgbClr val="33383F"/>
                </a:solidFill>
                <a:latin typeface="Yu Gothic"/>
              </a:rPr>
              <a:t>または個別の情報共有</a:t>
            </a:r>
          </a:p>
        </p:txBody>
      </p:sp>
      <p:sp>
        <p:nvSpPr>
          <p:cNvPr id="27" name="Rectangle 26"/>
          <p:cNvSpPr/>
          <p:nvPr/>
        </p:nvSpPr>
        <p:spPr>
          <a:xfrm>
            <a:off x="9030059" y="3240000"/>
            <a:ext cx="2772000" cy="792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30059" y="3312000"/>
            <a:ext cx="2772000" cy="288000"/>
          </a:xfrm>
          <a:prstGeom prst="rect">
            <a:avLst/>
          </a:prstGeom>
          <a:noFill/>
        </p:spPr>
        <p:txBody>
          <a:bodyPr wrap="square" lIns="36000" rIns="36000" tIns="18000" bIns="18000" anchor="t">
            <a:spAutoFit/>
          </a:bodyPr>
          <a:lstStyle/>
          <a:p>
            <a:pPr algn="ctr"/>
            <a:r>
              <a:rPr sz="2200" b="1" i="0">
                <a:solidFill>
                  <a:srgbClr val="FFFFFF"/>
                </a:solidFill>
                <a:latin typeface="Yu Gothic"/>
              </a:rPr>
              <a:t>④</a:t>
            </a:r>
          </a:p>
        </p:txBody>
      </p:sp>
      <p:sp>
        <p:nvSpPr>
          <p:cNvPr id="29" name="TextBox 28"/>
          <p:cNvSpPr txBox="1"/>
          <p:nvPr/>
        </p:nvSpPr>
        <p:spPr>
          <a:xfrm>
            <a:off x="9102059" y="3600000"/>
            <a:ext cx="2628000" cy="432000"/>
          </a:xfrm>
          <a:prstGeom prst="rect">
            <a:avLst/>
          </a:prstGeom>
          <a:noFill/>
        </p:spPr>
        <p:txBody>
          <a:bodyPr wrap="square" lIns="36000" rIns="36000" tIns="18000" bIns="18000" anchor="ctr">
            <a:spAutoFit/>
          </a:bodyPr>
          <a:lstStyle/>
          <a:p>
            <a:pPr algn="ctr"/>
            <a:r>
              <a:rPr sz="1300" b="1" i="0">
                <a:solidFill>
                  <a:srgbClr val="FFFFFF"/>
                </a:solidFill>
                <a:latin typeface="Yu Gothic"/>
              </a:rPr>
              <a:t>看取り後の対応</a:t>
            </a:r>
          </a:p>
        </p:txBody>
      </p:sp>
      <p:sp>
        <p:nvSpPr>
          <p:cNvPr id="30" name="Rectangle 29"/>
          <p:cNvSpPr/>
          <p:nvPr/>
        </p:nvSpPr>
        <p:spPr>
          <a:xfrm>
            <a:off x="9030059" y="4032000"/>
            <a:ext cx="2772000" cy="1908000"/>
          </a:xfrm>
          <a:prstGeom prst="rect">
            <a:avLst/>
          </a:prstGeom>
          <a:solidFill>
            <a:srgbClr val="FB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02059" y="4104000"/>
            <a:ext cx="2628000" cy="1764000"/>
          </a:xfrm>
          <a:prstGeom prst="rect">
            <a:avLst/>
          </a:prstGeom>
          <a:noFill/>
        </p:spPr>
        <p:txBody>
          <a:bodyPr wrap="square" lIns="36000" rIns="36000" tIns="18000" bIns="18000" anchor="ctr">
            <a:spAutoFit/>
          </a:bodyPr>
          <a:lstStyle/>
          <a:p>
            <a:pPr algn="ctr">
              <a:lnSpc>
                <a:spcPct val="130000"/>
              </a:lnSpc>
            </a:pPr>
            <a:r>
              <a:rPr sz="1100" b="0" i="0">
                <a:solidFill>
                  <a:srgbClr val="33383F"/>
                </a:solidFill>
                <a:latin typeface="Yu Gothic"/>
              </a:rPr>
              <a:t>本人の死亡日も含めた</a:t>
            </a:r>
          </a:p>
          <a:p>
            <a:pPr algn="ctr">
              <a:lnSpc>
                <a:spcPct val="130000"/>
              </a:lnSpc>
            </a:pPr>
            <a:r>
              <a:rPr sz="1100" b="0" i="0">
                <a:solidFill>
                  <a:srgbClr val="33383F"/>
                </a:solidFill>
                <a:latin typeface="Yu Gothic"/>
              </a:rPr>
              <a:t>対応を行い、</a:t>
            </a:r>
          </a:p>
          <a:p>
            <a:pPr algn="ctr">
              <a:lnSpc>
                <a:spcPct val="130000"/>
              </a:lnSpc>
            </a:pPr>
            <a:r>
              <a:rPr sz="1100" b="0" i="0">
                <a:solidFill>
                  <a:srgbClr val="33383F"/>
                </a:solidFill>
                <a:latin typeface="Yu Gothic"/>
              </a:rPr>
              <a:t>記録を整備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3. ターミナルCM加算</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実務フロー ― 末期診断 〜 看取り後まで</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16 / 38</a:t>
            </a:r>
          </a:p>
        </p:txBody>
      </p:sp>
      <p:sp>
        <p:nvSpPr>
          <p:cNvPr id="8" name="Rectangle 7"/>
          <p:cNvSpPr/>
          <p:nvPr/>
        </p:nvSpPr>
        <p:spPr>
          <a:xfrm>
            <a:off x="432000" y="1620000"/>
            <a:ext cx="1440000" cy="900000"/>
          </a:xfrm>
          <a:prstGeom prst="rect">
            <a:avLst/>
          </a:prstGeom>
          <a:solidFill>
            <a:srgbClr val="375A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2000" y="1692000"/>
            <a:ext cx="1440000" cy="360000"/>
          </a:xfrm>
          <a:prstGeom prst="rect">
            <a:avLst/>
          </a:prstGeom>
          <a:noFill/>
        </p:spPr>
        <p:txBody>
          <a:bodyPr wrap="square" lIns="36000" rIns="36000" tIns="18000" bIns="18000" anchor="t">
            <a:spAutoFit/>
          </a:bodyPr>
          <a:lstStyle/>
          <a:p>
            <a:pPr algn="ctr"/>
            <a:r>
              <a:rPr sz="1300" b="1" i="0">
                <a:solidFill>
                  <a:srgbClr val="FFFFFF"/>
                </a:solidFill>
                <a:latin typeface="Yu Gothic"/>
              </a:rPr>
              <a:t>Step 1</a:t>
            </a:r>
          </a:p>
        </p:txBody>
      </p:sp>
      <p:sp>
        <p:nvSpPr>
          <p:cNvPr id="10" name="TextBox 9"/>
          <p:cNvSpPr txBox="1"/>
          <p:nvPr/>
        </p:nvSpPr>
        <p:spPr>
          <a:xfrm>
            <a:off x="432000" y="2016000"/>
            <a:ext cx="1440000" cy="468000"/>
          </a:xfrm>
          <a:prstGeom prst="rect">
            <a:avLst/>
          </a:prstGeom>
          <a:noFill/>
        </p:spPr>
        <p:txBody>
          <a:bodyPr wrap="square" lIns="36000" rIns="36000" tIns="18000" bIns="18000" anchor="ctr">
            <a:spAutoFit/>
          </a:bodyPr>
          <a:lstStyle/>
          <a:p>
            <a:pPr algn="ctr"/>
            <a:r>
              <a:rPr sz="1100" b="0" i="0">
                <a:solidFill>
                  <a:srgbClr val="FFFFFF"/>
                </a:solidFill>
                <a:latin typeface="Yu Gothic"/>
              </a:rPr>
              <a:t>末期診断・在宅看取りの方針確認</a:t>
            </a:r>
          </a:p>
        </p:txBody>
      </p:sp>
      <p:sp>
        <p:nvSpPr>
          <p:cNvPr id="11" name="Rectangle 10"/>
          <p:cNvSpPr/>
          <p:nvPr/>
        </p:nvSpPr>
        <p:spPr>
          <a:xfrm>
            <a:off x="1944000" y="1620000"/>
            <a:ext cx="9816119" cy="90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52000" y="1692000"/>
            <a:ext cx="9672119" cy="756000"/>
          </a:xfrm>
          <a:prstGeom prst="rect">
            <a:avLst/>
          </a:prstGeom>
          <a:noFill/>
        </p:spPr>
        <p:txBody>
          <a:bodyPr wrap="square" lIns="36000" rIns="36000" tIns="18000" bIns="18000" anchor="t">
            <a:spAutoFit/>
          </a:bodyPr>
          <a:lstStyle/>
          <a:p>
            <a:pPr algn="l">
              <a:lnSpc>
                <a:spcPct val="130000"/>
              </a:lnSpc>
            </a:pPr>
            <a:r>
              <a:rPr sz="1200" b="0" i="0">
                <a:solidFill>
                  <a:srgbClr val="33383F"/>
                </a:solidFill>
                <a:latin typeface="Yu Gothic"/>
              </a:rPr>
              <a:t>・主治医からの情報収集(末期の旨の確認)</a:t>
            </a:r>
          </a:p>
          <a:p>
            <a:pPr algn="l">
              <a:lnSpc>
                <a:spcPct val="130000"/>
              </a:lnSpc>
            </a:pPr>
            <a:r>
              <a:rPr sz="1200" b="0" i="0">
                <a:solidFill>
                  <a:srgbClr val="33383F"/>
                </a:solidFill>
                <a:latin typeface="Yu Gothic"/>
              </a:rPr>
              <a:t>・本人・家族の意向確認(在宅看取り希望)</a:t>
            </a:r>
          </a:p>
          <a:p>
            <a:pPr algn="l">
              <a:lnSpc>
                <a:spcPct val="130000"/>
              </a:lnSpc>
            </a:pPr>
            <a:r>
              <a:rPr sz="1200" b="0" i="0">
                <a:solidFill>
                  <a:srgbClr val="33383F"/>
                </a:solidFill>
                <a:latin typeface="Yu Gothic"/>
              </a:rPr>
              <a:t>・支援体制の見直し(医療系サービス導入検討)</a:t>
            </a:r>
          </a:p>
        </p:txBody>
      </p:sp>
      <p:sp>
        <p:nvSpPr>
          <p:cNvPr id="13" name="Rectangle 12"/>
          <p:cNvSpPr/>
          <p:nvPr/>
        </p:nvSpPr>
        <p:spPr>
          <a:xfrm>
            <a:off x="432000" y="2627999"/>
            <a:ext cx="1440000" cy="900000"/>
          </a:xfrm>
          <a:prstGeom prst="rect">
            <a:avLst/>
          </a:prstGeom>
          <a:solidFill>
            <a:srgbClr val="E0A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000" y="2699999"/>
            <a:ext cx="1440000" cy="360000"/>
          </a:xfrm>
          <a:prstGeom prst="rect">
            <a:avLst/>
          </a:prstGeom>
          <a:noFill/>
        </p:spPr>
        <p:txBody>
          <a:bodyPr wrap="square" lIns="36000" rIns="36000" tIns="18000" bIns="18000" anchor="t">
            <a:spAutoFit/>
          </a:bodyPr>
          <a:lstStyle/>
          <a:p>
            <a:pPr algn="ctr"/>
            <a:r>
              <a:rPr sz="1300" b="1" i="0">
                <a:solidFill>
                  <a:srgbClr val="FFFFFF"/>
                </a:solidFill>
                <a:latin typeface="Yu Gothic"/>
              </a:rPr>
              <a:t>Step 2</a:t>
            </a:r>
          </a:p>
        </p:txBody>
      </p:sp>
      <p:sp>
        <p:nvSpPr>
          <p:cNvPr id="15" name="TextBox 14"/>
          <p:cNvSpPr txBox="1"/>
          <p:nvPr/>
        </p:nvSpPr>
        <p:spPr>
          <a:xfrm>
            <a:off x="432000" y="3023999"/>
            <a:ext cx="1440000" cy="468000"/>
          </a:xfrm>
          <a:prstGeom prst="rect">
            <a:avLst/>
          </a:prstGeom>
          <a:noFill/>
        </p:spPr>
        <p:txBody>
          <a:bodyPr wrap="square" lIns="36000" rIns="36000" tIns="18000" bIns="18000" anchor="ctr">
            <a:spAutoFit/>
          </a:bodyPr>
          <a:lstStyle/>
          <a:p>
            <a:pPr algn="ctr"/>
            <a:r>
              <a:rPr sz="1100" b="0" i="0">
                <a:solidFill>
                  <a:srgbClr val="FFFFFF"/>
                </a:solidFill>
                <a:latin typeface="Yu Gothic"/>
              </a:rPr>
              <a:t>ターミナル期のケアプラン再作成</a:t>
            </a:r>
          </a:p>
        </p:txBody>
      </p:sp>
      <p:sp>
        <p:nvSpPr>
          <p:cNvPr id="16" name="Rectangle 15"/>
          <p:cNvSpPr/>
          <p:nvPr/>
        </p:nvSpPr>
        <p:spPr>
          <a:xfrm>
            <a:off x="1944000" y="2627999"/>
            <a:ext cx="9816119" cy="90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52000" y="2699999"/>
            <a:ext cx="9672119" cy="756000"/>
          </a:xfrm>
          <a:prstGeom prst="rect">
            <a:avLst/>
          </a:prstGeom>
          <a:noFill/>
        </p:spPr>
        <p:txBody>
          <a:bodyPr wrap="square" lIns="36000" rIns="36000" tIns="18000" bIns="18000" anchor="t">
            <a:spAutoFit/>
          </a:bodyPr>
          <a:lstStyle/>
          <a:p>
            <a:pPr algn="l">
              <a:lnSpc>
                <a:spcPct val="130000"/>
              </a:lnSpc>
            </a:pPr>
            <a:r>
              <a:rPr sz="1200" b="0" i="0">
                <a:solidFill>
                  <a:srgbClr val="33383F"/>
                </a:solidFill>
                <a:latin typeface="Yu Gothic"/>
              </a:rPr>
              <a:t>・サービス担当者会議の開催</a:t>
            </a:r>
          </a:p>
          <a:p>
            <a:pPr algn="l">
              <a:lnSpc>
                <a:spcPct val="130000"/>
              </a:lnSpc>
            </a:pPr>
            <a:r>
              <a:rPr sz="1200" b="0" i="0">
                <a:solidFill>
                  <a:srgbClr val="33383F"/>
                </a:solidFill>
                <a:latin typeface="Yu Gothic"/>
              </a:rPr>
              <a:t>・訪問看護・訪問診療との連携強化</a:t>
            </a:r>
          </a:p>
          <a:p>
            <a:pPr algn="l">
              <a:lnSpc>
                <a:spcPct val="130000"/>
              </a:lnSpc>
            </a:pPr>
            <a:r>
              <a:rPr sz="1200" b="0" i="0">
                <a:solidFill>
                  <a:srgbClr val="33383F"/>
                </a:solidFill>
                <a:latin typeface="Yu Gothic"/>
              </a:rPr>
              <a:t>・看取り場所・救急時の方針を明文化</a:t>
            </a:r>
          </a:p>
        </p:txBody>
      </p:sp>
      <p:sp>
        <p:nvSpPr>
          <p:cNvPr id="18" name="Rectangle 17"/>
          <p:cNvSpPr/>
          <p:nvPr/>
        </p:nvSpPr>
        <p:spPr>
          <a:xfrm>
            <a:off x="432000" y="3635998"/>
            <a:ext cx="1440000" cy="900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2000" y="3707998"/>
            <a:ext cx="1440000" cy="360000"/>
          </a:xfrm>
          <a:prstGeom prst="rect">
            <a:avLst/>
          </a:prstGeom>
          <a:noFill/>
        </p:spPr>
        <p:txBody>
          <a:bodyPr wrap="square" lIns="36000" rIns="36000" tIns="18000" bIns="18000" anchor="t">
            <a:spAutoFit/>
          </a:bodyPr>
          <a:lstStyle/>
          <a:p>
            <a:pPr algn="ctr"/>
            <a:r>
              <a:rPr sz="1300" b="1" i="0">
                <a:solidFill>
                  <a:srgbClr val="FFFFFF"/>
                </a:solidFill>
                <a:latin typeface="Yu Gothic"/>
              </a:rPr>
              <a:t>Step 3</a:t>
            </a:r>
          </a:p>
        </p:txBody>
      </p:sp>
      <p:sp>
        <p:nvSpPr>
          <p:cNvPr id="20" name="TextBox 19"/>
          <p:cNvSpPr txBox="1"/>
          <p:nvPr/>
        </p:nvSpPr>
        <p:spPr>
          <a:xfrm>
            <a:off x="432000" y="4031998"/>
            <a:ext cx="1440000" cy="468000"/>
          </a:xfrm>
          <a:prstGeom prst="rect">
            <a:avLst/>
          </a:prstGeom>
          <a:noFill/>
        </p:spPr>
        <p:txBody>
          <a:bodyPr wrap="square" lIns="36000" rIns="36000" tIns="18000" bIns="18000" anchor="ctr">
            <a:spAutoFit/>
          </a:bodyPr>
          <a:lstStyle/>
          <a:p>
            <a:pPr algn="ctr"/>
            <a:r>
              <a:rPr sz="1100" b="0" i="0">
                <a:solidFill>
                  <a:srgbClr val="FFFFFF"/>
                </a:solidFill>
                <a:latin typeface="Yu Gothic"/>
              </a:rPr>
              <a:t>頻回訪問と多職種共有</a:t>
            </a:r>
          </a:p>
        </p:txBody>
      </p:sp>
      <p:sp>
        <p:nvSpPr>
          <p:cNvPr id="21" name="Rectangle 20"/>
          <p:cNvSpPr/>
          <p:nvPr/>
        </p:nvSpPr>
        <p:spPr>
          <a:xfrm>
            <a:off x="1944000" y="3635998"/>
            <a:ext cx="9816119" cy="90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52000" y="3707998"/>
            <a:ext cx="9672119" cy="756000"/>
          </a:xfrm>
          <a:prstGeom prst="rect">
            <a:avLst/>
          </a:prstGeom>
          <a:noFill/>
        </p:spPr>
        <p:txBody>
          <a:bodyPr wrap="square" lIns="36000" rIns="36000" tIns="18000" bIns="18000" anchor="t">
            <a:spAutoFit/>
          </a:bodyPr>
          <a:lstStyle/>
          <a:p>
            <a:pPr algn="l">
              <a:lnSpc>
                <a:spcPct val="130000"/>
              </a:lnSpc>
            </a:pPr>
            <a:r>
              <a:rPr sz="1200" b="0" i="0">
                <a:solidFill>
                  <a:srgbClr val="33383F"/>
                </a:solidFill>
                <a:latin typeface="Yu Gothic"/>
              </a:rPr>
              <a:t>・状態変化に応じた訪問(2回以上必須)</a:t>
            </a:r>
          </a:p>
          <a:p>
            <a:pPr algn="l">
              <a:lnSpc>
                <a:spcPct val="130000"/>
              </a:lnSpc>
            </a:pPr>
            <a:r>
              <a:rPr sz="1200" b="0" i="0">
                <a:solidFill>
                  <a:srgbClr val="33383F"/>
                </a:solidFill>
                <a:latin typeface="Yu Gothic"/>
              </a:rPr>
              <a:t>・訪問の都度、訪問理由・状態変化を記録</a:t>
            </a:r>
          </a:p>
          <a:p>
            <a:pPr algn="l">
              <a:lnSpc>
                <a:spcPct val="130000"/>
              </a:lnSpc>
            </a:pPr>
            <a:r>
              <a:rPr sz="1200" b="0" i="0">
                <a:solidFill>
                  <a:srgbClr val="33383F"/>
                </a:solidFill>
                <a:latin typeface="Yu Gothic"/>
              </a:rPr>
              <a:t>・主治医・看護師との情報共有(電話・FAX・ICT)</a:t>
            </a:r>
          </a:p>
        </p:txBody>
      </p:sp>
      <p:sp>
        <p:nvSpPr>
          <p:cNvPr id="23" name="Rectangle 22"/>
          <p:cNvSpPr/>
          <p:nvPr/>
        </p:nvSpPr>
        <p:spPr>
          <a:xfrm>
            <a:off x="432000" y="4643997"/>
            <a:ext cx="1440000" cy="9000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2000" y="4715997"/>
            <a:ext cx="1440000" cy="360000"/>
          </a:xfrm>
          <a:prstGeom prst="rect">
            <a:avLst/>
          </a:prstGeom>
          <a:noFill/>
        </p:spPr>
        <p:txBody>
          <a:bodyPr wrap="square" lIns="36000" rIns="36000" tIns="18000" bIns="18000" anchor="t">
            <a:spAutoFit/>
          </a:bodyPr>
          <a:lstStyle/>
          <a:p>
            <a:pPr algn="ctr"/>
            <a:r>
              <a:rPr sz="1300" b="1" i="0">
                <a:solidFill>
                  <a:srgbClr val="FFFFFF"/>
                </a:solidFill>
                <a:latin typeface="Yu Gothic"/>
              </a:rPr>
              <a:t>Step 4</a:t>
            </a:r>
          </a:p>
        </p:txBody>
      </p:sp>
      <p:sp>
        <p:nvSpPr>
          <p:cNvPr id="25" name="TextBox 24"/>
          <p:cNvSpPr txBox="1"/>
          <p:nvPr/>
        </p:nvSpPr>
        <p:spPr>
          <a:xfrm>
            <a:off x="432000" y="5039997"/>
            <a:ext cx="1440000" cy="468000"/>
          </a:xfrm>
          <a:prstGeom prst="rect">
            <a:avLst/>
          </a:prstGeom>
          <a:noFill/>
        </p:spPr>
        <p:txBody>
          <a:bodyPr wrap="square" lIns="36000" rIns="36000" tIns="18000" bIns="18000" anchor="ctr">
            <a:spAutoFit/>
          </a:bodyPr>
          <a:lstStyle/>
          <a:p>
            <a:pPr algn="ctr"/>
            <a:r>
              <a:rPr sz="1100" b="0" i="0">
                <a:solidFill>
                  <a:srgbClr val="FFFFFF"/>
                </a:solidFill>
                <a:latin typeface="Yu Gothic"/>
              </a:rPr>
              <a:t>死亡日対応 + 看取り後支援</a:t>
            </a:r>
          </a:p>
        </p:txBody>
      </p:sp>
      <p:sp>
        <p:nvSpPr>
          <p:cNvPr id="26" name="Rectangle 25"/>
          <p:cNvSpPr/>
          <p:nvPr/>
        </p:nvSpPr>
        <p:spPr>
          <a:xfrm>
            <a:off x="1944000" y="4643997"/>
            <a:ext cx="9816119" cy="90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52000" y="4715997"/>
            <a:ext cx="9672119" cy="756000"/>
          </a:xfrm>
          <a:prstGeom prst="rect">
            <a:avLst/>
          </a:prstGeom>
          <a:noFill/>
        </p:spPr>
        <p:txBody>
          <a:bodyPr wrap="square" lIns="36000" rIns="36000" tIns="18000" bIns="18000" anchor="t">
            <a:spAutoFit/>
          </a:bodyPr>
          <a:lstStyle/>
          <a:p>
            <a:pPr algn="l">
              <a:lnSpc>
                <a:spcPct val="130000"/>
              </a:lnSpc>
            </a:pPr>
            <a:r>
              <a:rPr sz="1200" b="0" i="0">
                <a:solidFill>
                  <a:srgbClr val="33383F"/>
                </a:solidFill>
                <a:latin typeface="Yu Gothic"/>
              </a:rPr>
              <a:t>・死亡確認後の家族支援(死後事務・グリーフケア)</a:t>
            </a:r>
          </a:p>
          <a:p>
            <a:pPr algn="l">
              <a:lnSpc>
                <a:spcPct val="130000"/>
              </a:lnSpc>
            </a:pPr>
            <a:r>
              <a:rPr sz="1200" b="0" i="0">
                <a:solidFill>
                  <a:srgbClr val="33383F"/>
                </a:solidFill>
                <a:latin typeface="Yu Gothic"/>
              </a:rPr>
              <a:t>・関係事業所への連絡・サービス終了処理</a:t>
            </a:r>
          </a:p>
          <a:p>
            <a:pPr algn="l">
              <a:lnSpc>
                <a:spcPct val="130000"/>
              </a:lnSpc>
            </a:pPr>
            <a:r>
              <a:rPr sz="1200" b="0" i="0">
                <a:solidFill>
                  <a:srgbClr val="33383F"/>
                </a:solidFill>
                <a:latin typeface="Yu Gothic"/>
              </a:rPr>
              <a:t>・記録の最終整備(算定根拠の確定)</a:t>
            </a:r>
          </a:p>
        </p:txBody>
      </p:sp>
      <p:sp>
        <p:nvSpPr>
          <p:cNvPr id="28" name="TextBox 27"/>
          <p:cNvSpPr txBox="1"/>
          <p:nvPr/>
        </p:nvSpPr>
        <p:spPr>
          <a:xfrm>
            <a:off x="432000" y="5760000"/>
            <a:ext cx="11328119" cy="360000"/>
          </a:xfrm>
          <a:prstGeom prst="rect">
            <a:avLst/>
          </a:prstGeom>
          <a:noFill/>
        </p:spPr>
        <p:txBody>
          <a:bodyPr wrap="square" lIns="36000" rIns="36000" tIns="18000" bIns="18000" anchor="t">
            <a:spAutoFit/>
          </a:bodyPr>
          <a:lstStyle/>
          <a:p>
            <a:pPr algn="l"/>
            <a:r>
              <a:rPr sz="1300" b="1" i="0">
                <a:solidFill>
                  <a:srgbClr val="C03A2E"/>
                </a:solidFill>
                <a:latin typeface="Yu Gothic"/>
              </a:rPr>
              <a:t>▶ 算定要件は「死亡日 + 死亡前 14 日以内」。この期間の業務記録が決め手。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3. ターミナルCM加算</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算定漏れを防ぐ 8 つのチェックポイント</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17 / 38</a:t>
            </a:r>
          </a:p>
        </p:txBody>
      </p:sp>
      <p:sp>
        <p:nvSpPr>
          <p:cNvPr id="8" name="Rectangle 7"/>
          <p:cNvSpPr/>
          <p:nvPr/>
        </p:nvSpPr>
        <p:spPr>
          <a:xfrm>
            <a:off x="432000" y="1548000"/>
            <a:ext cx="11304000" cy="503999"/>
          </a:xfrm>
          <a:prstGeom prst="rect">
            <a:avLst/>
          </a:prstGeom>
          <a:solidFill>
            <a:srgbClr val="E8EDF3"/>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0000" y="1638000"/>
            <a:ext cx="324000" cy="324000"/>
          </a:xfrm>
          <a:prstGeom prst="ellipse">
            <a:avLst/>
          </a:prstGeom>
          <a:solidFill>
            <a:srgbClr val="C03A2E"/>
          </a:solidFill>
          <a:ln>
            <a:noFill/>
          </a:ln>
        </p:spPr>
        <p:style>
          <a:lnRef idx="1">
            <a:schemeClr val="accent1"/>
          </a:lnRef>
          <a:fillRef idx="3">
            <a:schemeClr val="accent1"/>
          </a:fillRef>
          <a:effectRef idx="2">
            <a:schemeClr val="accent1"/>
          </a:effectRef>
          <a:fontRef idx="minor">
            <a:schemeClr val="lt1"/>
          </a:fontRef>
        </p:style>
        <p:txBody>
          <a:bodyPr rtlCol="0" anchor="ctr" tIns="0"/>
          <a:lstStyle/>
          <a:p>
            <a:pPr algn="ctr"/>
            <a:r>
              <a:rPr sz="1300" b="1">
                <a:solidFill>
                  <a:srgbClr val="FFFFFF"/>
                </a:solidFill>
                <a:latin typeface="Yu Gothic"/>
              </a:rPr>
              <a:t>1</a:t>
            </a:r>
          </a:p>
        </p:txBody>
      </p:sp>
      <p:sp>
        <p:nvSpPr>
          <p:cNvPr id="10" name="Rectangle 9"/>
          <p:cNvSpPr/>
          <p:nvPr/>
        </p:nvSpPr>
        <p:spPr>
          <a:xfrm>
            <a:off x="1007999" y="1656000"/>
            <a:ext cx="251999" cy="251999"/>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68000" y="1620000"/>
            <a:ext cx="10392119" cy="360000"/>
          </a:xfrm>
          <a:prstGeom prst="rect">
            <a:avLst/>
          </a:prstGeom>
          <a:noFill/>
        </p:spPr>
        <p:txBody>
          <a:bodyPr wrap="square" lIns="36000" rIns="36000" tIns="18000" bIns="18000" anchor="ctr">
            <a:spAutoFit/>
          </a:bodyPr>
          <a:lstStyle/>
          <a:p>
            <a:pPr algn="l"/>
            <a:r>
              <a:rPr sz="1200" b="0" i="0">
                <a:solidFill>
                  <a:srgbClr val="33383F"/>
                </a:solidFill>
                <a:latin typeface="Yu Gothic"/>
              </a:rPr>
              <a:t>末期である旨が、主治医意見書または診療情報提供書で 文書 で確認できるか</a:t>
            </a:r>
          </a:p>
        </p:txBody>
      </p:sp>
      <p:sp>
        <p:nvSpPr>
          <p:cNvPr id="12" name="Rectangle 11"/>
          <p:cNvSpPr/>
          <p:nvPr/>
        </p:nvSpPr>
        <p:spPr>
          <a:xfrm>
            <a:off x="432000" y="2070000"/>
            <a:ext cx="11304000" cy="503999"/>
          </a:xfrm>
          <a:prstGeom prst="rect">
            <a:avLst/>
          </a:prstGeom>
          <a:solidFill>
            <a:srgbClr val="FFFFFF"/>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0000" y="2160000"/>
            <a:ext cx="324000" cy="324000"/>
          </a:xfrm>
          <a:prstGeom prst="ellipse">
            <a:avLst/>
          </a:prstGeom>
          <a:solidFill>
            <a:srgbClr val="C03A2E"/>
          </a:solidFill>
          <a:ln>
            <a:noFill/>
          </a:ln>
        </p:spPr>
        <p:style>
          <a:lnRef idx="1">
            <a:schemeClr val="accent1"/>
          </a:lnRef>
          <a:fillRef idx="3">
            <a:schemeClr val="accent1"/>
          </a:fillRef>
          <a:effectRef idx="2">
            <a:schemeClr val="accent1"/>
          </a:effectRef>
          <a:fontRef idx="minor">
            <a:schemeClr val="lt1"/>
          </a:fontRef>
        </p:style>
        <p:txBody>
          <a:bodyPr rtlCol="0" anchor="ctr" tIns="0"/>
          <a:lstStyle/>
          <a:p>
            <a:pPr algn="ctr"/>
            <a:r>
              <a:rPr sz="1300" b="1">
                <a:solidFill>
                  <a:srgbClr val="FFFFFF"/>
                </a:solidFill>
                <a:latin typeface="Yu Gothic"/>
              </a:rPr>
              <a:t>2</a:t>
            </a:r>
          </a:p>
        </p:txBody>
      </p:sp>
      <p:sp>
        <p:nvSpPr>
          <p:cNvPr id="14" name="Rectangle 13"/>
          <p:cNvSpPr/>
          <p:nvPr/>
        </p:nvSpPr>
        <p:spPr>
          <a:xfrm>
            <a:off x="1007999" y="2178000"/>
            <a:ext cx="251999" cy="251999"/>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68000" y="2142000"/>
            <a:ext cx="10392119" cy="360000"/>
          </a:xfrm>
          <a:prstGeom prst="rect">
            <a:avLst/>
          </a:prstGeom>
          <a:noFill/>
        </p:spPr>
        <p:txBody>
          <a:bodyPr wrap="square" lIns="36000" rIns="36000" tIns="18000" bIns="18000" anchor="ctr">
            <a:spAutoFit/>
          </a:bodyPr>
          <a:lstStyle/>
          <a:p>
            <a:pPr algn="l"/>
            <a:r>
              <a:rPr sz="1200" b="0" i="0">
                <a:solidFill>
                  <a:srgbClr val="33383F"/>
                </a:solidFill>
                <a:latin typeface="Yu Gothic"/>
              </a:rPr>
              <a:t>本人・家族の意向確認の記録があるか(在宅看取りに同意した旨)</a:t>
            </a:r>
          </a:p>
        </p:txBody>
      </p:sp>
      <p:sp>
        <p:nvSpPr>
          <p:cNvPr id="16" name="Rectangle 15"/>
          <p:cNvSpPr/>
          <p:nvPr/>
        </p:nvSpPr>
        <p:spPr>
          <a:xfrm>
            <a:off x="432000" y="2592000"/>
            <a:ext cx="11304000" cy="503999"/>
          </a:xfrm>
          <a:prstGeom prst="rect">
            <a:avLst/>
          </a:prstGeom>
          <a:solidFill>
            <a:srgbClr val="E8EDF3"/>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40000" y="2682000"/>
            <a:ext cx="324000" cy="324000"/>
          </a:xfrm>
          <a:prstGeom prst="ellipse">
            <a:avLst/>
          </a:prstGeom>
          <a:solidFill>
            <a:srgbClr val="C03A2E"/>
          </a:solidFill>
          <a:ln>
            <a:noFill/>
          </a:ln>
        </p:spPr>
        <p:style>
          <a:lnRef idx="1">
            <a:schemeClr val="accent1"/>
          </a:lnRef>
          <a:fillRef idx="3">
            <a:schemeClr val="accent1"/>
          </a:fillRef>
          <a:effectRef idx="2">
            <a:schemeClr val="accent1"/>
          </a:effectRef>
          <a:fontRef idx="minor">
            <a:schemeClr val="lt1"/>
          </a:fontRef>
        </p:style>
        <p:txBody>
          <a:bodyPr rtlCol="0" anchor="ctr" tIns="0"/>
          <a:lstStyle/>
          <a:p>
            <a:pPr algn="ctr"/>
            <a:r>
              <a:rPr sz="1300" b="1">
                <a:solidFill>
                  <a:srgbClr val="FFFFFF"/>
                </a:solidFill>
                <a:latin typeface="Yu Gothic"/>
              </a:rPr>
              <a:t>3</a:t>
            </a:r>
          </a:p>
        </p:txBody>
      </p:sp>
      <p:sp>
        <p:nvSpPr>
          <p:cNvPr id="18" name="Rectangle 17"/>
          <p:cNvSpPr/>
          <p:nvPr/>
        </p:nvSpPr>
        <p:spPr>
          <a:xfrm>
            <a:off x="1007999" y="2700000"/>
            <a:ext cx="251999" cy="251999"/>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68000" y="2664000"/>
            <a:ext cx="10392119" cy="360000"/>
          </a:xfrm>
          <a:prstGeom prst="rect">
            <a:avLst/>
          </a:prstGeom>
          <a:noFill/>
        </p:spPr>
        <p:txBody>
          <a:bodyPr wrap="square" lIns="36000" rIns="36000" tIns="18000" bIns="18000" anchor="ctr">
            <a:spAutoFit/>
          </a:bodyPr>
          <a:lstStyle/>
          <a:p>
            <a:pPr algn="l"/>
            <a:r>
              <a:rPr sz="1200" b="0" i="0">
                <a:solidFill>
                  <a:srgbClr val="33383F"/>
                </a:solidFill>
                <a:latin typeface="Yu Gothic"/>
              </a:rPr>
              <a:t>死亡日を含む 14 日以内に 2 回以上の訪問記録があるか</a:t>
            </a:r>
          </a:p>
        </p:txBody>
      </p:sp>
      <p:sp>
        <p:nvSpPr>
          <p:cNvPr id="20" name="Rectangle 19"/>
          <p:cNvSpPr/>
          <p:nvPr/>
        </p:nvSpPr>
        <p:spPr>
          <a:xfrm>
            <a:off x="432000" y="3114000"/>
            <a:ext cx="11304000" cy="503999"/>
          </a:xfrm>
          <a:prstGeom prst="rect">
            <a:avLst/>
          </a:prstGeom>
          <a:solidFill>
            <a:srgbClr val="FFFFFF"/>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40000" y="3204000"/>
            <a:ext cx="324000" cy="324000"/>
          </a:xfrm>
          <a:prstGeom prst="ellipse">
            <a:avLst/>
          </a:prstGeom>
          <a:solidFill>
            <a:srgbClr val="C03A2E"/>
          </a:solidFill>
          <a:ln>
            <a:noFill/>
          </a:ln>
        </p:spPr>
        <p:style>
          <a:lnRef idx="1">
            <a:schemeClr val="accent1"/>
          </a:lnRef>
          <a:fillRef idx="3">
            <a:schemeClr val="accent1"/>
          </a:fillRef>
          <a:effectRef idx="2">
            <a:schemeClr val="accent1"/>
          </a:effectRef>
          <a:fontRef idx="minor">
            <a:schemeClr val="lt1"/>
          </a:fontRef>
        </p:style>
        <p:txBody>
          <a:bodyPr rtlCol="0" anchor="ctr" tIns="0"/>
          <a:lstStyle/>
          <a:p>
            <a:pPr algn="ctr"/>
            <a:r>
              <a:rPr sz="1300" b="1">
                <a:solidFill>
                  <a:srgbClr val="FFFFFF"/>
                </a:solidFill>
                <a:latin typeface="Yu Gothic"/>
              </a:rPr>
              <a:t>4</a:t>
            </a:r>
          </a:p>
        </p:txBody>
      </p:sp>
      <p:sp>
        <p:nvSpPr>
          <p:cNvPr id="22" name="Rectangle 21"/>
          <p:cNvSpPr/>
          <p:nvPr/>
        </p:nvSpPr>
        <p:spPr>
          <a:xfrm>
            <a:off x="1007999" y="3222000"/>
            <a:ext cx="251999" cy="251999"/>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68000" y="3186000"/>
            <a:ext cx="10392119" cy="360000"/>
          </a:xfrm>
          <a:prstGeom prst="rect">
            <a:avLst/>
          </a:prstGeom>
          <a:noFill/>
        </p:spPr>
        <p:txBody>
          <a:bodyPr wrap="square" lIns="36000" rIns="36000" tIns="18000" bIns="18000" anchor="ctr">
            <a:spAutoFit/>
          </a:bodyPr>
          <a:lstStyle/>
          <a:p>
            <a:pPr algn="l"/>
            <a:r>
              <a:rPr sz="1200" b="0" i="0">
                <a:solidFill>
                  <a:srgbClr val="33383F"/>
                </a:solidFill>
                <a:latin typeface="Yu Gothic"/>
              </a:rPr>
              <a:t>各訪問記録に「訪問理由」「状態変化」「対応内容」が明記されているか</a:t>
            </a:r>
          </a:p>
        </p:txBody>
      </p:sp>
      <p:sp>
        <p:nvSpPr>
          <p:cNvPr id="24" name="Rectangle 23"/>
          <p:cNvSpPr/>
          <p:nvPr/>
        </p:nvSpPr>
        <p:spPr>
          <a:xfrm>
            <a:off x="432000" y="3636000"/>
            <a:ext cx="11304000" cy="503999"/>
          </a:xfrm>
          <a:prstGeom prst="rect">
            <a:avLst/>
          </a:prstGeom>
          <a:solidFill>
            <a:srgbClr val="E8EDF3"/>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40000" y="3726000"/>
            <a:ext cx="324000" cy="324000"/>
          </a:xfrm>
          <a:prstGeom prst="ellipse">
            <a:avLst/>
          </a:prstGeom>
          <a:solidFill>
            <a:srgbClr val="C03A2E"/>
          </a:solidFill>
          <a:ln>
            <a:noFill/>
          </a:ln>
        </p:spPr>
        <p:style>
          <a:lnRef idx="1">
            <a:schemeClr val="accent1"/>
          </a:lnRef>
          <a:fillRef idx="3">
            <a:schemeClr val="accent1"/>
          </a:fillRef>
          <a:effectRef idx="2">
            <a:schemeClr val="accent1"/>
          </a:effectRef>
          <a:fontRef idx="minor">
            <a:schemeClr val="lt1"/>
          </a:fontRef>
        </p:style>
        <p:txBody>
          <a:bodyPr rtlCol="0" anchor="ctr" tIns="0"/>
          <a:lstStyle/>
          <a:p>
            <a:pPr algn="ctr"/>
            <a:r>
              <a:rPr sz="1300" b="1">
                <a:solidFill>
                  <a:srgbClr val="FFFFFF"/>
                </a:solidFill>
                <a:latin typeface="Yu Gothic"/>
              </a:rPr>
              <a:t>5</a:t>
            </a:r>
          </a:p>
        </p:txBody>
      </p:sp>
      <p:sp>
        <p:nvSpPr>
          <p:cNvPr id="26" name="Rectangle 25"/>
          <p:cNvSpPr/>
          <p:nvPr/>
        </p:nvSpPr>
        <p:spPr>
          <a:xfrm>
            <a:off x="1007999" y="3744000"/>
            <a:ext cx="251999" cy="251999"/>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68000" y="3708000"/>
            <a:ext cx="10392119" cy="360000"/>
          </a:xfrm>
          <a:prstGeom prst="rect">
            <a:avLst/>
          </a:prstGeom>
          <a:noFill/>
        </p:spPr>
        <p:txBody>
          <a:bodyPr wrap="square" lIns="36000" rIns="36000" tIns="18000" bIns="18000" anchor="ctr">
            <a:spAutoFit/>
          </a:bodyPr>
          <a:lstStyle/>
          <a:p>
            <a:pPr algn="l"/>
            <a:r>
              <a:rPr sz="1200" b="0" i="0">
                <a:solidFill>
                  <a:srgbClr val="33383F"/>
                </a:solidFill>
                <a:latin typeface="Yu Gothic"/>
              </a:rPr>
              <a:t>サ担会議または個別連携の記録があるか(訪問看護・訪問診療と)</a:t>
            </a:r>
          </a:p>
        </p:txBody>
      </p:sp>
      <p:sp>
        <p:nvSpPr>
          <p:cNvPr id="28" name="Rectangle 27"/>
          <p:cNvSpPr/>
          <p:nvPr/>
        </p:nvSpPr>
        <p:spPr>
          <a:xfrm>
            <a:off x="432000" y="4158000"/>
            <a:ext cx="11304000" cy="503999"/>
          </a:xfrm>
          <a:prstGeom prst="rect">
            <a:avLst/>
          </a:prstGeom>
          <a:solidFill>
            <a:srgbClr val="FFFFFF"/>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40000" y="4248000"/>
            <a:ext cx="324000" cy="324000"/>
          </a:xfrm>
          <a:prstGeom prst="ellipse">
            <a:avLst/>
          </a:prstGeom>
          <a:solidFill>
            <a:srgbClr val="C03A2E"/>
          </a:solidFill>
          <a:ln>
            <a:noFill/>
          </a:ln>
        </p:spPr>
        <p:style>
          <a:lnRef idx="1">
            <a:schemeClr val="accent1"/>
          </a:lnRef>
          <a:fillRef idx="3">
            <a:schemeClr val="accent1"/>
          </a:fillRef>
          <a:effectRef idx="2">
            <a:schemeClr val="accent1"/>
          </a:effectRef>
          <a:fontRef idx="minor">
            <a:schemeClr val="lt1"/>
          </a:fontRef>
        </p:style>
        <p:txBody>
          <a:bodyPr rtlCol="0" anchor="ctr" tIns="0"/>
          <a:lstStyle/>
          <a:p>
            <a:pPr algn="ctr"/>
            <a:r>
              <a:rPr sz="1300" b="1">
                <a:solidFill>
                  <a:srgbClr val="FFFFFF"/>
                </a:solidFill>
                <a:latin typeface="Yu Gothic"/>
              </a:rPr>
              <a:t>6</a:t>
            </a:r>
          </a:p>
        </p:txBody>
      </p:sp>
      <p:sp>
        <p:nvSpPr>
          <p:cNvPr id="30" name="Rectangle 29"/>
          <p:cNvSpPr/>
          <p:nvPr/>
        </p:nvSpPr>
        <p:spPr>
          <a:xfrm>
            <a:off x="1007999" y="4266000"/>
            <a:ext cx="251999" cy="251999"/>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68000" y="4230000"/>
            <a:ext cx="10392119" cy="360000"/>
          </a:xfrm>
          <a:prstGeom prst="rect">
            <a:avLst/>
          </a:prstGeom>
          <a:noFill/>
        </p:spPr>
        <p:txBody>
          <a:bodyPr wrap="square" lIns="36000" rIns="36000" tIns="18000" bIns="18000" anchor="ctr">
            <a:spAutoFit/>
          </a:bodyPr>
          <a:lstStyle/>
          <a:p>
            <a:pPr algn="l"/>
            <a:r>
              <a:rPr sz="1200" b="0" i="0">
                <a:solidFill>
                  <a:srgbClr val="33383F"/>
                </a:solidFill>
                <a:latin typeface="Yu Gothic"/>
              </a:rPr>
              <a:t>ターミナル期のケアプランが再作成されているか(変更も含む)</a:t>
            </a:r>
          </a:p>
        </p:txBody>
      </p:sp>
      <p:sp>
        <p:nvSpPr>
          <p:cNvPr id="32" name="Rectangle 31"/>
          <p:cNvSpPr/>
          <p:nvPr/>
        </p:nvSpPr>
        <p:spPr>
          <a:xfrm>
            <a:off x="432000" y="4680000"/>
            <a:ext cx="11304000" cy="503999"/>
          </a:xfrm>
          <a:prstGeom prst="rect">
            <a:avLst/>
          </a:prstGeom>
          <a:solidFill>
            <a:srgbClr val="E8EDF3"/>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40000" y="4770000"/>
            <a:ext cx="324000" cy="324000"/>
          </a:xfrm>
          <a:prstGeom prst="ellipse">
            <a:avLst/>
          </a:prstGeom>
          <a:solidFill>
            <a:srgbClr val="C03A2E"/>
          </a:solidFill>
          <a:ln>
            <a:noFill/>
          </a:ln>
        </p:spPr>
        <p:style>
          <a:lnRef idx="1">
            <a:schemeClr val="accent1"/>
          </a:lnRef>
          <a:fillRef idx="3">
            <a:schemeClr val="accent1"/>
          </a:fillRef>
          <a:effectRef idx="2">
            <a:schemeClr val="accent1"/>
          </a:effectRef>
          <a:fontRef idx="minor">
            <a:schemeClr val="lt1"/>
          </a:fontRef>
        </p:style>
        <p:txBody>
          <a:bodyPr rtlCol="0" anchor="ctr" tIns="0"/>
          <a:lstStyle/>
          <a:p>
            <a:pPr algn="ctr"/>
            <a:r>
              <a:rPr sz="1300" b="1">
                <a:solidFill>
                  <a:srgbClr val="FFFFFF"/>
                </a:solidFill>
                <a:latin typeface="Yu Gothic"/>
              </a:rPr>
              <a:t>7</a:t>
            </a:r>
          </a:p>
        </p:txBody>
      </p:sp>
      <p:sp>
        <p:nvSpPr>
          <p:cNvPr id="34" name="Rectangle 33"/>
          <p:cNvSpPr/>
          <p:nvPr/>
        </p:nvSpPr>
        <p:spPr>
          <a:xfrm>
            <a:off x="1007999" y="4788000"/>
            <a:ext cx="251999" cy="251999"/>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368000" y="4752000"/>
            <a:ext cx="10392119" cy="360000"/>
          </a:xfrm>
          <a:prstGeom prst="rect">
            <a:avLst/>
          </a:prstGeom>
          <a:noFill/>
        </p:spPr>
        <p:txBody>
          <a:bodyPr wrap="square" lIns="36000" rIns="36000" tIns="18000" bIns="18000" anchor="ctr">
            <a:spAutoFit/>
          </a:bodyPr>
          <a:lstStyle/>
          <a:p>
            <a:pPr algn="l"/>
            <a:r>
              <a:rPr sz="1200" b="0" i="0">
                <a:solidFill>
                  <a:srgbClr val="33383F"/>
                </a:solidFill>
                <a:latin typeface="Yu Gothic"/>
              </a:rPr>
              <a:t>死亡日の対応記録があるか(電話対応・関係機関への連絡も含む)</a:t>
            </a:r>
          </a:p>
        </p:txBody>
      </p:sp>
      <p:sp>
        <p:nvSpPr>
          <p:cNvPr id="36" name="Rectangle 35"/>
          <p:cNvSpPr/>
          <p:nvPr/>
        </p:nvSpPr>
        <p:spPr>
          <a:xfrm>
            <a:off x="432000" y="5202000"/>
            <a:ext cx="11304000" cy="503999"/>
          </a:xfrm>
          <a:prstGeom prst="rect">
            <a:avLst/>
          </a:prstGeom>
          <a:solidFill>
            <a:srgbClr val="FFFFFF"/>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40000" y="5292000"/>
            <a:ext cx="324000" cy="324000"/>
          </a:xfrm>
          <a:prstGeom prst="ellipse">
            <a:avLst/>
          </a:prstGeom>
          <a:solidFill>
            <a:srgbClr val="C03A2E"/>
          </a:solidFill>
          <a:ln>
            <a:noFill/>
          </a:ln>
        </p:spPr>
        <p:style>
          <a:lnRef idx="1">
            <a:schemeClr val="accent1"/>
          </a:lnRef>
          <a:fillRef idx="3">
            <a:schemeClr val="accent1"/>
          </a:fillRef>
          <a:effectRef idx="2">
            <a:schemeClr val="accent1"/>
          </a:effectRef>
          <a:fontRef idx="minor">
            <a:schemeClr val="lt1"/>
          </a:fontRef>
        </p:style>
        <p:txBody>
          <a:bodyPr rtlCol="0" anchor="ctr" tIns="0"/>
          <a:lstStyle/>
          <a:p>
            <a:pPr algn="ctr"/>
            <a:r>
              <a:rPr sz="1300" b="1">
                <a:solidFill>
                  <a:srgbClr val="FFFFFF"/>
                </a:solidFill>
                <a:latin typeface="Yu Gothic"/>
              </a:rPr>
              <a:t>8</a:t>
            </a:r>
          </a:p>
        </p:txBody>
      </p:sp>
      <p:sp>
        <p:nvSpPr>
          <p:cNvPr id="38" name="Rectangle 37"/>
          <p:cNvSpPr/>
          <p:nvPr/>
        </p:nvSpPr>
        <p:spPr>
          <a:xfrm>
            <a:off x="1007999" y="5310000"/>
            <a:ext cx="251999" cy="251999"/>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368000" y="5274000"/>
            <a:ext cx="10392119" cy="360000"/>
          </a:xfrm>
          <a:prstGeom prst="rect">
            <a:avLst/>
          </a:prstGeom>
          <a:noFill/>
        </p:spPr>
        <p:txBody>
          <a:bodyPr wrap="square" lIns="36000" rIns="36000" tIns="18000" bIns="18000" anchor="ctr">
            <a:spAutoFit/>
          </a:bodyPr>
          <a:lstStyle/>
          <a:p>
            <a:pPr algn="l"/>
            <a:r>
              <a:rPr sz="1200" b="0" i="0">
                <a:solidFill>
                  <a:srgbClr val="33383F"/>
                </a:solidFill>
                <a:latin typeface="Yu Gothic"/>
              </a:rPr>
              <a:t>請求月の算定根拠が、上記書類で説明できる状態に整理されているか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3. ターミナルCM加算</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連携先別 ― 共有すべき情報と記録の例</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18 / 38</a:t>
            </a:r>
          </a:p>
        </p:txBody>
      </p:sp>
      <p:sp>
        <p:nvSpPr>
          <p:cNvPr id="8" name="Rectangle 7"/>
          <p:cNvSpPr/>
          <p:nvPr/>
        </p:nvSpPr>
        <p:spPr>
          <a:xfrm>
            <a:off x="432000" y="1620000"/>
            <a:ext cx="11304000" cy="360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6000" y="1656000"/>
            <a:ext cx="2412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連携先</a:t>
            </a:r>
          </a:p>
        </p:txBody>
      </p:sp>
      <p:sp>
        <p:nvSpPr>
          <p:cNvPr id="10" name="TextBox 9"/>
          <p:cNvSpPr txBox="1"/>
          <p:nvPr/>
        </p:nvSpPr>
        <p:spPr>
          <a:xfrm>
            <a:off x="3006000" y="1656000"/>
            <a:ext cx="4212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共有すべき情報</a:t>
            </a:r>
          </a:p>
        </p:txBody>
      </p:sp>
      <p:sp>
        <p:nvSpPr>
          <p:cNvPr id="11" name="TextBox 10"/>
          <p:cNvSpPr txBox="1"/>
          <p:nvPr/>
        </p:nvSpPr>
        <p:spPr>
          <a:xfrm>
            <a:off x="7326000" y="1656000"/>
            <a:ext cx="4356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記録として残す内容</a:t>
            </a:r>
          </a:p>
        </p:txBody>
      </p:sp>
      <p:sp>
        <p:nvSpPr>
          <p:cNvPr id="12" name="Rectangle 11"/>
          <p:cNvSpPr/>
          <p:nvPr/>
        </p:nvSpPr>
        <p:spPr>
          <a:xfrm>
            <a:off x="432000" y="1980000"/>
            <a:ext cx="11304000" cy="756000"/>
          </a:xfrm>
          <a:prstGeom prst="rect">
            <a:avLst/>
          </a:prstGeom>
          <a:solidFill>
            <a:srgbClr val="E8EDF3"/>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6000" y="2034000"/>
            <a:ext cx="2412000" cy="648000"/>
          </a:xfrm>
          <a:prstGeom prst="rect">
            <a:avLst/>
          </a:prstGeom>
          <a:noFill/>
        </p:spPr>
        <p:txBody>
          <a:bodyPr wrap="square" lIns="36000" rIns="36000" tIns="18000" bIns="18000" anchor="ctr">
            <a:spAutoFit/>
          </a:bodyPr>
          <a:lstStyle/>
          <a:p>
            <a:pPr algn="ctr"/>
            <a:r>
              <a:rPr sz="1100" b="1" i="0">
                <a:solidFill>
                  <a:srgbClr val="C03A2E"/>
                </a:solidFill>
                <a:latin typeface="Yu Gothic"/>
              </a:rPr>
              <a:t>主治医 / 訪問診療</a:t>
            </a:r>
          </a:p>
        </p:txBody>
      </p:sp>
      <p:sp>
        <p:nvSpPr>
          <p:cNvPr id="14" name="TextBox 13"/>
          <p:cNvSpPr txBox="1"/>
          <p:nvPr/>
        </p:nvSpPr>
        <p:spPr>
          <a:xfrm>
            <a:off x="3006000" y="2034000"/>
            <a:ext cx="4212000" cy="648000"/>
          </a:xfrm>
          <a:prstGeom prst="rect">
            <a:avLst/>
          </a:prstGeom>
          <a:noFill/>
        </p:spPr>
        <p:txBody>
          <a:bodyPr wrap="square" lIns="36000" rIns="36000" tIns="18000" bIns="18000" anchor="ctr">
            <a:spAutoFit/>
          </a:bodyPr>
          <a:lstStyle/>
          <a:p>
            <a:pPr algn="l"/>
            <a:r>
              <a:rPr sz="1100" b="0" i="0">
                <a:solidFill>
                  <a:srgbClr val="33383F"/>
                </a:solidFill>
                <a:latin typeface="Yu Gothic"/>
              </a:rPr>
              <a:t>状態変化、疼痛コントロール、</a:t>
            </a:r>
          </a:p>
          <a:p>
            <a:pPr algn="l"/>
            <a:r>
              <a:rPr sz="1100" b="0" i="0">
                <a:solidFill>
                  <a:srgbClr val="33383F"/>
                </a:solidFill>
                <a:latin typeface="Yu Gothic"/>
              </a:rPr>
              <a:t>看取り場所の意向、急変時対応</a:t>
            </a:r>
          </a:p>
        </p:txBody>
      </p:sp>
      <p:sp>
        <p:nvSpPr>
          <p:cNvPr id="15" name="TextBox 14"/>
          <p:cNvSpPr txBox="1"/>
          <p:nvPr/>
        </p:nvSpPr>
        <p:spPr>
          <a:xfrm>
            <a:off x="7326000" y="2034000"/>
            <a:ext cx="4356000" cy="648000"/>
          </a:xfrm>
          <a:prstGeom prst="rect">
            <a:avLst/>
          </a:prstGeom>
          <a:noFill/>
        </p:spPr>
        <p:txBody>
          <a:bodyPr wrap="square" lIns="36000" rIns="36000" tIns="18000" bIns="18000" anchor="ctr">
            <a:spAutoFit/>
          </a:bodyPr>
          <a:lstStyle/>
          <a:p>
            <a:pPr algn="l"/>
            <a:r>
              <a:rPr sz="1100" b="0" i="0">
                <a:solidFill>
                  <a:srgbClr val="33383F"/>
                </a:solidFill>
                <a:latin typeface="Yu Gothic"/>
              </a:rPr>
              <a:t>情報提供日、伝達手段(電話/FAX/ICT)、</a:t>
            </a:r>
          </a:p>
          <a:p>
            <a:pPr algn="l"/>
            <a:r>
              <a:rPr sz="1100" b="0" i="0">
                <a:solidFill>
                  <a:srgbClr val="33383F"/>
                </a:solidFill>
                <a:latin typeface="Yu Gothic"/>
              </a:rPr>
              <a:t>伝達内容、医師からの指示</a:t>
            </a:r>
          </a:p>
        </p:txBody>
      </p:sp>
      <p:sp>
        <p:nvSpPr>
          <p:cNvPr id="16" name="Rectangle 15"/>
          <p:cNvSpPr/>
          <p:nvPr/>
        </p:nvSpPr>
        <p:spPr>
          <a:xfrm>
            <a:off x="432000" y="2736000"/>
            <a:ext cx="11304000" cy="756000"/>
          </a:xfrm>
          <a:prstGeom prst="rect">
            <a:avLst/>
          </a:prstGeom>
          <a:solidFill>
            <a:srgbClr val="FFFFFF"/>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6000" y="2790000"/>
            <a:ext cx="2412000" cy="648000"/>
          </a:xfrm>
          <a:prstGeom prst="rect">
            <a:avLst/>
          </a:prstGeom>
          <a:noFill/>
        </p:spPr>
        <p:txBody>
          <a:bodyPr wrap="square" lIns="36000" rIns="36000" tIns="18000" bIns="18000" anchor="ctr">
            <a:spAutoFit/>
          </a:bodyPr>
          <a:lstStyle/>
          <a:p>
            <a:pPr algn="ctr"/>
            <a:r>
              <a:rPr sz="1100" b="1" i="0">
                <a:solidFill>
                  <a:srgbClr val="C03A2E"/>
                </a:solidFill>
                <a:latin typeface="Yu Gothic"/>
              </a:rPr>
              <a:t>訪問看護</a:t>
            </a:r>
          </a:p>
        </p:txBody>
      </p:sp>
      <p:sp>
        <p:nvSpPr>
          <p:cNvPr id="18" name="TextBox 17"/>
          <p:cNvSpPr txBox="1"/>
          <p:nvPr/>
        </p:nvSpPr>
        <p:spPr>
          <a:xfrm>
            <a:off x="3006000" y="2790000"/>
            <a:ext cx="4212000" cy="648000"/>
          </a:xfrm>
          <a:prstGeom prst="rect">
            <a:avLst/>
          </a:prstGeom>
          <a:noFill/>
        </p:spPr>
        <p:txBody>
          <a:bodyPr wrap="square" lIns="36000" rIns="36000" tIns="18000" bIns="18000" anchor="ctr">
            <a:spAutoFit/>
          </a:bodyPr>
          <a:lstStyle/>
          <a:p>
            <a:pPr algn="l"/>
            <a:r>
              <a:rPr sz="1100" b="0" i="0">
                <a:solidFill>
                  <a:srgbClr val="33383F"/>
                </a:solidFill>
                <a:latin typeface="Yu Gothic"/>
              </a:rPr>
              <a:t>バイタル変化、本人・家族の不安、</a:t>
            </a:r>
          </a:p>
          <a:p>
            <a:pPr algn="l"/>
            <a:r>
              <a:rPr sz="1100" b="0" i="0">
                <a:solidFill>
                  <a:srgbClr val="33383F"/>
                </a:solidFill>
                <a:latin typeface="Yu Gothic"/>
              </a:rPr>
              <a:t>医療処置の内容、緊急時連絡網</a:t>
            </a:r>
          </a:p>
        </p:txBody>
      </p:sp>
      <p:sp>
        <p:nvSpPr>
          <p:cNvPr id="19" name="TextBox 18"/>
          <p:cNvSpPr txBox="1"/>
          <p:nvPr/>
        </p:nvSpPr>
        <p:spPr>
          <a:xfrm>
            <a:off x="7326000" y="2790000"/>
            <a:ext cx="4356000" cy="648000"/>
          </a:xfrm>
          <a:prstGeom prst="rect">
            <a:avLst/>
          </a:prstGeom>
          <a:noFill/>
        </p:spPr>
        <p:txBody>
          <a:bodyPr wrap="square" lIns="36000" rIns="36000" tIns="18000" bIns="18000" anchor="ctr">
            <a:spAutoFit/>
          </a:bodyPr>
          <a:lstStyle/>
          <a:p>
            <a:pPr algn="l"/>
            <a:r>
              <a:rPr sz="1100" b="0" i="0">
                <a:solidFill>
                  <a:srgbClr val="33383F"/>
                </a:solidFill>
                <a:latin typeface="Yu Gothic"/>
              </a:rPr>
              <a:t>共有日時、共有手段、共有内容、</a:t>
            </a:r>
          </a:p>
          <a:p>
            <a:pPr algn="l"/>
            <a:r>
              <a:rPr sz="1100" b="0" i="0">
                <a:solidFill>
                  <a:srgbClr val="33383F"/>
                </a:solidFill>
                <a:latin typeface="Yu Gothic"/>
              </a:rPr>
              <a:t>看護師からの助言</a:t>
            </a:r>
          </a:p>
        </p:txBody>
      </p:sp>
      <p:sp>
        <p:nvSpPr>
          <p:cNvPr id="20" name="Rectangle 19"/>
          <p:cNvSpPr/>
          <p:nvPr/>
        </p:nvSpPr>
        <p:spPr>
          <a:xfrm>
            <a:off x="432000" y="3492000"/>
            <a:ext cx="11304000" cy="756000"/>
          </a:xfrm>
          <a:prstGeom prst="rect">
            <a:avLst/>
          </a:prstGeom>
          <a:solidFill>
            <a:srgbClr val="E8EDF3"/>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6000" y="3546000"/>
            <a:ext cx="2412000" cy="648000"/>
          </a:xfrm>
          <a:prstGeom prst="rect">
            <a:avLst/>
          </a:prstGeom>
          <a:noFill/>
        </p:spPr>
        <p:txBody>
          <a:bodyPr wrap="square" lIns="36000" rIns="36000" tIns="18000" bIns="18000" anchor="ctr">
            <a:spAutoFit/>
          </a:bodyPr>
          <a:lstStyle/>
          <a:p>
            <a:pPr algn="ctr"/>
            <a:r>
              <a:rPr sz="1100" b="1" i="0">
                <a:solidFill>
                  <a:srgbClr val="C03A2E"/>
                </a:solidFill>
                <a:latin typeface="Yu Gothic"/>
              </a:rPr>
              <a:t>薬剤師 (在宅)</a:t>
            </a:r>
          </a:p>
        </p:txBody>
      </p:sp>
      <p:sp>
        <p:nvSpPr>
          <p:cNvPr id="22" name="TextBox 21"/>
          <p:cNvSpPr txBox="1"/>
          <p:nvPr/>
        </p:nvSpPr>
        <p:spPr>
          <a:xfrm>
            <a:off x="3006000" y="3546000"/>
            <a:ext cx="4212000" cy="648000"/>
          </a:xfrm>
          <a:prstGeom prst="rect">
            <a:avLst/>
          </a:prstGeom>
          <a:noFill/>
        </p:spPr>
        <p:txBody>
          <a:bodyPr wrap="square" lIns="36000" rIns="36000" tIns="18000" bIns="18000" anchor="ctr">
            <a:spAutoFit/>
          </a:bodyPr>
          <a:lstStyle/>
          <a:p>
            <a:pPr algn="l"/>
            <a:r>
              <a:rPr sz="1100" b="0" i="0">
                <a:solidFill>
                  <a:srgbClr val="33383F"/>
                </a:solidFill>
                <a:latin typeface="Yu Gothic"/>
              </a:rPr>
              <a:t>麻薬・疼痛薬の調整、</a:t>
            </a:r>
          </a:p>
          <a:p>
            <a:pPr algn="l"/>
            <a:r>
              <a:rPr sz="1100" b="0" i="0">
                <a:solidFill>
                  <a:srgbClr val="33383F"/>
                </a:solidFill>
                <a:latin typeface="Yu Gothic"/>
              </a:rPr>
              <a:t>服薬困難への対応</a:t>
            </a:r>
          </a:p>
        </p:txBody>
      </p:sp>
      <p:sp>
        <p:nvSpPr>
          <p:cNvPr id="23" name="TextBox 22"/>
          <p:cNvSpPr txBox="1"/>
          <p:nvPr/>
        </p:nvSpPr>
        <p:spPr>
          <a:xfrm>
            <a:off x="7326000" y="3546000"/>
            <a:ext cx="4356000" cy="648000"/>
          </a:xfrm>
          <a:prstGeom prst="rect">
            <a:avLst/>
          </a:prstGeom>
          <a:noFill/>
        </p:spPr>
        <p:txBody>
          <a:bodyPr wrap="square" lIns="36000" rIns="36000" tIns="18000" bIns="18000" anchor="ctr">
            <a:spAutoFit/>
          </a:bodyPr>
          <a:lstStyle/>
          <a:p>
            <a:pPr algn="l"/>
            <a:r>
              <a:rPr sz="1100" b="0" i="0">
                <a:solidFill>
                  <a:srgbClr val="33383F"/>
                </a:solidFill>
                <a:latin typeface="Yu Gothic"/>
              </a:rPr>
              <a:t>情報提供と薬剤調整の経過、</a:t>
            </a:r>
          </a:p>
          <a:p>
            <a:pPr algn="l"/>
            <a:r>
              <a:rPr sz="1100" b="0" i="0">
                <a:solidFill>
                  <a:srgbClr val="33383F"/>
                </a:solidFill>
                <a:latin typeface="Yu Gothic"/>
              </a:rPr>
              <a:t>薬剤師訪問日との連動</a:t>
            </a:r>
          </a:p>
        </p:txBody>
      </p:sp>
      <p:sp>
        <p:nvSpPr>
          <p:cNvPr id="24" name="Rectangle 23"/>
          <p:cNvSpPr/>
          <p:nvPr/>
        </p:nvSpPr>
        <p:spPr>
          <a:xfrm>
            <a:off x="432000" y="4248000"/>
            <a:ext cx="11304000" cy="756000"/>
          </a:xfrm>
          <a:prstGeom prst="rect">
            <a:avLst/>
          </a:prstGeom>
          <a:solidFill>
            <a:srgbClr val="FFFFFF"/>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6000" y="4302000"/>
            <a:ext cx="2412000" cy="648000"/>
          </a:xfrm>
          <a:prstGeom prst="rect">
            <a:avLst/>
          </a:prstGeom>
          <a:noFill/>
        </p:spPr>
        <p:txBody>
          <a:bodyPr wrap="square" lIns="36000" rIns="36000" tIns="18000" bIns="18000" anchor="ctr">
            <a:spAutoFit/>
          </a:bodyPr>
          <a:lstStyle/>
          <a:p>
            <a:pPr algn="ctr"/>
            <a:r>
              <a:rPr sz="1100" b="1" i="0">
                <a:solidFill>
                  <a:srgbClr val="C03A2E"/>
                </a:solidFill>
                <a:latin typeface="Yu Gothic"/>
              </a:rPr>
              <a:t>訪問介護</a:t>
            </a:r>
          </a:p>
        </p:txBody>
      </p:sp>
      <p:sp>
        <p:nvSpPr>
          <p:cNvPr id="26" name="TextBox 25"/>
          <p:cNvSpPr txBox="1"/>
          <p:nvPr/>
        </p:nvSpPr>
        <p:spPr>
          <a:xfrm>
            <a:off x="3006000" y="4302000"/>
            <a:ext cx="4212000" cy="648000"/>
          </a:xfrm>
          <a:prstGeom prst="rect">
            <a:avLst/>
          </a:prstGeom>
          <a:noFill/>
        </p:spPr>
        <p:txBody>
          <a:bodyPr wrap="square" lIns="36000" rIns="36000" tIns="18000" bIns="18000" anchor="ctr">
            <a:spAutoFit/>
          </a:bodyPr>
          <a:lstStyle/>
          <a:p>
            <a:pPr algn="l"/>
            <a:r>
              <a:rPr sz="1100" b="0" i="0">
                <a:solidFill>
                  <a:srgbClr val="33383F"/>
                </a:solidFill>
                <a:latin typeface="Yu Gothic"/>
              </a:rPr>
              <a:t>本人の状態に応じた介護方法、</a:t>
            </a:r>
          </a:p>
          <a:p>
            <a:pPr algn="l"/>
            <a:r>
              <a:rPr sz="1100" b="0" i="0">
                <a:solidFill>
                  <a:srgbClr val="33383F"/>
                </a:solidFill>
                <a:latin typeface="Yu Gothic"/>
              </a:rPr>
              <a:t>家族のレスパイトニーズ</a:t>
            </a:r>
          </a:p>
        </p:txBody>
      </p:sp>
      <p:sp>
        <p:nvSpPr>
          <p:cNvPr id="27" name="TextBox 26"/>
          <p:cNvSpPr txBox="1"/>
          <p:nvPr/>
        </p:nvSpPr>
        <p:spPr>
          <a:xfrm>
            <a:off x="7326000" y="4302000"/>
            <a:ext cx="4356000" cy="648000"/>
          </a:xfrm>
          <a:prstGeom prst="rect">
            <a:avLst/>
          </a:prstGeom>
          <a:noFill/>
        </p:spPr>
        <p:txBody>
          <a:bodyPr wrap="square" lIns="36000" rIns="36000" tIns="18000" bIns="18000" anchor="ctr">
            <a:spAutoFit/>
          </a:bodyPr>
          <a:lstStyle/>
          <a:p>
            <a:pPr algn="l"/>
            <a:r>
              <a:rPr sz="1100" b="0" i="0">
                <a:solidFill>
                  <a:srgbClr val="33383F"/>
                </a:solidFill>
                <a:latin typeface="Yu Gothic"/>
              </a:rPr>
              <a:t>サービス内容変更の記録、</a:t>
            </a:r>
          </a:p>
          <a:p>
            <a:pPr algn="l"/>
            <a:r>
              <a:rPr sz="1100" b="0" i="0">
                <a:solidFill>
                  <a:srgbClr val="33383F"/>
                </a:solidFill>
                <a:latin typeface="Yu Gothic"/>
              </a:rPr>
              <a:t>担当ヘルパー教育の記録</a:t>
            </a:r>
          </a:p>
        </p:txBody>
      </p:sp>
      <p:sp>
        <p:nvSpPr>
          <p:cNvPr id="28" name="Rectangle 27"/>
          <p:cNvSpPr/>
          <p:nvPr/>
        </p:nvSpPr>
        <p:spPr>
          <a:xfrm>
            <a:off x="432000" y="5004000"/>
            <a:ext cx="11304000" cy="756000"/>
          </a:xfrm>
          <a:prstGeom prst="rect">
            <a:avLst/>
          </a:prstGeom>
          <a:solidFill>
            <a:srgbClr val="E8EDF3"/>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6000" y="5058000"/>
            <a:ext cx="2412000" cy="648000"/>
          </a:xfrm>
          <a:prstGeom prst="rect">
            <a:avLst/>
          </a:prstGeom>
          <a:noFill/>
        </p:spPr>
        <p:txBody>
          <a:bodyPr wrap="square" lIns="36000" rIns="36000" tIns="18000" bIns="18000" anchor="ctr">
            <a:spAutoFit/>
          </a:bodyPr>
          <a:lstStyle/>
          <a:p>
            <a:pPr algn="ctr"/>
            <a:r>
              <a:rPr sz="1100" b="1" i="0">
                <a:solidFill>
                  <a:srgbClr val="C03A2E"/>
                </a:solidFill>
                <a:latin typeface="Yu Gothic"/>
              </a:rPr>
              <a:t>家族 (キーパーソン)</a:t>
            </a:r>
          </a:p>
        </p:txBody>
      </p:sp>
      <p:sp>
        <p:nvSpPr>
          <p:cNvPr id="30" name="TextBox 29"/>
          <p:cNvSpPr txBox="1"/>
          <p:nvPr/>
        </p:nvSpPr>
        <p:spPr>
          <a:xfrm>
            <a:off x="3006000" y="5058000"/>
            <a:ext cx="4212000" cy="648000"/>
          </a:xfrm>
          <a:prstGeom prst="rect">
            <a:avLst/>
          </a:prstGeom>
          <a:noFill/>
        </p:spPr>
        <p:txBody>
          <a:bodyPr wrap="square" lIns="36000" rIns="36000" tIns="18000" bIns="18000" anchor="ctr">
            <a:spAutoFit/>
          </a:bodyPr>
          <a:lstStyle/>
          <a:p>
            <a:pPr algn="l"/>
            <a:r>
              <a:rPr sz="1100" b="0" i="0">
                <a:solidFill>
                  <a:srgbClr val="33383F"/>
                </a:solidFill>
                <a:latin typeface="Yu Gothic"/>
              </a:rPr>
              <a:t>状態の見通し、看取りの心構え、</a:t>
            </a:r>
          </a:p>
          <a:p>
            <a:pPr algn="l"/>
            <a:r>
              <a:rPr sz="1100" b="0" i="0">
                <a:solidFill>
                  <a:srgbClr val="33383F"/>
                </a:solidFill>
                <a:latin typeface="Yu Gothic"/>
              </a:rPr>
              <a:t>医療処置の意思決定</a:t>
            </a:r>
          </a:p>
        </p:txBody>
      </p:sp>
      <p:sp>
        <p:nvSpPr>
          <p:cNvPr id="31" name="TextBox 30"/>
          <p:cNvSpPr txBox="1"/>
          <p:nvPr/>
        </p:nvSpPr>
        <p:spPr>
          <a:xfrm>
            <a:off x="7326000" y="5058000"/>
            <a:ext cx="4356000" cy="648000"/>
          </a:xfrm>
          <a:prstGeom prst="rect">
            <a:avLst/>
          </a:prstGeom>
          <a:noFill/>
        </p:spPr>
        <p:txBody>
          <a:bodyPr wrap="square" lIns="36000" rIns="36000" tIns="18000" bIns="18000" anchor="ctr">
            <a:spAutoFit/>
          </a:bodyPr>
          <a:lstStyle/>
          <a:p>
            <a:pPr algn="l"/>
            <a:r>
              <a:rPr sz="1100" b="0" i="0">
                <a:solidFill>
                  <a:srgbClr val="33383F"/>
                </a:solidFill>
                <a:latin typeface="Yu Gothic"/>
              </a:rPr>
              <a:t>面談記録、意思決定支援の経過、</a:t>
            </a:r>
          </a:p>
          <a:p>
            <a:pPr algn="l"/>
            <a:r>
              <a:rPr sz="1100" b="0" i="0">
                <a:solidFill>
                  <a:srgbClr val="33383F"/>
                </a:solidFill>
                <a:latin typeface="Yu Gothic"/>
              </a:rPr>
              <a:t>グリーフケアの初期対応</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3. ターミナルCM加算</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ACP ・ 人生会議との統合 ― 加算は「結果」</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19 / 38</a:t>
            </a:r>
          </a:p>
        </p:txBody>
      </p:sp>
      <p:sp>
        <p:nvSpPr>
          <p:cNvPr id="8" name="Rectangle 7"/>
          <p:cNvSpPr/>
          <p:nvPr/>
        </p:nvSpPr>
        <p:spPr>
          <a:xfrm>
            <a:off x="432000" y="1620000"/>
            <a:ext cx="11304000" cy="360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65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考え方の転換</a:t>
            </a:r>
          </a:p>
        </p:txBody>
      </p:sp>
      <p:sp>
        <p:nvSpPr>
          <p:cNvPr id="10" name="Rectangle 9"/>
          <p:cNvSpPr/>
          <p:nvPr/>
        </p:nvSpPr>
        <p:spPr>
          <a:xfrm>
            <a:off x="432000" y="1980000"/>
            <a:ext cx="11304000" cy="90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2016000"/>
            <a:ext cx="11088000" cy="864000"/>
          </a:xfrm>
          <a:prstGeom prst="rect">
            <a:avLst/>
          </a:prstGeom>
          <a:noFill/>
        </p:spPr>
        <p:txBody>
          <a:bodyPr wrap="square" lIns="36000" rIns="36000" tIns="18000" bIns="18000" anchor="t">
            <a:spAutoFit/>
          </a:bodyPr>
          <a:lstStyle/>
          <a:p>
            <a:pPr algn="l"/>
            <a:r>
              <a:rPr sz="1400" b="0" i="0">
                <a:solidFill>
                  <a:srgbClr val="33383F"/>
                </a:solidFill>
                <a:latin typeface="Yu Gothic"/>
              </a:rPr>
              <a:t>「加算を取りに行く」のではなく、</a:t>
            </a:r>
          </a:p>
          <a:p>
            <a:pPr algn="l"/>
            <a:r>
              <a:rPr sz="1400" b="0" i="0">
                <a:solidFill>
                  <a:srgbClr val="33383F"/>
                </a:solidFill>
                <a:latin typeface="Yu Gothic"/>
              </a:rPr>
              <a:t>「本人の意思を尊重した看取り支援を行った結果として、加算要件を満たす」が本来の姿。</a:t>
            </a:r>
          </a:p>
        </p:txBody>
      </p:sp>
      <p:sp>
        <p:nvSpPr>
          <p:cNvPr id="12" name="Rectangle 11"/>
          <p:cNvSpPr/>
          <p:nvPr/>
        </p:nvSpPr>
        <p:spPr>
          <a:xfrm>
            <a:off x="432000" y="3060000"/>
            <a:ext cx="5580000" cy="360000"/>
          </a:xfrm>
          <a:prstGeom prst="rect">
            <a:avLst/>
          </a:prstGeom>
          <a:solidFill>
            <a:srgbClr val="375A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000" y="3096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ACP の早期着手が鍵</a:t>
            </a:r>
          </a:p>
        </p:txBody>
      </p:sp>
      <p:sp>
        <p:nvSpPr>
          <p:cNvPr id="14" name="Rectangle 13"/>
          <p:cNvSpPr/>
          <p:nvPr/>
        </p:nvSpPr>
        <p:spPr>
          <a:xfrm>
            <a:off x="432000" y="3420000"/>
            <a:ext cx="5580000" cy="270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000" y="3456000"/>
            <a:ext cx="5364000" cy="2664000"/>
          </a:xfrm>
          <a:prstGeom prst="rect">
            <a:avLst/>
          </a:prstGeom>
          <a:noFill/>
        </p:spPr>
        <p:txBody>
          <a:bodyPr wrap="square" lIns="36000" rIns="36000" tIns="18000" bIns="18000" anchor="t">
            <a:spAutoFit/>
          </a:bodyPr>
          <a:lstStyle/>
          <a:p>
            <a:pPr algn="l"/>
            <a:r>
              <a:rPr sz="1200" b="0" i="0">
                <a:solidFill>
                  <a:srgbClr val="33383F"/>
                </a:solidFill>
                <a:latin typeface="Yu Gothic"/>
              </a:rPr>
              <a:t>■ 末期診断より前から、本人の価値観・希望を聴く</a:t>
            </a:r>
          </a:p>
          <a:p>
            <a:pPr algn="l"/>
            <a:r>
              <a:rPr sz="1200" b="0" i="0">
                <a:solidFill>
                  <a:srgbClr val="33383F"/>
                </a:solidFill>
                <a:latin typeface="Yu Gothic"/>
              </a:rPr>
              <a:t/>
            </a:r>
          </a:p>
          <a:p>
            <a:pPr algn="l"/>
            <a:r>
              <a:rPr sz="1200" b="0" i="0">
                <a:solidFill>
                  <a:srgbClr val="33383F"/>
                </a:solidFill>
                <a:latin typeface="Yu Gothic"/>
              </a:rPr>
              <a:t>■ 「もしもの時の話」を進行に応じて深める</a:t>
            </a:r>
          </a:p>
          <a:p>
            <a:pPr algn="l"/>
            <a:r>
              <a:rPr sz="1200" b="0" i="0">
                <a:solidFill>
                  <a:srgbClr val="33383F"/>
                </a:solidFill>
                <a:latin typeface="Yu Gothic"/>
              </a:rPr>
              <a:t/>
            </a:r>
          </a:p>
          <a:p>
            <a:pPr algn="l"/>
            <a:r>
              <a:rPr sz="1200" b="0" i="0">
                <a:solidFill>
                  <a:srgbClr val="33383F"/>
                </a:solidFill>
                <a:latin typeface="Yu Gothic"/>
              </a:rPr>
              <a:t>■ 看取りの場所・医療処置の希望を文書化</a:t>
            </a:r>
          </a:p>
          <a:p>
            <a:pPr algn="l"/>
            <a:r>
              <a:rPr sz="1200" b="0" i="0">
                <a:solidFill>
                  <a:srgbClr val="33383F"/>
                </a:solidFill>
                <a:latin typeface="Yu Gothic"/>
              </a:rPr>
              <a:t/>
            </a:r>
          </a:p>
          <a:p>
            <a:pPr algn="l"/>
            <a:r>
              <a:rPr sz="1200" b="0" i="0">
                <a:solidFill>
                  <a:srgbClr val="33383F"/>
                </a:solidFill>
                <a:latin typeface="Yu Gothic"/>
              </a:rPr>
              <a:t>■ 厚労省ガイドライン</a:t>
            </a:r>
          </a:p>
          <a:p>
            <a:pPr algn="l"/>
            <a:r>
              <a:rPr sz="1200" b="0" i="0">
                <a:solidFill>
                  <a:srgbClr val="33383F"/>
                </a:solidFill>
                <a:latin typeface="Yu Gothic"/>
              </a:rPr>
              <a:t>   「人生の最終段階における医療・ケアの</a:t>
            </a:r>
          </a:p>
          <a:p>
            <a:pPr algn="l"/>
            <a:r>
              <a:rPr sz="1200" b="0" i="0">
                <a:solidFill>
                  <a:srgbClr val="33383F"/>
                </a:solidFill>
                <a:latin typeface="Yu Gothic"/>
              </a:rPr>
              <a:t>    決定プロセスに関するガイドライン」を活用</a:t>
            </a:r>
          </a:p>
          <a:p>
            <a:pPr algn="l"/>
            <a:r>
              <a:rPr sz="1200" b="0" i="0">
                <a:solidFill>
                  <a:srgbClr val="33383F"/>
                </a:solidFill>
                <a:latin typeface="Yu Gothic"/>
              </a:rPr>
              <a:t/>
            </a:r>
          </a:p>
          <a:p>
            <a:pPr algn="l"/>
            <a:r>
              <a:rPr sz="1200" b="0" i="0">
                <a:solidFill>
                  <a:srgbClr val="33383F"/>
                </a:solidFill>
                <a:latin typeface="Yu Gothic"/>
              </a:rPr>
              <a:t>■ ACP の記録が、ターミナル期の判断根拠になる</a:t>
            </a:r>
          </a:p>
        </p:txBody>
      </p:sp>
      <p:sp>
        <p:nvSpPr>
          <p:cNvPr id="16" name="Rectangle 15"/>
          <p:cNvSpPr/>
          <p:nvPr/>
        </p:nvSpPr>
        <p:spPr>
          <a:xfrm>
            <a:off x="6300000" y="3060000"/>
            <a:ext cx="5400000" cy="3600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2000" y="3096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事業所内で整備したい体制</a:t>
            </a:r>
          </a:p>
        </p:txBody>
      </p:sp>
      <p:sp>
        <p:nvSpPr>
          <p:cNvPr id="18" name="Rectangle 17"/>
          <p:cNvSpPr/>
          <p:nvPr/>
        </p:nvSpPr>
        <p:spPr>
          <a:xfrm>
            <a:off x="6300000" y="3420000"/>
            <a:ext cx="5400000" cy="2700000"/>
          </a:xfrm>
          <a:prstGeom prst="rect">
            <a:avLst/>
          </a:prstGeom>
          <a:solidFill>
            <a:srgbClr val="E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8000" y="3456000"/>
            <a:ext cx="5184000" cy="2664000"/>
          </a:xfrm>
          <a:prstGeom prst="rect">
            <a:avLst/>
          </a:prstGeom>
          <a:noFill/>
        </p:spPr>
        <p:txBody>
          <a:bodyPr wrap="square" lIns="36000" rIns="36000" tIns="18000" bIns="18000" anchor="t">
            <a:spAutoFit/>
          </a:bodyPr>
          <a:lstStyle/>
          <a:p>
            <a:pPr algn="l"/>
            <a:r>
              <a:rPr sz="1200" b="0" i="0">
                <a:solidFill>
                  <a:srgbClr val="33383F"/>
                </a:solidFill>
                <a:latin typeface="Yu Gothic"/>
              </a:rPr>
              <a:t>■ ターミナル対応 CM の経験不足を補う仕組み</a:t>
            </a:r>
          </a:p>
          <a:p>
            <a:pPr algn="l"/>
            <a:r>
              <a:rPr sz="1200" b="0" i="0">
                <a:solidFill>
                  <a:srgbClr val="33383F"/>
                </a:solidFill>
                <a:latin typeface="Yu Gothic"/>
              </a:rPr>
              <a:t>   (主任CMによる同行・スーパーバイズ)</a:t>
            </a:r>
          </a:p>
          <a:p>
            <a:pPr algn="l"/>
            <a:r>
              <a:rPr sz="1200" b="0" i="0">
                <a:solidFill>
                  <a:srgbClr val="33383F"/>
                </a:solidFill>
                <a:latin typeface="Yu Gothic"/>
              </a:rPr>
              <a:t/>
            </a:r>
          </a:p>
          <a:p>
            <a:pPr algn="l"/>
            <a:r>
              <a:rPr sz="1200" b="0" i="0">
                <a:solidFill>
                  <a:srgbClr val="33383F"/>
                </a:solidFill>
                <a:latin typeface="Yu Gothic"/>
              </a:rPr>
              <a:t>■ 24時間体制(特定事業所加算と連動)</a:t>
            </a:r>
          </a:p>
          <a:p>
            <a:pPr algn="l"/>
            <a:r>
              <a:rPr sz="1200" b="0" i="0">
                <a:solidFill>
                  <a:srgbClr val="33383F"/>
                </a:solidFill>
                <a:latin typeface="Yu Gothic"/>
              </a:rPr>
              <a:t/>
            </a:r>
          </a:p>
          <a:p>
            <a:pPr algn="l"/>
            <a:r>
              <a:rPr sz="1200" b="0" i="0">
                <a:solidFill>
                  <a:srgbClr val="33383F"/>
                </a:solidFill>
                <a:latin typeface="Yu Gothic"/>
              </a:rPr>
              <a:t>■ グリーフケア研修の実施</a:t>
            </a:r>
          </a:p>
          <a:p>
            <a:pPr algn="l"/>
            <a:r>
              <a:rPr sz="1200" b="0" i="0">
                <a:solidFill>
                  <a:srgbClr val="33383F"/>
                </a:solidFill>
                <a:latin typeface="Yu Gothic"/>
              </a:rPr>
              <a:t/>
            </a:r>
          </a:p>
          <a:p>
            <a:pPr algn="l"/>
            <a:r>
              <a:rPr sz="1200" b="0" i="0">
                <a:solidFill>
                  <a:srgbClr val="33383F"/>
                </a:solidFill>
                <a:latin typeface="Yu Gothic"/>
              </a:rPr>
              <a:t>■ 看取り後の振り返り会議(デスカンファ)</a:t>
            </a:r>
          </a:p>
          <a:p>
            <a:pPr algn="l"/>
            <a:r>
              <a:rPr sz="1200" b="0" i="0">
                <a:solidFill>
                  <a:srgbClr val="33383F"/>
                </a:solidFill>
                <a:latin typeface="Yu Gothic"/>
              </a:rPr>
              <a:t/>
            </a:r>
          </a:p>
          <a:p>
            <a:pPr algn="l"/>
            <a:r>
              <a:rPr sz="1200" b="0" i="0">
                <a:solidFill>
                  <a:srgbClr val="33383F"/>
                </a:solidFill>
                <a:latin typeface="Yu Gothic"/>
              </a:rPr>
              <a:t>■ 主治医・訪問看護との顔の見える関係づくり</a:t>
            </a:r>
          </a:p>
          <a:p>
            <a:pPr algn="l"/>
            <a:r>
              <a:rPr sz="1200" b="0" i="0">
                <a:solidFill>
                  <a:srgbClr val="33383F"/>
                </a:solidFill>
                <a:latin typeface="Yu Gothic"/>
              </a:rPr>
              <a:t>   (平時からの連携)</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0000"/>
            <a:ext cx="12192119" cy="36000"/>
          </a:xfrm>
          <a:prstGeom prst="rect">
            <a:avLst/>
          </a:prstGeom>
          <a:solidFill>
            <a:srgbClr val="E0A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340000"/>
            <a:ext cx="10752119" cy="540000"/>
          </a:xfrm>
          <a:prstGeom prst="rect">
            <a:avLst/>
          </a:prstGeom>
          <a:noFill/>
        </p:spPr>
        <p:txBody>
          <a:bodyPr wrap="square" lIns="36000" rIns="36000" tIns="18000" bIns="18000" anchor="t">
            <a:spAutoFit/>
          </a:bodyPr>
          <a:lstStyle/>
          <a:p>
            <a:pPr algn="ctr"/>
            <a:r>
              <a:rPr sz="2200" b="1" i="0">
                <a:solidFill>
                  <a:srgbClr val="E0A636"/>
                </a:solidFill>
                <a:latin typeface="Yu Gothic"/>
              </a:rPr>
              <a:t>PART 4</a:t>
            </a:r>
          </a:p>
        </p:txBody>
      </p:sp>
      <p:sp>
        <p:nvSpPr>
          <p:cNvPr id="5" name="TextBox 4"/>
          <p:cNvSpPr txBox="1"/>
          <p:nvPr/>
        </p:nvSpPr>
        <p:spPr>
          <a:xfrm>
            <a:off x="360000" y="3420000"/>
            <a:ext cx="11472119" cy="720000"/>
          </a:xfrm>
          <a:prstGeom prst="rect">
            <a:avLst/>
          </a:prstGeom>
          <a:noFill/>
        </p:spPr>
        <p:txBody>
          <a:bodyPr wrap="square" lIns="36000" rIns="36000" tIns="18000" bIns="18000" anchor="t">
            <a:spAutoFit/>
          </a:bodyPr>
          <a:lstStyle/>
          <a:p>
            <a:pPr algn="ctr"/>
            <a:r>
              <a:rPr sz="3600" b="1" i="0">
                <a:solidFill>
                  <a:srgbClr val="FFFFFF"/>
                </a:solidFill>
                <a:latin typeface="Yu Gothic"/>
              </a:rPr>
              <a:t>その他 R6 改定の論点</a:t>
            </a:r>
          </a:p>
        </p:txBody>
      </p:sp>
      <p:sp>
        <p:nvSpPr>
          <p:cNvPr id="6" name="TextBox 5"/>
          <p:cNvSpPr txBox="1"/>
          <p:nvPr/>
        </p:nvSpPr>
        <p:spPr>
          <a:xfrm>
            <a:off x="360000" y="4680000"/>
            <a:ext cx="11472119" cy="360000"/>
          </a:xfrm>
          <a:prstGeom prst="rect">
            <a:avLst/>
          </a:prstGeom>
          <a:noFill/>
        </p:spPr>
        <p:txBody>
          <a:bodyPr wrap="square" lIns="36000" rIns="36000" tIns="18000" bIns="18000" anchor="t">
            <a:spAutoFit/>
          </a:bodyPr>
          <a:lstStyle/>
          <a:p>
            <a:pPr algn="ctr"/>
            <a:r>
              <a:rPr sz="1400" b="0" i="0">
                <a:solidFill>
                  <a:srgbClr val="D6DCE3"/>
                </a:solidFill>
                <a:latin typeface="Yu Gothic"/>
              </a:rPr>
              <a:t>Other Key Points of the FY2024 Revision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4. その他 R6 改定</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同一建物減算 ― 居宅介護支援への新設</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21 / 38</a:t>
            </a:r>
          </a:p>
        </p:txBody>
      </p:sp>
      <p:sp>
        <p:nvSpPr>
          <p:cNvPr id="8" name="Rectangle 7"/>
          <p:cNvSpPr/>
          <p:nvPr/>
        </p:nvSpPr>
        <p:spPr>
          <a:xfrm>
            <a:off x="432000" y="1620000"/>
            <a:ext cx="11304000" cy="360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65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改定の趣旨</a:t>
            </a:r>
          </a:p>
        </p:txBody>
      </p:sp>
      <p:sp>
        <p:nvSpPr>
          <p:cNvPr id="10" name="Rectangle 9"/>
          <p:cNvSpPr/>
          <p:nvPr/>
        </p:nvSpPr>
        <p:spPr>
          <a:xfrm>
            <a:off x="432000" y="1980000"/>
            <a:ext cx="11304000" cy="1080000"/>
          </a:xfrm>
          <a:prstGeom prst="rect">
            <a:avLst/>
          </a:prstGeom>
          <a:solidFill>
            <a:srgbClr val="FB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2016000"/>
            <a:ext cx="11088000" cy="1044000"/>
          </a:xfrm>
          <a:prstGeom prst="rect">
            <a:avLst/>
          </a:prstGeom>
          <a:noFill/>
        </p:spPr>
        <p:txBody>
          <a:bodyPr wrap="square" lIns="36000" rIns="36000" tIns="18000" bIns="18000" anchor="t">
            <a:spAutoFit/>
          </a:bodyPr>
          <a:lstStyle/>
          <a:p>
            <a:pPr algn="l"/>
            <a:r>
              <a:rPr sz="1300" b="0" i="0">
                <a:solidFill>
                  <a:srgbClr val="33383F"/>
                </a:solidFill>
                <a:latin typeface="Yu Gothic"/>
              </a:rPr>
              <a:t>■ サービス付き高齢者向け住宅(サ高住)・有料老人ホーム等に居住する利用者を、</a:t>
            </a:r>
          </a:p>
          <a:p>
            <a:pPr algn="l"/>
            <a:r>
              <a:rPr sz="1300" b="0" i="0">
                <a:solidFill>
                  <a:srgbClr val="33383F"/>
                </a:solidFill>
                <a:latin typeface="Yu Gothic"/>
              </a:rPr>
              <a:t>    同一建物に所在する事業所のCMが多数担当する事例への対応</a:t>
            </a:r>
          </a:p>
          <a:p>
            <a:pPr algn="l"/>
            <a:r>
              <a:rPr sz="1300" b="0" i="0">
                <a:solidFill>
                  <a:srgbClr val="33383F"/>
                </a:solidFill>
                <a:latin typeface="Yu Gothic"/>
              </a:rPr>
              <a:t>■ 公正中立性・移動時間の効率性を踏まえた評価</a:t>
            </a:r>
          </a:p>
        </p:txBody>
      </p:sp>
      <p:sp>
        <p:nvSpPr>
          <p:cNvPr id="12" name="Rectangle 11"/>
          <p:cNvSpPr/>
          <p:nvPr/>
        </p:nvSpPr>
        <p:spPr>
          <a:xfrm>
            <a:off x="432000" y="3240000"/>
            <a:ext cx="11304000" cy="360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6000" y="3276000"/>
            <a:ext cx="3492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対象</a:t>
            </a:r>
          </a:p>
        </p:txBody>
      </p:sp>
      <p:sp>
        <p:nvSpPr>
          <p:cNvPr id="14" name="TextBox 13"/>
          <p:cNvSpPr txBox="1"/>
          <p:nvPr/>
        </p:nvSpPr>
        <p:spPr>
          <a:xfrm>
            <a:off x="4086000" y="3276000"/>
            <a:ext cx="3852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減算の考え方</a:t>
            </a:r>
          </a:p>
        </p:txBody>
      </p:sp>
      <p:sp>
        <p:nvSpPr>
          <p:cNvPr id="15" name="TextBox 14"/>
          <p:cNvSpPr txBox="1"/>
          <p:nvPr/>
        </p:nvSpPr>
        <p:spPr>
          <a:xfrm>
            <a:off x="8046000" y="3276000"/>
            <a:ext cx="3636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実務上の留意点</a:t>
            </a:r>
          </a:p>
        </p:txBody>
      </p:sp>
      <p:sp>
        <p:nvSpPr>
          <p:cNvPr id="16" name="Rectangle 15"/>
          <p:cNvSpPr/>
          <p:nvPr/>
        </p:nvSpPr>
        <p:spPr>
          <a:xfrm>
            <a:off x="432000" y="3600000"/>
            <a:ext cx="11304000" cy="720000"/>
          </a:xfrm>
          <a:prstGeom prst="rect">
            <a:avLst/>
          </a:prstGeom>
          <a:solidFill>
            <a:srgbClr val="E8EDF3"/>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6000" y="3654000"/>
            <a:ext cx="3492000" cy="612000"/>
          </a:xfrm>
          <a:prstGeom prst="rect">
            <a:avLst/>
          </a:prstGeom>
          <a:noFill/>
        </p:spPr>
        <p:txBody>
          <a:bodyPr wrap="square" lIns="36000" rIns="36000" tIns="18000" bIns="18000" anchor="ctr">
            <a:spAutoFit/>
          </a:bodyPr>
          <a:lstStyle/>
          <a:p>
            <a:pPr algn="ctr"/>
            <a:r>
              <a:rPr sz="1100" b="1" i="0">
                <a:solidFill>
                  <a:srgbClr val="C03A2E"/>
                </a:solidFill>
                <a:latin typeface="Yu Gothic"/>
              </a:rPr>
              <a:t>同一建物に居住する</a:t>
            </a:r>
          </a:p>
          <a:p>
            <a:pPr algn="ctr"/>
            <a:r>
              <a:rPr sz="1100" b="1" i="0">
                <a:solidFill>
                  <a:srgbClr val="C03A2E"/>
                </a:solidFill>
                <a:latin typeface="Yu Gothic"/>
              </a:rPr>
              <a:t>利用者が一定割合</a:t>
            </a:r>
          </a:p>
          <a:p>
            <a:pPr algn="ctr"/>
            <a:r>
              <a:rPr sz="1100" b="1" i="0">
                <a:solidFill>
                  <a:srgbClr val="C03A2E"/>
                </a:solidFill>
                <a:latin typeface="Yu Gothic"/>
              </a:rPr>
              <a:t>以上</a:t>
            </a:r>
          </a:p>
        </p:txBody>
      </p:sp>
      <p:sp>
        <p:nvSpPr>
          <p:cNvPr id="18" name="TextBox 17"/>
          <p:cNvSpPr txBox="1"/>
          <p:nvPr/>
        </p:nvSpPr>
        <p:spPr>
          <a:xfrm>
            <a:off x="4086000" y="3654000"/>
            <a:ext cx="3852000" cy="612000"/>
          </a:xfrm>
          <a:prstGeom prst="rect">
            <a:avLst/>
          </a:prstGeom>
          <a:noFill/>
        </p:spPr>
        <p:txBody>
          <a:bodyPr wrap="square" lIns="36000" rIns="36000" tIns="18000" bIns="18000" anchor="ctr">
            <a:spAutoFit/>
          </a:bodyPr>
          <a:lstStyle/>
          <a:p>
            <a:pPr algn="l"/>
            <a:r>
              <a:rPr sz="1100" b="0" i="0">
                <a:solidFill>
                  <a:srgbClr val="33383F"/>
                </a:solidFill>
                <a:latin typeface="Yu Gothic"/>
              </a:rPr>
              <a:t>居宅介護支援費を</a:t>
            </a:r>
          </a:p>
          <a:p>
            <a:pPr algn="l"/>
            <a:r>
              <a:rPr sz="1100" b="0" i="0">
                <a:solidFill>
                  <a:srgbClr val="33383F"/>
                </a:solidFill>
                <a:latin typeface="Yu Gothic"/>
              </a:rPr>
              <a:t>所定の割合で減算</a:t>
            </a:r>
          </a:p>
        </p:txBody>
      </p:sp>
      <p:sp>
        <p:nvSpPr>
          <p:cNvPr id="19" name="TextBox 18"/>
          <p:cNvSpPr txBox="1"/>
          <p:nvPr/>
        </p:nvSpPr>
        <p:spPr>
          <a:xfrm>
            <a:off x="8046000" y="3654000"/>
            <a:ext cx="3636000" cy="612000"/>
          </a:xfrm>
          <a:prstGeom prst="rect">
            <a:avLst/>
          </a:prstGeom>
          <a:noFill/>
        </p:spPr>
        <p:txBody>
          <a:bodyPr wrap="square" lIns="36000" rIns="36000" tIns="18000" bIns="18000" anchor="ctr">
            <a:spAutoFit/>
          </a:bodyPr>
          <a:lstStyle/>
          <a:p>
            <a:pPr algn="l"/>
            <a:r>
              <a:rPr sz="1100" b="0" i="0">
                <a:solidFill>
                  <a:srgbClr val="33383F"/>
                </a:solidFill>
                <a:latin typeface="Yu Gothic"/>
              </a:rPr>
              <a:t>毎月の居住者状況の確認</a:t>
            </a:r>
          </a:p>
          <a:p>
            <a:pPr algn="l"/>
            <a:r>
              <a:rPr sz="1100" b="0" i="0">
                <a:solidFill>
                  <a:srgbClr val="33383F"/>
                </a:solidFill>
                <a:latin typeface="Yu Gothic"/>
              </a:rPr>
              <a:t>建物単位での集計が必要</a:t>
            </a:r>
          </a:p>
        </p:txBody>
      </p:sp>
      <p:sp>
        <p:nvSpPr>
          <p:cNvPr id="20" name="Rectangle 19"/>
          <p:cNvSpPr/>
          <p:nvPr/>
        </p:nvSpPr>
        <p:spPr>
          <a:xfrm>
            <a:off x="432000" y="4320000"/>
            <a:ext cx="11304000" cy="720000"/>
          </a:xfrm>
          <a:prstGeom prst="rect">
            <a:avLst/>
          </a:prstGeom>
          <a:solidFill>
            <a:srgbClr val="FFFFFF"/>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6000" y="4374000"/>
            <a:ext cx="3492000" cy="612000"/>
          </a:xfrm>
          <a:prstGeom prst="rect">
            <a:avLst/>
          </a:prstGeom>
          <a:noFill/>
        </p:spPr>
        <p:txBody>
          <a:bodyPr wrap="square" lIns="36000" rIns="36000" tIns="18000" bIns="18000" anchor="ctr">
            <a:spAutoFit/>
          </a:bodyPr>
          <a:lstStyle/>
          <a:p>
            <a:pPr algn="ctr"/>
            <a:r>
              <a:rPr sz="1100" b="1" i="0">
                <a:solidFill>
                  <a:srgbClr val="C03A2E"/>
                </a:solidFill>
                <a:latin typeface="Yu Gothic"/>
              </a:rPr>
              <a:t>対象外:</a:t>
            </a:r>
          </a:p>
          <a:p>
            <a:pPr algn="ctr"/>
            <a:r>
              <a:rPr sz="1100" b="1" i="0">
                <a:solidFill>
                  <a:srgbClr val="C03A2E"/>
                </a:solidFill>
                <a:latin typeface="Yu Gothic"/>
              </a:rPr>
              <a:t>例外規定あり</a:t>
            </a:r>
          </a:p>
        </p:txBody>
      </p:sp>
      <p:sp>
        <p:nvSpPr>
          <p:cNvPr id="22" name="TextBox 21"/>
          <p:cNvSpPr txBox="1"/>
          <p:nvPr/>
        </p:nvSpPr>
        <p:spPr>
          <a:xfrm>
            <a:off x="4086000" y="4374000"/>
            <a:ext cx="3852000" cy="612000"/>
          </a:xfrm>
          <a:prstGeom prst="rect">
            <a:avLst/>
          </a:prstGeom>
          <a:noFill/>
        </p:spPr>
        <p:txBody>
          <a:bodyPr wrap="square" lIns="36000" rIns="36000" tIns="18000" bIns="18000" anchor="ctr">
            <a:spAutoFit/>
          </a:bodyPr>
          <a:lstStyle/>
          <a:p>
            <a:pPr algn="l"/>
            <a:r>
              <a:rPr sz="1100" b="0" i="0">
                <a:solidFill>
                  <a:srgbClr val="33383F"/>
                </a:solidFill>
                <a:latin typeface="Yu Gothic"/>
              </a:rPr>
              <a:t>やむを得ない事情等が</a:t>
            </a:r>
          </a:p>
          <a:p>
            <a:pPr algn="l"/>
            <a:r>
              <a:rPr sz="1100" b="0" i="0">
                <a:solidFill>
                  <a:srgbClr val="33383F"/>
                </a:solidFill>
                <a:latin typeface="Yu Gothic"/>
              </a:rPr>
              <a:t>認められる場合の扱い</a:t>
            </a:r>
          </a:p>
        </p:txBody>
      </p:sp>
      <p:sp>
        <p:nvSpPr>
          <p:cNvPr id="23" name="TextBox 22"/>
          <p:cNvSpPr txBox="1"/>
          <p:nvPr/>
        </p:nvSpPr>
        <p:spPr>
          <a:xfrm>
            <a:off x="8046000" y="4374000"/>
            <a:ext cx="3636000" cy="612000"/>
          </a:xfrm>
          <a:prstGeom prst="rect">
            <a:avLst/>
          </a:prstGeom>
          <a:noFill/>
        </p:spPr>
        <p:txBody>
          <a:bodyPr wrap="square" lIns="36000" rIns="36000" tIns="18000" bIns="18000" anchor="ctr">
            <a:spAutoFit/>
          </a:bodyPr>
          <a:lstStyle/>
          <a:p>
            <a:pPr algn="l"/>
            <a:r>
              <a:rPr sz="1100" b="0" i="0">
                <a:solidFill>
                  <a:srgbClr val="33383F"/>
                </a:solidFill>
                <a:latin typeface="Yu Gothic"/>
              </a:rPr>
              <a:t>個別判断のため</a:t>
            </a:r>
          </a:p>
          <a:p>
            <a:pPr algn="l"/>
            <a:r>
              <a:rPr sz="1100" b="0" i="0">
                <a:solidFill>
                  <a:srgbClr val="33383F"/>
                </a:solidFill>
                <a:latin typeface="Yu Gothic"/>
              </a:rPr>
              <a:t>指定権者に確認が必要</a:t>
            </a:r>
          </a:p>
        </p:txBody>
      </p:sp>
      <p:sp>
        <p:nvSpPr>
          <p:cNvPr id="24" name="Rectangle 23"/>
          <p:cNvSpPr/>
          <p:nvPr/>
        </p:nvSpPr>
        <p:spPr>
          <a:xfrm>
            <a:off x="432000" y="5040000"/>
            <a:ext cx="11304000" cy="720000"/>
          </a:xfrm>
          <a:prstGeom prst="rect">
            <a:avLst/>
          </a:prstGeom>
          <a:solidFill>
            <a:srgbClr val="E8EDF3"/>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6000" y="5094000"/>
            <a:ext cx="3492000" cy="612000"/>
          </a:xfrm>
          <a:prstGeom prst="rect">
            <a:avLst/>
          </a:prstGeom>
          <a:noFill/>
        </p:spPr>
        <p:txBody>
          <a:bodyPr wrap="square" lIns="36000" rIns="36000" tIns="18000" bIns="18000" anchor="ctr">
            <a:spAutoFit/>
          </a:bodyPr>
          <a:lstStyle/>
          <a:p>
            <a:pPr algn="ctr"/>
            <a:r>
              <a:rPr sz="1100" b="1" i="0">
                <a:solidFill>
                  <a:srgbClr val="C03A2E"/>
                </a:solidFill>
                <a:latin typeface="Yu Gothic"/>
              </a:rPr>
              <a:t>集合住宅で</a:t>
            </a:r>
          </a:p>
          <a:p>
            <a:pPr algn="ctr"/>
            <a:r>
              <a:rPr sz="1100" b="1" i="0">
                <a:solidFill>
                  <a:srgbClr val="C03A2E"/>
                </a:solidFill>
                <a:latin typeface="Yu Gothic"/>
              </a:rPr>
              <a:t>複数事業所が分担</a:t>
            </a:r>
          </a:p>
        </p:txBody>
      </p:sp>
      <p:sp>
        <p:nvSpPr>
          <p:cNvPr id="26" name="TextBox 25"/>
          <p:cNvSpPr txBox="1"/>
          <p:nvPr/>
        </p:nvSpPr>
        <p:spPr>
          <a:xfrm>
            <a:off x="4086000" y="5094000"/>
            <a:ext cx="3852000" cy="612000"/>
          </a:xfrm>
          <a:prstGeom prst="rect">
            <a:avLst/>
          </a:prstGeom>
          <a:noFill/>
        </p:spPr>
        <p:txBody>
          <a:bodyPr wrap="square" lIns="36000" rIns="36000" tIns="18000" bIns="18000" anchor="ctr">
            <a:spAutoFit/>
          </a:bodyPr>
          <a:lstStyle/>
          <a:p>
            <a:pPr algn="l"/>
            <a:r>
              <a:rPr sz="1100" b="0" i="0">
                <a:solidFill>
                  <a:srgbClr val="33383F"/>
                </a:solidFill>
                <a:latin typeface="Yu Gothic"/>
              </a:rPr>
              <a:t>他事業所と分担している</a:t>
            </a:r>
          </a:p>
          <a:p>
            <a:pPr algn="l"/>
            <a:r>
              <a:rPr sz="1100" b="0" i="0">
                <a:solidFill>
                  <a:srgbClr val="33383F"/>
                </a:solidFill>
                <a:latin typeface="Yu Gothic"/>
              </a:rPr>
              <a:t>場合の取扱いも整理</a:t>
            </a:r>
          </a:p>
        </p:txBody>
      </p:sp>
      <p:sp>
        <p:nvSpPr>
          <p:cNvPr id="27" name="TextBox 26"/>
          <p:cNvSpPr txBox="1"/>
          <p:nvPr/>
        </p:nvSpPr>
        <p:spPr>
          <a:xfrm>
            <a:off x="8046000" y="5094000"/>
            <a:ext cx="3636000" cy="612000"/>
          </a:xfrm>
          <a:prstGeom prst="rect">
            <a:avLst/>
          </a:prstGeom>
          <a:noFill/>
        </p:spPr>
        <p:txBody>
          <a:bodyPr wrap="square" lIns="36000" rIns="36000" tIns="18000" bIns="18000" anchor="ctr">
            <a:spAutoFit/>
          </a:bodyPr>
          <a:lstStyle/>
          <a:p>
            <a:pPr algn="l"/>
            <a:r>
              <a:rPr sz="1100" b="0" i="0">
                <a:solidFill>
                  <a:srgbClr val="33383F"/>
                </a:solidFill>
                <a:latin typeface="Yu Gothic"/>
              </a:rPr>
              <a:t>事業所間の調整</a:t>
            </a:r>
          </a:p>
          <a:p>
            <a:pPr algn="l"/>
            <a:r>
              <a:rPr sz="1100" b="0" i="0">
                <a:solidFill>
                  <a:srgbClr val="33383F"/>
                </a:solidFill>
                <a:latin typeface="Yu Gothic"/>
              </a:rPr>
              <a:t>中立性確保の証跡</a:t>
            </a:r>
          </a:p>
        </p:txBody>
      </p:sp>
      <p:sp>
        <p:nvSpPr>
          <p:cNvPr id="28" name="TextBox 27"/>
          <p:cNvSpPr txBox="1"/>
          <p:nvPr/>
        </p:nvSpPr>
        <p:spPr>
          <a:xfrm>
            <a:off x="432000" y="5652000"/>
            <a:ext cx="11328119" cy="540000"/>
          </a:xfrm>
          <a:prstGeom prst="rect">
            <a:avLst/>
          </a:prstGeom>
          <a:noFill/>
        </p:spPr>
        <p:txBody>
          <a:bodyPr wrap="square" lIns="36000" rIns="36000" tIns="18000" bIns="18000" anchor="t">
            <a:spAutoFit/>
          </a:bodyPr>
          <a:lstStyle/>
          <a:p>
            <a:pPr algn="l">
              <a:lnSpc>
                <a:spcPct val="130000"/>
              </a:lnSpc>
            </a:pPr>
            <a:r>
              <a:rPr sz="1200" b="1" i="0">
                <a:solidFill>
                  <a:srgbClr val="142B4A"/>
                </a:solidFill>
                <a:latin typeface="Yu Gothic"/>
              </a:rPr>
              <a:t>▶ サ高住併設の居宅介護支援事業所では、経営インパクトが大きい。</a:t>
            </a:r>
          </a:p>
          <a:p>
            <a:pPr algn="l">
              <a:lnSpc>
                <a:spcPct val="130000"/>
              </a:lnSpc>
            </a:pPr>
            <a:r>
              <a:rPr sz="1200" b="1" i="0">
                <a:solidFill>
                  <a:srgbClr val="142B4A"/>
                </a:solidFill>
                <a:latin typeface="Yu Gothic"/>
              </a:rPr>
              <a:t>▶ R9 改定では更に強化される可能性 ― 公正中立性は継続論点。</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4. その他 R6 改定</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逓減制 ― ICT 活用 / 事務職員配置による緩和</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22 / 38</a:t>
            </a:r>
          </a:p>
        </p:txBody>
      </p:sp>
      <p:sp>
        <p:nvSpPr>
          <p:cNvPr id="8" name="Rectangle 7"/>
          <p:cNvSpPr/>
          <p:nvPr/>
        </p:nvSpPr>
        <p:spPr>
          <a:xfrm>
            <a:off x="432000" y="1620000"/>
            <a:ext cx="11304000" cy="360000"/>
          </a:xfrm>
          <a:prstGeom prst="rect">
            <a:avLst/>
          </a:prstGeom>
          <a:solidFill>
            <a:srgbClr val="375A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65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逓減制の基本構造</a:t>
            </a:r>
          </a:p>
        </p:txBody>
      </p:sp>
      <p:sp>
        <p:nvSpPr>
          <p:cNvPr id="10" name="Rectangle 9"/>
          <p:cNvSpPr/>
          <p:nvPr/>
        </p:nvSpPr>
        <p:spPr>
          <a:xfrm>
            <a:off x="432000" y="1980000"/>
            <a:ext cx="11304000" cy="90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2016000"/>
            <a:ext cx="11088000" cy="864000"/>
          </a:xfrm>
          <a:prstGeom prst="rect">
            <a:avLst/>
          </a:prstGeom>
          <a:noFill/>
        </p:spPr>
        <p:txBody>
          <a:bodyPr wrap="square" lIns="36000" rIns="36000" tIns="18000" bIns="18000" anchor="t">
            <a:spAutoFit/>
          </a:bodyPr>
          <a:lstStyle/>
          <a:p>
            <a:pPr algn="l"/>
            <a:r>
              <a:rPr sz="1300" b="0" i="0">
                <a:solidFill>
                  <a:srgbClr val="33383F"/>
                </a:solidFill>
                <a:latin typeface="Yu Gothic"/>
              </a:rPr>
              <a:t>■ 1人のCMが担当する利用者数が増えると、所定単位数を逓減</a:t>
            </a:r>
          </a:p>
          <a:p>
            <a:pPr algn="l"/>
            <a:r>
              <a:rPr sz="1300" b="0" i="0">
                <a:solidFill>
                  <a:srgbClr val="33383F"/>
                </a:solidFill>
                <a:latin typeface="Yu Gothic"/>
              </a:rPr>
              <a:t>■ ただし、ICT活用 または 事務職員配置 を行う事業所は、逓減の開始件数を緩和</a:t>
            </a:r>
          </a:p>
          <a:p>
            <a:pPr algn="l"/>
            <a:r>
              <a:rPr sz="1300" b="0" i="0">
                <a:solidFill>
                  <a:srgbClr val="33383F"/>
                </a:solidFill>
                <a:latin typeface="Yu Gothic"/>
              </a:rPr>
              <a:t>■ R6 改定で、ICT 活用要件の具体的な内容が明確化された</a:t>
            </a:r>
          </a:p>
        </p:txBody>
      </p:sp>
      <p:sp>
        <p:nvSpPr>
          <p:cNvPr id="12" name="Rectangle 11"/>
          <p:cNvSpPr/>
          <p:nvPr/>
        </p:nvSpPr>
        <p:spPr>
          <a:xfrm>
            <a:off x="432000" y="2951999"/>
            <a:ext cx="5580000" cy="3600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000" y="2987999"/>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ICT 活用要件 ― 何をすればよいか</a:t>
            </a:r>
          </a:p>
        </p:txBody>
      </p:sp>
      <p:sp>
        <p:nvSpPr>
          <p:cNvPr id="14" name="Rectangle 13"/>
          <p:cNvSpPr/>
          <p:nvPr/>
        </p:nvSpPr>
        <p:spPr>
          <a:xfrm>
            <a:off x="432000" y="3311999"/>
            <a:ext cx="5580000" cy="2700000"/>
          </a:xfrm>
          <a:prstGeom prst="rect">
            <a:avLst/>
          </a:prstGeom>
          <a:solidFill>
            <a:srgbClr val="E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000" y="3347999"/>
            <a:ext cx="5364000" cy="2664000"/>
          </a:xfrm>
          <a:prstGeom prst="rect">
            <a:avLst/>
          </a:prstGeom>
          <a:noFill/>
        </p:spPr>
        <p:txBody>
          <a:bodyPr wrap="square" lIns="36000" rIns="36000" tIns="18000" bIns="18000" anchor="t">
            <a:spAutoFit/>
          </a:bodyPr>
          <a:lstStyle/>
          <a:p>
            <a:pPr algn="l"/>
            <a:r>
              <a:rPr sz="1200" b="0" i="0">
                <a:solidFill>
                  <a:srgbClr val="33383F"/>
                </a:solidFill>
                <a:latin typeface="Yu Gothic"/>
              </a:rPr>
              <a:t>■ ケアプラン作成・記録・モニタリングの一連の業務</a:t>
            </a:r>
          </a:p>
          <a:p>
            <a:pPr algn="l"/>
            <a:r>
              <a:rPr sz="1200" b="0" i="0">
                <a:solidFill>
                  <a:srgbClr val="33383F"/>
                </a:solidFill>
                <a:latin typeface="Yu Gothic"/>
              </a:rPr>
              <a:t>   を支援するシステムの導入</a:t>
            </a:r>
          </a:p>
          <a:p>
            <a:pPr algn="l"/>
            <a:r>
              <a:rPr sz="1200" b="0" i="0">
                <a:solidFill>
                  <a:srgbClr val="33383F"/>
                </a:solidFill>
                <a:latin typeface="Yu Gothic"/>
              </a:rPr>
              <a:t/>
            </a:r>
          </a:p>
          <a:p>
            <a:pPr algn="l"/>
            <a:r>
              <a:rPr sz="1200" b="0" i="0">
                <a:solidFill>
                  <a:srgbClr val="33383F"/>
                </a:solidFill>
                <a:latin typeface="Yu Gothic"/>
              </a:rPr>
              <a:t>■ 例:</a:t>
            </a:r>
          </a:p>
          <a:p>
            <a:pPr algn="l"/>
            <a:r>
              <a:rPr sz="1200" b="0" i="0">
                <a:solidFill>
                  <a:srgbClr val="33383F"/>
                </a:solidFill>
                <a:latin typeface="Yu Gothic"/>
              </a:rPr>
              <a:t>   ・ケアプランデータ連携システム</a:t>
            </a:r>
          </a:p>
          <a:p>
            <a:pPr algn="l"/>
            <a:r>
              <a:rPr sz="1200" b="0" i="0">
                <a:solidFill>
                  <a:srgbClr val="33383F"/>
                </a:solidFill>
                <a:latin typeface="Yu Gothic"/>
              </a:rPr>
              <a:t>   ・記録のクラウド化(訪問先からの記録)</a:t>
            </a:r>
          </a:p>
          <a:p>
            <a:pPr algn="l"/>
            <a:r>
              <a:rPr sz="1200" b="0" i="0">
                <a:solidFill>
                  <a:srgbClr val="33383F"/>
                </a:solidFill>
                <a:latin typeface="Yu Gothic"/>
              </a:rPr>
              <a:t>   ・スケジュール管理ソフト</a:t>
            </a:r>
          </a:p>
          <a:p>
            <a:pPr algn="l"/>
            <a:r>
              <a:rPr sz="1200" b="0" i="0">
                <a:solidFill>
                  <a:srgbClr val="33383F"/>
                </a:solidFill>
                <a:latin typeface="Yu Gothic"/>
              </a:rPr>
              <a:t>   ・モバイル端末での情報共有</a:t>
            </a:r>
          </a:p>
          <a:p>
            <a:pPr algn="l"/>
            <a:r>
              <a:rPr sz="1200" b="0" i="0">
                <a:solidFill>
                  <a:srgbClr val="33383F"/>
                </a:solidFill>
                <a:latin typeface="Yu Gothic"/>
              </a:rPr>
              <a:t/>
            </a:r>
          </a:p>
          <a:p>
            <a:pPr algn="l"/>
            <a:r>
              <a:rPr sz="1200" b="0" i="0">
                <a:solidFill>
                  <a:srgbClr val="33383F"/>
                </a:solidFill>
                <a:latin typeface="Yu Gothic"/>
              </a:rPr>
              <a:t>■ システム導入だけでは不十分</a:t>
            </a:r>
          </a:p>
          <a:p>
            <a:pPr algn="l"/>
            <a:r>
              <a:rPr sz="1200" b="0" i="0">
                <a:solidFill>
                  <a:srgbClr val="33383F"/>
                </a:solidFill>
                <a:latin typeface="Yu Gothic"/>
              </a:rPr>
              <a:t>   実際に業務効率化に寄与している証跡が必要</a:t>
            </a:r>
          </a:p>
        </p:txBody>
      </p:sp>
      <p:sp>
        <p:nvSpPr>
          <p:cNvPr id="16" name="Rectangle 15"/>
          <p:cNvSpPr/>
          <p:nvPr/>
        </p:nvSpPr>
        <p:spPr>
          <a:xfrm>
            <a:off x="6300000" y="2951999"/>
            <a:ext cx="5400000" cy="360000"/>
          </a:xfrm>
          <a:prstGeom prst="rect">
            <a:avLst/>
          </a:prstGeom>
          <a:solidFill>
            <a:srgbClr val="E0A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2000" y="2987999"/>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事務職員配置要件</a:t>
            </a:r>
          </a:p>
        </p:txBody>
      </p:sp>
      <p:sp>
        <p:nvSpPr>
          <p:cNvPr id="18" name="Rectangle 17"/>
          <p:cNvSpPr/>
          <p:nvPr/>
        </p:nvSpPr>
        <p:spPr>
          <a:xfrm>
            <a:off x="6300000" y="3311999"/>
            <a:ext cx="5400000" cy="2700000"/>
          </a:xfrm>
          <a:prstGeom prst="rect">
            <a:avLst/>
          </a:prstGeom>
          <a:solidFill>
            <a:srgbClr val="FBF1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8000" y="3347999"/>
            <a:ext cx="5184000" cy="2664000"/>
          </a:xfrm>
          <a:prstGeom prst="rect">
            <a:avLst/>
          </a:prstGeom>
          <a:noFill/>
        </p:spPr>
        <p:txBody>
          <a:bodyPr wrap="square" lIns="36000" rIns="36000" tIns="18000" bIns="18000" anchor="t">
            <a:spAutoFit/>
          </a:bodyPr>
          <a:lstStyle/>
          <a:p>
            <a:pPr algn="l"/>
            <a:r>
              <a:rPr sz="1200" b="0" i="0">
                <a:solidFill>
                  <a:srgbClr val="33383F"/>
                </a:solidFill>
                <a:latin typeface="Yu Gothic"/>
              </a:rPr>
              <a:t>■ 常勤換算で一定割合の事務職員配置</a:t>
            </a:r>
          </a:p>
          <a:p>
            <a:pPr algn="l"/>
            <a:r>
              <a:rPr sz="1200" b="0" i="0">
                <a:solidFill>
                  <a:srgbClr val="33383F"/>
                </a:solidFill>
                <a:latin typeface="Yu Gothic"/>
              </a:rPr>
              <a:t/>
            </a:r>
          </a:p>
          <a:p>
            <a:pPr algn="l"/>
            <a:r>
              <a:rPr sz="1200" b="0" i="0">
                <a:solidFill>
                  <a:srgbClr val="33383F"/>
                </a:solidFill>
                <a:latin typeface="Yu Gothic"/>
              </a:rPr>
              <a:t>■ 事務職員が行う業務の例:</a:t>
            </a:r>
          </a:p>
          <a:p>
            <a:pPr algn="l"/>
            <a:r>
              <a:rPr sz="1200" b="0" i="0">
                <a:solidFill>
                  <a:srgbClr val="33383F"/>
                </a:solidFill>
                <a:latin typeface="Yu Gothic"/>
              </a:rPr>
              <a:t>   ・利用者ファイルの管理</a:t>
            </a:r>
          </a:p>
          <a:p>
            <a:pPr algn="l"/>
            <a:r>
              <a:rPr sz="1200" b="0" i="0">
                <a:solidFill>
                  <a:srgbClr val="33383F"/>
                </a:solidFill>
                <a:latin typeface="Yu Gothic"/>
              </a:rPr>
              <a:t>   ・請求業務</a:t>
            </a:r>
          </a:p>
          <a:p>
            <a:pPr algn="l"/>
            <a:r>
              <a:rPr sz="1200" b="0" i="0">
                <a:solidFill>
                  <a:srgbClr val="33383F"/>
                </a:solidFill>
                <a:latin typeface="Yu Gothic"/>
              </a:rPr>
              <a:t>   ・各種書類の作成補助</a:t>
            </a:r>
          </a:p>
          <a:p>
            <a:pPr algn="l"/>
            <a:r>
              <a:rPr sz="1200" b="0" i="0">
                <a:solidFill>
                  <a:srgbClr val="33383F"/>
                </a:solidFill>
                <a:latin typeface="Yu Gothic"/>
              </a:rPr>
              <a:t>   ・電話応対・予約調整</a:t>
            </a:r>
          </a:p>
          <a:p>
            <a:pPr algn="l"/>
            <a:r>
              <a:rPr sz="1200" b="0" i="0">
                <a:solidFill>
                  <a:srgbClr val="33383F"/>
                </a:solidFill>
                <a:latin typeface="Yu Gothic"/>
              </a:rPr>
              <a:t/>
            </a:r>
          </a:p>
          <a:p>
            <a:pPr algn="l"/>
            <a:r>
              <a:rPr sz="1200" b="0" i="0">
                <a:solidFill>
                  <a:srgbClr val="33383F"/>
                </a:solidFill>
                <a:latin typeface="Yu Gothic"/>
              </a:rPr>
              <a:t>■ CMが本来業務に集中できる体制を作る</a:t>
            </a:r>
          </a:p>
          <a:p>
            <a:pPr algn="l"/>
            <a:r>
              <a:rPr sz="1200" b="0" i="0">
                <a:solidFill>
                  <a:srgbClr val="33383F"/>
                </a:solidFill>
                <a:latin typeface="Yu Gothic"/>
              </a:rPr>
              <a:t/>
            </a:r>
          </a:p>
          <a:p>
            <a:pPr algn="l"/>
            <a:r>
              <a:rPr sz="1200" b="0" i="0">
                <a:solidFill>
                  <a:srgbClr val="33383F"/>
                </a:solidFill>
                <a:latin typeface="Yu Gothic"/>
              </a:rPr>
              <a:t>■ 業務分担表の整備が望ましい</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4. その他 R6 改定</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BCP / 虐待防止 ― 経過措置終了後の本格運用</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23 / 38</a:t>
            </a:r>
          </a:p>
        </p:txBody>
      </p:sp>
      <p:sp>
        <p:nvSpPr>
          <p:cNvPr id="8" name="Rectangle 7"/>
          <p:cNvSpPr/>
          <p:nvPr/>
        </p:nvSpPr>
        <p:spPr>
          <a:xfrm>
            <a:off x="432000" y="1620000"/>
            <a:ext cx="5580000" cy="360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656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BCP (業務継続計画)</a:t>
            </a:r>
          </a:p>
        </p:txBody>
      </p:sp>
      <p:sp>
        <p:nvSpPr>
          <p:cNvPr id="10" name="Rectangle 9"/>
          <p:cNvSpPr/>
          <p:nvPr/>
        </p:nvSpPr>
        <p:spPr>
          <a:xfrm>
            <a:off x="432000" y="1980000"/>
            <a:ext cx="5580000" cy="1800000"/>
          </a:xfrm>
          <a:prstGeom prst="rect">
            <a:avLst/>
          </a:prstGeom>
          <a:solidFill>
            <a:srgbClr val="FB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2016000"/>
            <a:ext cx="5364000" cy="1764000"/>
          </a:xfrm>
          <a:prstGeom prst="rect">
            <a:avLst/>
          </a:prstGeom>
          <a:noFill/>
        </p:spPr>
        <p:txBody>
          <a:bodyPr wrap="square" lIns="36000" rIns="36000" tIns="18000" bIns="18000" anchor="t">
            <a:spAutoFit/>
          </a:bodyPr>
          <a:lstStyle/>
          <a:p>
            <a:pPr algn="l"/>
            <a:r>
              <a:rPr sz="1200" b="0" i="0">
                <a:solidFill>
                  <a:srgbClr val="33383F"/>
                </a:solidFill>
                <a:latin typeface="Yu Gothic"/>
              </a:rPr>
              <a:t>■ 感染症 + 自然災害の双方を網羅</a:t>
            </a:r>
          </a:p>
          <a:p>
            <a:pPr algn="l"/>
            <a:r>
              <a:rPr sz="1200" b="0" i="0">
                <a:solidFill>
                  <a:srgbClr val="33383F"/>
                </a:solidFill>
                <a:latin typeface="Yu Gothic"/>
              </a:rPr>
              <a:t/>
            </a:r>
          </a:p>
          <a:p>
            <a:pPr algn="l"/>
            <a:r>
              <a:rPr sz="1200" b="0" i="0">
                <a:solidFill>
                  <a:srgbClr val="33383F"/>
                </a:solidFill>
                <a:latin typeface="Yu Gothic"/>
              </a:rPr>
              <a:t>■ 必要な構成要素</a:t>
            </a:r>
          </a:p>
          <a:p>
            <a:pPr algn="l"/>
            <a:r>
              <a:rPr sz="1200" b="0" i="0">
                <a:solidFill>
                  <a:srgbClr val="33383F"/>
                </a:solidFill>
                <a:latin typeface="Yu Gothic"/>
              </a:rPr>
              <a:t>   ・基本方針 / 推進体制</a:t>
            </a:r>
          </a:p>
          <a:p>
            <a:pPr algn="l"/>
            <a:r>
              <a:rPr sz="1200" b="0" i="0">
                <a:solidFill>
                  <a:srgbClr val="33383F"/>
                </a:solidFill>
                <a:latin typeface="Yu Gothic"/>
              </a:rPr>
              <a:t>   ・リスクの把握 / 優先業務の選定</a:t>
            </a:r>
          </a:p>
          <a:p>
            <a:pPr algn="l"/>
            <a:r>
              <a:rPr sz="1200" b="0" i="0">
                <a:solidFill>
                  <a:srgbClr val="33383F"/>
                </a:solidFill>
                <a:latin typeface="Yu Gothic"/>
              </a:rPr>
              <a:t>   ・必要な人員・物資・設備の確保</a:t>
            </a:r>
          </a:p>
          <a:p>
            <a:pPr algn="l"/>
            <a:r>
              <a:rPr sz="1200" b="0" i="0">
                <a:solidFill>
                  <a:srgbClr val="33383F"/>
                </a:solidFill>
                <a:latin typeface="Yu Gothic"/>
              </a:rPr>
              <a:t>   ・職員の訓練・研修</a:t>
            </a:r>
          </a:p>
          <a:p>
            <a:pPr algn="l"/>
            <a:r>
              <a:rPr sz="1200" b="0" i="0">
                <a:solidFill>
                  <a:srgbClr val="33383F"/>
                </a:solidFill>
                <a:latin typeface="Yu Gothic"/>
              </a:rPr>
              <a:t/>
            </a:r>
          </a:p>
          <a:p>
            <a:pPr algn="l"/>
            <a:r>
              <a:rPr sz="1200" b="0" i="0">
                <a:solidFill>
                  <a:srgbClr val="33383F"/>
                </a:solidFill>
                <a:latin typeface="Yu Gothic"/>
              </a:rPr>
              <a:t>■ 年 1 回以上の研修・訓練 と 計画の見直し</a:t>
            </a:r>
          </a:p>
          <a:p>
            <a:pPr algn="l"/>
            <a:r>
              <a:rPr sz="1200" b="0" i="0">
                <a:solidFill>
                  <a:srgbClr val="33383F"/>
                </a:solidFill>
                <a:latin typeface="Yu Gothic"/>
              </a:rPr>
              <a:t/>
            </a:r>
          </a:p>
          <a:p>
            <a:pPr algn="l"/>
            <a:r>
              <a:rPr sz="1200" b="0" i="0">
                <a:solidFill>
                  <a:srgbClr val="33383F"/>
                </a:solidFill>
                <a:latin typeface="Yu Gothic"/>
              </a:rPr>
              <a:t>■ 未策定は減算対象(経過措置終了後)</a:t>
            </a:r>
          </a:p>
        </p:txBody>
      </p:sp>
      <p:sp>
        <p:nvSpPr>
          <p:cNvPr id="12" name="Rectangle 11"/>
          <p:cNvSpPr/>
          <p:nvPr/>
        </p:nvSpPr>
        <p:spPr>
          <a:xfrm>
            <a:off x="6300000" y="1620000"/>
            <a:ext cx="5400000" cy="360000"/>
          </a:xfrm>
          <a:prstGeom prst="rect">
            <a:avLst/>
          </a:prstGeom>
          <a:solidFill>
            <a:srgbClr val="E0A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2000" y="1656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高齢者虐待防止</a:t>
            </a:r>
          </a:p>
        </p:txBody>
      </p:sp>
      <p:sp>
        <p:nvSpPr>
          <p:cNvPr id="14" name="Rectangle 13"/>
          <p:cNvSpPr/>
          <p:nvPr/>
        </p:nvSpPr>
        <p:spPr>
          <a:xfrm>
            <a:off x="6300000" y="1980000"/>
            <a:ext cx="5400000" cy="1800000"/>
          </a:xfrm>
          <a:prstGeom prst="rect">
            <a:avLst/>
          </a:prstGeom>
          <a:solidFill>
            <a:srgbClr val="FBF1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8000" y="2016000"/>
            <a:ext cx="5184000" cy="1764000"/>
          </a:xfrm>
          <a:prstGeom prst="rect">
            <a:avLst/>
          </a:prstGeom>
          <a:noFill/>
        </p:spPr>
        <p:txBody>
          <a:bodyPr wrap="square" lIns="36000" rIns="36000" tIns="18000" bIns="18000" anchor="t">
            <a:spAutoFit/>
          </a:bodyPr>
          <a:lstStyle/>
          <a:p>
            <a:pPr algn="l"/>
            <a:r>
              <a:rPr sz="1200" b="0" i="0">
                <a:solidFill>
                  <a:srgbClr val="33383F"/>
                </a:solidFill>
                <a:latin typeface="Yu Gothic"/>
              </a:rPr>
              <a:t>■ 委員会の設置・指針の整備・研修の実施</a:t>
            </a:r>
          </a:p>
          <a:p>
            <a:pPr algn="l"/>
            <a:r>
              <a:rPr sz="1200" b="0" i="0">
                <a:solidFill>
                  <a:srgbClr val="33383F"/>
                </a:solidFill>
                <a:latin typeface="Yu Gothic"/>
              </a:rPr>
              <a:t>   ・担当者の選定が必須</a:t>
            </a:r>
          </a:p>
          <a:p>
            <a:pPr algn="l"/>
            <a:r>
              <a:rPr sz="1200" b="0" i="0">
                <a:solidFill>
                  <a:srgbClr val="33383F"/>
                </a:solidFill>
                <a:latin typeface="Yu Gothic"/>
              </a:rPr>
              <a:t/>
            </a:r>
          </a:p>
          <a:p>
            <a:pPr algn="l"/>
            <a:r>
              <a:rPr sz="1200" b="0" i="0">
                <a:solidFill>
                  <a:srgbClr val="33383F"/>
                </a:solidFill>
                <a:latin typeface="Yu Gothic"/>
              </a:rPr>
              <a:t>■ 利用者からの相談窓口の周知</a:t>
            </a:r>
          </a:p>
          <a:p>
            <a:pPr algn="l"/>
            <a:r>
              <a:rPr sz="1200" b="0" i="0">
                <a:solidFill>
                  <a:srgbClr val="33383F"/>
                </a:solidFill>
                <a:latin typeface="Yu Gothic"/>
              </a:rPr>
              <a:t/>
            </a:r>
          </a:p>
          <a:p>
            <a:pPr algn="l"/>
            <a:r>
              <a:rPr sz="1200" b="0" i="0">
                <a:solidFill>
                  <a:srgbClr val="33383F"/>
                </a:solidFill>
                <a:latin typeface="Yu Gothic"/>
              </a:rPr>
              <a:t>■ 養介護施設従事者等による虐待 + 養護者</a:t>
            </a:r>
          </a:p>
          <a:p>
            <a:pPr algn="l"/>
            <a:r>
              <a:rPr sz="1200" b="0" i="0">
                <a:solidFill>
                  <a:srgbClr val="33383F"/>
                </a:solidFill>
                <a:latin typeface="Yu Gothic"/>
              </a:rPr>
              <a:t>   による虐待、両方への対応体制</a:t>
            </a:r>
          </a:p>
          <a:p>
            <a:pPr algn="l"/>
            <a:r>
              <a:rPr sz="1200" b="0" i="0">
                <a:solidFill>
                  <a:srgbClr val="33383F"/>
                </a:solidFill>
                <a:latin typeface="Yu Gothic"/>
              </a:rPr>
              <a:t/>
            </a:r>
          </a:p>
          <a:p>
            <a:pPr algn="l"/>
            <a:r>
              <a:rPr sz="1200" b="0" i="0">
                <a:solidFill>
                  <a:srgbClr val="33383F"/>
                </a:solidFill>
                <a:latin typeface="Yu Gothic"/>
              </a:rPr>
              <a:t>■ 通報義務(法律)を職員全員が理解</a:t>
            </a:r>
          </a:p>
          <a:p>
            <a:pPr algn="l"/>
            <a:r>
              <a:rPr sz="1200" b="0" i="0">
                <a:solidFill>
                  <a:srgbClr val="33383F"/>
                </a:solidFill>
                <a:latin typeface="Yu Gothic"/>
              </a:rPr>
              <a:t/>
            </a:r>
          </a:p>
          <a:p>
            <a:pPr algn="l"/>
            <a:r>
              <a:rPr sz="1200" b="0" i="0">
                <a:solidFill>
                  <a:srgbClr val="33383F"/>
                </a:solidFill>
                <a:latin typeface="Yu Gothic"/>
              </a:rPr>
              <a:t>■ 未整備は減算対象</a:t>
            </a:r>
          </a:p>
        </p:txBody>
      </p:sp>
      <p:sp>
        <p:nvSpPr>
          <p:cNvPr id="16" name="Rectangle 15"/>
          <p:cNvSpPr/>
          <p:nvPr/>
        </p:nvSpPr>
        <p:spPr>
          <a:xfrm>
            <a:off x="432000" y="3960000"/>
            <a:ext cx="11304000" cy="360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4000" y="399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主任CMが事業所内で取りまとめる役割</a:t>
            </a:r>
          </a:p>
        </p:txBody>
      </p:sp>
      <p:sp>
        <p:nvSpPr>
          <p:cNvPr id="18" name="Rectangle 17"/>
          <p:cNvSpPr/>
          <p:nvPr/>
        </p:nvSpPr>
        <p:spPr>
          <a:xfrm>
            <a:off x="432000" y="4320000"/>
            <a:ext cx="11304000" cy="180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0000" y="4356000"/>
            <a:ext cx="11088000" cy="1764000"/>
          </a:xfrm>
          <a:prstGeom prst="rect">
            <a:avLst/>
          </a:prstGeom>
          <a:noFill/>
        </p:spPr>
        <p:txBody>
          <a:bodyPr wrap="square" lIns="36000" rIns="36000" tIns="18000" bIns="18000" anchor="t">
            <a:spAutoFit/>
          </a:bodyPr>
          <a:lstStyle/>
          <a:p>
            <a:pPr algn="l"/>
            <a:r>
              <a:rPr sz="1300" b="0" i="0">
                <a:solidFill>
                  <a:srgbClr val="33383F"/>
                </a:solidFill>
                <a:latin typeface="Yu Gothic"/>
              </a:rPr>
              <a:t>■ BCP の「絵に描いた餅」化を防ぐ ― 訓練後の振り返り・改善のサイクルを回す</a:t>
            </a:r>
          </a:p>
          <a:p>
            <a:pPr algn="l"/>
            <a:r>
              <a:rPr sz="1300" b="0" i="0">
                <a:solidFill>
                  <a:srgbClr val="33383F"/>
                </a:solidFill>
                <a:latin typeface="Yu Gothic"/>
              </a:rPr>
              <a:t/>
            </a:r>
          </a:p>
          <a:p>
            <a:pPr algn="l"/>
            <a:r>
              <a:rPr sz="1300" b="0" i="0">
                <a:solidFill>
                  <a:srgbClr val="33383F"/>
                </a:solidFill>
                <a:latin typeface="Yu Gothic"/>
              </a:rPr>
              <a:t>■ 虐待防止委員会の事例検討で、後輩CMが「気になるサイン」を共有できる文化を作る</a:t>
            </a:r>
          </a:p>
          <a:p>
            <a:pPr algn="l"/>
            <a:r>
              <a:rPr sz="1300" b="0" i="0">
                <a:solidFill>
                  <a:srgbClr val="33383F"/>
                </a:solidFill>
                <a:latin typeface="Yu Gothic"/>
              </a:rPr>
              <a:t/>
            </a:r>
          </a:p>
          <a:p>
            <a:pPr algn="l"/>
            <a:r>
              <a:rPr sz="1300" b="0" i="0">
                <a:solidFill>
                  <a:srgbClr val="33383F"/>
                </a:solidFill>
                <a:latin typeface="Yu Gothic"/>
              </a:rPr>
              <a:t>■ 介護現場のハラスメント(利用者・家族から職員へ)も含めた相談窓口の機能化</a:t>
            </a:r>
          </a:p>
          <a:p>
            <a:pPr algn="l"/>
            <a:r>
              <a:rPr sz="1300" b="0" i="0">
                <a:solidFill>
                  <a:srgbClr val="33383F"/>
                </a:solidFill>
                <a:latin typeface="Yu Gothic"/>
              </a:rPr>
              <a:t/>
            </a:r>
          </a:p>
          <a:p>
            <a:pPr algn="l"/>
            <a:r>
              <a:rPr sz="1300" b="0" i="0">
                <a:solidFill>
                  <a:srgbClr val="33383F"/>
                </a:solidFill>
                <a:latin typeface="Yu Gothic"/>
              </a:rPr>
              <a:t>■ 経過措置終了後、減算事業所として指摘を受けないための内部点検を年度初めに実施</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4. その他 R6 改定</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入退院時連携加算 ・ 通院時情報連携加算</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24 / 38</a:t>
            </a:r>
          </a:p>
        </p:txBody>
      </p:sp>
      <p:sp>
        <p:nvSpPr>
          <p:cNvPr id="8" name="Rectangle 7"/>
          <p:cNvSpPr/>
          <p:nvPr/>
        </p:nvSpPr>
        <p:spPr>
          <a:xfrm>
            <a:off x="432000" y="1620000"/>
            <a:ext cx="5580000" cy="360000"/>
          </a:xfrm>
          <a:prstGeom prst="rect">
            <a:avLst/>
          </a:prstGeom>
          <a:solidFill>
            <a:srgbClr val="375A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656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入院時情報連携加算</a:t>
            </a:r>
          </a:p>
        </p:txBody>
      </p:sp>
      <p:sp>
        <p:nvSpPr>
          <p:cNvPr id="10" name="Rectangle 9"/>
          <p:cNvSpPr/>
          <p:nvPr/>
        </p:nvSpPr>
        <p:spPr>
          <a:xfrm>
            <a:off x="432000" y="1980000"/>
            <a:ext cx="5580000" cy="198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2016000"/>
            <a:ext cx="5364000" cy="1944000"/>
          </a:xfrm>
          <a:prstGeom prst="rect">
            <a:avLst/>
          </a:prstGeom>
          <a:noFill/>
        </p:spPr>
        <p:txBody>
          <a:bodyPr wrap="square" lIns="36000" rIns="36000" tIns="18000" bIns="18000" anchor="t">
            <a:spAutoFit/>
          </a:bodyPr>
          <a:lstStyle/>
          <a:p>
            <a:pPr algn="l"/>
            <a:r>
              <a:rPr sz="1200" b="0" i="0">
                <a:solidFill>
                  <a:srgbClr val="33383F"/>
                </a:solidFill>
                <a:latin typeface="Yu Gothic"/>
              </a:rPr>
              <a:t>■ 利用者が入院した際、医療機関へ</a:t>
            </a:r>
          </a:p>
          <a:p>
            <a:pPr algn="l"/>
            <a:r>
              <a:rPr sz="1200" b="0" i="0">
                <a:solidFill>
                  <a:srgbClr val="33383F"/>
                </a:solidFill>
                <a:latin typeface="Yu Gothic"/>
              </a:rPr>
              <a:t>   利用者情報を提供することで算定</a:t>
            </a:r>
          </a:p>
          <a:p>
            <a:pPr algn="l"/>
            <a:r>
              <a:rPr sz="1200" b="0" i="0">
                <a:solidFill>
                  <a:srgbClr val="33383F"/>
                </a:solidFill>
                <a:latin typeface="Yu Gothic"/>
              </a:rPr>
              <a:t/>
            </a:r>
          </a:p>
          <a:p>
            <a:pPr algn="l"/>
            <a:r>
              <a:rPr sz="1200" b="0" i="0">
                <a:solidFill>
                  <a:srgbClr val="33383F"/>
                </a:solidFill>
                <a:latin typeface="Yu Gothic"/>
              </a:rPr>
              <a:t>■ R6 改定での区分整理</a:t>
            </a:r>
          </a:p>
          <a:p>
            <a:pPr algn="l"/>
            <a:r>
              <a:rPr sz="1200" b="0" i="0">
                <a:solidFill>
                  <a:srgbClr val="33383F"/>
                </a:solidFill>
                <a:latin typeface="Yu Gothic"/>
              </a:rPr>
              <a:t>   ・入院後 3 日以内に情報提供</a:t>
            </a:r>
          </a:p>
          <a:p>
            <a:pPr algn="l"/>
            <a:r>
              <a:rPr sz="1200" b="0" i="0">
                <a:solidFill>
                  <a:srgbClr val="33383F"/>
                </a:solidFill>
                <a:latin typeface="Yu Gothic"/>
              </a:rPr>
              <a:t>   ・上記より遅い情報提供</a:t>
            </a:r>
          </a:p>
          <a:p>
            <a:pPr algn="l"/>
            <a:r>
              <a:rPr sz="1200" b="0" i="0">
                <a:solidFill>
                  <a:srgbClr val="33383F"/>
                </a:solidFill>
                <a:latin typeface="Yu Gothic"/>
              </a:rPr>
              <a:t>   の区分整理(評価に差)</a:t>
            </a:r>
          </a:p>
          <a:p>
            <a:pPr algn="l"/>
            <a:r>
              <a:rPr sz="1200" b="0" i="0">
                <a:solidFill>
                  <a:srgbClr val="33383F"/>
                </a:solidFill>
                <a:latin typeface="Yu Gothic"/>
              </a:rPr>
              <a:t/>
            </a:r>
          </a:p>
          <a:p>
            <a:pPr algn="l"/>
            <a:r>
              <a:rPr sz="1200" b="0" i="0">
                <a:solidFill>
                  <a:srgbClr val="33383F"/>
                </a:solidFill>
                <a:latin typeface="Yu Gothic"/>
              </a:rPr>
              <a:t>■ 「面談」または「文書/電子的方法」での提供</a:t>
            </a:r>
          </a:p>
          <a:p>
            <a:pPr algn="l"/>
            <a:r>
              <a:rPr sz="1200" b="0" i="0">
                <a:solidFill>
                  <a:srgbClr val="33383F"/>
                </a:solidFill>
                <a:latin typeface="Yu Gothic"/>
              </a:rPr>
              <a:t/>
            </a:r>
          </a:p>
          <a:p>
            <a:pPr algn="l"/>
            <a:r>
              <a:rPr sz="1200" b="0" i="0">
                <a:solidFill>
                  <a:srgbClr val="33383F"/>
                </a:solidFill>
                <a:latin typeface="Yu Gothic"/>
              </a:rPr>
              <a:t>■ 情報提供日と方法を必ず記録</a:t>
            </a:r>
          </a:p>
          <a:p>
            <a:pPr algn="l"/>
            <a:r>
              <a:rPr sz="1200" b="0" i="0">
                <a:solidFill>
                  <a:srgbClr val="33383F"/>
                </a:solidFill>
                <a:latin typeface="Yu Gothic"/>
              </a:rPr>
              <a:t>   (相手の受領サインがあるとなお良い)</a:t>
            </a:r>
          </a:p>
        </p:txBody>
      </p:sp>
      <p:sp>
        <p:nvSpPr>
          <p:cNvPr id="12" name="Rectangle 11"/>
          <p:cNvSpPr/>
          <p:nvPr/>
        </p:nvSpPr>
        <p:spPr>
          <a:xfrm>
            <a:off x="6300000" y="1620000"/>
            <a:ext cx="5400000" cy="3600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2000" y="1656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通院時情報連携加算</a:t>
            </a:r>
          </a:p>
        </p:txBody>
      </p:sp>
      <p:sp>
        <p:nvSpPr>
          <p:cNvPr id="14" name="Rectangle 13"/>
          <p:cNvSpPr/>
          <p:nvPr/>
        </p:nvSpPr>
        <p:spPr>
          <a:xfrm>
            <a:off x="6300000" y="1980000"/>
            <a:ext cx="5400000" cy="1980000"/>
          </a:xfrm>
          <a:prstGeom prst="rect">
            <a:avLst/>
          </a:prstGeom>
          <a:solidFill>
            <a:srgbClr val="E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8000" y="2016000"/>
            <a:ext cx="5184000" cy="1944000"/>
          </a:xfrm>
          <a:prstGeom prst="rect">
            <a:avLst/>
          </a:prstGeom>
          <a:noFill/>
        </p:spPr>
        <p:txBody>
          <a:bodyPr wrap="square" lIns="36000" rIns="36000" tIns="18000" bIns="18000" anchor="t">
            <a:spAutoFit/>
          </a:bodyPr>
          <a:lstStyle/>
          <a:p>
            <a:pPr algn="l"/>
            <a:r>
              <a:rPr sz="1200" b="0" i="0">
                <a:solidFill>
                  <a:srgbClr val="33383F"/>
                </a:solidFill>
                <a:latin typeface="Yu Gothic"/>
              </a:rPr>
              <a:t>■ CM が利用者の通院に同行し、医師等</a:t>
            </a:r>
          </a:p>
          <a:p>
            <a:pPr algn="l"/>
            <a:r>
              <a:rPr sz="1200" b="0" i="0">
                <a:solidFill>
                  <a:srgbClr val="33383F"/>
                </a:solidFill>
                <a:latin typeface="Yu Gothic"/>
              </a:rPr>
              <a:t>   と情報共有することで算定</a:t>
            </a:r>
          </a:p>
          <a:p>
            <a:pPr algn="l"/>
            <a:r>
              <a:rPr sz="1200" b="0" i="0">
                <a:solidFill>
                  <a:srgbClr val="33383F"/>
                </a:solidFill>
                <a:latin typeface="Yu Gothic"/>
              </a:rPr>
              <a:t/>
            </a:r>
          </a:p>
          <a:p>
            <a:pPr algn="l"/>
            <a:r>
              <a:rPr sz="1200" b="0" i="0">
                <a:solidFill>
                  <a:srgbClr val="33383F"/>
                </a:solidFill>
                <a:latin typeface="Yu Gothic"/>
              </a:rPr>
              <a:t>■ 算定要件</a:t>
            </a:r>
          </a:p>
          <a:p>
            <a:pPr algn="l"/>
            <a:r>
              <a:rPr sz="1200" b="0" i="0">
                <a:solidFill>
                  <a:srgbClr val="33383F"/>
                </a:solidFill>
                <a:latin typeface="Yu Gothic"/>
              </a:rPr>
              <a:t>   ・利用者・家族の同意</a:t>
            </a:r>
          </a:p>
          <a:p>
            <a:pPr algn="l"/>
            <a:r>
              <a:rPr sz="1200" b="0" i="0">
                <a:solidFill>
                  <a:srgbClr val="33383F"/>
                </a:solidFill>
                <a:latin typeface="Yu Gothic"/>
              </a:rPr>
              <a:t>   ・通院同席または医師との情報共有</a:t>
            </a:r>
          </a:p>
          <a:p>
            <a:pPr algn="l"/>
            <a:r>
              <a:rPr sz="1200" b="0" i="0">
                <a:solidFill>
                  <a:srgbClr val="33383F"/>
                </a:solidFill>
                <a:latin typeface="Yu Gothic"/>
              </a:rPr>
              <a:t>   ・記録(医師に伝達した内容・指示の受領)</a:t>
            </a:r>
          </a:p>
          <a:p>
            <a:pPr algn="l"/>
            <a:r>
              <a:rPr sz="1200" b="0" i="0">
                <a:solidFill>
                  <a:srgbClr val="33383F"/>
                </a:solidFill>
                <a:latin typeface="Yu Gothic"/>
              </a:rPr>
              <a:t/>
            </a:r>
          </a:p>
          <a:p>
            <a:pPr algn="l"/>
            <a:r>
              <a:rPr sz="1200" b="0" i="0">
                <a:solidFill>
                  <a:srgbClr val="33383F"/>
                </a:solidFill>
                <a:latin typeface="Yu Gothic"/>
              </a:rPr>
              <a:t>■ 頻度の上限あり(月 1 回等)</a:t>
            </a:r>
          </a:p>
          <a:p>
            <a:pPr algn="l"/>
            <a:r>
              <a:rPr sz="1200" b="0" i="0">
                <a:solidFill>
                  <a:srgbClr val="33383F"/>
                </a:solidFill>
                <a:latin typeface="Yu Gothic"/>
              </a:rPr>
              <a:t/>
            </a:r>
          </a:p>
          <a:p>
            <a:pPr algn="l"/>
            <a:r>
              <a:rPr sz="1200" b="0" i="0">
                <a:solidFill>
                  <a:srgbClr val="33383F"/>
                </a:solidFill>
                <a:latin typeface="Yu Gothic"/>
              </a:rPr>
              <a:t>■ 認知症ケース・複数科受診ケースで</a:t>
            </a:r>
          </a:p>
          <a:p>
            <a:pPr algn="l"/>
            <a:r>
              <a:rPr sz="1200" b="0" i="0">
                <a:solidFill>
                  <a:srgbClr val="33383F"/>
                </a:solidFill>
                <a:latin typeface="Yu Gothic"/>
              </a:rPr>
              <a:t>   活用余地が大きい</a:t>
            </a:r>
          </a:p>
        </p:txBody>
      </p:sp>
      <p:sp>
        <p:nvSpPr>
          <p:cNvPr id="16" name="Rectangle 15"/>
          <p:cNvSpPr/>
          <p:nvPr/>
        </p:nvSpPr>
        <p:spPr>
          <a:xfrm>
            <a:off x="432000" y="4140000"/>
            <a:ext cx="11304000" cy="360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4000" y="417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算定漏れを防ぐコツ</a:t>
            </a:r>
          </a:p>
        </p:txBody>
      </p:sp>
      <p:sp>
        <p:nvSpPr>
          <p:cNvPr id="18" name="Rectangle 17"/>
          <p:cNvSpPr/>
          <p:nvPr/>
        </p:nvSpPr>
        <p:spPr>
          <a:xfrm>
            <a:off x="432000" y="4500000"/>
            <a:ext cx="11304000" cy="162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0000" y="4536000"/>
            <a:ext cx="11088000" cy="1584000"/>
          </a:xfrm>
          <a:prstGeom prst="rect">
            <a:avLst/>
          </a:prstGeom>
          <a:noFill/>
        </p:spPr>
        <p:txBody>
          <a:bodyPr wrap="square" lIns="36000" rIns="36000" tIns="18000" bIns="18000" anchor="t">
            <a:spAutoFit/>
          </a:bodyPr>
          <a:lstStyle/>
          <a:p>
            <a:pPr algn="l"/>
            <a:r>
              <a:rPr sz="1300" b="0" i="0">
                <a:solidFill>
                  <a:srgbClr val="33383F"/>
                </a:solidFill>
                <a:latin typeface="Yu Gothic"/>
              </a:rPr>
              <a:t>■ 入院連絡を受けたら、その場で「3 日以内に情報提供」をタスク化 ― 期限管理が命</a:t>
            </a:r>
          </a:p>
          <a:p>
            <a:pPr algn="l"/>
            <a:r>
              <a:rPr sz="1300" b="0" i="0">
                <a:solidFill>
                  <a:srgbClr val="33383F"/>
                </a:solidFill>
                <a:latin typeface="Yu Gothic"/>
              </a:rPr>
              <a:t>■ 通院同行は、家族からの依頼ベースで日常化しているケースが多い ― 算定可能性を再点検</a:t>
            </a:r>
          </a:p>
          <a:p>
            <a:pPr algn="l"/>
            <a:r>
              <a:rPr sz="1300" b="0" i="0">
                <a:solidFill>
                  <a:srgbClr val="33383F"/>
                </a:solidFill>
                <a:latin typeface="Yu Gothic"/>
              </a:rPr>
              <a:t>■ 「やったけど算定していない」を年度末に棚卸し ― 主任CMの仕事として位置づける</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4. その他 R6 改定</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LIFE と居宅介護支援 ― 「次の波」への準備</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25 / 38</a:t>
            </a:r>
          </a:p>
        </p:txBody>
      </p:sp>
      <p:sp>
        <p:nvSpPr>
          <p:cNvPr id="8" name="Rectangle 7"/>
          <p:cNvSpPr/>
          <p:nvPr/>
        </p:nvSpPr>
        <p:spPr>
          <a:xfrm>
            <a:off x="432000" y="1620000"/>
            <a:ext cx="11304000" cy="360000"/>
          </a:xfrm>
          <a:prstGeom prst="rect">
            <a:avLst/>
          </a:prstGeom>
          <a:solidFill>
            <a:srgbClr val="375A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65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現状(R6 時点)</a:t>
            </a:r>
          </a:p>
        </p:txBody>
      </p:sp>
      <p:sp>
        <p:nvSpPr>
          <p:cNvPr id="10" name="Rectangle 9"/>
          <p:cNvSpPr/>
          <p:nvPr/>
        </p:nvSpPr>
        <p:spPr>
          <a:xfrm>
            <a:off x="432000" y="1980000"/>
            <a:ext cx="11304000" cy="90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2016000"/>
            <a:ext cx="11088000" cy="864000"/>
          </a:xfrm>
          <a:prstGeom prst="rect">
            <a:avLst/>
          </a:prstGeom>
          <a:noFill/>
        </p:spPr>
        <p:txBody>
          <a:bodyPr wrap="square" lIns="36000" rIns="36000" tIns="18000" bIns="18000" anchor="t">
            <a:spAutoFit/>
          </a:bodyPr>
          <a:lstStyle/>
          <a:p>
            <a:pPr algn="l"/>
            <a:r>
              <a:rPr sz="1300" b="0" i="0">
                <a:solidFill>
                  <a:srgbClr val="33383F"/>
                </a:solidFill>
                <a:latin typeface="Yu Gothic"/>
              </a:rPr>
              <a:t>■ 居宅介護支援は LIFE 提出 を直接の加算要件としていない</a:t>
            </a:r>
          </a:p>
          <a:p>
            <a:pPr algn="l"/>
            <a:r>
              <a:rPr sz="1300" b="0" i="0">
                <a:solidFill>
                  <a:srgbClr val="33383F"/>
                </a:solidFill>
                <a:latin typeface="Yu Gothic"/>
              </a:rPr>
              <a:t>■ ただし、サービス事業所(訪問介護・通所介護等)では LIFE 連動の加算が拡大</a:t>
            </a:r>
          </a:p>
          <a:p>
            <a:pPr algn="l"/>
            <a:r>
              <a:rPr sz="1300" b="0" i="0">
                <a:solidFill>
                  <a:srgbClr val="33383F"/>
                </a:solidFill>
                <a:latin typeface="Yu Gothic"/>
              </a:rPr>
              <a:t>■ CMは、各サービス事業所からの LIFE フィードバックを ケアプランに反映 する責務</a:t>
            </a:r>
          </a:p>
        </p:txBody>
      </p:sp>
      <p:sp>
        <p:nvSpPr>
          <p:cNvPr id="12" name="Rectangle 11"/>
          <p:cNvSpPr/>
          <p:nvPr/>
        </p:nvSpPr>
        <p:spPr>
          <a:xfrm>
            <a:off x="432000" y="2951999"/>
            <a:ext cx="5580000" cy="3600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000" y="2987999"/>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今、CMが行うべきこと</a:t>
            </a:r>
          </a:p>
        </p:txBody>
      </p:sp>
      <p:sp>
        <p:nvSpPr>
          <p:cNvPr id="14" name="Rectangle 13"/>
          <p:cNvSpPr/>
          <p:nvPr/>
        </p:nvSpPr>
        <p:spPr>
          <a:xfrm>
            <a:off x="432000" y="3311999"/>
            <a:ext cx="5580000" cy="2700000"/>
          </a:xfrm>
          <a:prstGeom prst="rect">
            <a:avLst/>
          </a:prstGeom>
          <a:solidFill>
            <a:srgbClr val="E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000" y="3347999"/>
            <a:ext cx="5364000" cy="2664000"/>
          </a:xfrm>
          <a:prstGeom prst="rect">
            <a:avLst/>
          </a:prstGeom>
          <a:noFill/>
        </p:spPr>
        <p:txBody>
          <a:bodyPr wrap="square" lIns="36000" rIns="36000" tIns="18000" bIns="18000" anchor="t">
            <a:spAutoFit/>
          </a:bodyPr>
          <a:lstStyle/>
          <a:p>
            <a:pPr algn="l"/>
            <a:r>
              <a:rPr sz="1200" b="0" i="0">
                <a:solidFill>
                  <a:srgbClr val="33383F"/>
                </a:solidFill>
                <a:latin typeface="Yu Gothic"/>
              </a:rPr>
              <a:t>■ サービス事業所が提出している LIFE</a:t>
            </a:r>
          </a:p>
          <a:p>
            <a:pPr algn="l"/>
            <a:r>
              <a:rPr sz="1200" b="0" i="0">
                <a:solidFill>
                  <a:srgbClr val="33383F"/>
                </a:solidFill>
                <a:latin typeface="Yu Gothic"/>
              </a:rPr>
              <a:t>   データの内容を把握する</a:t>
            </a:r>
          </a:p>
          <a:p>
            <a:pPr algn="l"/>
            <a:r>
              <a:rPr sz="1200" b="0" i="0">
                <a:solidFill>
                  <a:srgbClr val="33383F"/>
                </a:solidFill>
                <a:latin typeface="Yu Gothic"/>
              </a:rPr>
              <a:t/>
            </a:r>
          </a:p>
          <a:p>
            <a:pPr algn="l"/>
            <a:r>
              <a:rPr sz="1200" b="0" i="0">
                <a:solidFill>
                  <a:srgbClr val="33383F"/>
                </a:solidFill>
                <a:latin typeface="Yu Gothic"/>
              </a:rPr>
              <a:t>■ フィードバック票の確認</a:t>
            </a:r>
          </a:p>
          <a:p>
            <a:pPr algn="l"/>
            <a:r>
              <a:rPr sz="1200" b="0" i="0">
                <a:solidFill>
                  <a:srgbClr val="33383F"/>
                </a:solidFill>
                <a:latin typeface="Yu Gothic"/>
              </a:rPr>
              <a:t>   ・科学的介護推進体制加算等</a:t>
            </a:r>
          </a:p>
          <a:p>
            <a:pPr algn="l"/>
            <a:r>
              <a:rPr sz="1200" b="0" i="0">
                <a:solidFill>
                  <a:srgbClr val="33383F"/>
                </a:solidFill>
                <a:latin typeface="Yu Gothic"/>
              </a:rPr>
              <a:t>   ・ADL/IADL/認知/栄養の推移</a:t>
            </a:r>
          </a:p>
          <a:p>
            <a:pPr algn="l"/>
            <a:r>
              <a:rPr sz="1200" b="0" i="0">
                <a:solidFill>
                  <a:srgbClr val="33383F"/>
                </a:solidFill>
                <a:latin typeface="Yu Gothic"/>
              </a:rPr>
              <a:t/>
            </a:r>
          </a:p>
          <a:p>
            <a:pPr algn="l"/>
            <a:r>
              <a:rPr sz="1200" b="0" i="0">
                <a:solidFill>
                  <a:srgbClr val="33383F"/>
                </a:solidFill>
                <a:latin typeface="Yu Gothic"/>
              </a:rPr>
              <a:t>■ ケアプラン見直しに反映する仕組み</a:t>
            </a:r>
          </a:p>
          <a:p>
            <a:pPr algn="l"/>
            <a:r>
              <a:rPr sz="1200" b="0" i="0">
                <a:solidFill>
                  <a:srgbClr val="33383F"/>
                </a:solidFill>
                <a:latin typeface="Yu Gothic"/>
              </a:rPr>
              <a:t>   ・モニタリング項目への追加</a:t>
            </a:r>
          </a:p>
          <a:p>
            <a:pPr algn="l"/>
            <a:r>
              <a:rPr sz="1200" b="0" i="0">
                <a:solidFill>
                  <a:srgbClr val="33383F"/>
                </a:solidFill>
                <a:latin typeface="Yu Gothic"/>
              </a:rPr>
              <a:t>   ・サ担会議の議題化</a:t>
            </a:r>
          </a:p>
          <a:p>
            <a:pPr algn="l"/>
            <a:r>
              <a:rPr sz="1200" b="0" i="0">
                <a:solidFill>
                  <a:srgbClr val="33383F"/>
                </a:solidFill>
                <a:latin typeface="Yu Gothic"/>
              </a:rPr>
              <a:t/>
            </a:r>
          </a:p>
          <a:p>
            <a:pPr algn="l"/>
            <a:r>
              <a:rPr sz="1200" b="0" i="0">
                <a:solidFill>
                  <a:srgbClr val="33383F"/>
                </a:solidFill>
                <a:latin typeface="Yu Gothic"/>
              </a:rPr>
              <a:t>■ 「データに基づくケア」の入口に立つ</a:t>
            </a:r>
          </a:p>
        </p:txBody>
      </p:sp>
      <p:sp>
        <p:nvSpPr>
          <p:cNvPr id="16" name="Rectangle 15"/>
          <p:cNvSpPr/>
          <p:nvPr/>
        </p:nvSpPr>
        <p:spPr>
          <a:xfrm>
            <a:off x="6300000" y="2951999"/>
            <a:ext cx="5400000" cy="360000"/>
          </a:xfrm>
          <a:prstGeom prst="rect">
            <a:avLst/>
          </a:prstGeom>
          <a:solidFill>
            <a:srgbClr val="E0A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2000" y="2987999"/>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R9 で予想される変化</a:t>
            </a:r>
          </a:p>
        </p:txBody>
      </p:sp>
      <p:sp>
        <p:nvSpPr>
          <p:cNvPr id="18" name="Rectangle 17"/>
          <p:cNvSpPr/>
          <p:nvPr/>
        </p:nvSpPr>
        <p:spPr>
          <a:xfrm>
            <a:off x="6300000" y="3311999"/>
            <a:ext cx="5400000" cy="2700000"/>
          </a:xfrm>
          <a:prstGeom prst="rect">
            <a:avLst/>
          </a:prstGeom>
          <a:solidFill>
            <a:srgbClr val="FBF1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8000" y="3347999"/>
            <a:ext cx="5184000" cy="2664000"/>
          </a:xfrm>
          <a:prstGeom prst="rect">
            <a:avLst/>
          </a:prstGeom>
          <a:noFill/>
        </p:spPr>
        <p:txBody>
          <a:bodyPr wrap="square" lIns="36000" rIns="36000" tIns="18000" bIns="18000" anchor="t">
            <a:spAutoFit/>
          </a:bodyPr>
          <a:lstStyle/>
          <a:p>
            <a:pPr algn="l"/>
            <a:r>
              <a:rPr sz="1200" b="0" i="0">
                <a:solidFill>
                  <a:srgbClr val="33383F"/>
                </a:solidFill>
                <a:latin typeface="Yu Gothic"/>
              </a:rPr>
              <a:t>■ 居宅介護支援にも LIFE 連動の加算</a:t>
            </a:r>
          </a:p>
          <a:p>
            <a:pPr algn="l"/>
            <a:r>
              <a:rPr sz="1200" b="0" i="0">
                <a:solidFill>
                  <a:srgbClr val="33383F"/>
                </a:solidFill>
                <a:latin typeface="Yu Gothic"/>
              </a:rPr>
              <a:t>   が導入される可能性</a:t>
            </a:r>
          </a:p>
          <a:p>
            <a:pPr algn="l"/>
            <a:r>
              <a:rPr sz="1200" b="0" i="0">
                <a:solidFill>
                  <a:srgbClr val="33383F"/>
                </a:solidFill>
                <a:latin typeface="Yu Gothic"/>
              </a:rPr>
              <a:t/>
            </a:r>
          </a:p>
          <a:p>
            <a:pPr algn="l"/>
            <a:r>
              <a:rPr sz="1200" b="0" i="0">
                <a:solidFill>
                  <a:srgbClr val="33383F"/>
                </a:solidFill>
                <a:latin typeface="Yu Gothic"/>
              </a:rPr>
              <a:t>■ ケアプランデータ連携システムが</a:t>
            </a:r>
          </a:p>
          <a:p>
            <a:pPr algn="l"/>
            <a:r>
              <a:rPr sz="1200" b="0" i="0">
                <a:solidFill>
                  <a:srgbClr val="33383F"/>
                </a:solidFill>
                <a:latin typeface="Yu Gothic"/>
              </a:rPr>
              <a:t>   標準化されていく</a:t>
            </a:r>
          </a:p>
          <a:p>
            <a:pPr algn="l"/>
            <a:r>
              <a:rPr sz="1200" b="0" i="0">
                <a:solidFill>
                  <a:srgbClr val="33383F"/>
                </a:solidFill>
                <a:latin typeface="Yu Gothic"/>
              </a:rPr>
              <a:t/>
            </a:r>
          </a:p>
          <a:p>
            <a:pPr algn="l"/>
            <a:r>
              <a:rPr sz="1200" b="0" i="0">
                <a:solidFill>
                  <a:srgbClr val="33383F"/>
                </a:solidFill>
                <a:latin typeface="Yu Gothic"/>
              </a:rPr>
              <a:t>■ アウトカム評価(自立度の維持・改善等)</a:t>
            </a:r>
          </a:p>
          <a:p>
            <a:pPr algn="l"/>
            <a:r>
              <a:rPr sz="1200" b="0" i="0">
                <a:solidFill>
                  <a:srgbClr val="33383F"/>
                </a:solidFill>
                <a:latin typeface="Yu Gothic"/>
              </a:rPr>
              <a:t>   が報酬体系に組み込まれる議論</a:t>
            </a:r>
          </a:p>
          <a:p>
            <a:pPr algn="l"/>
            <a:r>
              <a:rPr sz="1200" b="0" i="0">
                <a:solidFill>
                  <a:srgbClr val="33383F"/>
                </a:solidFill>
                <a:latin typeface="Yu Gothic"/>
              </a:rPr>
              <a:t/>
            </a:r>
          </a:p>
          <a:p>
            <a:pPr algn="l"/>
            <a:r>
              <a:rPr sz="1200" b="0" i="0">
                <a:solidFill>
                  <a:srgbClr val="33383F"/>
                </a:solidFill>
                <a:latin typeface="Yu Gothic"/>
              </a:rPr>
              <a:t>■ CM の業務が「データを読む」「データで</a:t>
            </a:r>
          </a:p>
          <a:p>
            <a:pPr algn="l"/>
            <a:r>
              <a:rPr sz="1200" b="0" i="0">
                <a:solidFill>
                  <a:srgbClr val="33383F"/>
                </a:solidFill>
                <a:latin typeface="Yu Gothic"/>
              </a:rPr>
              <a:t>   説明する」方向にシフト</a:t>
            </a:r>
          </a:p>
          <a:p>
            <a:pPr algn="l"/>
            <a:r>
              <a:rPr sz="1200" b="0" i="0">
                <a:solidFill>
                  <a:srgbClr val="33383F"/>
                </a:solidFill>
                <a:latin typeface="Yu Gothic"/>
              </a:rPr>
              <a:t/>
            </a:r>
          </a:p>
          <a:p>
            <a:pPr algn="l"/>
            <a:r>
              <a:rPr sz="1200" b="0" i="0">
                <a:solidFill>
                  <a:srgbClr val="33383F"/>
                </a:solidFill>
                <a:latin typeface="Yu Gothic"/>
              </a:rPr>
              <a:t>■ ICT・データリテラシーが主任CMの</a:t>
            </a:r>
          </a:p>
          <a:p>
            <a:pPr algn="l"/>
            <a:r>
              <a:rPr sz="1200" b="0" i="0">
                <a:solidFill>
                  <a:srgbClr val="33383F"/>
                </a:solidFill>
                <a:latin typeface="Yu Gothic"/>
              </a:rPr>
              <a:t>   必須スキルに</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0000"/>
            <a:ext cx="12192119" cy="360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340000"/>
            <a:ext cx="10752119" cy="540000"/>
          </a:xfrm>
          <a:prstGeom prst="rect">
            <a:avLst/>
          </a:prstGeom>
          <a:noFill/>
        </p:spPr>
        <p:txBody>
          <a:bodyPr wrap="square" lIns="36000" rIns="36000" tIns="18000" bIns="18000" anchor="t">
            <a:spAutoFit/>
          </a:bodyPr>
          <a:lstStyle/>
          <a:p>
            <a:pPr algn="ctr"/>
            <a:r>
              <a:rPr sz="2200" b="1" i="0">
                <a:solidFill>
                  <a:srgbClr val="2E8B57"/>
                </a:solidFill>
                <a:latin typeface="Yu Gothic"/>
              </a:rPr>
              <a:t>PART 5</a:t>
            </a:r>
          </a:p>
        </p:txBody>
      </p:sp>
      <p:sp>
        <p:nvSpPr>
          <p:cNvPr id="5" name="TextBox 4"/>
          <p:cNvSpPr txBox="1"/>
          <p:nvPr/>
        </p:nvSpPr>
        <p:spPr>
          <a:xfrm>
            <a:off x="360000" y="3420000"/>
            <a:ext cx="11472119" cy="720000"/>
          </a:xfrm>
          <a:prstGeom prst="rect">
            <a:avLst/>
          </a:prstGeom>
          <a:noFill/>
        </p:spPr>
        <p:txBody>
          <a:bodyPr wrap="square" lIns="36000" rIns="36000" tIns="18000" bIns="18000" anchor="t">
            <a:spAutoFit/>
          </a:bodyPr>
          <a:lstStyle/>
          <a:p>
            <a:pPr algn="ctr"/>
            <a:r>
              <a:rPr sz="3600" b="1" i="0">
                <a:solidFill>
                  <a:srgbClr val="FFFFFF"/>
                </a:solidFill>
                <a:latin typeface="Yu Gothic"/>
              </a:rPr>
              <a:t>R6改定の運用棚卸し</a:t>
            </a:r>
          </a:p>
        </p:txBody>
      </p:sp>
      <p:sp>
        <p:nvSpPr>
          <p:cNvPr id="6" name="TextBox 5"/>
          <p:cNvSpPr txBox="1"/>
          <p:nvPr/>
        </p:nvSpPr>
        <p:spPr>
          <a:xfrm>
            <a:off x="360000" y="4680000"/>
            <a:ext cx="11472119" cy="360000"/>
          </a:xfrm>
          <a:prstGeom prst="rect">
            <a:avLst/>
          </a:prstGeom>
          <a:noFill/>
        </p:spPr>
        <p:txBody>
          <a:bodyPr wrap="square" lIns="36000" rIns="36000" tIns="18000" bIns="18000" anchor="t">
            <a:spAutoFit/>
          </a:bodyPr>
          <a:lstStyle/>
          <a:p>
            <a:pPr algn="ctr"/>
            <a:r>
              <a:rPr sz="1400" b="0" i="0">
                <a:solidFill>
                  <a:srgbClr val="D6DCE3"/>
                </a:solidFill>
                <a:latin typeface="Yu Gothic"/>
              </a:rPr>
              <a:t>Operational Self-Check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5. 運用棚卸し</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自事業所点検チェックリスト ― 5 領域 × 各項目</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27 / 38</a:t>
            </a:r>
          </a:p>
        </p:txBody>
      </p:sp>
      <p:sp>
        <p:nvSpPr>
          <p:cNvPr id="8" name="Rectangle 7"/>
          <p:cNvSpPr/>
          <p:nvPr/>
        </p:nvSpPr>
        <p:spPr>
          <a:xfrm>
            <a:off x="372059" y="1620000"/>
            <a:ext cx="2232000" cy="432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8059" y="1674000"/>
            <a:ext cx="2160000" cy="360000"/>
          </a:xfrm>
          <a:prstGeom prst="rect">
            <a:avLst/>
          </a:prstGeom>
          <a:noFill/>
        </p:spPr>
        <p:txBody>
          <a:bodyPr wrap="square" lIns="36000" rIns="36000" tIns="18000" bIns="18000" anchor="ctr">
            <a:spAutoFit/>
          </a:bodyPr>
          <a:lstStyle/>
          <a:p>
            <a:pPr algn="ctr"/>
            <a:r>
              <a:rPr sz="1400" b="1" i="0">
                <a:solidFill>
                  <a:srgbClr val="FFFFFF"/>
                </a:solidFill>
                <a:latin typeface="Yu Gothic"/>
              </a:rPr>
              <a:t>加算管理</a:t>
            </a:r>
          </a:p>
        </p:txBody>
      </p:sp>
      <p:sp>
        <p:nvSpPr>
          <p:cNvPr id="10" name="Rectangle 9"/>
          <p:cNvSpPr/>
          <p:nvPr/>
        </p:nvSpPr>
        <p:spPr>
          <a:xfrm>
            <a:off x="372059" y="2052000"/>
            <a:ext cx="2232000" cy="3528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4059" y="2160000"/>
            <a:ext cx="180000" cy="180000"/>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059" y="2142000"/>
            <a:ext cx="1872000" cy="972000"/>
          </a:xfrm>
          <a:prstGeom prst="rect">
            <a:avLst/>
          </a:prstGeom>
          <a:noFill/>
        </p:spPr>
        <p:txBody>
          <a:bodyPr wrap="square" lIns="36000" rIns="36000" tIns="18000" bIns="18000" anchor="t">
            <a:spAutoFit/>
          </a:bodyPr>
          <a:lstStyle/>
          <a:p>
            <a:pPr algn="l">
              <a:lnSpc>
                <a:spcPct val="130000"/>
              </a:lnSpc>
            </a:pPr>
            <a:r>
              <a:rPr sz="1000" b="0" i="0">
                <a:solidFill>
                  <a:srgbClr val="33383F"/>
                </a:solidFill>
                <a:latin typeface="Yu Gothic"/>
              </a:rPr>
              <a:t>特定事業所加算の区分維持要件を月次点検</a:t>
            </a:r>
          </a:p>
        </p:txBody>
      </p:sp>
      <p:sp>
        <p:nvSpPr>
          <p:cNvPr id="13" name="Rectangle 12"/>
          <p:cNvSpPr/>
          <p:nvPr/>
        </p:nvSpPr>
        <p:spPr>
          <a:xfrm>
            <a:off x="444059" y="3240000"/>
            <a:ext cx="180000" cy="180000"/>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6059" y="3222000"/>
            <a:ext cx="1872000" cy="972000"/>
          </a:xfrm>
          <a:prstGeom prst="rect">
            <a:avLst/>
          </a:prstGeom>
          <a:noFill/>
        </p:spPr>
        <p:txBody>
          <a:bodyPr wrap="square" lIns="36000" rIns="36000" tIns="18000" bIns="18000" anchor="t">
            <a:spAutoFit/>
          </a:bodyPr>
          <a:lstStyle/>
          <a:p>
            <a:pPr algn="l">
              <a:lnSpc>
                <a:spcPct val="130000"/>
              </a:lnSpc>
            </a:pPr>
            <a:r>
              <a:rPr sz="1000" b="0" i="0">
                <a:solidFill>
                  <a:srgbClr val="33383F"/>
                </a:solidFill>
                <a:latin typeface="Yu Gothic"/>
              </a:rPr>
              <a:t>ターミナルCM加算の算定漏れチェック</a:t>
            </a:r>
          </a:p>
        </p:txBody>
      </p:sp>
      <p:sp>
        <p:nvSpPr>
          <p:cNvPr id="15" name="Rectangle 14"/>
          <p:cNvSpPr/>
          <p:nvPr/>
        </p:nvSpPr>
        <p:spPr>
          <a:xfrm>
            <a:off x="444059" y="4320000"/>
            <a:ext cx="180000" cy="180000"/>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6059" y="4302000"/>
            <a:ext cx="1872000" cy="972000"/>
          </a:xfrm>
          <a:prstGeom prst="rect">
            <a:avLst/>
          </a:prstGeom>
          <a:noFill/>
        </p:spPr>
        <p:txBody>
          <a:bodyPr wrap="square" lIns="36000" rIns="36000" tIns="18000" bIns="18000" anchor="t">
            <a:spAutoFit/>
          </a:bodyPr>
          <a:lstStyle/>
          <a:p>
            <a:pPr algn="l">
              <a:lnSpc>
                <a:spcPct val="130000"/>
              </a:lnSpc>
            </a:pPr>
            <a:r>
              <a:rPr sz="1000" b="0" i="0">
                <a:solidFill>
                  <a:srgbClr val="33383F"/>
                </a:solidFill>
                <a:latin typeface="Yu Gothic"/>
              </a:rPr>
              <a:t>入退院時 / 通院時連携加算の算定実績把握</a:t>
            </a:r>
          </a:p>
        </p:txBody>
      </p:sp>
      <p:sp>
        <p:nvSpPr>
          <p:cNvPr id="17" name="Rectangle 16"/>
          <p:cNvSpPr/>
          <p:nvPr/>
        </p:nvSpPr>
        <p:spPr>
          <a:xfrm>
            <a:off x="2676059" y="1620000"/>
            <a:ext cx="2232000" cy="432000"/>
          </a:xfrm>
          <a:prstGeom prst="rect">
            <a:avLst/>
          </a:prstGeom>
          <a:solidFill>
            <a:srgbClr val="E0A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12059" y="1674000"/>
            <a:ext cx="2160000" cy="360000"/>
          </a:xfrm>
          <a:prstGeom prst="rect">
            <a:avLst/>
          </a:prstGeom>
          <a:noFill/>
        </p:spPr>
        <p:txBody>
          <a:bodyPr wrap="square" lIns="36000" rIns="36000" tIns="18000" bIns="18000" anchor="ctr">
            <a:spAutoFit/>
          </a:bodyPr>
          <a:lstStyle/>
          <a:p>
            <a:pPr algn="ctr"/>
            <a:r>
              <a:rPr sz="1400" b="1" i="0">
                <a:solidFill>
                  <a:srgbClr val="FFFFFF"/>
                </a:solidFill>
                <a:latin typeface="Yu Gothic"/>
              </a:rPr>
              <a:t>減算回避</a:t>
            </a:r>
          </a:p>
        </p:txBody>
      </p:sp>
      <p:sp>
        <p:nvSpPr>
          <p:cNvPr id="19" name="Rectangle 18"/>
          <p:cNvSpPr/>
          <p:nvPr/>
        </p:nvSpPr>
        <p:spPr>
          <a:xfrm>
            <a:off x="2676059" y="2052000"/>
            <a:ext cx="2232000" cy="3528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8059" y="2160000"/>
            <a:ext cx="180000" cy="180000"/>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00059" y="2142000"/>
            <a:ext cx="1872000" cy="972000"/>
          </a:xfrm>
          <a:prstGeom prst="rect">
            <a:avLst/>
          </a:prstGeom>
          <a:noFill/>
        </p:spPr>
        <p:txBody>
          <a:bodyPr wrap="square" lIns="36000" rIns="36000" tIns="18000" bIns="18000" anchor="t">
            <a:spAutoFit/>
          </a:bodyPr>
          <a:lstStyle/>
          <a:p>
            <a:pPr algn="l">
              <a:lnSpc>
                <a:spcPct val="130000"/>
              </a:lnSpc>
            </a:pPr>
            <a:r>
              <a:rPr sz="1000" b="0" i="0">
                <a:solidFill>
                  <a:srgbClr val="33383F"/>
                </a:solidFill>
                <a:latin typeface="Yu Gothic"/>
              </a:rPr>
              <a:t>運営基準減算の発生有無を毎月確認</a:t>
            </a:r>
          </a:p>
        </p:txBody>
      </p:sp>
      <p:sp>
        <p:nvSpPr>
          <p:cNvPr id="22" name="Rectangle 21"/>
          <p:cNvSpPr/>
          <p:nvPr/>
        </p:nvSpPr>
        <p:spPr>
          <a:xfrm>
            <a:off x="2748059" y="3240000"/>
            <a:ext cx="180000" cy="180000"/>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00059" y="3222000"/>
            <a:ext cx="1872000" cy="972000"/>
          </a:xfrm>
          <a:prstGeom prst="rect">
            <a:avLst/>
          </a:prstGeom>
          <a:noFill/>
        </p:spPr>
        <p:txBody>
          <a:bodyPr wrap="square" lIns="36000" rIns="36000" tIns="18000" bIns="18000" anchor="t">
            <a:spAutoFit/>
          </a:bodyPr>
          <a:lstStyle/>
          <a:p>
            <a:pPr algn="l">
              <a:lnSpc>
                <a:spcPct val="130000"/>
              </a:lnSpc>
            </a:pPr>
            <a:r>
              <a:rPr sz="1000" b="0" i="0">
                <a:solidFill>
                  <a:srgbClr val="33383F"/>
                </a:solidFill>
                <a:latin typeface="Yu Gothic"/>
              </a:rPr>
              <a:t>同一建物減算の対象者集計が毎月できているか</a:t>
            </a:r>
          </a:p>
        </p:txBody>
      </p:sp>
      <p:sp>
        <p:nvSpPr>
          <p:cNvPr id="24" name="Rectangle 23"/>
          <p:cNvSpPr/>
          <p:nvPr/>
        </p:nvSpPr>
        <p:spPr>
          <a:xfrm>
            <a:off x="2748059" y="4320000"/>
            <a:ext cx="180000" cy="180000"/>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00059" y="4302000"/>
            <a:ext cx="1872000" cy="972000"/>
          </a:xfrm>
          <a:prstGeom prst="rect">
            <a:avLst/>
          </a:prstGeom>
          <a:noFill/>
        </p:spPr>
        <p:txBody>
          <a:bodyPr wrap="square" lIns="36000" rIns="36000" tIns="18000" bIns="18000" anchor="t">
            <a:spAutoFit/>
          </a:bodyPr>
          <a:lstStyle/>
          <a:p>
            <a:pPr algn="l">
              <a:lnSpc>
                <a:spcPct val="130000"/>
              </a:lnSpc>
            </a:pPr>
            <a:r>
              <a:rPr sz="1000" b="0" i="0">
                <a:solidFill>
                  <a:srgbClr val="33383F"/>
                </a:solidFill>
                <a:latin typeface="Yu Gothic"/>
              </a:rPr>
              <a:t>BCP / 虐待防止 未整備による減算リスクなし</a:t>
            </a:r>
          </a:p>
        </p:txBody>
      </p:sp>
      <p:sp>
        <p:nvSpPr>
          <p:cNvPr id="26" name="Rectangle 25"/>
          <p:cNvSpPr/>
          <p:nvPr/>
        </p:nvSpPr>
        <p:spPr>
          <a:xfrm>
            <a:off x="4980059" y="1620000"/>
            <a:ext cx="2232000" cy="432000"/>
          </a:xfrm>
          <a:prstGeom prst="rect">
            <a:avLst/>
          </a:prstGeom>
          <a:solidFill>
            <a:srgbClr val="375A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16059" y="1674000"/>
            <a:ext cx="2160000" cy="360000"/>
          </a:xfrm>
          <a:prstGeom prst="rect">
            <a:avLst/>
          </a:prstGeom>
          <a:noFill/>
        </p:spPr>
        <p:txBody>
          <a:bodyPr wrap="square" lIns="36000" rIns="36000" tIns="18000" bIns="18000" anchor="ctr">
            <a:spAutoFit/>
          </a:bodyPr>
          <a:lstStyle/>
          <a:p>
            <a:pPr algn="ctr"/>
            <a:r>
              <a:rPr sz="1400" b="1" i="0">
                <a:solidFill>
                  <a:srgbClr val="FFFFFF"/>
                </a:solidFill>
                <a:latin typeface="Yu Gothic"/>
              </a:rPr>
              <a:t>記録整備</a:t>
            </a:r>
          </a:p>
        </p:txBody>
      </p:sp>
      <p:sp>
        <p:nvSpPr>
          <p:cNvPr id="28" name="Rectangle 27"/>
          <p:cNvSpPr/>
          <p:nvPr/>
        </p:nvSpPr>
        <p:spPr>
          <a:xfrm>
            <a:off x="4980059" y="2052000"/>
            <a:ext cx="2232000" cy="3528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52059" y="2160000"/>
            <a:ext cx="180000" cy="180000"/>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04059" y="2142000"/>
            <a:ext cx="1872000" cy="972000"/>
          </a:xfrm>
          <a:prstGeom prst="rect">
            <a:avLst/>
          </a:prstGeom>
          <a:noFill/>
        </p:spPr>
        <p:txBody>
          <a:bodyPr wrap="square" lIns="36000" rIns="36000" tIns="18000" bIns="18000" anchor="t">
            <a:spAutoFit/>
          </a:bodyPr>
          <a:lstStyle/>
          <a:p>
            <a:pPr algn="l">
              <a:lnSpc>
                <a:spcPct val="130000"/>
              </a:lnSpc>
            </a:pPr>
            <a:r>
              <a:rPr sz="1000" b="0" i="0">
                <a:solidFill>
                  <a:srgbClr val="33383F"/>
                </a:solidFill>
                <a:latin typeface="Yu Gothic"/>
              </a:rPr>
              <a:t>居宅介護支援経過の記録が業務単位で残る</a:t>
            </a:r>
          </a:p>
        </p:txBody>
      </p:sp>
      <p:sp>
        <p:nvSpPr>
          <p:cNvPr id="31" name="Rectangle 30"/>
          <p:cNvSpPr/>
          <p:nvPr/>
        </p:nvSpPr>
        <p:spPr>
          <a:xfrm>
            <a:off x="5052059" y="3240000"/>
            <a:ext cx="180000" cy="180000"/>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04059" y="3222000"/>
            <a:ext cx="1872000" cy="972000"/>
          </a:xfrm>
          <a:prstGeom prst="rect">
            <a:avLst/>
          </a:prstGeom>
          <a:noFill/>
        </p:spPr>
        <p:txBody>
          <a:bodyPr wrap="square" lIns="36000" rIns="36000" tIns="18000" bIns="18000" anchor="t">
            <a:spAutoFit/>
          </a:bodyPr>
          <a:lstStyle/>
          <a:p>
            <a:pPr algn="l">
              <a:lnSpc>
                <a:spcPct val="130000"/>
              </a:lnSpc>
            </a:pPr>
            <a:r>
              <a:rPr sz="1000" b="0" i="0">
                <a:solidFill>
                  <a:srgbClr val="33383F"/>
                </a:solidFill>
                <a:latin typeface="Yu Gothic"/>
              </a:rPr>
              <a:t>サ担会議録の整備(本人参加・意向確認)</a:t>
            </a:r>
          </a:p>
        </p:txBody>
      </p:sp>
      <p:sp>
        <p:nvSpPr>
          <p:cNvPr id="33" name="Rectangle 32"/>
          <p:cNvSpPr/>
          <p:nvPr/>
        </p:nvSpPr>
        <p:spPr>
          <a:xfrm>
            <a:off x="5052059" y="4320000"/>
            <a:ext cx="180000" cy="180000"/>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04059" y="4302000"/>
            <a:ext cx="1872000" cy="972000"/>
          </a:xfrm>
          <a:prstGeom prst="rect">
            <a:avLst/>
          </a:prstGeom>
          <a:noFill/>
        </p:spPr>
        <p:txBody>
          <a:bodyPr wrap="square" lIns="36000" rIns="36000" tIns="18000" bIns="18000" anchor="t">
            <a:spAutoFit/>
          </a:bodyPr>
          <a:lstStyle/>
          <a:p>
            <a:pPr algn="l">
              <a:lnSpc>
                <a:spcPct val="130000"/>
              </a:lnSpc>
            </a:pPr>
            <a:r>
              <a:rPr sz="1000" b="0" i="0">
                <a:solidFill>
                  <a:srgbClr val="33383F"/>
                </a:solidFill>
                <a:latin typeface="Yu Gothic"/>
              </a:rPr>
              <a:t>アセスメント様式と23項目の対応の確認</a:t>
            </a:r>
          </a:p>
        </p:txBody>
      </p:sp>
      <p:sp>
        <p:nvSpPr>
          <p:cNvPr id="35" name="Rectangle 34"/>
          <p:cNvSpPr/>
          <p:nvPr/>
        </p:nvSpPr>
        <p:spPr>
          <a:xfrm>
            <a:off x="7284059" y="1620000"/>
            <a:ext cx="2232000" cy="4320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20059" y="1674000"/>
            <a:ext cx="2160000" cy="360000"/>
          </a:xfrm>
          <a:prstGeom prst="rect">
            <a:avLst/>
          </a:prstGeom>
          <a:noFill/>
        </p:spPr>
        <p:txBody>
          <a:bodyPr wrap="square" lIns="36000" rIns="36000" tIns="18000" bIns="18000" anchor="ctr">
            <a:spAutoFit/>
          </a:bodyPr>
          <a:lstStyle/>
          <a:p>
            <a:pPr algn="ctr"/>
            <a:r>
              <a:rPr sz="1400" b="1" i="0">
                <a:solidFill>
                  <a:srgbClr val="FFFFFF"/>
                </a:solidFill>
                <a:latin typeface="Yu Gothic"/>
              </a:rPr>
              <a:t>人材育成</a:t>
            </a:r>
          </a:p>
        </p:txBody>
      </p:sp>
      <p:sp>
        <p:nvSpPr>
          <p:cNvPr id="37" name="Rectangle 36"/>
          <p:cNvSpPr/>
          <p:nvPr/>
        </p:nvSpPr>
        <p:spPr>
          <a:xfrm>
            <a:off x="7284059" y="2052000"/>
            <a:ext cx="2232000" cy="3528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56059" y="2160000"/>
            <a:ext cx="180000" cy="180000"/>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08059" y="2142000"/>
            <a:ext cx="1872000" cy="972000"/>
          </a:xfrm>
          <a:prstGeom prst="rect">
            <a:avLst/>
          </a:prstGeom>
          <a:noFill/>
        </p:spPr>
        <p:txBody>
          <a:bodyPr wrap="square" lIns="36000" rIns="36000" tIns="18000" bIns="18000" anchor="t">
            <a:spAutoFit/>
          </a:bodyPr>
          <a:lstStyle/>
          <a:p>
            <a:pPr algn="l">
              <a:lnSpc>
                <a:spcPct val="130000"/>
              </a:lnSpc>
            </a:pPr>
            <a:r>
              <a:rPr sz="1000" b="0" i="0">
                <a:solidFill>
                  <a:srgbClr val="33383F"/>
                </a:solidFill>
                <a:latin typeface="Yu Gothic"/>
              </a:rPr>
              <a:t>主任CM の計画的研修参加</a:t>
            </a:r>
          </a:p>
        </p:txBody>
      </p:sp>
      <p:sp>
        <p:nvSpPr>
          <p:cNvPr id="40" name="Rectangle 39"/>
          <p:cNvSpPr/>
          <p:nvPr/>
        </p:nvSpPr>
        <p:spPr>
          <a:xfrm>
            <a:off x="7356059" y="3240000"/>
            <a:ext cx="180000" cy="180000"/>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08059" y="3222000"/>
            <a:ext cx="1872000" cy="972000"/>
          </a:xfrm>
          <a:prstGeom prst="rect">
            <a:avLst/>
          </a:prstGeom>
          <a:noFill/>
        </p:spPr>
        <p:txBody>
          <a:bodyPr wrap="square" lIns="36000" rIns="36000" tIns="18000" bIns="18000" anchor="t">
            <a:spAutoFit/>
          </a:bodyPr>
          <a:lstStyle/>
          <a:p>
            <a:pPr algn="l">
              <a:lnSpc>
                <a:spcPct val="130000"/>
              </a:lnSpc>
            </a:pPr>
            <a:r>
              <a:rPr sz="1000" b="0" i="0">
                <a:solidFill>
                  <a:srgbClr val="33383F"/>
                </a:solidFill>
                <a:latin typeface="Yu Gothic"/>
              </a:rPr>
              <a:t>個別CM の研修計画と振り返り</a:t>
            </a:r>
          </a:p>
        </p:txBody>
      </p:sp>
      <p:sp>
        <p:nvSpPr>
          <p:cNvPr id="42" name="Rectangle 41"/>
          <p:cNvSpPr/>
          <p:nvPr/>
        </p:nvSpPr>
        <p:spPr>
          <a:xfrm>
            <a:off x="7356059" y="4320000"/>
            <a:ext cx="180000" cy="180000"/>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08059" y="4302000"/>
            <a:ext cx="1872000" cy="972000"/>
          </a:xfrm>
          <a:prstGeom prst="rect">
            <a:avLst/>
          </a:prstGeom>
          <a:noFill/>
        </p:spPr>
        <p:txBody>
          <a:bodyPr wrap="square" lIns="36000" rIns="36000" tIns="18000" bIns="18000" anchor="t">
            <a:spAutoFit/>
          </a:bodyPr>
          <a:lstStyle/>
          <a:p>
            <a:pPr algn="l">
              <a:lnSpc>
                <a:spcPct val="130000"/>
              </a:lnSpc>
            </a:pPr>
            <a:r>
              <a:rPr sz="1000" b="0" i="0">
                <a:solidFill>
                  <a:srgbClr val="33383F"/>
                </a:solidFill>
                <a:latin typeface="Yu Gothic"/>
              </a:rPr>
              <a:t>事例検討会の年間スケジュール</a:t>
            </a:r>
          </a:p>
        </p:txBody>
      </p:sp>
      <p:sp>
        <p:nvSpPr>
          <p:cNvPr id="44" name="Rectangle 43"/>
          <p:cNvSpPr/>
          <p:nvPr/>
        </p:nvSpPr>
        <p:spPr>
          <a:xfrm>
            <a:off x="9588059" y="1620000"/>
            <a:ext cx="2232000" cy="432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624059" y="1674000"/>
            <a:ext cx="2160000" cy="360000"/>
          </a:xfrm>
          <a:prstGeom prst="rect">
            <a:avLst/>
          </a:prstGeom>
          <a:noFill/>
        </p:spPr>
        <p:txBody>
          <a:bodyPr wrap="square" lIns="36000" rIns="36000" tIns="18000" bIns="18000" anchor="ctr">
            <a:spAutoFit/>
          </a:bodyPr>
          <a:lstStyle/>
          <a:p>
            <a:pPr algn="ctr"/>
            <a:r>
              <a:rPr sz="1400" b="1" i="0">
                <a:solidFill>
                  <a:srgbClr val="FFFFFF"/>
                </a:solidFill>
                <a:latin typeface="Yu Gothic"/>
              </a:rPr>
              <a:t>地域連携</a:t>
            </a:r>
          </a:p>
        </p:txBody>
      </p:sp>
      <p:sp>
        <p:nvSpPr>
          <p:cNvPr id="46" name="Rectangle 45"/>
          <p:cNvSpPr/>
          <p:nvPr/>
        </p:nvSpPr>
        <p:spPr>
          <a:xfrm>
            <a:off x="9588059" y="2052000"/>
            <a:ext cx="2232000" cy="3528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660059" y="2160000"/>
            <a:ext cx="180000" cy="180000"/>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912059" y="2142000"/>
            <a:ext cx="1872000" cy="972000"/>
          </a:xfrm>
          <a:prstGeom prst="rect">
            <a:avLst/>
          </a:prstGeom>
          <a:noFill/>
        </p:spPr>
        <p:txBody>
          <a:bodyPr wrap="square" lIns="36000" rIns="36000" tIns="18000" bIns="18000" anchor="t">
            <a:spAutoFit/>
          </a:bodyPr>
          <a:lstStyle/>
          <a:p>
            <a:pPr algn="l">
              <a:lnSpc>
                <a:spcPct val="130000"/>
              </a:lnSpc>
            </a:pPr>
            <a:r>
              <a:rPr sz="1000" b="0" i="0">
                <a:solidFill>
                  <a:srgbClr val="33383F"/>
                </a:solidFill>
                <a:latin typeface="Yu Gothic"/>
              </a:rPr>
              <a:t>地域包括との情報共有の定例化</a:t>
            </a:r>
          </a:p>
        </p:txBody>
      </p:sp>
      <p:sp>
        <p:nvSpPr>
          <p:cNvPr id="49" name="Rectangle 48"/>
          <p:cNvSpPr/>
          <p:nvPr/>
        </p:nvSpPr>
        <p:spPr>
          <a:xfrm>
            <a:off x="9660059" y="3240000"/>
            <a:ext cx="180000" cy="180000"/>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912059" y="3222000"/>
            <a:ext cx="1872000" cy="972000"/>
          </a:xfrm>
          <a:prstGeom prst="rect">
            <a:avLst/>
          </a:prstGeom>
          <a:noFill/>
        </p:spPr>
        <p:txBody>
          <a:bodyPr wrap="square" lIns="36000" rIns="36000" tIns="18000" bIns="18000" anchor="t">
            <a:spAutoFit/>
          </a:bodyPr>
          <a:lstStyle/>
          <a:p>
            <a:pPr algn="l">
              <a:lnSpc>
                <a:spcPct val="130000"/>
              </a:lnSpc>
            </a:pPr>
            <a:r>
              <a:rPr sz="1000" b="0" i="0">
                <a:solidFill>
                  <a:srgbClr val="33383F"/>
                </a:solidFill>
                <a:latin typeface="Yu Gothic"/>
              </a:rPr>
              <a:t>医療機関 / 居宅サービス事業所との連携記録</a:t>
            </a:r>
          </a:p>
        </p:txBody>
      </p:sp>
      <p:sp>
        <p:nvSpPr>
          <p:cNvPr id="51" name="Rectangle 50"/>
          <p:cNvSpPr/>
          <p:nvPr/>
        </p:nvSpPr>
        <p:spPr>
          <a:xfrm>
            <a:off x="9660059" y="4320000"/>
            <a:ext cx="180000" cy="180000"/>
          </a:xfrm>
          <a:prstGeom prst="rect">
            <a:avLst/>
          </a:prstGeom>
          <a:solidFill>
            <a:srgbClr val="FFFFFF"/>
          </a:solidFill>
          <a:ln>
            <a:solidFill>
              <a:srgbClr val="14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912059" y="4302000"/>
            <a:ext cx="1872000" cy="972000"/>
          </a:xfrm>
          <a:prstGeom prst="rect">
            <a:avLst/>
          </a:prstGeom>
          <a:noFill/>
        </p:spPr>
        <p:txBody>
          <a:bodyPr wrap="square" lIns="36000" rIns="36000" tIns="18000" bIns="18000" anchor="t">
            <a:spAutoFit/>
          </a:bodyPr>
          <a:lstStyle/>
          <a:p>
            <a:pPr algn="l">
              <a:lnSpc>
                <a:spcPct val="130000"/>
              </a:lnSpc>
            </a:pPr>
            <a:r>
              <a:rPr sz="1000" b="0" i="0">
                <a:solidFill>
                  <a:srgbClr val="33383F"/>
                </a:solidFill>
                <a:latin typeface="Yu Gothic"/>
              </a:rPr>
              <a:t>地域ケア会議への参加実績</a:t>
            </a:r>
          </a:p>
        </p:txBody>
      </p:sp>
      <p:sp>
        <p:nvSpPr>
          <p:cNvPr id="53" name="TextBox 52"/>
          <p:cNvSpPr txBox="1"/>
          <p:nvPr/>
        </p:nvSpPr>
        <p:spPr>
          <a:xfrm>
            <a:off x="432000" y="5940000"/>
            <a:ext cx="11328119" cy="360000"/>
          </a:xfrm>
          <a:prstGeom prst="rect">
            <a:avLst/>
          </a:prstGeom>
          <a:noFill/>
        </p:spPr>
        <p:txBody>
          <a:bodyPr wrap="square" lIns="36000" rIns="36000" tIns="18000" bIns="18000" anchor="t">
            <a:spAutoFit/>
          </a:bodyPr>
          <a:lstStyle/>
          <a:p>
            <a:pPr algn="l"/>
            <a:r>
              <a:rPr sz="1300" b="1" i="0">
                <a:solidFill>
                  <a:srgbClr val="142B4A"/>
                </a:solidFill>
                <a:latin typeface="Yu Gothic"/>
              </a:rPr>
              <a:t>▶ 主任CMが事業所内で月次・四半期・年次で点検を回す。</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0000"/>
            <a:ext cx="12192119" cy="36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340000"/>
            <a:ext cx="10752119" cy="540000"/>
          </a:xfrm>
          <a:prstGeom prst="rect">
            <a:avLst/>
          </a:prstGeom>
          <a:noFill/>
        </p:spPr>
        <p:txBody>
          <a:bodyPr wrap="square" lIns="36000" rIns="36000" tIns="18000" bIns="18000" anchor="t">
            <a:spAutoFit/>
          </a:bodyPr>
          <a:lstStyle/>
          <a:p>
            <a:pPr algn="ctr"/>
            <a:r>
              <a:rPr sz="2200" b="1" i="0">
                <a:solidFill>
                  <a:srgbClr val="C03A2E"/>
                </a:solidFill>
                <a:latin typeface="Yu Gothic"/>
              </a:rPr>
              <a:t>PART 6</a:t>
            </a:r>
          </a:p>
        </p:txBody>
      </p:sp>
      <p:sp>
        <p:nvSpPr>
          <p:cNvPr id="5" name="TextBox 4"/>
          <p:cNvSpPr txBox="1"/>
          <p:nvPr/>
        </p:nvSpPr>
        <p:spPr>
          <a:xfrm>
            <a:off x="360000" y="3420000"/>
            <a:ext cx="11472119" cy="720000"/>
          </a:xfrm>
          <a:prstGeom prst="rect">
            <a:avLst/>
          </a:prstGeom>
          <a:noFill/>
        </p:spPr>
        <p:txBody>
          <a:bodyPr wrap="square" lIns="36000" rIns="36000" tIns="18000" bIns="18000" anchor="t">
            <a:spAutoFit/>
          </a:bodyPr>
          <a:lstStyle/>
          <a:p>
            <a:pPr algn="ctr"/>
            <a:r>
              <a:rPr sz="3600" b="1" i="0">
                <a:solidFill>
                  <a:srgbClr val="FFFFFF"/>
                </a:solidFill>
                <a:latin typeface="Yu Gothic"/>
              </a:rPr>
              <a:t>令和9年度改定に向けた論点</a:t>
            </a:r>
          </a:p>
        </p:txBody>
      </p:sp>
      <p:sp>
        <p:nvSpPr>
          <p:cNvPr id="6" name="TextBox 5"/>
          <p:cNvSpPr txBox="1"/>
          <p:nvPr/>
        </p:nvSpPr>
        <p:spPr>
          <a:xfrm>
            <a:off x="360000" y="4680000"/>
            <a:ext cx="11472119" cy="360000"/>
          </a:xfrm>
          <a:prstGeom prst="rect">
            <a:avLst/>
          </a:prstGeom>
          <a:noFill/>
        </p:spPr>
        <p:txBody>
          <a:bodyPr wrap="square" lIns="36000" rIns="36000" tIns="18000" bIns="18000" anchor="t">
            <a:spAutoFit/>
          </a:bodyPr>
          <a:lstStyle/>
          <a:p>
            <a:pPr algn="ctr"/>
            <a:r>
              <a:rPr sz="1400" b="0" i="0">
                <a:solidFill>
                  <a:srgbClr val="D6DCE3"/>
                </a:solidFill>
                <a:latin typeface="Yu Gothic"/>
              </a:rPr>
              <a:t>Toward the FY2027 Revision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6. R9 改定への論点</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R9 改定 ― 制度設計の大きな潮流</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29 / 38</a:t>
            </a:r>
          </a:p>
        </p:txBody>
      </p:sp>
      <p:sp>
        <p:nvSpPr>
          <p:cNvPr id="8" name="Rectangle 7"/>
          <p:cNvSpPr/>
          <p:nvPr/>
        </p:nvSpPr>
        <p:spPr>
          <a:xfrm>
            <a:off x="432000" y="1620000"/>
            <a:ext cx="1260000" cy="827999"/>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2000" y="1656000"/>
            <a:ext cx="1260000" cy="360000"/>
          </a:xfrm>
          <a:prstGeom prst="rect">
            <a:avLst/>
          </a:prstGeom>
          <a:noFill/>
        </p:spPr>
        <p:txBody>
          <a:bodyPr wrap="square" lIns="36000" rIns="36000" tIns="18000" bIns="18000" anchor="t">
            <a:spAutoFit/>
          </a:bodyPr>
          <a:lstStyle/>
          <a:p>
            <a:pPr algn="ctr"/>
            <a:r>
              <a:rPr sz="1300" b="1" i="0">
                <a:solidFill>
                  <a:srgbClr val="FFFFFF"/>
                </a:solidFill>
                <a:latin typeface="Yu Gothic"/>
              </a:rPr>
              <a:t>論点 1</a:t>
            </a:r>
          </a:p>
        </p:txBody>
      </p:sp>
      <p:sp>
        <p:nvSpPr>
          <p:cNvPr id="10" name="TextBox 9"/>
          <p:cNvSpPr txBox="1"/>
          <p:nvPr/>
        </p:nvSpPr>
        <p:spPr>
          <a:xfrm>
            <a:off x="432000" y="1980000"/>
            <a:ext cx="1260000" cy="432000"/>
          </a:xfrm>
          <a:prstGeom prst="rect">
            <a:avLst/>
          </a:prstGeom>
          <a:noFill/>
        </p:spPr>
        <p:txBody>
          <a:bodyPr wrap="square" lIns="36000" rIns="36000" tIns="18000" bIns="18000" anchor="ctr">
            <a:spAutoFit/>
          </a:bodyPr>
          <a:lstStyle/>
          <a:p>
            <a:pPr algn="ctr"/>
            <a:r>
              <a:rPr sz="2200" b="1" i="0">
                <a:solidFill>
                  <a:srgbClr val="FFFFFF"/>
                </a:solidFill>
                <a:latin typeface="Yu Gothic"/>
              </a:rPr>
              <a:t>R9</a:t>
            </a:r>
          </a:p>
        </p:txBody>
      </p:sp>
      <p:sp>
        <p:nvSpPr>
          <p:cNvPr id="11" name="Rectangle 10"/>
          <p:cNvSpPr/>
          <p:nvPr/>
        </p:nvSpPr>
        <p:spPr>
          <a:xfrm>
            <a:off x="1692000" y="1620000"/>
            <a:ext cx="10068119" cy="827999"/>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00000" y="1692000"/>
            <a:ext cx="9852119" cy="360000"/>
          </a:xfrm>
          <a:prstGeom prst="rect">
            <a:avLst/>
          </a:prstGeom>
          <a:noFill/>
        </p:spPr>
        <p:txBody>
          <a:bodyPr wrap="square" lIns="36000" rIns="36000" tIns="18000" bIns="18000" anchor="t">
            <a:spAutoFit/>
          </a:bodyPr>
          <a:lstStyle/>
          <a:p>
            <a:pPr algn="l"/>
            <a:r>
              <a:rPr sz="1500" b="1" i="0">
                <a:solidFill>
                  <a:srgbClr val="142B4A"/>
                </a:solidFill>
                <a:latin typeface="Yu Gothic"/>
              </a:rPr>
              <a:t>ケアプラン作成料 の有料化議論</a:t>
            </a:r>
          </a:p>
        </p:txBody>
      </p:sp>
      <p:sp>
        <p:nvSpPr>
          <p:cNvPr id="13" name="TextBox 12"/>
          <p:cNvSpPr txBox="1"/>
          <p:nvPr/>
        </p:nvSpPr>
        <p:spPr>
          <a:xfrm>
            <a:off x="1800000" y="2033999"/>
            <a:ext cx="9852119" cy="395999"/>
          </a:xfrm>
          <a:prstGeom prst="rect">
            <a:avLst/>
          </a:prstGeom>
          <a:noFill/>
        </p:spPr>
        <p:txBody>
          <a:bodyPr wrap="square" lIns="36000" rIns="36000" tIns="18000" bIns="18000" anchor="t">
            <a:spAutoFit/>
          </a:bodyPr>
          <a:lstStyle/>
          <a:p>
            <a:pPr algn="l">
              <a:lnSpc>
                <a:spcPct val="130000"/>
              </a:lnSpc>
            </a:pPr>
            <a:r>
              <a:rPr sz="1100" b="0" i="0">
                <a:solidFill>
                  <a:srgbClr val="33383F"/>
                </a:solidFill>
                <a:latin typeface="Yu Gothic"/>
              </a:rPr>
              <a:t>・現在は 10 割給付。利用者負担導入の是非</a:t>
            </a:r>
          </a:p>
          <a:p>
            <a:pPr algn="l">
              <a:lnSpc>
                <a:spcPct val="130000"/>
              </a:lnSpc>
            </a:pPr>
            <a:r>
              <a:rPr sz="1100" b="0" i="0">
                <a:solidFill>
                  <a:srgbClr val="33383F"/>
                </a:solidFill>
                <a:latin typeface="Yu Gothic"/>
              </a:rPr>
              <a:t>・公平性 vs 介護離れの懸念</a:t>
            </a:r>
          </a:p>
        </p:txBody>
      </p:sp>
      <p:sp>
        <p:nvSpPr>
          <p:cNvPr id="14" name="Rectangle 13"/>
          <p:cNvSpPr/>
          <p:nvPr/>
        </p:nvSpPr>
        <p:spPr>
          <a:xfrm>
            <a:off x="432000" y="2520000"/>
            <a:ext cx="1260000" cy="827999"/>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2000" y="2556000"/>
            <a:ext cx="1260000" cy="360000"/>
          </a:xfrm>
          <a:prstGeom prst="rect">
            <a:avLst/>
          </a:prstGeom>
          <a:noFill/>
        </p:spPr>
        <p:txBody>
          <a:bodyPr wrap="square" lIns="36000" rIns="36000" tIns="18000" bIns="18000" anchor="t">
            <a:spAutoFit/>
          </a:bodyPr>
          <a:lstStyle/>
          <a:p>
            <a:pPr algn="ctr"/>
            <a:r>
              <a:rPr sz="1300" b="1" i="0">
                <a:solidFill>
                  <a:srgbClr val="FFFFFF"/>
                </a:solidFill>
                <a:latin typeface="Yu Gothic"/>
              </a:rPr>
              <a:t>論点 2</a:t>
            </a:r>
          </a:p>
        </p:txBody>
      </p:sp>
      <p:sp>
        <p:nvSpPr>
          <p:cNvPr id="16" name="TextBox 15"/>
          <p:cNvSpPr txBox="1"/>
          <p:nvPr/>
        </p:nvSpPr>
        <p:spPr>
          <a:xfrm>
            <a:off x="432000" y="2880000"/>
            <a:ext cx="1260000" cy="432000"/>
          </a:xfrm>
          <a:prstGeom prst="rect">
            <a:avLst/>
          </a:prstGeom>
          <a:noFill/>
        </p:spPr>
        <p:txBody>
          <a:bodyPr wrap="square" lIns="36000" rIns="36000" tIns="18000" bIns="18000" anchor="ctr">
            <a:spAutoFit/>
          </a:bodyPr>
          <a:lstStyle/>
          <a:p>
            <a:pPr algn="ctr"/>
            <a:r>
              <a:rPr sz="2200" b="1" i="0">
                <a:solidFill>
                  <a:srgbClr val="FFFFFF"/>
                </a:solidFill>
                <a:latin typeface="Yu Gothic"/>
              </a:rPr>
              <a:t>R9</a:t>
            </a:r>
          </a:p>
        </p:txBody>
      </p:sp>
      <p:sp>
        <p:nvSpPr>
          <p:cNvPr id="17" name="Rectangle 16"/>
          <p:cNvSpPr/>
          <p:nvPr/>
        </p:nvSpPr>
        <p:spPr>
          <a:xfrm>
            <a:off x="1692000" y="2520000"/>
            <a:ext cx="10068119" cy="827999"/>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00000" y="2592000"/>
            <a:ext cx="9852119" cy="360000"/>
          </a:xfrm>
          <a:prstGeom prst="rect">
            <a:avLst/>
          </a:prstGeom>
          <a:noFill/>
        </p:spPr>
        <p:txBody>
          <a:bodyPr wrap="square" lIns="36000" rIns="36000" tIns="18000" bIns="18000" anchor="t">
            <a:spAutoFit/>
          </a:bodyPr>
          <a:lstStyle/>
          <a:p>
            <a:pPr algn="l"/>
            <a:r>
              <a:rPr sz="1500" b="1" i="0">
                <a:solidFill>
                  <a:srgbClr val="142B4A"/>
                </a:solidFill>
                <a:latin typeface="Yu Gothic"/>
              </a:rPr>
              <a:t>主任CM の位置づけ強化</a:t>
            </a:r>
          </a:p>
        </p:txBody>
      </p:sp>
      <p:sp>
        <p:nvSpPr>
          <p:cNvPr id="19" name="TextBox 18"/>
          <p:cNvSpPr txBox="1"/>
          <p:nvPr/>
        </p:nvSpPr>
        <p:spPr>
          <a:xfrm>
            <a:off x="1800000" y="2933999"/>
            <a:ext cx="9852119" cy="395999"/>
          </a:xfrm>
          <a:prstGeom prst="rect">
            <a:avLst/>
          </a:prstGeom>
          <a:noFill/>
        </p:spPr>
        <p:txBody>
          <a:bodyPr wrap="square" lIns="36000" rIns="36000" tIns="18000" bIns="18000" anchor="t">
            <a:spAutoFit/>
          </a:bodyPr>
          <a:lstStyle/>
          <a:p>
            <a:pPr algn="l">
              <a:lnSpc>
                <a:spcPct val="130000"/>
              </a:lnSpc>
            </a:pPr>
            <a:r>
              <a:rPr sz="1100" b="0" i="0">
                <a:solidFill>
                  <a:srgbClr val="33383F"/>
                </a:solidFill>
                <a:latin typeface="Yu Gothic"/>
              </a:rPr>
              <a:t>・管理者要件としての主任CM</a:t>
            </a:r>
          </a:p>
          <a:p>
            <a:pPr algn="l">
              <a:lnSpc>
                <a:spcPct val="130000"/>
              </a:lnSpc>
            </a:pPr>
            <a:r>
              <a:rPr sz="1100" b="0" i="0">
                <a:solidFill>
                  <a:srgbClr val="33383F"/>
                </a:solidFill>
                <a:latin typeface="Yu Gothic"/>
              </a:rPr>
              <a:t>・配置加算・経験年数要件の見直し</a:t>
            </a:r>
          </a:p>
        </p:txBody>
      </p:sp>
      <p:sp>
        <p:nvSpPr>
          <p:cNvPr id="20" name="Rectangle 19"/>
          <p:cNvSpPr/>
          <p:nvPr/>
        </p:nvSpPr>
        <p:spPr>
          <a:xfrm>
            <a:off x="432000" y="3420000"/>
            <a:ext cx="1260000" cy="827999"/>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2000" y="3456000"/>
            <a:ext cx="1260000" cy="360000"/>
          </a:xfrm>
          <a:prstGeom prst="rect">
            <a:avLst/>
          </a:prstGeom>
          <a:noFill/>
        </p:spPr>
        <p:txBody>
          <a:bodyPr wrap="square" lIns="36000" rIns="36000" tIns="18000" bIns="18000" anchor="t">
            <a:spAutoFit/>
          </a:bodyPr>
          <a:lstStyle/>
          <a:p>
            <a:pPr algn="ctr"/>
            <a:r>
              <a:rPr sz="1300" b="1" i="0">
                <a:solidFill>
                  <a:srgbClr val="FFFFFF"/>
                </a:solidFill>
                <a:latin typeface="Yu Gothic"/>
              </a:rPr>
              <a:t>論点 3</a:t>
            </a:r>
          </a:p>
        </p:txBody>
      </p:sp>
      <p:sp>
        <p:nvSpPr>
          <p:cNvPr id="22" name="TextBox 21"/>
          <p:cNvSpPr txBox="1"/>
          <p:nvPr/>
        </p:nvSpPr>
        <p:spPr>
          <a:xfrm>
            <a:off x="432000" y="3780000"/>
            <a:ext cx="1260000" cy="432000"/>
          </a:xfrm>
          <a:prstGeom prst="rect">
            <a:avLst/>
          </a:prstGeom>
          <a:noFill/>
        </p:spPr>
        <p:txBody>
          <a:bodyPr wrap="square" lIns="36000" rIns="36000" tIns="18000" bIns="18000" anchor="ctr">
            <a:spAutoFit/>
          </a:bodyPr>
          <a:lstStyle/>
          <a:p>
            <a:pPr algn="ctr"/>
            <a:r>
              <a:rPr sz="2200" b="1" i="0">
                <a:solidFill>
                  <a:srgbClr val="FFFFFF"/>
                </a:solidFill>
                <a:latin typeface="Yu Gothic"/>
              </a:rPr>
              <a:t>R9</a:t>
            </a:r>
          </a:p>
        </p:txBody>
      </p:sp>
      <p:sp>
        <p:nvSpPr>
          <p:cNvPr id="23" name="Rectangle 22"/>
          <p:cNvSpPr/>
          <p:nvPr/>
        </p:nvSpPr>
        <p:spPr>
          <a:xfrm>
            <a:off x="1692000" y="3420000"/>
            <a:ext cx="10068119" cy="827999"/>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800000" y="3492000"/>
            <a:ext cx="9852119" cy="360000"/>
          </a:xfrm>
          <a:prstGeom prst="rect">
            <a:avLst/>
          </a:prstGeom>
          <a:noFill/>
        </p:spPr>
        <p:txBody>
          <a:bodyPr wrap="square" lIns="36000" rIns="36000" tIns="18000" bIns="18000" anchor="t">
            <a:spAutoFit/>
          </a:bodyPr>
          <a:lstStyle/>
          <a:p>
            <a:pPr algn="l"/>
            <a:r>
              <a:rPr sz="1500" b="1" i="0">
                <a:solidFill>
                  <a:srgbClr val="142B4A"/>
                </a:solidFill>
                <a:latin typeface="Yu Gothic"/>
              </a:rPr>
              <a:t>アウトカム評価 の本格導入</a:t>
            </a:r>
          </a:p>
        </p:txBody>
      </p:sp>
      <p:sp>
        <p:nvSpPr>
          <p:cNvPr id="25" name="TextBox 24"/>
          <p:cNvSpPr txBox="1"/>
          <p:nvPr/>
        </p:nvSpPr>
        <p:spPr>
          <a:xfrm>
            <a:off x="1800000" y="3833999"/>
            <a:ext cx="9852119" cy="395999"/>
          </a:xfrm>
          <a:prstGeom prst="rect">
            <a:avLst/>
          </a:prstGeom>
          <a:noFill/>
        </p:spPr>
        <p:txBody>
          <a:bodyPr wrap="square" lIns="36000" rIns="36000" tIns="18000" bIns="18000" anchor="t">
            <a:spAutoFit/>
          </a:bodyPr>
          <a:lstStyle/>
          <a:p>
            <a:pPr algn="l">
              <a:lnSpc>
                <a:spcPct val="130000"/>
              </a:lnSpc>
            </a:pPr>
            <a:r>
              <a:rPr sz="1100" b="0" i="0">
                <a:solidFill>
                  <a:srgbClr val="33383F"/>
                </a:solidFill>
                <a:latin typeface="Yu Gothic"/>
              </a:rPr>
              <a:t>・自立支援・重度化防止の数値化</a:t>
            </a:r>
          </a:p>
          <a:p>
            <a:pPr algn="l">
              <a:lnSpc>
                <a:spcPct val="130000"/>
              </a:lnSpc>
            </a:pPr>
            <a:r>
              <a:rPr sz="1100" b="0" i="0">
                <a:solidFill>
                  <a:srgbClr val="33383F"/>
                </a:solidFill>
                <a:latin typeface="Yu Gothic"/>
              </a:rPr>
              <a:t>・LIFE データに基づく加算の拡大</a:t>
            </a:r>
          </a:p>
        </p:txBody>
      </p:sp>
      <p:sp>
        <p:nvSpPr>
          <p:cNvPr id="26" name="Rectangle 25"/>
          <p:cNvSpPr/>
          <p:nvPr/>
        </p:nvSpPr>
        <p:spPr>
          <a:xfrm>
            <a:off x="432000" y="4320000"/>
            <a:ext cx="1260000" cy="827999"/>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2000" y="4356000"/>
            <a:ext cx="1260000" cy="360000"/>
          </a:xfrm>
          <a:prstGeom prst="rect">
            <a:avLst/>
          </a:prstGeom>
          <a:noFill/>
        </p:spPr>
        <p:txBody>
          <a:bodyPr wrap="square" lIns="36000" rIns="36000" tIns="18000" bIns="18000" anchor="t">
            <a:spAutoFit/>
          </a:bodyPr>
          <a:lstStyle/>
          <a:p>
            <a:pPr algn="ctr"/>
            <a:r>
              <a:rPr sz="1300" b="1" i="0">
                <a:solidFill>
                  <a:srgbClr val="FFFFFF"/>
                </a:solidFill>
                <a:latin typeface="Yu Gothic"/>
              </a:rPr>
              <a:t>論点 4</a:t>
            </a:r>
          </a:p>
        </p:txBody>
      </p:sp>
      <p:sp>
        <p:nvSpPr>
          <p:cNvPr id="28" name="TextBox 27"/>
          <p:cNvSpPr txBox="1"/>
          <p:nvPr/>
        </p:nvSpPr>
        <p:spPr>
          <a:xfrm>
            <a:off x="432000" y="4680000"/>
            <a:ext cx="1260000" cy="432000"/>
          </a:xfrm>
          <a:prstGeom prst="rect">
            <a:avLst/>
          </a:prstGeom>
          <a:noFill/>
        </p:spPr>
        <p:txBody>
          <a:bodyPr wrap="square" lIns="36000" rIns="36000" tIns="18000" bIns="18000" anchor="ctr">
            <a:spAutoFit/>
          </a:bodyPr>
          <a:lstStyle/>
          <a:p>
            <a:pPr algn="ctr"/>
            <a:r>
              <a:rPr sz="2200" b="1" i="0">
                <a:solidFill>
                  <a:srgbClr val="FFFFFF"/>
                </a:solidFill>
                <a:latin typeface="Yu Gothic"/>
              </a:rPr>
              <a:t>R9</a:t>
            </a:r>
          </a:p>
        </p:txBody>
      </p:sp>
      <p:sp>
        <p:nvSpPr>
          <p:cNvPr id="29" name="Rectangle 28"/>
          <p:cNvSpPr/>
          <p:nvPr/>
        </p:nvSpPr>
        <p:spPr>
          <a:xfrm>
            <a:off x="1692000" y="4320000"/>
            <a:ext cx="10068119" cy="827999"/>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800000" y="4392000"/>
            <a:ext cx="9852119" cy="360000"/>
          </a:xfrm>
          <a:prstGeom prst="rect">
            <a:avLst/>
          </a:prstGeom>
          <a:noFill/>
        </p:spPr>
        <p:txBody>
          <a:bodyPr wrap="square" lIns="36000" rIns="36000" tIns="18000" bIns="18000" anchor="t">
            <a:spAutoFit/>
          </a:bodyPr>
          <a:lstStyle/>
          <a:p>
            <a:pPr algn="l"/>
            <a:r>
              <a:rPr sz="1500" b="1" i="0">
                <a:solidFill>
                  <a:srgbClr val="142B4A"/>
                </a:solidFill>
                <a:latin typeface="Yu Gothic"/>
              </a:rPr>
              <a:t>ICT / AI 活用 の評価</a:t>
            </a:r>
          </a:p>
        </p:txBody>
      </p:sp>
      <p:sp>
        <p:nvSpPr>
          <p:cNvPr id="31" name="TextBox 30"/>
          <p:cNvSpPr txBox="1"/>
          <p:nvPr/>
        </p:nvSpPr>
        <p:spPr>
          <a:xfrm>
            <a:off x="1800000" y="4733999"/>
            <a:ext cx="9852119" cy="395999"/>
          </a:xfrm>
          <a:prstGeom prst="rect">
            <a:avLst/>
          </a:prstGeom>
          <a:noFill/>
        </p:spPr>
        <p:txBody>
          <a:bodyPr wrap="square" lIns="36000" rIns="36000" tIns="18000" bIns="18000" anchor="t">
            <a:spAutoFit/>
          </a:bodyPr>
          <a:lstStyle/>
          <a:p>
            <a:pPr algn="l">
              <a:lnSpc>
                <a:spcPct val="130000"/>
              </a:lnSpc>
            </a:pPr>
            <a:r>
              <a:rPr sz="1100" b="0" i="0">
                <a:solidFill>
                  <a:srgbClr val="33383F"/>
                </a:solidFill>
                <a:latin typeface="Yu Gothic"/>
              </a:rPr>
              <a:t>・ケアプランデータ連携の標準化</a:t>
            </a:r>
          </a:p>
          <a:p>
            <a:pPr algn="l">
              <a:lnSpc>
                <a:spcPct val="130000"/>
              </a:lnSpc>
            </a:pPr>
            <a:r>
              <a:rPr sz="1100" b="0" i="0">
                <a:solidFill>
                  <a:srgbClr val="33383F"/>
                </a:solidFill>
                <a:latin typeface="Yu Gothic"/>
              </a:rPr>
              <a:t>・記録 AI・予測アラートへの対応</a:t>
            </a:r>
          </a:p>
        </p:txBody>
      </p:sp>
      <p:sp>
        <p:nvSpPr>
          <p:cNvPr id="32" name="Rectangle 31"/>
          <p:cNvSpPr/>
          <p:nvPr/>
        </p:nvSpPr>
        <p:spPr>
          <a:xfrm>
            <a:off x="432000" y="5220000"/>
            <a:ext cx="1260000" cy="827999"/>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2000" y="5256000"/>
            <a:ext cx="1260000" cy="360000"/>
          </a:xfrm>
          <a:prstGeom prst="rect">
            <a:avLst/>
          </a:prstGeom>
          <a:noFill/>
        </p:spPr>
        <p:txBody>
          <a:bodyPr wrap="square" lIns="36000" rIns="36000" tIns="18000" bIns="18000" anchor="t">
            <a:spAutoFit/>
          </a:bodyPr>
          <a:lstStyle/>
          <a:p>
            <a:pPr algn="ctr"/>
            <a:r>
              <a:rPr sz="1300" b="1" i="0">
                <a:solidFill>
                  <a:srgbClr val="FFFFFF"/>
                </a:solidFill>
                <a:latin typeface="Yu Gothic"/>
              </a:rPr>
              <a:t>論点 5</a:t>
            </a:r>
          </a:p>
        </p:txBody>
      </p:sp>
      <p:sp>
        <p:nvSpPr>
          <p:cNvPr id="34" name="TextBox 33"/>
          <p:cNvSpPr txBox="1"/>
          <p:nvPr/>
        </p:nvSpPr>
        <p:spPr>
          <a:xfrm>
            <a:off x="432000" y="5580000"/>
            <a:ext cx="1260000" cy="432000"/>
          </a:xfrm>
          <a:prstGeom prst="rect">
            <a:avLst/>
          </a:prstGeom>
          <a:noFill/>
        </p:spPr>
        <p:txBody>
          <a:bodyPr wrap="square" lIns="36000" rIns="36000" tIns="18000" bIns="18000" anchor="ctr">
            <a:spAutoFit/>
          </a:bodyPr>
          <a:lstStyle/>
          <a:p>
            <a:pPr algn="ctr"/>
            <a:r>
              <a:rPr sz="2200" b="1" i="0">
                <a:solidFill>
                  <a:srgbClr val="FFFFFF"/>
                </a:solidFill>
                <a:latin typeface="Yu Gothic"/>
              </a:rPr>
              <a:t>R9</a:t>
            </a:r>
          </a:p>
        </p:txBody>
      </p:sp>
      <p:sp>
        <p:nvSpPr>
          <p:cNvPr id="35" name="Rectangle 34"/>
          <p:cNvSpPr/>
          <p:nvPr/>
        </p:nvSpPr>
        <p:spPr>
          <a:xfrm>
            <a:off x="1692000" y="5220000"/>
            <a:ext cx="10068119" cy="827999"/>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800000" y="5292000"/>
            <a:ext cx="9852119" cy="360000"/>
          </a:xfrm>
          <a:prstGeom prst="rect">
            <a:avLst/>
          </a:prstGeom>
          <a:noFill/>
        </p:spPr>
        <p:txBody>
          <a:bodyPr wrap="square" lIns="36000" rIns="36000" tIns="18000" bIns="18000" anchor="t">
            <a:spAutoFit/>
          </a:bodyPr>
          <a:lstStyle/>
          <a:p>
            <a:pPr algn="l"/>
            <a:r>
              <a:rPr sz="1500" b="1" i="0">
                <a:solidFill>
                  <a:srgbClr val="142B4A"/>
                </a:solidFill>
                <a:latin typeface="Yu Gothic"/>
              </a:rPr>
              <a:t>公正中立性 の更なる担保</a:t>
            </a:r>
          </a:p>
        </p:txBody>
      </p:sp>
      <p:sp>
        <p:nvSpPr>
          <p:cNvPr id="37" name="TextBox 36"/>
          <p:cNvSpPr txBox="1"/>
          <p:nvPr/>
        </p:nvSpPr>
        <p:spPr>
          <a:xfrm>
            <a:off x="1800000" y="5633999"/>
            <a:ext cx="9852119" cy="395999"/>
          </a:xfrm>
          <a:prstGeom prst="rect">
            <a:avLst/>
          </a:prstGeom>
          <a:noFill/>
        </p:spPr>
        <p:txBody>
          <a:bodyPr wrap="square" lIns="36000" rIns="36000" tIns="18000" bIns="18000" anchor="t">
            <a:spAutoFit/>
          </a:bodyPr>
          <a:lstStyle/>
          <a:p>
            <a:pPr algn="l">
              <a:lnSpc>
                <a:spcPct val="130000"/>
              </a:lnSpc>
            </a:pPr>
            <a:r>
              <a:rPr sz="1100" b="0" i="0">
                <a:solidFill>
                  <a:srgbClr val="33383F"/>
                </a:solidFill>
                <a:latin typeface="Yu Gothic"/>
              </a:rPr>
              <a:t>・同一建物減算の強化</a:t>
            </a:r>
          </a:p>
          <a:p>
            <a:pPr algn="l">
              <a:lnSpc>
                <a:spcPct val="130000"/>
              </a:lnSpc>
            </a:pPr>
            <a:r>
              <a:rPr sz="1100" b="0" i="0">
                <a:solidFill>
                  <a:srgbClr val="33383F"/>
                </a:solidFill>
                <a:latin typeface="Yu Gothic"/>
              </a:rPr>
              <a:t>・特定事業者への偏り是正</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6. R9 改定への論点</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論点 1 ― ケアプラン作成料の有料化議論</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30 / 38</a:t>
            </a:r>
          </a:p>
        </p:txBody>
      </p:sp>
      <p:sp>
        <p:nvSpPr>
          <p:cNvPr id="8" name="Rectangle 7"/>
          <p:cNvSpPr/>
          <p:nvPr/>
        </p:nvSpPr>
        <p:spPr>
          <a:xfrm>
            <a:off x="432000" y="1620000"/>
            <a:ext cx="5580000" cy="360000"/>
          </a:xfrm>
          <a:prstGeom prst="rect">
            <a:avLst/>
          </a:prstGeom>
          <a:solidFill>
            <a:srgbClr val="375A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656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推進側の論拠</a:t>
            </a:r>
          </a:p>
        </p:txBody>
      </p:sp>
      <p:sp>
        <p:nvSpPr>
          <p:cNvPr id="10" name="Rectangle 9"/>
          <p:cNvSpPr/>
          <p:nvPr/>
        </p:nvSpPr>
        <p:spPr>
          <a:xfrm>
            <a:off x="432000" y="1980000"/>
            <a:ext cx="5580000" cy="270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2016000"/>
            <a:ext cx="5364000" cy="2664000"/>
          </a:xfrm>
          <a:prstGeom prst="rect">
            <a:avLst/>
          </a:prstGeom>
          <a:noFill/>
        </p:spPr>
        <p:txBody>
          <a:bodyPr wrap="square" lIns="36000" rIns="36000" tIns="18000" bIns="18000" anchor="t">
            <a:spAutoFit/>
          </a:bodyPr>
          <a:lstStyle/>
          <a:p>
            <a:pPr algn="l"/>
            <a:r>
              <a:rPr sz="1200" b="0" i="0">
                <a:solidFill>
                  <a:srgbClr val="33383F"/>
                </a:solidFill>
                <a:latin typeface="Yu Gothic"/>
              </a:rPr>
              <a:t>■ 公平性</a:t>
            </a:r>
          </a:p>
          <a:p>
            <a:pPr algn="l"/>
            <a:r>
              <a:rPr sz="1200" b="0" i="0">
                <a:solidFill>
                  <a:srgbClr val="33383F"/>
                </a:solidFill>
                <a:latin typeface="Yu Gothic"/>
              </a:rPr>
              <a:t>   他の介護サービスは利用者負担あり</a:t>
            </a:r>
          </a:p>
          <a:p>
            <a:pPr algn="l"/>
            <a:r>
              <a:rPr sz="1200" b="0" i="0">
                <a:solidFill>
                  <a:srgbClr val="33383F"/>
                </a:solidFill>
                <a:latin typeface="Yu Gothic"/>
              </a:rPr>
              <a:t>   居宅介護支援だけ 10 割給付の是正</a:t>
            </a:r>
          </a:p>
          <a:p>
            <a:pPr algn="l"/>
            <a:r>
              <a:rPr sz="1200" b="0" i="0">
                <a:solidFill>
                  <a:srgbClr val="33383F"/>
                </a:solidFill>
                <a:latin typeface="Yu Gothic"/>
              </a:rPr>
              <a:t/>
            </a:r>
          </a:p>
          <a:p>
            <a:pPr algn="l"/>
            <a:r>
              <a:rPr sz="1200" b="0" i="0">
                <a:solidFill>
                  <a:srgbClr val="33383F"/>
                </a:solidFill>
                <a:latin typeface="Yu Gothic"/>
              </a:rPr>
              <a:t>■ 質の向上</a:t>
            </a:r>
          </a:p>
          <a:p>
            <a:pPr algn="l"/>
            <a:r>
              <a:rPr sz="1200" b="0" i="0">
                <a:solidFill>
                  <a:srgbClr val="33383F"/>
                </a:solidFill>
                <a:latin typeface="Yu Gothic"/>
              </a:rPr>
              <a:t>   利用者がCMを選ぶインセンティブ</a:t>
            </a:r>
          </a:p>
          <a:p>
            <a:pPr algn="l"/>
            <a:r>
              <a:rPr sz="1200" b="0" i="0">
                <a:solidFill>
                  <a:srgbClr val="33383F"/>
                </a:solidFill>
                <a:latin typeface="Yu Gothic"/>
              </a:rPr>
              <a:t>   競争を通じた質の底上げ</a:t>
            </a:r>
          </a:p>
          <a:p>
            <a:pPr algn="l"/>
            <a:r>
              <a:rPr sz="1200" b="0" i="0">
                <a:solidFill>
                  <a:srgbClr val="33383F"/>
                </a:solidFill>
                <a:latin typeface="Yu Gothic"/>
              </a:rPr>
              <a:t/>
            </a:r>
          </a:p>
          <a:p>
            <a:pPr algn="l"/>
            <a:r>
              <a:rPr sz="1200" b="0" i="0">
                <a:solidFill>
                  <a:srgbClr val="33383F"/>
                </a:solidFill>
                <a:latin typeface="Yu Gothic"/>
              </a:rPr>
              <a:t>■ 制度の持続可能性</a:t>
            </a:r>
          </a:p>
          <a:p>
            <a:pPr algn="l"/>
            <a:r>
              <a:rPr sz="1200" b="0" i="0">
                <a:solidFill>
                  <a:srgbClr val="33383F"/>
                </a:solidFill>
                <a:latin typeface="Yu Gothic"/>
              </a:rPr>
              <a:t>   介護給付費の伸びを抑制</a:t>
            </a:r>
          </a:p>
          <a:p>
            <a:pPr algn="l"/>
            <a:r>
              <a:rPr sz="1200" b="0" i="0">
                <a:solidFill>
                  <a:srgbClr val="33383F"/>
                </a:solidFill>
                <a:latin typeface="Yu Gothic"/>
              </a:rPr>
              <a:t/>
            </a:r>
          </a:p>
          <a:p>
            <a:pPr algn="l"/>
            <a:r>
              <a:rPr sz="1200" b="0" i="0">
                <a:solidFill>
                  <a:srgbClr val="33383F"/>
                </a:solidFill>
                <a:latin typeface="Yu Gothic"/>
              </a:rPr>
              <a:t>■ 海外比較</a:t>
            </a:r>
          </a:p>
          <a:p>
            <a:pPr algn="l"/>
            <a:r>
              <a:rPr sz="1200" b="0" i="0">
                <a:solidFill>
                  <a:srgbClr val="33383F"/>
                </a:solidFill>
                <a:latin typeface="Yu Gothic"/>
              </a:rPr>
              <a:t>   独・仏では有料が一般的</a:t>
            </a:r>
          </a:p>
        </p:txBody>
      </p:sp>
      <p:sp>
        <p:nvSpPr>
          <p:cNvPr id="12" name="Rectangle 11"/>
          <p:cNvSpPr/>
          <p:nvPr/>
        </p:nvSpPr>
        <p:spPr>
          <a:xfrm>
            <a:off x="6300000" y="1620000"/>
            <a:ext cx="5400000" cy="360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2000" y="1656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慎重論</a:t>
            </a:r>
          </a:p>
        </p:txBody>
      </p:sp>
      <p:sp>
        <p:nvSpPr>
          <p:cNvPr id="14" name="Rectangle 13"/>
          <p:cNvSpPr/>
          <p:nvPr/>
        </p:nvSpPr>
        <p:spPr>
          <a:xfrm>
            <a:off x="6300000" y="1980000"/>
            <a:ext cx="5400000" cy="2700000"/>
          </a:xfrm>
          <a:prstGeom prst="rect">
            <a:avLst/>
          </a:prstGeom>
          <a:solidFill>
            <a:srgbClr val="FB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8000" y="2016000"/>
            <a:ext cx="5184000" cy="2664000"/>
          </a:xfrm>
          <a:prstGeom prst="rect">
            <a:avLst/>
          </a:prstGeom>
          <a:noFill/>
        </p:spPr>
        <p:txBody>
          <a:bodyPr wrap="square" lIns="36000" rIns="36000" tIns="18000" bIns="18000" anchor="t">
            <a:spAutoFit/>
          </a:bodyPr>
          <a:lstStyle/>
          <a:p>
            <a:pPr algn="l"/>
            <a:r>
              <a:rPr sz="1200" b="0" i="0">
                <a:solidFill>
                  <a:srgbClr val="33383F"/>
                </a:solidFill>
                <a:latin typeface="Yu Gothic"/>
              </a:rPr>
              <a:t>■ 介護離れの懸念</a:t>
            </a:r>
          </a:p>
          <a:p>
            <a:pPr algn="l"/>
            <a:r>
              <a:rPr sz="1200" b="0" i="0">
                <a:solidFill>
                  <a:srgbClr val="33383F"/>
                </a:solidFill>
                <a:latin typeface="Yu Gothic"/>
              </a:rPr>
              <a:t>   負担を嫌い、CM を介さない自己作成</a:t>
            </a:r>
          </a:p>
          <a:p>
            <a:pPr algn="l"/>
            <a:r>
              <a:rPr sz="1200" b="0" i="0">
                <a:solidFill>
                  <a:srgbClr val="33383F"/>
                </a:solidFill>
                <a:latin typeface="Yu Gothic"/>
              </a:rPr>
              <a:t>   増加 → 質の低下リスク</a:t>
            </a:r>
          </a:p>
          <a:p>
            <a:pPr algn="l"/>
            <a:r>
              <a:rPr sz="1200" b="0" i="0">
                <a:solidFill>
                  <a:srgbClr val="33383F"/>
                </a:solidFill>
                <a:latin typeface="Yu Gothic"/>
              </a:rPr>
              <a:t/>
            </a:r>
          </a:p>
          <a:p>
            <a:pPr algn="l"/>
            <a:r>
              <a:rPr sz="1200" b="0" i="0">
                <a:solidFill>
                  <a:srgbClr val="33383F"/>
                </a:solidFill>
                <a:latin typeface="Yu Gothic"/>
              </a:rPr>
              <a:t>■ 公正中立性への影響</a:t>
            </a:r>
          </a:p>
          <a:p>
            <a:pPr algn="l"/>
            <a:r>
              <a:rPr sz="1200" b="0" i="0">
                <a:solidFill>
                  <a:srgbClr val="33383F"/>
                </a:solidFill>
                <a:latin typeface="Yu Gothic"/>
              </a:rPr>
              <a:t>   利用者の経済力により選別される</a:t>
            </a:r>
          </a:p>
          <a:p>
            <a:pPr algn="l"/>
            <a:r>
              <a:rPr sz="1200" b="0" i="0">
                <a:solidFill>
                  <a:srgbClr val="33383F"/>
                </a:solidFill>
                <a:latin typeface="Yu Gothic"/>
              </a:rPr>
              <a:t>   サービスの偏在</a:t>
            </a:r>
          </a:p>
          <a:p>
            <a:pPr algn="l"/>
            <a:r>
              <a:rPr sz="1200" b="0" i="0">
                <a:solidFill>
                  <a:srgbClr val="33383F"/>
                </a:solidFill>
                <a:latin typeface="Yu Gothic"/>
              </a:rPr>
              <a:t/>
            </a:r>
          </a:p>
          <a:p>
            <a:pPr algn="l"/>
            <a:r>
              <a:rPr sz="1200" b="0" i="0">
                <a:solidFill>
                  <a:srgbClr val="33383F"/>
                </a:solidFill>
                <a:latin typeface="Yu Gothic"/>
              </a:rPr>
              <a:t>■ 制度趣旨との整合</a:t>
            </a:r>
          </a:p>
          <a:p>
            <a:pPr algn="l"/>
            <a:r>
              <a:rPr sz="1200" b="0" i="0">
                <a:solidFill>
                  <a:srgbClr val="33383F"/>
                </a:solidFill>
                <a:latin typeface="Yu Gothic"/>
              </a:rPr>
              <a:t>   「いつでも誰でも相談できる窓口」</a:t>
            </a:r>
          </a:p>
          <a:p>
            <a:pPr algn="l"/>
            <a:r>
              <a:rPr sz="1200" b="0" i="0">
                <a:solidFill>
                  <a:srgbClr val="33383F"/>
                </a:solidFill>
                <a:latin typeface="Yu Gothic"/>
              </a:rPr>
              <a:t>   としての機能の毀損</a:t>
            </a:r>
          </a:p>
          <a:p>
            <a:pPr algn="l"/>
            <a:r>
              <a:rPr sz="1200" b="0" i="0">
                <a:solidFill>
                  <a:srgbClr val="33383F"/>
                </a:solidFill>
                <a:latin typeface="Yu Gothic"/>
              </a:rPr>
              <a:t/>
            </a:r>
          </a:p>
          <a:p>
            <a:pPr algn="l"/>
            <a:r>
              <a:rPr sz="1200" b="0" i="0">
                <a:solidFill>
                  <a:srgbClr val="33383F"/>
                </a:solidFill>
                <a:latin typeface="Yu Gothic"/>
              </a:rPr>
              <a:t>■ 自己作成の運用負荷</a:t>
            </a:r>
          </a:p>
          <a:p>
            <a:pPr algn="l"/>
            <a:r>
              <a:rPr sz="1200" b="0" i="0">
                <a:solidFill>
                  <a:srgbClr val="33383F"/>
                </a:solidFill>
                <a:latin typeface="Yu Gothic"/>
              </a:rPr>
              <a:t>   保険者・包括への負担増</a:t>
            </a:r>
          </a:p>
        </p:txBody>
      </p:sp>
      <p:sp>
        <p:nvSpPr>
          <p:cNvPr id="16" name="Rectangle 15"/>
          <p:cNvSpPr/>
          <p:nvPr/>
        </p:nvSpPr>
        <p:spPr>
          <a:xfrm>
            <a:off x="432000" y="4860000"/>
            <a:ext cx="11304000" cy="360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4000" y="489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現実的なシナリオ予測</a:t>
            </a:r>
          </a:p>
        </p:txBody>
      </p:sp>
      <p:sp>
        <p:nvSpPr>
          <p:cNvPr id="18" name="Rectangle 17"/>
          <p:cNvSpPr/>
          <p:nvPr/>
        </p:nvSpPr>
        <p:spPr>
          <a:xfrm>
            <a:off x="432000" y="5220000"/>
            <a:ext cx="11304000" cy="90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0000" y="5256000"/>
            <a:ext cx="11088000" cy="864000"/>
          </a:xfrm>
          <a:prstGeom prst="rect">
            <a:avLst/>
          </a:prstGeom>
          <a:noFill/>
        </p:spPr>
        <p:txBody>
          <a:bodyPr wrap="square" lIns="36000" rIns="36000" tIns="18000" bIns="18000" anchor="t">
            <a:spAutoFit/>
          </a:bodyPr>
          <a:lstStyle/>
          <a:p>
            <a:pPr algn="l"/>
            <a:r>
              <a:rPr sz="1200" b="0" i="0">
                <a:solidFill>
                  <a:srgbClr val="33383F"/>
                </a:solidFill>
                <a:latin typeface="Yu Gothic"/>
              </a:rPr>
              <a:t>■ R9 で 全面有料化 の可能性は低いが、 部分導入(高所得者・特定事業所利用者等) の議論は加速</a:t>
            </a:r>
          </a:p>
          <a:p>
            <a:pPr algn="l"/>
            <a:r>
              <a:rPr sz="1200" b="0" i="0">
                <a:solidFill>
                  <a:srgbClr val="33383F"/>
                </a:solidFill>
                <a:latin typeface="Yu Gothic"/>
              </a:rPr>
              <a:t>■ 段階導入・低額負担からの試行も視野</a:t>
            </a:r>
          </a:p>
          <a:p>
            <a:pPr algn="l"/>
            <a:r>
              <a:rPr sz="1200" b="0" i="0">
                <a:solidFill>
                  <a:srgbClr val="33383F"/>
                </a:solidFill>
                <a:latin typeface="Yu Gothic"/>
              </a:rPr>
              <a:t>■ いずれにしても、 CM の選ばれる存在 への変化が問われる</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6. R9 改定への論点</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論点 2 ― 主任 CM の位置づけ強化の方向性</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31 / 38</a:t>
            </a:r>
          </a:p>
        </p:txBody>
      </p:sp>
      <p:sp>
        <p:nvSpPr>
          <p:cNvPr id="8" name="Rectangle 7"/>
          <p:cNvSpPr/>
          <p:nvPr/>
        </p:nvSpPr>
        <p:spPr>
          <a:xfrm>
            <a:off x="390059" y="1620000"/>
            <a:ext cx="2772000" cy="432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2059" y="1674000"/>
            <a:ext cx="2628000" cy="360000"/>
          </a:xfrm>
          <a:prstGeom prst="rect">
            <a:avLst/>
          </a:prstGeom>
          <a:noFill/>
        </p:spPr>
        <p:txBody>
          <a:bodyPr wrap="square" lIns="36000" rIns="36000" tIns="18000" bIns="18000" anchor="ctr">
            <a:spAutoFit/>
          </a:bodyPr>
          <a:lstStyle/>
          <a:p>
            <a:pPr algn="ctr"/>
            <a:r>
              <a:rPr sz="1400" b="1" i="0">
                <a:solidFill>
                  <a:srgbClr val="FFFFFF"/>
                </a:solidFill>
                <a:latin typeface="Yu Gothic"/>
              </a:rPr>
              <a:t>管理者要件</a:t>
            </a:r>
          </a:p>
        </p:txBody>
      </p:sp>
      <p:sp>
        <p:nvSpPr>
          <p:cNvPr id="10" name="Rectangle 9"/>
          <p:cNvSpPr/>
          <p:nvPr/>
        </p:nvSpPr>
        <p:spPr>
          <a:xfrm>
            <a:off x="390059" y="2052000"/>
            <a:ext cx="2772000" cy="3168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059" y="2123999"/>
            <a:ext cx="2556000" cy="3024000"/>
          </a:xfrm>
          <a:prstGeom prst="rect">
            <a:avLst/>
          </a:prstGeom>
          <a:noFill/>
        </p:spPr>
        <p:txBody>
          <a:bodyPr wrap="square" lIns="36000" rIns="36000" tIns="18000" bIns="18000" anchor="t">
            <a:spAutoFit/>
          </a:bodyPr>
          <a:lstStyle/>
          <a:p>
            <a:pPr algn="l">
              <a:lnSpc>
                <a:spcPct val="135000"/>
              </a:lnSpc>
            </a:pPr>
            <a:r>
              <a:rPr sz="1100" b="0" i="0">
                <a:solidFill>
                  <a:srgbClr val="33383F"/>
                </a:solidFill>
                <a:latin typeface="Yu Gothic"/>
              </a:rPr>
              <a:t>現状:R9 以降、管理者は</a:t>
            </a:r>
          </a:p>
          <a:p>
            <a:pPr algn="l">
              <a:lnSpc>
                <a:spcPct val="135000"/>
              </a:lnSpc>
            </a:pPr>
            <a:r>
              <a:rPr sz="1100" b="0" i="0">
                <a:solidFill>
                  <a:srgbClr val="33383F"/>
                </a:solidFill>
                <a:latin typeface="Yu Gothic"/>
              </a:rPr>
              <a:t>主任CM が原則(経過措置中)</a:t>
            </a:r>
          </a:p>
          <a:p>
            <a:pPr algn="l">
              <a:lnSpc>
                <a:spcPct val="135000"/>
              </a:lnSpc>
            </a:pPr>
            <a:r>
              <a:rPr sz="1100" b="0" i="0">
                <a:solidFill>
                  <a:srgbClr val="33383F"/>
                </a:solidFill>
                <a:latin typeface="Yu Gothic"/>
              </a:rPr>
              <a:t/>
            </a:r>
          </a:p>
          <a:p>
            <a:pPr algn="l">
              <a:lnSpc>
                <a:spcPct val="135000"/>
              </a:lnSpc>
            </a:pPr>
            <a:r>
              <a:rPr sz="1100" b="0" i="0">
                <a:solidFill>
                  <a:srgbClr val="33383F"/>
                </a:solidFill>
                <a:latin typeface="Yu Gothic"/>
              </a:rPr>
              <a:t>→ 経過措置の終了タイミング</a:t>
            </a:r>
          </a:p>
          <a:p>
            <a:pPr algn="l">
              <a:lnSpc>
                <a:spcPct val="135000"/>
              </a:lnSpc>
            </a:pPr>
            <a:r>
              <a:rPr sz="1100" b="0" i="0">
                <a:solidFill>
                  <a:srgbClr val="33383F"/>
                </a:solidFill>
                <a:latin typeface="Yu Gothic"/>
              </a:rPr>
              <a:t>→ 移行猶予の延長議論</a:t>
            </a:r>
          </a:p>
        </p:txBody>
      </p:sp>
      <p:sp>
        <p:nvSpPr>
          <p:cNvPr id="12" name="Rectangle 11"/>
          <p:cNvSpPr/>
          <p:nvPr/>
        </p:nvSpPr>
        <p:spPr>
          <a:xfrm>
            <a:off x="3270059" y="1620000"/>
            <a:ext cx="2772000" cy="432000"/>
          </a:xfrm>
          <a:prstGeom prst="rect">
            <a:avLst/>
          </a:prstGeom>
          <a:solidFill>
            <a:srgbClr val="375A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42059" y="1674000"/>
            <a:ext cx="2628000" cy="360000"/>
          </a:xfrm>
          <a:prstGeom prst="rect">
            <a:avLst/>
          </a:prstGeom>
          <a:noFill/>
        </p:spPr>
        <p:txBody>
          <a:bodyPr wrap="square" lIns="36000" rIns="36000" tIns="18000" bIns="18000" anchor="ctr">
            <a:spAutoFit/>
          </a:bodyPr>
          <a:lstStyle/>
          <a:p>
            <a:pPr algn="ctr"/>
            <a:r>
              <a:rPr sz="1400" b="1" i="0">
                <a:solidFill>
                  <a:srgbClr val="FFFFFF"/>
                </a:solidFill>
                <a:latin typeface="Yu Gothic"/>
              </a:rPr>
              <a:t>配置加算</a:t>
            </a:r>
          </a:p>
        </p:txBody>
      </p:sp>
      <p:sp>
        <p:nvSpPr>
          <p:cNvPr id="14" name="Rectangle 13"/>
          <p:cNvSpPr/>
          <p:nvPr/>
        </p:nvSpPr>
        <p:spPr>
          <a:xfrm>
            <a:off x="3270059" y="2052000"/>
            <a:ext cx="2772000" cy="3168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78059" y="2123999"/>
            <a:ext cx="2556000" cy="3024000"/>
          </a:xfrm>
          <a:prstGeom prst="rect">
            <a:avLst/>
          </a:prstGeom>
          <a:noFill/>
        </p:spPr>
        <p:txBody>
          <a:bodyPr wrap="square" lIns="36000" rIns="36000" tIns="18000" bIns="18000" anchor="t">
            <a:spAutoFit/>
          </a:bodyPr>
          <a:lstStyle/>
          <a:p>
            <a:pPr algn="l">
              <a:lnSpc>
                <a:spcPct val="135000"/>
              </a:lnSpc>
            </a:pPr>
            <a:r>
              <a:rPr sz="1100" b="0" i="0">
                <a:solidFill>
                  <a:srgbClr val="33383F"/>
                </a:solidFill>
                <a:latin typeface="Yu Gothic"/>
              </a:rPr>
              <a:t>特定事業所加算における</a:t>
            </a:r>
          </a:p>
          <a:p>
            <a:pPr algn="l">
              <a:lnSpc>
                <a:spcPct val="135000"/>
              </a:lnSpc>
            </a:pPr>
            <a:r>
              <a:rPr sz="1100" b="0" i="0">
                <a:solidFill>
                  <a:srgbClr val="33383F"/>
                </a:solidFill>
                <a:latin typeface="Yu Gothic"/>
              </a:rPr>
              <a:t>主任CM 配置の要件強化</a:t>
            </a:r>
          </a:p>
          <a:p>
            <a:pPr algn="l">
              <a:lnSpc>
                <a:spcPct val="135000"/>
              </a:lnSpc>
            </a:pPr>
            <a:r>
              <a:rPr sz="1100" b="0" i="0">
                <a:solidFill>
                  <a:srgbClr val="33383F"/>
                </a:solidFill>
                <a:latin typeface="Yu Gothic"/>
              </a:rPr>
              <a:t/>
            </a:r>
          </a:p>
          <a:p>
            <a:pPr algn="l">
              <a:lnSpc>
                <a:spcPct val="135000"/>
              </a:lnSpc>
            </a:pPr>
            <a:r>
              <a:rPr sz="1100" b="0" i="0">
                <a:solidFill>
                  <a:srgbClr val="33383F"/>
                </a:solidFill>
                <a:latin typeface="Yu Gothic"/>
              </a:rPr>
              <a:t>→ 複数配置の評価拡大</a:t>
            </a:r>
          </a:p>
          <a:p>
            <a:pPr algn="l">
              <a:lnSpc>
                <a:spcPct val="135000"/>
              </a:lnSpc>
            </a:pPr>
            <a:r>
              <a:rPr sz="1100" b="0" i="0">
                <a:solidFill>
                  <a:srgbClr val="33383F"/>
                </a:solidFill>
                <a:latin typeface="Yu Gothic"/>
              </a:rPr>
              <a:t>→ 機能要件(指導実態)の明確化</a:t>
            </a:r>
          </a:p>
        </p:txBody>
      </p:sp>
      <p:sp>
        <p:nvSpPr>
          <p:cNvPr id="16" name="Rectangle 15"/>
          <p:cNvSpPr/>
          <p:nvPr/>
        </p:nvSpPr>
        <p:spPr>
          <a:xfrm>
            <a:off x="6150059" y="1620000"/>
            <a:ext cx="2772000" cy="432000"/>
          </a:xfrm>
          <a:prstGeom prst="rect">
            <a:avLst/>
          </a:prstGeom>
          <a:solidFill>
            <a:srgbClr val="E0A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22059" y="1674000"/>
            <a:ext cx="2628000" cy="360000"/>
          </a:xfrm>
          <a:prstGeom prst="rect">
            <a:avLst/>
          </a:prstGeom>
          <a:noFill/>
        </p:spPr>
        <p:txBody>
          <a:bodyPr wrap="square" lIns="36000" rIns="36000" tIns="18000" bIns="18000" anchor="ctr">
            <a:spAutoFit/>
          </a:bodyPr>
          <a:lstStyle/>
          <a:p>
            <a:pPr algn="ctr"/>
            <a:r>
              <a:rPr sz="1400" b="1" i="0">
                <a:solidFill>
                  <a:srgbClr val="FFFFFF"/>
                </a:solidFill>
                <a:latin typeface="Yu Gothic"/>
              </a:rPr>
              <a:t>育成 / 研修</a:t>
            </a:r>
          </a:p>
        </p:txBody>
      </p:sp>
      <p:sp>
        <p:nvSpPr>
          <p:cNvPr id="18" name="Rectangle 17"/>
          <p:cNvSpPr/>
          <p:nvPr/>
        </p:nvSpPr>
        <p:spPr>
          <a:xfrm>
            <a:off x="6150059" y="2052000"/>
            <a:ext cx="2772000" cy="3168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8059" y="2123999"/>
            <a:ext cx="2556000" cy="3024000"/>
          </a:xfrm>
          <a:prstGeom prst="rect">
            <a:avLst/>
          </a:prstGeom>
          <a:noFill/>
        </p:spPr>
        <p:txBody>
          <a:bodyPr wrap="square" lIns="36000" rIns="36000" tIns="18000" bIns="18000" anchor="t">
            <a:spAutoFit/>
          </a:bodyPr>
          <a:lstStyle/>
          <a:p>
            <a:pPr algn="l">
              <a:lnSpc>
                <a:spcPct val="135000"/>
              </a:lnSpc>
            </a:pPr>
            <a:r>
              <a:rPr sz="1100" b="0" i="0">
                <a:solidFill>
                  <a:srgbClr val="33383F"/>
                </a:solidFill>
                <a:latin typeface="Yu Gothic"/>
              </a:rPr>
              <a:t>主任研修 ・ 更新研修の</a:t>
            </a:r>
          </a:p>
          <a:p>
            <a:pPr algn="l">
              <a:lnSpc>
                <a:spcPct val="135000"/>
              </a:lnSpc>
            </a:pPr>
            <a:r>
              <a:rPr sz="1100" b="0" i="0">
                <a:solidFill>
                  <a:srgbClr val="33383F"/>
                </a:solidFill>
                <a:latin typeface="Yu Gothic"/>
              </a:rPr>
              <a:t>質と量の見直し</a:t>
            </a:r>
          </a:p>
          <a:p>
            <a:pPr algn="l">
              <a:lnSpc>
                <a:spcPct val="135000"/>
              </a:lnSpc>
            </a:pPr>
            <a:r>
              <a:rPr sz="1100" b="0" i="0">
                <a:solidFill>
                  <a:srgbClr val="33383F"/>
                </a:solidFill>
                <a:latin typeface="Yu Gothic"/>
              </a:rPr>
              <a:t/>
            </a:r>
          </a:p>
          <a:p>
            <a:pPr algn="l">
              <a:lnSpc>
                <a:spcPct val="135000"/>
              </a:lnSpc>
            </a:pPr>
            <a:r>
              <a:rPr sz="1100" b="0" i="0">
                <a:solidFill>
                  <a:srgbClr val="33383F"/>
                </a:solidFill>
                <a:latin typeface="Yu Gothic"/>
              </a:rPr>
              <a:t>→ ICT 活用研修の追加</a:t>
            </a:r>
          </a:p>
          <a:p>
            <a:pPr algn="l">
              <a:lnSpc>
                <a:spcPct val="135000"/>
              </a:lnSpc>
            </a:pPr>
            <a:r>
              <a:rPr sz="1100" b="0" i="0">
                <a:solidFill>
                  <a:srgbClr val="33383F"/>
                </a:solidFill>
                <a:latin typeface="Yu Gothic"/>
              </a:rPr>
              <a:t>→ 法定研修体系の再編議論</a:t>
            </a:r>
          </a:p>
        </p:txBody>
      </p:sp>
      <p:sp>
        <p:nvSpPr>
          <p:cNvPr id="20" name="Rectangle 19"/>
          <p:cNvSpPr/>
          <p:nvPr/>
        </p:nvSpPr>
        <p:spPr>
          <a:xfrm>
            <a:off x="9030059" y="1620000"/>
            <a:ext cx="2772000" cy="4320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02059" y="1674000"/>
            <a:ext cx="2628000" cy="360000"/>
          </a:xfrm>
          <a:prstGeom prst="rect">
            <a:avLst/>
          </a:prstGeom>
          <a:noFill/>
        </p:spPr>
        <p:txBody>
          <a:bodyPr wrap="square" lIns="36000" rIns="36000" tIns="18000" bIns="18000" anchor="ctr">
            <a:spAutoFit/>
          </a:bodyPr>
          <a:lstStyle/>
          <a:p>
            <a:pPr algn="ctr"/>
            <a:r>
              <a:rPr sz="1400" b="1" i="0">
                <a:solidFill>
                  <a:srgbClr val="FFFFFF"/>
                </a:solidFill>
                <a:latin typeface="Yu Gothic"/>
              </a:rPr>
              <a:t>地域での役割</a:t>
            </a:r>
          </a:p>
        </p:txBody>
      </p:sp>
      <p:sp>
        <p:nvSpPr>
          <p:cNvPr id="22" name="Rectangle 21"/>
          <p:cNvSpPr/>
          <p:nvPr/>
        </p:nvSpPr>
        <p:spPr>
          <a:xfrm>
            <a:off x="9030059" y="2052000"/>
            <a:ext cx="2772000" cy="3168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38059" y="2123999"/>
            <a:ext cx="2556000" cy="3024000"/>
          </a:xfrm>
          <a:prstGeom prst="rect">
            <a:avLst/>
          </a:prstGeom>
          <a:noFill/>
        </p:spPr>
        <p:txBody>
          <a:bodyPr wrap="square" lIns="36000" rIns="36000" tIns="18000" bIns="18000" anchor="t">
            <a:spAutoFit/>
          </a:bodyPr>
          <a:lstStyle/>
          <a:p>
            <a:pPr algn="l">
              <a:lnSpc>
                <a:spcPct val="135000"/>
              </a:lnSpc>
            </a:pPr>
            <a:r>
              <a:rPr sz="1100" b="0" i="0">
                <a:solidFill>
                  <a:srgbClr val="33383F"/>
                </a:solidFill>
                <a:latin typeface="Yu Gothic"/>
              </a:rPr>
              <a:t>地域包括ケアの中核</a:t>
            </a:r>
          </a:p>
          <a:p>
            <a:pPr algn="l">
              <a:lnSpc>
                <a:spcPct val="135000"/>
              </a:lnSpc>
            </a:pPr>
            <a:r>
              <a:rPr sz="1100" b="0" i="0">
                <a:solidFill>
                  <a:srgbClr val="33383F"/>
                </a:solidFill>
                <a:latin typeface="Yu Gothic"/>
              </a:rPr>
              <a:t>地域ケア会議の運営支援</a:t>
            </a:r>
          </a:p>
          <a:p>
            <a:pPr algn="l">
              <a:lnSpc>
                <a:spcPct val="135000"/>
              </a:lnSpc>
            </a:pPr>
            <a:r>
              <a:rPr sz="1100" b="0" i="0">
                <a:solidFill>
                  <a:srgbClr val="33383F"/>
                </a:solidFill>
                <a:latin typeface="Yu Gothic"/>
              </a:rPr>
              <a:t/>
            </a:r>
          </a:p>
          <a:p>
            <a:pPr algn="l">
              <a:lnSpc>
                <a:spcPct val="135000"/>
              </a:lnSpc>
            </a:pPr>
            <a:r>
              <a:rPr sz="1100" b="0" i="0">
                <a:solidFill>
                  <a:srgbClr val="33383F"/>
                </a:solidFill>
                <a:latin typeface="Yu Gothic"/>
              </a:rPr>
              <a:t>→ 報酬体系での評価</a:t>
            </a:r>
          </a:p>
          <a:p>
            <a:pPr algn="l">
              <a:lnSpc>
                <a:spcPct val="135000"/>
              </a:lnSpc>
            </a:pPr>
            <a:r>
              <a:rPr sz="1100" b="0" i="0">
                <a:solidFill>
                  <a:srgbClr val="33383F"/>
                </a:solidFill>
                <a:latin typeface="Yu Gothic"/>
              </a:rPr>
              <a:t>→ 兼任・派遣の柔軟化</a:t>
            </a:r>
          </a:p>
        </p:txBody>
      </p:sp>
      <p:sp>
        <p:nvSpPr>
          <p:cNvPr id="24" name="Rectangle 23"/>
          <p:cNvSpPr/>
          <p:nvPr/>
        </p:nvSpPr>
        <p:spPr>
          <a:xfrm>
            <a:off x="432000" y="5400000"/>
            <a:ext cx="11304000" cy="360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4000" y="543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主任CMの「数」と「機能」の両立がR9 の焦点</a:t>
            </a:r>
          </a:p>
        </p:txBody>
      </p:sp>
      <p:sp>
        <p:nvSpPr>
          <p:cNvPr id="26" name="Rectangle 25"/>
          <p:cNvSpPr/>
          <p:nvPr/>
        </p:nvSpPr>
        <p:spPr>
          <a:xfrm>
            <a:off x="432000" y="5760000"/>
            <a:ext cx="11304000" cy="36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0000" y="5796000"/>
            <a:ext cx="11088000" cy="324000"/>
          </a:xfrm>
          <a:prstGeom prst="rect">
            <a:avLst/>
          </a:prstGeom>
          <a:noFill/>
        </p:spPr>
        <p:txBody>
          <a:bodyPr wrap="square" lIns="36000" rIns="36000" tIns="18000" bIns="18000" anchor="t">
            <a:spAutoFit/>
          </a:bodyPr>
          <a:lstStyle/>
          <a:p>
            <a:pPr algn="l"/>
            <a:r>
              <a:rPr sz="1200" b="0" i="0">
                <a:solidFill>
                  <a:srgbClr val="33383F"/>
                </a:solidFill>
                <a:latin typeface="Yu Gothic"/>
              </a:rPr>
              <a:t>■ 全国的に主任CM が不足 → 養成スピード vs 質の維持のバランス</a:t>
            </a:r>
          </a:p>
          <a:p>
            <a:pPr algn="l"/>
            <a:r>
              <a:rPr sz="1200" b="0" i="0">
                <a:solidFill>
                  <a:srgbClr val="33383F"/>
                </a:solidFill>
                <a:latin typeface="Yu Gothic"/>
              </a:rPr>
              <a:t>■ 「機能していない主任CM」を生まない仕組みの議論</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6. R9 改定への論点</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論点 3 ― アウトカム評価の本格導入</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32 / 38</a:t>
            </a:r>
          </a:p>
        </p:txBody>
      </p:sp>
      <p:sp>
        <p:nvSpPr>
          <p:cNvPr id="8" name="Rectangle 7"/>
          <p:cNvSpPr/>
          <p:nvPr/>
        </p:nvSpPr>
        <p:spPr>
          <a:xfrm>
            <a:off x="432000" y="1620000"/>
            <a:ext cx="11304000" cy="360000"/>
          </a:xfrm>
          <a:prstGeom prst="rect">
            <a:avLst/>
          </a:prstGeom>
          <a:solidFill>
            <a:srgbClr val="E0A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65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アウトカム評価とは</a:t>
            </a:r>
          </a:p>
        </p:txBody>
      </p:sp>
      <p:sp>
        <p:nvSpPr>
          <p:cNvPr id="10" name="Rectangle 9"/>
          <p:cNvSpPr/>
          <p:nvPr/>
        </p:nvSpPr>
        <p:spPr>
          <a:xfrm>
            <a:off x="432000" y="1980000"/>
            <a:ext cx="11304000" cy="1080000"/>
          </a:xfrm>
          <a:prstGeom prst="rect">
            <a:avLst/>
          </a:prstGeom>
          <a:solidFill>
            <a:srgbClr val="FBF1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2016000"/>
            <a:ext cx="11088000" cy="1044000"/>
          </a:xfrm>
          <a:prstGeom prst="rect">
            <a:avLst/>
          </a:prstGeom>
          <a:noFill/>
        </p:spPr>
        <p:txBody>
          <a:bodyPr wrap="square" lIns="36000" rIns="36000" tIns="18000" bIns="18000" anchor="t">
            <a:spAutoFit/>
          </a:bodyPr>
          <a:lstStyle/>
          <a:p>
            <a:pPr algn="l"/>
            <a:r>
              <a:rPr sz="1300" b="0" i="0">
                <a:solidFill>
                  <a:srgbClr val="33383F"/>
                </a:solidFill>
                <a:latin typeface="Yu Gothic"/>
              </a:rPr>
              <a:t>■ プロセス評価(何を行ったか)から、アウトカム評価(どんな結果が出たか)への転換</a:t>
            </a:r>
          </a:p>
          <a:p>
            <a:pPr algn="l"/>
            <a:r>
              <a:rPr sz="1300" b="0" i="0">
                <a:solidFill>
                  <a:srgbClr val="33383F"/>
                </a:solidFill>
                <a:latin typeface="Yu Gothic"/>
              </a:rPr>
              <a:t>■ 例:ADL の維持 / 改善、認知機能の悪化抑制、入院抑制、自宅生活継続期間</a:t>
            </a:r>
          </a:p>
          <a:p>
            <a:pPr algn="l"/>
            <a:r>
              <a:rPr sz="1300" b="0" i="0">
                <a:solidFill>
                  <a:srgbClr val="33383F"/>
                </a:solidFill>
                <a:latin typeface="Yu Gothic"/>
              </a:rPr>
              <a:t>■ サービス事業所(訪問・通所等)で既に始まっており、居宅介護支援への波及が論点</a:t>
            </a:r>
          </a:p>
        </p:txBody>
      </p:sp>
      <p:sp>
        <p:nvSpPr>
          <p:cNvPr id="12" name="Rectangle 11"/>
          <p:cNvSpPr/>
          <p:nvPr/>
        </p:nvSpPr>
        <p:spPr>
          <a:xfrm>
            <a:off x="432000" y="3240000"/>
            <a:ext cx="5580000" cy="360000"/>
          </a:xfrm>
          <a:prstGeom prst="rect">
            <a:avLst/>
          </a:prstGeom>
          <a:solidFill>
            <a:srgbClr val="375A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000" y="3276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想定される指標例</a:t>
            </a:r>
          </a:p>
        </p:txBody>
      </p:sp>
      <p:sp>
        <p:nvSpPr>
          <p:cNvPr id="14" name="Rectangle 13"/>
          <p:cNvSpPr/>
          <p:nvPr/>
        </p:nvSpPr>
        <p:spPr>
          <a:xfrm>
            <a:off x="432000" y="3600000"/>
            <a:ext cx="5580000" cy="252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000" y="3636000"/>
            <a:ext cx="5364000" cy="2484000"/>
          </a:xfrm>
          <a:prstGeom prst="rect">
            <a:avLst/>
          </a:prstGeom>
          <a:noFill/>
        </p:spPr>
        <p:txBody>
          <a:bodyPr wrap="square" lIns="36000" rIns="36000" tIns="18000" bIns="18000" anchor="t">
            <a:spAutoFit/>
          </a:bodyPr>
          <a:lstStyle/>
          <a:p>
            <a:pPr algn="l"/>
            <a:r>
              <a:rPr sz="1200" b="0" i="0">
                <a:solidFill>
                  <a:srgbClr val="33383F"/>
                </a:solidFill>
                <a:latin typeface="Yu Gothic"/>
              </a:rPr>
              <a:t>■ 利用者の自立度の維持・改善割合</a:t>
            </a:r>
          </a:p>
          <a:p>
            <a:pPr algn="l"/>
            <a:r>
              <a:rPr sz="1200" b="0" i="0">
                <a:solidFill>
                  <a:srgbClr val="33383F"/>
                </a:solidFill>
                <a:latin typeface="Yu Gothic"/>
              </a:rPr>
              <a:t/>
            </a:r>
          </a:p>
          <a:p>
            <a:pPr algn="l"/>
            <a:r>
              <a:rPr sz="1200" b="0" i="0">
                <a:solidFill>
                  <a:srgbClr val="33383F"/>
                </a:solidFill>
                <a:latin typeface="Yu Gothic"/>
              </a:rPr>
              <a:t>■ 計画的なサービス調整による</a:t>
            </a:r>
          </a:p>
          <a:p>
            <a:pPr algn="l"/>
            <a:r>
              <a:rPr sz="1200" b="0" i="0">
                <a:solidFill>
                  <a:srgbClr val="33383F"/>
                </a:solidFill>
                <a:latin typeface="Yu Gothic"/>
              </a:rPr>
              <a:t>   重度化抑制率</a:t>
            </a:r>
          </a:p>
          <a:p>
            <a:pPr algn="l"/>
            <a:r>
              <a:rPr sz="1200" b="0" i="0">
                <a:solidFill>
                  <a:srgbClr val="33383F"/>
                </a:solidFill>
                <a:latin typeface="Yu Gothic"/>
              </a:rPr>
              <a:t/>
            </a:r>
          </a:p>
          <a:p>
            <a:pPr algn="l"/>
            <a:r>
              <a:rPr sz="1200" b="0" i="0">
                <a:solidFill>
                  <a:srgbClr val="33383F"/>
                </a:solidFill>
                <a:latin typeface="Yu Gothic"/>
              </a:rPr>
              <a:t>■ 緊急入院・救急搬送の発生率</a:t>
            </a:r>
          </a:p>
          <a:p>
            <a:pPr algn="l"/>
            <a:r>
              <a:rPr sz="1200" b="0" i="0">
                <a:solidFill>
                  <a:srgbClr val="33383F"/>
                </a:solidFill>
                <a:latin typeface="Yu Gothic"/>
              </a:rPr>
              <a:t/>
            </a:r>
          </a:p>
          <a:p>
            <a:pPr algn="l"/>
            <a:r>
              <a:rPr sz="1200" b="0" i="0">
                <a:solidFill>
                  <a:srgbClr val="33383F"/>
                </a:solidFill>
                <a:latin typeface="Yu Gothic"/>
              </a:rPr>
              <a:t>■ 看取り対応の質(本人意向の尊重)</a:t>
            </a:r>
          </a:p>
          <a:p>
            <a:pPr algn="l"/>
            <a:r>
              <a:rPr sz="1200" b="0" i="0">
                <a:solidFill>
                  <a:srgbClr val="33383F"/>
                </a:solidFill>
                <a:latin typeface="Yu Gothic"/>
              </a:rPr>
              <a:t/>
            </a:r>
          </a:p>
          <a:p>
            <a:pPr algn="l"/>
            <a:r>
              <a:rPr sz="1200" b="0" i="0">
                <a:solidFill>
                  <a:srgbClr val="33383F"/>
                </a:solidFill>
                <a:latin typeface="Yu Gothic"/>
              </a:rPr>
              <a:t>■ 在宅生活継続日数</a:t>
            </a:r>
          </a:p>
        </p:txBody>
      </p:sp>
      <p:sp>
        <p:nvSpPr>
          <p:cNvPr id="16" name="Rectangle 15"/>
          <p:cNvSpPr/>
          <p:nvPr/>
        </p:nvSpPr>
        <p:spPr>
          <a:xfrm>
            <a:off x="6300000" y="3240000"/>
            <a:ext cx="5400000" cy="360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2000" y="3276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実装上の課題</a:t>
            </a:r>
          </a:p>
        </p:txBody>
      </p:sp>
      <p:sp>
        <p:nvSpPr>
          <p:cNvPr id="18" name="Rectangle 17"/>
          <p:cNvSpPr/>
          <p:nvPr/>
        </p:nvSpPr>
        <p:spPr>
          <a:xfrm>
            <a:off x="6300000" y="3600000"/>
            <a:ext cx="5400000" cy="2520000"/>
          </a:xfrm>
          <a:prstGeom prst="rect">
            <a:avLst/>
          </a:prstGeom>
          <a:solidFill>
            <a:srgbClr val="FB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8000" y="3636000"/>
            <a:ext cx="5184000" cy="2484000"/>
          </a:xfrm>
          <a:prstGeom prst="rect">
            <a:avLst/>
          </a:prstGeom>
          <a:noFill/>
        </p:spPr>
        <p:txBody>
          <a:bodyPr wrap="square" lIns="36000" rIns="36000" tIns="18000" bIns="18000" anchor="t">
            <a:spAutoFit/>
          </a:bodyPr>
          <a:lstStyle/>
          <a:p>
            <a:pPr algn="l"/>
            <a:r>
              <a:rPr sz="1200" b="0" i="0">
                <a:solidFill>
                  <a:srgbClr val="33383F"/>
                </a:solidFill>
                <a:latin typeface="Yu Gothic"/>
              </a:rPr>
              <a:t>■ ケースミックスの調整</a:t>
            </a:r>
          </a:p>
          <a:p>
            <a:pPr algn="l"/>
            <a:r>
              <a:rPr sz="1200" b="0" i="0">
                <a:solidFill>
                  <a:srgbClr val="33383F"/>
                </a:solidFill>
                <a:latin typeface="Yu Gothic"/>
              </a:rPr>
              <a:t>   重度者の多い事業所が不利にならない仕組み</a:t>
            </a:r>
          </a:p>
          <a:p>
            <a:pPr algn="l"/>
            <a:r>
              <a:rPr sz="1200" b="0" i="0">
                <a:solidFill>
                  <a:srgbClr val="33383F"/>
                </a:solidFill>
                <a:latin typeface="Yu Gothic"/>
              </a:rPr>
              <a:t/>
            </a:r>
          </a:p>
          <a:p>
            <a:pPr algn="l"/>
            <a:r>
              <a:rPr sz="1200" b="0" i="0">
                <a:solidFill>
                  <a:srgbClr val="33383F"/>
                </a:solidFill>
                <a:latin typeface="Yu Gothic"/>
              </a:rPr>
              <a:t>■ 環境要因の切り分け</a:t>
            </a:r>
          </a:p>
          <a:p>
            <a:pPr algn="l"/>
            <a:r>
              <a:rPr sz="1200" b="0" i="0">
                <a:solidFill>
                  <a:srgbClr val="33383F"/>
                </a:solidFill>
                <a:latin typeface="Yu Gothic"/>
              </a:rPr>
              <a:t>   家族介護力・住環境の影響をどう扱うか</a:t>
            </a:r>
          </a:p>
          <a:p>
            <a:pPr algn="l"/>
            <a:r>
              <a:rPr sz="1200" b="0" i="0">
                <a:solidFill>
                  <a:srgbClr val="33383F"/>
                </a:solidFill>
                <a:latin typeface="Yu Gothic"/>
              </a:rPr>
              <a:t/>
            </a:r>
          </a:p>
          <a:p>
            <a:pPr algn="l"/>
            <a:r>
              <a:rPr sz="1200" b="0" i="0">
                <a:solidFill>
                  <a:srgbClr val="33383F"/>
                </a:solidFill>
                <a:latin typeface="Yu Gothic"/>
              </a:rPr>
              <a:t>■ 「卒業」と「維持」の評価の両立</a:t>
            </a:r>
          </a:p>
          <a:p>
            <a:pPr algn="l"/>
            <a:r>
              <a:rPr sz="1200" b="0" i="0">
                <a:solidFill>
                  <a:srgbClr val="33383F"/>
                </a:solidFill>
                <a:latin typeface="Yu Gothic"/>
              </a:rPr>
              <a:t>   要支援→自立も、要介護→現状維持も評価</a:t>
            </a:r>
          </a:p>
          <a:p>
            <a:pPr algn="l"/>
            <a:r>
              <a:rPr sz="1200" b="0" i="0">
                <a:solidFill>
                  <a:srgbClr val="33383F"/>
                </a:solidFill>
                <a:latin typeface="Yu Gothic"/>
              </a:rPr>
              <a:t/>
            </a:r>
          </a:p>
          <a:p>
            <a:pPr algn="l"/>
            <a:r>
              <a:rPr sz="1200" b="0" i="0">
                <a:solidFill>
                  <a:srgbClr val="33383F"/>
                </a:solidFill>
                <a:latin typeface="Yu Gothic"/>
              </a:rPr>
              <a:t>■ データ入力の負担</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6. R9 改定への論点</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論点 4 ― ICT / AI 活用と業務の再定義</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33 / 38</a:t>
            </a:r>
          </a:p>
        </p:txBody>
      </p:sp>
      <p:sp>
        <p:nvSpPr>
          <p:cNvPr id="8" name="Rectangle 7"/>
          <p:cNvSpPr/>
          <p:nvPr/>
        </p:nvSpPr>
        <p:spPr>
          <a:xfrm>
            <a:off x="432000" y="1620000"/>
            <a:ext cx="1800000" cy="1080000"/>
          </a:xfrm>
          <a:prstGeom prst="rect">
            <a:avLst/>
          </a:prstGeom>
          <a:solidFill>
            <a:srgbClr val="375A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2000" y="1800000"/>
            <a:ext cx="1800000" cy="720000"/>
          </a:xfrm>
          <a:prstGeom prst="rect">
            <a:avLst/>
          </a:prstGeom>
          <a:noFill/>
        </p:spPr>
        <p:txBody>
          <a:bodyPr wrap="square" lIns="36000" rIns="36000" tIns="18000" bIns="18000" anchor="ctr">
            <a:spAutoFit/>
          </a:bodyPr>
          <a:lstStyle/>
          <a:p>
            <a:pPr algn="ctr"/>
            <a:r>
              <a:rPr sz="1800" b="1" i="0">
                <a:solidFill>
                  <a:srgbClr val="FFFFFF"/>
                </a:solidFill>
                <a:latin typeface="Yu Gothic"/>
              </a:rPr>
              <a:t>基盤層</a:t>
            </a:r>
          </a:p>
        </p:txBody>
      </p:sp>
      <p:sp>
        <p:nvSpPr>
          <p:cNvPr id="10" name="Rectangle 9"/>
          <p:cNvSpPr/>
          <p:nvPr/>
        </p:nvSpPr>
        <p:spPr>
          <a:xfrm>
            <a:off x="2232000" y="1620000"/>
            <a:ext cx="9528119" cy="108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40000" y="1728000"/>
            <a:ext cx="9312119" cy="432000"/>
          </a:xfrm>
          <a:prstGeom prst="rect">
            <a:avLst/>
          </a:prstGeom>
          <a:noFill/>
        </p:spPr>
        <p:txBody>
          <a:bodyPr wrap="square" lIns="36000" rIns="36000" tIns="18000" bIns="18000" anchor="t">
            <a:spAutoFit/>
          </a:bodyPr>
          <a:lstStyle/>
          <a:p>
            <a:pPr algn="l"/>
            <a:r>
              <a:rPr sz="1400" b="1" i="0">
                <a:solidFill>
                  <a:srgbClr val="142B4A"/>
                </a:solidFill>
                <a:latin typeface="Yu Gothic"/>
              </a:rPr>
              <a:t>ケアプランデータ連携システム ・ クラウド記録 ・ 電子請求</a:t>
            </a:r>
          </a:p>
        </p:txBody>
      </p:sp>
      <p:sp>
        <p:nvSpPr>
          <p:cNvPr id="12" name="TextBox 11"/>
          <p:cNvSpPr txBox="1"/>
          <p:nvPr/>
        </p:nvSpPr>
        <p:spPr>
          <a:xfrm>
            <a:off x="2340000" y="2160000"/>
            <a:ext cx="9312119" cy="432000"/>
          </a:xfrm>
          <a:prstGeom prst="rect">
            <a:avLst/>
          </a:prstGeom>
          <a:noFill/>
        </p:spPr>
        <p:txBody>
          <a:bodyPr wrap="square" lIns="36000" rIns="36000" tIns="18000" bIns="18000" anchor="t">
            <a:spAutoFit/>
          </a:bodyPr>
          <a:lstStyle/>
          <a:p>
            <a:pPr algn="l"/>
            <a:r>
              <a:rPr sz="1200" b="0" i="0">
                <a:solidFill>
                  <a:srgbClr val="33383F"/>
                </a:solidFill>
                <a:latin typeface="Yu Gothic"/>
              </a:rPr>
              <a:t>→ 多事業所間の情報共有 / 標準化</a:t>
            </a:r>
          </a:p>
        </p:txBody>
      </p:sp>
      <p:sp>
        <p:nvSpPr>
          <p:cNvPr id="13" name="Rectangle 12"/>
          <p:cNvSpPr/>
          <p:nvPr/>
        </p:nvSpPr>
        <p:spPr>
          <a:xfrm>
            <a:off x="432000" y="2808000"/>
            <a:ext cx="1800000" cy="10800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000" y="2988000"/>
            <a:ext cx="1800000" cy="720000"/>
          </a:xfrm>
          <a:prstGeom prst="rect">
            <a:avLst/>
          </a:prstGeom>
          <a:noFill/>
        </p:spPr>
        <p:txBody>
          <a:bodyPr wrap="square" lIns="36000" rIns="36000" tIns="18000" bIns="18000" anchor="ctr">
            <a:spAutoFit/>
          </a:bodyPr>
          <a:lstStyle/>
          <a:p>
            <a:pPr algn="ctr"/>
            <a:r>
              <a:rPr sz="1800" b="1" i="0">
                <a:solidFill>
                  <a:srgbClr val="FFFFFF"/>
                </a:solidFill>
                <a:latin typeface="Yu Gothic"/>
              </a:rPr>
              <a:t>活用層</a:t>
            </a:r>
          </a:p>
        </p:txBody>
      </p:sp>
      <p:sp>
        <p:nvSpPr>
          <p:cNvPr id="15" name="Rectangle 14"/>
          <p:cNvSpPr/>
          <p:nvPr/>
        </p:nvSpPr>
        <p:spPr>
          <a:xfrm>
            <a:off x="2232000" y="2808000"/>
            <a:ext cx="9528119" cy="108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40000" y="2916000"/>
            <a:ext cx="9312119" cy="432000"/>
          </a:xfrm>
          <a:prstGeom prst="rect">
            <a:avLst/>
          </a:prstGeom>
          <a:noFill/>
        </p:spPr>
        <p:txBody>
          <a:bodyPr wrap="square" lIns="36000" rIns="36000" tIns="18000" bIns="18000" anchor="t">
            <a:spAutoFit/>
          </a:bodyPr>
          <a:lstStyle/>
          <a:p>
            <a:pPr algn="l"/>
            <a:r>
              <a:rPr sz="1400" b="1" i="0">
                <a:solidFill>
                  <a:srgbClr val="142B4A"/>
                </a:solidFill>
                <a:latin typeface="Yu Gothic"/>
              </a:rPr>
              <a:t>AI ケアプラン作成支援 ・ アセスメント補助 ・ リスク予測</a:t>
            </a:r>
          </a:p>
        </p:txBody>
      </p:sp>
      <p:sp>
        <p:nvSpPr>
          <p:cNvPr id="17" name="TextBox 16"/>
          <p:cNvSpPr txBox="1"/>
          <p:nvPr/>
        </p:nvSpPr>
        <p:spPr>
          <a:xfrm>
            <a:off x="2340000" y="3348000"/>
            <a:ext cx="9312119" cy="432000"/>
          </a:xfrm>
          <a:prstGeom prst="rect">
            <a:avLst/>
          </a:prstGeom>
          <a:noFill/>
        </p:spPr>
        <p:txBody>
          <a:bodyPr wrap="square" lIns="36000" rIns="36000" tIns="18000" bIns="18000" anchor="t">
            <a:spAutoFit/>
          </a:bodyPr>
          <a:lstStyle/>
          <a:p>
            <a:pPr algn="l"/>
            <a:r>
              <a:rPr sz="1200" b="0" i="0">
                <a:solidFill>
                  <a:srgbClr val="33383F"/>
                </a:solidFill>
                <a:latin typeface="Yu Gothic"/>
              </a:rPr>
              <a:t>→ CM の判断を補助、業務時間短縮</a:t>
            </a:r>
          </a:p>
        </p:txBody>
      </p:sp>
      <p:sp>
        <p:nvSpPr>
          <p:cNvPr id="18" name="Rectangle 17"/>
          <p:cNvSpPr/>
          <p:nvPr/>
        </p:nvSpPr>
        <p:spPr>
          <a:xfrm>
            <a:off x="432000" y="3996000"/>
            <a:ext cx="1800000" cy="1080000"/>
          </a:xfrm>
          <a:prstGeom prst="rect">
            <a:avLst/>
          </a:prstGeom>
          <a:solidFill>
            <a:srgbClr val="E0A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2000" y="4176000"/>
            <a:ext cx="1800000" cy="720000"/>
          </a:xfrm>
          <a:prstGeom prst="rect">
            <a:avLst/>
          </a:prstGeom>
          <a:noFill/>
        </p:spPr>
        <p:txBody>
          <a:bodyPr wrap="square" lIns="36000" rIns="36000" tIns="18000" bIns="18000" anchor="ctr">
            <a:spAutoFit/>
          </a:bodyPr>
          <a:lstStyle/>
          <a:p>
            <a:pPr algn="ctr"/>
            <a:r>
              <a:rPr sz="1800" b="1" i="0">
                <a:solidFill>
                  <a:srgbClr val="FFFFFF"/>
                </a:solidFill>
                <a:latin typeface="Yu Gothic"/>
              </a:rPr>
              <a:t>評価層</a:t>
            </a:r>
          </a:p>
        </p:txBody>
      </p:sp>
      <p:sp>
        <p:nvSpPr>
          <p:cNvPr id="20" name="Rectangle 19"/>
          <p:cNvSpPr/>
          <p:nvPr/>
        </p:nvSpPr>
        <p:spPr>
          <a:xfrm>
            <a:off x="2232000" y="3996000"/>
            <a:ext cx="9528119" cy="108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40000" y="4104000"/>
            <a:ext cx="9312119" cy="432000"/>
          </a:xfrm>
          <a:prstGeom prst="rect">
            <a:avLst/>
          </a:prstGeom>
          <a:noFill/>
        </p:spPr>
        <p:txBody>
          <a:bodyPr wrap="square" lIns="36000" rIns="36000" tIns="18000" bIns="18000" anchor="t">
            <a:spAutoFit/>
          </a:bodyPr>
          <a:lstStyle/>
          <a:p>
            <a:pPr algn="l"/>
            <a:r>
              <a:rPr sz="1400" b="1" i="0">
                <a:solidFill>
                  <a:srgbClr val="142B4A"/>
                </a:solidFill>
                <a:latin typeface="Yu Gothic"/>
              </a:rPr>
              <a:t>LIFE 連動 ・ アウトカム分析 ・ ベンチマーク</a:t>
            </a:r>
          </a:p>
        </p:txBody>
      </p:sp>
      <p:sp>
        <p:nvSpPr>
          <p:cNvPr id="22" name="TextBox 21"/>
          <p:cNvSpPr txBox="1"/>
          <p:nvPr/>
        </p:nvSpPr>
        <p:spPr>
          <a:xfrm>
            <a:off x="2340000" y="4536000"/>
            <a:ext cx="9312119" cy="432000"/>
          </a:xfrm>
          <a:prstGeom prst="rect">
            <a:avLst/>
          </a:prstGeom>
          <a:noFill/>
        </p:spPr>
        <p:txBody>
          <a:bodyPr wrap="square" lIns="36000" rIns="36000" tIns="18000" bIns="18000" anchor="t">
            <a:spAutoFit/>
          </a:bodyPr>
          <a:lstStyle/>
          <a:p>
            <a:pPr algn="l"/>
            <a:r>
              <a:rPr sz="1200" b="0" i="0">
                <a:solidFill>
                  <a:srgbClr val="33383F"/>
                </a:solidFill>
                <a:latin typeface="Yu Gothic"/>
              </a:rPr>
              <a:t>→ データに基づく PDCA、報酬連動</a:t>
            </a:r>
          </a:p>
        </p:txBody>
      </p:sp>
      <p:sp>
        <p:nvSpPr>
          <p:cNvPr id="23" name="Rectangle 22"/>
          <p:cNvSpPr/>
          <p:nvPr/>
        </p:nvSpPr>
        <p:spPr>
          <a:xfrm>
            <a:off x="432000" y="5220000"/>
            <a:ext cx="11304000" cy="360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4000" y="525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R9 で予想される動き</a:t>
            </a:r>
          </a:p>
        </p:txBody>
      </p:sp>
      <p:sp>
        <p:nvSpPr>
          <p:cNvPr id="25" name="Rectangle 24"/>
          <p:cNvSpPr/>
          <p:nvPr/>
        </p:nvSpPr>
        <p:spPr>
          <a:xfrm>
            <a:off x="432000" y="5580000"/>
            <a:ext cx="11304000" cy="54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0000" y="5616000"/>
            <a:ext cx="11088000" cy="504000"/>
          </a:xfrm>
          <a:prstGeom prst="rect">
            <a:avLst/>
          </a:prstGeom>
          <a:noFill/>
        </p:spPr>
        <p:txBody>
          <a:bodyPr wrap="square" lIns="36000" rIns="36000" tIns="18000" bIns="18000" anchor="t">
            <a:spAutoFit/>
          </a:bodyPr>
          <a:lstStyle/>
          <a:p>
            <a:pPr algn="l"/>
            <a:r>
              <a:rPr sz="1200" b="0" i="0">
                <a:solidFill>
                  <a:srgbClr val="33383F"/>
                </a:solidFill>
                <a:latin typeface="Yu Gothic"/>
              </a:rPr>
              <a:t>■ ICT 活用が「加算」ではなく「標準」になる ― 未対応の事業所は競争力を失う</a:t>
            </a:r>
          </a:p>
          <a:p>
            <a:pPr algn="l"/>
            <a:r>
              <a:rPr sz="1200" b="0" i="0">
                <a:solidFill>
                  <a:srgbClr val="33383F"/>
                </a:solidFill>
                <a:latin typeface="Yu Gothic"/>
              </a:rPr>
              <a:t>■ 主任CM には、ICT を活用した業務再設計能力 が求められる</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6. R9 改定への論点</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論点 5 ― 公正中立性 / 集中減算の深化</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34 / 38</a:t>
            </a:r>
          </a:p>
        </p:txBody>
      </p:sp>
      <p:sp>
        <p:nvSpPr>
          <p:cNvPr id="8" name="Rectangle 7"/>
          <p:cNvSpPr/>
          <p:nvPr/>
        </p:nvSpPr>
        <p:spPr>
          <a:xfrm>
            <a:off x="432000" y="1620000"/>
            <a:ext cx="11304000" cy="360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65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公正中立性が問われる構造</a:t>
            </a:r>
          </a:p>
        </p:txBody>
      </p:sp>
      <p:sp>
        <p:nvSpPr>
          <p:cNvPr id="10" name="Rectangle 9"/>
          <p:cNvSpPr/>
          <p:nvPr/>
        </p:nvSpPr>
        <p:spPr>
          <a:xfrm>
            <a:off x="432000" y="1980000"/>
            <a:ext cx="11304000" cy="900000"/>
          </a:xfrm>
          <a:prstGeom prst="rect">
            <a:avLst/>
          </a:prstGeom>
          <a:solidFill>
            <a:srgbClr val="FB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2016000"/>
            <a:ext cx="11088000" cy="864000"/>
          </a:xfrm>
          <a:prstGeom prst="rect">
            <a:avLst/>
          </a:prstGeom>
          <a:noFill/>
        </p:spPr>
        <p:txBody>
          <a:bodyPr wrap="square" lIns="36000" rIns="36000" tIns="18000" bIns="18000" anchor="t">
            <a:spAutoFit/>
          </a:bodyPr>
          <a:lstStyle/>
          <a:p>
            <a:pPr algn="l"/>
            <a:r>
              <a:rPr sz="1300" b="0" i="0">
                <a:solidFill>
                  <a:srgbClr val="33383F"/>
                </a:solidFill>
                <a:latin typeface="Yu Gothic"/>
              </a:rPr>
              <a:t>■ 同一法人内のサービス事業所への利用集中</a:t>
            </a:r>
          </a:p>
          <a:p>
            <a:pPr algn="l"/>
            <a:r>
              <a:rPr sz="1300" b="0" i="0">
                <a:solidFill>
                  <a:srgbClr val="33383F"/>
                </a:solidFill>
                <a:latin typeface="Yu Gothic"/>
              </a:rPr>
              <a:t>■ サ高住併設の居宅介護支援事業所</a:t>
            </a:r>
          </a:p>
          <a:p>
            <a:pPr algn="l"/>
            <a:r>
              <a:rPr sz="1300" b="0" i="0">
                <a:solidFill>
                  <a:srgbClr val="33383F"/>
                </a:solidFill>
                <a:latin typeface="Yu Gothic"/>
              </a:rPr>
              <a:t>■ 営業活動の影響を受けたケアプラン</a:t>
            </a:r>
          </a:p>
        </p:txBody>
      </p:sp>
      <p:sp>
        <p:nvSpPr>
          <p:cNvPr id="12" name="Rectangle 11"/>
          <p:cNvSpPr/>
          <p:nvPr/>
        </p:nvSpPr>
        <p:spPr>
          <a:xfrm>
            <a:off x="432000" y="2951999"/>
            <a:ext cx="5580000" cy="360000"/>
          </a:xfrm>
          <a:prstGeom prst="rect">
            <a:avLst/>
          </a:prstGeom>
          <a:solidFill>
            <a:srgbClr val="375A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000" y="2987999"/>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R6 までに実装済みの規制</a:t>
            </a:r>
          </a:p>
        </p:txBody>
      </p:sp>
      <p:sp>
        <p:nvSpPr>
          <p:cNvPr id="14" name="Rectangle 13"/>
          <p:cNvSpPr/>
          <p:nvPr/>
        </p:nvSpPr>
        <p:spPr>
          <a:xfrm>
            <a:off x="432000" y="3311999"/>
            <a:ext cx="5580000" cy="2700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000" y="3347999"/>
            <a:ext cx="5364000" cy="2664000"/>
          </a:xfrm>
          <a:prstGeom prst="rect">
            <a:avLst/>
          </a:prstGeom>
          <a:noFill/>
        </p:spPr>
        <p:txBody>
          <a:bodyPr wrap="square" lIns="36000" rIns="36000" tIns="18000" bIns="18000" anchor="t">
            <a:spAutoFit/>
          </a:bodyPr>
          <a:lstStyle/>
          <a:p>
            <a:pPr algn="l"/>
            <a:r>
              <a:rPr sz="1200" b="0" i="0">
                <a:solidFill>
                  <a:srgbClr val="33383F"/>
                </a:solidFill>
                <a:latin typeface="Yu Gothic"/>
              </a:rPr>
              <a:t>■ 集中減算(特定事業所への集中時)</a:t>
            </a:r>
          </a:p>
          <a:p>
            <a:pPr algn="l"/>
            <a:r>
              <a:rPr sz="1200" b="0" i="0">
                <a:solidFill>
                  <a:srgbClr val="33383F"/>
                </a:solidFill>
                <a:latin typeface="Yu Gothic"/>
              </a:rPr>
              <a:t/>
            </a:r>
          </a:p>
          <a:p>
            <a:pPr algn="l"/>
            <a:r>
              <a:rPr sz="1200" b="0" i="0">
                <a:solidFill>
                  <a:srgbClr val="33383F"/>
                </a:solidFill>
                <a:latin typeface="Yu Gothic"/>
              </a:rPr>
              <a:t>■ 同一建物減算(R6 で居宅にも)</a:t>
            </a:r>
          </a:p>
          <a:p>
            <a:pPr algn="l"/>
            <a:r>
              <a:rPr sz="1200" b="0" i="0">
                <a:solidFill>
                  <a:srgbClr val="33383F"/>
                </a:solidFill>
                <a:latin typeface="Yu Gothic"/>
              </a:rPr>
              <a:t/>
            </a:r>
          </a:p>
          <a:p>
            <a:pPr algn="l"/>
            <a:r>
              <a:rPr sz="1200" b="0" i="0">
                <a:solidFill>
                  <a:srgbClr val="33383F"/>
                </a:solidFill>
                <a:latin typeface="Yu Gothic"/>
              </a:rPr>
              <a:t>■ 説明・同意の徹底</a:t>
            </a:r>
          </a:p>
          <a:p>
            <a:pPr algn="l"/>
            <a:r>
              <a:rPr sz="1200" b="0" i="0">
                <a:solidFill>
                  <a:srgbClr val="33383F"/>
                </a:solidFill>
                <a:latin typeface="Yu Gothic"/>
              </a:rPr>
              <a:t>   ・複数事業所の紹介</a:t>
            </a:r>
          </a:p>
          <a:p>
            <a:pPr algn="l"/>
            <a:r>
              <a:rPr sz="1200" b="0" i="0">
                <a:solidFill>
                  <a:srgbClr val="33383F"/>
                </a:solidFill>
                <a:latin typeface="Yu Gothic"/>
              </a:rPr>
              <a:t>   ・選定理由の説明と記録</a:t>
            </a:r>
          </a:p>
          <a:p>
            <a:pPr algn="l"/>
            <a:r>
              <a:rPr sz="1200" b="0" i="0">
                <a:solidFill>
                  <a:srgbClr val="33383F"/>
                </a:solidFill>
                <a:latin typeface="Yu Gothic"/>
              </a:rPr>
              <a:t/>
            </a:r>
          </a:p>
          <a:p>
            <a:pPr algn="l"/>
            <a:r>
              <a:rPr sz="1200" b="0" i="0">
                <a:solidFill>
                  <a:srgbClr val="33383F"/>
                </a:solidFill>
                <a:latin typeface="Yu Gothic"/>
              </a:rPr>
              <a:t>■ 居宅サービス計画の届出</a:t>
            </a:r>
          </a:p>
          <a:p>
            <a:pPr algn="l"/>
            <a:r>
              <a:rPr sz="1200" b="0" i="0">
                <a:solidFill>
                  <a:srgbClr val="33383F"/>
                </a:solidFill>
                <a:latin typeface="Yu Gothic"/>
              </a:rPr>
              <a:t>   (見直し制度)</a:t>
            </a:r>
          </a:p>
        </p:txBody>
      </p:sp>
      <p:sp>
        <p:nvSpPr>
          <p:cNvPr id="16" name="Rectangle 15"/>
          <p:cNvSpPr/>
          <p:nvPr/>
        </p:nvSpPr>
        <p:spPr>
          <a:xfrm>
            <a:off x="6300000" y="2951999"/>
            <a:ext cx="5400000" cy="360000"/>
          </a:xfrm>
          <a:prstGeom prst="rect">
            <a:avLst/>
          </a:prstGeom>
          <a:solidFill>
            <a:srgbClr val="E0A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2000" y="2987999"/>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R9 で議論される可能性</a:t>
            </a:r>
          </a:p>
        </p:txBody>
      </p:sp>
      <p:sp>
        <p:nvSpPr>
          <p:cNvPr id="18" name="Rectangle 17"/>
          <p:cNvSpPr/>
          <p:nvPr/>
        </p:nvSpPr>
        <p:spPr>
          <a:xfrm>
            <a:off x="6300000" y="3311999"/>
            <a:ext cx="5400000" cy="2700000"/>
          </a:xfrm>
          <a:prstGeom prst="rect">
            <a:avLst/>
          </a:prstGeom>
          <a:solidFill>
            <a:srgbClr val="FBF1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8000" y="3347999"/>
            <a:ext cx="5184000" cy="2664000"/>
          </a:xfrm>
          <a:prstGeom prst="rect">
            <a:avLst/>
          </a:prstGeom>
          <a:noFill/>
        </p:spPr>
        <p:txBody>
          <a:bodyPr wrap="square" lIns="36000" rIns="36000" tIns="18000" bIns="18000" anchor="t">
            <a:spAutoFit/>
          </a:bodyPr>
          <a:lstStyle/>
          <a:p>
            <a:pPr algn="l"/>
            <a:r>
              <a:rPr sz="1200" b="0" i="0">
                <a:solidFill>
                  <a:srgbClr val="33383F"/>
                </a:solidFill>
                <a:latin typeface="Yu Gothic"/>
              </a:rPr>
              <a:t>■ 同一建物減算の強化(割合基準の更なる厳格化)</a:t>
            </a:r>
          </a:p>
          <a:p>
            <a:pPr algn="l"/>
            <a:r>
              <a:rPr sz="1200" b="0" i="0">
                <a:solidFill>
                  <a:srgbClr val="33383F"/>
                </a:solidFill>
                <a:latin typeface="Yu Gothic"/>
              </a:rPr>
              <a:t/>
            </a:r>
          </a:p>
          <a:p>
            <a:pPr algn="l"/>
            <a:r>
              <a:rPr sz="1200" b="0" i="0">
                <a:solidFill>
                  <a:srgbClr val="33383F"/>
                </a:solidFill>
                <a:latin typeface="Yu Gothic"/>
              </a:rPr>
              <a:t>■ 紹介加算 / 紹介減算の新設議論</a:t>
            </a:r>
          </a:p>
          <a:p>
            <a:pPr algn="l"/>
            <a:r>
              <a:rPr sz="1200" b="0" i="0">
                <a:solidFill>
                  <a:srgbClr val="33383F"/>
                </a:solidFill>
                <a:latin typeface="Yu Gothic"/>
              </a:rPr>
              <a:t/>
            </a:r>
          </a:p>
          <a:p>
            <a:pPr algn="l"/>
            <a:r>
              <a:rPr sz="1200" b="0" i="0">
                <a:solidFill>
                  <a:srgbClr val="33383F"/>
                </a:solidFill>
                <a:latin typeface="Yu Gothic"/>
              </a:rPr>
              <a:t>■ AI による営業バイアス検出</a:t>
            </a:r>
          </a:p>
          <a:p>
            <a:pPr algn="l"/>
            <a:r>
              <a:rPr sz="1200" b="0" i="0">
                <a:solidFill>
                  <a:srgbClr val="33383F"/>
                </a:solidFill>
                <a:latin typeface="Yu Gothic"/>
              </a:rPr>
              <a:t>   (実現性は議論段階)</a:t>
            </a:r>
          </a:p>
          <a:p>
            <a:pPr algn="l"/>
            <a:r>
              <a:rPr sz="1200" b="0" i="0">
                <a:solidFill>
                  <a:srgbClr val="33383F"/>
                </a:solidFill>
                <a:latin typeface="Yu Gothic"/>
              </a:rPr>
              <a:t/>
            </a:r>
          </a:p>
          <a:p>
            <a:pPr algn="l"/>
            <a:r>
              <a:rPr sz="1200" b="0" i="0">
                <a:solidFill>
                  <a:srgbClr val="33383F"/>
                </a:solidFill>
                <a:latin typeface="Yu Gothic"/>
              </a:rPr>
              <a:t>■ 苦情処理 ・ 第三者評価の活用</a:t>
            </a:r>
          </a:p>
          <a:p>
            <a:pPr algn="l"/>
            <a:r>
              <a:rPr sz="1200" b="0" i="0">
                <a:solidFill>
                  <a:srgbClr val="33383F"/>
                </a:solidFill>
                <a:latin typeface="Yu Gothic"/>
              </a:rPr>
              <a:t/>
            </a:r>
          </a:p>
          <a:p>
            <a:pPr algn="l"/>
            <a:r>
              <a:rPr sz="1200" b="0" i="0">
                <a:solidFill>
                  <a:srgbClr val="33383F"/>
                </a:solidFill>
                <a:latin typeface="Yu Gothic"/>
              </a:rPr>
              <a:t>■ 公正中立性に関する宣言 / 開示の義務化</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6. R9 改定への論点</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同時改定 ― 医療 / 介護 / 障害 の連動視点</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35 / 38</a:t>
            </a:r>
          </a:p>
        </p:txBody>
      </p:sp>
      <p:sp>
        <p:nvSpPr>
          <p:cNvPr id="8" name="Rectangle 7"/>
          <p:cNvSpPr/>
          <p:nvPr/>
        </p:nvSpPr>
        <p:spPr>
          <a:xfrm>
            <a:off x="432000" y="1620000"/>
            <a:ext cx="3600000" cy="720000"/>
          </a:xfrm>
          <a:prstGeom prst="rect">
            <a:avLst/>
          </a:prstGeom>
          <a:solidFill>
            <a:srgbClr val="375A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2000" y="1620000"/>
            <a:ext cx="3600000" cy="720000"/>
          </a:xfrm>
          <a:prstGeom prst="rect">
            <a:avLst/>
          </a:prstGeom>
          <a:noFill/>
        </p:spPr>
        <p:txBody>
          <a:bodyPr wrap="square" lIns="36000" rIns="36000" tIns="18000" bIns="18000" anchor="ctr">
            <a:spAutoFit/>
          </a:bodyPr>
          <a:lstStyle/>
          <a:p>
            <a:pPr algn="ctr"/>
            <a:r>
              <a:rPr sz="1800" b="1" i="0">
                <a:solidFill>
                  <a:srgbClr val="FFFFFF"/>
                </a:solidFill>
                <a:latin typeface="Yu Gothic"/>
              </a:rPr>
              <a:t>医療(診療報酬)</a:t>
            </a:r>
          </a:p>
        </p:txBody>
      </p:sp>
      <p:sp>
        <p:nvSpPr>
          <p:cNvPr id="10" name="Rectangle 9"/>
          <p:cNvSpPr/>
          <p:nvPr/>
        </p:nvSpPr>
        <p:spPr>
          <a:xfrm>
            <a:off x="4176000" y="1620000"/>
            <a:ext cx="3600000" cy="720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76000" y="1620000"/>
            <a:ext cx="3600000" cy="720000"/>
          </a:xfrm>
          <a:prstGeom prst="rect">
            <a:avLst/>
          </a:prstGeom>
          <a:noFill/>
        </p:spPr>
        <p:txBody>
          <a:bodyPr wrap="square" lIns="36000" rIns="36000" tIns="18000" bIns="18000" anchor="ctr">
            <a:spAutoFit/>
          </a:bodyPr>
          <a:lstStyle/>
          <a:p>
            <a:pPr algn="ctr"/>
            <a:r>
              <a:rPr sz="1800" b="1" i="0">
                <a:solidFill>
                  <a:srgbClr val="FFFFFF"/>
                </a:solidFill>
                <a:latin typeface="Yu Gothic"/>
              </a:rPr>
              <a:t>介護(介護報酬)</a:t>
            </a:r>
          </a:p>
        </p:txBody>
      </p:sp>
      <p:sp>
        <p:nvSpPr>
          <p:cNvPr id="12" name="Rectangle 11"/>
          <p:cNvSpPr/>
          <p:nvPr/>
        </p:nvSpPr>
        <p:spPr>
          <a:xfrm>
            <a:off x="7920000" y="1620000"/>
            <a:ext cx="3600000" cy="7200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20000" y="1620000"/>
            <a:ext cx="3600000" cy="720000"/>
          </a:xfrm>
          <a:prstGeom prst="rect">
            <a:avLst/>
          </a:prstGeom>
          <a:noFill/>
        </p:spPr>
        <p:txBody>
          <a:bodyPr wrap="square" lIns="36000" rIns="36000" tIns="18000" bIns="18000" anchor="ctr">
            <a:spAutoFit/>
          </a:bodyPr>
          <a:lstStyle/>
          <a:p>
            <a:pPr algn="ctr"/>
            <a:r>
              <a:rPr sz="1800" b="1" i="0">
                <a:solidFill>
                  <a:srgbClr val="FFFFFF"/>
                </a:solidFill>
                <a:latin typeface="Yu Gothic"/>
              </a:rPr>
              <a:t>障害(障害福祉)</a:t>
            </a:r>
          </a:p>
        </p:txBody>
      </p:sp>
      <p:sp>
        <p:nvSpPr>
          <p:cNvPr id="14" name="Rectangle 13"/>
          <p:cNvSpPr/>
          <p:nvPr/>
        </p:nvSpPr>
        <p:spPr>
          <a:xfrm>
            <a:off x="432000" y="2700000"/>
            <a:ext cx="11304000" cy="792000"/>
          </a:xfrm>
          <a:prstGeom prst="rect">
            <a:avLst/>
          </a:prstGeom>
          <a:solidFill>
            <a:srgbClr val="E8EDF3"/>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000" y="2754000"/>
            <a:ext cx="2160000" cy="684000"/>
          </a:xfrm>
          <a:prstGeom prst="rect">
            <a:avLst/>
          </a:prstGeom>
          <a:noFill/>
        </p:spPr>
        <p:txBody>
          <a:bodyPr wrap="square" lIns="36000" rIns="36000" tIns="18000" bIns="18000" anchor="ctr">
            <a:spAutoFit/>
          </a:bodyPr>
          <a:lstStyle/>
          <a:p>
            <a:pPr algn="l"/>
            <a:r>
              <a:rPr sz="1400" b="1" i="0">
                <a:solidFill>
                  <a:srgbClr val="142B4A"/>
                </a:solidFill>
                <a:latin typeface="Yu Gothic"/>
              </a:rPr>
              <a:t>入退院連携</a:t>
            </a:r>
          </a:p>
        </p:txBody>
      </p:sp>
      <p:sp>
        <p:nvSpPr>
          <p:cNvPr id="16" name="TextBox 15"/>
          <p:cNvSpPr txBox="1"/>
          <p:nvPr/>
        </p:nvSpPr>
        <p:spPr>
          <a:xfrm>
            <a:off x="2808000" y="2772000"/>
            <a:ext cx="8952119" cy="684000"/>
          </a:xfrm>
          <a:prstGeom prst="rect">
            <a:avLst/>
          </a:prstGeom>
          <a:noFill/>
        </p:spPr>
        <p:txBody>
          <a:bodyPr wrap="square" lIns="36000" rIns="36000" tIns="18000" bIns="18000" anchor="ctr">
            <a:spAutoFit/>
          </a:bodyPr>
          <a:lstStyle/>
          <a:p>
            <a:pPr algn="l">
              <a:lnSpc>
                <a:spcPct val="130000"/>
              </a:lnSpc>
            </a:pPr>
            <a:r>
              <a:rPr sz="1100" b="0" i="0">
                <a:solidFill>
                  <a:srgbClr val="33383F"/>
                </a:solidFill>
                <a:latin typeface="Yu Gothic"/>
              </a:rPr>
              <a:t>退院時共同指導料(医療)と入院時情報連携加算(介護)の連動。</a:t>
            </a:r>
          </a:p>
          <a:p>
            <a:pPr algn="l">
              <a:lnSpc>
                <a:spcPct val="130000"/>
              </a:lnSpc>
            </a:pPr>
            <a:r>
              <a:rPr sz="1100" b="0" i="0">
                <a:solidFill>
                  <a:srgbClr val="33383F"/>
                </a:solidFill>
                <a:latin typeface="Yu Gothic"/>
              </a:rPr>
              <a:t>病院 ・ CM ・ 在宅医療の三者がシームレスに動ける仕組み</a:t>
            </a:r>
          </a:p>
        </p:txBody>
      </p:sp>
      <p:sp>
        <p:nvSpPr>
          <p:cNvPr id="17" name="Rectangle 16"/>
          <p:cNvSpPr/>
          <p:nvPr/>
        </p:nvSpPr>
        <p:spPr>
          <a:xfrm>
            <a:off x="432000" y="3527999"/>
            <a:ext cx="11304000" cy="792000"/>
          </a:xfrm>
          <a:prstGeom prst="rect">
            <a:avLst/>
          </a:prstGeom>
          <a:solidFill>
            <a:srgbClr val="FFFFFF"/>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0000" y="3581999"/>
            <a:ext cx="2160000" cy="684000"/>
          </a:xfrm>
          <a:prstGeom prst="rect">
            <a:avLst/>
          </a:prstGeom>
          <a:noFill/>
        </p:spPr>
        <p:txBody>
          <a:bodyPr wrap="square" lIns="36000" rIns="36000" tIns="18000" bIns="18000" anchor="ctr">
            <a:spAutoFit/>
          </a:bodyPr>
          <a:lstStyle/>
          <a:p>
            <a:pPr algn="l"/>
            <a:r>
              <a:rPr sz="1400" b="1" i="0">
                <a:solidFill>
                  <a:srgbClr val="142B4A"/>
                </a:solidFill>
                <a:latin typeface="Yu Gothic"/>
              </a:rPr>
              <a:t>看取り</a:t>
            </a:r>
          </a:p>
        </p:txBody>
      </p:sp>
      <p:sp>
        <p:nvSpPr>
          <p:cNvPr id="19" name="TextBox 18"/>
          <p:cNvSpPr txBox="1"/>
          <p:nvPr/>
        </p:nvSpPr>
        <p:spPr>
          <a:xfrm>
            <a:off x="2808000" y="3599999"/>
            <a:ext cx="8952119" cy="684000"/>
          </a:xfrm>
          <a:prstGeom prst="rect">
            <a:avLst/>
          </a:prstGeom>
          <a:noFill/>
        </p:spPr>
        <p:txBody>
          <a:bodyPr wrap="square" lIns="36000" rIns="36000" tIns="18000" bIns="18000" anchor="ctr">
            <a:spAutoFit/>
          </a:bodyPr>
          <a:lstStyle/>
          <a:p>
            <a:pPr algn="l">
              <a:lnSpc>
                <a:spcPct val="130000"/>
              </a:lnSpc>
            </a:pPr>
            <a:r>
              <a:rPr sz="1100" b="0" i="0">
                <a:solidFill>
                  <a:srgbClr val="33383F"/>
                </a:solidFill>
                <a:latin typeface="Yu Gothic"/>
              </a:rPr>
              <a:t>在宅ターミナルケア加算(医療)とターミナルCM 加算(介護)の整合。</a:t>
            </a:r>
          </a:p>
          <a:p>
            <a:pPr algn="l">
              <a:lnSpc>
                <a:spcPct val="130000"/>
              </a:lnSpc>
            </a:pPr>
            <a:r>
              <a:rPr sz="1100" b="0" i="0">
                <a:solidFill>
                  <a:srgbClr val="33383F"/>
                </a:solidFill>
                <a:latin typeface="Yu Gothic"/>
              </a:rPr>
              <a:t>ACP の早期実施が両制度で重視される方向</a:t>
            </a:r>
          </a:p>
        </p:txBody>
      </p:sp>
      <p:sp>
        <p:nvSpPr>
          <p:cNvPr id="20" name="Rectangle 19"/>
          <p:cNvSpPr/>
          <p:nvPr/>
        </p:nvSpPr>
        <p:spPr>
          <a:xfrm>
            <a:off x="432000" y="4355998"/>
            <a:ext cx="11304000" cy="792000"/>
          </a:xfrm>
          <a:prstGeom prst="rect">
            <a:avLst/>
          </a:prstGeom>
          <a:solidFill>
            <a:srgbClr val="E8EDF3"/>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0000" y="4409998"/>
            <a:ext cx="2160000" cy="684000"/>
          </a:xfrm>
          <a:prstGeom prst="rect">
            <a:avLst/>
          </a:prstGeom>
          <a:noFill/>
        </p:spPr>
        <p:txBody>
          <a:bodyPr wrap="square" lIns="36000" rIns="36000" tIns="18000" bIns="18000" anchor="ctr">
            <a:spAutoFit/>
          </a:bodyPr>
          <a:lstStyle/>
          <a:p>
            <a:pPr algn="l"/>
            <a:r>
              <a:rPr sz="1400" b="1" i="0">
                <a:solidFill>
                  <a:srgbClr val="142B4A"/>
                </a:solidFill>
                <a:latin typeface="Yu Gothic"/>
              </a:rPr>
              <a:t>精神 ・ 障害</a:t>
            </a:r>
          </a:p>
        </p:txBody>
      </p:sp>
      <p:sp>
        <p:nvSpPr>
          <p:cNvPr id="22" name="TextBox 21"/>
          <p:cNvSpPr txBox="1"/>
          <p:nvPr/>
        </p:nvSpPr>
        <p:spPr>
          <a:xfrm>
            <a:off x="2808000" y="4427998"/>
            <a:ext cx="8952119" cy="684000"/>
          </a:xfrm>
          <a:prstGeom prst="rect">
            <a:avLst/>
          </a:prstGeom>
          <a:noFill/>
        </p:spPr>
        <p:txBody>
          <a:bodyPr wrap="square" lIns="36000" rIns="36000" tIns="18000" bIns="18000" anchor="ctr">
            <a:spAutoFit/>
          </a:bodyPr>
          <a:lstStyle/>
          <a:p>
            <a:pPr algn="l">
              <a:lnSpc>
                <a:spcPct val="130000"/>
              </a:lnSpc>
            </a:pPr>
            <a:r>
              <a:rPr sz="1100" b="0" i="0">
                <a:solidFill>
                  <a:srgbClr val="33383F"/>
                </a:solidFill>
                <a:latin typeface="Yu Gothic"/>
              </a:rPr>
              <a:t>障害者の高齢化(65歳問題)。</a:t>
            </a:r>
          </a:p>
          <a:p>
            <a:pPr algn="l">
              <a:lnSpc>
                <a:spcPct val="130000"/>
              </a:lnSpc>
            </a:pPr>
            <a:r>
              <a:rPr sz="1100" b="0" i="0">
                <a:solidFill>
                  <a:srgbClr val="33383F"/>
                </a:solidFill>
                <a:latin typeface="Yu Gothic"/>
              </a:rPr>
              <a:t>障害福祉サービス → 介護保険移行時のCMの役割</a:t>
            </a:r>
          </a:p>
        </p:txBody>
      </p:sp>
      <p:sp>
        <p:nvSpPr>
          <p:cNvPr id="23" name="Rectangle 22"/>
          <p:cNvSpPr/>
          <p:nvPr/>
        </p:nvSpPr>
        <p:spPr>
          <a:xfrm>
            <a:off x="432000" y="5183997"/>
            <a:ext cx="11304000" cy="792000"/>
          </a:xfrm>
          <a:prstGeom prst="rect">
            <a:avLst/>
          </a:prstGeom>
          <a:solidFill>
            <a:srgbClr val="FFFFFF"/>
          </a:solidFill>
          <a:ln>
            <a:solidFill>
              <a:srgbClr val="D6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0000" y="5237997"/>
            <a:ext cx="2160000" cy="684000"/>
          </a:xfrm>
          <a:prstGeom prst="rect">
            <a:avLst/>
          </a:prstGeom>
          <a:noFill/>
        </p:spPr>
        <p:txBody>
          <a:bodyPr wrap="square" lIns="36000" rIns="36000" tIns="18000" bIns="18000" anchor="ctr">
            <a:spAutoFit/>
          </a:bodyPr>
          <a:lstStyle/>
          <a:p>
            <a:pPr algn="l"/>
            <a:r>
              <a:rPr sz="1400" b="1" i="0">
                <a:solidFill>
                  <a:srgbClr val="142B4A"/>
                </a:solidFill>
                <a:latin typeface="Yu Gothic"/>
              </a:rPr>
              <a:t>認知症</a:t>
            </a:r>
          </a:p>
        </p:txBody>
      </p:sp>
      <p:sp>
        <p:nvSpPr>
          <p:cNvPr id="25" name="TextBox 24"/>
          <p:cNvSpPr txBox="1"/>
          <p:nvPr/>
        </p:nvSpPr>
        <p:spPr>
          <a:xfrm>
            <a:off x="2808000" y="5255997"/>
            <a:ext cx="8952119" cy="684000"/>
          </a:xfrm>
          <a:prstGeom prst="rect">
            <a:avLst/>
          </a:prstGeom>
          <a:noFill/>
        </p:spPr>
        <p:txBody>
          <a:bodyPr wrap="square" lIns="36000" rIns="36000" tIns="18000" bIns="18000" anchor="ctr">
            <a:spAutoFit/>
          </a:bodyPr>
          <a:lstStyle/>
          <a:p>
            <a:pPr algn="l">
              <a:lnSpc>
                <a:spcPct val="130000"/>
              </a:lnSpc>
            </a:pPr>
            <a:r>
              <a:rPr sz="1100" b="0" i="0">
                <a:solidFill>
                  <a:srgbClr val="33383F"/>
                </a:solidFill>
                <a:latin typeface="Yu Gothic"/>
              </a:rPr>
              <a:t>認知症の医療(専門医療)と介護(BPSD対応・意思決定支援)の連動。</a:t>
            </a:r>
          </a:p>
          <a:p>
            <a:pPr algn="l">
              <a:lnSpc>
                <a:spcPct val="130000"/>
              </a:lnSpc>
            </a:pPr>
            <a:r>
              <a:rPr sz="1100" b="0" i="0">
                <a:solidFill>
                  <a:srgbClr val="33383F"/>
                </a:solidFill>
                <a:latin typeface="Yu Gothic"/>
              </a:rPr>
              <a:t>若年性認知症への両制度対応</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0000"/>
            <a:ext cx="12192119" cy="36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340000"/>
            <a:ext cx="10752119" cy="540000"/>
          </a:xfrm>
          <a:prstGeom prst="rect">
            <a:avLst/>
          </a:prstGeom>
          <a:noFill/>
        </p:spPr>
        <p:txBody>
          <a:bodyPr wrap="square" lIns="36000" rIns="36000" tIns="18000" bIns="18000" anchor="t">
            <a:spAutoFit/>
          </a:bodyPr>
          <a:lstStyle/>
          <a:p>
            <a:pPr algn="ctr"/>
            <a:r>
              <a:rPr sz="2200" b="1" i="0">
                <a:solidFill>
                  <a:srgbClr val="C03A2E"/>
                </a:solidFill>
                <a:latin typeface="Yu Gothic"/>
              </a:rPr>
              <a:t>PART 7</a:t>
            </a:r>
          </a:p>
        </p:txBody>
      </p:sp>
      <p:sp>
        <p:nvSpPr>
          <p:cNvPr id="5" name="TextBox 4"/>
          <p:cNvSpPr txBox="1"/>
          <p:nvPr/>
        </p:nvSpPr>
        <p:spPr>
          <a:xfrm>
            <a:off x="360000" y="3420000"/>
            <a:ext cx="11472119" cy="720000"/>
          </a:xfrm>
          <a:prstGeom prst="rect">
            <a:avLst/>
          </a:prstGeom>
          <a:noFill/>
        </p:spPr>
        <p:txBody>
          <a:bodyPr wrap="square" lIns="36000" rIns="36000" tIns="18000" bIns="18000" anchor="t">
            <a:spAutoFit/>
          </a:bodyPr>
          <a:lstStyle/>
          <a:p>
            <a:pPr algn="ctr"/>
            <a:r>
              <a:rPr sz="3600" b="1" i="0">
                <a:solidFill>
                  <a:srgbClr val="FFFFFF"/>
                </a:solidFill>
                <a:latin typeface="Yu Gothic"/>
              </a:rPr>
              <a:t>主任CMが持ち帰るもの</a:t>
            </a:r>
          </a:p>
        </p:txBody>
      </p:sp>
      <p:sp>
        <p:nvSpPr>
          <p:cNvPr id="6" name="TextBox 5"/>
          <p:cNvSpPr txBox="1"/>
          <p:nvPr/>
        </p:nvSpPr>
        <p:spPr>
          <a:xfrm>
            <a:off x="360000" y="4680000"/>
            <a:ext cx="11472119" cy="360000"/>
          </a:xfrm>
          <a:prstGeom prst="rect">
            <a:avLst/>
          </a:prstGeom>
          <a:noFill/>
        </p:spPr>
        <p:txBody>
          <a:bodyPr wrap="square" lIns="36000" rIns="36000" tIns="18000" bIns="18000" anchor="t">
            <a:spAutoFit/>
          </a:bodyPr>
          <a:lstStyle/>
          <a:p>
            <a:pPr algn="ctr"/>
            <a:r>
              <a:rPr sz="1400" b="0" i="0">
                <a:solidFill>
                  <a:srgbClr val="D6DCE3"/>
                </a:solidFill>
                <a:latin typeface="Yu Gothic"/>
              </a:rPr>
              <a:t>Take Home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Closing</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明日からの 3 つのアクション</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37 / 38</a:t>
            </a:r>
          </a:p>
        </p:txBody>
      </p:sp>
      <p:sp>
        <p:nvSpPr>
          <p:cNvPr id="8" name="Rectangle 7"/>
          <p:cNvSpPr/>
          <p:nvPr/>
        </p:nvSpPr>
        <p:spPr>
          <a:xfrm>
            <a:off x="432000" y="1620000"/>
            <a:ext cx="1620000" cy="1332000"/>
          </a:xfrm>
          <a:prstGeom prst="rect">
            <a:avLst/>
          </a:prstGeom>
          <a:solidFill>
            <a:srgbClr val="375A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2000" y="1728000"/>
            <a:ext cx="1620000" cy="360000"/>
          </a:xfrm>
          <a:prstGeom prst="rect">
            <a:avLst/>
          </a:prstGeom>
          <a:noFill/>
        </p:spPr>
        <p:txBody>
          <a:bodyPr wrap="square" lIns="36000" rIns="36000" tIns="18000" bIns="18000" anchor="t">
            <a:spAutoFit/>
          </a:bodyPr>
          <a:lstStyle/>
          <a:p>
            <a:pPr algn="ctr"/>
            <a:r>
              <a:rPr sz="1400" b="1" i="0">
                <a:solidFill>
                  <a:srgbClr val="FFFFFF"/>
                </a:solidFill>
                <a:latin typeface="Yu Gothic"/>
              </a:rPr>
              <a:t>Action 1</a:t>
            </a:r>
          </a:p>
        </p:txBody>
      </p:sp>
      <p:sp>
        <p:nvSpPr>
          <p:cNvPr id="10" name="TextBox 9"/>
          <p:cNvSpPr txBox="1"/>
          <p:nvPr/>
        </p:nvSpPr>
        <p:spPr>
          <a:xfrm>
            <a:off x="432000" y="2160000"/>
            <a:ext cx="1620000" cy="720000"/>
          </a:xfrm>
          <a:prstGeom prst="rect">
            <a:avLst/>
          </a:prstGeom>
          <a:noFill/>
        </p:spPr>
        <p:txBody>
          <a:bodyPr wrap="square" lIns="36000" rIns="36000" tIns="18000" bIns="18000" anchor="ctr">
            <a:spAutoFit/>
          </a:bodyPr>
          <a:lstStyle/>
          <a:p>
            <a:pPr algn="ctr"/>
            <a:r>
              <a:rPr sz="2000" b="1" i="0">
                <a:solidFill>
                  <a:srgbClr val="FFFFFF"/>
                </a:solidFill>
                <a:latin typeface="Yu Gothic"/>
              </a:rPr>
              <a:t>事業所内</a:t>
            </a:r>
          </a:p>
        </p:txBody>
      </p:sp>
      <p:sp>
        <p:nvSpPr>
          <p:cNvPr id="11" name="Rectangle 10"/>
          <p:cNvSpPr/>
          <p:nvPr/>
        </p:nvSpPr>
        <p:spPr>
          <a:xfrm>
            <a:off x="2052000" y="1620000"/>
            <a:ext cx="9708119" cy="1332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60000" y="1692000"/>
            <a:ext cx="9492119" cy="360000"/>
          </a:xfrm>
          <a:prstGeom prst="rect">
            <a:avLst/>
          </a:prstGeom>
          <a:noFill/>
        </p:spPr>
        <p:txBody>
          <a:bodyPr wrap="square" lIns="36000" rIns="36000" tIns="18000" bIns="18000" anchor="t">
            <a:spAutoFit/>
          </a:bodyPr>
          <a:lstStyle/>
          <a:p>
            <a:pPr algn="l"/>
            <a:r>
              <a:rPr sz="1500" b="1" i="0">
                <a:solidFill>
                  <a:srgbClr val="142B4A"/>
                </a:solidFill>
                <a:latin typeface="Yu Gothic"/>
              </a:rPr>
              <a:t>事業所内 ― R6 改定の運用棚卸し</a:t>
            </a:r>
          </a:p>
        </p:txBody>
      </p:sp>
      <p:sp>
        <p:nvSpPr>
          <p:cNvPr id="13" name="TextBox 12"/>
          <p:cNvSpPr txBox="1"/>
          <p:nvPr/>
        </p:nvSpPr>
        <p:spPr>
          <a:xfrm>
            <a:off x="2160000" y="2052000"/>
            <a:ext cx="9492119" cy="900000"/>
          </a:xfrm>
          <a:prstGeom prst="rect">
            <a:avLst/>
          </a:prstGeom>
          <a:noFill/>
        </p:spPr>
        <p:txBody>
          <a:bodyPr wrap="square" lIns="36000" rIns="36000" tIns="18000" bIns="18000" anchor="t">
            <a:spAutoFit/>
          </a:bodyPr>
          <a:lstStyle/>
          <a:p>
            <a:pPr algn="l">
              <a:lnSpc>
                <a:spcPct val="135000"/>
              </a:lnSpc>
            </a:pPr>
            <a:r>
              <a:rPr sz="1200" b="0" i="0">
                <a:solidFill>
                  <a:srgbClr val="33383F"/>
                </a:solidFill>
                <a:latin typeface="Yu Gothic"/>
              </a:rPr>
              <a:t>・特定事業所加算 / ターミナルCM加算 の算定実態を月次で点検する</a:t>
            </a:r>
          </a:p>
          <a:p>
            <a:pPr algn="l">
              <a:lnSpc>
                <a:spcPct val="135000"/>
              </a:lnSpc>
            </a:pPr>
            <a:r>
              <a:rPr sz="1200" b="0" i="0">
                <a:solidFill>
                  <a:srgbClr val="33383F"/>
                </a:solidFill>
                <a:latin typeface="Yu Gothic"/>
              </a:rPr>
              <a:t>・記録様式の整備と、後輩CM への教育機会を作る</a:t>
            </a:r>
          </a:p>
          <a:p>
            <a:pPr algn="l">
              <a:lnSpc>
                <a:spcPct val="135000"/>
              </a:lnSpc>
            </a:pPr>
            <a:r>
              <a:rPr sz="1200" b="0" i="0">
                <a:solidFill>
                  <a:srgbClr val="33383F"/>
                </a:solidFill>
                <a:latin typeface="Yu Gothic"/>
              </a:rPr>
              <a:t>・BCP / 虐待防止 / 同一建物減算 の漏れがないか確認する</a:t>
            </a:r>
          </a:p>
        </p:txBody>
      </p:sp>
      <p:sp>
        <p:nvSpPr>
          <p:cNvPr id="14" name="Rectangle 13"/>
          <p:cNvSpPr/>
          <p:nvPr/>
        </p:nvSpPr>
        <p:spPr>
          <a:xfrm>
            <a:off x="432000" y="3060000"/>
            <a:ext cx="1620000" cy="1332000"/>
          </a:xfrm>
          <a:prstGeom prst="rect">
            <a:avLst/>
          </a:prstGeom>
          <a:solidFill>
            <a:srgbClr val="E0A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2000" y="3168000"/>
            <a:ext cx="1620000" cy="360000"/>
          </a:xfrm>
          <a:prstGeom prst="rect">
            <a:avLst/>
          </a:prstGeom>
          <a:noFill/>
        </p:spPr>
        <p:txBody>
          <a:bodyPr wrap="square" lIns="36000" rIns="36000" tIns="18000" bIns="18000" anchor="t">
            <a:spAutoFit/>
          </a:bodyPr>
          <a:lstStyle/>
          <a:p>
            <a:pPr algn="ctr"/>
            <a:r>
              <a:rPr sz="1400" b="1" i="0">
                <a:solidFill>
                  <a:srgbClr val="FFFFFF"/>
                </a:solidFill>
                <a:latin typeface="Yu Gothic"/>
              </a:rPr>
              <a:t>Action 2</a:t>
            </a:r>
          </a:p>
        </p:txBody>
      </p:sp>
      <p:sp>
        <p:nvSpPr>
          <p:cNvPr id="16" name="TextBox 15"/>
          <p:cNvSpPr txBox="1"/>
          <p:nvPr/>
        </p:nvSpPr>
        <p:spPr>
          <a:xfrm>
            <a:off x="432000" y="3600000"/>
            <a:ext cx="1620000" cy="720000"/>
          </a:xfrm>
          <a:prstGeom prst="rect">
            <a:avLst/>
          </a:prstGeom>
          <a:noFill/>
        </p:spPr>
        <p:txBody>
          <a:bodyPr wrap="square" lIns="36000" rIns="36000" tIns="18000" bIns="18000" anchor="ctr">
            <a:spAutoFit/>
          </a:bodyPr>
          <a:lstStyle/>
          <a:p>
            <a:pPr algn="ctr"/>
            <a:r>
              <a:rPr sz="2000" b="1" i="0">
                <a:solidFill>
                  <a:srgbClr val="FFFFFF"/>
                </a:solidFill>
                <a:latin typeface="Yu Gothic"/>
              </a:rPr>
              <a:t>地域</a:t>
            </a:r>
          </a:p>
        </p:txBody>
      </p:sp>
      <p:sp>
        <p:nvSpPr>
          <p:cNvPr id="17" name="Rectangle 16"/>
          <p:cNvSpPr/>
          <p:nvPr/>
        </p:nvSpPr>
        <p:spPr>
          <a:xfrm>
            <a:off x="2052000" y="3060000"/>
            <a:ext cx="9708119" cy="1332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60000" y="3132000"/>
            <a:ext cx="9492119" cy="360000"/>
          </a:xfrm>
          <a:prstGeom prst="rect">
            <a:avLst/>
          </a:prstGeom>
          <a:noFill/>
        </p:spPr>
        <p:txBody>
          <a:bodyPr wrap="square" lIns="36000" rIns="36000" tIns="18000" bIns="18000" anchor="t">
            <a:spAutoFit/>
          </a:bodyPr>
          <a:lstStyle/>
          <a:p>
            <a:pPr algn="l"/>
            <a:r>
              <a:rPr sz="1500" b="1" i="0">
                <a:solidFill>
                  <a:srgbClr val="142B4A"/>
                </a:solidFill>
                <a:latin typeface="Yu Gothic"/>
              </a:rPr>
              <a:t>地域 ― 制度動向の共有と議論</a:t>
            </a:r>
          </a:p>
        </p:txBody>
      </p:sp>
      <p:sp>
        <p:nvSpPr>
          <p:cNvPr id="19" name="TextBox 18"/>
          <p:cNvSpPr txBox="1"/>
          <p:nvPr/>
        </p:nvSpPr>
        <p:spPr>
          <a:xfrm>
            <a:off x="2160000" y="3492000"/>
            <a:ext cx="9492119" cy="900000"/>
          </a:xfrm>
          <a:prstGeom prst="rect">
            <a:avLst/>
          </a:prstGeom>
          <a:noFill/>
        </p:spPr>
        <p:txBody>
          <a:bodyPr wrap="square" lIns="36000" rIns="36000" tIns="18000" bIns="18000" anchor="t">
            <a:spAutoFit/>
          </a:bodyPr>
          <a:lstStyle/>
          <a:p>
            <a:pPr algn="l">
              <a:lnSpc>
                <a:spcPct val="135000"/>
              </a:lnSpc>
            </a:pPr>
            <a:r>
              <a:rPr sz="1200" b="0" i="0">
                <a:solidFill>
                  <a:srgbClr val="33383F"/>
                </a:solidFill>
                <a:latin typeface="Yu Gothic"/>
              </a:rPr>
              <a:t>・主任CM連絡会・地域ケア会議で R9 論点を共有する</a:t>
            </a:r>
          </a:p>
          <a:p>
            <a:pPr algn="l">
              <a:lnSpc>
                <a:spcPct val="135000"/>
              </a:lnSpc>
            </a:pPr>
            <a:r>
              <a:rPr sz="1200" b="0" i="0">
                <a:solidFill>
                  <a:srgbClr val="33383F"/>
                </a:solidFill>
                <a:latin typeface="Yu Gothic"/>
              </a:rPr>
              <a:t>・他事業所の運用実態を聴き、ベンチマークする</a:t>
            </a:r>
          </a:p>
          <a:p>
            <a:pPr algn="l">
              <a:lnSpc>
                <a:spcPct val="135000"/>
              </a:lnSpc>
            </a:pPr>
            <a:r>
              <a:rPr sz="1200" b="0" i="0">
                <a:solidFill>
                  <a:srgbClr val="33383F"/>
                </a:solidFill>
                <a:latin typeface="Yu Gothic"/>
              </a:rPr>
              <a:t>・行政・職能団体・地域包括 と顔の見える関係を維持する</a:t>
            </a:r>
          </a:p>
        </p:txBody>
      </p:sp>
      <p:sp>
        <p:nvSpPr>
          <p:cNvPr id="20" name="Rectangle 19"/>
          <p:cNvSpPr/>
          <p:nvPr/>
        </p:nvSpPr>
        <p:spPr>
          <a:xfrm>
            <a:off x="432000" y="4500000"/>
            <a:ext cx="1620000" cy="13320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2000" y="4608000"/>
            <a:ext cx="1620000" cy="360000"/>
          </a:xfrm>
          <a:prstGeom prst="rect">
            <a:avLst/>
          </a:prstGeom>
          <a:noFill/>
        </p:spPr>
        <p:txBody>
          <a:bodyPr wrap="square" lIns="36000" rIns="36000" tIns="18000" bIns="18000" anchor="t">
            <a:spAutoFit/>
          </a:bodyPr>
          <a:lstStyle/>
          <a:p>
            <a:pPr algn="ctr"/>
            <a:r>
              <a:rPr sz="1400" b="1" i="0">
                <a:solidFill>
                  <a:srgbClr val="FFFFFF"/>
                </a:solidFill>
                <a:latin typeface="Yu Gothic"/>
              </a:rPr>
              <a:t>Action 3</a:t>
            </a:r>
          </a:p>
        </p:txBody>
      </p:sp>
      <p:sp>
        <p:nvSpPr>
          <p:cNvPr id="22" name="TextBox 21"/>
          <p:cNvSpPr txBox="1"/>
          <p:nvPr/>
        </p:nvSpPr>
        <p:spPr>
          <a:xfrm>
            <a:off x="432000" y="5040000"/>
            <a:ext cx="1620000" cy="720000"/>
          </a:xfrm>
          <a:prstGeom prst="rect">
            <a:avLst/>
          </a:prstGeom>
          <a:noFill/>
        </p:spPr>
        <p:txBody>
          <a:bodyPr wrap="square" lIns="36000" rIns="36000" tIns="18000" bIns="18000" anchor="ctr">
            <a:spAutoFit/>
          </a:bodyPr>
          <a:lstStyle/>
          <a:p>
            <a:pPr algn="ctr"/>
            <a:r>
              <a:rPr sz="2000" b="1" i="0">
                <a:solidFill>
                  <a:srgbClr val="FFFFFF"/>
                </a:solidFill>
                <a:latin typeface="Yu Gothic"/>
              </a:rPr>
              <a:t>自分自身</a:t>
            </a:r>
          </a:p>
        </p:txBody>
      </p:sp>
      <p:sp>
        <p:nvSpPr>
          <p:cNvPr id="23" name="Rectangle 22"/>
          <p:cNvSpPr/>
          <p:nvPr/>
        </p:nvSpPr>
        <p:spPr>
          <a:xfrm>
            <a:off x="2052000" y="4500000"/>
            <a:ext cx="9708119" cy="1332000"/>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60000" y="4572000"/>
            <a:ext cx="9492119" cy="360000"/>
          </a:xfrm>
          <a:prstGeom prst="rect">
            <a:avLst/>
          </a:prstGeom>
          <a:noFill/>
        </p:spPr>
        <p:txBody>
          <a:bodyPr wrap="square" lIns="36000" rIns="36000" tIns="18000" bIns="18000" anchor="t">
            <a:spAutoFit/>
          </a:bodyPr>
          <a:lstStyle/>
          <a:p>
            <a:pPr algn="l"/>
            <a:r>
              <a:rPr sz="1500" b="1" i="0">
                <a:solidFill>
                  <a:srgbClr val="142B4A"/>
                </a:solidFill>
                <a:latin typeface="Yu Gothic"/>
              </a:rPr>
              <a:t>自分自身 ― 制度を読む力を磨く</a:t>
            </a:r>
          </a:p>
        </p:txBody>
      </p:sp>
      <p:sp>
        <p:nvSpPr>
          <p:cNvPr id="25" name="TextBox 24"/>
          <p:cNvSpPr txBox="1"/>
          <p:nvPr/>
        </p:nvSpPr>
        <p:spPr>
          <a:xfrm>
            <a:off x="2160000" y="4932000"/>
            <a:ext cx="9492119" cy="900000"/>
          </a:xfrm>
          <a:prstGeom prst="rect">
            <a:avLst/>
          </a:prstGeom>
          <a:noFill/>
        </p:spPr>
        <p:txBody>
          <a:bodyPr wrap="square" lIns="36000" rIns="36000" tIns="18000" bIns="18000" anchor="t">
            <a:spAutoFit/>
          </a:bodyPr>
          <a:lstStyle/>
          <a:p>
            <a:pPr algn="l">
              <a:lnSpc>
                <a:spcPct val="135000"/>
              </a:lnSpc>
            </a:pPr>
            <a:r>
              <a:rPr sz="1200" b="0" i="0">
                <a:solidFill>
                  <a:srgbClr val="33383F"/>
                </a:solidFill>
                <a:latin typeface="Yu Gothic"/>
              </a:rPr>
              <a:t>・社会保障審議会・介護給付費分科会の資料を定期的に確認する</a:t>
            </a:r>
          </a:p>
          <a:p>
            <a:pPr algn="l">
              <a:lnSpc>
                <a:spcPct val="135000"/>
              </a:lnSpc>
            </a:pPr>
            <a:r>
              <a:rPr sz="1200" b="0" i="0">
                <a:solidFill>
                  <a:srgbClr val="33383F"/>
                </a:solidFill>
                <a:latin typeface="Yu Gothic"/>
              </a:rPr>
              <a:t>・職能団体(日本介護支援専門員協会等)の発信を追う</a:t>
            </a:r>
          </a:p>
          <a:p>
            <a:pPr algn="l">
              <a:lnSpc>
                <a:spcPct val="135000"/>
              </a:lnSpc>
            </a:pPr>
            <a:r>
              <a:rPr sz="1200" b="0" i="0">
                <a:solidFill>
                  <a:srgbClr val="33383F"/>
                </a:solidFill>
                <a:latin typeface="Yu Gothic"/>
              </a:rPr>
              <a:t>・「制度を運用する」だけでなく「制度に意見する」立場を持つ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Reference</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142B4A"/>
                </a:solidFill>
                <a:latin typeface="Yu Gothic"/>
              </a:rPr>
              <a:t>参考資料 ・ 情報源</a:t>
            </a:r>
          </a:p>
        </p:txBody>
      </p:sp>
      <p:sp>
        <p:nvSpPr>
          <p:cNvPr id="5" name="Rectangle 4"/>
          <p:cNvSpPr/>
          <p:nvPr/>
        </p:nvSpPr>
        <p:spPr>
          <a:xfrm>
            <a:off x="288000" y="1152000"/>
            <a:ext cx="900000" cy="43200"/>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8640000" cy="180000"/>
          </a:xfrm>
          <a:prstGeom prst="rect">
            <a:avLst/>
          </a:prstGeom>
          <a:noFill/>
        </p:spPr>
        <p:txBody>
          <a:bodyPr wrap="square" lIns="36000" rIns="36000" tIns="18000" bIns="18000" anchor="t">
            <a:spAutoFit/>
          </a:bodyPr>
          <a:lstStyle/>
          <a:p>
            <a:pPr algn="l"/>
            <a:r>
              <a:rPr sz="900" b="0" i="0">
                <a:solidFill>
                  <a:srgbClr val="5F7A96"/>
                </a:solidFill>
                <a:latin typeface="Yu Gothic"/>
              </a:rPr>
              <a:t>主任CM研修 / R6改定の振り返りとR9改定への論点整理  ※具体的単位数は最新の告示・通知を必ずご確認ください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5F7A96"/>
                </a:solidFill>
                <a:latin typeface="Yu Gothic"/>
              </a:rPr>
              <a:t>38 / 38</a:t>
            </a:r>
          </a:p>
        </p:txBody>
      </p:sp>
      <p:sp>
        <p:nvSpPr>
          <p:cNvPr id="8" name="TextBox 7"/>
          <p:cNvSpPr txBox="1"/>
          <p:nvPr/>
        </p:nvSpPr>
        <p:spPr>
          <a:xfrm>
            <a:off x="720000" y="1620000"/>
            <a:ext cx="10752119" cy="360000"/>
          </a:xfrm>
          <a:prstGeom prst="rect">
            <a:avLst/>
          </a:prstGeom>
          <a:noFill/>
        </p:spPr>
        <p:txBody>
          <a:bodyPr wrap="square" lIns="36000" rIns="36000" tIns="18000" bIns="18000" anchor="t">
            <a:spAutoFit/>
          </a:bodyPr>
          <a:lstStyle/>
          <a:p>
            <a:pPr algn="l"/>
            <a:r>
              <a:rPr sz="1400" b="0" i="0">
                <a:solidFill>
                  <a:srgbClr val="33383F"/>
                </a:solidFill>
                <a:latin typeface="Yu Gothic"/>
              </a:rPr>
              <a:t>■ 厚生労働省「令和6年度介護報酬改定について」(関係告示・通知・Q&amp;A)</a:t>
            </a:r>
          </a:p>
        </p:txBody>
      </p:sp>
      <p:sp>
        <p:nvSpPr>
          <p:cNvPr id="9" name="TextBox 8"/>
          <p:cNvSpPr txBox="1"/>
          <p:nvPr/>
        </p:nvSpPr>
        <p:spPr>
          <a:xfrm>
            <a:off x="720000" y="2052000"/>
            <a:ext cx="10752119" cy="360000"/>
          </a:xfrm>
          <a:prstGeom prst="rect">
            <a:avLst/>
          </a:prstGeom>
          <a:noFill/>
        </p:spPr>
        <p:txBody>
          <a:bodyPr wrap="square" lIns="36000" rIns="36000" tIns="18000" bIns="18000" anchor="t">
            <a:spAutoFit/>
          </a:bodyPr>
          <a:lstStyle/>
          <a:p>
            <a:pPr algn="l"/>
            <a:r>
              <a:rPr sz="1400" b="0" i="0">
                <a:solidFill>
                  <a:srgbClr val="33383F"/>
                </a:solidFill>
                <a:latin typeface="Yu Gothic"/>
              </a:rPr>
              <a:t>■ 社会保障審議会 介護給付費分科会 議事録・配布資料</a:t>
            </a:r>
          </a:p>
        </p:txBody>
      </p:sp>
      <p:sp>
        <p:nvSpPr>
          <p:cNvPr id="10" name="TextBox 9"/>
          <p:cNvSpPr txBox="1"/>
          <p:nvPr/>
        </p:nvSpPr>
        <p:spPr>
          <a:xfrm>
            <a:off x="720000" y="2484000"/>
            <a:ext cx="10752119" cy="360000"/>
          </a:xfrm>
          <a:prstGeom prst="rect">
            <a:avLst/>
          </a:prstGeom>
          <a:noFill/>
        </p:spPr>
        <p:txBody>
          <a:bodyPr wrap="square" lIns="36000" rIns="36000" tIns="18000" bIns="18000" anchor="t">
            <a:spAutoFit/>
          </a:bodyPr>
          <a:lstStyle/>
          <a:p>
            <a:pPr algn="l"/>
            <a:r>
              <a:rPr sz="1400" b="0" i="0">
                <a:solidFill>
                  <a:srgbClr val="33383F"/>
                </a:solidFill>
                <a:latin typeface="Yu Gothic"/>
              </a:rPr>
              <a:t>■ 介護給付費単位数表 ・ 算定基準告示 ・ 解釈通知</a:t>
            </a:r>
          </a:p>
        </p:txBody>
      </p:sp>
      <p:sp>
        <p:nvSpPr>
          <p:cNvPr id="11" name="TextBox 10"/>
          <p:cNvSpPr txBox="1"/>
          <p:nvPr/>
        </p:nvSpPr>
        <p:spPr>
          <a:xfrm>
            <a:off x="720000" y="2916000"/>
            <a:ext cx="10752119" cy="360000"/>
          </a:xfrm>
          <a:prstGeom prst="rect">
            <a:avLst/>
          </a:prstGeom>
          <a:noFill/>
        </p:spPr>
        <p:txBody>
          <a:bodyPr wrap="square" lIns="36000" rIns="36000" tIns="18000" bIns="18000" anchor="t">
            <a:spAutoFit/>
          </a:bodyPr>
          <a:lstStyle/>
          <a:p>
            <a:pPr algn="l"/>
            <a:r>
              <a:rPr sz="1400" b="0" i="0">
                <a:solidFill>
                  <a:srgbClr val="33383F"/>
                </a:solidFill>
                <a:latin typeface="Yu Gothic"/>
              </a:rPr>
              <a:t>■ 日本介護支援専門員協会「主任介護支援専門員研修」関連資料</a:t>
            </a:r>
          </a:p>
        </p:txBody>
      </p:sp>
      <p:sp>
        <p:nvSpPr>
          <p:cNvPr id="12" name="TextBox 11"/>
          <p:cNvSpPr txBox="1"/>
          <p:nvPr/>
        </p:nvSpPr>
        <p:spPr>
          <a:xfrm>
            <a:off x="720000" y="3348000"/>
            <a:ext cx="10752119" cy="360000"/>
          </a:xfrm>
          <a:prstGeom prst="rect">
            <a:avLst/>
          </a:prstGeom>
          <a:noFill/>
        </p:spPr>
        <p:txBody>
          <a:bodyPr wrap="square" lIns="36000" rIns="36000" tIns="18000" bIns="18000" anchor="t">
            <a:spAutoFit/>
          </a:bodyPr>
          <a:lstStyle/>
          <a:p>
            <a:pPr algn="l"/>
            <a:r>
              <a:rPr sz="1400" b="0" i="0">
                <a:solidFill>
                  <a:srgbClr val="33383F"/>
                </a:solidFill>
                <a:latin typeface="Yu Gothic"/>
              </a:rPr>
              <a:t>■ 厚生労働省「適切なケアマネジメント手法の手引き」</a:t>
            </a:r>
          </a:p>
        </p:txBody>
      </p:sp>
      <p:sp>
        <p:nvSpPr>
          <p:cNvPr id="13" name="TextBox 12"/>
          <p:cNvSpPr txBox="1"/>
          <p:nvPr/>
        </p:nvSpPr>
        <p:spPr>
          <a:xfrm>
            <a:off x="720000" y="3780000"/>
            <a:ext cx="10752119" cy="360000"/>
          </a:xfrm>
          <a:prstGeom prst="rect">
            <a:avLst/>
          </a:prstGeom>
          <a:noFill/>
        </p:spPr>
        <p:txBody>
          <a:bodyPr wrap="square" lIns="36000" rIns="36000" tIns="18000" bIns="18000" anchor="t">
            <a:spAutoFit/>
          </a:bodyPr>
          <a:lstStyle/>
          <a:p>
            <a:pPr algn="l"/>
            <a:r>
              <a:rPr sz="1400" b="0" i="0">
                <a:solidFill>
                  <a:srgbClr val="33383F"/>
                </a:solidFill>
                <a:latin typeface="Yu Gothic"/>
              </a:rPr>
              <a:t>■ WAM NET「介護保険制度・報酬」情報</a:t>
            </a:r>
          </a:p>
        </p:txBody>
      </p:sp>
      <p:sp>
        <p:nvSpPr>
          <p:cNvPr id="14" name="TextBox 13"/>
          <p:cNvSpPr txBox="1"/>
          <p:nvPr/>
        </p:nvSpPr>
        <p:spPr>
          <a:xfrm>
            <a:off x="720000" y="4212000"/>
            <a:ext cx="10752119" cy="360000"/>
          </a:xfrm>
          <a:prstGeom prst="rect">
            <a:avLst/>
          </a:prstGeom>
          <a:noFill/>
        </p:spPr>
        <p:txBody>
          <a:bodyPr wrap="square" lIns="36000" rIns="36000" tIns="18000" bIns="18000" anchor="t">
            <a:spAutoFit/>
          </a:bodyPr>
          <a:lstStyle/>
          <a:p>
            <a:pPr algn="l"/>
            <a:r>
              <a:rPr sz="1400" b="0" i="0">
                <a:solidFill>
                  <a:srgbClr val="33383F"/>
                </a:solidFill>
                <a:latin typeface="Yu Gothic"/>
              </a:rPr>
              <a:t>■ 各都道府県・保険者の Q&amp;A、集団指導資料</a:t>
            </a:r>
          </a:p>
        </p:txBody>
      </p:sp>
      <p:sp>
        <p:nvSpPr>
          <p:cNvPr id="15" name="TextBox 14"/>
          <p:cNvSpPr txBox="1"/>
          <p:nvPr/>
        </p:nvSpPr>
        <p:spPr>
          <a:xfrm>
            <a:off x="720000" y="4644000"/>
            <a:ext cx="10752119" cy="360000"/>
          </a:xfrm>
          <a:prstGeom prst="rect">
            <a:avLst/>
          </a:prstGeom>
          <a:noFill/>
        </p:spPr>
        <p:txBody>
          <a:bodyPr wrap="square" lIns="36000" rIns="36000" tIns="18000" bIns="18000" anchor="t">
            <a:spAutoFit/>
          </a:bodyPr>
          <a:lstStyle/>
          <a:p>
            <a:pPr algn="l"/>
            <a:r>
              <a:rPr sz="1400" b="0" i="0">
                <a:solidFill>
                  <a:srgbClr val="33383F"/>
                </a:solidFill>
                <a:latin typeface="Yu Gothic"/>
              </a:rPr>
              <a:t>■ R9 改定議論:介護給付費分科会(2025年〜2026年の審議)</a:t>
            </a:r>
          </a:p>
        </p:txBody>
      </p:sp>
      <p:sp>
        <p:nvSpPr>
          <p:cNvPr id="16" name="TextBox 15"/>
          <p:cNvSpPr txBox="1"/>
          <p:nvPr/>
        </p:nvSpPr>
        <p:spPr>
          <a:xfrm>
            <a:off x="432000" y="5760000"/>
            <a:ext cx="11328119" cy="540000"/>
          </a:xfrm>
          <a:prstGeom prst="rect">
            <a:avLst/>
          </a:prstGeom>
          <a:noFill/>
        </p:spPr>
        <p:txBody>
          <a:bodyPr wrap="square" lIns="36000" rIns="36000" tIns="18000" bIns="18000" anchor="t">
            <a:spAutoFit/>
          </a:bodyPr>
          <a:lstStyle/>
          <a:p>
            <a:pPr algn="l">
              <a:lnSpc>
                <a:spcPct val="130000"/>
              </a:lnSpc>
            </a:pPr>
            <a:r>
              <a:rPr sz="1200" b="1" i="0">
                <a:solidFill>
                  <a:srgbClr val="C03A2E"/>
                </a:solidFill>
                <a:latin typeface="Yu Gothic"/>
              </a:rPr>
              <a:t>▶ 制度は動き続ける。主任CMは「最新の確からしい情報源」を常に複数持つこと。</a:t>
            </a:r>
          </a:p>
          <a:p>
            <a:pPr algn="l">
              <a:lnSpc>
                <a:spcPct val="130000"/>
              </a:lnSpc>
            </a:pPr>
            <a:r>
              <a:rPr sz="1200" b="1" i="0">
                <a:solidFill>
                  <a:srgbClr val="C03A2E"/>
                </a:solidFill>
                <a:latin typeface="Yu Gothic"/>
              </a:rPr>
              <a:t>▶ 本日の資料は R6 施行2 年経過時点(2026年5月現在)の情報を基にしています。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