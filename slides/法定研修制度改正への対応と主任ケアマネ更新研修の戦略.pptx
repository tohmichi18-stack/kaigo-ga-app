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4114800" cy="41148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介護支援専門員向け 研修資料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法定研修制度改正への対応と</a:t>
            </a:r>
          </a:p>
          <a:p>
            <a:pPr algn="l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主任ケアマネ更新研修の戦略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研修体系の見直しを踏まえた</a:t>
            </a:r>
          </a:p>
          <a:p>
            <a:pPr algn="l">
              <a:lnSpc>
                <a:spcPct val="14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事業所内での計画的な人材育成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577840"/>
            <a:ext cx="10332720" cy="12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Yu Gothic"/>
              </a:rPr>
              <a:t>居宅介護支援事業所／地域包括支援センター　管理者・主任介護支援専門員 向け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本日のアジェンダ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法定研修制度改正への対応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2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Yu Gothic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4C81"/>
                </a:solidFill>
                <a:latin typeface="Yu Gothic"/>
              </a:rPr>
              <a:t>法定研修制度改正の背景と全体像</a:t>
            </a:r>
            <a:r>
              <a:rPr sz="1400" b="0">
                <a:solidFill>
                  <a:srgbClr val="5A6B80"/>
                </a:solidFill>
                <a:latin typeface="Yu Gothic"/>
              </a:rPr>
              <a:t>　— なぜ今、見直しが必要なのか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Yu Gothic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65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4C81"/>
                </a:solidFill>
                <a:latin typeface="Yu Gothic"/>
              </a:rPr>
              <a:t>新研修体系のポイント</a:t>
            </a:r>
            <a:r>
              <a:rPr sz="1400" b="0">
                <a:solidFill>
                  <a:srgbClr val="5A6B80"/>
                </a:solidFill>
                <a:latin typeface="Yu Gothic"/>
              </a:rPr>
              <a:t>　— カリキュラム・受講方法の変更点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Yu Gothic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8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4C81"/>
                </a:solidFill>
                <a:latin typeface="Yu Gothic"/>
              </a:rPr>
              <a:t>主任ケアマネ更新研修の現状と課題</a:t>
            </a:r>
            <a:r>
              <a:rPr sz="1400" b="0">
                <a:solidFill>
                  <a:srgbClr val="5A6B80"/>
                </a:solidFill>
                <a:latin typeface="Yu Gothic"/>
              </a:rPr>
              <a:t>　— 5年ごとの更新をどう乗り切るか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Yu Gothic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71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4C81"/>
                </a:solidFill>
                <a:latin typeface="Yu Gothic"/>
              </a:rPr>
              <a:t>事業所内での計画的人材育成戦略</a:t>
            </a:r>
            <a:r>
              <a:rPr sz="1400" b="0">
                <a:solidFill>
                  <a:srgbClr val="5A6B80"/>
                </a:solidFill>
                <a:latin typeface="Yu Gothic"/>
              </a:rPr>
              <a:t>　— キャリアパス・OJT・受講体制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A623"/>
                </a:solidFill>
                <a:latin typeface="Yu Gothic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4C81"/>
                </a:solidFill>
                <a:latin typeface="Yu Gothic"/>
              </a:rPr>
              <a:t>実践事例とチェックリスト</a:t>
            </a:r>
            <a:r>
              <a:rPr sz="1400" b="0">
                <a:solidFill>
                  <a:srgbClr val="5A6B80"/>
                </a:solidFill>
                <a:latin typeface="Yu Gothic"/>
              </a:rPr>
              <a:t>　— 明日から取り組めるアクション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03520"/>
            <a:ext cx="10698480" cy="77724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45720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440680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本日のゴール：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研修制度改正の要点を理解し、自事業所における 3〜5年スパン の人材育成計画を描けるようになる。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第1章　法定研修制度改正の背景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第1章　改正の背景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3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17320"/>
            <a:ext cx="52120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17320"/>
            <a:ext cx="45720" cy="22860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2704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環境変化①　利用者ニーズの多様化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20240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独居高齢者・認認介護世帯の増加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医療ニーズの高い在宅利用者の増加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ヤングケアラー・8050問題など複合課題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417320"/>
            <a:ext cx="52120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417320"/>
            <a:ext cx="45720" cy="2286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2704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環境変化②　制度の深化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地域包括ケアシステムの深化・推進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「適切なケアマネジメント手法」の普及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科学的介護（LIFE）情報の活用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52120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40480"/>
            <a:ext cx="45720" cy="22860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502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現場の課題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43400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研修時間が長く業務との両立が困難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研修内容の重複・体系の分かりにくさ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主任ケアマネ不足と更新の負担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40480"/>
            <a:ext cx="521208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840480"/>
            <a:ext cx="45720" cy="2286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9502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制度的要請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厚労省「介護支援専門員資質向上方策」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法定研修ガイドラインの改訂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ICT活用（eラーニング）の推進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改正スケジュールと法定研修体系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第1章　改正の背景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4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段階的な施行スケジュール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057399"/>
            <a:ext cx="38100" cy="292608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408" y="2011679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993391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令和6年度〜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93391"/>
            <a:ext cx="2834640" cy="1036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新ガイドラインに基づく研修開始、eラーニング科目の本格導入</a:t>
            </a:r>
          </a:p>
        </p:txBody>
      </p:sp>
      <p:sp>
        <p:nvSpPr>
          <p:cNvPr id="14" name="Oval 13"/>
          <p:cNvSpPr/>
          <p:nvPr/>
        </p:nvSpPr>
        <p:spPr>
          <a:xfrm>
            <a:off x="978408" y="3047999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29711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令和7年度〜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029711"/>
            <a:ext cx="2834640" cy="1036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都道府県ごとに新カリキュラム順次移行</a:t>
            </a:r>
          </a:p>
        </p:txBody>
      </p:sp>
      <p:sp>
        <p:nvSpPr>
          <p:cNvPr id="17" name="Oval 16"/>
          <p:cNvSpPr/>
          <p:nvPr/>
        </p:nvSpPr>
        <p:spPr>
          <a:xfrm>
            <a:off x="978408" y="4084319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4066031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令和8年度〜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066031"/>
            <a:ext cx="2834640" cy="1036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新体系への完全移行を目指す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※施行時期・移行方法は都道府県により異なるため、所管自治体の通知を確認のこと。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417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法定研修の全体像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1874519"/>
          <a:ext cx="521207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3748"/>
                <a:gridCol w="2978331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研修名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実務研修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新規登録予定者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専門研修課程I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実務経験概ね2年〜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専門研修課程II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更新時（概ね5年）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主任介護支援専門員研修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主任ケアマネ希望者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主任介護支援専門員更新研修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主任ケアマネ5年ごと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再研修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登録失効者の再登録時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新研修体系の主要な改正ポイント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第2章　新研修体系のポイント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5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212140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54480"/>
            <a:ext cx="2121408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73736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カリキュラム整理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184708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科目間の重複を整理し、実践演習を中心とした構成へ。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1554480"/>
            <a:ext cx="212140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4368" y="1554480"/>
            <a:ext cx="2121408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27248" y="173736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17465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24028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eラーニング拡大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2606040"/>
            <a:ext cx="184708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知識習得はオンライン化。集合研修は演習・対話中心に。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57216" y="1554480"/>
            <a:ext cx="212140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57216" y="1554480"/>
            <a:ext cx="2121408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40096" y="173736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17465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24028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適切なケアマネジメント手法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096" y="2606040"/>
            <a:ext cx="184708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疾患別・状態別の標準的支援を全課程で位置づけ。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70064" y="1554480"/>
            <a:ext cx="212140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70064" y="1554480"/>
            <a:ext cx="2121408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52944" y="173736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2944" y="17465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224028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多職種連携の強化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2606040"/>
            <a:ext cx="184708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医療・介護・地域資源との連携演習を充実。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1554480"/>
            <a:ext cx="212140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82912" y="1554480"/>
            <a:ext cx="2121408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65792" y="173736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17465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224028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評価の改善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2606040"/>
            <a:ext cx="184708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形成的評価（修了後のフォロー）を導入。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206240"/>
            <a:ext cx="10698480" cy="146304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4206240"/>
            <a:ext cx="45720" cy="14630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43434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事業所インパクト：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受講時間の総量に大きな変化はないものの、「事前学習・オンライン受講・職場での実践」がセットになり、勤務シフトと学習時間の管理がより重要になります。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eラーニング活用の留意点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第2章　新研修体系のポイント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6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45720" cy="21945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メリット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受講機会の地域差の縮小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業務との両立がしやすい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繰り返し視聴で理解定着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移動コスト・時間の削減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45720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注意すべき点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受講時間の確保（勤務時間扱いの整理）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視聴環境（PC・ネット・静音）の準備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個人学習に陥りがちで質問機会が減少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修了要件（テスト・課題）の確認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事業所として整えるべきこと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就業規則上の「研修時間の取扱い」を明確化（労働時間／自己研鑽の区分）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受講可能な個室・PC・ヘッドセットの確保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視聴後の事業所内シェア会で学びを定着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第3章　主任ケアマネ更新研修の現状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第3章　主任ケアマネ更新研修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7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制度の概要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874519"/>
          <a:ext cx="10698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802386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更新サイクル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主任介護支援専門員の更新は </a:t>
                      </a:r>
                      <a:r>
                        <a:rPr sz="1100" b="1">
                          <a:solidFill>
                            <a:srgbClr val="1F2D3D"/>
                          </a:solidFill>
                          <a:latin typeface="Yu Gothic"/>
                        </a:rPr>
                        <a:t>5年ごと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研修時間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概ね </a:t>
                      </a:r>
                      <a:r>
                        <a:rPr sz="1100" b="1">
                          <a:solidFill>
                            <a:srgbClr val="1F2D3D"/>
                          </a:solidFill>
                          <a:latin typeface="Yu Gothic"/>
                        </a:rPr>
                        <a:t>46時間</a:t>
                      </a:r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（都道府県により異なる）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主な受講要件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主任ケアマネとしての一定の実務経験／指導実績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未受講のリスク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主任ケアマネの資格失効 → </a:t>
                      </a:r>
                      <a:r>
                        <a:rPr sz="1100" b="1">
                          <a:solidFill>
                            <a:srgbClr val="1F2D3D"/>
                          </a:solidFill>
                          <a:latin typeface="Yu Gothic"/>
                        </a:rPr>
                        <a:t>特定事業所加算・包括センター人員要件</a:t>
                      </a:r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に直撃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" y="4297680"/>
            <a:ext cx="10698480" cy="155448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45720" cy="15544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3484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経営インパクト：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主任ケアマネが1名でも失効すると、特定事業所加算（I・II）や地域包括支援センターの三職種要件が満たせなくなる可能性。事業所収益・指定要件に直結する重大リスク。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更新研修における4つの課題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第3章　主任ケアマネ更新研修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8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5349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45720" cy="210312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① 時間的負担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6596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46時間以上の受講時間に加え、レポート・事例提出の準備が必要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日常業務と並行しての学習負担が大きい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349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45720" cy="2103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② 受講機会の限定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6596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都道府県開催で年1〜2回。定員制で抽選のことも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受講できない年が続くと更新期限に間に合わないリスク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49039"/>
            <a:ext cx="5349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45720" cy="210312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58767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③ 業務継続との両立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251959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研修日のケース対応・モニタリング・担当者会議の調整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事業所全体での体制整備が不可欠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749039"/>
            <a:ext cx="53492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749039"/>
            <a:ext cx="45720" cy="2103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858767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④ 受講要件の管理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51959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「主任ケアマネとしての実務経験」「指導実績」など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5年間にわたって意識的に積み上げる必要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更新研修への戦略的アプローチ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第3章　主任ケアマネ更新研修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9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「5年前から逆算」する受講計画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03120"/>
            <a:ext cx="38100" cy="292608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408" y="2057400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03911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更新5年前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039112"/>
            <a:ext cx="8321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更新期限・要件をリスト化／業務経験ログの開始</a:t>
            </a:r>
          </a:p>
        </p:txBody>
      </p:sp>
      <p:sp>
        <p:nvSpPr>
          <p:cNvPr id="14" name="Oval 13"/>
          <p:cNvSpPr/>
          <p:nvPr/>
        </p:nvSpPr>
        <p:spPr>
          <a:xfrm>
            <a:off x="978408" y="2679192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266090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更新3〜2年前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60904"/>
            <a:ext cx="8321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指導実績の蓄積（実習指導者、事例検討会講師など）／受講要件チェック</a:t>
            </a:r>
          </a:p>
        </p:txBody>
      </p:sp>
      <p:sp>
        <p:nvSpPr>
          <p:cNvPr id="17" name="Oval 16"/>
          <p:cNvSpPr/>
          <p:nvPr/>
        </p:nvSpPr>
        <p:spPr>
          <a:xfrm>
            <a:off x="978408" y="3300984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282696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更新1年前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282696"/>
            <a:ext cx="8321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受講申込／代替要員・シフト計画の確定／事業所内引き継ぎ準備</a:t>
            </a:r>
          </a:p>
        </p:txBody>
      </p:sp>
      <p:sp>
        <p:nvSpPr>
          <p:cNvPr id="20" name="Oval 19"/>
          <p:cNvSpPr/>
          <p:nvPr/>
        </p:nvSpPr>
        <p:spPr>
          <a:xfrm>
            <a:off x="978408" y="3922776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390448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受講中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904488"/>
            <a:ext cx="8321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業務カバー体制の実施／学習時間の確保</a:t>
            </a:r>
          </a:p>
        </p:txBody>
      </p:sp>
      <p:sp>
        <p:nvSpPr>
          <p:cNvPr id="23" name="Oval 22"/>
          <p:cNvSpPr/>
          <p:nvPr/>
        </p:nvSpPr>
        <p:spPr>
          <a:xfrm>
            <a:off x="978408" y="4544568"/>
            <a:ext cx="292608" cy="29260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2D6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5262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修了後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526280"/>
            <a:ext cx="8321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D3D"/>
                </a:solidFill>
                <a:latin typeface="Yu Gothic"/>
              </a:rPr>
              <a:t>事業所内へのフィードバック／次の5年への引き継ぎ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49240"/>
            <a:ext cx="10698480" cy="77724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49240"/>
            <a:ext cx="45720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486400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ポイント：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更新管理を「個人任せ」にせず、事業所の人材台帳で見える化することが第一歩。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人材台帳（更新管理シート）の例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第3章　主任ケアマネ更新研修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10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173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  <a:gridCol w="2377440"/>
                <a:gridCol w="237744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氏名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資格区分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有効期限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次回研修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受講要件状況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担当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A 主任CM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R8.3.31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R7年度 主任更新研修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○ 指導実績充足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管理者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B CM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専門II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R9.3.31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R8年度 専門研修II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―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主任A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C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R10.3.31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R7年度 専門研修I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D 新人CM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実務研修修了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R11.3.31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R8年度 専門研修I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OJT継続中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主任A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3977639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運用のポイント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年度初め（4月）に全員分を更新し、管理者・主任で共有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受講申込時期の3ヶ月前にアラート（カレンダー登録）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「受講要件」欄は主任更新で必要な指導実績等を具体的に記載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第4章　事業所内での計画的人材育成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11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17320"/>
            <a:ext cx="10698480" cy="109728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17320"/>
            <a:ext cx="45720" cy="1097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544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基本認識：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法定研修は「最低限の共通基盤」に過ぎない。事業所内のOJT・キャリアパス・組織文化がそろって、はじめて研修効果は実務に定着する。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人材育成戦略の3本柱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46120"/>
            <a:ext cx="3520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46120"/>
            <a:ext cx="35204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3814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キャリアパス設計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新人→中堅→主任→指導者まで、段階ごとの役割と目標を明確化。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3246120"/>
            <a:ext cx="3520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35204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80" y="342900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343814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9319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計画的な研修受講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2976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法定研修＋事業所内研修＋外部研修を年間計画に組み込む。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3246120"/>
            <a:ext cx="35204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3246120"/>
            <a:ext cx="35204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38159" y="342900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59" y="343814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39319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OJTとフォロー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4297680"/>
            <a:ext cx="3246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同行訪問・ケアプラン点検・面談で日常業務に学びを統合。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キャリアパスの設計例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12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17320"/>
          <a:ext cx="1069847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8883"/>
                <a:gridCol w="1458883"/>
                <a:gridCol w="3890356"/>
                <a:gridCol w="389035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段階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経験年数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役割・期待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受講すべき研修</a:t>
                      </a:r>
                    </a:p>
                  </a:txBody>
                  <a:tcPr>
                    <a:solidFill>
                      <a:srgbClr val="0F4C8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導入期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0〜1年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担当ケース20件以下／OJTで基礎習得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実務研修・新任者研修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基礎期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2〜4年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標準ケースを自立して担当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専門研修課程I／法定外スキル研修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応用期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5〜7年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困難事例・若手OJT支援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専門研修課程II／事例検討会講師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主任期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8年〜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地域連携・事業所運営・指導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主任介護支援専門員研修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指導者期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法定研修講師／地域ケア会議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D3D"/>
                          </a:solidFill>
                          <a:latin typeface="Yu Gothic"/>
                        </a:rPr>
                        <a:t>主任更新研修／指導者養成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各段階で必須の仕組み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目標設定面談（年2回）と処遇との連動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段階移行の判定基準を文書化（属人化させない）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年間研修計画の立て方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13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3層構造で計画する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53492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45720" cy="12801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984247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① 法定研修（必須）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77439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都道府県告知をもとに4月時点で受講者・時期を確定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53492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45720" cy="12801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3101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② 事業所内研修（月例）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0332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事例検討会・制度学習会・適切なケアマネジメント手法の勉強会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26280"/>
            <a:ext cx="53492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526280"/>
            <a:ext cx="45720" cy="12801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63600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③ 外部研修・自己研鑽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2920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協会研修・学会・専門領域（医療・認知症・看取り等）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4173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個人別研修計画書（フォーマット）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2120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本人の到達目標（1年・3年）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受講予定研修（法定／法定外）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OJT項目とメンター</a:t>
            </a:r>
          </a:p>
          <a:p>
            <a:pPr algn="l">
              <a:lnSpc>
                <a:spcPct val="15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振り返り（半期ごと）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97680"/>
            <a:ext cx="5349240" cy="137160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297680"/>
            <a:ext cx="45720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434840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運用のコツ：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4月作成 → 9月中間レビュー → 翌年3月評価、のPDCAを回す。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受講機会を確保する職場体制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14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45720" cy="21945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シフト・業務面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研修日の担当ケース引継ぎルール整備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主任ケアマネ間の相互バックアップ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モニタリング訪問の前倒し調整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45720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制度・処遇面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研修受講を業務扱いとする規程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受講料・交通費の事業所負担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主任研修修了者への処遇加算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9476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94760"/>
            <a:ext cx="45720" cy="21945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044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環境・ICT面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29768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eラーニング受講用の静音スペース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ケアプランソフトでの業務効率化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記録のテンプレート化で記入時間短縮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79476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794760"/>
            <a:ext cx="45720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044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コミュニケーション面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9768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受講予定の事前共有・カレンダー化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利用者・家族への事前説明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受講後のシェア会で全員に還元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OJTの体系化　— 4つの基本ツール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15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6060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08760"/>
            <a:ext cx="26060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007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1945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同行訪問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初回・困難事例で主任が同行。終了後に必ず振り返り。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508760"/>
            <a:ext cx="26060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508760"/>
            <a:ext cx="26060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11880" y="169164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17007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1945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ケアプラン点検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毎月、主任が新人プランをレビュー。点検視点を標準化。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508760"/>
            <a:ext cx="26060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508760"/>
            <a:ext cx="26060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0" y="169164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7007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1945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事例検討会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月1回、全員参加。発表者持ち回りで指導力も育成。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3960" y="1508760"/>
            <a:ext cx="26060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23960" y="1508760"/>
            <a:ext cx="2606040" cy="50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06840" y="1691640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170078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19456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4C81"/>
                </a:solidFill>
                <a:latin typeface="Yu Gothic"/>
              </a:rPr>
              <a:t>1on1面談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B80"/>
                </a:solidFill>
                <a:latin typeface="Yu Gothic"/>
              </a:rPr>
              <a:t>月1回30分。業務状況・キャリア・メンタルまで対話。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" y="4023360"/>
            <a:ext cx="45720" cy="1097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1605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OJTを「指導者の善意」に任せない：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記録様式・チェックリスト・点検視点を事業所共通のフォーマットとして整備し、誰が指導しても一定の質を担保する。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FB3"/>
                </a:solidFill>
                <a:latin typeface="Yu Gothic"/>
              </a:rPr>
              <a:t>主任ケアマネにとってのメリット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OJT実績そのものが主任更新研修の受講要件（指導実績）になる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指導を通じた自身の振り返りで更新研修の事例提出が容易に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研修効果を実務に定着させる工夫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16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「受けっぱなし」を防ぐ3つの仕掛け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45720" cy="1828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984247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① 事前学習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77439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研修テキストに目を通し、持ち帰りたい問いを1つ決めてから参加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874519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874519"/>
            <a:ext cx="45720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984247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② 事業所内シェア会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377439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研修翌週に30分。「明日から変えること」を1つ宣言してもらう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4048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840480"/>
            <a:ext cx="45720" cy="182880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5020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③ 3ヶ月後フォロー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43400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「変えると宣言したこと」が継続しているか、1on1で確認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84048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840480"/>
            <a:ext cx="45720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95020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＋α ポートフォリオ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受講記録・事例・指導実績を蓄積。主任更新時の提出資料が一気に楽に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事業所の外に学びの場をつくる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第4章　事業所内人材育成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17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173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地域・多職種との連携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52120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地域ケア会議への積極参加（事例提供・コメント）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地域包括支援センター主催の研修・連絡会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医療機関の退院前カンファレンスを学びの機会に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近隣事業所との合同事例検討会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173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外部資源の活用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2120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都道府県・市町村介護支援専門員協会の研修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日本ケアマネジメント学会など学術団体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「適切なケアマネジメント手法」関連の研修</a:t>
            </a:r>
          </a:p>
          <a:p>
            <a:pPr algn="l">
              <a:lnSpc>
                <a:spcPct val="160000"/>
              </a:lnSpc>
            </a:pPr>
            <a:r>
              <a:rPr sz="12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400" b="0">
                <a:solidFill>
                  <a:srgbClr val="1F2D3D"/>
                </a:solidFill>
                <a:latin typeface="Yu Gothic"/>
              </a:rPr>
              <a:t>主任更新研修の講師依頼を受ける側になる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846320"/>
            <a:ext cx="10698480" cy="128016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45720" cy="12801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98348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外部活動は更新の追い風：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地域ケア会議の事例提供や講師経験は、主任更新研修の要件として求められる「指導・地域貢献の実績」に直結する。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第5章　実践事例　A居宅介護支援事業所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第5章　実践事例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18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17320"/>
            <a:ext cx="534924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17320"/>
            <a:ext cx="45720" cy="164592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2704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事業所プロフィール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202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常勤ケアマネ6名（うち主任3名）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担当件数 約180件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特定事業所加算（I）取得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17320"/>
            <a:ext cx="534924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45720" cy="16459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2704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取り組み前の課題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20240"/>
            <a:ext cx="49834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主任の更新時期が重なり業務麻痺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研修参加が個人任せで非効率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新人OJTが属人化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FB3"/>
                </a:solidFill>
                <a:latin typeface="Yu Gothic"/>
              </a:rPr>
              <a:t>実施した3つの施策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F5A623"/>
                </a:solidFill>
                <a:latin typeface="Yu Gothic"/>
              </a:rPr>
              <a:t>1.  </a:t>
            </a:r>
            <a:r>
              <a:rPr sz="1400" b="0">
                <a:solidFill>
                  <a:srgbClr val="1F2D3D"/>
                </a:solidFill>
                <a:latin typeface="Yu Gothic"/>
              </a:rPr>
              <a:t>人材台帳の整備と5年スパンの更新ローテーション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F5A623"/>
                </a:solidFill>
                <a:latin typeface="Yu Gothic"/>
              </a:rPr>
              <a:t>2.  </a:t>
            </a:r>
            <a:r>
              <a:rPr sz="1400" b="0">
                <a:solidFill>
                  <a:srgbClr val="1F2D3D"/>
                </a:solidFill>
                <a:latin typeface="Yu Gothic"/>
              </a:rPr>
              <a:t>月例事例検討会の定例化と発表者ローテ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F5A623"/>
                </a:solidFill>
                <a:latin typeface="Yu Gothic"/>
              </a:rPr>
              <a:t>3.  </a:t>
            </a:r>
            <a:r>
              <a:rPr sz="1400" b="0">
                <a:solidFill>
                  <a:srgbClr val="1F2D3D"/>
                </a:solidFill>
                <a:latin typeface="Yu Gothic"/>
              </a:rPr>
              <a:t>個人別研修計画書と半期面談の制度化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212080"/>
            <a:ext cx="45720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4924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6B4E00"/>
                </a:solidFill>
                <a:latin typeface="Yu Gothic"/>
              </a:rPr>
              <a:t>結果：</a:t>
            </a:r>
            <a:r>
              <a:rPr sz="1400" b="0">
                <a:solidFill>
                  <a:srgbClr val="6B4E00"/>
                </a:solidFill>
                <a:latin typeface="Yu Gothic"/>
              </a:rPr>
              <a:t>3年間で受講率100％／離職率低下／主任更新の取りこぼしゼロ／特定事業所加算の維持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4C81"/>
                </a:solidFill>
                <a:latin typeface="Yu Gothic"/>
              </a:rPr>
              <a:t>明日から始めるチェックリスト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36576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80"/>
                </a:solidFill>
                <a:latin typeface="Yu Gothic"/>
              </a:rPr>
              <a:t>第5章　実践事例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0F4C81"/>
                </a:solidFill>
                <a:latin typeface="Yu Gothic"/>
              </a:rPr>
              <a:t>19 /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00800"/>
            <a:ext cx="11155680" cy="137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45720" cy="21945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□ 制度理解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新ガイドラインの確認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都道府県の施行スケジュール把握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eラーニング受講方法の確認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45720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7276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□ 更新管理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6596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人材台帳の作成・更新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主任の更新期限のアラート設定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受講要件の充足状況の点検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9476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94760"/>
            <a:ext cx="45720" cy="2194560"/>
          </a:xfrm>
          <a:prstGeom prst="rect">
            <a:avLst/>
          </a:prstGeom>
          <a:solidFill>
            <a:srgbClr val="2D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044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□ 育成体制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29768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キャリアパス図の作成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個人別研修計画書の運用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OJTフォーマットの整備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794760"/>
            <a:ext cx="53492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794760"/>
            <a:ext cx="45720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044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4C81"/>
                </a:solidFill>
                <a:latin typeface="Yu Gothic"/>
              </a:rPr>
              <a:t>□ 学習文化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97680"/>
            <a:ext cx="49834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月例事例検討会の定例化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受講後シェア会の実施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latin typeface="Yu Gothic"/>
              </a:rPr>
              <a:t>■  </a:t>
            </a:r>
            <a:r>
              <a:rPr sz="1300" b="0">
                <a:solidFill>
                  <a:srgbClr val="1F2D3D"/>
                </a:solidFill>
                <a:latin typeface="Yu Gothic"/>
              </a:rPr>
              <a:t>ポートフォリオの作成支援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Yu Gothic"/>
              </a:rPr>
              <a:t>本日のまとめ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</a:pPr>
            <a:r>
              <a:rPr sz="2200" b="0">
                <a:solidFill>
                  <a:srgbClr val="FFFFFF"/>
                </a:solidFill>
                <a:latin typeface="Yu Gothic"/>
              </a:rPr>
              <a:t>法定研修改正は </a:t>
            </a:r>
            <a:r>
              <a:rPr sz="2200" b="1">
                <a:solidFill>
                  <a:srgbClr val="F5A623"/>
                </a:solidFill>
                <a:latin typeface="Yu Gothic"/>
              </a:rPr>
              <a:t>「研修体系の再設計」 </a:t>
            </a:r>
            <a:r>
              <a:rPr sz="2200" b="0">
                <a:solidFill>
                  <a:srgbClr val="FFFFFF"/>
                </a:solidFill>
                <a:latin typeface="Yu Gothic"/>
              </a:rPr>
              <a:t>の好機。</a:t>
            </a:r>
          </a:p>
          <a:p>
            <a:pPr algn="ctr">
              <a:lnSpc>
                <a:spcPct val="170000"/>
              </a:lnSpc>
            </a:pPr>
            <a:r>
              <a:rPr sz="2200" b="0">
                <a:solidFill>
                  <a:srgbClr val="FFFFFF"/>
                </a:solidFill>
                <a:latin typeface="Yu Gothic"/>
              </a:rPr>
              <a:t>主任ケアマネ更新は </a:t>
            </a:r>
            <a:r>
              <a:rPr sz="2200" b="1">
                <a:solidFill>
                  <a:srgbClr val="F5A623"/>
                </a:solidFill>
                <a:latin typeface="Yu Gothic"/>
              </a:rPr>
              <a:t>「5年前から」 </a:t>
            </a:r>
            <a:r>
              <a:rPr sz="2200" b="0">
                <a:solidFill>
                  <a:srgbClr val="FFFFFF"/>
                </a:solidFill>
                <a:latin typeface="Yu Gothic"/>
              </a:rPr>
              <a:t>の戦略で乗り切る。</a:t>
            </a:r>
          </a:p>
          <a:p>
            <a:pPr algn="ctr">
              <a:lnSpc>
                <a:spcPct val="170000"/>
              </a:lnSpc>
            </a:pPr>
            <a:r>
              <a:rPr sz="2200" b="0">
                <a:solidFill>
                  <a:srgbClr val="FFFFFF"/>
                </a:solidFill>
                <a:latin typeface="Yu Gothic"/>
              </a:rPr>
              <a:t>人材育成は </a:t>
            </a:r>
            <a:r>
              <a:rPr sz="2200" b="1">
                <a:solidFill>
                  <a:srgbClr val="F5A623"/>
                </a:solidFill>
                <a:latin typeface="Yu Gothic"/>
              </a:rPr>
              <a:t>「個人任せ」から「組織の仕組み」 </a:t>
            </a:r>
            <a:r>
              <a:rPr sz="2200" b="0">
                <a:solidFill>
                  <a:srgbClr val="FFFFFF"/>
                </a:solidFill>
                <a:latin typeface="Yu Gothic"/>
              </a:rPr>
              <a:t>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Yu Gothic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63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