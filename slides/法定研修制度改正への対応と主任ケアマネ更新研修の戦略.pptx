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371600"/>
            <a:ext cx="4114800" cy="41148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4114800" cy="411480"/>
          </a:xfrm>
          <a:prstGeom prst="rect">
            <a:avLst/>
          </a:prstGeom>
          <a:noFill/>
        </p:spPr>
        <p:txBody>
          <a:bodyPr wrap="square" lIns="0" rIns="0" tIns="0" bIns="0" anchor="ctr">
            <a:spAutoFit/>
          </a:bodyPr>
          <a:lstStyle/>
          <a:p>
            <a:pPr algn="ctr"/>
            <a:r>
              <a:rPr sz="1400" b="1">
                <a:solidFill>
                  <a:srgbClr val="FFFFFF"/>
                </a:solidFill>
                <a:latin typeface="Yu Gothic"/>
              </a:rPr>
              <a:t>介護支援専門員向け 研修資料</a:t>
            </a:r>
          </a:p>
        </p:txBody>
      </p:sp>
      <p:sp>
        <p:nvSpPr>
          <p:cNvPr id="6" name="TextBox 5"/>
          <p:cNvSpPr txBox="1"/>
          <p:nvPr/>
        </p:nvSpPr>
        <p:spPr>
          <a:xfrm>
            <a:off x="914400" y="2103120"/>
            <a:ext cx="10332720" cy="2011680"/>
          </a:xfrm>
          <a:prstGeom prst="rect">
            <a:avLst/>
          </a:prstGeom>
          <a:noFill/>
        </p:spPr>
        <p:txBody>
          <a:bodyPr wrap="square" lIns="0" rIns="0" tIns="0" bIns="0" anchor="t">
            <a:spAutoFit/>
          </a:bodyPr>
          <a:lstStyle/>
          <a:p>
            <a:pPr algn="l">
              <a:lnSpc>
                <a:spcPct val="130000"/>
              </a:lnSpc>
            </a:pPr>
            <a:r>
              <a:rPr sz="3600" b="1">
                <a:solidFill>
                  <a:srgbClr val="FFFFFF"/>
                </a:solidFill>
                <a:latin typeface="Yu Gothic"/>
              </a:rPr>
              <a:t>法定研修制度改正への対応と</a:t>
            </a:r>
          </a:p>
          <a:p>
            <a:pPr algn="l">
              <a:lnSpc>
                <a:spcPct val="130000"/>
              </a:lnSpc>
            </a:pPr>
            <a:r>
              <a:rPr sz="3600" b="1">
                <a:solidFill>
                  <a:srgbClr val="FFFFFF"/>
                </a:solidFill>
                <a:latin typeface="Yu Gothic"/>
              </a:rPr>
              <a:t>主任ケアマネ更新研修の戦略</a:t>
            </a:r>
          </a:p>
        </p:txBody>
      </p:sp>
      <p:sp>
        <p:nvSpPr>
          <p:cNvPr id="7" name="TextBox 6"/>
          <p:cNvSpPr txBox="1"/>
          <p:nvPr/>
        </p:nvSpPr>
        <p:spPr>
          <a:xfrm>
            <a:off x="914400" y="4206240"/>
            <a:ext cx="10332720" cy="1280160"/>
          </a:xfrm>
          <a:prstGeom prst="rect">
            <a:avLst/>
          </a:prstGeom>
          <a:noFill/>
        </p:spPr>
        <p:txBody>
          <a:bodyPr wrap="square" lIns="0" rIns="0" tIns="0" bIns="0" anchor="t">
            <a:spAutoFit/>
          </a:bodyPr>
          <a:lstStyle/>
          <a:p>
            <a:pPr algn="l">
              <a:lnSpc>
                <a:spcPct val="140000"/>
              </a:lnSpc>
            </a:pPr>
            <a:r>
              <a:rPr sz="2000" b="0">
                <a:solidFill>
                  <a:srgbClr val="FFFFFF"/>
                </a:solidFill>
                <a:latin typeface="Yu Gothic"/>
              </a:rPr>
              <a:t>研修体系の見直しを踏まえた</a:t>
            </a:r>
          </a:p>
          <a:p>
            <a:pPr algn="l">
              <a:lnSpc>
                <a:spcPct val="140000"/>
              </a:lnSpc>
            </a:pPr>
            <a:r>
              <a:rPr sz="2000" b="0">
                <a:solidFill>
                  <a:srgbClr val="FFFFFF"/>
                </a:solidFill>
                <a:latin typeface="Yu Gothic"/>
              </a:rPr>
              <a:t>事業所内での計画的な人材育成</a:t>
            </a:r>
          </a:p>
        </p:txBody>
      </p:sp>
      <p:sp>
        <p:nvSpPr>
          <p:cNvPr id="8" name="Rectangle 7"/>
          <p:cNvSpPr/>
          <p:nvPr/>
        </p:nvSpPr>
        <p:spPr>
          <a:xfrm>
            <a:off x="914400" y="5577840"/>
            <a:ext cx="1033272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15000"/>
            <a:ext cx="10332720" cy="457200"/>
          </a:xfrm>
          <a:prstGeom prst="rect">
            <a:avLst/>
          </a:prstGeom>
          <a:noFill/>
        </p:spPr>
        <p:txBody>
          <a:bodyPr wrap="square" lIns="0" rIns="0" tIns="0" bIns="0" anchor="t">
            <a:spAutoFit/>
          </a:bodyPr>
          <a:lstStyle/>
          <a:p>
            <a:pPr algn="l"/>
            <a:r>
              <a:rPr sz="1300" b="0">
                <a:solidFill>
                  <a:srgbClr val="FFFFFF"/>
                </a:solidFill>
                <a:latin typeface="Yu Gothic"/>
              </a:rPr>
              <a:t>居宅介護支援事業所／地域包括支援センター　管理者・主任介護支援専門員 向け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本日のアジェンダ</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法定研修制度改正への対応</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2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548640" cy="457200"/>
          </a:xfrm>
          <a:prstGeom prst="rect">
            <a:avLst/>
          </a:prstGeom>
          <a:noFill/>
        </p:spPr>
        <p:txBody>
          <a:bodyPr wrap="square" lIns="0" rIns="0" tIns="0" bIns="0" anchor="t">
            <a:spAutoFit/>
          </a:bodyPr>
          <a:lstStyle/>
          <a:p>
            <a:pPr algn="l"/>
            <a:r>
              <a:rPr sz="1800" b="1">
                <a:solidFill>
                  <a:srgbClr val="F5A623"/>
                </a:solidFill>
                <a:latin typeface="Yu Gothic"/>
              </a:rPr>
              <a:t>1.</a:t>
            </a:r>
          </a:p>
        </p:txBody>
      </p:sp>
      <p:sp>
        <p:nvSpPr>
          <p:cNvPr id="10" name="TextBox 9"/>
          <p:cNvSpPr txBox="1"/>
          <p:nvPr/>
        </p:nvSpPr>
        <p:spPr>
          <a:xfrm>
            <a:off x="1280160" y="1463040"/>
            <a:ext cx="10058400" cy="502920"/>
          </a:xfrm>
          <a:prstGeom prst="rect">
            <a:avLst/>
          </a:prstGeom>
          <a:noFill/>
        </p:spPr>
        <p:txBody>
          <a:bodyPr wrap="square" lIns="0" rIns="0" tIns="0" bIns="0" anchor="t">
            <a:spAutoFit/>
          </a:bodyPr>
          <a:lstStyle/>
          <a:p>
            <a:pPr algn="l"/>
            <a:r>
              <a:rPr sz="1800" b="1">
                <a:solidFill>
                  <a:srgbClr val="0F4C81"/>
                </a:solidFill>
                <a:latin typeface="Yu Gothic"/>
              </a:rPr>
              <a:t>法定研修制度改正の背景と全体像</a:t>
            </a:r>
            <a:r>
              <a:rPr sz="1400" b="0">
                <a:solidFill>
                  <a:srgbClr val="5A6B80"/>
                </a:solidFill>
                <a:latin typeface="Yu Gothic"/>
              </a:rPr>
              <a:t>　— なぜ今、見直しが必要なのか</a:t>
            </a:r>
          </a:p>
        </p:txBody>
      </p:sp>
      <p:sp>
        <p:nvSpPr>
          <p:cNvPr id="11" name="TextBox 10"/>
          <p:cNvSpPr txBox="1"/>
          <p:nvPr/>
        </p:nvSpPr>
        <p:spPr>
          <a:xfrm>
            <a:off x="731520" y="1965960"/>
            <a:ext cx="548640" cy="457200"/>
          </a:xfrm>
          <a:prstGeom prst="rect">
            <a:avLst/>
          </a:prstGeom>
          <a:noFill/>
        </p:spPr>
        <p:txBody>
          <a:bodyPr wrap="square" lIns="0" rIns="0" tIns="0" bIns="0" anchor="t">
            <a:spAutoFit/>
          </a:bodyPr>
          <a:lstStyle/>
          <a:p>
            <a:pPr algn="l"/>
            <a:r>
              <a:rPr sz="1800" b="1">
                <a:solidFill>
                  <a:srgbClr val="F5A623"/>
                </a:solidFill>
                <a:latin typeface="Yu Gothic"/>
              </a:rPr>
              <a:t>2.</a:t>
            </a:r>
          </a:p>
        </p:txBody>
      </p:sp>
      <p:sp>
        <p:nvSpPr>
          <p:cNvPr id="12" name="TextBox 11"/>
          <p:cNvSpPr txBox="1"/>
          <p:nvPr/>
        </p:nvSpPr>
        <p:spPr>
          <a:xfrm>
            <a:off x="1280160" y="1965960"/>
            <a:ext cx="10058400" cy="502920"/>
          </a:xfrm>
          <a:prstGeom prst="rect">
            <a:avLst/>
          </a:prstGeom>
          <a:noFill/>
        </p:spPr>
        <p:txBody>
          <a:bodyPr wrap="square" lIns="0" rIns="0" tIns="0" bIns="0" anchor="t">
            <a:spAutoFit/>
          </a:bodyPr>
          <a:lstStyle/>
          <a:p>
            <a:pPr algn="l"/>
            <a:r>
              <a:rPr sz="1800" b="1">
                <a:solidFill>
                  <a:srgbClr val="0F4C81"/>
                </a:solidFill>
                <a:latin typeface="Yu Gothic"/>
              </a:rPr>
              <a:t>新研修体系のポイント</a:t>
            </a:r>
            <a:r>
              <a:rPr sz="1400" b="0">
                <a:solidFill>
                  <a:srgbClr val="5A6B80"/>
                </a:solidFill>
                <a:latin typeface="Yu Gothic"/>
              </a:rPr>
              <a:t>　— カリキュラム・受講方法の変更点</a:t>
            </a:r>
          </a:p>
        </p:txBody>
      </p:sp>
      <p:sp>
        <p:nvSpPr>
          <p:cNvPr id="13" name="TextBox 12"/>
          <p:cNvSpPr txBox="1"/>
          <p:nvPr/>
        </p:nvSpPr>
        <p:spPr>
          <a:xfrm>
            <a:off x="731520" y="2468880"/>
            <a:ext cx="548640" cy="457200"/>
          </a:xfrm>
          <a:prstGeom prst="rect">
            <a:avLst/>
          </a:prstGeom>
          <a:noFill/>
        </p:spPr>
        <p:txBody>
          <a:bodyPr wrap="square" lIns="0" rIns="0" tIns="0" bIns="0" anchor="t">
            <a:spAutoFit/>
          </a:bodyPr>
          <a:lstStyle/>
          <a:p>
            <a:pPr algn="l"/>
            <a:r>
              <a:rPr sz="1800" b="1">
                <a:solidFill>
                  <a:srgbClr val="F5A623"/>
                </a:solidFill>
                <a:latin typeface="Yu Gothic"/>
              </a:rPr>
              <a:t>3.</a:t>
            </a:r>
          </a:p>
        </p:txBody>
      </p:sp>
      <p:sp>
        <p:nvSpPr>
          <p:cNvPr id="14" name="TextBox 13"/>
          <p:cNvSpPr txBox="1"/>
          <p:nvPr/>
        </p:nvSpPr>
        <p:spPr>
          <a:xfrm>
            <a:off x="1280160" y="2468880"/>
            <a:ext cx="10058400" cy="502920"/>
          </a:xfrm>
          <a:prstGeom prst="rect">
            <a:avLst/>
          </a:prstGeom>
          <a:noFill/>
        </p:spPr>
        <p:txBody>
          <a:bodyPr wrap="square" lIns="0" rIns="0" tIns="0" bIns="0" anchor="t">
            <a:spAutoFit/>
          </a:bodyPr>
          <a:lstStyle/>
          <a:p>
            <a:pPr algn="l"/>
            <a:r>
              <a:rPr sz="1800" b="1">
                <a:solidFill>
                  <a:srgbClr val="0F4C81"/>
                </a:solidFill>
                <a:latin typeface="Yu Gothic"/>
              </a:rPr>
              <a:t>主任ケアマネ更新研修の現状と課題</a:t>
            </a:r>
            <a:r>
              <a:rPr sz="1400" b="0">
                <a:solidFill>
                  <a:srgbClr val="5A6B80"/>
                </a:solidFill>
                <a:latin typeface="Yu Gothic"/>
              </a:rPr>
              <a:t>　— 5年ごとの更新をどう乗り切るか</a:t>
            </a:r>
          </a:p>
        </p:txBody>
      </p:sp>
      <p:sp>
        <p:nvSpPr>
          <p:cNvPr id="15" name="TextBox 14"/>
          <p:cNvSpPr txBox="1"/>
          <p:nvPr/>
        </p:nvSpPr>
        <p:spPr>
          <a:xfrm>
            <a:off x="731520" y="2971800"/>
            <a:ext cx="548640" cy="457200"/>
          </a:xfrm>
          <a:prstGeom prst="rect">
            <a:avLst/>
          </a:prstGeom>
          <a:noFill/>
        </p:spPr>
        <p:txBody>
          <a:bodyPr wrap="square" lIns="0" rIns="0" tIns="0" bIns="0" anchor="t">
            <a:spAutoFit/>
          </a:bodyPr>
          <a:lstStyle/>
          <a:p>
            <a:pPr algn="l"/>
            <a:r>
              <a:rPr sz="1800" b="1">
                <a:solidFill>
                  <a:srgbClr val="F5A623"/>
                </a:solidFill>
                <a:latin typeface="Yu Gothic"/>
              </a:rPr>
              <a:t>4.</a:t>
            </a:r>
          </a:p>
        </p:txBody>
      </p:sp>
      <p:sp>
        <p:nvSpPr>
          <p:cNvPr id="16" name="TextBox 15"/>
          <p:cNvSpPr txBox="1"/>
          <p:nvPr/>
        </p:nvSpPr>
        <p:spPr>
          <a:xfrm>
            <a:off x="1280160" y="2971800"/>
            <a:ext cx="10058400" cy="502920"/>
          </a:xfrm>
          <a:prstGeom prst="rect">
            <a:avLst/>
          </a:prstGeom>
          <a:noFill/>
        </p:spPr>
        <p:txBody>
          <a:bodyPr wrap="square" lIns="0" rIns="0" tIns="0" bIns="0" anchor="t">
            <a:spAutoFit/>
          </a:bodyPr>
          <a:lstStyle/>
          <a:p>
            <a:pPr algn="l"/>
            <a:r>
              <a:rPr sz="1800" b="1">
                <a:solidFill>
                  <a:srgbClr val="0F4C81"/>
                </a:solidFill>
                <a:latin typeface="Yu Gothic"/>
              </a:rPr>
              <a:t>事業所内での計画的人材育成戦略</a:t>
            </a:r>
            <a:r>
              <a:rPr sz="1400" b="0">
                <a:solidFill>
                  <a:srgbClr val="5A6B80"/>
                </a:solidFill>
                <a:latin typeface="Yu Gothic"/>
              </a:rPr>
              <a:t>　— キャリアパス・OJT・受講体制</a:t>
            </a:r>
          </a:p>
        </p:txBody>
      </p:sp>
      <p:sp>
        <p:nvSpPr>
          <p:cNvPr id="17" name="TextBox 16"/>
          <p:cNvSpPr txBox="1"/>
          <p:nvPr/>
        </p:nvSpPr>
        <p:spPr>
          <a:xfrm>
            <a:off x="731520" y="3474720"/>
            <a:ext cx="548640" cy="457200"/>
          </a:xfrm>
          <a:prstGeom prst="rect">
            <a:avLst/>
          </a:prstGeom>
          <a:noFill/>
        </p:spPr>
        <p:txBody>
          <a:bodyPr wrap="square" lIns="0" rIns="0" tIns="0" bIns="0" anchor="t">
            <a:spAutoFit/>
          </a:bodyPr>
          <a:lstStyle/>
          <a:p>
            <a:pPr algn="l"/>
            <a:r>
              <a:rPr sz="1800" b="1">
                <a:solidFill>
                  <a:srgbClr val="F5A623"/>
                </a:solidFill>
                <a:latin typeface="Yu Gothic"/>
              </a:rPr>
              <a:t>5.</a:t>
            </a:r>
          </a:p>
        </p:txBody>
      </p:sp>
      <p:sp>
        <p:nvSpPr>
          <p:cNvPr id="18" name="TextBox 17"/>
          <p:cNvSpPr txBox="1"/>
          <p:nvPr/>
        </p:nvSpPr>
        <p:spPr>
          <a:xfrm>
            <a:off x="1280160" y="3474720"/>
            <a:ext cx="10058400" cy="502920"/>
          </a:xfrm>
          <a:prstGeom prst="rect">
            <a:avLst/>
          </a:prstGeom>
          <a:noFill/>
        </p:spPr>
        <p:txBody>
          <a:bodyPr wrap="square" lIns="0" rIns="0" tIns="0" bIns="0" anchor="t">
            <a:spAutoFit/>
          </a:bodyPr>
          <a:lstStyle/>
          <a:p>
            <a:pPr algn="l"/>
            <a:r>
              <a:rPr sz="1800" b="1">
                <a:solidFill>
                  <a:srgbClr val="0F4C81"/>
                </a:solidFill>
                <a:latin typeface="Yu Gothic"/>
              </a:rPr>
              <a:t>実践事例とチェックリスト</a:t>
            </a:r>
            <a:r>
              <a:rPr sz="1400" b="0">
                <a:solidFill>
                  <a:srgbClr val="5A6B80"/>
                </a:solidFill>
                <a:latin typeface="Yu Gothic"/>
              </a:rPr>
              <a:t>　— 明日から取り組めるアクション</a:t>
            </a:r>
          </a:p>
        </p:txBody>
      </p:sp>
      <p:sp>
        <p:nvSpPr>
          <p:cNvPr id="19" name="Rectangle 18"/>
          <p:cNvSpPr/>
          <p:nvPr/>
        </p:nvSpPr>
        <p:spPr>
          <a:xfrm>
            <a:off x="731520" y="5303520"/>
            <a:ext cx="10698480" cy="77724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303520"/>
            <a:ext cx="45720" cy="7772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440680"/>
            <a:ext cx="10332720" cy="59436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本日のゴール：</a:t>
            </a:r>
            <a:r>
              <a:rPr sz="1400" b="0">
                <a:solidFill>
                  <a:srgbClr val="6B4E00"/>
                </a:solidFill>
                <a:latin typeface="Yu Gothic"/>
              </a:rPr>
              <a:t>研修制度改正の要点を理解し、自事業所における 3〜5年スパン の人材育成計画を描けるようになる。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第1章　法定研修制度改正の背景</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第1章　改正の背景</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3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17320"/>
            <a:ext cx="521208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17320"/>
            <a:ext cx="45720" cy="22860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27048"/>
            <a:ext cx="4846320" cy="365760"/>
          </a:xfrm>
          <a:prstGeom prst="rect">
            <a:avLst/>
          </a:prstGeom>
          <a:noFill/>
        </p:spPr>
        <p:txBody>
          <a:bodyPr wrap="square" lIns="0" rIns="0" tIns="0" bIns="0" anchor="t">
            <a:spAutoFit/>
          </a:bodyPr>
          <a:lstStyle/>
          <a:p>
            <a:pPr algn="l"/>
            <a:r>
              <a:rPr sz="1500" b="1">
                <a:solidFill>
                  <a:srgbClr val="0F4C81"/>
                </a:solidFill>
                <a:latin typeface="Yu Gothic"/>
              </a:rPr>
              <a:t>環境変化①　利用者ニーズの多様化</a:t>
            </a:r>
          </a:p>
        </p:txBody>
      </p:sp>
      <p:sp>
        <p:nvSpPr>
          <p:cNvPr id="12" name="TextBox 11"/>
          <p:cNvSpPr txBox="1"/>
          <p:nvPr/>
        </p:nvSpPr>
        <p:spPr>
          <a:xfrm>
            <a:off x="960120" y="1920240"/>
            <a:ext cx="4846320" cy="16916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独居高齢者・認認介護世帯の増加</a:t>
            </a:r>
          </a:p>
          <a:p>
            <a:pPr algn="l">
              <a:lnSpc>
                <a:spcPct val="130000"/>
              </a:lnSpc>
            </a:pPr>
            <a:r>
              <a:rPr sz="1100" b="1">
                <a:solidFill>
                  <a:srgbClr val="F5A623"/>
                </a:solidFill>
                <a:latin typeface="Yu Gothic"/>
              </a:rPr>
              <a:t>■  </a:t>
            </a:r>
            <a:r>
              <a:rPr sz="1300" b="0">
                <a:solidFill>
                  <a:srgbClr val="1F2D3D"/>
                </a:solidFill>
                <a:latin typeface="Yu Gothic"/>
              </a:rPr>
              <a:t>医療ニーズの高い在宅利用者の増加</a:t>
            </a:r>
          </a:p>
          <a:p>
            <a:pPr algn="l">
              <a:lnSpc>
                <a:spcPct val="130000"/>
              </a:lnSpc>
            </a:pPr>
            <a:r>
              <a:rPr sz="1100" b="1">
                <a:solidFill>
                  <a:srgbClr val="F5A623"/>
                </a:solidFill>
                <a:latin typeface="Yu Gothic"/>
              </a:rPr>
              <a:t>■  </a:t>
            </a:r>
            <a:r>
              <a:rPr sz="1300" b="0">
                <a:solidFill>
                  <a:srgbClr val="1F2D3D"/>
                </a:solidFill>
                <a:latin typeface="Yu Gothic"/>
              </a:rPr>
              <a:t>ヤングケアラー・8050問題など複合課題</a:t>
            </a:r>
          </a:p>
        </p:txBody>
      </p:sp>
      <p:sp>
        <p:nvSpPr>
          <p:cNvPr id="13" name="Rectangle 12"/>
          <p:cNvSpPr/>
          <p:nvPr/>
        </p:nvSpPr>
        <p:spPr>
          <a:xfrm>
            <a:off x="6263640" y="1417320"/>
            <a:ext cx="521208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45720" cy="2286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527048"/>
            <a:ext cx="4846320" cy="365760"/>
          </a:xfrm>
          <a:prstGeom prst="rect">
            <a:avLst/>
          </a:prstGeom>
          <a:noFill/>
        </p:spPr>
        <p:txBody>
          <a:bodyPr wrap="square" lIns="0" rIns="0" tIns="0" bIns="0" anchor="t">
            <a:spAutoFit/>
          </a:bodyPr>
          <a:lstStyle/>
          <a:p>
            <a:pPr algn="l"/>
            <a:r>
              <a:rPr sz="1500" b="1">
                <a:solidFill>
                  <a:srgbClr val="0F4C81"/>
                </a:solidFill>
                <a:latin typeface="Yu Gothic"/>
              </a:rPr>
              <a:t>環境変化②　制度の深化</a:t>
            </a:r>
          </a:p>
        </p:txBody>
      </p:sp>
      <p:sp>
        <p:nvSpPr>
          <p:cNvPr id="16" name="TextBox 15"/>
          <p:cNvSpPr txBox="1"/>
          <p:nvPr/>
        </p:nvSpPr>
        <p:spPr>
          <a:xfrm>
            <a:off x="6492240" y="1920240"/>
            <a:ext cx="4846320" cy="16916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地域包括ケアシステムの深化・推進</a:t>
            </a:r>
          </a:p>
          <a:p>
            <a:pPr algn="l">
              <a:lnSpc>
                <a:spcPct val="130000"/>
              </a:lnSpc>
            </a:pPr>
            <a:r>
              <a:rPr sz="1100" b="1">
                <a:solidFill>
                  <a:srgbClr val="F5A623"/>
                </a:solidFill>
                <a:latin typeface="Yu Gothic"/>
              </a:rPr>
              <a:t>■  </a:t>
            </a:r>
            <a:r>
              <a:rPr sz="1300" b="0">
                <a:solidFill>
                  <a:srgbClr val="1F2D3D"/>
                </a:solidFill>
                <a:latin typeface="Yu Gothic"/>
              </a:rPr>
              <a:t>「適切なケアマネジメント手法」の普及</a:t>
            </a:r>
          </a:p>
          <a:p>
            <a:pPr algn="l">
              <a:lnSpc>
                <a:spcPct val="130000"/>
              </a:lnSpc>
            </a:pPr>
            <a:r>
              <a:rPr sz="1100" b="1">
                <a:solidFill>
                  <a:srgbClr val="F5A623"/>
                </a:solidFill>
                <a:latin typeface="Yu Gothic"/>
              </a:rPr>
              <a:t>■  </a:t>
            </a:r>
            <a:r>
              <a:rPr sz="1300" b="0">
                <a:solidFill>
                  <a:srgbClr val="1F2D3D"/>
                </a:solidFill>
                <a:latin typeface="Yu Gothic"/>
              </a:rPr>
              <a:t>科学的介護（LIFE）情報の活用</a:t>
            </a:r>
          </a:p>
        </p:txBody>
      </p:sp>
      <p:sp>
        <p:nvSpPr>
          <p:cNvPr id="17" name="Rectangle 16"/>
          <p:cNvSpPr/>
          <p:nvPr/>
        </p:nvSpPr>
        <p:spPr>
          <a:xfrm>
            <a:off x="731520" y="3840480"/>
            <a:ext cx="521208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40480"/>
            <a:ext cx="45720" cy="22860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50208"/>
            <a:ext cx="4846320" cy="365760"/>
          </a:xfrm>
          <a:prstGeom prst="rect">
            <a:avLst/>
          </a:prstGeom>
          <a:noFill/>
        </p:spPr>
        <p:txBody>
          <a:bodyPr wrap="square" lIns="0" rIns="0" tIns="0" bIns="0" anchor="t">
            <a:spAutoFit/>
          </a:bodyPr>
          <a:lstStyle/>
          <a:p>
            <a:pPr algn="l"/>
            <a:r>
              <a:rPr sz="1500" b="1">
                <a:solidFill>
                  <a:srgbClr val="0F4C81"/>
                </a:solidFill>
                <a:latin typeface="Yu Gothic"/>
              </a:rPr>
              <a:t>現場の課題</a:t>
            </a:r>
          </a:p>
        </p:txBody>
      </p:sp>
      <p:sp>
        <p:nvSpPr>
          <p:cNvPr id="20" name="TextBox 19"/>
          <p:cNvSpPr txBox="1"/>
          <p:nvPr/>
        </p:nvSpPr>
        <p:spPr>
          <a:xfrm>
            <a:off x="960120" y="4343400"/>
            <a:ext cx="4846320" cy="16916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研修時間が長く業務との両立が困難</a:t>
            </a:r>
          </a:p>
          <a:p>
            <a:pPr algn="l">
              <a:lnSpc>
                <a:spcPct val="130000"/>
              </a:lnSpc>
            </a:pPr>
            <a:r>
              <a:rPr sz="1100" b="1">
                <a:solidFill>
                  <a:srgbClr val="F5A623"/>
                </a:solidFill>
                <a:latin typeface="Yu Gothic"/>
              </a:rPr>
              <a:t>■  </a:t>
            </a:r>
            <a:r>
              <a:rPr sz="1300" b="0">
                <a:solidFill>
                  <a:srgbClr val="1F2D3D"/>
                </a:solidFill>
                <a:latin typeface="Yu Gothic"/>
              </a:rPr>
              <a:t>研修内容の重複・体系の分かりにくさ</a:t>
            </a:r>
          </a:p>
          <a:p>
            <a:pPr algn="l">
              <a:lnSpc>
                <a:spcPct val="130000"/>
              </a:lnSpc>
            </a:pPr>
            <a:r>
              <a:rPr sz="1100" b="1">
                <a:solidFill>
                  <a:srgbClr val="F5A623"/>
                </a:solidFill>
                <a:latin typeface="Yu Gothic"/>
              </a:rPr>
              <a:t>■  </a:t>
            </a:r>
            <a:r>
              <a:rPr sz="1300" b="0">
                <a:solidFill>
                  <a:srgbClr val="1F2D3D"/>
                </a:solidFill>
                <a:latin typeface="Yu Gothic"/>
              </a:rPr>
              <a:t>主任ケアマネ不足と更新の負担</a:t>
            </a:r>
          </a:p>
        </p:txBody>
      </p:sp>
      <p:sp>
        <p:nvSpPr>
          <p:cNvPr id="21" name="Rectangle 20"/>
          <p:cNvSpPr/>
          <p:nvPr/>
        </p:nvSpPr>
        <p:spPr>
          <a:xfrm>
            <a:off x="6263640" y="3840480"/>
            <a:ext cx="521208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840480"/>
            <a:ext cx="45720" cy="2286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950208"/>
            <a:ext cx="4846320" cy="365760"/>
          </a:xfrm>
          <a:prstGeom prst="rect">
            <a:avLst/>
          </a:prstGeom>
          <a:noFill/>
        </p:spPr>
        <p:txBody>
          <a:bodyPr wrap="square" lIns="0" rIns="0" tIns="0" bIns="0" anchor="t">
            <a:spAutoFit/>
          </a:bodyPr>
          <a:lstStyle/>
          <a:p>
            <a:pPr algn="l"/>
            <a:r>
              <a:rPr sz="1500" b="1">
                <a:solidFill>
                  <a:srgbClr val="0F4C81"/>
                </a:solidFill>
                <a:latin typeface="Yu Gothic"/>
              </a:rPr>
              <a:t>制度的要請</a:t>
            </a:r>
          </a:p>
        </p:txBody>
      </p:sp>
      <p:sp>
        <p:nvSpPr>
          <p:cNvPr id="24" name="TextBox 23"/>
          <p:cNvSpPr txBox="1"/>
          <p:nvPr/>
        </p:nvSpPr>
        <p:spPr>
          <a:xfrm>
            <a:off x="6492240" y="4343400"/>
            <a:ext cx="4846320" cy="16916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厚労省「介護支援専門員資質向上方策」</a:t>
            </a:r>
          </a:p>
          <a:p>
            <a:pPr algn="l">
              <a:lnSpc>
                <a:spcPct val="130000"/>
              </a:lnSpc>
            </a:pPr>
            <a:r>
              <a:rPr sz="1100" b="1">
                <a:solidFill>
                  <a:srgbClr val="F5A623"/>
                </a:solidFill>
                <a:latin typeface="Yu Gothic"/>
              </a:rPr>
              <a:t>■  </a:t>
            </a:r>
            <a:r>
              <a:rPr sz="1300" b="0">
                <a:solidFill>
                  <a:srgbClr val="1F2D3D"/>
                </a:solidFill>
                <a:latin typeface="Yu Gothic"/>
              </a:rPr>
              <a:t>法定研修ガイドラインの改訂</a:t>
            </a:r>
          </a:p>
          <a:p>
            <a:pPr algn="l">
              <a:lnSpc>
                <a:spcPct val="130000"/>
              </a:lnSpc>
            </a:pPr>
            <a:r>
              <a:rPr sz="1100" b="1">
                <a:solidFill>
                  <a:srgbClr val="F5A623"/>
                </a:solidFill>
                <a:latin typeface="Yu Gothic"/>
              </a:rPr>
              <a:t>■  </a:t>
            </a:r>
            <a:r>
              <a:rPr sz="1300" b="0">
                <a:solidFill>
                  <a:srgbClr val="1F2D3D"/>
                </a:solidFill>
                <a:latin typeface="Yu Gothic"/>
              </a:rPr>
              <a:t>ICT活用（eラーニング）の推進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改正スケジュールと法定研修体系</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第1章　改正の背景</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4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5029200" cy="365760"/>
          </a:xfrm>
          <a:prstGeom prst="rect">
            <a:avLst/>
          </a:prstGeom>
          <a:noFill/>
        </p:spPr>
        <p:txBody>
          <a:bodyPr wrap="square" lIns="0" rIns="0" tIns="0" bIns="0" anchor="t">
            <a:spAutoFit/>
          </a:bodyPr>
          <a:lstStyle/>
          <a:p>
            <a:pPr algn="l"/>
            <a:r>
              <a:rPr sz="1600" b="1">
                <a:solidFill>
                  <a:srgbClr val="2D6FB3"/>
                </a:solidFill>
                <a:latin typeface="Yu Gothic"/>
              </a:rPr>
              <a:t>施行と運用</a:t>
            </a:r>
          </a:p>
        </p:txBody>
      </p:sp>
      <p:sp>
        <p:nvSpPr>
          <p:cNvPr id="10" name="Rectangle 9"/>
          <p:cNvSpPr/>
          <p:nvPr/>
        </p:nvSpPr>
        <p:spPr>
          <a:xfrm>
            <a:off x="1097280" y="2057399"/>
            <a:ext cx="38100" cy="292608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8408" y="2011679"/>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1993391"/>
            <a:ext cx="1463040" cy="365760"/>
          </a:xfrm>
          <a:prstGeom prst="rect">
            <a:avLst/>
          </a:prstGeom>
          <a:noFill/>
        </p:spPr>
        <p:txBody>
          <a:bodyPr wrap="square" lIns="0" rIns="0" tIns="0" bIns="0" anchor="t">
            <a:spAutoFit/>
          </a:bodyPr>
          <a:lstStyle/>
          <a:p>
            <a:pPr algn="l"/>
            <a:r>
              <a:rPr sz="1300" b="1">
                <a:solidFill>
                  <a:srgbClr val="0F4C81"/>
                </a:solidFill>
                <a:latin typeface="Yu Gothic"/>
              </a:rPr>
              <a:t>令和5年4月</a:t>
            </a:r>
          </a:p>
        </p:txBody>
      </p:sp>
      <p:sp>
        <p:nvSpPr>
          <p:cNvPr id="13" name="TextBox 12"/>
          <p:cNvSpPr txBox="1"/>
          <p:nvPr/>
        </p:nvSpPr>
        <p:spPr>
          <a:xfrm>
            <a:off x="2926080" y="1993391"/>
            <a:ext cx="2834640" cy="1036320"/>
          </a:xfrm>
          <a:prstGeom prst="rect">
            <a:avLst/>
          </a:prstGeom>
          <a:noFill/>
        </p:spPr>
        <p:txBody>
          <a:bodyPr wrap="square" lIns="0" rIns="0" tIns="0" bIns="0" anchor="t">
            <a:spAutoFit/>
          </a:bodyPr>
          <a:lstStyle/>
          <a:p>
            <a:pPr algn="l"/>
            <a:r>
              <a:rPr sz="1200" b="0">
                <a:solidFill>
                  <a:srgbClr val="1F2D3D"/>
                </a:solidFill>
                <a:latin typeface="Yu Gothic"/>
              </a:rPr>
              <a:t>厚労省「介護支援専門員資質向上事業ガイドライン」公表</a:t>
            </a:r>
          </a:p>
        </p:txBody>
      </p:sp>
      <p:sp>
        <p:nvSpPr>
          <p:cNvPr id="14" name="Oval 13"/>
          <p:cNvSpPr/>
          <p:nvPr/>
        </p:nvSpPr>
        <p:spPr>
          <a:xfrm>
            <a:off x="978408" y="3047999"/>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17320" y="3029711"/>
            <a:ext cx="1463040" cy="365760"/>
          </a:xfrm>
          <a:prstGeom prst="rect">
            <a:avLst/>
          </a:prstGeom>
          <a:noFill/>
        </p:spPr>
        <p:txBody>
          <a:bodyPr wrap="square" lIns="0" rIns="0" tIns="0" bIns="0" anchor="t">
            <a:spAutoFit/>
          </a:bodyPr>
          <a:lstStyle/>
          <a:p>
            <a:pPr algn="l"/>
            <a:r>
              <a:rPr sz="1300" b="1">
                <a:solidFill>
                  <a:srgbClr val="0F4C81"/>
                </a:solidFill>
                <a:latin typeface="Yu Gothic"/>
              </a:rPr>
              <a:t>令和6年4月</a:t>
            </a:r>
          </a:p>
        </p:txBody>
      </p:sp>
      <p:sp>
        <p:nvSpPr>
          <p:cNvPr id="16" name="TextBox 15"/>
          <p:cNvSpPr txBox="1"/>
          <p:nvPr/>
        </p:nvSpPr>
        <p:spPr>
          <a:xfrm>
            <a:off x="2926080" y="3029711"/>
            <a:ext cx="2834640" cy="1036320"/>
          </a:xfrm>
          <a:prstGeom prst="rect">
            <a:avLst/>
          </a:prstGeom>
          <a:noFill/>
        </p:spPr>
        <p:txBody>
          <a:bodyPr wrap="square" lIns="0" rIns="0" tIns="0" bIns="0" anchor="t">
            <a:spAutoFit/>
          </a:bodyPr>
          <a:lstStyle/>
          <a:p>
            <a:pPr algn="l"/>
            <a:r>
              <a:rPr sz="1200" b="0">
                <a:solidFill>
                  <a:srgbClr val="1F2D3D"/>
                </a:solidFill>
                <a:latin typeface="Yu Gothic"/>
              </a:rPr>
              <a:t>新ガイドライン施行。オンライン研修は手引き等を踏まえ各実施機関が活用</a:t>
            </a:r>
          </a:p>
        </p:txBody>
      </p:sp>
      <p:sp>
        <p:nvSpPr>
          <p:cNvPr id="17" name="Oval 16"/>
          <p:cNvSpPr/>
          <p:nvPr/>
        </p:nvSpPr>
        <p:spPr>
          <a:xfrm>
            <a:off x="978408" y="4084319"/>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066031"/>
            <a:ext cx="1463040" cy="365760"/>
          </a:xfrm>
          <a:prstGeom prst="rect">
            <a:avLst/>
          </a:prstGeom>
          <a:noFill/>
        </p:spPr>
        <p:txBody>
          <a:bodyPr wrap="square" lIns="0" rIns="0" tIns="0" bIns="0" anchor="t">
            <a:spAutoFit/>
          </a:bodyPr>
          <a:lstStyle/>
          <a:p>
            <a:pPr algn="l"/>
            <a:r>
              <a:rPr sz="1300" b="1">
                <a:solidFill>
                  <a:srgbClr val="0F4C81"/>
                </a:solidFill>
                <a:latin typeface="Yu Gothic"/>
              </a:rPr>
              <a:t>運用</a:t>
            </a:r>
          </a:p>
        </p:txBody>
      </p:sp>
      <p:sp>
        <p:nvSpPr>
          <p:cNvPr id="19" name="TextBox 18"/>
          <p:cNvSpPr txBox="1"/>
          <p:nvPr/>
        </p:nvSpPr>
        <p:spPr>
          <a:xfrm>
            <a:off x="2926080" y="4066031"/>
            <a:ext cx="2834640" cy="1036320"/>
          </a:xfrm>
          <a:prstGeom prst="rect">
            <a:avLst/>
          </a:prstGeom>
          <a:noFill/>
        </p:spPr>
        <p:txBody>
          <a:bodyPr wrap="square" lIns="0" rIns="0" tIns="0" bIns="0" anchor="t">
            <a:spAutoFit/>
          </a:bodyPr>
          <a:lstStyle/>
          <a:p>
            <a:pPr algn="l"/>
            <a:r>
              <a:rPr sz="1200" b="0">
                <a:solidFill>
                  <a:srgbClr val="1F2D3D"/>
                </a:solidFill>
                <a:latin typeface="Yu Gothic"/>
              </a:rPr>
              <a:t>実際の研修実施時期・運用は都道府県ごとの募集要項を確認</a:t>
            </a:r>
          </a:p>
        </p:txBody>
      </p:sp>
      <p:sp>
        <p:nvSpPr>
          <p:cNvPr id="20" name="TextBox 19"/>
          <p:cNvSpPr txBox="1"/>
          <p:nvPr/>
        </p:nvSpPr>
        <p:spPr>
          <a:xfrm>
            <a:off x="731520" y="5212080"/>
            <a:ext cx="5212080" cy="731520"/>
          </a:xfrm>
          <a:prstGeom prst="rect">
            <a:avLst/>
          </a:prstGeom>
          <a:noFill/>
        </p:spPr>
        <p:txBody>
          <a:bodyPr wrap="square" lIns="0" rIns="0" tIns="0" bIns="0" anchor="t">
            <a:spAutoFit/>
          </a:bodyPr>
          <a:lstStyle/>
          <a:p>
            <a:pPr algn="l"/>
            <a:r>
              <a:rPr sz="1100" b="0">
                <a:solidFill>
                  <a:srgbClr val="5A6B80"/>
                </a:solidFill>
                <a:latin typeface="Yu Gothic"/>
              </a:rPr>
              <a:t>※施行時期・募集回数・運用方法は都道府県・実施機関により異なるため、所管自治体の最新通知を必ず確認のこと。</a:t>
            </a:r>
          </a:p>
        </p:txBody>
      </p:sp>
      <p:sp>
        <p:nvSpPr>
          <p:cNvPr id="21" name="TextBox 20"/>
          <p:cNvSpPr txBox="1"/>
          <p:nvPr/>
        </p:nvSpPr>
        <p:spPr>
          <a:xfrm>
            <a:off x="6263640" y="1417320"/>
            <a:ext cx="5212080" cy="365760"/>
          </a:xfrm>
          <a:prstGeom prst="rect">
            <a:avLst/>
          </a:prstGeom>
          <a:noFill/>
        </p:spPr>
        <p:txBody>
          <a:bodyPr wrap="square" lIns="0" rIns="0" tIns="0" bIns="0" anchor="t">
            <a:spAutoFit/>
          </a:bodyPr>
          <a:lstStyle/>
          <a:p>
            <a:pPr algn="l"/>
            <a:r>
              <a:rPr sz="1600" b="1">
                <a:solidFill>
                  <a:srgbClr val="2D6FB3"/>
                </a:solidFill>
                <a:latin typeface="Yu Gothic"/>
              </a:rPr>
              <a:t>法定研修の全体像</a:t>
            </a:r>
          </a:p>
        </p:txBody>
      </p:sp>
      <p:graphicFrame>
        <p:nvGraphicFramePr>
          <p:cNvPr id="22" name="Table 21"/>
          <p:cNvGraphicFramePr>
            <a:graphicFrameLocks noGrp="1"/>
          </p:cNvGraphicFramePr>
          <p:nvPr/>
        </p:nvGraphicFramePr>
        <p:xfrm>
          <a:off x="6263640" y="1874519"/>
          <a:ext cx="5212079" cy="3840480"/>
        </p:xfrm>
        <a:graphic>
          <a:graphicData uri="http://schemas.openxmlformats.org/drawingml/2006/table">
            <a:tbl>
              <a:tblPr firstRow="1" bandRow="1">
                <a:tableStyleId>{5C22544A-7EE6-4342-B048-85BDC9FD1C3A}</a:tableStyleId>
              </a:tblPr>
              <a:tblGrid>
                <a:gridCol w="2233748"/>
                <a:gridCol w="2978331"/>
              </a:tblGrid>
              <a:tr h="548640">
                <a:tc>
                  <a:txBody>
                    <a:bodyPr wrap="square"/>
                    <a:lstStyle/>
                    <a:p>
                      <a:r>
                        <a:rPr sz="1200" b="1">
                          <a:solidFill>
                            <a:srgbClr val="FFFFFF"/>
                          </a:solidFill>
                          <a:latin typeface="Yu Gothic"/>
                        </a:rPr>
                        <a:t>研修名</a:t>
                      </a:r>
                    </a:p>
                  </a:txBody>
                  <a:tcPr>
                    <a:solidFill>
                      <a:srgbClr val="0F4C81"/>
                    </a:solidFill>
                  </a:tcPr>
                </a:tc>
                <a:tc>
                  <a:txBody>
                    <a:bodyPr wrap="square"/>
                    <a:lstStyle/>
                    <a:p>
                      <a:r>
                        <a:rPr sz="1200" b="1">
                          <a:solidFill>
                            <a:srgbClr val="FFFFFF"/>
                          </a:solidFill>
                          <a:latin typeface="Yu Gothic"/>
                        </a:rPr>
                        <a:t>対象</a:t>
                      </a:r>
                    </a:p>
                  </a:txBody>
                  <a:tcPr>
                    <a:solidFill>
                      <a:srgbClr val="0F4C81"/>
                    </a:solidFill>
                  </a:tcPr>
                </a:tc>
              </a:tr>
              <a:tr h="548640">
                <a:tc>
                  <a:txBody>
                    <a:bodyPr wrap="square"/>
                    <a:lstStyle/>
                    <a:p>
                      <a:r>
                        <a:rPr sz="1100" b="0">
                          <a:solidFill>
                            <a:srgbClr val="1F2D3D"/>
                          </a:solidFill>
                          <a:latin typeface="Yu Gothic"/>
                        </a:rPr>
                        <a:t>実務研修</a:t>
                      </a:r>
                    </a:p>
                  </a:txBody>
                  <a:tcPr>
                    <a:solidFill>
                      <a:srgbClr val="FFFFFF"/>
                    </a:solidFill>
                  </a:tcPr>
                </a:tc>
                <a:tc>
                  <a:txBody>
                    <a:bodyPr wrap="square"/>
                    <a:lstStyle/>
                    <a:p>
                      <a:r>
                        <a:rPr sz="1100" b="0">
                          <a:solidFill>
                            <a:srgbClr val="1F2D3D"/>
                          </a:solidFill>
                          <a:latin typeface="Yu Gothic"/>
                        </a:rPr>
                        <a:t>新規登録予定者</a:t>
                      </a:r>
                    </a:p>
                  </a:txBody>
                  <a:tcPr>
                    <a:solidFill>
                      <a:srgbClr val="FFFFFF"/>
                    </a:solidFill>
                  </a:tcPr>
                </a:tc>
              </a:tr>
              <a:tr h="548640">
                <a:tc>
                  <a:txBody>
                    <a:bodyPr wrap="square"/>
                    <a:lstStyle/>
                    <a:p>
                      <a:r>
                        <a:rPr sz="1100" b="0">
                          <a:solidFill>
                            <a:srgbClr val="1F2D3D"/>
                          </a:solidFill>
                          <a:latin typeface="Yu Gothic"/>
                        </a:rPr>
                        <a:t>専門研修課程I</a:t>
                      </a:r>
                    </a:p>
                  </a:txBody>
                  <a:tcPr>
                    <a:solidFill>
                      <a:srgbClr val="F9FBFD"/>
                    </a:solidFill>
                  </a:tcPr>
                </a:tc>
                <a:tc>
                  <a:txBody>
                    <a:bodyPr wrap="square"/>
                    <a:lstStyle/>
                    <a:p>
                      <a:r>
                        <a:rPr sz="1100" b="0">
                          <a:solidFill>
                            <a:srgbClr val="1F2D3D"/>
                          </a:solidFill>
                          <a:latin typeface="Yu Gothic"/>
                        </a:rPr>
                        <a:t>実務経験概ね2年〜</a:t>
                      </a:r>
                    </a:p>
                  </a:txBody>
                  <a:tcPr>
                    <a:solidFill>
                      <a:srgbClr val="F9FBFD"/>
                    </a:solidFill>
                  </a:tcPr>
                </a:tc>
              </a:tr>
              <a:tr h="548640">
                <a:tc>
                  <a:txBody>
                    <a:bodyPr wrap="square"/>
                    <a:lstStyle/>
                    <a:p>
                      <a:r>
                        <a:rPr sz="1100" b="0">
                          <a:solidFill>
                            <a:srgbClr val="1F2D3D"/>
                          </a:solidFill>
                          <a:latin typeface="Yu Gothic"/>
                        </a:rPr>
                        <a:t>専門研修課程II</a:t>
                      </a:r>
                    </a:p>
                  </a:txBody>
                  <a:tcPr>
                    <a:solidFill>
                      <a:srgbClr val="FFFFFF"/>
                    </a:solidFill>
                  </a:tcPr>
                </a:tc>
                <a:tc>
                  <a:txBody>
                    <a:bodyPr wrap="square"/>
                    <a:lstStyle/>
                    <a:p>
                      <a:r>
                        <a:rPr sz="1100" b="0">
                          <a:solidFill>
                            <a:srgbClr val="1F2D3D"/>
                          </a:solidFill>
                          <a:latin typeface="Yu Gothic"/>
                        </a:rPr>
                        <a:t>更新時（概ね5年）</a:t>
                      </a:r>
                    </a:p>
                  </a:txBody>
                  <a:tcPr>
                    <a:solidFill>
                      <a:srgbClr val="FFFFFF"/>
                    </a:solidFill>
                  </a:tcPr>
                </a:tc>
              </a:tr>
              <a:tr h="548640">
                <a:tc>
                  <a:txBody>
                    <a:bodyPr wrap="square"/>
                    <a:lstStyle/>
                    <a:p>
                      <a:r>
                        <a:rPr sz="1100" b="0">
                          <a:solidFill>
                            <a:srgbClr val="1F2D3D"/>
                          </a:solidFill>
                          <a:latin typeface="Yu Gothic"/>
                        </a:rPr>
                        <a:t>主任介護支援専門員研修</a:t>
                      </a:r>
                    </a:p>
                  </a:txBody>
                  <a:tcPr>
                    <a:solidFill>
                      <a:srgbClr val="F9FBFD"/>
                    </a:solidFill>
                  </a:tcPr>
                </a:tc>
                <a:tc>
                  <a:txBody>
                    <a:bodyPr wrap="square"/>
                    <a:lstStyle/>
                    <a:p>
                      <a:r>
                        <a:rPr sz="1100" b="0">
                          <a:solidFill>
                            <a:srgbClr val="1F2D3D"/>
                          </a:solidFill>
                          <a:latin typeface="Yu Gothic"/>
                        </a:rPr>
                        <a:t>主任ケアマネ希望者</a:t>
                      </a:r>
                    </a:p>
                  </a:txBody>
                  <a:tcPr>
                    <a:solidFill>
                      <a:srgbClr val="F9FBFD"/>
                    </a:solidFill>
                  </a:tcPr>
                </a:tc>
              </a:tr>
              <a:tr h="548640">
                <a:tc>
                  <a:txBody>
                    <a:bodyPr wrap="square"/>
                    <a:lstStyle/>
                    <a:p>
                      <a:r>
                        <a:rPr sz="1100" b="0">
                          <a:solidFill>
                            <a:srgbClr val="1F2D3D"/>
                          </a:solidFill>
                          <a:latin typeface="Yu Gothic"/>
                        </a:rPr>
                        <a:t>主任介護支援専門員更新研修</a:t>
                      </a:r>
                    </a:p>
                  </a:txBody>
                  <a:tcPr>
                    <a:solidFill>
                      <a:srgbClr val="FFFFFF"/>
                    </a:solidFill>
                  </a:tcPr>
                </a:tc>
                <a:tc>
                  <a:txBody>
                    <a:bodyPr wrap="square"/>
                    <a:lstStyle/>
                    <a:p>
                      <a:r>
                        <a:rPr sz="1100" b="0">
                          <a:solidFill>
                            <a:srgbClr val="1F2D3D"/>
                          </a:solidFill>
                          <a:latin typeface="Yu Gothic"/>
                        </a:rPr>
                        <a:t>主任ケアマネ5年ごと</a:t>
                      </a:r>
                    </a:p>
                  </a:txBody>
                  <a:tcPr>
                    <a:solidFill>
                      <a:srgbClr val="FFFFFF"/>
                    </a:solidFill>
                  </a:tcPr>
                </a:tc>
              </a:tr>
              <a:tr h="548640">
                <a:tc>
                  <a:txBody>
                    <a:bodyPr wrap="square"/>
                    <a:lstStyle/>
                    <a:p>
                      <a:r>
                        <a:rPr sz="1100" b="0">
                          <a:solidFill>
                            <a:srgbClr val="1F2D3D"/>
                          </a:solidFill>
                          <a:latin typeface="Yu Gothic"/>
                        </a:rPr>
                        <a:t>再研修</a:t>
                      </a:r>
                    </a:p>
                  </a:txBody>
                  <a:tcPr>
                    <a:solidFill>
                      <a:srgbClr val="F9FBFD"/>
                    </a:solidFill>
                  </a:tcPr>
                </a:tc>
                <a:tc>
                  <a:txBody>
                    <a:bodyPr wrap="square"/>
                    <a:lstStyle/>
                    <a:p>
                      <a:r>
                        <a:rPr sz="1100" b="0">
                          <a:solidFill>
                            <a:srgbClr val="1F2D3D"/>
                          </a:solidFill>
                          <a:latin typeface="Yu Gothic"/>
                        </a:rPr>
                        <a:t>登録失効者の再登録時</a:t>
                      </a:r>
                    </a:p>
                  </a:txBody>
                  <a:tcPr>
                    <a:solidFill>
                      <a:srgbClr val="F9FBFD"/>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新研修体系の主要な改正ポイント</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第2章　新研修体系のポイント</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5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54480"/>
            <a:ext cx="2121408" cy="237744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54480"/>
            <a:ext cx="2121408"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173736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46504"/>
            <a:ext cx="411480" cy="411480"/>
          </a:xfrm>
          <a:prstGeom prst="rect">
            <a:avLst/>
          </a:prstGeom>
          <a:noFill/>
        </p:spPr>
        <p:txBody>
          <a:bodyPr wrap="square" lIns="0" rIns="0" tIns="0" bIns="0" anchor="ctr">
            <a:spAutoFit/>
          </a:bodyPr>
          <a:lstStyle/>
          <a:p>
            <a:pPr algn="ctr"/>
            <a:r>
              <a:rPr sz="1400" b="1">
                <a:solidFill>
                  <a:srgbClr val="FFFFFF"/>
                </a:solidFill>
                <a:latin typeface="Yu Gothic"/>
              </a:rPr>
              <a:t>1</a:t>
            </a:r>
          </a:p>
        </p:txBody>
      </p:sp>
      <p:sp>
        <p:nvSpPr>
          <p:cNvPr id="13" name="TextBox 12"/>
          <p:cNvSpPr txBox="1"/>
          <p:nvPr/>
        </p:nvSpPr>
        <p:spPr>
          <a:xfrm>
            <a:off x="914400" y="2240280"/>
            <a:ext cx="1847088" cy="365760"/>
          </a:xfrm>
          <a:prstGeom prst="rect">
            <a:avLst/>
          </a:prstGeom>
          <a:noFill/>
        </p:spPr>
        <p:txBody>
          <a:bodyPr wrap="square" lIns="0" rIns="0" tIns="0" bIns="0" anchor="t">
            <a:spAutoFit/>
          </a:bodyPr>
          <a:lstStyle/>
          <a:p>
            <a:pPr algn="l"/>
            <a:r>
              <a:rPr sz="1300" b="1">
                <a:solidFill>
                  <a:srgbClr val="0F4C81"/>
                </a:solidFill>
                <a:latin typeface="Yu Gothic"/>
              </a:rPr>
              <a:t>カリキュラム整理</a:t>
            </a:r>
          </a:p>
        </p:txBody>
      </p:sp>
      <p:sp>
        <p:nvSpPr>
          <p:cNvPr id="14" name="TextBox 13"/>
          <p:cNvSpPr txBox="1"/>
          <p:nvPr/>
        </p:nvSpPr>
        <p:spPr>
          <a:xfrm>
            <a:off x="914400" y="2606040"/>
            <a:ext cx="1847088" cy="1280160"/>
          </a:xfrm>
          <a:prstGeom prst="rect">
            <a:avLst/>
          </a:prstGeom>
          <a:noFill/>
        </p:spPr>
        <p:txBody>
          <a:bodyPr wrap="square" lIns="0" rIns="0" tIns="0" bIns="0" anchor="t">
            <a:spAutoFit/>
          </a:bodyPr>
          <a:lstStyle/>
          <a:p>
            <a:pPr algn="l"/>
            <a:r>
              <a:rPr sz="1100" b="0">
                <a:solidFill>
                  <a:srgbClr val="5A6B80"/>
                </a:solidFill>
                <a:latin typeface="Yu Gothic"/>
              </a:rPr>
              <a:t>科目間の重複を整理し、実践演習を中心とした構成へ。</a:t>
            </a:r>
          </a:p>
        </p:txBody>
      </p:sp>
      <p:sp>
        <p:nvSpPr>
          <p:cNvPr id="15" name="Rectangle 14"/>
          <p:cNvSpPr/>
          <p:nvPr/>
        </p:nvSpPr>
        <p:spPr>
          <a:xfrm>
            <a:off x="2944368" y="1554480"/>
            <a:ext cx="2121408" cy="237744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44368" y="1554480"/>
            <a:ext cx="2121408"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7248" y="173736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1746504"/>
            <a:ext cx="411480" cy="411480"/>
          </a:xfrm>
          <a:prstGeom prst="rect">
            <a:avLst/>
          </a:prstGeom>
          <a:noFill/>
        </p:spPr>
        <p:txBody>
          <a:bodyPr wrap="square" lIns="0" rIns="0" tIns="0" bIns="0" anchor="ctr">
            <a:spAutoFit/>
          </a:bodyPr>
          <a:lstStyle/>
          <a:p>
            <a:pPr algn="ctr"/>
            <a:r>
              <a:rPr sz="1400" b="1">
                <a:solidFill>
                  <a:srgbClr val="FFFFFF"/>
                </a:solidFill>
                <a:latin typeface="Yu Gothic"/>
              </a:rPr>
              <a:t>2</a:t>
            </a:r>
          </a:p>
        </p:txBody>
      </p:sp>
      <p:sp>
        <p:nvSpPr>
          <p:cNvPr id="19" name="TextBox 18"/>
          <p:cNvSpPr txBox="1"/>
          <p:nvPr/>
        </p:nvSpPr>
        <p:spPr>
          <a:xfrm>
            <a:off x="3127248" y="2240280"/>
            <a:ext cx="1847088" cy="365760"/>
          </a:xfrm>
          <a:prstGeom prst="rect">
            <a:avLst/>
          </a:prstGeom>
          <a:noFill/>
        </p:spPr>
        <p:txBody>
          <a:bodyPr wrap="square" lIns="0" rIns="0" tIns="0" bIns="0" anchor="t">
            <a:spAutoFit/>
          </a:bodyPr>
          <a:lstStyle/>
          <a:p>
            <a:pPr algn="l"/>
            <a:r>
              <a:rPr sz="1300" b="1">
                <a:solidFill>
                  <a:srgbClr val="0F4C81"/>
                </a:solidFill>
                <a:latin typeface="Yu Gothic"/>
              </a:rPr>
              <a:t>オンライン研修活用</a:t>
            </a:r>
          </a:p>
        </p:txBody>
      </p:sp>
      <p:sp>
        <p:nvSpPr>
          <p:cNvPr id="20" name="TextBox 19"/>
          <p:cNvSpPr txBox="1"/>
          <p:nvPr/>
        </p:nvSpPr>
        <p:spPr>
          <a:xfrm>
            <a:off x="3127248" y="2606040"/>
            <a:ext cx="1847088" cy="1280160"/>
          </a:xfrm>
          <a:prstGeom prst="rect">
            <a:avLst/>
          </a:prstGeom>
          <a:noFill/>
        </p:spPr>
        <p:txBody>
          <a:bodyPr wrap="square" lIns="0" rIns="0" tIns="0" bIns="0" anchor="t">
            <a:spAutoFit/>
          </a:bodyPr>
          <a:lstStyle/>
          <a:p>
            <a:pPr algn="l"/>
            <a:r>
              <a:rPr sz="1100" b="0">
                <a:solidFill>
                  <a:srgbClr val="5A6B80"/>
                </a:solidFill>
                <a:latin typeface="Yu Gothic"/>
              </a:rPr>
              <a:t>知識習得部分はオンライン化が進展。集合研修は演習・対話中心に。</a:t>
            </a:r>
          </a:p>
        </p:txBody>
      </p:sp>
      <p:sp>
        <p:nvSpPr>
          <p:cNvPr id="21" name="Rectangle 20"/>
          <p:cNvSpPr/>
          <p:nvPr/>
        </p:nvSpPr>
        <p:spPr>
          <a:xfrm>
            <a:off x="5157216" y="1554480"/>
            <a:ext cx="2121408" cy="237744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7216" y="1554480"/>
            <a:ext cx="2121408"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340096" y="173736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40096" y="1746504"/>
            <a:ext cx="411480" cy="411480"/>
          </a:xfrm>
          <a:prstGeom prst="rect">
            <a:avLst/>
          </a:prstGeom>
          <a:noFill/>
        </p:spPr>
        <p:txBody>
          <a:bodyPr wrap="square" lIns="0" rIns="0" tIns="0" bIns="0" anchor="ctr">
            <a:spAutoFit/>
          </a:bodyPr>
          <a:lstStyle/>
          <a:p>
            <a:pPr algn="ctr"/>
            <a:r>
              <a:rPr sz="1400" b="1">
                <a:solidFill>
                  <a:srgbClr val="FFFFFF"/>
                </a:solidFill>
                <a:latin typeface="Yu Gothic"/>
              </a:rPr>
              <a:t>3</a:t>
            </a:r>
          </a:p>
        </p:txBody>
      </p:sp>
      <p:sp>
        <p:nvSpPr>
          <p:cNvPr id="25" name="TextBox 24"/>
          <p:cNvSpPr txBox="1"/>
          <p:nvPr/>
        </p:nvSpPr>
        <p:spPr>
          <a:xfrm>
            <a:off x="5340096" y="2240280"/>
            <a:ext cx="1847088" cy="365760"/>
          </a:xfrm>
          <a:prstGeom prst="rect">
            <a:avLst/>
          </a:prstGeom>
          <a:noFill/>
        </p:spPr>
        <p:txBody>
          <a:bodyPr wrap="square" lIns="0" rIns="0" tIns="0" bIns="0" anchor="t">
            <a:spAutoFit/>
          </a:bodyPr>
          <a:lstStyle/>
          <a:p>
            <a:pPr algn="l"/>
            <a:r>
              <a:rPr sz="1300" b="1">
                <a:solidFill>
                  <a:srgbClr val="0F4C81"/>
                </a:solidFill>
                <a:latin typeface="Yu Gothic"/>
              </a:rPr>
              <a:t>適切なケアマネジメント手法</a:t>
            </a:r>
          </a:p>
        </p:txBody>
      </p:sp>
      <p:sp>
        <p:nvSpPr>
          <p:cNvPr id="26" name="TextBox 25"/>
          <p:cNvSpPr txBox="1"/>
          <p:nvPr/>
        </p:nvSpPr>
        <p:spPr>
          <a:xfrm>
            <a:off x="5340096" y="2606040"/>
            <a:ext cx="1847088" cy="1280160"/>
          </a:xfrm>
          <a:prstGeom prst="rect">
            <a:avLst/>
          </a:prstGeom>
          <a:noFill/>
        </p:spPr>
        <p:txBody>
          <a:bodyPr wrap="square" lIns="0" rIns="0" tIns="0" bIns="0" anchor="t">
            <a:spAutoFit/>
          </a:bodyPr>
          <a:lstStyle/>
          <a:p>
            <a:pPr algn="l"/>
            <a:r>
              <a:rPr sz="1100" b="0">
                <a:solidFill>
                  <a:srgbClr val="5A6B80"/>
                </a:solidFill>
                <a:latin typeface="Yu Gothic"/>
              </a:rPr>
              <a:t>適切なケアマネジメント手法を踏まえた実践的な視点が重視。</a:t>
            </a:r>
          </a:p>
        </p:txBody>
      </p:sp>
      <p:sp>
        <p:nvSpPr>
          <p:cNvPr id="27" name="Rectangle 26"/>
          <p:cNvSpPr/>
          <p:nvPr/>
        </p:nvSpPr>
        <p:spPr>
          <a:xfrm>
            <a:off x="7370064" y="1554480"/>
            <a:ext cx="2121408" cy="237744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0064" y="1554480"/>
            <a:ext cx="2121408"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52944" y="173736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52944" y="1746504"/>
            <a:ext cx="411480" cy="411480"/>
          </a:xfrm>
          <a:prstGeom prst="rect">
            <a:avLst/>
          </a:prstGeom>
          <a:noFill/>
        </p:spPr>
        <p:txBody>
          <a:bodyPr wrap="square" lIns="0" rIns="0" tIns="0" bIns="0" anchor="ctr">
            <a:spAutoFit/>
          </a:bodyPr>
          <a:lstStyle/>
          <a:p>
            <a:pPr algn="ctr"/>
            <a:r>
              <a:rPr sz="1400" b="1">
                <a:solidFill>
                  <a:srgbClr val="FFFFFF"/>
                </a:solidFill>
                <a:latin typeface="Yu Gothic"/>
              </a:rPr>
              <a:t>4</a:t>
            </a:r>
          </a:p>
        </p:txBody>
      </p:sp>
      <p:sp>
        <p:nvSpPr>
          <p:cNvPr id="31" name="TextBox 30"/>
          <p:cNvSpPr txBox="1"/>
          <p:nvPr/>
        </p:nvSpPr>
        <p:spPr>
          <a:xfrm>
            <a:off x="7552944" y="2240280"/>
            <a:ext cx="1847088" cy="365760"/>
          </a:xfrm>
          <a:prstGeom prst="rect">
            <a:avLst/>
          </a:prstGeom>
          <a:noFill/>
        </p:spPr>
        <p:txBody>
          <a:bodyPr wrap="square" lIns="0" rIns="0" tIns="0" bIns="0" anchor="t">
            <a:spAutoFit/>
          </a:bodyPr>
          <a:lstStyle/>
          <a:p>
            <a:pPr algn="l"/>
            <a:r>
              <a:rPr sz="1300" b="1">
                <a:solidFill>
                  <a:srgbClr val="0F4C81"/>
                </a:solidFill>
                <a:latin typeface="Yu Gothic"/>
              </a:rPr>
              <a:t>多職種連携の強化</a:t>
            </a:r>
          </a:p>
        </p:txBody>
      </p:sp>
      <p:sp>
        <p:nvSpPr>
          <p:cNvPr id="32" name="TextBox 31"/>
          <p:cNvSpPr txBox="1"/>
          <p:nvPr/>
        </p:nvSpPr>
        <p:spPr>
          <a:xfrm>
            <a:off x="7552944" y="2606040"/>
            <a:ext cx="1847088" cy="1280160"/>
          </a:xfrm>
          <a:prstGeom prst="rect">
            <a:avLst/>
          </a:prstGeom>
          <a:noFill/>
        </p:spPr>
        <p:txBody>
          <a:bodyPr wrap="square" lIns="0" rIns="0" tIns="0" bIns="0" anchor="t">
            <a:spAutoFit/>
          </a:bodyPr>
          <a:lstStyle/>
          <a:p>
            <a:pPr algn="l"/>
            <a:r>
              <a:rPr sz="1100" b="0">
                <a:solidFill>
                  <a:srgbClr val="5A6B80"/>
                </a:solidFill>
                <a:latin typeface="Yu Gothic"/>
              </a:rPr>
              <a:t>医療・介護・地域資源との連携演習を充実。</a:t>
            </a:r>
          </a:p>
        </p:txBody>
      </p:sp>
      <p:sp>
        <p:nvSpPr>
          <p:cNvPr id="33" name="Rectangle 32"/>
          <p:cNvSpPr/>
          <p:nvPr/>
        </p:nvSpPr>
        <p:spPr>
          <a:xfrm>
            <a:off x="9582912" y="1554480"/>
            <a:ext cx="2121408" cy="237744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82912" y="1554480"/>
            <a:ext cx="2121408"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65792" y="173736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65792" y="1746504"/>
            <a:ext cx="411480" cy="411480"/>
          </a:xfrm>
          <a:prstGeom prst="rect">
            <a:avLst/>
          </a:prstGeom>
          <a:noFill/>
        </p:spPr>
        <p:txBody>
          <a:bodyPr wrap="square" lIns="0" rIns="0" tIns="0" bIns="0" anchor="ctr">
            <a:spAutoFit/>
          </a:bodyPr>
          <a:lstStyle/>
          <a:p>
            <a:pPr algn="ctr"/>
            <a:r>
              <a:rPr sz="1400" b="1">
                <a:solidFill>
                  <a:srgbClr val="FFFFFF"/>
                </a:solidFill>
                <a:latin typeface="Yu Gothic"/>
              </a:rPr>
              <a:t>5</a:t>
            </a:r>
          </a:p>
        </p:txBody>
      </p:sp>
      <p:sp>
        <p:nvSpPr>
          <p:cNvPr id="37" name="TextBox 36"/>
          <p:cNvSpPr txBox="1"/>
          <p:nvPr/>
        </p:nvSpPr>
        <p:spPr>
          <a:xfrm>
            <a:off x="9765792" y="2240280"/>
            <a:ext cx="1847088" cy="365760"/>
          </a:xfrm>
          <a:prstGeom prst="rect">
            <a:avLst/>
          </a:prstGeom>
          <a:noFill/>
        </p:spPr>
        <p:txBody>
          <a:bodyPr wrap="square" lIns="0" rIns="0" tIns="0" bIns="0" anchor="t">
            <a:spAutoFit/>
          </a:bodyPr>
          <a:lstStyle/>
          <a:p>
            <a:pPr algn="l"/>
            <a:r>
              <a:rPr sz="1300" b="1">
                <a:solidFill>
                  <a:srgbClr val="0F4C81"/>
                </a:solidFill>
                <a:latin typeface="Yu Gothic"/>
              </a:rPr>
              <a:t>評価・振り返り</a:t>
            </a:r>
          </a:p>
        </p:txBody>
      </p:sp>
      <p:sp>
        <p:nvSpPr>
          <p:cNvPr id="38" name="TextBox 37"/>
          <p:cNvSpPr txBox="1"/>
          <p:nvPr/>
        </p:nvSpPr>
        <p:spPr>
          <a:xfrm>
            <a:off x="9765792" y="2606040"/>
            <a:ext cx="1847088" cy="1280160"/>
          </a:xfrm>
          <a:prstGeom prst="rect">
            <a:avLst/>
          </a:prstGeom>
          <a:noFill/>
        </p:spPr>
        <p:txBody>
          <a:bodyPr wrap="square" lIns="0" rIns="0" tIns="0" bIns="0" anchor="t">
            <a:spAutoFit/>
          </a:bodyPr>
          <a:lstStyle/>
          <a:p>
            <a:pPr algn="l"/>
            <a:r>
              <a:rPr sz="1100" b="0">
                <a:solidFill>
                  <a:srgbClr val="5A6B80"/>
                </a:solidFill>
                <a:latin typeface="Yu Gothic"/>
              </a:rPr>
              <a:t>研修記録シート・修了評価等で到達目標の確認・振り返りを重視。</a:t>
            </a:r>
          </a:p>
        </p:txBody>
      </p:sp>
      <p:sp>
        <p:nvSpPr>
          <p:cNvPr id="39" name="Rectangle 38"/>
          <p:cNvSpPr/>
          <p:nvPr/>
        </p:nvSpPr>
        <p:spPr>
          <a:xfrm>
            <a:off x="731520" y="4206240"/>
            <a:ext cx="10698480" cy="146304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1520" y="4206240"/>
            <a:ext cx="45720" cy="14630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4343400"/>
            <a:ext cx="10332720" cy="128016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事業所インパクト：</a:t>
            </a:r>
            <a:r>
              <a:rPr sz="1400" b="0">
                <a:solidFill>
                  <a:srgbClr val="6B4E00"/>
                </a:solidFill>
                <a:latin typeface="Yu Gothic"/>
              </a:rPr>
              <a:t>受講時間の総量に大きな変化はないものの、「事前学習・オンライン受講・職場での実践」がセットになり、勤務シフトと学習時間の管理がより重要になります。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オンライン研修活用の留意点</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第2章　新研修体系のポイント</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6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45720" cy="21945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メリット</a:t>
            </a:r>
          </a:p>
        </p:txBody>
      </p:sp>
      <p:sp>
        <p:nvSpPr>
          <p:cNvPr id="12" name="TextBox 11"/>
          <p:cNvSpPr txBox="1"/>
          <p:nvPr/>
        </p:nvSpPr>
        <p:spPr>
          <a:xfrm>
            <a:off x="960120" y="196596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受講機会の地域差の縮小</a:t>
            </a:r>
          </a:p>
          <a:p>
            <a:pPr algn="l">
              <a:lnSpc>
                <a:spcPct val="130000"/>
              </a:lnSpc>
            </a:pPr>
            <a:r>
              <a:rPr sz="1100" b="1">
                <a:solidFill>
                  <a:srgbClr val="F5A623"/>
                </a:solidFill>
                <a:latin typeface="Yu Gothic"/>
              </a:rPr>
              <a:t>■  </a:t>
            </a:r>
            <a:r>
              <a:rPr sz="1300" b="0">
                <a:solidFill>
                  <a:srgbClr val="1F2D3D"/>
                </a:solidFill>
                <a:latin typeface="Yu Gothic"/>
              </a:rPr>
              <a:t>業務との両立がしやすい</a:t>
            </a:r>
          </a:p>
          <a:p>
            <a:pPr algn="l">
              <a:lnSpc>
                <a:spcPct val="130000"/>
              </a:lnSpc>
            </a:pPr>
            <a:r>
              <a:rPr sz="1100" b="1">
                <a:solidFill>
                  <a:srgbClr val="F5A623"/>
                </a:solidFill>
                <a:latin typeface="Yu Gothic"/>
              </a:rPr>
              <a:t>■  </a:t>
            </a:r>
            <a:r>
              <a:rPr sz="1300" b="0">
                <a:solidFill>
                  <a:srgbClr val="1F2D3D"/>
                </a:solidFill>
                <a:latin typeface="Yu Gothic"/>
              </a:rPr>
              <a:t>繰り返し視聴で理解定着</a:t>
            </a:r>
          </a:p>
          <a:p>
            <a:pPr algn="l">
              <a:lnSpc>
                <a:spcPct val="130000"/>
              </a:lnSpc>
            </a:pPr>
            <a:r>
              <a:rPr sz="1100" b="1">
                <a:solidFill>
                  <a:srgbClr val="F5A623"/>
                </a:solidFill>
                <a:latin typeface="Yu Gothic"/>
              </a:rPr>
              <a:t>■  </a:t>
            </a:r>
            <a:r>
              <a:rPr sz="1300" b="0">
                <a:solidFill>
                  <a:srgbClr val="1F2D3D"/>
                </a:solidFill>
                <a:latin typeface="Yu Gothic"/>
              </a:rPr>
              <a:t>移動コスト・時間の削減</a:t>
            </a:r>
          </a:p>
        </p:txBody>
      </p:sp>
      <p:sp>
        <p:nvSpPr>
          <p:cNvPr id="13" name="Rectangle 12"/>
          <p:cNvSpPr/>
          <p:nvPr/>
        </p:nvSpPr>
        <p:spPr>
          <a:xfrm>
            <a:off x="6126480" y="146304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463040"/>
            <a:ext cx="45720" cy="2194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注意すべき点</a:t>
            </a:r>
          </a:p>
        </p:txBody>
      </p:sp>
      <p:sp>
        <p:nvSpPr>
          <p:cNvPr id="16" name="TextBox 15"/>
          <p:cNvSpPr txBox="1"/>
          <p:nvPr/>
        </p:nvSpPr>
        <p:spPr>
          <a:xfrm>
            <a:off x="6355080" y="196596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受講時間の確保（勤務時間扱いの整理）</a:t>
            </a:r>
          </a:p>
          <a:p>
            <a:pPr algn="l">
              <a:lnSpc>
                <a:spcPct val="130000"/>
              </a:lnSpc>
            </a:pPr>
            <a:r>
              <a:rPr sz="1100" b="1">
                <a:solidFill>
                  <a:srgbClr val="F5A623"/>
                </a:solidFill>
                <a:latin typeface="Yu Gothic"/>
              </a:rPr>
              <a:t>■  </a:t>
            </a:r>
            <a:r>
              <a:rPr sz="1300" b="0">
                <a:solidFill>
                  <a:srgbClr val="1F2D3D"/>
                </a:solidFill>
                <a:latin typeface="Yu Gothic"/>
              </a:rPr>
              <a:t>視聴環境（PC・ネット・静音）の準備</a:t>
            </a:r>
          </a:p>
          <a:p>
            <a:pPr algn="l">
              <a:lnSpc>
                <a:spcPct val="130000"/>
              </a:lnSpc>
            </a:pPr>
            <a:r>
              <a:rPr sz="1100" b="1">
                <a:solidFill>
                  <a:srgbClr val="F5A623"/>
                </a:solidFill>
                <a:latin typeface="Yu Gothic"/>
              </a:rPr>
              <a:t>■  </a:t>
            </a:r>
            <a:r>
              <a:rPr sz="1300" b="0">
                <a:solidFill>
                  <a:srgbClr val="1F2D3D"/>
                </a:solidFill>
                <a:latin typeface="Yu Gothic"/>
              </a:rPr>
              <a:t>個人学習に陥りがちで質問機会が減少</a:t>
            </a:r>
          </a:p>
          <a:p>
            <a:pPr algn="l">
              <a:lnSpc>
                <a:spcPct val="130000"/>
              </a:lnSpc>
            </a:pPr>
            <a:r>
              <a:rPr sz="1100" b="1">
                <a:solidFill>
                  <a:srgbClr val="F5A623"/>
                </a:solidFill>
                <a:latin typeface="Yu Gothic"/>
              </a:rPr>
              <a:t>■  </a:t>
            </a:r>
            <a:r>
              <a:rPr sz="1300" b="0">
                <a:solidFill>
                  <a:srgbClr val="1F2D3D"/>
                </a:solidFill>
                <a:latin typeface="Yu Gothic"/>
              </a:rPr>
              <a:t>修了要件（テスト・課題）の確認</a:t>
            </a:r>
          </a:p>
        </p:txBody>
      </p:sp>
      <p:sp>
        <p:nvSpPr>
          <p:cNvPr id="17" name="TextBox 16"/>
          <p:cNvSpPr txBox="1"/>
          <p:nvPr/>
        </p:nvSpPr>
        <p:spPr>
          <a:xfrm>
            <a:off x="731520" y="3840480"/>
            <a:ext cx="10698480" cy="365760"/>
          </a:xfrm>
          <a:prstGeom prst="rect">
            <a:avLst/>
          </a:prstGeom>
          <a:noFill/>
        </p:spPr>
        <p:txBody>
          <a:bodyPr wrap="square" lIns="0" rIns="0" tIns="0" bIns="0" anchor="t">
            <a:spAutoFit/>
          </a:bodyPr>
          <a:lstStyle/>
          <a:p>
            <a:pPr algn="l"/>
            <a:r>
              <a:rPr sz="1600" b="1">
                <a:solidFill>
                  <a:srgbClr val="2D6FB3"/>
                </a:solidFill>
                <a:latin typeface="Yu Gothic"/>
              </a:rPr>
              <a:t>事業所として整えるべきこと</a:t>
            </a:r>
          </a:p>
        </p:txBody>
      </p:sp>
      <p:sp>
        <p:nvSpPr>
          <p:cNvPr id="18" name="TextBox 17"/>
          <p:cNvSpPr txBox="1"/>
          <p:nvPr/>
        </p:nvSpPr>
        <p:spPr>
          <a:xfrm>
            <a:off x="822960" y="4297680"/>
            <a:ext cx="10515600" cy="1828800"/>
          </a:xfrm>
          <a:prstGeom prst="rect">
            <a:avLst/>
          </a:prstGeom>
          <a:noFill/>
        </p:spPr>
        <p:txBody>
          <a:bodyPr wrap="square" lIns="0" rIns="0" tIns="0" bIns="0" anchor="t">
            <a:spAutoFit/>
          </a:bodyPr>
          <a:lstStyle/>
          <a:p>
            <a:pPr algn="l">
              <a:lnSpc>
                <a:spcPct val="150000"/>
              </a:lnSpc>
            </a:pPr>
            <a:r>
              <a:rPr sz="1200" b="1">
                <a:solidFill>
                  <a:srgbClr val="F5A623"/>
                </a:solidFill>
                <a:latin typeface="Yu Gothic"/>
              </a:rPr>
              <a:t>■  </a:t>
            </a:r>
            <a:r>
              <a:rPr sz="1400" b="0">
                <a:solidFill>
                  <a:srgbClr val="1F2D3D"/>
                </a:solidFill>
                <a:latin typeface="Yu Gothic"/>
              </a:rPr>
              <a:t>就業規則上の「研修時間の取扱い」を明確化（労働時間／自己研鑽の区分）</a:t>
            </a:r>
          </a:p>
          <a:p>
            <a:pPr algn="l">
              <a:lnSpc>
                <a:spcPct val="150000"/>
              </a:lnSpc>
            </a:pPr>
            <a:r>
              <a:rPr sz="1200" b="1">
                <a:solidFill>
                  <a:srgbClr val="F5A623"/>
                </a:solidFill>
                <a:latin typeface="Yu Gothic"/>
              </a:rPr>
              <a:t>■  </a:t>
            </a:r>
            <a:r>
              <a:rPr sz="1400" b="0">
                <a:solidFill>
                  <a:srgbClr val="1F2D3D"/>
                </a:solidFill>
                <a:latin typeface="Yu Gothic"/>
              </a:rPr>
              <a:t>受講可能な個室・PC・ヘッドセットの確保</a:t>
            </a:r>
          </a:p>
          <a:p>
            <a:pPr algn="l">
              <a:lnSpc>
                <a:spcPct val="150000"/>
              </a:lnSpc>
            </a:pPr>
            <a:r>
              <a:rPr sz="1200" b="1">
                <a:solidFill>
                  <a:srgbClr val="F5A623"/>
                </a:solidFill>
                <a:latin typeface="Yu Gothic"/>
              </a:rPr>
              <a:t>■  </a:t>
            </a:r>
            <a:r>
              <a:rPr sz="1400" b="0">
                <a:solidFill>
                  <a:srgbClr val="1F2D3D"/>
                </a:solidFill>
                <a:latin typeface="Yu Gothic"/>
              </a:rPr>
              <a:t>視聴後の事業所内シェア会で学びを定着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第3章　主任ケアマネ更新研修の現状</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第3章　主任ケアマネ更新研修</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7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10698480" cy="365760"/>
          </a:xfrm>
          <a:prstGeom prst="rect">
            <a:avLst/>
          </a:prstGeom>
          <a:noFill/>
        </p:spPr>
        <p:txBody>
          <a:bodyPr wrap="square" lIns="0" rIns="0" tIns="0" bIns="0" anchor="t">
            <a:spAutoFit/>
          </a:bodyPr>
          <a:lstStyle/>
          <a:p>
            <a:pPr algn="l"/>
            <a:r>
              <a:rPr sz="1600" b="1">
                <a:solidFill>
                  <a:srgbClr val="2D6FB3"/>
                </a:solidFill>
                <a:latin typeface="Yu Gothic"/>
              </a:rPr>
              <a:t>制度の概要</a:t>
            </a:r>
          </a:p>
        </p:txBody>
      </p:sp>
      <p:graphicFrame>
        <p:nvGraphicFramePr>
          <p:cNvPr id="10" name="Table 9"/>
          <p:cNvGraphicFramePr>
            <a:graphicFrameLocks noGrp="1"/>
          </p:cNvGraphicFramePr>
          <p:nvPr/>
        </p:nvGraphicFramePr>
        <p:xfrm>
          <a:off x="731520" y="1874519"/>
          <a:ext cx="10698480" cy="2377440"/>
        </p:xfrm>
        <a:graphic>
          <a:graphicData uri="http://schemas.openxmlformats.org/drawingml/2006/table">
            <a:tbl>
              <a:tblPr firstRow="1" bandRow="1">
                <a:tableStyleId>{5C22544A-7EE6-4342-B048-85BDC9FD1C3A}</a:tableStyleId>
              </a:tblPr>
              <a:tblGrid>
                <a:gridCol w="2674620"/>
                <a:gridCol w="8023860"/>
              </a:tblGrid>
              <a:tr h="475488">
                <a:tc>
                  <a:txBody>
                    <a:bodyPr wrap="square"/>
                    <a:lstStyle/>
                    <a:p>
                      <a:r>
                        <a:rPr sz="1200" b="1">
                          <a:solidFill>
                            <a:srgbClr val="FFFFFF"/>
                          </a:solidFill>
                          <a:latin typeface="Yu Gothic"/>
                        </a:rPr>
                        <a:t>項目</a:t>
                      </a:r>
                    </a:p>
                  </a:txBody>
                  <a:tcPr>
                    <a:solidFill>
                      <a:srgbClr val="0F4C81"/>
                    </a:solidFill>
                  </a:tcPr>
                </a:tc>
                <a:tc>
                  <a:txBody>
                    <a:bodyPr wrap="square"/>
                    <a:lstStyle/>
                    <a:p>
                      <a:r>
                        <a:rPr sz="1200" b="1">
                          <a:solidFill>
                            <a:srgbClr val="FFFFFF"/>
                          </a:solidFill>
                          <a:latin typeface="Yu Gothic"/>
                        </a:rPr>
                        <a:t>内容</a:t>
                      </a:r>
                    </a:p>
                  </a:txBody>
                  <a:tcPr>
                    <a:solidFill>
                      <a:srgbClr val="0F4C81"/>
                    </a:solidFill>
                  </a:tcPr>
                </a:tc>
              </a:tr>
              <a:tr h="475488">
                <a:tc>
                  <a:txBody>
                    <a:bodyPr wrap="square"/>
                    <a:lstStyle/>
                    <a:p>
                      <a:r>
                        <a:rPr sz="1100" b="0">
                          <a:solidFill>
                            <a:srgbClr val="1F2D3D"/>
                          </a:solidFill>
                          <a:latin typeface="Yu Gothic"/>
                        </a:rPr>
                        <a:t>更新サイクル</a:t>
                      </a:r>
                    </a:p>
                  </a:txBody>
                  <a:tcPr>
                    <a:solidFill>
                      <a:srgbClr val="FFFFFF"/>
                    </a:solidFill>
                  </a:tcPr>
                </a:tc>
                <a:tc>
                  <a:txBody>
                    <a:bodyPr wrap="square"/>
                    <a:lstStyle/>
                    <a:p>
                      <a:r>
                        <a:rPr sz="1100" b="0">
                          <a:solidFill>
                            <a:srgbClr val="1F2D3D"/>
                          </a:solidFill>
                          <a:latin typeface="Yu Gothic"/>
                        </a:rPr>
                        <a:t>主任介護支援専門員の更新は </a:t>
                      </a:r>
                      <a:r>
                        <a:rPr sz="1100" b="1">
                          <a:solidFill>
                            <a:srgbClr val="1F2D3D"/>
                          </a:solidFill>
                          <a:latin typeface="Yu Gothic"/>
                        </a:rPr>
                        <a:t>5年ごと</a:t>
                      </a:r>
                    </a:p>
                  </a:txBody>
                  <a:tcPr>
                    <a:solidFill>
                      <a:srgbClr val="FFFFFF"/>
                    </a:solidFill>
                  </a:tcPr>
                </a:tc>
              </a:tr>
              <a:tr h="475488">
                <a:tc>
                  <a:txBody>
                    <a:bodyPr wrap="square"/>
                    <a:lstStyle/>
                    <a:p>
                      <a:r>
                        <a:rPr sz="1100" b="0">
                          <a:solidFill>
                            <a:srgbClr val="1F2D3D"/>
                          </a:solidFill>
                          <a:latin typeface="Yu Gothic"/>
                        </a:rPr>
                        <a:t>研修時間</a:t>
                      </a:r>
                    </a:p>
                  </a:txBody>
                  <a:tcPr>
                    <a:solidFill>
                      <a:srgbClr val="F9FBFD"/>
                    </a:solidFill>
                  </a:tcPr>
                </a:tc>
                <a:tc>
                  <a:txBody>
                    <a:bodyPr wrap="square"/>
                    <a:lstStyle/>
                    <a:p>
                      <a:r>
                        <a:rPr sz="1100" b="0">
                          <a:solidFill>
                            <a:srgbClr val="1F2D3D"/>
                          </a:solidFill>
                          <a:latin typeface="Yu Gothic"/>
                        </a:rPr>
                        <a:t>国の実施要綱上、合計 </a:t>
                      </a:r>
                      <a:r>
                        <a:rPr sz="1100" b="1">
                          <a:solidFill>
                            <a:srgbClr val="1F2D3D"/>
                          </a:solidFill>
                          <a:latin typeface="Yu Gothic"/>
                        </a:rPr>
                        <a:t>46時間以上</a:t>
                      </a:r>
                      <a:r>
                        <a:rPr sz="1100" b="0">
                          <a:solidFill>
                            <a:srgbClr val="1F2D3D"/>
                          </a:solidFill>
                          <a:latin typeface="Yu Gothic"/>
                        </a:rPr>
                        <a:t>（都道府県により異なる）</a:t>
                      </a:r>
                    </a:p>
                  </a:txBody>
                  <a:tcPr>
                    <a:solidFill>
                      <a:srgbClr val="F9FBFD"/>
                    </a:solidFill>
                  </a:tcPr>
                </a:tc>
              </a:tr>
              <a:tr h="475488">
                <a:tc>
                  <a:txBody>
                    <a:bodyPr wrap="square"/>
                    <a:lstStyle/>
                    <a:p>
                      <a:r>
                        <a:rPr sz="1100" b="0">
                          <a:solidFill>
                            <a:srgbClr val="1F2D3D"/>
                          </a:solidFill>
                          <a:latin typeface="Yu Gothic"/>
                        </a:rPr>
                        <a:t>主な受講要件</a:t>
                      </a:r>
                    </a:p>
                  </a:txBody>
                  <a:tcPr>
                    <a:solidFill>
                      <a:srgbClr val="FFFFFF"/>
                    </a:solidFill>
                  </a:tcPr>
                </a:tc>
                <a:tc>
                  <a:txBody>
                    <a:bodyPr wrap="square"/>
                    <a:lstStyle/>
                    <a:p>
                      <a:r>
                        <a:rPr sz="1100" b="0">
                          <a:solidFill>
                            <a:srgbClr val="1F2D3D"/>
                          </a:solidFill>
                          <a:latin typeface="Yu Gothic"/>
                        </a:rPr>
                        <a:t>都道府県により異なる。国の要綱では、研修の企画・講師・ファシリテーター経験、法定外研修への年4回以上の参加、学会発表、認定ケアマネジャー、都道府県が適当と認める者等が例示</a:t>
                      </a:r>
                    </a:p>
                  </a:txBody>
                  <a:tcPr>
                    <a:solidFill>
                      <a:srgbClr val="FFFFFF"/>
                    </a:solidFill>
                  </a:tcPr>
                </a:tc>
              </a:tr>
              <a:tr h="475488">
                <a:tc>
                  <a:txBody>
                    <a:bodyPr wrap="square"/>
                    <a:lstStyle/>
                    <a:p>
                      <a:r>
                        <a:rPr sz="1100" b="0">
                          <a:solidFill>
                            <a:srgbClr val="1F2D3D"/>
                          </a:solidFill>
                          <a:latin typeface="Yu Gothic"/>
                        </a:rPr>
                        <a:t>未受講のリスク</a:t>
                      </a:r>
                    </a:p>
                  </a:txBody>
                  <a:tcPr>
                    <a:solidFill>
                      <a:srgbClr val="F9FBFD"/>
                    </a:solidFill>
                  </a:tcPr>
                </a:tc>
                <a:tc>
                  <a:txBody>
                    <a:bodyPr wrap="square"/>
                    <a:lstStyle/>
                    <a:p>
                      <a:r>
                        <a:rPr sz="1100" b="0">
                          <a:solidFill>
                            <a:srgbClr val="1F2D3D"/>
                          </a:solidFill>
                          <a:latin typeface="Yu Gothic"/>
                        </a:rPr>
                        <a:t>主任介護支援専門員の配置要件に影響し、</a:t>
                      </a:r>
                      <a:r>
                        <a:rPr sz="1100" b="1">
                          <a:solidFill>
                            <a:srgbClr val="1F2D3D"/>
                          </a:solidFill>
                          <a:latin typeface="Yu Gothic"/>
                        </a:rPr>
                        <a:t>特定事業所加算や地域包括支援センターの人員体制</a:t>
                      </a:r>
                      <a:r>
                        <a:rPr sz="1100" b="0">
                          <a:solidFill>
                            <a:srgbClr val="1F2D3D"/>
                          </a:solidFill>
                          <a:latin typeface="Yu Gothic"/>
                        </a:rPr>
                        <a:t>に支障が生じる可能性</a:t>
                      </a:r>
                    </a:p>
                  </a:txBody>
                  <a:tcPr>
                    <a:solidFill>
                      <a:srgbClr val="F9FBFD"/>
                    </a:solidFill>
                  </a:tcPr>
                </a:tc>
              </a:tr>
            </a:tbl>
          </a:graphicData>
        </a:graphic>
      </p:graphicFrame>
      <p:sp>
        <p:nvSpPr>
          <p:cNvPr id="11" name="Rectangle 10"/>
          <p:cNvSpPr/>
          <p:nvPr/>
        </p:nvSpPr>
        <p:spPr>
          <a:xfrm>
            <a:off x="731520" y="4526280"/>
            <a:ext cx="10698480" cy="155448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526280"/>
            <a:ext cx="45720" cy="15544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663440"/>
            <a:ext cx="10332720" cy="137160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経営インパクト：</a:t>
            </a:r>
            <a:r>
              <a:rPr sz="1400" b="0">
                <a:solidFill>
                  <a:srgbClr val="6B4E00"/>
                </a:solidFill>
                <a:latin typeface="Yu Gothic"/>
              </a:rPr>
              <a:t>主任ケアマネが失効した場合、事業所の主任配置数・加算区分等によっては、特定事業所加算や地域包括支援センターの人員体制に支障が生じる可能性がある。事業所運営に関わるリスクとして管理が必要。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更新研修における4つの課題</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第3章　主任ケアマネ更新研修</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8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5349240" cy="21031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45720" cy="210312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① 時間的負担</a:t>
            </a:r>
          </a:p>
        </p:txBody>
      </p:sp>
      <p:sp>
        <p:nvSpPr>
          <p:cNvPr id="12" name="TextBox 11"/>
          <p:cNvSpPr txBox="1"/>
          <p:nvPr/>
        </p:nvSpPr>
        <p:spPr>
          <a:xfrm>
            <a:off x="960120" y="1965960"/>
            <a:ext cx="4983480" cy="150876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46時間以上の受講時間に加え、レポート・事例提出の準備が必要</a:t>
            </a:r>
          </a:p>
          <a:p>
            <a:pPr algn="l">
              <a:lnSpc>
                <a:spcPct val="130000"/>
              </a:lnSpc>
            </a:pPr>
            <a:r>
              <a:rPr sz="1100" b="1">
                <a:solidFill>
                  <a:srgbClr val="F5A623"/>
                </a:solidFill>
                <a:latin typeface="Yu Gothic"/>
              </a:rPr>
              <a:t>■  </a:t>
            </a:r>
            <a:r>
              <a:rPr sz="1300" b="0">
                <a:solidFill>
                  <a:srgbClr val="1F2D3D"/>
                </a:solidFill>
                <a:latin typeface="Yu Gothic"/>
              </a:rPr>
              <a:t>日常業務と並行しての学習負担が大きい</a:t>
            </a:r>
          </a:p>
        </p:txBody>
      </p:sp>
      <p:sp>
        <p:nvSpPr>
          <p:cNvPr id="13" name="Rectangle 12"/>
          <p:cNvSpPr/>
          <p:nvPr/>
        </p:nvSpPr>
        <p:spPr>
          <a:xfrm>
            <a:off x="6126480" y="1463040"/>
            <a:ext cx="5349240" cy="21031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463040"/>
            <a:ext cx="45720" cy="2103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② 受講機会の限定</a:t>
            </a:r>
          </a:p>
        </p:txBody>
      </p:sp>
      <p:sp>
        <p:nvSpPr>
          <p:cNvPr id="16" name="TextBox 15"/>
          <p:cNvSpPr txBox="1"/>
          <p:nvPr/>
        </p:nvSpPr>
        <p:spPr>
          <a:xfrm>
            <a:off x="6355080" y="1965960"/>
            <a:ext cx="4983480" cy="150876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開催回数・定員・選考方法は都道府県・実施機関により異なる</a:t>
            </a:r>
          </a:p>
          <a:p>
            <a:pPr algn="l">
              <a:lnSpc>
                <a:spcPct val="130000"/>
              </a:lnSpc>
            </a:pPr>
            <a:r>
              <a:rPr sz="1100" b="1">
                <a:solidFill>
                  <a:srgbClr val="F5A623"/>
                </a:solidFill>
                <a:latin typeface="Yu Gothic"/>
              </a:rPr>
              <a:t>■  </a:t>
            </a:r>
            <a:r>
              <a:rPr sz="1300" b="0">
                <a:solidFill>
                  <a:srgbClr val="1F2D3D"/>
                </a:solidFill>
                <a:latin typeface="Yu Gothic"/>
              </a:rPr>
              <a:t>受講できない年が続くと更新期限に間に合わないリスク</a:t>
            </a:r>
          </a:p>
        </p:txBody>
      </p:sp>
      <p:sp>
        <p:nvSpPr>
          <p:cNvPr id="17" name="Rectangle 16"/>
          <p:cNvSpPr/>
          <p:nvPr/>
        </p:nvSpPr>
        <p:spPr>
          <a:xfrm>
            <a:off x="731520" y="3749039"/>
            <a:ext cx="5349240" cy="21031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49039"/>
            <a:ext cx="45720" cy="210312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58767"/>
            <a:ext cx="4983480" cy="365760"/>
          </a:xfrm>
          <a:prstGeom prst="rect">
            <a:avLst/>
          </a:prstGeom>
          <a:noFill/>
        </p:spPr>
        <p:txBody>
          <a:bodyPr wrap="square" lIns="0" rIns="0" tIns="0" bIns="0" anchor="t">
            <a:spAutoFit/>
          </a:bodyPr>
          <a:lstStyle/>
          <a:p>
            <a:pPr algn="l"/>
            <a:r>
              <a:rPr sz="1500" b="1">
                <a:solidFill>
                  <a:srgbClr val="0F4C81"/>
                </a:solidFill>
                <a:latin typeface="Yu Gothic"/>
              </a:rPr>
              <a:t>③ 業務継続との両立</a:t>
            </a:r>
          </a:p>
        </p:txBody>
      </p:sp>
      <p:sp>
        <p:nvSpPr>
          <p:cNvPr id="20" name="TextBox 19"/>
          <p:cNvSpPr txBox="1"/>
          <p:nvPr/>
        </p:nvSpPr>
        <p:spPr>
          <a:xfrm>
            <a:off x="960120" y="4251959"/>
            <a:ext cx="4983480" cy="150876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研修日のケース対応・モニタリング・担当者会議の調整</a:t>
            </a:r>
          </a:p>
          <a:p>
            <a:pPr algn="l">
              <a:lnSpc>
                <a:spcPct val="130000"/>
              </a:lnSpc>
            </a:pPr>
            <a:r>
              <a:rPr sz="1100" b="1">
                <a:solidFill>
                  <a:srgbClr val="F5A623"/>
                </a:solidFill>
                <a:latin typeface="Yu Gothic"/>
              </a:rPr>
              <a:t>■  </a:t>
            </a:r>
            <a:r>
              <a:rPr sz="1300" b="0">
                <a:solidFill>
                  <a:srgbClr val="1F2D3D"/>
                </a:solidFill>
                <a:latin typeface="Yu Gothic"/>
              </a:rPr>
              <a:t>事業所全体での体制整備が不可欠</a:t>
            </a:r>
          </a:p>
        </p:txBody>
      </p:sp>
      <p:sp>
        <p:nvSpPr>
          <p:cNvPr id="21" name="Rectangle 20"/>
          <p:cNvSpPr/>
          <p:nvPr/>
        </p:nvSpPr>
        <p:spPr>
          <a:xfrm>
            <a:off x="6126480" y="3749039"/>
            <a:ext cx="5349240" cy="21031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3749039"/>
            <a:ext cx="45720" cy="2103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858767"/>
            <a:ext cx="4983480" cy="365760"/>
          </a:xfrm>
          <a:prstGeom prst="rect">
            <a:avLst/>
          </a:prstGeom>
          <a:noFill/>
        </p:spPr>
        <p:txBody>
          <a:bodyPr wrap="square" lIns="0" rIns="0" tIns="0" bIns="0" anchor="t">
            <a:spAutoFit/>
          </a:bodyPr>
          <a:lstStyle/>
          <a:p>
            <a:pPr algn="l"/>
            <a:r>
              <a:rPr sz="1500" b="1">
                <a:solidFill>
                  <a:srgbClr val="0F4C81"/>
                </a:solidFill>
                <a:latin typeface="Yu Gothic"/>
              </a:rPr>
              <a:t>④ 受講要件の管理</a:t>
            </a:r>
          </a:p>
        </p:txBody>
      </p:sp>
      <p:sp>
        <p:nvSpPr>
          <p:cNvPr id="24" name="TextBox 23"/>
          <p:cNvSpPr txBox="1"/>
          <p:nvPr/>
        </p:nvSpPr>
        <p:spPr>
          <a:xfrm>
            <a:off x="6355080" y="4251959"/>
            <a:ext cx="4983480" cy="150876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「主任ケアマネとしての実務経験」「指導実績」など</a:t>
            </a:r>
          </a:p>
          <a:p>
            <a:pPr algn="l">
              <a:lnSpc>
                <a:spcPct val="130000"/>
              </a:lnSpc>
            </a:pPr>
            <a:r>
              <a:rPr sz="1100" b="1">
                <a:solidFill>
                  <a:srgbClr val="F5A623"/>
                </a:solidFill>
                <a:latin typeface="Yu Gothic"/>
              </a:rPr>
              <a:t>■  </a:t>
            </a:r>
            <a:r>
              <a:rPr sz="1300" b="0">
                <a:solidFill>
                  <a:srgbClr val="1F2D3D"/>
                </a:solidFill>
                <a:latin typeface="Yu Gothic"/>
              </a:rPr>
              <a:t>5年間にわたって意識的に積み上げる必要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更新研修への戦略的アプローチ</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第3章　主任ケアマネ更新研修</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9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10698480" cy="365760"/>
          </a:xfrm>
          <a:prstGeom prst="rect">
            <a:avLst/>
          </a:prstGeom>
          <a:noFill/>
        </p:spPr>
        <p:txBody>
          <a:bodyPr wrap="square" lIns="0" rIns="0" tIns="0" bIns="0" anchor="t">
            <a:spAutoFit/>
          </a:bodyPr>
          <a:lstStyle/>
          <a:p>
            <a:pPr algn="l"/>
            <a:r>
              <a:rPr sz="1600" b="1">
                <a:solidFill>
                  <a:srgbClr val="2D6FB3"/>
                </a:solidFill>
                <a:latin typeface="Yu Gothic"/>
              </a:rPr>
              <a:t>「5年前から逆算」する受講計画</a:t>
            </a:r>
          </a:p>
        </p:txBody>
      </p:sp>
      <p:sp>
        <p:nvSpPr>
          <p:cNvPr id="10" name="Rectangle 9"/>
          <p:cNvSpPr/>
          <p:nvPr/>
        </p:nvSpPr>
        <p:spPr>
          <a:xfrm>
            <a:off x="1097280" y="2103120"/>
            <a:ext cx="38100" cy="292608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8408" y="2057400"/>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2039112"/>
            <a:ext cx="1463040" cy="365760"/>
          </a:xfrm>
          <a:prstGeom prst="rect">
            <a:avLst/>
          </a:prstGeom>
          <a:noFill/>
        </p:spPr>
        <p:txBody>
          <a:bodyPr wrap="square" lIns="0" rIns="0" tIns="0" bIns="0" anchor="t">
            <a:spAutoFit/>
          </a:bodyPr>
          <a:lstStyle/>
          <a:p>
            <a:pPr algn="l"/>
            <a:r>
              <a:rPr sz="1300" b="1">
                <a:solidFill>
                  <a:srgbClr val="0F4C81"/>
                </a:solidFill>
                <a:latin typeface="Yu Gothic"/>
              </a:rPr>
              <a:t>更新5年前</a:t>
            </a:r>
          </a:p>
        </p:txBody>
      </p:sp>
      <p:sp>
        <p:nvSpPr>
          <p:cNvPr id="13" name="TextBox 12"/>
          <p:cNvSpPr txBox="1"/>
          <p:nvPr/>
        </p:nvSpPr>
        <p:spPr>
          <a:xfrm>
            <a:off x="2926080" y="2039112"/>
            <a:ext cx="8321040" cy="621792"/>
          </a:xfrm>
          <a:prstGeom prst="rect">
            <a:avLst/>
          </a:prstGeom>
          <a:noFill/>
        </p:spPr>
        <p:txBody>
          <a:bodyPr wrap="square" lIns="0" rIns="0" tIns="0" bIns="0" anchor="t">
            <a:spAutoFit/>
          </a:bodyPr>
          <a:lstStyle/>
          <a:p>
            <a:pPr algn="l"/>
            <a:r>
              <a:rPr sz="1200" b="0">
                <a:solidFill>
                  <a:srgbClr val="1F2D3D"/>
                </a:solidFill>
                <a:latin typeface="Yu Gothic"/>
              </a:rPr>
              <a:t>更新期限・要件をリスト化／業務経験ログの開始</a:t>
            </a:r>
          </a:p>
        </p:txBody>
      </p:sp>
      <p:sp>
        <p:nvSpPr>
          <p:cNvPr id="14" name="Oval 13"/>
          <p:cNvSpPr/>
          <p:nvPr/>
        </p:nvSpPr>
        <p:spPr>
          <a:xfrm>
            <a:off x="978408" y="2679192"/>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17320" y="2660904"/>
            <a:ext cx="1463040" cy="365760"/>
          </a:xfrm>
          <a:prstGeom prst="rect">
            <a:avLst/>
          </a:prstGeom>
          <a:noFill/>
        </p:spPr>
        <p:txBody>
          <a:bodyPr wrap="square" lIns="0" rIns="0" tIns="0" bIns="0" anchor="t">
            <a:spAutoFit/>
          </a:bodyPr>
          <a:lstStyle/>
          <a:p>
            <a:pPr algn="l"/>
            <a:r>
              <a:rPr sz="1300" b="1">
                <a:solidFill>
                  <a:srgbClr val="0F4C81"/>
                </a:solidFill>
                <a:latin typeface="Yu Gothic"/>
              </a:rPr>
              <a:t>更新3〜2年前</a:t>
            </a:r>
          </a:p>
        </p:txBody>
      </p:sp>
      <p:sp>
        <p:nvSpPr>
          <p:cNvPr id="16" name="TextBox 15"/>
          <p:cNvSpPr txBox="1"/>
          <p:nvPr/>
        </p:nvSpPr>
        <p:spPr>
          <a:xfrm>
            <a:off x="2926080" y="2660904"/>
            <a:ext cx="8321040" cy="621792"/>
          </a:xfrm>
          <a:prstGeom prst="rect">
            <a:avLst/>
          </a:prstGeom>
          <a:noFill/>
        </p:spPr>
        <p:txBody>
          <a:bodyPr wrap="square" lIns="0" rIns="0" tIns="0" bIns="0" anchor="t">
            <a:spAutoFit/>
          </a:bodyPr>
          <a:lstStyle/>
          <a:p>
            <a:pPr algn="l"/>
            <a:r>
              <a:rPr sz="1200" b="0">
                <a:solidFill>
                  <a:srgbClr val="1F2D3D"/>
                </a:solidFill>
                <a:latin typeface="Yu Gothic"/>
              </a:rPr>
              <a:t>指導実績の蓄積（実習指導者、事例検討会講師など）／受講要件チェック</a:t>
            </a:r>
          </a:p>
        </p:txBody>
      </p:sp>
      <p:sp>
        <p:nvSpPr>
          <p:cNvPr id="17" name="Oval 16"/>
          <p:cNvSpPr/>
          <p:nvPr/>
        </p:nvSpPr>
        <p:spPr>
          <a:xfrm>
            <a:off x="978408" y="3300984"/>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282696"/>
            <a:ext cx="1463040" cy="365760"/>
          </a:xfrm>
          <a:prstGeom prst="rect">
            <a:avLst/>
          </a:prstGeom>
          <a:noFill/>
        </p:spPr>
        <p:txBody>
          <a:bodyPr wrap="square" lIns="0" rIns="0" tIns="0" bIns="0" anchor="t">
            <a:spAutoFit/>
          </a:bodyPr>
          <a:lstStyle/>
          <a:p>
            <a:pPr algn="l"/>
            <a:r>
              <a:rPr sz="1300" b="1">
                <a:solidFill>
                  <a:srgbClr val="0F4C81"/>
                </a:solidFill>
                <a:latin typeface="Yu Gothic"/>
              </a:rPr>
              <a:t>更新1年前</a:t>
            </a:r>
          </a:p>
        </p:txBody>
      </p:sp>
      <p:sp>
        <p:nvSpPr>
          <p:cNvPr id="19" name="TextBox 18"/>
          <p:cNvSpPr txBox="1"/>
          <p:nvPr/>
        </p:nvSpPr>
        <p:spPr>
          <a:xfrm>
            <a:off x="2926080" y="3282696"/>
            <a:ext cx="8321040" cy="621792"/>
          </a:xfrm>
          <a:prstGeom prst="rect">
            <a:avLst/>
          </a:prstGeom>
          <a:noFill/>
        </p:spPr>
        <p:txBody>
          <a:bodyPr wrap="square" lIns="0" rIns="0" tIns="0" bIns="0" anchor="t">
            <a:spAutoFit/>
          </a:bodyPr>
          <a:lstStyle/>
          <a:p>
            <a:pPr algn="l"/>
            <a:r>
              <a:rPr sz="1200" b="0">
                <a:solidFill>
                  <a:srgbClr val="1F2D3D"/>
                </a:solidFill>
                <a:latin typeface="Yu Gothic"/>
              </a:rPr>
              <a:t>受講申込／代替要員・シフト計画の確定／事業所内引き継ぎ準備</a:t>
            </a:r>
          </a:p>
        </p:txBody>
      </p:sp>
      <p:sp>
        <p:nvSpPr>
          <p:cNvPr id="20" name="Oval 19"/>
          <p:cNvSpPr/>
          <p:nvPr/>
        </p:nvSpPr>
        <p:spPr>
          <a:xfrm>
            <a:off x="978408" y="3922776"/>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904488"/>
            <a:ext cx="1463040" cy="365760"/>
          </a:xfrm>
          <a:prstGeom prst="rect">
            <a:avLst/>
          </a:prstGeom>
          <a:noFill/>
        </p:spPr>
        <p:txBody>
          <a:bodyPr wrap="square" lIns="0" rIns="0" tIns="0" bIns="0" anchor="t">
            <a:spAutoFit/>
          </a:bodyPr>
          <a:lstStyle/>
          <a:p>
            <a:pPr algn="l"/>
            <a:r>
              <a:rPr sz="1300" b="1">
                <a:solidFill>
                  <a:srgbClr val="0F4C81"/>
                </a:solidFill>
                <a:latin typeface="Yu Gothic"/>
              </a:rPr>
              <a:t>受講中</a:t>
            </a:r>
          </a:p>
        </p:txBody>
      </p:sp>
      <p:sp>
        <p:nvSpPr>
          <p:cNvPr id="22" name="TextBox 21"/>
          <p:cNvSpPr txBox="1"/>
          <p:nvPr/>
        </p:nvSpPr>
        <p:spPr>
          <a:xfrm>
            <a:off x="2926080" y="3904488"/>
            <a:ext cx="8321040" cy="621792"/>
          </a:xfrm>
          <a:prstGeom prst="rect">
            <a:avLst/>
          </a:prstGeom>
          <a:noFill/>
        </p:spPr>
        <p:txBody>
          <a:bodyPr wrap="square" lIns="0" rIns="0" tIns="0" bIns="0" anchor="t">
            <a:spAutoFit/>
          </a:bodyPr>
          <a:lstStyle/>
          <a:p>
            <a:pPr algn="l"/>
            <a:r>
              <a:rPr sz="1200" b="0">
                <a:solidFill>
                  <a:srgbClr val="1F2D3D"/>
                </a:solidFill>
                <a:latin typeface="Yu Gothic"/>
              </a:rPr>
              <a:t>業務カバー体制の実施／学習時間の確保</a:t>
            </a:r>
          </a:p>
        </p:txBody>
      </p:sp>
      <p:sp>
        <p:nvSpPr>
          <p:cNvPr id="23" name="Oval 22"/>
          <p:cNvSpPr/>
          <p:nvPr/>
        </p:nvSpPr>
        <p:spPr>
          <a:xfrm>
            <a:off x="978408" y="4544568"/>
            <a:ext cx="292608" cy="292608"/>
          </a:xfrm>
          <a:prstGeom prst="ellipse">
            <a:avLst/>
          </a:prstGeom>
          <a:solidFill>
            <a:srgbClr val="F5A623"/>
          </a:solidFill>
          <a:ln w="25400">
            <a:solidFill>
              <a:srgbClr val="2D6F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17320" y="4526280"/>
            <a:ext cx="1463040" cy="365760"/>
          </a:xfrm>
          <a:prstGeom prst="rect">
            <a:avLst/>
          </a:prstGeom>
          <a:noFill/>
        </p:spPr>
        <p:txBody>
          <a:bodyPr wrap="square" lIns="0" rIns="0" tIns="0" bIns="0" anchor="t">
            <a:spAutoFit/>
          </a:bodyPr>
          <a:lstStyle/>
          <a:p>
            <a:pPr algn="l"/>
            <a:r>
              <a:rPr sz="1300" b="1">
                <a:solidFill>
                  <a:srgbClr val="0F4C81"/>
                </a:solidFill>
                <a:latin typeface="Yu Gothic"/>
              </a:rPr>
              <a:t>修了後</a:t>
            </a:r>
          </a:p>
        </p:txBody>
      </p:sp>
      <p:sp>
        <p:nvSpPr>
          <p:cNvPr id="25" name="TextBox 24"/>
          <p:cNvSpPr txBox="1"/>
          <p:nvPr/>
        </p:nvSpPr>
        <p:spPr>
          <a:xfrm>
            <a:off x="2926080" y="4526280"/>
            <a:ext cx="8321040" cy="621792"/>
          </a:xfrm>
          <a:prstGeom prst="rect">
            <a:avLst/>
          </a:prstGeom>
          <a:noFill/>
        </p:spPr>
        <p:txBody>
          <a:bodyPr wrap="square" lIns="0" rIns="0" tIns="0" bIns="0" anchor="t">
            <a:spAutoFit/>
          </a:bodyPr>
          <a:lstStyle/>
          <a:p>
            <a:pPr algn="l"/>
            <a:r>
              <a:rPr sz="1200" b="0">
                <a:solidFill>
                  <a:srgbClr val="1F2D3D"/>
                </a:solidFill>
                <a:latin typeface="Yu Gothic"/>
              </a:rPr>
              <a:t>事業所内へのフィードバック／次の5年への引き継ぎ</a:t>
            </a:r>
          </a:p>
        </p:txBody>
      </p:sp>
      <p:sp>
        <p:nvSpPr>
          <p:cNvPr id="26" name="Rectangle 25"/>
          <p:cNvSpPr/>
          <p:nvPr/>
        </p:nvSpPr>
        <p:spPr>
          <a:xfrm>
            <a:off x="731520" y="5349240"/>
            <a:ext cx="10698480" cy="77724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349240"/>
            <a:ext cx="45720" cy="7772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486400"/>
            <a:ext cx="10332720" cy="59436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ポイント：</a:t>
            </a:r>
            <a:r>
              <a:rPr sz="1400" b="0">
                <a:solidFill>
                  <a:srgbClr val="6B4E00"/>
                </a:solidFill>
                <a:latin typeface="Yu Gothic"/>
              </a:rPr>
              <a:t>更新管理を「個人任せ」にせず、事業所の人材台帳で見える化することが第一歩。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人材台帳（更新管理シート）の例</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第3章　主任ケアマネ更新研修</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10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31520" y="1417320"/>
          <a:ext cx="10698480" cy="2377440"/>
        </p:xfrm>
        <a:graphic>
          <a:graphicData uri="http://schemas.openxmlformats.org/drawingml/2006/table">
            <a:tbl>
              <a:tblPr firstRow="1" bandRow="1">
                <a:tableStyleId>{5C22544A-7EE6-4342-B048-85BDC9FD1C3A}</a:tableStyleId>
              </a:tblPr>
              <a:tblGrid>
                <a:gridCol w="1584960"/>
                <a:gridCol w="1584960"/>
                <a:gridCol w="1584960"/>
                <a:gridCol w="2377440"/>
                <a:gridCol w="2377440"/>
                <a:gridCol w="1188720"/>
              </a:tblGrid>
              <a:tr h="475488">
                <a:tc>
                  <a:txBody>
                    <a:bodyPr wrap="square"/>
                    <a:lstStyle/>
                    <a:p>
                      <a:r>
                        <a:rPr sz="1200" b="1">
                          <a:solidFill>
                            <a:srgbClr val="FFFFFF"/>
                          </a:solidFill>
                          <a:latin typeface="Yu Gothic"/>
                        </a:rPr>
                        <a:t>氏名</a:t>
                      </a:r>
                    </a:p>
                  </a:txBody>
                  <a:tcPr>
                    <a:solidFill>
                      <a:srgbClr val="0F4C81"/>
                    </a:solidFill>
                  </a:tcPr>
                </a:tc>
                <a:tc>
                  <a:txBody>
                    <a:bodyPr wrap="square"/>
                    <a:lstStyle/>
                    <a:p>
                      <a:r>
                        <a:rPr sz="1200" b="1">
                          <a:solidFill>
                            <a:srgbClr val="FFFFFF"/>
                          </a:solidFill>
                          <a:latin typeface="Yu Gothic"/>
                        </a:rPr>
                        <a:t>資格区分</a:t>
                      </a:r>
                    </a:p>
                  </a:txBody>
                  <a:tcPr>
                    <a:solidFill>
                      <a:srgbClr val="0F4C81"/>
                    </a:solidFill>
                  </a:tcPr>
                </a:tc>
                <a:tc>
                  <a:txBody>
                    <a:bodyPr wrap="square"/>
                    <a:lstStyle/>
                    <a:p>
                      <a:r>
                        <a:rPr sz="1200" b="1">
                          <a:solidFill>
                            <a:srgbClr val="FFFFFF"/>
                          </a:solidFill>
                          <a:latin typeface="Yu Gothic"/>
                        </a:rPr>
                        <a:t>有効期限</a:t>
                      </a:r>
                    </a:p>
                  </a:txBody>
                  <a:tcPr>
                    <a:solidFill>
                      <a:srgbClr val="0F4C81"/>
                    </a:solidFill>
                  </a:tcPr>
                </a:tc>
                <a:tc>
                  <a:txBody>
                    <a:bodyPr wrap="square"/>
                    <a:lstStyle/>
                    <a:p>
                      <a:r>
                        <a:rPr sz="1200" b="1">
                          <a:solidFill>
                            <a:srgbClr val="FFFFFF"/>
                          </a:solidFill>
                          <a:latin typeface="Yu Gothic"/>
                        </a:rPr>
                        <a:t>次回研修</a:t>
                      </a:r>
                    </a:p>
                  </a:txBody>
                  <a:tcPr>
                    <a:solidFill>
                      <a:srgbClr val="0F4C81"/>
                    </a:solidFill>
                  </a:tcPr>
                </a:tc>
                <a:tc>
                  <a:txBody>
                    <a:bodyPr wrap="square"/>
                    <a:lstStyle/>
                    <a:p>
                      <a:r>
                        <a:rPr sz="1200" b="1">
                          <a:solidFill>
                            <a:srgbClr val="FFFFFF"/>
                          </a:solidFill>
                          <a:latin typeface="Yu Gothic"/>
                        </a:rPr>
                        <a:t>受講要件状況</a:t>
                      </a:r>
                    </a:p>
                  </a:txBody>
                  <a:tcPr>
                    <a:solidFill>
                      <a:srgbClr val="0F4C81"/>
                    </a:solidFill>
                  </a:tcPr>
                </a:tc>
                <a:tc>
                  <a:txBody>
                    <a:bodyPr wrap="square"/>
                    <a:lstStyle/>
                    <a:p>
                      <a:r>
                        <a:rPr sz="1200" b="1">
                          <a:solidFill>
                            <a:srgbClr val="FFFFFF"/>
                          </a:solidFill>
                          <a:latin typeface="Yu Gothic"/>
                        </a:rPr>
                        <a:t>担当</a:t>
                      </a:r>
                    </a:p>
                  </a:txBody>
                  <a:tcPr>
                    <a:solidFill>
                      <a:srgbClr val="0F4C81"/>
                    </a:solidFill>
                  </a:tcPr>
                </a:tc>
              </a:tr>
              <a:tr h="475488">
                <a:tc>
                  <a:txBody>
                    <a:bodyPr wrap="square"/>
                    <a:lstStyle/>
                    <a:p>
                      <a:r>
                        <a:rPr sz="1100" b="0">
                          <a:solidFill>
                            <a:srgbClr val="1F2D3D"/>
                          </a:solidFill>
                          <a:latin typeface="Yu Gothic"/>
                        </a:rPr>
                        <a:t>A 主任CM</a:t>
                      </a:r>
                    </a:p>
                  </a:txBody>
                  <a:tcPr>
                    <a:solidFill>
                      <a:srgbClr val="FFFFFF"/>
                    </a:solidFill>
                  </a:tcPr>
                </a:tc>
                <a:tc>
                  <a:txBody>
                    <a:bodyPr wrap="square"/>
                    <a:lstStyle/>
                    <a:p>
                      <a:r>
                        <a:rPr sz="1100" b="0">
                          <a:solidFill>
                            <a:srgbClr val="1F2D3D"/>
                          </a:solidFill>
                          <a:latin typeface="Yu Gothic"/>
                        </a:rPr>
                        <a:t>主任更新</a:t>
                      </a:r>
                    </a:p>
                  </a:txBody>
                  <a:tcPr>
                    <a:solidFill>
                      <a:srgbClr val="FFFFFF"/>
                    </a:solidFill>
                  </a:tcPr>
                </a:tc>
                <a:tc>
                  <a:txBody>
                    <a:bodyPr wrap="square"/>
                    <a:lstStyle/>
                    <a:p>
                      <a:r>
                        <a:rPr sz="1100" b="0">
                          <a:solidFill>
                            <a:srgbClr val="1F2D3D"/>
                          </a:solidFill>
                          <a:latin typeface="Yu Gothic"/>
                        </a:rPr>
                        <a:t>R8.3.31</a:t>
                      </a:r>
                    </a:p>
                  </a:txBody>
                  <a:tcPr>
                    <a:solidFill>
                      <a:srgbClr val="FFFFFF"/>
                    </a:solidFill>
                  </a:tcPr>
                </a:tc>
                <a:tc>
                  <a:txBody>
                    <a:bodyPr wrap="square"/>
                    <a:lstStyle/>
                    <a:p>
                      <a:r>
                        <a:rPr sz="1100" b="0">
                          <a:solidFill>
                            <a:srgbClr val="1F2D3D"/>
                          </a:solidFill>
                          <a:latin typeface="Yu Gothic"/>
                        </a:rPr>
                        <a:t>R7年度 主任更新研修</a:t>
                      </a:r>
                    </a:p>
                  </a:txBody>
                  <a:tcPr>
                    <a:solidFill>
                      <a:srgbClr val="FFFFFF"/>
                    </a:solidFill>
                  </a:tcPr>
                </a:tc>
                <a:tc>
                  <a:txBody>
                    <a:bodyPr wrap="square"/>
                    <a:lstStyle/>
                    <a:p>
                      <a:r>
                        <a:rPr sz="1100" b="0">
                          <a:solidFill>
                            <a:srgbClr val="1F2D3D"/>
                          </a:solidFill>
                          <a:latin typeface="Yu Gothic"/>
                        </a:rPr>
                        <a:t>○ 指導実績充足</a:t>
                      </a:r>
                    </a:p>
                  </a:txBody>
                  <a:tcPr>
                    <a:solidFill>
                      <a:srgbClr val="FFFFFF"/>
                    </a:solidFill>
                  </a:tcPr>
                </a:tc>
                <a:tc>
                  <a:txBody>
                    <a:bodyPr wrap="square"/>
                    <a:lstStyle/>
                    <a:p>
                      <a:r>
                        <a:rPr sz="1100" b="0">
                          <a:solidFill>
                            <a:srgbClr val="1F2D3D"/>
                          </a:solidFill>
                          <a:latin typeface="Yu Gothic"/>
                        </a:rPr>
                        <a:t>管理者</a:t>
                      </a:r>
                    </a:p>
                  </a:txBody>
                  <a:tcPr>
                    <a:solidFill>
                      <a:srgbClr val="FFFFFF"/>
                    </a:solidFill>
                  </a:tcPr>
                </a:tc>
              </a:tr>
              <a:tr h="475488">
                <a:tc>
                  <a:txBody>
                    <a:bodyPr wrap="square"/>
                    <a:lstStyle/>
                    <a:p>
                      <a:r>
                        <a:rPr sz="1100" b="0">
                          <a:solidFill>
                            <a:srgbClr val="1F2D3D"/>
                          </a:solidFill>
                          <a:latin typeface="Yu Gothic"/>
                        </a:rPr>
                        <a:t>B CM</a:t>
                      </a:r>
                    </a:p>
                  </a:txBody>
                  <a:tcPr>
                    <a:solidFill>
                      <a:srgbClr val="F9FBFD"/>
                    </a:solidFill>
                  </a:tcPr>
                </a:tc>
                <a:tc>
                  <a:txBody>
                    <a:bodyPr wrap="square"/>
                    <a:lstStyle/>
                    <a:p>
                      <a:r>
                        <a:rPr sz="1100" b="0">
                          <a:solidFill>
                            <a:srgbClr val="1F2D3D"/>
                          </a:solidFill>
                          <a:latin typeface="Yu Gothic"/>
                        </a:rPr>
                        <a:t>専門II</a:t>
                      </a:r>
                    </a:p>
                  </a:txBody>
                  <a:tcPr>
                    <a:solidFill>
                      <a:srgbClr val="F9FBFD"/>
                    </a:solidFill>
                  </a:tcPr>
                </a:tc>
                <a:tc>
                  <a:txBody>
                    <a:bodyPr wrap="square"/>
                    <a:lstStyle/>
                    <a:p>
                      <a:r>
                        <a:rPr sz="1100" b="0">
                          <a:solidFill>
                            <a:srgbClr val="1F2D3D"/>
                          </a:solidFill>
                          <a:latin typeface="Yu Gothic"/>
                        </a:rPr>
                        <a:t>R9.3.31</a:t>
                      </a:r>
                    </a:p>
                  </a:txBody>
                  <a:tcPr>
                    <a:solidFill>
                      <a:srgbClr val="F9FBFD"/>
                    </a:solidFill>
                  </a:tcPr>
                </a:tc>
                <a:tc>
                  <a:txBody>
                    <a:bodyPr wrap="square"/>
                    <a:lstStyle/>
                    <a:p>
                      <a:r>
                        <a:rPr sz="1100" b="0">
                          <a:solidFill>
                            <a:srgbClr val="1F2D3D"/>
                          </a:solidFill>
                          <a:latin typeface="Yu Gothic"/>
                        </a:rPr>
                        <a:t>R8年度 専門研修II</a:t>
                      </a:r>
                    </a:p>
                  </a:txBody>
                  <a:tcPr>
                    <a:solidFill>
                      <a:srgbClr val="F9FBFD"/>
                    </a:solidFill>
                  </a:tcPr>
                </a:tc>
                <a:tc>
                  <a:txBody>
                    <a:bodyPr wrap="square"/>
                    <a:lstStyle/>
                    <a:p>
                      <a:r>
                        <a:rPr sz="1100" b="0">
                          <a:solidFill>
                            <a:srgbClr val="1F2D3D"/>
                          </a:solidFill>
                          <a:latin typeface="Yu Gothic"/>
                        </a:rPr>
                        <a:t>―</a:t>
                      </a:r>
                    </a:p>
                  </a:txBody>
                  <a:tcPr>
                    <a:solidFill>
                      <a:srgbClr val="F9FBFD"/>
                    </a:solidFill>
                  </a:tcPr>
                </a:tc>
                <a:tc>
                  <a:txBody>
                    <a:bodyPr wrap="square"/>
                    <a:lstStyle/>
                    <a:p>
                      <a:r>
                        <a:rPr sz="1100" b="0">
                          <a:solidFill>
                            <a:srgbClr val="1F2D3D"/>
                          </a:solidFill>
                          <a:latin typeface="Yu Gothic"/>
                        </a:rPr>
                        <a:t>主任A</a:t>
                      </a:r>
                    </a:p>
                  </a:txBody>
                  <a:tcPr>
                    <a:solidFill>
                      <a:srgbClr val="F9FBFD"/>
                    </a:solidFill>
                  </a:tcPr>
                </a:tc>
              </a:tr>
              <a:tr h="475488">
                <a:tc>
                  <a:txBody>
                    <a:bodyPr wrap="square"/>
                    <a:lstStyle/>
                    <a:p>
                      <a:r>
                        <a:rPr sz="1100" b="0">
                          <a:solidFill>
                            <a:srgbClr val="1F2D3D"/>
                          </a:solidFill>
                          <a:latin typeface="Yu Gothic"/>
                        </a:rPr>
                        <a:t>C CM</a:t>
                      </a:r>
                    </a:p>
                  </a:txBody>
                  <a:tcPr>
                    <a:solidFill>
                      <a:srgbClr val="FFFFFF"/>
                    </a:solidFill>
                  </a:tcPr>
                </a:tc>
                <a:tc>
                  <a:txBody>
                    <a:bodyPr wrap="square"/>
                    <a:lstStyle/>
                    <a:p>
                      <a:r>
                        <a:rPr sz="1100" b="0">
                          <a:solidFill>
                            <a:srgbClr val="1F2D3D"/>
                          </a:solidFill>
                          <a:latin typeface="Yu Gothic"/>
                        </a:rPr>
                        <a:t>専門I</a:t>
                      </a:r>
                    </a:p>
                  </a:txBody>
                  <a:tcPr>
                    <a:solidFill>
                      <a:srgbClr val="FFFFFF"/>
                    </a:solidFill>
                  </a:tcPr>
                </a:tc>
                <a:tc>
                  <a:txBody>
                    <a:bodyPr wrap="square"/>
                    <a:lstStyle/>
                    <a:p>
                      <a:r>
                        <a:rPr sz="1100" b="0">
                          <a:solidFill>
                            <a:srgbClr val="1F2D3D"/>
                          </a:solidFill>
                          <a:latin typeface="Yu Gothic"/>
                        </a:rPr>
                        <a:t>R10.3.31</a:t>
                      </a:r>
                    </a:p>
                  </a:txBody>
                  <a:tcPr>
                    <a:solidFill>
                      <a:srgbClr val="FFFFFF"/>
                    </a:solidFill>
                  </a:tcPr>
                </a:tc>
                <a:tc>
                  <a:txBody>
                    <a:bodyPr wrap="square"/>
                    <a:lstStyle/>
                    <a:p>
                      <a:r>
                        <a:rPr sz="1100" b="0">
                          <a:solidFill>
                            <a:srgbClr val="1F2D3D"/>
                          </a:solidFill>
                          <a:latin typeface="Yu Gothic"/>
                        </a:rPr>
                        <a:t>R7年度 専門研修I</a:t>
                      </a:r>
                    </a:p>
                  </a:txBody>
                  <a:tcPr>
                    <a:solidFill>
                      <a:srgbClr val="FFFFFF"/>
                    </a:solidFill>
                  </a:tcPr>
                </a:tc>
                <a:tc>
                  <a:txBody>
                    <a:bodyPr wrap="square"/>
                    <a:lstStyle/>
                    <a:p>
                      <a:r>
                        <a:rPr sz="1100" b="0">
                          <a:solidFill>
                            <a:srgbClr val="1F2D3D"/>
                          </a:solidFill>
                          <a:latin typeface="Yu Gothic"/>
                        </a:rPr>
                        <a:t>―</a:t>
                      </a:r>
                    </a:p>
                  </a:txBody>
                  <a:tcPr>
                    <a:solidFill>
                      <a:srgbClr val="FFFFFF"/>
                    </a:solidFill>
                  </a:tcPr>
                </a:tc>
                <a:tc>
                  <a:txBody>
                    <a:bodyPr wrap="square"/>
                    <a:lstStyle/>
                    <a:p>
                      <a:r>
                        <a:rPr sz="1100" b="0">
                          <a:solidFill>
                            <a:srgbClr val="1F2D3D"/>
                          </a:solidFill>
                          <a:latin typeface="Yu Gothic"/>
                        </a:rPr>
                        <a:t>主任A</a:t>
                      </a:r>
                    </a:p>
                  </a:txBody>
                  <a:tcPr>
                    <a:solidFill>
                      <a:srgbClr val="FFFFFF"/>
                    </a:solidFill>
                  </a:tcPr>
                </a:tc>
              </a:tr>
              <a:tr h="475488">
                <a:tc>
                  <a:txBody>
                    <a:bodyPr wrap="square"/>
                    <a:lstStyle/>
                    <a:p>
                      <a:r>
                        <a:rPr sz="1100" b="0">
                          <a:solidFill>
                            <a:srgbClr val="1F2D3D"/>
                          </a:solidFill>
                          <a:latin typeface="Yu Gothic"/>
                        </a:rPr>
                        <a:t>D 新人CM</a:t>
                      </a:r>
                    </a:p>
                  </a:txBody>
                  <a:tcPr>
                    <a:solidFill>
                      <a:srgbClr val="F9FBFD"/>
                    </a:solidFill>
                  </a:tcPr>
                </a:tc>
                <a:tc>
                  <a:txBody>
                    <a:bodyPr wrap="square"/>
                    <a:lstStyle/>
                    <a:p>
                      <a:r>
                        <a:rPr sz="1100" b="0">
                          <a:solidFill>
                            <a:srgbClr val="1F2D3D"/>
                          </a:solidFill>
                          <a:latin typeface="Yu Gothic"/>
                        </a:rPr>
                        <a:t>実務研修修了</a:t>
                      </a:r>
                    </a:p>
                  </a:txBody>
                  <a:tcPr>
                    <a:solidFill>
                      <a:srgbClr val="F9FBFD"/>
                    </a:solidFill>
                  </a:tcPr>
                </a:tc>
                <a:tc>
                  <a:txBody>
                    <a:bodyPr wrap="square"/>
                    <a:lstStyle/>
                    <a:p>
                      <a:r>
                        <a:rPr sz="1100" b="0">
                          <a:solidFill>
                            <a:srgbClr val="1F2D3D"/>
                          </a:solidFill>
                          <a:latin typeface="Yu Gothic"/>
                        </a:rPr>
                        <a:t>R11.3.31</a:t>
                      </a:r>
                    </a:p>
                  </a:txBody>
                  <a:tcPr>
                    <a:solidFill>
                      <a:srgbClr val="F9FBFD"/>
                    </a:solidFill>
                  </a:tcPr>
                </a:tc>
                <a:tc>
                  <a:txBody>
                    <a:bodyPr wrap="square"/>
                    <a:lstStyle/>
                    <a:p>
                      <a:r>
                        <a:rPr sz="1100" b="0">
                          <a:solidFill>
                            <a:srgbClr val="1F2D3D"/>
                          </a:solidFill>
                          <a:latin typeface="Yu Gothic"/>
                        </a:rPr>
                        <a:t>R8年度 専門研修I</a:t>
                      </a:r>
                    </a:p>
                  </a:txBody>
                  <a:tcPr>
                    <a:solidFill>
                      <a:srgbClr val="F9FBFD"/>
                    </a:solidFill>
                  </a:tcPr>
                </a:tc>
                <a:tc>
                  <a:txBody>
                    <a:bodyPr wrap="square"/>
                    <a:lstStyle/>
                    <a:p>
                      <a:r>
                        <a:rPr sz="1100" b="0">
                          <a:solidFill>
                            <a:srgbClr val="1F2D3D"/>
                          </a:solidFill>
                          <a:latin typeface="Yu Gothic"/>
                        </a:rPr>
                        <a:t>OJT継続中</a:t>
                      </a:r>
                    </a:p>
                  </a:txBody>
                  <a:tcPr>
                    <a:solidFill>
                      <a:srgbClr val="F9FBFD"/>
                    </a:solidFill>
                  </a:tcPr>
                </a:tc>
                <a:tc>
                  <a:txBody>
                    <a:bodyPr wrap="square"/>
                    <a:lstStyle/>
                    <a:p>
                      <a:r>
                        <a:rPr sz="1100" b="0">
                          <a:solidFill>
                            <a:srgbClr val="1F2D3D"/>
                          </a:solidFill>
                          <a:latin typeface="Yu Gothic"/>
                        </a:rPr>
                        <a:t>主任A</a:t>
                      </a:r>
                    </a:p>
                  </a:txBody>
                  <a:tcPr>
                    <a:solidFill>
                      <a:srgbClr val="F9FBFD"/>
                    </a:solidFill>
                  </a:tcPr>
                </a:tc>
              </a:tr>
            </a:tbl>
          </a:graphicData>
        </a:graphic>
      </p:graphicFrame>
      <p:sp>
        <p:nvSpPr>
          <p:cNvPr id="10" name="TextBox 9"/>
          <p:cNvSpPr txBox="1"/>
          <p:nvPr/>
        </p:nvSpPr>
        <p:spPr>
          <a:xfrm>
            <a:off x="731520" y="3977639"/>
            <a:ext cx="10698480" cy="365760"/>
          </a:xfrm>
          <a:prstGeom prst="rect">
            <a:avLst/>
          </a:prstGeom>
          <a:noFill/>
        </p:spPr>
        <p:txBody>
          <a:bodyPr wrap="square" lIns="0" rIns="0" tIns="0" bIns="0" anchor="t">
            <a:spAutoFit/>
          </a:bodyPr>
          <a:lstStyle/>
          <a:p>
            <a:pPr algn="l"/>
            <a:r>
              <a:rPr sz="1600" b="1">
                <a:solidFill>
                  <a:srgbClr val="2D6FB3"/>
                </a:solidFill>
                <a:latin typeface="Yu Gothic"/>
              </a:rPr>
              <a:t>運用のポイント</a:t>
            </a:r>
          </a:p>
        </p:txBody>
      </p:sp>
      <p:sp>
        <p:nvSpPr>
          <p:cNvPr id="11" name="TextBox 10"/>
          <p:cNvSpPr txBox="1"/>
          <p:nvPr/>
        </p:nvSpPr>
        <p:spPr>
          <a:xfrm>
            <a:off x="822960" y="4434840"/>
            <a:ext cx="10515600" cy="1828800"/>
          </a:xfrm>
          <a:prstGeom prst="rect">
            <a:avLst/>
          </a:prstGeom>
          <a:noFill/>
        </p:spPr>
        <p:txBody>
          <a:bodyPr wrap="square" lIns="0" rIns="0" tIns="0" bIns="0" anchor="t">
            <a:spAutoFit/>
          </a:bodyPr>
          <a:lstStyle/>
          <a:p>
            <a:pPr algn="l">
              <a:lnSpc>
                <a:spcPct val="150000"/>
              </a:lnSpc>
            </a:pPr>
            <a:r>
              <a:rPr sz="1200" b="1">
                <a:solidFill>
                  <a:srgbClr val="F5A623"/>
                </a:solidFill>
                <a:latin typeface="Yu Gothic"/>
              </a:rPr>
              <a:t>■  </a:t>
            </a:r>
            <a:r>
              <a:rPr sz="1400" b="0">
                <a:solidFill>
                  <a:srgbClr val="1F2D3D"/>
                </a:solidFill>
                <a:latin typeface="Yu Gothic"/>
              </a:rPr>
              <a:t>年度初め（4月）に全員分を更新し、管理者・主任で共有</a:t>
            </a:r>
          </a:p>
          <a:p>
            <a:pPr algn="l">
              <a:lnSpc>
                <a:spcPct val="150000"/>
              </a:lnSpc>
            </a:pPr>
            <a:r>
              <a:rPr sz="1200" b="1">
                <a:solidFill>
                  <a:srgbClr val="F5A623"/>
                </a:solidFill>
                <a:latin typeface="Yu Gothic"/>
              </a:rPr>
              <a:t>■  </a:t>
            </a:r>
            <a:r>
              <a:rPr sz="1400" b="0">
                <a:solidFill>
                  <a:srgbClr val="1F2D3D"/>
                </a:solidFill>
                <a:latin typeface="Yu Gothic"/>
              </a:rPr>
              <a:t>受講申込時期の3ヶ月前にアラート（カレンダー登録）</a:t>
            </a:r>
          </a:p>
          <a:p>
            <a:pPr algn="l">
              <a:lnSpc>
                <a:spcPct val="150000"/>
              </a:lnSpc>
            </a:pPr>
            <a:r>
              <a:rPr sz="1200" b="1">
                <a:solidFill>
                  <a:srgbClr val="F5A623"/>
                </a:solidFill>
                <a:latin typeface="Yu Gothic"/>
              </a:rPr>
              <a:t>■  </a:t>
            </a:r>
            <a:r>
              <a:rPr sz="1400" b="0">
                <a:solidFill>
                  <a:srgbClr val="1F2D3D"/>
                </a:solidFill>
                <a:latin typeface="Yu Gothic"/>
              </a:rPr>
              <a:t>「受講要件」欄は主任更新で必要な指導実績等を具体的に記載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第4章　事業所内での計画的人材育成</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11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17320"/>
            <a:ext cx="10698480" cy="109728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17320"/>
            <a:ext cx="45720" cy="10972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10332720" cy="91440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基本認識：</a:t>
            </a:r>
            <a:r>
              <a:rPr sz="1400" b="0">
                <a:solidFill>
                  <a:srgbClr val="6B4E00"/>
                </a:solidFill>
                <a:latin typeface="Yu Gothic"/>
              </a:rPr>
              <a:t>法定研修は「最低限の共通基盤」に過ぎない。事業所内のOJT・キャリアパス・組織文化がそろって、はじめて研修効果は実務に定着する。</a:t>
            </a:r>
          </a:p>
        </p:txBody>
      </p:sp>
      <p:sp>
        <p:nvSpPr>
          <p:cNvPr id="12" name="TextBox 11"/>
          <p:cNvSpPr txBox="1"/>
          <p:nvPr/>
        </p:nvSpPr>
        <p:spPr>
          <a:xfrm>
            <a:off x="731520" y="2743200"/>
            <a:ext cx="10698480" cy="365760"/>
          </a:xfrm>
          <a:prstGeom prst="rect">
            <a:avLst/>
          </a:prstGeom>
          <a:noFill/>
        </p:spPr>
        <p:txBody>
          <a:bodyPr wrap="square" lIns="0" rIns="0" tIns="0" bIns="0" anchor="t">
            <a:spAutoFit/>
          </a:bodyPr>
          <a:lstStyle/>
          <a:p>
            <a:pPr algn="l"/>
            <a:r>
              <a:rPr sz="1600" b="1">
                <a:solidFill>
                  <a:srgbClr val="2D6FB3"/>
                </a:solidFill>
                <a:latin typeface="Yu Gothic"/>
              </a:rPr>
              <a:t>人材育成戦略の3本柱</a:t>
            </a:r>
          </a:p>
        </p:txBody>
      </p:sp>
      <p:sp>
        <p:nvSpPr>
          <p:cNvPr id="13" name="Rectangle 12"/>
          <p:cNvSpPr/>
          <p:nvPr/>
        </p:nvSpPr>
        <p:spPr>
          <a:xfrm>
            <a:off x="731520" y="3246120"/>
            <a:ext cx="3520440" cy="25603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246120"/>
            <a:ext cx="35204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2900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38144"/>
            <a:ext cx="411480" cy="411480"/>
          </a:xfrm>
          <a:prstGeom prst="rect">
            <a:avLst/>
          </a:prstGeom>
          <a:noFill/>
        </p:spPr>
        <p:txBody>
          <a:bodyPr wrap="square" lIns="0" rIns="0" tIns="0" bIns="0" anchor="ctr">
            <a:spAutoFit/>
          </a:bodyPr>
          <a:lstStyle/>
          <a:p>
            <a:pPr algn="ctr"/>
            <a:r>
              <a:rPr sz="1400" b="1">
                <a:solidFill>
                  <a:srgbClr val="FFFFFF"/>
                </a:solidFill>
                <a:latin typeface="Yu Gothic"/>
              </a:rPr>
              <a:t>1</a:t>
            </a:r>
          </a:p>
        </p:txBody>
      </p:sp>
      <p:sp>
        <p:nvSpPr>
          <p:cNvPr id="17" name="TextBox 16"/>
          <p:cNvSpPr txBox="1"/>
          <p:nvPr/>
        </p:nvSpPr>
        <p:spPr>
          <a:xfrm>
            <a:off x="914400" y="3931920"/>
            <a:ext cx="3246120" cy="365760"/>
          </a:xfrm>
          <a:prstGeom prst="rect">
            <a:avLst/>
          </a:prstGeom>
          <a:noFill/>
        </p:spPr>
        <p:txBody>
          <a:bodyPr wrap="square" lIns="0" rIns="0" tIns="0" bIns="0" anchor="t">
            <a:spAutoFit/>
          </a:bodyPr>
          <a:lstStyle/>
          <a:p>
            <a:pPr algn="l"/>
            <a:r>
              <a:rPr sz="1300" b="1">
                <a:solidFill>
                  <a:srgbClr val="0F4C81"/>
                </a:solidFill>
                <a:latin typeface="Yu Gothic"/>
              </a:rPr>
              <a:t>キャリアパス設計</a:t>
            </a:r>
          </a:p>
        </p:txBody>
      </p:sp>
      <p:sp>
        <p:nvSpPr>
          <p:cNvPr id="18" name="TextBox 17"/>
          <p:cNvSpPr txBox="1"/>
          <p:nvPr/>
        </p:nvSpPr>
        <p:spPr>
          <a:xfrm>
            <a:off x="914400" y="4297680"/>
            <a:ext cx="3246120" cy="1463040"/>
          </a:xfrm>
          <a:prstGeom prst="rect">
            <a:avLst/>
          </a:prstGeom>
          <a:noFill/>
        </p:spPr>
        <p:txBody>
          <a:bodyPr wrap="square" lIns="0" rIns="0" tIns="0" bIns="0" anchor="t">
            <a:spAutoFit/>
          </a:bodyPr>
          <a:lstStyle/>
          <a:p>
            <a:pPr algn="l"/>
            <a:r>
              <a:rPr sz="1100" b="0">
                <a:solidFill>
                  <a:srgbClr val="5A6B80"/>
                </a:solidFill>
                <a:latin typeface="Yu Gothic"/>
              </a:rPr>
              <a:t>新人→中堅→主任→指導者まで、段階ごとの役割と目標を明確化。</a:t>
            </a:r>
          </a:p>
        </p:txBody>
      </p:sp>
      <p:sp>
        <p:nvSpPr>
          <p:cNvPr id="19" name="Rectangle 18"/>
          <p:cNvSpPr/>
          <p:nvPr/>
        </p:nvSpPr>
        <p:spPr>
          <a:xfrm>
            <a:off x="4343400" y="3246120"/>
            <a:ext cx="3520440" cy="25603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43400" y="3246120"/>
            <a:ext cx="35204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26280" y="342900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3438144"/>
            <a:ext cx="411480" cy="411480"/>
          </a:xfrm>
          <a:prstGeom prst="rect">
            <a:avLst/>
          </a:prstGeom>
          <a:noFill/>
        </p:spPr>
        <p:txBody>
          <a:bodyPr wrap="square" lIns="0" rIns="0" tIns="0" bIns="0" anchor="ctr">
            <a:spAutoFit/>
          </a:bodyPr>
          <a:lstStyle/>
          <a:p>
            <a:pPr algn="ctr"/>
            <a:r>
              <a:rPr sz="1400" b="1">
                <a:solidFill>
                  <a:srgbClr val="FFFFFF"/>
                </a:solidFill>
                <a:latin typeface="Yu Gothic"/>
              </a:rPr>
              <a:t>2</a:t>
            </a:r>
          </a:p>
        </p:txBody>
      </p:sp>
      <p:sp>
        <p:nvSpPr>
          <p:cNvPr id="23" name="TextBox 22"/>
          <p:cNvSpPr txBox="1"/>
          <p:nvPr/>
        </p:nvSpPr>
        <p:spPr>
          <a:xfrm>
            <a:off x="4526280" y="3931920"/>
            <a:ext cx="3246120" cy="365760"/>
          </a:xfrm>
          <a:prstGeom prst="rect">
            <a:avLst/>
          </a:prstGeom>
          <a:noFill/>
        </p:spPr>
        <p:txBody>
          <a:bodyPr wrap="square" lIns="0" rIns="0" tIns="0" bIns="0" anchor="t">
            <a:spAutoFit/>
          </a:bodyPr>
          <a:lstStyle/>
          <a:p>
            <a:pPr algn="l"/>
            <a:r>
              <a:rPr sz="1300" b="1">
                <a:solidFill>
                  <a:srgbClr val="0F4C81"/>
                </a:solidFill>
                <a:latin typeface="Yu Gothic"/>
              </a:rPr>
              <a:t>計画的な研修受講</a:t>
            </a:r>
          </a:p>
        </p:txBody>
      </p:sp>
      <p:sp>
        <p:nvSpPr>
          <p:cNvPr id="24" name="TextBox 23"/>
          <p:cNvSpPr txBox="1"/>
          <p:nvPr/>
        </p:nvSpPr>
        <p:spPr>
          <a:xfrm>
            <a:off x="4526280" y="4297680"/>
            <a:ext cx="3246120" cy="1463040"/>
          </a:xfrm>
          <a:prstGeom prst="rect">
            <a:avLst/>
          </a:prstGeom>
          <a:noFill/>
        </p:spPr>
        <p:txBody>
          <a:bodyPr wrap="square" lIns="0" rIns="0" tIns="0" bIns="0" anchor="t">
            <a:spAutoFit/>
          </a:bodyPr>
          <a:lstStyle/>
          <a:p>
            <a:pPr algn="l"/>
            <a:r>
              <a:rPr sz="1100" b="0">
                <a:solidFill>
                  <a:srgbClr val="5A6B80"/>
                </a:solidFill>
                <a:latin typeface="Yu Gothic"/>
              </a:rPr>
              <a:t>法定研修＋事業所内研修＋外部研修を年間計画に組み込む。</a:t>
            </a:r>
          </a:p>
        </p:txBody>
      </p:sp>
      <p:sp>
        <p:nvSpPr>
          <p:cNvPr id="25" name="Rectangle 24"/>
          <p:cNvSpPr/>
          <p:nvPr/>
        </p:nvSpPr>
        <p:spPr>
          <a:xfrm>
            <a:off x="7955279" y="3246120"/>
            <a:ext cx="3520440" cy="256032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55279" y="3246120"/>
            <a:ext cx="35204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138159" y="342900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59" y="3438144"/>
            <a:ext cx="411480" cy="411480"/>
          </a:xfrm>
          <a:prstGeom prst="rect">
            <a:avLst/>
          </a:prstGeom>
          <a:noFill/>
        </p:spPr>
        <p:txBody>
          <a:bodyPr wrap="square" lIns="0" rIns="0" tIns="0" bIns="0" anchor="ctr">
            <a:spAutoFit/>
          </a:bodyPr>
          <a:lstStyle/>
          <a:p>
            <a:pPr algn="ctr"/>
            <a:r>
              <a:rPr sz="1400" b="1">
                <a:solidFill>
                  <a:srgbClr val="FFFFFF"/>
                </a:solidFill>
                <a:latin typeface="Yu Gothic"/>
              </a:rPr>
              <a:t>3</a:t>
            </a:r>
          </a:p>
        </p:txBody>
      </p:sp>
      <p:sp>
        <p:nvSpPr>
          <p:cNvPr id="29" name="TextBox 28"/>
          <p:cNvSpPr txBox="1"/>
          <p:nvPr/>
        </p:nvSpPr>
        <p:spPr>
          <a:xfrm>
            <a:off x="8138159" y="3931920"/>
            <a:ext cx="3246120" cy="365760"/>
          </a:xfrm>
          <a:prstGeom prst="rect">
            <a:avLst/>
          </a:prstGeom>
          <a:noFill/>
        </p:spPr>
        <p:txBody>
          <a:bodyPr wrap="square" lIns="0" rIns="0" tIns="0" bIns="0" anchor="t">
            <a:spAutoFit/>
          </a:bodyPr>
          <a:lstStyle/>
          <a:p>
            <a:pPr algn="l"/>
            <a:r>
              <a:rPr sz="1300" b="1">
                <a:solidFill>
                  <a:srgbClr val="0F4C81"/>
                </a:solidFill>
                <a:latin typeface="Yu Gothic"/>
              </a:rPr>
              <a:t>OJTとフォロー</a:t>
            </a:r>
          </a:p>
        </p:txBody>
      </p:sp>
      <p:sp>
        <p:nvSpPr>
          <p:cNvPr id="30" name="TextBox 29"/>
          <p:cNvSpPr txBox="1"/>
          <p:nvPr/>
        </p:nvSpPr>
        <p:spPr>
          <a:xfrm>
            <a:off x="8138159" y="4297680"/>
            <a:ext cx="3246120" cy="1463040"/>
          </a:xfrm>
          <a:prstGeom prst="rect">
            <a:avLst/>
          </a:prstGeom>
          <a:noFill/>
        </p:spPr>
        <p:txBody>
          <a:bodyPr wrap="square" lIns="0" rIns="0" tIns="0" bIns="0" anchor="t">
            <a:spAutoFit/>
          </a:bodyPr>
          <a:lstStyle/>
          <a:p>
            <a:pPr algn="l"/>
            <a:r>
              <a:rPr sz="1100" b="0">
                <a:solidFill>
                  <a:srgbClr val="5A6B80"/>
                </a:solidFill>
                <a:latin typeface="Yu Gothic"/>
              </a:rPr>
              <a:t>同行訪問・ケアプラン点検・面談で日常業務に学びを統合。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キャリアパスの設計例（事業所モデルの一例）</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12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25880"/>
            <a:ext cx="10698480" cy="320040"/>
          </a:xfrm>
          <a:prstGeom prst="rect">
            <a:avLst/>
          </a:prstGeom>
          <a:noFill/>
        </p:spPr>
        <p:txBody>
          <a:bodyPr wrap="square" lIns="0" rIns="0" tIns="0" bIns="0" anchor="t">
            <a:spAutoFit/>
          </a:bodyPr>
          <a:lstStyle/>
          <a:p>
            <a:pPr algn="l"/>
            <a:r>
              <a:rPr sz="1100" b="0">
                <a:solidFill>
                  <a:srgbClr val="5A6B80"/>
                </a:solidFill>
                <a:latin typeface="Yu Gothic"/>
              </a:rPr>
              <a:t>※下記の経験年数・段階区分は事業所内モデルの例であり、法令上の基準ではありません。</a:t>
            </a:r>
          </a:p>
        </p:txBody>
      </p:sp>
      <p:graphicFrame>
        <p:nvGraphicFramePr>
          <p:cNvPr id="10" name="Table 9"/>
          <p:cNvGraphicFramePr>
            <a:graphicFrameLocks noGrp="1"/>
          </p:cNvGraphicFramePr>
          <p:nvPr/>
        </p:nvGraphicFramePr>
        <p:xfrm>
          <a:off x="731520" y="1691640"/>
          <a:ext cx="10698478" cy="2560320"/>
        </p:xfrm>
        <a:graphic>
          <a:graphicData uri="http://schemas.openxmlformats.org/drawingml/2006/table">
            <a:tbl>
              <a:tblPr firstRow="1" bandRow="1">
                <a:tableStyleId>{5C22544A-7EE6-4342-B048-85BDC9FD1C3A}</a:tableStyleId>
              </a:tblPr>
              <a:tblGrid>
                <a:gridCol w="1458883"/>
                <a:gridCol w="1458883"/>
                <a:gridCol w="3890356"/>
                <a:gridCol w="3890356"/>
              </a:tblGrid>
              <a:tr h="426720">
                <a:tc>
                  <a:txBody>
                    <a:bodyPr wrap="square"/>
                    <a:lstStyle/>
                    <a:p>
                      <a:r>
                        <a:rPr sz="1200" b="1">
                          <a:solidFill>
                            <a:srgbClr val="FFFFFF"/>
                          </a:solidFill>
                          <a:latin typeface="Yu Gothic"/>
                        </a:rPr>
                        <a:t>段階</a:t>
                      </a:r>
                    </a:p>
                  </a:txBody>
                  <a:tcPr>
                    <a:solidFill>
                      <a:srgbClr val="0F4C81"/>
                    </a:solidFill>
                  </a:tcPr>
                </a:tc>
                <a:tc>
                  <a:txBody>
                    <a:bodyPr wrap="square"/>
                    <a:lstStyle/>
                    <a:p>
                      <a:r>
                        <a:rPr sz="1200" b="1">
                          <a:solidFill>
                            <a:srgbClr val="FFFFFF"/>
                          </a:solidFill>
                          <a:latin typeface="Yu Gothic"/>
                        </a:rPr>
                        <a:t>経験年数（例）</a:t>
                      </a:r>
                    </a:p>
                  </a:txBody>
                  <a:tcPr>
                    <a:solidFill>
                      <a:srgbClr val="0F4C81"/>
                    </a:solidFill>
                  </a:tcPr>
                </a:tc>
                <a:tc>
                  <a:txBody>
                    <a:bodyPr wrap="square"/>
                    <a:lstStyle/>
                    <a:p>
                      <a:r>
                        <a:rPr sz="1200" b="1">
                          <a:solidFill>
                            <a:srgbClr val="FFFFFF"/>
                          </a:solidFill>
                          <a:latin typeface="Yu Gothic"/>
                        </a:rPr>
                        <a:t>役割・期待</a:t>
                      </a:r>
                    </a:p>
                  </a:txBody>
                  <a:tcPr>
                    <a:solidFill>
                      <a:srgbClr val="0F4C81"/>
                    </a:solidFill>
                  </a:tcPr>
                </a:tc>
                <a:tc>
                  <a:txBody>
                    <a:bodyPr wrap="square"/>
                    <a:lstStyle/>
                    <a:p>
                      <a:r>
                        <a:rPr sz="1200" b="1">
                          <a:solidFill>
                            <a:srgbClr val="FFFFFF"/>
                          </a:solidFill>
                          <a:latin typeface="Yu Gothic"/>
                        </a:rPr>
                        <a:t>受講すべき研修</a:t>
                      </a:r>
                    </a:p>
                  </a:txBody>
                  <a:tcPr>
                    <a:solidFill>
                      <a:srgbClr val="0F4C81"/>
                    </a:solidFill>
                  </a:tcPr>
                </a:tc>
              </a:tr>
              <a:tr h="426720">
                <a:tc>
                  <a:txBody>
                    <a:bodyPr wrap="square"/>
                    <a:lstStyle/>
                    <a:p>
                      <a:r>
                        <a:rPr sz="1100" b="0">
                          <a:solidFill>
                            <a:srgbClr val="1F2D3D"/>
                          </a:solidFill>
                          <a:latin typeface="Yu Gothic"/>
                        </a:rPr>
                        <a:t>導入期</a:t>
                      </a:r>
                    </a:p>
                  </a:txBody>
                  <a:tcPr>
                    <a:solidFill>
                      <a:srgbClr val="FFFFFF"/>
                    </a:solidFill>
                  </a:tcPr>
                </a:tc>
                <a:tc>
                  <a:txBody>
                    <a:bodyPr wrap="square"/>
                    <a:lstStyle/>
                    <a:p>
                      <a:r>
                        <a:rPr sz="1100" b="0">
                          <a:solidFill>
                            <a:srgbClr val="1F2D3D"/>
                          </a:solidFill>
                          <a:latin typeface="Yu Gothic"/>
                        </a:rPr>
                        <a:t>0〜1年</a:t>
                      </a:r>
                    </a:p>
                  </a:txBody>
                  <a:tcPr>
                    <a:solidFill>
                      <a:srgbClr val="FFFFFF"/>
                    </a:solidFill>
                  </a:tcPr>
                </a:tc>
                <a:tc>
                  <a:txBody>
                    <a:bodyPr wrap="square"/>
                    <a:lstStyle/>
                    <a:p>
                      <a:r>
                        <a:rPr sz="1100" b="0">
                          <a:solidFill>
                            <a:srgbClr val="1F2D3D"/>
                          </a:solidFill>
                          <a:latin typeface="Yu Gothic"/>
                        </a:rPr>
                        <a:t>担当ケース20件以下／OJTで基礎習得</a:t>
                      </a:r>
                    </a:p>
                  </a:txBody>
                  <a:tcPr>
                    <a:solidFill>
                      <a:srgbClr val="FFFFFF"/>
                    </a:solidFill>
                  </a:tcPr>
                </a:tc>
                <a:tc>
                  <a:txBody>
                    <a:bodyPr wrap="square"/>
                    <a:lstStyle/>
                    <a:p>
                      <a:r>
                        <a:rPr sz="1100" b="0">
                          <a:solidFill>
                            <a:srgbClr val="1F2D3D"/>
                          </a:solidFill>
                          <a:latin typeface="Yu Gothic"/>
                        </a:rPr>
                        <a:t>実務研修・新任者研修</a:t>
                      </a:r>
                    </a:p>
                  </a:txBody>
                  <a:tcPr>
                    <a:solidFill>
                      <a:srgbClr val="FFFFFF"/>
                    </a:solidFill>
                  </a:tcPr>
                </a:tc>
              </a:tr>
              <a:tr h="426720">
                <a:tc>
                  <a:txBody>
                    <a:bodyPr wrap="square"/>
                    <a:lstStyle/>
                    <a:p>
                      <a:r>
                        <a:rPr sz="1100" b="0">
                          <a:solidFill>
                            <a:srgbClr val="1F2D3D"/>
                          </a:solidFill>
                          <a:latin typeface="Yu Gothic"/>
                        </a:rPr>
                        <a:t>基礎期</a:t>
                      </a:r>
                    </a:p>
                  </a:txBody>
                  <a:tcPr>
                    <a:solidFill>
                      <a:srgbClr val="F9FBFD"/>
                    </a:solidFill>
                  </a:tcPr>
                </a:tc>
                <a:tc>
                  <a:txBody>
                    <a:bodyPr wrap="square"/>
                    <a:lstStyle/>
                    <a:p>
                      <a:r>
                        <a:rPr sz="1100" b="0">
                          <a:solidFill>
                            <a:srgbClr val="1F2D3D"/>
                          </a:solidFill>
                          <a:latin typeface="Yu Gothic"/>
                        </a:rPr>
                        <a:t>2〜4年</a:t>
                      </a:r>
                    </a:p>
                  </a:txBody>
                  <a:tcPr>
                    <a:solidFill>
                      <a:srgbClr val="F9FBFD"/>
                    </a:solidFill>
                  </a:tcPr>
                </a:tc>
                <a:tc>
                  <a:txBody>
                    <a:bodyPr wrap="square"/>
                    <a:lstStyle/>
                    <a:p>
                      <a:r>
                        <a:rPr sz="1100" b="0">
                          <a:solidFill>
                            <a:srgbClr val="1F2D3D"/>
                          </a:solidFill>
                          <a:latin typeface="Yu Gothic"/>
                        </a:rPr>
                        <a:t>標準ケースを自立して担当</a:t>
                      </a:r>
                    </a:p>
                  </a:txBody>
                  <a:tcPr>
                    <a:solidFill>
                      <a:srgbClr val="F9FBFD"/>
                    </a:solidFill>
                  </a:tcPr>
                </a:tc>
                <a:tc>
                  <a:txBody>
                    <a:bodyPr wrap="square"/>
                    <a:lstStyle/>
                    <a:p>
                      <a:r>
                        <a:rPr sz="1100" b="0">
                          <a:solidFill>
                            <a:srgbClr val="1F2D3D"/>
                          </a:solidFill>
                          <a:latin typeface="Yu Gothic"/>
                        </a:rPr>
                        <a:t>専門研修課程I／法定外スキル研修</a:t>
                      </a:r>
                    </a:p>
                  </a:txBody>
                  <a:tcPr>
                    <a:solidFill>
                      <a:srgbClr val="F9FBFD"/>
                    </a:solidFill>
                  </a:tcPr>
                </a:tc>
              </a:tr>
              <a:tr h="426720">
                <a:tc>
                  <a:txBody>
                    <a:bodyPr wrap="square"/>
                    <a:lstStyle/>
                    <a:p>
                      <a:r>
                        <a:rPr sz="1100" b="0">
                          <a:solidFill>
                            <a:srgbClr val="1F2D3D"/>
                          </a:solidFill>
                          <a:latin typeface="Yu Gothic"/>
                        </a:rPr>
                        <a:t>応用期</a:t>
                      </a:r>
                    </a:p>
                  </a:txBody>
                  <a:tcPr>
                    <a:solidFill>
                      <a:srgbClr val="FFFFFF"/>
                    </a:solidFill>
                  </a:tcPr>
                </a:tc>
                <a:tc>
                  <a:txBody>
                    <a:bodyPr wrap="square"/>
                    <a:lstStyle/>
                    <a:p>
                      <a:r>
                        <a:rPr sz="1100" b="0">
                          <a:solidFill>
                            <a:srgbClr val="1F2D3D"/>
                          </a:solidFill>
                          <a:latin typeface="Yu Gothic"/>
                        </a:rPr>
                        <a:t>5〜7年</a:t>
                      </a:r>
                    </a:p>
                  </a:txBody>
                  <a:tcPr>
                    <a:solidFill>
                      <a:srgbClr val="FFFFFF"/>
                    </a:solidFill>
                  </a:tcPr>
                </a:tc>
                <a:tc>
                  <a:txBody>
                    <a:bodyPr wrap="square"/>
                    <a:lstStyle/>
                    <a:p>
                      <a:r>
                        <a:rPr sz="1100" b="0">
                          <a:solidFill>
                            <a:srgbClr val="1F2D3D"/>
                          </a:solidFill>
                          <a:latin typeface="Yu Gothic"/>
                        </a:rPr>
                        <a:t>困難事例・若手OJT支援</a:t>
                      </a:r>
                    </a:p>
                  </a:txBody>
                  <a:tcPr>
                    <a:solidFill>
                      <a:srgbClr val="FFFFFF"/>
                    </a:solidFill>
                  </a:tcPr>
                </a:tc>
                <a:tc>
                  <a:txBody>
                    <a:bodyPr wrap="square"/>
                    <a:lstStyle/>
                    <a:p>
                      <a:r>
                        <a:rPr sz="1100" b="0">
                          <a:solidFill>
                            <a:srgbClr val="1F2D3D"/>
                          </a:solidFill>
                          <a:latin typeface="Yu Gothic"/>
                        </a:rPr>
                        <a:t>専門研修課程II／事例検討会講師</a:t>
                      </a:r>
                    </a:p>
                  </a:txBody>
                  <a:tcPr>
                    <a:solidFill>
                      <a:srgbClr val="FFFFFF"/>
                    </a:solidFill>
                  </a:tcPr>
                </a:tc>
              </a:tr>
              <a:tr h="426720">
                <a:tc>
                  <a:txBody>
                    <a:bodyPr wrap="square"/>
                    <a:lstStyle/>
                    <a:p>
                      <a:r>
                        <a:rPr sz="1100" b="0">
                          <a:solidFill>
                            <a:srgbClr val="1F2D3D"/>
                          </a:solidFill>
                          <a:latin typeface="Yu Gothic"/>
                        </a:rPr>
                        <a:t>主任期</a:t>
                      </a:r>
                    </a:p>
                  </a:txBody>
                  <a:tcPr>
                    <a:solidFill>
                      <a:srgbClr val="F9FBFD"/>
                    </a:solidFill>
                  </a:tcPr>
                </a:tc>
                <a:tc>
                  <a:txBody>
                    <a:bodyPr wrap="square"/>
                    <a:lstStyle/>
                    <a:p>
                      <a:r>
                        <a:rPr sz="1100" b="0">
                          <a:solidFill>
                            <a:srgbClr val="1F2D3D"/>
                          </a:solidFill>
                          <a:latin typeface="Yu Gothic"/>
                        </a:rPr>
                        <a:t>8年〜</a:t>
                      </a:r>
                    </a:p>
                  </a:txBody>
                  <a:tcPr>
                    <a:solidFill>
                      <a:srgbClr val="F9FBFD"/>
                    </a:solidFill>
                  </a:tcPr>
                </a:tc>
                <a:tc>
                  <a:txBody>
                    <a:bodyPr wrap="square"/>
                    <a:lstStyle/>
                    <a:p>
                      <a:r>
                        <a:rPr sz="1100" b="0">
                          <a:solidFill>
                            <a:srgbClr val="1F2D3D"/>
                          </a:solidFill>
                          <a:latin typeface="Yu Gothic"/>
                        </a:rPr>
                        <a:t>地域連携・事業所運営・指導</a:t>
                      </a:r>
                    </a:p>
                  </a:txBody>
                  <a:tcPr>
                    <a:solidFill>
                      <a:srgbClr val="F9FBFD"/>
                    </a:solidFill>
                  </a:tcPr>
                </a:tc>
                <a:tc>
                  <a:txBody>
                    <a:bodyPr wrap="square"/>
                    <a:lstStyle/>
                    <a:p>
                      <a:r>
                        <a:rPr sz="1100" b="0">
                          <a:solidFill>
                            <a:srgbClr val="1F2D3D"/>
                          </a:solidFill>
                          <a:latin typeface="Yu Gothic"/>
                        </a:rPr>
                        <a:t>主任介護支援専門員研修</a:t>
                      </a:r>
                    </a:p>
                  </a:txBody>
                  <a:tcPr>
                    <a:solidFill>
                      <a:srgbClr val="F9FBFD"/>
                    </a:solidFill>
                  </a:tcPr>
                </a:tc>
              </a:tr>
              <a:tr h="426720">
                <a:tc>
                  <a:txBody>
                    <a:bodyPr wrap="square"/>
                    <a:lstStyle/>
                    <a:p>
                      <a:r>
                        <a:rPr sz="1100" b="0">
                          <a:solidFill>
                            <a:srgbClr val="1F2D3D"/>
                          </a:solidFill>
                          <a:latin typeface="Yu Gothic"/>
                        </a:rPr>
                        <a:t>指導者期</a:t>
                      </a:r>
                    </a:p>
                  </a:txBody>
                  <a:tcPr>
                    <a:solidFill>
                      <a:srgbClr val="FFFFFF"/>
                    </a:solidFill>
                  </a:tcPr>
                </a:tc>
                <a:tc>
                  <a:txBody>
                    <a:bodyPr wrap="square"/>
                    <a:lstStyle/>
                    <a:p>
                      <a:r>
                        <a:rPr sz="1100" b="0">
                          <a:solidFill>
                            <a:srgbClr val="1F2D3D"/>
                          </a:solidFill>
                          <a:latin typeface="Yu Gothic"/>
                        </a:rPr>
                        <a:t>主任後</a:t>
                      </a:r>
                    </a:p>
                  </a:txBody>
                  <a:tcPr>
                    <a:solidFill>
                      <a:srgbClr val="FFFFFF"/>
                    </a:solidFill>
                  </a:tcPr>
                </a:tc>
                <a:tc>
                  <a:txBody>
                    <a:bodyPr wrap="square"/>
                    <a:lstStyle/>
                    <a:p>
                      <a:r>
                        <a:rPr sz="1100" b="0">
                          <a:solidFill>
                            <a:srgbClr val="1F2D3D"/>
                          </a:solidFill>
                          <a:latin typeface="Yu Gothic"/>
                        </a:rPr>
                        <a:t>法定研修講師／地域ケア会議</a:t>
                      </a:r>
                    </a:p>
                  </a:txBody>
                  <a:tcPr>
                    <a:solidFill>
                      <a:srgbClr val="FFFFFF"/>
                    </a:solidFill>
                  </a:tcPr>
                </a:tc>
                <a:tc>
                  <a:txBody>
                    <a:bodyPr wrap="square"/>
                    <a:lstStyle/>
                    <a:p>
                      <a:r>
                        <a:rPr sz="1100" b="0">
                          <a:solidFill>
                            <a:srgbClr val="1F2D3D"/>
                          </a:solidFill>
                          <a:latin typeface="Yu Gothic"/>
                        </a:rPr>
                        <a:t>主任更新研修／指導者養成</a:t>
                      </a:r>
                    </a:p>
                  </a:txBody>
                  <a:tcPr>
                    <a:solidFill>
                      <a:srgbClr val="FFFFFF"/>
                    </a:solidFill>
                  </a:tcPr>
                </a:tc>
              </a:tr>
            </a:tbl>
          </a:graphicData>
        </a:graphic>
      </p:graphicFrame>
      <p:sp>
        <p:nvSpPr>
          <p:cNvPr id="11" name="TextBox 10"/>
          <p:cNvSpPr txBox="1"/>
          <p:nvPr/>
        </p:nvSpPr>
        <p:spPr>
          <a:xfrm>
            <a:off x="731520" y="4343400"/>
            <a:ext cx="10698480" cy="365760"/>
          </a:xfrm>
          <a:prstGeom prst="rect">
            <a:avLst/>
          </a:prstGeom>
          <a:noFill/>
        </p:spPr>
        <p:txBody>
          <a:bodyPr wrap="square" lIns="0" rIns="0" tIns="0" bIns="0" anchor="t">
            <a:spAutoFit/>
          </a:bodyPr>
          <a:lstStyle/>
          <a:p>
            <a:pPr algn="l"/>
            <a:r>
              <a:rPr sz="1600" b="1">
                <a:solidFill>
                  <a:srgbClr val="2D6FB3"/>
                </a:solidFill>
                <a:latin typeface="Yu Gothic"/>
              </a:rPr>
              <a:t>各段階で必須の仕組み</a:t>
            </a:r>
          </a:p>
        </p:txBody>
      </p:sp>
      <p:sp>
        <p:nvSpPr>
          <p:cNvPr id="12" name="TextBox 11"/>
          <p:cNvSpPr txBox="1"/>
          <p:nvPr/>
        </p:nvSpPr>
        <p:spPr>
          <a:xfrm>
            <a:off x="822960" y="4800600"/>
            <a:ext cx="10515600" cy="1371600"/>
          </a:xfrm>
          <a:prstGeom prst="rect">
            <a:avLst/>
          </a:prstGeom>
          <a:noFill/>
        </p:spPr>
        <p:txBody>
          <a:bodyPr wrap="square" lIns="0" rIns="0" tIns="0" bIns="0" anchor="t">
            <a:spAutoFit/>
          </a:bodyPr>
          <a:lstStyle/>
          <a:p>
            <a:pPr algn="l">
              <a:lnSpc>
                <a:spcPct val="150000"/>
              </a:lnSpc>
            </a:pPr>
            <a:r>
              <a:rPr sz="1200" b="1">
                <a:solidFill>
                  <a:srgbClr val="F5A623"/>
                </a:solidFill>
                <a:latin typeface="Yu Gothic"/>
              </a:rPr>
              <a:t>■  </a:t>
            </a:r>
            <a:r>
              <a:rPr sz="1400" b="0">
                <a:solidFill>
                  <a:srgbClr val="1F2D3D"/>
                </a:solidFill>
                <a:latin typeface="Yu Gothic"/>
              </a:rPr>
              <a:t>目標設定面談（年2回）と処遇との連動</a:t>
            </a:r>
          </a:p>
          <a:p>
            <a:pPr algn="l">
              <a:lnSpc>
                <a:spcPct val="150000"/>
              </a:lnSpc>
            </a:pPr>
            <a:r>
              <a:rPr sz="1200" b="1">
                <a:solidFill>
                  <a:srgbClr val="F5A623"/>
                </a:solidFill>
                <a:latin typeface="Yu Gothic"/>
              </a:rPr>
              <a:t>■  </a:t>
            </a:r>
            <a:r>
              <a:rPr sz="1400" b="0">
                <a:solidFill>
                  <a:srgbClr val="1F2D3D"/>
                </a:solidFill>
                <a:latin typeface="Yu Gothic"/>
              </a:rPr>
              <a:t>段階移行の判定基準を文書化（属人化させない）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年間研修計画の立て方</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13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5349240" cy="365760"/>
          </a:xfrm>
          <a:prstGeom prst="rect">
            <a:avLst/>
          </a:prstGeom>
          <a:noFill/>
        </p:spPr>
        <p:txBody>
          <a:bodyPr wrap="square" lIns="0" rIns="0" tIns="0" bIns="0" anchor="t">
            <a:spAutoFit/>
          </a:bodyPr>
          <a:lstStyle/>
          <a:p>
            <a:pPr algn="l"/>
            <a:r>
              <a:rPr sz="1600" b="1">
                <a:solidFill>
                  <a:srgbClr val="2D6FB3"/>
                </a:solidFill>
                <a:latin typeface="Yu Gothic"/>
              </a:rPr>
              <a:t>3層構造で計画する</a:t>
            </a:r>
          </a:p>
        </p:txBody>
      </p:sp>
      <p:sp>
        <p:nvSpPr>
          <p:cNvPr id="10" name="Rectangle 9"/>
          <p:cNvSpPr/>
          <p:nvPr/>
        </p:nvSpPr>
        <p:spPr>
          <a:xfrm>
            <a:off x="731520" y="1874519"/>
            <a:ext cx="5349240" cy="12801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874519"/>
            <a:ext cx="45720" cy="12801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984247"/>
            <a:ext cx="4983480" cy="365760"/>
          </a:xfrm>
          <a:prstGeom prst="rect">
            <a:avLst/>
          </a:prstGeom>
          <a:noFill/>
        </p:spPr>
        <p:txBody>
          <a:bodyPr wrap="square" lIns="0" rIns="0" tIns="0" bIns="0" anchor="t">
            <a:spAutoFit/>
          </a:bodyPr>
          <a:lstStyle/>
          <a:p>
            <a:pPr algn="l"/>
            <a:r>
              <a:rPr sz="1500" b="1">
                <a:solidFill>
                  <a:srgbClr val="0F4C81"/>
                </a:solidFill>
                <a:latin typeface="Yu Gothic"/>
              </a:rPr>
              <a:t>① 法定研修（必須）</a:t>
            </a:r>
          </a:p>
        </p:txBody>
      </p:sp>
      <p:sp>
        <p:nvSpPr>
          <p:cNvPr id="13" name="TextBox 12"/>
          <p:cNvSpPr txBox="1"/>
          <p:nvPr/>
        </p:nvSpPr>
        <p:spPr>
          <a:xfrm>
            <a:off x="960120" y="2377439"/>
            <a:ext cx="4983480" cy="6858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都道府県告知をもとに4月時点で受講者・時期を確定</a:t>
            </a:r>
          </a:p>
        </p:txBody>
      </p:sp>
      <p:sp>
        <p:nvSpPr>
          <p:cNvPr id="14" name="Rectangle 13"/>
          <p:cNvSpPr/>
          <p:nvPr/>
        </p:nvSpPr>
        <p:spPr>
          <a:xfrm>
            <a:off x="731520" y="3200400"/>
            <a:ext cx="5349240" cy="12801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200400"/>
            <a:ext cx="45720" cy="12801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310128"/>
            <a:ext cx="4983480" cy="365760"/>
          </a:xfrm>
          <a:prstGeom prst="rect">
            <a:avLst/>
          </a:prstGeom>
          <a:noFill/>
        </p:spPr>
        <p:txBody>
          <a:bodyPr wrap="square" lIns="0" rIns="0" tIns="0" bIns="0" anchor="t">
            <a:spAutoFit/>
          </a:bodyPr>
          <a:lstStyle/>
          <a:p>
            <a:pPr algn="l"/>
            <a:r>
              <a:rPr sz="1500" b="1">
                <a:solidFill>
                  <a:srgbClr val="0F4C81"/>
                </a:solidFill>
                <a:latin typeface="Yu Gothic"/>
              </a:rPr>
              <a:t>② 事業所内研修（月例）</a:t>
            </a:r>
          </a:p>
        </p:txBody>
      </p:sp>
      <p:sp>
        <p:nvSpPr>
          <p:cNvPr id="17" name="TextBox 16"/>
          <p:cNvSpPr txBox="1"/>
          <p:nvPr/>
        </p:nvSpPr>
        <p:spPr>
          <a:xfrm>
            <a:off x="960120" y="3703320"/>
            <a:ext cx="4983480" cy="6858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事例検討会・制度学習会・適切なケアマネジメント手法の勉強会</a:t>
            </a:r>
          </a:p>
        </p:txBody>
      </p:sp>
      <p:sp>
        <p:nvSpPr>
          <p:cNvPr id="18" name="Rectangle 17"/>
          <p:cNvSpPr/>
          <p:nvPr/>
        </p:nvSpPr>
        <p:spPr>
          <a:xfrm>
            <a:off x="731520" y="4526280"/>
            <a:ext cx="5349240" cy="12801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526280"/>
            <a:ext cx="45720" cy="12801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636008"/>
            <a:ext cx="4983480" cy="365760"/>
          </a:xfrm>
          <a:prstGeom prst="rect">
            <a:avLst/>
          </a:prstGeom>
          <a:noFill/>
        </p:spPr>
        <p:txBody>
          <a:bodyPr wrap="square" lIns="0" rIns="0" tIns="0" bIns="0" anchor="t">
            <a:spAutoFit/>
          </a:bodyPr>
          <a:lstStyle/>
          <a:p>
            <a:pPr algn="l"/>
            <a:r>
              <a:rPr sz="1500" b="1">
                <a:solidFill>
                  <a:srgbClr val="0F4C81"/>
                </a:solidFill>
                <a:latin typeface="Yu Gothic"/>
              </a:rPr>
              <a:t>③ 外部研修・自己研鑽</a:t>
            </a:r>
          </a:p>
        </p:txBody>
      </p:sp>
      <p:sp>
        <p:nvSpPr>
          <p:cNvPr id="21" name="TextBox 20"/>
          <p:cNvSpPr txBox="1"/>
          <p:nvPr/>
        </p:nvSpPr>
        <p:spPr>
          <a:xfrm>
            <a:off x="960120" y="5029200"/>
            <a:ext cx="4983480" cy="6858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協会研修・学会・専門領域（医療・認知症・看取り等）</a:t>
            </a:r>
          </a:p>
        </p:txBody>
      </p:sp>
      <p:sp>
        <p:nvSpPr>
          <p:cNvPr id="22" name="TextBox 21"/>
          <p:cNvSpPr txBox="1"/>
          <p:nvPr/>
        </p:nvSpPr>
        <p:spPr>
          <a:xfrm>
            <a:off x="6263640" y="1417320"/>
            <a:ext cx="5349240" cy="365760"/>
          </a:xfrm>
          <a:prstGeom prst="rect">
            <a:avLst/>
          </a:prstGeom>
          <a:noFill/>
        </p:spPr>
        <p:txBody>
          <a:bodyPr wrap="square" lIns="0" rIns="0" tIns="0" bIns="0" anchor="t">
            <a:spAutoFit/>
          </a:bodyPr>
          <a:lstStyle/>
          <a:p>
            <a:pPr algn="l"/>
            <a:r>
              <a:rPr sz="1600" b="1">
                <a:solidFill>
                  <a:srgbClr val="2D6FB3"/>
                </a:solidFill>
                <a:latin typeface="Yu Gothic"/>
              </a:rPr>
              <a:t>個人別研修計画書（フォーマット）</a:t>
            </a:r>
          </a:p>
        </p:txBody>
      </p:sp>
      <p:sp>
        <p:nvSpPr>
          <p:cNvPr id="23" name="TextBox 22"/>
          <p:cNvSpPr txBox="1"/>
          <p:nvPr/>
        </p:nvSpPr>
        <p:spPr>
          <a:xfrm>
            <a:off x="6355080" y="1920240"/>
            <a:ext cx="5212080" cy="2286000"/>
          </a:xfrm>
          <a:prstGeom prst="rect">
            <a:avLst/>
          </a:prstGeom>
          <a:noFill/>
        </p:spPr>
        <p:txBody>
          <a:bodyPr wrap="square" lIns="0" rIns="0" tIns="0" bIns="0" anchor="t">
            <a:spAutoFit/>
          </a:bodyPr>
          <a:lstStyle/>
          <a:p>
            <a:pPr algn="l">
              <a:lnSpc>
                <a:spcPct val="150000"/>
              </a:lnSpc>
            </a:pPr>
            <a:r>
              <a:rPr sz="1200" b="1">
                <a:solidFill>
                  <a:srgbClr val="F5A623"/>
                </a:solidFill>
                <a:latin typeface="Yu Gothic"/>
              </a:rPr>
              <a:t>■  </a:t>
            </a:r>
            <a:r>
              <a:rPr sz="1400" b="0">
                <a:solidFill>
                  <a:srgbClr val="1F2D3D"/>
                </a:solidFill>
                <a:latin typeface="Yu Gothic"/>
              </a:rPr>
              <a:t>本人の到達目標（1年・3年）</a:t>
            </a:r>
          </a:p>
          <a:p>
            <a:pPr algn="l">
              <a:lnSpc>
                <a:spcPct val="150000"/>
              </a:lnSpc>
            </a:pPr>
            <a:r>
              <a:rPr sz="1200" b="1">
                <a:solidFill>
                  <a:srgbClr val="F5A623"/>
                </a:solidFill>
                <a:latin typeface="Yu Gothic"/>
              </a:rPr>
              <a:t>■  </a:t>
            </a:r>
            <a:r>
              <a:rPr sz="1400" b="0">
                <a:solidFill>
                  <a:srgbClr val="1F2D3D"/>
                </a:solidFill>
                <a:latin typeface="Yu Gothic"/>
              </a:rPr>
              <a:t>受講予定研修（法定／法定外）</a:t>
            </a:r>
          </a:p>
          <a:p>
            <a:pPr algn="l">
              <a:lnSpc>
                <a:spcPct val="150000"/>
              </a:lnSpc>
            </a:pPr>
            <a:r>
              <a:rPr sz="1200" b="1">
                <a:solidFill>
                  <a:srgbClr val="F5A623"/>
                </a:solidFill>
                <a:latin typeface="Yu Gothic"/>
              </a:rPr>
              <a:t>■  </a:t>
            </a:r>
            <a:r>
              <a:rPr sz="1400" b="0">
                <a:solidFill>
                  <a:srgbClr val="1F2D3D"/>
                </a:solidFill>
                <a:latin typeface="Yu Gothic"/>
              </a:rPr>
              <a:t>OJT項目とメンター</a:t>
            </a:r>
          </a:p>
          <a:p>
            <a:pPr algn="l">
              <a:lnSpc>
                <a:spcPct val="150000"/>
              </a:lnSpc>
            </a:pPr>
            <a:r>
              <a:rPr sz="1200" b="1">
                <a:solidFill>
                  <a:srgbClr val="F5A623"/>
                </a:solidFill>
                <a:latin typeface="Yu Gothic"/>
              </a:rPr>
              <a:t>■  </a:t>
            </a:r>
            <a:r>
              <a:rPr sz="1400" b="0">
                <a:solidFill>
                  <a:srgbClr val="1F2D3D"/>
                </a:solidFill>
                <a:latin typeface="Yu Gothic"/>
              </a:rPr>
              <a:t>振り返り（半期ごと）</a:t>
            </a:r>
          </a:p>
        </p:txBody>
      </p:sp>
      <p:sp>
        <p:nvSpPr>
          <p:cNvPr id="24" name="Rectangle 23"/>
          <p:cNvSpPr/>
          <p:nvPr/>
        </p:nvSpPr>
        <p:spPr>
          <a:xfrm>
            <a:off x="6263640" y="4297680"/>
            <a:ext cx="5349240" cy="137160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4297680"/>
            <a:ext cx="45720" cy="13716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434840"/>
            <a:ext cx="4983480" cy="118872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運用のコツ：</a:t>
            </a:r>
            <a:r>
              <a:rPr sz="1400" b="0">
                <a:solidFill>
                  <a:srgbClr val="6B4E00"/>
                </a:solidFill>
                <a:latin typeface="Yu Gothic"/>
              </a:rPr>
              <a:t>4月作成 → 9月中間レビュー → 翌年3月評価、のPDCAを回す。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受講機会を確保する職場体制</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14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45720" cy="21945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シフト・業務面</a:t>
            </a:r>
          </a:p>
        </p:txBody>
      </p:sp>
      <p:sp>
        <p:nvSpPr>
          <p:cNvPr id="12" name="TextBox 11"/>
          <p:cNvSpPr txBox="1"/>
          <p:nvPr/>
        </p:nvSpPr>
        <p:spPr>
          <a:xfrm>
            <a:off x="960120" y="196596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研修日の担当ケース引継ぎルール整備</a:t>
            </a:r>
          </a:p>
          <a:p>
            <a:pPr algn="l">
              <a:lnSpc>
                <a:spcPct val="130000"/>
              </a:lnSpc>
            </a:pPr>
            <a:r>
              <a:rPr sz="1100" b="1">
                <a:solidFill>
                  <a:srgbClr val="F5A623"/>
                </a:solidFill>
                <a:latin typeface="Yu Gothic"/>
              </a:rPr>
              <a:t>■  </a:t>
            </a:r>
            <a:r>
              <a:rPr sz="1300" b="0">
                <a:solidFill>
                  <a:srgbClr val="1F2D3D"/>
                </a:solidFill>
                <a:latin typeface="Yu Gothic"/>
              </a:rPr>
              <a:t>主任ケアマネ間の相互バックアップ</a:t>
            </a:r>
          </a:p>
          <a:p>
            <a:pPr algn="l">
              <a:lnSpc>
                <a:spcPct val="130000"/>
              </a:lnSpc>
            </a:pPr>
            <a:r>
              <a:rPr sz="1100" b="1">
                <a:solidFill>
                  <a:srgbClr val="F5A623"/>
                </a:solidFill>
                <a:latin typeface="Yu Gothic"/>
              </a:rPr>
              <a:t>■  </a:t>
            </a:r>
            <a:r>
              <a:rPr sz="1300" b="0">
                <a:solidFill>
                  <a:srgbClr val="1F2D3D"/>
                </a:solidFill>
                <a:latin typeface="Yu Gothic"/>
              </a:rPr>
              <a:t>モニタリング訪問の前倒し調整</a:t>
            </a:r>
          </a:p>
        </p:txBody>
      </p:sp>
      <p:sp>
        <p:nvSpPr>
          <p:cNvPr id="13" name="Rectangle 12"/>
          <p:cNvSpPr/>
          <p:nvPr/>
        </p:nvSpPr>
        <p:spPr>
          <a:xfrm>
            <a:off x="6126480" y="146304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463040"/>
            <a:ext cx="45720" cy="2194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制度・処遇面</a:t>
            </a:r>
          </a:p>
        </p:txBody>
      </p:sp>
      <p:sp>
        <p:nvSpPr>
          <p:cNvPr id="16" name="TextBox 15"/>
          <p:cNvSpPr txBox="1"/>
          <p:nvPr/>
        </p:nvSpPr>
        <p:spPr>
          <a:xfrm>
            <a:off x="6355080" y="196596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研修受講を業務扱いとする規程</a:t>
            </a:r>
          </a:p>
          <a:p>
            <a:pPr algn="l">
              <a:lnSpc>
                <a:spcPct val="130000"/>
              </a:lnSpc>
            </a:pPr>
            <a:r>
              <a:rPr sz="1100" b="1">
                <a:solidFill>
                  <a:srgbClr val="F5A623"/>
                </a:solidFill>
                <a:latin typeface="Yu Gothic"/>
              </a:rPr>
              <a:t>■  </a:t>
            </a:r>
            <a:r>
              <a:rPr sz="1300" b="0">
                <a:solidFill>
                  <a:srgbClr val="1F2D3D"/>
                </a:solidFill>
                <a:latin typeface="Yu Gothic"/>
              </a:rPr>
              <a:t>受講料・交通費の事業所負担</a:t>
            </a:r>
          </a:p>
          <a:p>
            <a:pPr algn="l">
              <a:lnSpc>
                <a:spcPct val="130000"/>
              </a:lnSpc>
            </a:pPr>
            <a:r>
              <a:rPr sz="1100" b="1">
                <a:solidFill>
                  <a:srgbClr val="F5A623"/>
                </a:solidFill>
                <a:latin typeface="Yu Gothic"/>
              </a:rPr>
              <a:t>■  </a:t>
            </a:r>
            <a:r>
              <a:rPr sz="1300" b="0">
                <a:solidFill>
                  <a:srgbClr val="1F2D3D"/>
                </a:solidFill>
                <a:latin typeface="Yu Gothic"/>
              </a:rPr>
              <a:t>主任研修修了者への資格手当・役割手当等（事業所内処遇）</a:t>
            </a:r>
          </a:p>
        </p:txBody>
      </p:sp>
      <p:sp>
        <p:nvSpPr>
          <p:cNvPr id="17" name="Rectangle 16"/>
          <p:cNvSpPr/>
          <p:nvPr/>
        </p:nvSpPr>
        <p:spPr>
          <a:xfrm>
            <a:off x="731520" y="379476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94760"/>
            <a:ext cx="45720" cy="21945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04488"/>
            <a:ext cx="4983480" cy="365760"/>
          </a:xfrm>
          <a:prstGeom prst="rect">
            <a:avLst/>
          </a:prstGeom>
          <a:noFill/>
        </p:spPr>
        <p:txBody>
          <a:bodyPr wrap="square" lIns="0" rIns="0" tIns="0" bIns="0" anchor="t">
            <a:spAutoFit/>
          </a:bodyPr>
          <a:lstStyle/>
          <a:p>
            <a:pPr algn="l"/>
            <a:r>
              <a:rPr sz="1500" b="1">
                <a:solidFill>
                  <a:srgbClr val="0F4C81"/>
                </a:solidFill>
                <a:latin typeface="Yu Gothic"/>
              </a:rPr>
              <a:t>環境・ICT面</a:t>
            </a:r>
          </a:p>
        </p:txBody>
      </p:sp>
      <p:sp>
        <p:nvSpPr>
          <p:cNvPr id="20" name="TextBox 19"/>
          <p:cNvSpPr txBox="1"/>
          <p:nvPr/>
        </p:nvSpPr>
        <p:spPr>
          <a:xfrm>
            <a:off x="960120" y="429768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eラーニング受講用の静音スペース</a:t>
            </a:r>
          </a:p>
          <a:p>
            <a:pPr algn="l">
              <a:lnSpc>
                <a:spcPct val="130000"/>
              </a:lnSpc>
            </a:pPr>
            <a:r>
              <a:rPr sz="1100" b="1">
                <a:solidFill>
                  <a:srgbClr val="F5A623"/>
                </a:solidFill>
                <a:latin typeface="Yu Gothic"/>
              </a:rPr>
              <a:t>■  </a:t>
            </a:r>
            <a:r>
              <a:rPr sz="1300" b="0">
                <a:solidFill>
                  <a:srgbClr val="1F2D3D"/>
                </a:solidFill>
                <a:latin typeface="Yu Gothic"/>
              </a:rPr>
              <a:t>ケアプランソフトでの業務効率化</a:t>
            </a:r>
          </a:p>
          <a:p>
            <a:pPr algn="l">
              <a:lnSpc>
                <a:spcPct val="130000"/>
              </a:lnSpc>
            </a:pPr>
            <a:r>
              <a:rPr sz="1100" b="1">
                <a:solidFill>
                  <a:srgbClr val="F5A623"/>
                </a:solidFill>
                <a:latin typeface="Yu Gothic"/>
              </a:rPr>
              <a:t>■  </a:t>
            </a:r>
            <a:r>
              <a:rPr sz="1300" b="0">
                <a:solidFill>
                  <a:srgbClr val="1F2D3D"/>
                </a:solidFill>
                <a:latin typeface="Yu Gothic"/>
              </a:rPr>
              <a:t>記録のテンプレート化で記入時間短縮</a:t>
            </a:r>
          </a:p>
        </p:txBody>
      </p:sp>
      <p:sp>
        <p:nvSpPr>
          <p:cNvPr id="21" name="Rectangle 20"/>
          <p:cNvSpPr/>
          <p:nvPr/>
        </p:nvSpPr>
        <p:spPr>
          <a:xfrm>
            <a:off x="6126480" y="379476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3794760"/>
            <a:ext cx="45720" cy="2194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904488"/>
            <a:ext cx="4983480" cy="365760"/>
          </a:xfrm>
          <a:prstGeom prst="rect">
            <a:avLst/>
          </a:prstGeom>
          <a:noFill/>
        </p:spPr>
        <p:txBody>
          <a:bodyPr wrap="square" lIns="0" rIns="0" tIns="0" bIns="0" anchor="t">
            <a:spAutoFit/>
          </a:bodyPr>
          <a:lstStyle/>
          <a:p>
            <a:pPr algn="l"/>
            <a:r>
              <a:rPr sz="1500" b="1">
                <a:solidFill>
                  <a:srgbClr val="0F4C81"/>
                </a:solidFill>
                <a:latin typeface="Yu Gothic"/>
              </a:rPr>
              <a:t>コミュニケーション面</a:t>
            </a:r>
          </a:p>
        </p:txBody>
      </p:sp>
      <p:sp>
        <p:nvSpPr>
          <p:cNvPr id="24" name="TextBox 23"/>
          <p:cNvSpPr txBox="1"/>
          <p:nvPr/>
        </p:nvSpPr>
        <p:spPr>
          <a:xfrm>
            <a:off x="6355080" y="429768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受講予定の事前共有・カレンダー化</a:t>
            </a:r>
          </a:p>
          <a:p>
            <a:pPr algn="l">
              <a:lnSpc>
                <a:spcPct val="130000"/>
              </a:lnSpc>
            </a:pPr>
            <a:r>
              <a:rPr sz="1100" b="1">
                <a:solidFill>
                  <a:srgbClr val="F5A623"/>
                </a:solidFill>
                <a:latin typeface="Yu Gothic"/>
              </a:rPr>
              <a:t>■  </a:t>
            </a:r>
            <a:r>
              <a:rPr sz="1300" b="0">
                <a:solidFill>
                  <a:srgbClr val="1F2D3D"/>
                </a:solidFill>
                <a:latin typeface="Yu Gothic"/>
              </a:rPr>
              <a:t>利用者・家族への事前説明</a:t>
            </a:r>
          </a:p>
          <a:p>
            <a:pPr algn="l">
              <a:lnSpc>
                <a:spcPct val="130000"/>
              </a:lnSpc>
            </a:pPr>
            <a:r>
              <a:rPr sz="1100" b="1">
                <a:solidFill>
                  <a:srgbClr val="F5A623"/>
                </a:solidFill>
                <a:latin typeface="Yu Gothic"/>
              </a:rPr>
              <a:t>■  </a:t>
            </a:r>
            <a:r>
              <a:rPr sz="1300" b="0">
                <a:solidFill>
                  <a:srgbClr val="1F2D3D"/>
                </a:solidFill>
                <a:latin typeface="Yu Gothic"/>
              </a:rPr>
              <a:t>受講後のシェア会で全員に還元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OJTの体系化　— 4つの基本ツール</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15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08760"/>
            <a:ext cx="260604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08760"/>
            <a:ext cx="26060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169164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00784"/>
            <a:ext cx="411480" cy="411480"/>
          </a:xfrm>
          <a:prstGeom prst="rect">
            <a:avLst/>
          </a:prstGeom>
          <a:noFill/>
        </p:spPr>
        <p:txBody>
          <a:bodyPr wrap="square" lIns="0" rIns="0" tIns="0" bIns="0" anchor="ctr">
            <a:spAutoFit/>
          </a:bodyPr>
          <a:lstStyle/>
          <a:p>
            <a:pPr algn="ctr"/>
            <a:r>
              <a:rPr sz="1400" b="1">
                <a:solidFill>
                  <a:srgbClr val="FFFFFF"/>
                </a:solidFill>
                <a:latin typeface="Yu Gothic"/>
              </a:rPr>
              <a:t>1</a:t>
            </a:r>
          </a:p>
        </p:txBody>
      </p:sp>
      <p:sp>
        <p:nvSpPr>
          <p:cNvPr id="13" name="TextBox 12"/>
          <p:cNvSpPr txBox="1"/>
          <p:nvPr/>
        </p:nvSpPr>
        <p:spPr>
          <a:xfrm>
            <a:off x="914400" y="2194560"/>
            <a:ext cx="2331720" cy="365760"/>
          </a:xfrm>
          <a:prstGeom prst="rect">
            <a:avLst/>
          </a:prstGeom>
          <a:noFill/>
        </p:spPr>
        <p:txBody>
          <a:bodyPr wrap="square" lIns="0" rIns="0" tIns="0" bIns="0" anchor="t">
            <a:spAutoFit/>
          </a:bodyPr>
          <a:lstStyle/>
          <a:p>
            <a:pPr algn="l"/>
            <a:r>
              <a:rPr sz="1300" b="1">
                <a:solidFill>
                  <a:srgbClr val="0F4C81"/>
                </a:solidFill>
                <a:latin typeface="Yu Gothic"/>
              </a:rPr>
              <a:t>同行訪問</a:t>
            </a:r>
          </a:p>
        </p:txBody>
      </p:sp>
      <p:sp>
        <p:nvSpPr>
          <p:cNvPr id="14" name="TextBox 13"/>
          <p:cNvSpPr txBox="1"/>
          <p:nvPr/>
        </p:nvSpPr>
        <p:spPr>
          <a:xfrm>
            <a:off x="914400" y="2560320"/>
            <a:ext cx="2331720" cy="1188720"/>
          </a:xfrm>
          <a:prstGeom prst="rect">
            <a:avLst/>
          </a:prstGeom>
          <a:noFill/>
        </p:spPr>
        <p:txBody>
          <a:bodyPr wrap="square" lIns="0" rIns="0" tIns="0" bIns="0" anchor="t">
            <a:spAutoFit/>
          </a:bodyPr>
          <a:lstStyle/>
          <a:p>
            <a:pPr algn="l"/>
            <a:r>
              <a:rPr sz="1100" b="0">
                <a:solidFill>
                  <a:srgbClr val="5A6B80"/>
                </a:solidFill>
                <a:latin typeface="Yu Gothic"/>
              </a:rPr>
              <a:t>初回・困難事例で主任が同行。終了後に必ず振り返り。</a:t>
            </a:r>
          </a:p>
        </p:txBody>
      </p:sp>
      <p:sp>
        <p:nvSpPr>
          <p:cNvPr id="15" name="Rectangle 14"/>
          <p:cNvSpPr/>
          <p:nvPr/>
        </p:nvSpPr>
        <p:spPr>
          <a:xfrm>
            <a:off x="3429000" y="1508760"/>
            <a:ext cx="260604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1508760"/>
            <a:ext cx="26060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11880" y="169164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1700784"/>
            <a:ext cx="411480" cy="411480"/>
          </a:xfrm>
          <a:prstGeom prst="rect">
            <a:avLst/>
          </a:prstGeom>
          <a:noFill/>
        </p:spPr>
        <p:txBody>
          <a:bodyPr wrap="square" lIns="0" rIns="0" tIns="0" bIns="0" anchor="ctr">
            <a:spAutoFit/>
          </a:bodyPr>
          <a:lstStyle/>
          <a:p>
            <a:pPr algn="ctr"/>
            <a:r>
              <a:rPr sz="1400" b="1">
                <a:solidFill>
                  <a:srgbClr val="FFFFFF"/>
                </a:solidFill>
                <a:latin typeface="Yu Gothic"/>
              </a:rPr>
              <a:t>2</a:t>
            </a:r>
          </a:p>
        </p:txBody>
      </p:sp>
      <p:sp>
        <p:nvSpPr>
          <p:cNvPr id="19" name="TextBox 18"/>
          <p:cNvSpPr txBox="1"/>
          <p:nvPr/>
        </p:nvSpPr>
        <p:spPr>
          <a:xfrm>
            <a:off x="3611880" y="2194560"/>
            <a:ext cx="2331720" cy="365760"/>
          </a:xfrm>
          <a:prstGeom prst="rect">
            <a:avLst/>
          </a:prstGeom>
          <a:noFill/>
        </p:spPr>
        <p:txBody>
          <a:bodyPr wrap="square" lIns="0" rIns="0" tIns="0" bIns="0" anchor="t">
            <a:spAutoFit/>
          </a:bodyPr>
          <a:lstStyle/>
          <a:p>
            <a:pPr algn="l"/>
            <a:r>
              <a:rPr sz="1300" b="1">
                <a:solidFill>
                  <a:srgbClr val="0F4C81"/>
                </a:solidFill>
                <a:latin typeface="Yu Gothic"/>
              </a:rPr>
              <a:t>ケアプラン点検</a:t>
            </a:r>
          </a:p>
        </p:txBody>
      </p:sp>
      <p:sp>
        <p:nvSpPr>
          <p:cNvPr id="20" name="TextBox 19"/>
          <p:cNvSpPr txBox="1"/>
          <p:nvPr/>
        </p:nvSpPr>
        <p:spPr>
          <a:xfrm>
            <a:off x="3611880" y="2560320"/>
            <a:ext cx="2331720" cy="1188720"/>
          </a:xfrm>
          <a:prstGeom prst="rect">
            <a:avLst/>
          </a:prstGeom>
          <a:noFill/>
        </p:spPr>
        <p:txBody>
          <a:bodyPr wrap="square" lIns="0" rIns="0" tIns="0" bIns="0" anchor="t">
            <a:spAutoFit/>
          </a:bodyPr>
          <a:lstStyle/>
          <a:p>
            <a:pPr algn="l"/>
            <a:r>
              <a:rPr sz="1100" b="0">
                <a:solidFill>
                  <a:srgbClr val="5A6B80"/>
                </a:solidFill>
                <a:latin typeface="Yu Gothic"/>
              </a:rPr>
              <a:t>毎月、主任が新人プランをレビュー。点検視点を標準化。</a:t>
            </a:r>
          </a:p>
        </p:txBody>
      </p:sp>
      <p:sp>
        <p:nvSpPr>
          <p:cNvPr id="21" name="Rectangle 20"/>
          <p:cNvSpPr/>
          <p:nvPr/>
        </p:nvSpPr>
        <p:spPr>
          <a:xfrm>
            <a:off x="6126480" y="1508760"/>
            <a:ext cx="260604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1508760"/>
            <a:ext cx="26060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09360" y="169164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1700784"/>
            <a:ext cx="411480" cy="411480"/>
          </a:xfrm>
          <a:prstGeom prst="rect">
            <a:avLst/>
          </a:prstGeom>
          <a:noFill/>
        </p:spPr>
        <p:txBody>
          <a:bodyPr wrap="square" lIns="0" rIns="0" tIns="0" bIns="0" anchor="ctr">
            <a:spAutoFit/>
          </a:bodyPr>
          <a:lstStyle/>
          <a:p>
            <a:pPr algn="ctr"/>
            <a:r>
              <a:rPr sz="1400" b="1">
                <a:solidFill>
                  <a:srgbClr val="FFFFFF"/>
                </a:solidFill>
                <a:latin typeface="Yu Gothic"/>
              </a:rPr>
              <a:t>3</a:t>
            </a:r>
          </a:p>
        </p:txBody>
      </p:sp>
      <p:sp>
        <p:nvSpPr>
          <p:cNvPr id="25" name="TextBox 24"/>
          <p:cNvSpPr txBox="1"/>
          <p:nvPr/>
        </p:nvSpPr>
        <p:spPr>
          <a:xfrm>
            <a:off x="6309360" y="2194560"/>
            <a:ext cx="2331720" cy="365760"/>
          </a:xfrm>
          <a:prstGeom prst="rect">
            <a:avLst/>
          </a:prstGeom>
          <a:noFill/>
        </p:spPr>
        <p:txBody>
          <a:bodyPr wrap="square" lIns="0" rIns="0" tIns="0" bIns="0" anchor="t">
            <a:spAutoFit/>
          </a:bodyPr>
          <a:lstStyle/>
          <a:p>
            <a:pPr algn="l"/>
            <a:r>
              <a:rPr sz="1300" b="1">
                <a:solidFill>
                  <a:srgbClr val="0F4C81"/>
                </a:solidFill>
                <a:latin typeface="Yu Gothic"/>
              </a:rPr>
              <a:t>事例検討会</a:t>
            </a:r>
          </a:p>
        </p:txBody>
      </p:sp>
      <p:sp>
        <p:nvSpPr>
          <p:cNvPr id="26" name="TextBox 25"/>
          <p:cNvSpPr txBox="1"/>
          <p:nvPr/>
        </p:nvSpPr>
        <p:spPr>
          <a:xfrm>
            <a:off x="6309360" y="2560320"/>
            <a:ext cx="2331720" cy="1188720"/>
          </a:xfrm>
          <a:prstGeom prst="rect">
            <a:avLst/>
          </a:prstGeom>
          <a:noFill/>
        </p:spPr>
        <p:txBody>
          <a:bodyPr wrap="square" lIns="0" rIns="0" tIns="0" bIns="0" anchor="t">
            <a:spAutoFit/>
          </a:bodyPr>
          <a:lstStyle/>
          <a:p>
            <a:pPr algn="l"/>
            <a:r>
              <a:rPr sz="1100" b="0">
                <a:solidFill>
                  <a:srgbClr val="5A6B80"/>
                </a:solidFill>
                <a:latin typeface="Yu Gothic"/>
              </a:rPr>
              <a:t>月1回、全員参加。発表者持ち回りで指導力も育成。</a:t>
            </a:r>
          </a:p>
        </p:txBody>
      </p:sp>
      <p:sp>
        <p:nvSpPr>
          <p:cNvPr id="27" name="Rectangle 26"/>
          <p:cNvSpPr/>
          <p:nvPr/>
        </p:nvSpPr>
        <p:spPr>
          <a:xfrm>
            <a:off x="8823960" y="1508760"/>
            <a:ext cx="2606040" cy="22860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508760"/>
            <a:ext cx="2606040" cy="50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06840" y="1691640"/>
            <a:ext cx="411480" cy="411480"/>
          </a:xfrm>
          <a:prstGeom prst="ellipse">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1700784"/>
            <a:ext cx="411480" cy="411480"/>
          </a:xfrm>
          <a:prstGeom prst="rect">
            <a:avLst/>
          </a:prstGeom>
          <a:noFill/>
        </p:spPr>
        <p:txBody>
          <a:bodyPr wrap="square" lIns="0" rIns="0" tIns="0" bIns="0" anchor="ctr">
            <a:spAutoFit/>
          </a:bodyPr>
          <a:lstStyle/>
          <a:p>
            <a:pPr algn="ctr"/>
            <a:r>
              <a:rPr sz="1400" b="1">
                <a:solidFill>
                  <a:srgbClr val="FFFFFF"/>
                </a:solidFill>
                <a:latin typeface="Yu Gothic"/>
              </a:rPr>
              <a:t>4</a:t>
            </a:r>
          </a:p>
        </p:txBody>
      </p:sp>
      <p:sp>
        <p:nvSpPr>
          <p:cNvPr id="31" name="TextBox 30"/>
          <p:cNvSpPr txBox="1"/>
          <p:nvPr/>
        </p:nvSpPr>
        <p:spPr>
          <a:xfrm>
            <a:off x="9006840" y="2194560"/>
            <a:ext cx="2331720" cy="365760"/>
          </a:xfrm>
          <a:prstGeom prst="rect">
            <a:avLst/>
          </a:prstGeom>
          <a:noFill/>
        </p:spPr>
        <p:txBody>
          <a:bodyPr wrap="square" lIns="0" rIns="0" tIns="0" bIns="0" anchor="t">
            <a:spAutoFit/>
          </a:bodyPr>
          <a:lstStyle/>
          <a:p>
            <a:pPr algn="l"/>
            <a:r>
              <a:rPr sz="1300" b="1">
                <a:solidFill>
                  <a:srgbClr val="0F4C81"/>
                </a:solidFill>
                <a:latin typeface="Yu Gothic"/>
              </a:rPr>
              <a:t>1on1面談</a:t>
            </a:r>
          </a:p>
        </p:txBody>
      </p:sp>
      <p:sp>
        <p:nvSpPr>
          <p:cNvPr id="32" name="TextBox 31"/>
          <p:cNvSpPr txBox="1"/>
          <p:nvPr/>
        </p:nvSpPr>
        <p:spPr>
          <a:xfrm>
            <a:off x="9006840" y="2560320"/>
            <a:ext cx="2331720" cy="1188720"/>
          </a:xfrm>
          <a:prstGeom prst="rect">
            <a:avLst/>
          </a:prstGeom>
          <a:noFill/>
        </p:spPr>
        <p:txBody>
          <a:bodyPr wrap="square" lIns="0" rIns="0" tIns="0" bIns="0" anchor="t">
            <a:spAutoFit/>
          </a:bodyPr>
          <a:lstStyle/>
          <a:p>
            <a:pPr algn="l"/>
            <a:r>
              <a:rPr sz="1100" b="0">
                <a:solidFill>
                  <a:srgbClr val="5A6B80"/>
                </a:solidFill>
                <a:latin typeface="Yu Gothic"/>
              </a:rPr>
              <a:t>月1回30分。業務状況・キャリア・メンタルまで対話。</a:t>
            </a:r>
          </a:p>
        </p:txBody>
      </p:sp>
      <p:sp>
        <p:nvSpPr>
          <p:cNvPr id="33" name="Rectangle 32"/>
          <p:cNvSpPr/>
          <p:nvPr/>
        </p:nvSpPr>
        <p:spPr>
          <a:xfrm>
            <a:off x="731520" y="4023360"/>
            <a:ext cx="10698480" cy="109728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1520" y="4023360"/>
            <a:ext cx="45720" cy="10972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4160520"/>
            <a:ext cx="10332720" cy="91440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OJTを「指導者の善意」に任せない：</a:t>
            </a:r>
            <a:r>
              <a:rPr sz="1400" b="0">
                <a:solidFill>
                  <a:srgbClr val="6B4E00"/>
                </a:solidFill>
                <a:latin typeface="Yu Gothic"/>
              </a:rPr>
              <a:t>記録様式・チェックリスト・点検視点を事業所共通のフォーマットとして整備し、誰が指導しても一定の質を担保する。</a:t>
            </a:r>
          </a:p>
        </p:txBody>
      </p:sp>
      <p:sp>
        <p:nvSpPr>
          <p:cNvPr id="36" name="TextBox 35"/>
          <p:cNvSpPr txBox="1"/>
          <p:nvPr/>
        </p:nvSpPr>
        <p:spPr>
          <a:xfrm>
            <a:off x="731520" y="5257800"/>
            <a:ext cx="10698480" cy="365760"/>
          </a:xfrm>
          <a:prstGeom prst="rect">
            <a:avLst/>
          </a:prstGeom>
          <a:noFill/>
        </p:spPr>
        <p:txBody>
          <a:bodyPr wrap="square" lIns="0" rIns="0" tIns="0" bIns="0" anchor="t">
            <a:spAutoFit/>
          </a:bodyPr>
          <a:lstStyle/>
          <a:p>
            <a:pPr algn="l"/>
            <a:r>
              <a:rPr sz="1500" b="1">
                <a:solidFill>
                  <a:srgbClr val="2D6FB3"/>
                </a:solidFill>
                <a:latin typeface="Yu Gothic"/>
              </a:rPr>
              <a:t>主任ケアマネにとってのメリット</a:t>
            </a:r>
          </a:p>
        </p:txBody>
      </p:sp>
      <p:sp>
        <p:nvSpPr>
          <p:cNvPr id="37" name="TextBox 36"/>
          <p:cNvSpPr txBox="1"/>
          <p:nvPr/>
        </p:nvSpPr>
        <p:spPr>
          <a:xfrm>
            <a:off x="822960" y="5669280"/>
            <a:ext cx="10515600" cy="731520"/>
          </a:xfrm>
          <a:prstGeom prst="rect">
            <a:avLst/>
          </a:prstGeom>
          <a:noFill/>
        </p:spPr>
        <p:txBody>
          <a:bodyPr wrap="square" lIns="0" rIns="0" tIns="0" bIns="0" anchor="t">
            <a:spAutoFit/>
          </a:bodyPr>
          <a:lstStyle/>
          <a:p>
            <a:pPr algn="l">
              <a:lnSpc>
                <a:spcPct val="140000"/>
              </a:lnSpc>
            </a:pPr>
            <a:r>
              <a:rPr sz="1200" b="1">
                <a:solidFill>
                  <a:srgbClr val="F5A623"/>
                </a:solidFill>
                <a:latin typeface="Yu Gothic"/>
              </a:rPr>
              <a:t>■  </a:t>
            </a:r>
            <a:r>
              <a:rPr sz="1300" b="0">
                <a:solidFill>
                  <a:srgbClr val="1F2D3D"/>
                </a:solidFill>
                <a:latin typeface="Yu Gothic"/>
              </a:rPr>
              <a:t>OJT・事例検討・研修企画等の実績は、都道府県の受講要件や実績確認に関連する場合がある</a:t>
            </a:r>
          </a:p>
          <a:p>
            <a:pPr algn="l">
              <a:lnSpc>
                <a:spcPct val="140000"/>
              </a:lnSpc>
            </a:pPr>
            <a:r>
              <a:rPr sz="1200" b="1">
                <a:solidFill>
                  <a:srgbClr val="F5A623"/>
                </a:solidFill>
                <a:latin typeface="Yu Gothic"/>
              </a:rPr>
              <a:t>■  </a:t>
            </a:r>
            <a:r>
              <a:rPr sz="1300" b="0">
                <a:solidFill>
                  <a:srgbClr val="1F2D3D"/>
                </a:solidFill>
                <a:latin typeface="Yu Gothic"/>
              </a:rPr>
              <a:t>指導を通じた自身の振り返りで更新研修の事例提出が容易に</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研修効果を実務に定着させる工夫</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16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10698480" cy="365760"/>
          </a:xfrm>
          <a:prstGeom prst="rect">
            <a:avLst/>
          </a:prstGeom>
          <a:noFill/>
        </p:spPr>
        <p:txBody>
          <a:bodyPr wrap="square" lIns="0" rIns="0" tIns="0" bIns="0" anchor="t">
            <a:spAutoFit/>
          </a:bodyPr>
          <a:lstStyle/>
          <a:p>
            <a:pPr algn="l"/>
            <a:r>
              <a:rPr sz="1600" b="1">
                <a:solidFill>
                  <a:srgbClr val="2D6FB3"/>
                </a:solidFill>
                <a:latin typeface="Yu Gothic"/>
              </a:rPr>
              <a:t>「受けっぱなし」を防ぐ3つの仕掛け</a:t>
            </a:r>
          </a:p>
        </p:txBody>
      </p:sp>
      <p:sp>
        <p:nvSpPr>
          <p:cNvPr id="10" name="Rectangle 9"/>
          <p:cNvSpPr/>
          <p:nvPr/>
        </p:nvSpPr>
        <p:spPr>
          <a:xfrm>
            <a:off x="731520" y="1874519"/>
            <a:ext cx="5349240" cy="18288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874519"/>
            <a:ext cx="45720" cy="1828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984247"/>
            <a:ext cx="4983480" cy="365760"/>
          </a:xfrm>
          <a:prstGeom prst="rect">
            <a:avLst/>
          </a:prstGeom>
          <a:noFill/>
        </p:spPr>
        <p:txBody>
          <a:bodyPr wrap="square" lIns="0" rIns="0" tIns="0" bIns="0" anchor="t">
            <a:spAutoFit/>
          </a:bodyPr>
          <a:lstStyle/>
          <a:p>
            <a:pPr algn="l"/>
            <a:r>
              <a:rPr sz="1500" b="1">
                <a:solidFill>
                  <a:srgbClr val="0F4C81"/>
                </a:solidFill>
                <a:latin typeface="Yu Gothic"/>
              </a:rPr>
              <a:t>① 事前学習</a:t>
            </a:r>
          </a:p>
        </p:txBody>
      </p:sp>
      <p:sp>
        <p:nvSpPr>
          <p:cNvPr id="13" name="TextBox 12"/>
          <p:cNvSpPr txBox="1"/>
          <p:nvPr/>
        </p:nvSpPr>
        <p:spPr>
          <a:xfrm>
            <a:off x="960120" y="2377439"/>
            <a:ext cx="4983480" cy="12344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研修テキストに目を通し、持ち帰りたい問いを1つ決めてから参加</a:t>
            </a:r>
          </a:p>
        </p:txBody>
      </p:sp>
      <p:sp>
        <p:nvSpPr>
          <p:cNvPr id="14" name="Rectangle 13"/>
          <p:cNvSpPr/>
          <p:nvPr/>
        </p:nvSpPr>
        <p:spPr>
          <a:xfrm>
            <a:off x="6126480" y="1874519"/>
            <a:ext cx="5349240" cy="18288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874519"/>
            <a:ext cx="45720" cy="18288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984247"/>
            <a:ext cx="4983480" cy="365760"/>
          </a:xfrm>
          <a:prstGeom prst="rect">
            <a:avLst/>
          </a:prstGeom>
          <a:noFill/>
        </p:spPr>
        <p:txBody>
          <a:bodyPr wrap="square" lIns="0" rIns="0" tIns="0" bIns="0" anchor="t">
            <a:spAutoFit/>
          </a:bodyPr>
          <a:lstStyle/>
          <a:p>
            <a:pPr algn="l"/>
            <a:r>
              <a:rPr sz="1500" b="1">
                <a:solidFill>
                  <a:srgbClr val="0F4C81"/>
                </a:solidFill>
                <a:latin typeface="Yu Gothic"/>
              </a:rPr>
              <a:t>② 事業所内シェア会</a:t>
            </a:r>
          </a:p>
        </p:txBody>
      </p:sp>
      <p:sp>
        <p:nvSpPr>
          <p:cNvPr id="17" name="TextBox 16"/>
          <p:cNvSpPr txBox="1"/>
          <p:nvPr/>
        </p:nvSpPr>
        <p:spPr>
          <a:xfrm>
            <a:off x="6355080" y="2377439"/>
            <a:ext cx="4983480" cy="12344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研修翌週に30分。「明日から変えること」を1つ宣言してもらう</a:t>
            </a:r>
          </a:p>
        </p:txBody>
      </p:sp>
      <p:sp>
        <p:nvSpPr>
          <p:cNvPr id="18" name="Rectangle 17"/>
          <p:cNvSpPr/>
          <p:nvPr/>
        </p:nvSpPr>
        <p:spPr>
          <a:xfrm>
            <a:off x="731520" y="3840480"/>
            <a:ext cx="5349240" cy="18288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840480"/>
            <a:ext cx="45720" cy="182880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950208"/>
            <a:ext cx="4983480" cy="365760"/>
          </a:xfrm>
          <a:prstGeom prst="rect">
            <a:avLst/>
          </a:prstGeom>
          <a:noFill/>
        </p:spPr>
        <p:txBody>
          <a:bodyPr wrap="square" lIns="0" rIns="0" tIns="0" bIns="0" anchor="t">
            <a:spAutoFit/>
          </a:bodyPr>
          <a:lstStyle/>
          <a:p>
            <a:pPr algn="l"/>
            <a:r>
              <a:rPr sz="1500" b="1">
                <a:solidFill>
                  <a:srgbClr val="0F4C81"/>
                </a:solidFill>
                <a:latin typeface="Yu Gothic"/>
              </a:rPr>
              <a:t>③ 3ヶ月後フォロー</a:t>
            </a:r>
          </a:p>
        </p:txBody>
      </p:sp>
      <p:sp>
        <p:nvSpPr>
          <p:cNvPr id="21" name="TextBox 20"/>
          <p:cNvSpPr txBox="1"/>
          <p:nvPr/>
        </p:nvSpPr>
        <p:spPr>
          <a:xfrm>
            <a:off x="960120" y="4343400"/>
            <a:ext cx="4983480" cy="12344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「変えると宣言したこと」が継続しているか、1on1で確認</a:t>
            </a:r>
          </a:p>
        </p:txBody>
      </p:sp>
      <p:sp>
        <p:nvSpPr>
          <p:cNvPr id="22" name="Rectangle 21"/>
          <p:cNvSpPr/>
          <p:nvPr/>
        </p:nvSpPr>
        <p:spPr>
          <a:xfrm>
            <a:off x="6126480" y="3840480"/>
            <a:ext cx="5349240" cy="182880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3840480"/>
            <a:ext cx="45720" cy="18288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950208"/>
            <a:ext cx="4983480" cy="365760"/>
          </a:xfrm>
          <a:prstGeom prst="rect">
            <a:avLst/>
          </a:prstGeom>
          <a:noFill/>
        </p:spPr>
        <p:txBody>
          <a:bodyPr wrap="square" lIns="0" rIns="0" tIns="0" bIns="0" anchor="t">
            <a:spAutoFit/>
          </a:bodyPr>
          <a:lstStyle/>
          <a:p>
            <a:pPr algn="l"/>
            <a:r>
              <a:rPr sz="1500" b="1">
                <a:solidFill>
                  <a:srgbClr val="0F4C81"/>
                </a:solidFill>
                <a:latin typeface="Yu Gothic"/>
              </a:rPr>
              <a:t>＋α ポートフォリオ</a:t>
            </a:r>
          </a:p>
        </p:txBody>
      </p:sp>
      <p:sp>
        <p:nvSpPr>
          <p:cNvPr id="25" name="TextBox 24"/>
          <p:cNvSpPr txBox="1"/>
          <p:nvPr/>
        </p:nvSpPr>
        <p:spPr>
          <a:xfrm>
            <a:off x="6355080" y="4343400"/>
            <a:ext cx="4983480" cy="123444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受講記録・事例・指導実績を蓄積。主任更新時の提出資料が一気に楽に</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事業所の外に学びの場をつくる</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第4章　事業所内人材育成</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17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5349240" cy="365760"/>
          </a:xfrm>
          <a:prstGeom prst="rect">
            <a:avLst/>
          </a:prstGeom>
          <a:noFill/>
        </p:spPr>
        <p:txBody>
          <a:bodyPr wrap="square" lIns="0" rIns="0" tIns="0" bIns="0" anchor="t">
            <a:spAutoFit/>
          </a:bodyPr>
          <a:lstStyle/>
          <a:p>
            <a:pPr algn="l"/>
            <a:r>
              <a:rPr sz="1600" b="1">
                <a:solidFill>
                  <a:srgbClr val="2D6FB3"/>
                </a:solidFill>
                <a:latin typeface="Yu Gothic"/>
              </a:rPr>
              <a:t>地域・多職種との連携</a:t>
            </a:r>
          </a:p>
        </p:txBody>
      </p:sp>
      <p:sp>
        <p:nvSpPr>
          <p:cNvPr id="10" name="TextBox 9"/>
          <p:cNvSpPr txBox="1"/>
          <p:nvPr/>
        </p:nvSpPr>
        <p:spPr>
          <a:xfrm>
            <a:off x="822960" y="1920240"/>
            <a:ext cx="5212080" cy="2743200"/>
          </a:xfrm>
          <a:prstGeom prst="rect">
            <a:avLst/>
          </a:prstGeom>
          <a:noFill/>
        </p:spPr>
        <p:txBody>
          <a:bodyPr wrap="square" lIns="0" rIns="0" tIns="0" bIns="0" anchor="t">
            <a:spAutoFit/>
          </a:bodyPr>
          <a:lstStyle/>
          <a:p>
            <a:pPr algn="l">
              <a:lnSpc>
                <a:spcPct val="160000"/>
              </a:lnSpc>
            </a:pPr>
            <a:r>
              <a:rPr sz="1200" b="1">
                <a:solidFill>
                  <a:srgbClr val="F5A623"/>
                </a:solidFill>
                <a:latin typeface="Yu Gothic"/>
              </a:rPr>
              <a:t>■  </a:t>
            </a:r>
            <a:r>
              <a:rPr sz="1400" b="0">
                <a:solidFill>
                  <a:srgbClr val="1F2D3D"/>
                </a:solidFill>
                <a:latin typeface="Yu Gothic"/>
              </a:rPr>
              <a:t>地域ケア会議への積極参加（事例提供・コメント）</a:t>
            </a:r>
          </a:p>
          <a:p>
            <a:pPr algn="l">
              <a:lnSpc>
                <a:spcPct val="160000"/>
              </a:lnSpc>
            </a:pPr>
            <a:r>
              <a:rPr sz="1200" b="1">
                <a:solidFill>
                  <a:srgbClr val="F5A623"/>
                </a:solidFill>
                <a:latin typeface="Yu Gothic"/>
              </a:rPr>
              <a:t>■  </a:t>
            </a:r>
            <a:r>
              <a:rPr sz="1400" b="0">
                <a:solidFill>
                  <a:srgbClr val="1F2D3D"/>
                </a:solidFill>
                <a:latin typeface="Yu Gothic"/>
              </a:rPr>
              <a:t>地域包括支援センター主催の研修・連絡会</a:t>
            </a:r>
          </a:p>
          <a:p>
            <a:pPr algn="l">
              <a:lnSpc>
                <a:spcPct val="160000"/>
              </a:lnSpc>
            </a:pPr>
            <a:r>
              <a:rPr sz="1200" b="1">
                <a:solidFill>
                  <a:srgbClr val="F5A623"/>
                </a:solidFill>
                <a:latin typeface="Yu Gothic"/>
              </a:rPr>
              <a:t>■  </a:t>
            </a:r>
            <a:r>
              <a:rPr sz="1400" b="0">
                <a:solidFill>
                  <a:srgbClr val="1F2D3D"/>
                </a:solidFill>
                <a:latin typeface="Yu Gothic"/>
              </a:rPr>
              <a:t>医療機関の退院前カンファレンスを学びの機会に</a:t>
            </a:r>
          </a:p>
          <a:p>
            <a:pPr algn="l">
              <a:lnSpc>
                <a:spcPct val="160000"/>
              </a:lnSpc>
            </a:pPr>
            <a:r>
              <a:rPr sz="1200" b="1">
                <a:solidFill>
                  <a:srgbClr val="F5A623"/>
                </a:solidFill>
                <a:latin typeface="Yu Gothic"/>
              </a:rPr>
              <a:t>■  </a:t>
            </a:r>
            <a:r>
              <a:rPr sz="1400" b="0">
                <a:solidFill>
                  <a:srgbClr val="1F2D3D"/>
                </a:solidFill>
                <a:latin typeface="Yu Gothic"/>
              </a:rPr>
              <a:t>近隣事業所との合同事例検討会</a:t>
            </a:r>
          </a:p>
        </p:txBody>
      </p:sp>
      <p:sp>
        <p:nvSpPr>
          <p:cNvPr id="11" name="TextBox 10"/>
          <p:cNvSpPr txBox="1"/>
          <p:nvPr/>
        </p:nvSpPr>
        <p:spPr>
          <a:xfrm>
            <a:off x="6263640" y="1417320"/>
            <a:ext cx="5349240" cy="365760"/>
          </a:xfrm>
          <a:prstGeom prst="rect">
            <a:avLst/>
          </a:prstGeom>
          <a:noFill/>
        </p:spPr>
        <p:txBody>
          <a:bodyPr wrap="square" lIns="0" rIns="0" tIns="0" bIns="0" anchor="t">
            <a:spAutoFit/>
          </a:bodyPr>
          <a:lstStyle/>
          <a:p>
            <a:pPr algn="l"/>
            <a:r>
              <a:rPr sz="1600" b="1">
                <a:solidFill>
                  <a:srgbClr val="2D6FB3"/>
                </a:solidFill>
                <a:latin typeface="Yu Gothic"/>
              </a:rPr>
              <a:t>外部資源の活用</a:t>
            </a:r>
          </a:p>
        </p:txBody>
      </p:sp>
      <p:sp>
        <p:nvSpPr>
          <p:cNvPr id="12" name="TextBox 11"/>
          <p:cNvSpPr txBox="1"/>
          <p:nvPr/>
        </p:nvSpPr>
        <p:spPr>
          <a:xfrm>
            <a:off x="6355080" y="1920240"/>
            <a:ext cx="5212080" cy="2743200"/>
          </a:xfrm>
          <a:prstGeom prst="rect">
            <a:avLst/>
          </a:prstGeom>
          <a:noFill/>
        </p:spPr>
        <p:txBody>
          <a:bodyPr wrap="square" lIns="0" rIns="0" tIns="0" bIns="0" anchor="t">
            <a:spAutoFit/>
          </a:bodyPr>
          <a:lstStyle/>
          <a:p>
            <a:pPr algn="l">
              <a:lnSpc>
                <a:spcPct val="160000"/>
              </a:lnSpc>
            </a:pPr>
            <a:r>
              <a:rPr sz="1200" b="1">
                <a:solidFill>
                  <a:srgbClr val="F5A623"/>
                </a:solidFill>
                <a:latin typeface="Yu Gothic"/>
              </a:rPr>
              <a:t>■  </a:t>
            </a:r>
            <a:r>
              <a:rPr sz="1400" b="0">
                <a:solidFill>
                  <a:srgbClr val="1F2D3D"/>
                </a:solidFill>
                <a:latin typeface="Yu Gothic"/>
              </a:rPr>
              <a:t>都道府県・市町村介護支援専門員協会の研修</a:t>
            </a:r>
          </a:p>
          <a:p>
            <a:pPr algn="l">
              <a:lnSpc>
                <a:spcPct val="160000"/>
              </a:lnSpc>
            </a:pPr>
            <a:r>
              <a:rPr sz="1200" b="1">
                <a:solidFill>
                  <a:srgbClr val="F5A623"/>
                </a:solidFill>
                <a:latin typeface="Yu Gothic"/>
              </a:rPr>
              <a:t>■  </a:t>
            </a:r>
            <a:r>
              <a:rPr sz="1400" b="0">
                <a:solidFill>
                  <a:srgbClr val="1F2D3D"/>
                </a:solidFill>
                <a:latin typeface="Yu Gothic"/>
              </a:rPr>
              <a:t>日本ケアマネジメント学会など学術団体</a:t>
            </a:r>
          </a:p>
          <a:p>
            <a:pPr algn="l">
              <a:lnSpc>
                <a:spcPct val="160000"/>
              </a:lnSpc>
            </a:pPr>
            <a:r>
              <a:rPr sz="1200" b="1">
                <a:solidFill>
                  <a:srgbClr val="F5A623"/>
                </a:solidFill>
                <a:latin typeface="Yu Gothic"/>
              </a:rPr>
              <a:t>■  </a:t>
            </a:r>
            <a:r>
              <a:rPr sz="1400" b="0">
                <a:solidFill>
                  <a:srgbClr val="1F2D3D"/>
                </a:solidFill>
                <a:latin typeface="Yu Gothic"/>
              </a:rPr>
              <a:t>「適切なケアマネジメント手法」関連の研修</a:t>
            </a:r>
          </a:p>
          <a:p>
            <a:pPr algn="l">
              <a:lnSpc>
                <a:spcPct val="160000"/>
              </a:lnSpc>
            </a:pPr>
            <a:r>
              <a:rPr sz="1200" b="1">
                <a:solidFill>
                  <a:srgbClr val="F5A623"/>
                </a:solidFill>
                <a:latin typeface="Yu Gothic"/>
              </a:rPr>
              <a:t>■  </a:t>
            </a:r>
            <a:r>
              <a:rPr sz="1400" b="0">
                <a:solidFill>
                  <a:srgbClr val="1F2D3D"/>
                </a:solidFill>
                <a:latin typeface="Yu Gothic"/>
              </a:rPr>
              <a:t>主任更新研修の講師依頼を受ける側になる</a:t>
            </a:r>
          </a:p>
        </p:txBody>
      </p:sp>
      <p:sp>
        <p:nvSpPr>
          <p:cNvPr id="13" name="Rectangle 12"/>
          <p:cNvSpPr/>
          <p:nvPr/>
        </p:nvSpPr>
        <p:spPr>
          <a:xfrm>
            <a:off x="731520" y="4846320"/>
            <a:ext cx="10698480" cy="128016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846320"/>
            <a:ext cx="45720" cy="12801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83480"/>
            <a:ext cx="10332720" cy="109728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外部活動は更新の追い風：</a:t>
            </a:r>
            <a:r>
              <a:rPr sz="1400" b="0">
                <a:solidFill>
                  <a:srgbClr val="6B4E00"/>
                </a:solidFill>
                <a:latin typeface="Yu Gothic"/>
              </a:rPr>
              <a:t>地域ケア会議の事例提供や講師経験、法定外研修への参加等は、都道府県によっては主任更新研修の受講要件・実績確認に関連する場合がある。所管自治体の要綱を確認のこと。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第5章　モデルケース　A居宅介護支援事業所（架空事例）</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第5章　モデルケース</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18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25880"/>
            <a:ext cx="10698480" cy="320040"/>
          </a:xfrm>
          <a:prstGeom prst="rect">
            <a:avLst/>
          </a:prstGeom>
          <a:noFill/>
        </p:spPr>
        <p:txBody>
          <a:bodyPr wrap="square" lIns="0" rIns="0" tIns="0" bIns="0" anchor="t">
            <a:spAutoFit/>
          </a:bodyPr>
          <a:lstStyle/>
          <a:p>
            <a:pPr algn="l"/>
            <a:r>
              <a:rPr sz="1100" b="0">
                <a:solidFill>
                  <a:srgbClr val="5A6B80"/>
                </a:solidFill>
                <a:latin typeface="Yu Gothic"/>
              </a:rPr>
              <a:t>※本事例は、本資料の解説を目的としたモデルケースであり、特定の事業所の実績ではありません。</a:t>
            </a:r>
          </a:p>
        </p:txBody>
      </p:sp>
      <p:sp>
        <p:nvSpPr>
          <p:cNvPr id="10" name="Rectangle 9"/>
          <p:cNvSpPr/>
          <p:nvPr/>
        </p:nvSpPr>
        <p:spPr>
          <a:xfrm>
            <a:off x="731520" y="1691640"/>
            <a:ext cx="5349240" cy="155448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691640"/>
            <a:ext cx="45720" cy="155448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01368"/>
            <a:ext cx="4983480" cy="365760"/>
          </a:xfrm>
          <a:prstGeom prst="rect">
            <a:avLst/>
          </a:prstGeom>
          <a:noFill/>
        </p:spPr>
        <p:txBody>
          <a:bodyPr wrap="square" lIns="0" rIns="0" tIns="0" bIns="0" anchor="t">
            <a:spAutoFit/>
          </a:bodyPr>
          <a:lstStyle/>
          <a:p>
            <a:pPr algn="l"/>
            <a:r>
              <a:rPr sz="1500" b="1">
                <a:solidFill>
                  <a:srgbClr val="0F4C81"/>
                </a:solidFill>
                <a:latin typeface="Yu Gothic"/>
              </a:rPr>
              <a:t>事業所プロフィール（モデル）</a:t>
            </a:r>
          </a:p>
        </p:txBody>
      </p:sp>
      <p:sp>
        <p:nvSpPr>
          <p:cNvPr id="13" name="TextBox 12"/>
          <p:cNvSpPr txBox="1"/>
          <p:nvPr/>
        </p:nvSpPr>
        <p:spPr>
          <a:xfrm>
            <a:off x="960120" y="2194560"/>
            <a:ext cx="4983480" cy="96012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常勤ケアマネ6名（うち主任3名）</a:t>
            </a:r>
          </a:p>
          <a:p>
            <a:pPr algn="l">
              <a:lnSpc>
                <a:spcPct val="130000"/>
              </a:lnSpc>
            </a:pPr>
            <a:r>
              <a:rPr sz="1100" b="1">
                <a:solidFill>
                  <a:srgbClr val="F5A623"/>
                </a:solidFill>
                <a:latin typeface="Yu Gothic"/>
              </a:rPr>
              <a:t>■  </a:t>
            </a:r>
            <a:r>
              <a:rPr sz="1300" b="0">
                <a:solidFill>
                  <a:srgbClr val="1F2D3D"/>
                </a:solidFill>
                <a:latin typeface="Yu Gothic"/>
              </a:rPr>
              <a:t>担当件数 約180件</a:t>
            </a:r>
          </a:p>
          <a:p>
            <a:pPr algn="l">
              <a:lnSpc>
                <a:spcPct val="130000"/>
              </a:lnSpc>
            </a:pPr>
            <a:r>
              <a:rPr sz="1100" b="1">
                <a:solidFill>
                  <a:srgbClr val="F5A623"/>
                </a:solidFill>
                <a:latin typeface="Yu Gothic"/>
              </a:rPr>
              <a:t>■  </a:t>
            </a:r>
            <a:r>
              <a:rPr sz="1300" b="0">
                <a:solidFill>
                  <a:srgbClr val="1F2D3D"/>
                </a:solidFill>
                <a:latin typeface="Yu Gothic"/>
              </a:rPr>
              <a:t>特定事業所加算（I）取得</a:t>
            </a:r>
          </a:p>
        </p:txBody>
      </p:sp>
      <p:sp>
        <p:nvSpPr>
          <p:cNvPr id="14" name="Rectangle 13"/>
          <p:cNvSpPr/>
          <p:nvPr/>
        </p:nvSpPr>
        <p:spPr>
          <a:xfrm>
            <a:off x="6126480" y="1691640"/>
            <a:ext cx="5349240" cy="155448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691640"/>
            <a:ext cx="45720" cy="15544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801368"/>
            <a:ext cx="4983480" cy="365760"/>
          </a:xfrm>
          <a:prstGeom prst="rect">
            <a:avLst/>
          </a:prstGeom>
          <a:noFill/>
        </p:spPr>
        <p:txBody>
          <a:bodyPr wrap="square" lIns="0" rIns="0" tIns="0" bIns="0" anchor="t">
            <a:spAutoFit/>
          </a:bodyPr>
          <a:lstStyle/>
          <a:p>
            <a:pPr algn="l"/>
            <a:r>
              <a:rPr sz="1500" b="1">
                <a:solidFill>
                  <a:srgbClr val="0F4C81"/>
                </a:solidFill>
                <a:latin typeface="Yu Gothic"/>
              </a:rPr>
              <a:t>取り組み前の課題（モデル）</a:t>
            </a:r>
          </a:p>
        </p:txBody>
      </p:sp>
      <p:sp>
        <p:nvSpPr>
          <p:cNvPr id="17" name="TextBox 16"/>
          <p:cNvSpPr txBox="1"/>
          <p:nvPr/>
        </p:nvSpPr>
        <p:spPr>
          <a:xfrm>
            <a:off x="6355080" y="2194560"/>
            <a:ext cx="4983480" cy="96012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主任の更新時期が重なり業務麻痺</a:t>
            </a:r>
          </a:p>
          <a:p>
            <a:pPr algn="l">
              <a:lnSpc>
                <a:spcPct val="130000"/>
              </a:lnSpc>
            </a:pPr>
            <a:r>
              <a:rPr sz="1100" b="1">
                <a:solidFill>
                  <a:srgbClr val="F5A623"/>
                </a:solidFill>
                <a:latin typeface="Yu Gothic"/>
              </a:rPr>
              <a:t>■  </a:t>
            </a:r>
            <a:r>
              <a:rPr sz="1300" b="0">
                <a:solidFill>
                  <a:srgbClr val="1F2D3D"/>
                </a:solidFill>
                <a:latin typeface="Yu Gothic"/>
              </a:rPr>
              <a:t>研修参加が個人任せで非効率</a:t>
            </a:r>
          </a:p>
          <a:p>
            <a:pPr algn="l">
              <a:lnSpc>
                <a:spcPct val="130000"/>
              </a:lnSpc>
            </a:pPr>
            <a:r>
              <a:rPr sz="1100" b="1">
                <a:solidFill>
                  <a:srgbClr val="F5A623"/>
                </a:solidFill>
                <a:latin typeface="Yu Gothic"/>
              </a:rPr>
              <a:t>■  </a:t>
            </a:r>
            <a:r>
              <a:rPr sz="1300" b="0">
                <a:solidFill>
                  <a:srgbClr val="1F2D3D"/>
                </a:solidFill>
                <a:latin typeface="Yu Gothic"/>
              </a:rPr>
              <a:t>新人OJTが属人化</a:t>
            </a:r>
          </a:p>
        </p:txBody>
      </p:sp>
      <p:sp>
        <p:nvSpPr>
          <p:cNvPr id="18" name="TextBox 17"/>
          <p:cNvSpPr txBox="1"/>
          <p:nvPr/>
        </p:nvSpPr>
        <p:spPr>
          <a:xfrm>
            <a:off x="731520" y="3429000"/>
            <a:ext cx="10698480" cy="365760"/>
          </a:xfrm>
          <a:prstGeom prst="rect">
            <a:avLst/>
          </a:prstGeom>
          <a:noFill/>
        </p:spPr>
        <p:txBody>
          <a:bodyPr wrap="square" lIns="0" rIns="0" tIns="0" bIns="0" anchor="t">
            <a:spAutoFit/>
          </a:bodyPr>
          <a:lstStyle/>
          <a:p>
            <a:pPr algn="l"/>
            <a:r>
              <a:rPr sz="1600" b="1">
                <a:solidFill>
                  <a:srgbClr val="2D6FB3"/>
                </a:solidFill>
                <a:latin typeface="Yu Gothic"/>
              </a:rPr>
              <a:t>実施した3つの施策</a:t>
            </a:r>
          </a:p>
        </p:txBody>
      </p:sp>
      <p:sp>
        <p:nvSpPr>
          <p:cNvPr id="19" name="TextBox 18"/>
          <p:cNvSpPr txBox="1"/>
          <p:nvPr/>
        </p:nvSpPr>
        <p:spPr>
          <a:xfrm>
            <a:off x="822960" y="3886200"/>
            <a:ext cx="10515600" cy="1371600"/>
          </a:xfrm>
          <a:prstGeom prst="rect">
            <a:avLst/>
          </a:prstGeom>
          <a:noFill/>
        </p:spPr>
        <p:txBody>
          <a:bodyPr wrap="square" lIns="0" rIns="0" tIns="0" bIns="0" anchor="t">
            <a:spAutoFit/>
          </a:bodyPr>
          <a:lstStyle/>
          <a:p>
            <a:pPr algn="l">
              <a:lnSpc>
                <a:spcPct val="160000"/>
              </a:lnSpc>
            </a:pPr>
            <a:r>
              <a:rPr sz="1400" b="1">
                <a:solidFill>
                  <a:srgbClr val="F5A623"/>
                </a:solidFill>
                <a:latin typeface="Yu Gothic"/>
              </a:rPr>
              <a:t>1.  </a:t>
            </a:r>
            <a:r>
              <a:rPr sz="1400" b="0">
                <a:solidFill>
                  <a:srgbClr val="1F2D3D"/>
                </a:solidFill>
                <a:latin typeface="Yu Gothic"/>
              </a:rPr>
              <a:t>人材台帳の整備と5年スパンの更新ローテーション</a:t>
            </a:r>
          </a:p>
          <a:p>
            <a:pPr algn="l">
              <a:lnSpc>
                <a:spcPct val="160000"/>
              </a:lnSpc>
            </a:pPr>
            <a:r>
              <a:rPr sz="1400" b="1">
                <a:solidFill>
                  <a:srgbClr val="F5A623"/>
                </a:solidFill>
                <a:latin typeface="Yu Gothic"/>
              </a:rPr>
              <a:t>2.  </a:t>
            </a:r>
            <a:r>
              <a:rPr sz="1400" b="0">
                <a:solidFill>
                  <a:srgbClr val="1F2D3D"/>
                </a:solidFill>
                <a:latin typeface="Yu Gothic"/>
              </a:rPr>
              <a:t>月例事例検討会の定例化と発表者ローテ</a:t>
            </a:r>
          </a:p>
          <a:p>
            <a:pPr algn="l">
              <a:lnSpc>
                <a:spcPct val="160000"/>
              </a:lnSpc>
            </a:pPr>
            <a:r>
              <a:rPr sz="1400" b="1">
                <a:solidFill>
                  <a:srgbClr val="F5A623"/>
                </a:solidFill>
                <a:latin typeface="Yu Gothic"/>
              </a:rPr>
              <a:t>3.  </a:t>
            </a:r>
            <a:r>
              <a:rPr sz="1400" b="0">
                <a:solidFill>
                  <a:srgbClr val="1F2D3D"/>
                </a:solidFill>
                <a:latin typeface="Yu Gothic"/>
              </a:rPr>
              <a:t>個人別研修計画書と半期面談の制度化</a:t>
            </a:r>
          </a:p>
        </p:txBody>
      </p:sp>
      <p:sp>
        <p:nvSpPr>
          <p:cNvPr id="20" name="Rectangle 19"/>
          <p:cNvSpPr/>
          <p:nvPr/>
        </p:nvSpPr>
        <p:spPr>
          <a:xfrm>
            <a:off x="731520" y="5349240"/>
            <a:ext cx="10698480" cy="86868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349240"/>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486400"/>
            <a:ext cx="10332720" cy="68580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想定される効果（モデル）：</a:t>
            </a:r>
            <a:r>
              <a:rPr sz="1400" b="0">
                <a:solidFill>
                  <a:srgbClr val="6B4E00"/>
                </a:solidFill>
                <a:latin typeface="Yu Gothic"/>
              </a:rPr>
              <a:t>受講機会の確実な確保／主任更新の取りこぼし防止／加算要件の安定的維持／OJT標準化による定着率改善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明日から始めるチェックリスト</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第5章　モデルケース</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19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45720" cy="21945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 制度理解</a:t>
            </a:r>
          </a:p>
        </p:txBody>
      </p:sp>
      <p:sp>
        <p:nvSpPr>
          <p:cNvPr id="12" name="TextBox 11"/>
          <p:cNvSpPr txBox="1"/>
          <p:nvPr/>
        </p:nvSpPr>
        <p:spPr>
          <a:xfrm>
            <a:off x="960120" y="196596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新ガイドラインの確認</a:t>
            </a:r>
          </a:p>
          <a:p>
            <a:pPr algn="l">
              <a:lnSpc>
                <a:spcPct val="130000"/>
              </a:lnSpc>
            </a:pPr>
            <a:r>
              <a:rPr sz="1100" b="1">
                <a:solidFill>
                  <a:srgbClr val="F5A623"/>
                </a:solidFill>
                <a:latin typeface="Yu Gothic"/>
              </a:rPr>
              <a:t>■  </a:t>
            </a:r>
            <a:r>
              <a:rPr sz="1300" b="0">
                <a:solidFill>
                  <a:srgbClr val="1F2D3D"/>
                </a:solidFill>
                <a:latin typeface="Yu Gothic"/>
              </a:rPr>
              <a:t>都道府県の施行スケジュール把握</a:t>
            </a:r>
          </a:p>
          <a:p>
            <a:pPr algn="l">
              <a:lnSpc>
                <a:spcPct val="130000"/>
              </a:lnSpc>
            </a:pPr>
            <a:r>
              <a:rPr sz="1100" b="1">
                <a:solidFill>
                  <a:srgbClr val="F5A623"/>
                </a:solidFill>
                <a:latin typeface="Yu Gothic"/>
              </a:rPr>
              <a:t>■  </a:t>
            </a:r>
            <a:r>
              <a:rPr sz="1300" b="0">
                <a:solidFill>
                  <a:srgbClr val="1F2D3D"/>
                </a:solidFill>
                <a:latin typeface="Yu Gothic"/>
              </a:rPr>
              <a:t>eラーニング受講方法の確認</a:t>
            </a:r>
          </a:p>
        </p:txBody>
      </p:sp>
      <p:sp>
        <p:nvSpPr>
          <p:cNvPr id="13" name="Rectangle 12"/>
          <p:cNvSpPr/>
          <p:nvPr/>
        </p:nvSpPr>
        <p:spPr>
          <a:xfrm>
            <a:off x="6126480" y="146304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463040"/>
            <a:ext cx="45720" cy="2194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72768"/>
            <a:ext cx="4983480" cy="365760"/>
          </a:xfrm>
          <a:prstGeom prst="rect">
            <a:avLst/>
          </a:prstGeom>
          <a:noFill/>
        </p:spPr>
        <p:txBody>
          <a:bodyPr wrap="square" lIns="0" rIns="0" tIns="0" bIns="0" anchor="t">
            <a:spAutoFit/>
          </a:bodyPr>
          <a:lstStyle/>
          <a:p>
            <a:pPr algn="l"/>
            <a:r>
              <a:rPr sz="1500" b="1">
                <a:solidFill>
                  <a:srgbClr val="0F4C81"/>
                </a:solidFill>
                <a:latin typeface="Yu Gothic"/>
              </a:rPr>
              <a:t>□ 更新管理</a:t>
            </a:r>
          </a:p>
        </p:txBody>
      </p:sp>
      <p:sp>
        <p:nvSpPr>
          <p:cNvPr id="16" name="TextBox 15"/>
          <p:cNvSpPr txBox="1"/>
          <p:nvPr/>
        </p:nvSpPr>
        <p:spPr>
          <a:xfrm>
            <a:off x="6355080" y="196596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人材台帳の作成・更新</a:t>
            </a:r>
          </a:p>
          <a:p>
            <a:pPr algn="l">
              <a:lnSpc>
                <a:spcPct val="130000"/>
              </a:lnSpc>
            </a:pPr>
            <a:r>
              <a:rPr sz="1100" b="1">
                <a:solidFill>
                  <a:srgbClr val="F5A623"/>
                </a:solidFill>
                <a:latin typeface="Yu Gothic"/>
              </a:rPr>
              <a:t>■  </a:t>
            </a:r>
            <a:r>
              <a:rPr sz="1300" b="0">
                <a:solidFill>
                  <a:srgbClr val="1F2D3D"/>
                </a:solidFill>
                <a:latin typeface="Yu Gothic"/>
              </a:rPr>
              <a:t>主任の更新期限のアラート設定</a:t>
            </a:r>
          </a:p>
          <a:p>
            <a:pPr algn="l">
              <a:lnSpc>
                <a:spcPct val="130000"/>
              </a:lnSpc>
            </a:pPr>
            <a:r>
              <a:rPr sz="1100" b="1">
                <a:solidFill>
                  <a:srgbClr val="F5A623"/>
                </a:solidFill>
                <a:latin typeface="Yu Gothic"/>
              </a:rPr>
              <a:t>■  </a:t>
            </a:r>
            <a:r>
              <a:rPr sz="1300" b="0">
                <a:solidFill>
                  <a:srgbClr val="1F2D3D"/>
                </a:solidFill>
                <a:latin typeface="Yu Gothic"/>
              </a:rPr>
              <a:t>受講要件の充足状況の点検</a:t>
            </a:r>
          </a:p>
        </p:txBody>
      </p:sp>
      <p:sp>
        <p:nvSpPr>
          <p:cNvPr id="17" name="Rectangle 16"/>
          <p:cNvSpPr/>
          <p:nvPr/>
        </p:nvSpPr>
        <p:spPr>
          <a:xfrm>
            <a:off x="731520" y="379476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94760"/>
            <a:ext cx="45720" cy="2194560"/>
          </a:xfrm>
          <a:prstGeom prst="rect">
            <a:avLst/>
          </a:prstGeom>
          <a:solidFill>
            <a:srgbClr val="2D6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04488"/>
            <a:ext cx="4983480" cy="365760"/>
          </a:xfrm>
          <a:prstGeom prst="rect">
            <a:avLst/>
          </a:prstGeom>
          <a:noFill/>
        </p:spPr>
        <p:txBody>
          <a:bodyPr wrap="square" lIns="0" rIns="0" tIns="0" bIns="0" anchor="t">
            <a:spAutoFit/>
          </a:bodyPr>
          <a:lstStyle/>
          <a:p>
            <a:pPr algn="l"/>
            <a:r>
              <a:rPr sz="1500" b="1">
                <a:solidFill>
                  <a:srgbClr val="0F4C81"/>
                </a:solidFill>
                <a:latin typeface="Yu Gothic"/>
              </a:rPr>
              <a:t>□ 育成体制</a:t>
            </a:r>
          </a:p>
        </p:txBody>
      </p:sp>
      <p:sp>
        <p:nvSpPr>
          <p:cNvPr id="20" name="TextBox 19"/>
          <p:cNvSpPr txBox="1"/>
          <p:nvPr/>
        </p:nvSpPr>
        <p:spPr>
          <a:xfrm>
            <a:off x="960120" y="429768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キャリアパス図の作成</a:t>
            </a:r>
          </a:p>
          <a:p>
            <a:pPr algn="l">
              <a:lnSpc>
                <a:spcPct val="130000"/>
              </a:lnSpc>
            </a:pPr>
            <a:r>
              <a:rPr sz="1100" b="1">
                <a:solidFill>
                  <a:srgbClr val="F5A623"/>
                </a:solidFill>
                <a:latin typeface="Yu Gothic"/>
              </a:rPr>
              <a:t>■  </a:t>
            </a:r>
            <a:r>
              <a:rPr sz="1300" b="0">
                <a:solidFill>
                  <a:srgbClr val="1F2D3D"/>
                </a:solidFill>
                <a:latin typeface="Yu Gothic"/>
              </a:rPr>
              <a:t>個人別研修計画書の運用</a:t>
            </a:r>
          </a:p>
          <a:p>
            <a:pPr algn="l">
              <a:lnSpc>
                <a:spcPct val="130000"/>
              </a:lnSpc>
            </a:pPr>
            <a:r>
              <a:rPr sz="1100" b="1">
                <a:solidFill>
                  <a:srgbClr val="F5A623"/>
                </a:solidFill>
                <a:latin typeface="Yu Gothic"/>
              </a:rPr>
              <a:t>■  </a:t>
            </a:r>
            <a:r>
              <a:rPr sz="1300" b="0">
                <a:solidFill>
                  <a:srgbClr val="1F2D3D"/>
                </a:solidFill>
                <a:latin typeface="Yu Gothic"/>
              </a:rPr>
              <a:t>OJTフォーマットの整備</a:t>
            </a:r>
          </a:p>
        </p:txBody>
      </p:sp>
      <p:sp>
        <p:nvSpPr>
          <p:cNvPr id="21" name="Rectangle 20"/>
          <p:cNvSpPr/>
          <p:nvPr/>
        </p:nvSpPr>
        <p:spPr>
          <a:xfrm>
            <a:off x="6126480" y="3794760"/>
            <a:ext cx="5349240" cy="2194560"/>
          </a:xfrm>
          <a:prstGeom prst="rect">
            <a:avLst/>
          </a:prstGeom>
          <a:solidFill>
            <a:srgbClr val="FFFFFF"/>
          </a:solidFill>
          <a:ln w="9525">
            <a:solidFill>
              <a:srgbClr val="D9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3794760"/>
            <a:ext cx="45720" cy="2194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904488"/>
            <a:ext cx="4983480" cy="365760"/>
          </a:xfrm>
          <a:prstGeom prst="rect">
            <a:avLst/>
          </a:prstGeom>
          <a:noFill/>
        </p:spPr>
        <p:txBody>
          <a:bodyPr wrap="square" lIns="0" rIns="0" tIns="0" bIns="0" anchor="t">
            <a:spAutoFit/>
          </a:bodyPr>
          <a:lstStyle/>
          <a:p>
            <a:pPr algn="l"/>
            <a:r>
              <a:rPr sz="1500" b="1">
                <a:solidFill>
                  <a:srgbClr val="0F4C81"/>
                </a:solidFill>
                <a:latin typeface="Yu Gothic"/>
              </a:rPr>
              <a:t>□ 学習文化</a:t>
            </a:r>
          </a:p>
        </p:txBody>
      </p:sp>
      <p:sp>
        <p:nvSpPr>
          <p:cNvPr id="24" name="TextBox 23"/>
          <p:cNvSpPr txBox="1"/>
          <p:nvPr/>
        </p:nvSpPr>
        <p:spPr>
          <a:xfrm>
            <a:off x="6355080" y="4297680"/>
            <a:ext cx="4983480" cy="1600200"/>
          </a:xfrm>
          <a:prstGeom prst="rect">
            <a:avLst/>
          </a:prstGeom>
          <a:noFill/>
        </p:spPr>
        <p:txBody>
          <a:bodyPr wrap="square" lIns="0" rIns="0" tIns="0" bIns="0" anchor="t">
            <a:spAutoFit/>
          </a:bodyPr>
          <a:lstStyle/>
          <a:p>
            <a:pPr algn="l">
              <a:lnSpc>
                <a:spcPct val="130000"/>
              </a:lnSpc>
            </a:pPr>
            <a:r>
              <a:rPr sz="1100" b="1">
                <a:solidFill>
                  <a:srgbClr val="F5A623"/>
                </a:solidFill>
                <a:latin typeface="Yu Gothic"/>
              </a:rPr>
              <a:t>■  </a:t>
            </a:r>
            <a:r>
              <a:rPr sz="1300" b="0">
                <a:solidFill>
                  <a:srgbClr val="1F2D3D"/>
                </a:solidFill>
                <a:latin typeface="Yu Gothic"/>
              </a:rPr>
              <a:t>月例事例検討会の定例化</a:t>
            </a:r>
          </a:p>
          <a:p>
            <a:pPr algn="l">
              <a:lnSpc>
                <a:spcPct val="130000"/>
              </a:lnSpc>
            </a:pPr>
            <a:r>
              <a:rPr sz="1100" b="1">
                <a:solidFill>
                  <a:srgbClr val="F5A623"/>
                </a:solidFill>
                <a:latin typeface="Yu Gothic"/>
              </a:rPr>
              <a:t>■  </a:t>
            </a:r>
            <a:r>
              <a:rPr sz="1300" b="0">
                <a:solidFill>
                  <a:srgbClr val="1F2D3D"/>
                </a:solidFill>
                <a:latin typeface="Yu Gothic"/>
              </a:rPr>
              <a:t>受講後シェア会の実施</a:t>
            </a:r>
          </a:p>
          <a:p>
            <a:pPr algn="l">
              <a:lnSpc>
                <a:spcPct val="130000"/>
              </a:lnSpc>
            </a:pPr>
            <a:r>
              <a:rPr sz="1100" b="1">
                <a:solidFill>
                  <a:srgbClr val="F5A623"/>
                </a:solidFill>
                <a:latin typeface="Yu Gothic"/>
              </a:rPr>
              <a:t>■  </a:t>
            </a:r>
            <a:r>
              <a:rPr sz="1300" b="0">
                <a:solidFill>
                  <a:srgbClr val="1F2D3D"/>
                </a:solidFill>
                <a:latin typeface="Yu Gothic"/>
              </a:rPr>
              <a:t>ポートフォリオの作成支援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943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731520"/>
          </a:xfrm>
          <a:prstGeom prst="rect">
            <a:avLst/>
          </a:prstGeom>
          <a:noFill/>
        </p:spPr>
        <p:txBody>
          <a:bodyPr wrap="square" lIns="0" rIns="0" tIns="0" bIns="0" anchor="t">
            <a:spAutoFit/>
          </a:bodyPr>
          <a:lstStyle/>
          <a:p>
            <a:pPr algn="l"/>
            <a:r>
              <a:rPr sz="2800" b="1">
                <a:solidFill>
                  <a:srgbClr val="0F4C81"/>
                </a:solidFill>
                <a:latin typeface="Yu Gothic"/>
              </a:rPr>
              <a:t>本資料の根拠と利用上の注意</a:t>
            </a:r>
          </a:p>
        </p:txBody>
      </p:sp>
      <p:sp>
        <p:nvSpPr>
          <p:cNvPr id="5" name="Rectangle 4"/>
          <p:cNvSpPr/>
          <p:nvPr/>
        </p:nvSpPr>
        <p:spPr>
          <a:xfrm>
            <a:off x="502920" y="1170432"/>
            <a:ext cx="11155680" cy="36576"/>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7315200" cy="274320"/>
          </a:xfrm>
          <a:prstGeom prst="rect">
            <a:avLst/>
          </a:prstGeom>
          <a:noFill/>
        </p:spPr>
        <p:txBody>
          <a:bodyPr wrap="square" lIns="0" rIns="0" tIns="0" bIns="0" anchor="t">
            <a:spAutoFit/>
          </a:bodyPr>
          <a:lstStyle/>
          <a:p>
            <a:pPr algn="l"/>
            <a:r>
              <a:rPr sz="1000" b="0">
                <a:solidFill>
                  <a:srgbClr val="5A6B80"/>
                </a:solidFill>
                <a:latin typeface="Yu Gothic"/>
              </a:rPr>
              <a:t>出典・注記</a:t>
            </a:r>
          </a:p>
        </p:txBody>
      </p:sp>
      <p:sp>
        <p:nvSpPr>
          <p:cNvPr id="7" name="TextBox 6"/>
          <p:cNvSpPr txBox="1"/>
          <p:nvPr/>
        </p:nvSpPr>
        <p:spPr>
          <a:xfrm>
            <a:off x="10515600" y="6446520"/>
            <a:ext cx="1188720" cy="274320"/>
          </a:xfrm>
          <a:prstGeom prst="rect">
            <a:avLst/>
          </a:prstGeom>
          <a:noFill/>
        </p:spPr>
        <p:txBody>
          <a:bodyPr wrap="square" lIns="0" rIns="0" tIns="0" bIns="0" anchor="t">
            <a:spAutoFit/>
          </a:bodyPr>
          <a:lstStyle/>
          <a:p>
            <a:pPr algn="r"/>
            <a:r>
              <a:rPr sz="1000" b="1">
                <a:solidFill>
                  <a:srgbClr val="0F4C81"/>
                </a:solidFill>
                <a:latin typeface="Yu Gothic"/>
              </a:rPr>
              <a:t>20 / 21</a:t>
            </a:r>
          </a:p>
        </p:txBody>
      </p:sp>
      <p:sp>
        <p:nvSpPr>
          <p:cNvPr id="8" name="Rectangle 7"/>
          <p:cNvSpPr/>
          <p:nvPr/>
        </p:nvSpPr>
        <p:spPr>
          <a:xfrm>
            <a:off x="502920" y="6400800"/>
            <a:ext cx="11155680" cy="13716"/>
          </a:xfrm>
          <a:prstGeom prst="rect">
            <a:avLst/>
          </a:prstGeom>
          <a:solidFill>
            <a:srgbClr val="D9E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10698480" cy="365760"/>
          </a:xfrm>
          <a:prstGeom prst="rect">
            <a:avLst/>
          </a:prstGeom>
          <a:noFill/>
        </p:spPr>
        <p:txBody>
          <a:bodyPr wrap="square" lIns="0" rIns="0" tIns="0" bIns="0" anchor="t">
            <a:spAutoFit/>
          </a:bodyPr>
          <a:lstStyle/>
          <a:p>
            <a:pPr algn="l"/>
            <a:r>
              <a:rPr sz="1600" b="1">
                <a:solidFill>
                  <a:srgbClr val="2D6FB3"/>
                </a:solidFill>
                <a:latin typeface="Yu Gothic"/>
              </a:rPr>
              <a:t>主な根拠資料</a:t>
            </a:r>
          </a:p>
        </p:txBody>
      </p:sp>
      <p:sp>
        <p:nvSpPr>
          <p:cNvPr id="10" name="TextBox 9"/>
          <p:cNvSpPr txBox="1"/>
          <p:nvPr/>
        </p:nvSpPr>
        <p:spPr>
          <a:xfrm>
            <a:off x="822960" y="1874519"/>
            <a:ext cx="10607040" cy="1645920"/>
          </a:xfrm>
          <a:prstGeom prst="rect">
            <a:avLst/>
          </a:prstGeom>
          <a:noFill/>
        </p:spPr>
        <p:txBody>
          <a:bodyPr wrap="square" lIns="0" rIns="0" tIns="0" bIns="0" anchor="t">
            <a:spAutoFit/>
          </a:bodyPr>
          <a:lstStyle/>
          <a:p>
            <a:pPr algn="l">
              <a:lnSpc>
                <a:spcPct val="160000"/>
              </a:lnSpc>
            </a:pPr>
            <a:r>
              <a:rPr sz="1200" b="1">
                <a:solidFill>
                  <a:srgbClr val="F5A623"/>
                </a:solidFill>
                <a:latin typeface="Yu Gothic"/>
              </a:rPr>
              <a:t>■  </a:t>
            </a:r>
            <a:r>
              <a:rPr sz="1400" b="0">
                <a:solidFill>
                  <a:srgbClr val="1F2D3D"/>
                </a:solidFill>
                <a:latin typeface="Yu Gothic"/>
              </a:rPr>
              <a:t>厚生労働省「介護支援専門員資質向上事業ガイドライン」（令和5年4月版、令和6年4月施行）</a:t>
            </a:r>
          </a:p>
          <a:p>
            <a:pPr algn="l">
              <a:lnSpc>
                <a:spcPct val="160000"/>
              </a:lnSpc>
            </a:pPr>
            <a:r>
              <a:rPr sz="1200" b="1">
                <a:solidFill>
                  <a:srgbClr val="F5A623"/>
                </a:solidFill>
                <a:latin typeface="Yu Gothic"/>
              </a:rPr>
              <a:t>■  </a:t>
            </a:r>
            <a:r>
              <a:rPr sz="1400" b="0">
                <a:solidFill>
                  <a:srgbClr val="1F2D3D"/>
                </a:solidFill>
                <a:latin typeface="Yu Gothic"/>
              </a:rPr>
              <a:t>厚生労働省「主任介護支援専門員更新研修実施要綱」</a:t>
            </a:r>
          </a:p>
          <a:p>
            <a:pPr algn="l">
              <a:lnSpc>
                <a:spcPct val="160000"/>
              </a:lnSpc>
            </a:pPr>
            <a:r>
              <a:rPr sz="1200" b="1">
                <a:solidFill>
                  <a:srgbClr val="F5A623"/>
                </a:solidFill>
                <a:latin typeface="Yu Gothic"/>
              </a:rPr>
              <a:t>■  </a:t>
            </a:r>
            <a:r>
              <a:rPr sz="1400" b="0">
                <a:solidFill>
                  <a:srgbClr val="1F2D3D"/>
                </a:solidFill>
                <a:latin typeface="Yu Gothic"/>
              </a:rPr>
              <a:t>厚生労働省「介護支援専門員に係るオンライン研修の手引き」等</a:t>
            </a:r>
          </a:p>
        </p:txBody>
      </p:sp>
      <p:sp>
        <p:nvSpPr>
          <p:cNvPr id="11" name="Rectangle 10"/>
          <p:cNvSpPr/>
          <p:nvPr/>
        </p:nvSpPr>
        <p:spPr>
          <a:xfrm>
            <a:off x="731520" y="3611880"/>
            <a:ext cx="10698480" cy="1371600"/>
          </a:xfrm>
          <a:prstGeom prst="rect">
            <a:avLst/>
          </a:prstGeom>
          <a:solidFill>
            <a:srgbClr val="FF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611880"/>
            <a:ext cx="45720" cy="13716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49040"/>
            <a:ext cx="10332720" cy="1188720"/>
          </a:xfrm>
          <a:prstGeom prst="rect">
            <a:avLst/>
          </a:prstGeom>
          <a:noFill/>
        </p:spPr>
        <p:txBody>
          <a:bodyPr wrap="square" lIns="0" rIns="0" tIns="0" bIns="0" anchor="ctr">
            <a:spAutoFit/>
          </a:bodyPr>
          <a:lstStyle/>
          <a:p>
            <a:pPr algn="l">
              <a:lnSpc>
                <a:spcPct val="140000"/>
              </a:lnSpc>
            </a:pPr>
            <a:r>
              <a:rPr sz="1400" b="1">
                <a:solidFill>
                  <a:srgbClr val="6B4E00"/>
                </a:solidFill>
                <a:latin typeface="Yu Gothic"/>
              </a:rPr>
              <a:t>利用上の注意：</a:t>
            </a:r>
            <a:r>
              <a:rPr sz="1400" b="0">
                <a:solidFill>
                  <a:srgbClr val="6B4E00"/>
                </a:solidFill>
                <a:latin typeface="Yu Gothic"/>
              </a:rPr>
              <a:t>本資料は、上記ガイドラインおよび更新研修実施要綱を踏まえた実務整理である。実際の受講要件・募集時期・実施方法・オンライン研修の取扱いは、各都道府県および研修実施機関の最新通知を必ず確認すること。</a:t>
            </a:r>
          </a:p>
        </p:txBody>
      </p:sp>
      <p:sp>
        <p:nvSpPr>
          <p:cNvPr id="14" name="TextBox 13"/>
          <p:cNvSpPr txBox="1"/>
          <p:nvPr/>
        </p:nvSpPr>
        <p:spPr>
          <a:xfrm>
            <a:off x="731520" y="5120640"/>
            <a:ext cx="10698480" cy="365760"/>
          </a:xfrm>
          <a:prstGeom prst="rect">
            <a:avLst/>
          </a:prstGeom>
          <a:noFill/>
        </p:spPr>
        <p:txBody>
          <a:bodyPr wrap="square" lIns="0" rIns="0" tIns="0" bIns="0" anchor="t">
            <a:spAutoFit/>
          </a:bodyPr>
          <a:lstStyle/>
          <a:p>
            <a:pPr algn="l"/>
            <a:r>
              <a:rPr sz="1600" b="1">
                <a:solidFill>
                  <a:srgbClr val="2D6FB3"/>
                </a:solidFill>
                <a:latin typeface="Yu Gothic"/>
              </a:rPr>
              <a:t>本資料の位置づけ</a:t>
            </a:r>
          </a:p>
        </p:txBody>
      </p:sp>
      <p:sp>
        <p:nvSpPr>
          <p:cNvPr id="15" name="TextBox 14"/>
          <p:cNvSpPr txBox="1"/>
          <p:nvPr/>
        </p:nvSpPr>
        <p:spPr>
          <a:xfrm>
            <a:off x="822960" y="5532120"/>
            <a:ext cx="10607040" cy="822960"/>
          </a:xfrm>
          <a:prstGeom prst="rect">
            <a:avLst/>
          </a:prstGeom>
          <a:noFill/>
        </p:spPr>
        <p:txBody>
          <a:bodyPr wrap="square" lIns="0" rIns="0" tIns="0" bIns="0" anchor="t">
            <a:spAutoFit/>
          </a:bodyPr>
          <a:lstStyle/>
          <a:p>
            <a:pPr algn="l">
              <a:lnSpc>
                <a:spcPct val="140000"/>
              </a:lnSpc>
            </a:pPr>
            <a:r>
              <a:rPr sz="1200" b="1">
                <a:solidFill>
                  <a:srgbClr val="F5A623"/>
                </a:solidFill>
                <a:latin typeface="Yu Gothic"/>
              </a:rPr>
              <a:t>■  </a:t>
            </a:r>
            <a:r>
              <a:rPr sz="1300" b="0">
                <a:solidFill>
                  <a:srgbClr val="1F2D3D"/>
                </a:solidFill>
                <a:latin typeface="Yu Gothic"/>
              </a:rPr>
              <a:t>事業所内研修・管理者向け勉強会の素材として作成</a:t>
            </a:r>
          </a:p>
          <a:p>
            <a:pPr algn="l">
              <a:lnSpc>
                <a:spcPct val="140000"/>
              </a:lnSpc>
            </a:pPr>
            <a:r>
              <a:rPr sz="1200" b="1">
                <a:solidFill>
                  <a:srgbClr val="F5A623"/>
                </a:solidFill>
                <a:latin typeface="Yu Gothic"/>
              </a:rPr>
              <a:t>■  </a:t>
            </a:r>
            <a:r>
              <a:rPr sz="1300" b="0">
                <a:solidFill>
                  <a:srgbClr val="1F2D3D"/>
                </a:solidFill>
                <a:latin typeface="Yu Gothic"/>
              </a:rPr>
              <a:t>第5章のモデルケースは解説目的の架空事例</a:t>
            </a:r>
          </a:p>
          <a:p>
            <a:pPr algn="l">
              <a:lnSpc>
                <a:spcPct val="140000"/>
              </a:lnSpc>
            </a:pPr>
            <a:r>
              <a:rPr sz="1200" b="1">
                <a:solidFill>
                  <a:srgbClr val="F5A623"/>
                </a:solidFill>
                <a:latin typeface="Yu Gothic"/>
              </a:rPr>
              <a:t>■  </a:t>
            </a:r>
            <a:r>
              <a:rPr sz="1300" b="0">
                <a:solidFill>
                  <a:srgbClr val="1F2D3D"/>
                </a:solidFill>
                <a:latin typeface="Yu Gothic"/>
              </a:rPr>
              <a:t>キャリアパス・経験年数区分は事業所モデルの例であり法令上の基準ではない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1097280"/>
          </a:xfrm>
          <a:prstGeom prst="rect">
            <a:avLst/>
          </a:prstGeom>
          <a:noFill/>
        </p:spPr>
        <p:txBody>
          <a:bodyPr wrap="square" lIns="0" rIns="0" tIns="0" bIns="0" anchor="t">
            <a:spAutoFit/>
          </a:bodyPr>
          <a:lstStyle/>
          <a:p>
            <a:pPr algn="ctr"/>
            <a:r>
              <a:rPr sz="4400" b="1">
                <a:solidFill>
                  <a:srgbClr val="FFFFFF"/>
                </a:solidFill>
                <a:latin typeface="Yu Gothic"/>
              </a:rPr>
              <a:t>本日のまとめ</a:t>
            </a:r>
          </a:p>
        </p:txBody>
      </p:sp>
      <p:sp>
        <p:nvSpPr>
          <p:cNvPr id="5" name="TextBox 4"/>
          <p:cNvSpPr txBox="1"/>
          <p:nvPr/>
        </p:nvSpPr>
        <p:spPr>
          <a:xfrm>
            <a:off x="731520" y="2651760"/>
            <a:ext cx="10698480" cy="2560320"/>
          </a:xfrm>
          <a:prstGeom prst="rect">
            <a:avLst/>
          </a:prstGeom>
          <a:noFill/>
        </p:spPr>
        <p:txBody>
          <a:bodyPr wrap="square" lIns="0" rIns="0" tIns="0" bIns="0" anchor="t">
            <a:spAutoFit/>
          </a:bodyPr>
          <a:lstStyle/>
          <a:p>
            <a:pPr algn="ctr">
              <a:lnSpc>
                <a:spcPct val="170000"/>
              </a:lnSpc>
            </a:pPr>
            <a:r>
              <a:rPr sz="2200" b="0">
                <a:solidFill>
                  <a:srgbClr val="FFFFFF"/>
                </a:solidFill>
                <a:latin typeface="Yu Gothic"/>
              </a:rPr>
              <a:t>法定研修改正は </a:t>
            </a:r>
            <a:r>
              <a:rPr sz="2200" b="1">
                <a:solidFill>
                  <a:srgbClr val="F5A623"/>
                </a:solidFill>
                <a:latin typeface="Yu Gothic"/>
              </a:rPr>
              <a:t>「研修体系の再設計」 </a:t>
            </a:r>
            <a:r>
              <a:rPr sz="2200" b="0">
                <a:solidFill>
                  <a:srgbClr val="FFFFFF"/>
                </a:solidFill>
                <a:latin typeface="Yu Gothic"/>
              </a:rPr>
              <a:t>の好機。</a:t>
            </a:r>
          </a:p>
          <a:p>
            <a:pPr algn="ctr">
              <a:lnSpc>
                <a:spcPct val="170000"/>
              </a:lnSpc>
            </a:pPr>
            <a:r>
              <a:rPr sz="2200" b="0">
                <a:solidFill>
                  <a:srgbClr val="FFFFFF"/>
                </a:solidFill>
                <a:latin typeface="Yu Gothic"/>
              </a:rPr>
              <a:t>主任ケアマネ更新は </a:t>
            </a:r>
            <a:r>
              <a:rPr sz="2200" b="1">
                <a:solidFill>
                  <a:srgbClr val="F5A623"/>
                </a:solidFill>
                <a:latin typeface="Yu Gothic"/>
              </a:rPr>
              <a:t>「5年前から」 </a:t>
            </a:r>
            <a:r>
              <a:rPr sz="2200" b="0">
                <a:solidFill>
                  <a:srgbClr val="FFFFFF"/>
                </a:solidFill>
                <a:latin typeface="Yu Gothic"/>
              </a:rPr>
              <a:t>の戦略で乗り切る。</a:t>
            </a:r>
          </a:p>
          <a:p>
            <a:pPr algn="ctr">
              <a:lnSpc>
                <a:spcPct val="170000"/>
              </a:lnSpc>
            </a:pPr>
            <a:r>
              <a:rPr sz="2200" b="0">
                <a:solidFill>
                  <a:srgbClr val="FFFFFF"/>
                </a:solidFill>
                <a:latin typeface="Yu Gothic"/>
              </a:rPr>
              <a:t>人材育成は </a:t>
            </a:r>
            <a:r>
              <a:rPr sz="2200" b="1">
                <a:solidFill>
                  <a:srgbClr val="F5A623"/>
                </a:solidFill>
                <a:latin typeface="Yu Gothic"/>
              </a:rPr>
              <a:t>「個人任せ」から「組織の仕組み」 </a:t>
            </a:r>
            <a:r>
              <a:rPr sz="2200" b="0">
                <a:solidFill>
                  <a:srgbClr val="FFFFFF"/>
                </a:solidFill>
                <a:latin typeface="Yu Gothic"/>
              </a:rPr>
              <a:t>へ。</a:t>
            </a:r>
          </a:p>
        </p:txBody>
      </p:sp>
      <p:sp>
        <p:nvSpPr>
          <p:cNvPr id="6" name="TextBox 5"/>
          <p:cNvSpPr txBox="1"/>
          <p:nvPr/>
        </p:nvSpPr>
        <p:spPr>
          <a:xfrm>
            <a:off x="731520" y="5486400"/>
            <a:ext cx="10698480" cy="548640"/>
          </a:xfrm>
          <a:prstGeom prst="rect">
            <a:avLst/>
          </a:prstGeom>
          <a:noFill/>
        </p:spPr>
        <p:txBody>
          <a:bodyPr wrap="square" lIns="0" rIns="0" tIns="0" bIns="0" anchor="t">
            <a:spAutoFit/>
          </a:bodyPr>
          <a:lstStyle/>
          <a:p>
            <a:pPr algn="ctr"/>
            <a:r>
              <a:rPr sz="1800" b="0">
                <a:solidFill>
                  <a:srgbClr val="FFFFFF"/>
                </a:solidFill>
                <a:latin typeface="Yu Gothic"/>
              </a:rPr>
              <a:t>ご清聴ありがとうございました</a:t>
            </a:r>
          </a:p>
        </p:txBody>
      </p:sp>
      <p:sp>
        <p:nvSpPr>
          <p:cNvPr id="7" name="TextBox 6"/>
          <p:cNvSpPr txBox="1"/>
          <p:nvPr/>
        </p:nvSpPr>
        <p:spPr>
          <a:xfrm>
            <a:off x="10515600" y="6263640"/>
            <a:ext cx="1371600" cy="365760"/>
          </a:xfrm>
          <a:prstGeom prst="rect">
            <a:avLst/>
          </a:prstGeom>
          <a:noFill/>
        </p:spPr>
        <p:txBody>
          <a:bodyPr wrap="square" lIns="0" rIns="0" tIns="0" bIns="0" anchor="t">
            <a:spAutoFit/>
          </a:bodyPr>
          <a:lstStyle/>
          <a:p>
            <a:pPr algn="r"/>
            <a:r>
              <a:rPr sz="1100" b="0">
                <a:solidFill>
                  <a:srgbClr val="FFFFFF"/>
                </a:solidFill>
                <a:latin typeface="Yu Gothic"/>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