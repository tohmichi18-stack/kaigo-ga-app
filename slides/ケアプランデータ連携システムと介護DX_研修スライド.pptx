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28000"/>
            <a:ext cx="12192119" cy="18000"/>
          </a:xfrm>
          <a:prstGeom prst="rect">
            <a:avLst/>
          </a:prstGeom>
          <a:solidFill>
            <a:srgbClr val="606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1F8FA8"/>
                </a:solidFill>
                <a:latin typeface="Yu Gothic"/>
              </a:rPr>
              <a:t>主任介護支援専門員 研修会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944000"/>
            <a:ext cx="11472119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Yu Gothic"/>
              </a:rPr>
              <a:t>ケアプランデータ連携システムと</a:t>
            </a:r>
          </a:p>
          <a:p>
            <a:pPr algn="ctr">
              <a:lnSpc>
                <a:spcPct val="125000"/>
              </a:lnSpc>
            </a:pPr>
            <a:r>
              <a:rPr sz="3100" b="1" i="0">
                <a:solidFill>
                  <a:srgbClr val="FFFFFF"/>
                </a:solidFill>
                <a:latin typeface="Yu Gothic"/>
              </a:rPr>
              <a:t>介護DXの推進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491999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Yu Gothic"/>
              </a:rPr>
              <a:t>ー 導入事例から学ぶ、現実的な業務効率化の進め方 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680000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D4972A"/>
                </a:solidFill>
                <a:latin typeface="Yu Gothic"/>
              </a:rPr>
              <a:t>■ ケアプランデータ連携システムの仕組みと導入手順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D4972A"/>
                </a:solidFill>
                <a:latin typeface="Yu Gothic"/>
              </a:rPr>
              <a:t>■ 既存の介護ソフト(楽にネット等)との併用戦略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D4972A"/>
                </a:solidFill>
                <a:latin typeface="Yu Gothic"/>
              </a:rPr>
              <a:t>■ 業務効率化の実際 ― 導入事例とつまずきポイント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86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主任ケアマネジャーの会  主催  ・  研修時間 90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本日の研修目標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80000" cy="54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7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F333C"/>
                </a:solidFill>
                <a:latin typeface="Yu Gothic"/>
              </a:rPr>
              <a:t>介護DXがなぜ今求められているのか、その全体像を理解する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268000"/>
            <a:ext cx="180000" cy="54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322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F333C"/>
                </a:solidFill>
                <a:latin typeface="Yu Gothic"/>
              </a:rPr>
              <a:t>ケアプランデータ連携システムの仕組み・費用・導入手順を把握する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80000" cy="54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970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F333C"/>
                </a:solidFill>
                <a:latin typeface="Yu Gothic"/>
              </a:rPr>
              <a:t>既存の介護ソフト(楽にネット等)との関係・併用の考え方を整理する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564000"/>
            <a:ext cx="180000" cy="54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618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F333C"/>
                </a:solidFill>
                <a:latin typeface="Yu Gothic"/>
              </a:rPr>
              <a:t>導入事例から、業務効率化の「効果が出る条件」と「つまずき」を学ぶ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80000" cy="54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266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F333C"/>
                </a:solidFill>
                <a:latin typeface="Yu Gothic"/>
              </a:rPr>
              <a:t>自事業所での段階的な導入計画を描けるようになる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860000"/>
            <a:ext cx="180000" cy="54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91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F333C"/>
                </a:solidFill>
                <a:latin typeface="Yu Gothic"/>
              </a:rPr>
              <a:t>主任CMとして、事業所内・連携先のDX推進をリードする視点を持つ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本日の流れ(90分)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3 / 33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468000" cy="468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174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32E5C"/>
                </a:solidFill>
                <a:latin typeface="Yu Gothic"/>
              </a:rPr>
              <a:t>介護DXの全体像 ― なぜ今DXなのか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176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1F8FA8"/>
                </a:solidFill>
                <a:latin typeface="Yu Gothic"/>
              </a:rP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58000"/>
            <a:ext cx="468000" cy="468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2412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32E5C"/>
                </a:solidFill>
                <a:latin typeface="Yu Gothic"/>
              </a:rPr>
              <a:t>ケアプランデータ連携システムの基礎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2430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1F8FA8"/>
                </a:solidFill>
                <a:latin typeface="Yu Gothic"/>
              </a:rPr>
              <a:t>20分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3024000"/>
            <a:ext cx="468000" cy="468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000" y="3078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32E5C"/>
                </a:solidFill>
                <a:latin typeface="Yu Gothic"/>
              </a:rPr>
              <a:t>既存システムとの併用戦略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309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1F8FA8"/>
                </a:solidFill>
                <a:latin typeface="Yu Gothic"/>
              </a:rPr>
              <a:t>20分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690000"/>
            <a:ext cx="468000" cy="468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0" y="3744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32E5C"/>
                </a:solidFill>
                <a:latin typeface="Yu Gothic"/>
              </a:rPr>
              <a:t>業務効率化の実際 ― 導入事例に学ぶ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376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1F8FA8"/>
                </a:solidFill>
                <a:latin typeface="Yu Gothic"/>
              </a:rPr>
              <a:t>20分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4356000"/>
            <a:ext cx="468000" cy="468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000" y="4410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32E5C"/>
                </a:solidFill>
                <a:latin typeface="Yu Gothic"/>
              </a:rPr>
              <a:t>導入を成功させるために ― 進め方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2119" y="442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1F8FA8"/>
                </a:solidFill>
                <a:latin typeface="Yu Gothic"/>
              </a:rPr>
              <a:t>15分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5022000"/>
            <a:ext cx="468000" cy="468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0" y="507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32E5C"/>
                </a:solidFill>
                <a:latin typeface="Yu Gothic"/>
              </a:rPr>
              <a:t>これからの介護DXと主任CMの役割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509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1F8FA8"/>
                </a:solidFill>
                <a:latin typeface="Yu Gothic"/>
              </a:rPr>
              <a:t> 5分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1F8FA8"/>
                </a:solidFill>
                <a:latin typeface="Yu Gothi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介護DXの全体像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The Big Picture of Care DX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介護DXの全体像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なぜ今、介護DXなのか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5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61" y="1620000"/>
            <a:ext cx="3671999" cy="540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061" y="1620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人材不足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061" y="2160000"/>
            <a:ext cx="3671999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061" y="2304000"/>
            <a:ext cx="3383999" cy="169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・生産年齢人口の減少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・介護職員の確保が年々困難に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・限られた人手で質を維持する必要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0060" y="1620000"/>
            <a:ext cx="3671999" cy="54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0060" y="1620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業務負担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0060" y="2160000"/>
            <a:ext cx="3671999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060" y="2304000"/>
            <a:ext cx="3383999" cy="169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・記録・書類・FAX等の事務作業が膨大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・対人援助の時間が圧迫される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・残業・持ち帰り業務の常態化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6059" y="1620000"/>
            <a:ext cx="3671999" cy="54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6059" y="1620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</a:rPr>
              <a:t>国の方針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6059" y="2160000"/>
            <a:ext cx="3671999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059" y="2304000"/>
            <a:ext cx="3383999" cy="169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・「介護現場の生産性向上」が政策の柱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・文書負担の軽減・標準化を推進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・補助金・報酬上の評価も整備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428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46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DXは「目的」ではなく「手段」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788000"/>
            <a:ext cx="11304000" cy="133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4824000"/>
            <a:ext cx="11088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DX(デジタル・トランスフォーメーション)= デジタル技術で業務やしくみを作り変えること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「システムを入れること」がゴールではない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    → 浮いた時間を 利用者と向き合う時間 ・ ケアの質 に振り向けることが本当の目的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主任CMの問い:「この技術で、誰の・どの作業が・どれだけ楽になるか?」を常に持つ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介護DXの全体像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介護DXの全体像 ― 居宅介護支援が関わる領域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6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72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情報連携の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デジタル化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・ケアプランデータ連携システム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・医療介護連携(MCS等)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・入退院時の情報共有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0059" y="1620000"/>
            <a:ext cx="2772000" cy="72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記録・文書の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効率化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・介護ソフトでの記録一元化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・音声入力・タブレット記録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・帳票の自動作成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059" y="1620000"/>
            <a:ext cx="2772000" cy="72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データの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活用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・LIFE(科学的介護)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・データに基づくケアの検証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・AIケアプラン作成支援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0059" y="1620000"/>
            <a:ext cx="2772000" cy="72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見守り・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ケアの高度化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・見守りセンサー・ICT機器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・オンラインモニタリング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・(主にサービス事業所)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68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7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本日の焦点 ― ケアプランデータ連携システム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040000"/>
            <a:ext cx="11304000" cy="10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076000"/>
            <a:ext cx="11088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4領域のうち、居宅介護支援事業所が「今すぐ・比較的低コストで」取り組めるのが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    左端の「情報連携のデジタル化」 ― 中でもケアプランデータ連携システム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FAX・郵送・手渡しという「最も身近で・最も非効率な作業」を変える、DXの入口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1F8FA8"/>
                </a:solidFill>
                <a:latin typeface="Yu Gothi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ケアプランデータ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連携システムの基礎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Care Plan Data Linkage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データ連携システム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従来のケアプラン授受 ― 何が問題だったか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8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毎月くり返される作業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居宅介護支援事業所とサービス事業所の間で、提供票・実績などを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FAX・郵送・持参 でやり取りしている ― これが毎月、全利用者分発生する。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61" y="2628000"/>
            <a:ext cx="3671999" cy="324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061" y="2646000"/>
            <a:ext cx="3455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Yu Gothic"/>
              </a:rPr>
              <a:t>時間がかかる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61" y="2952000"/>
            <a:ext cx="3671999" cy="683999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061" y="3024000"/>
            <a:ext cx="3383999" cy="539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印刷・封入・FAX送信・電話確認。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1件ずつの手作業が積み上がる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0060" y="2628000"/>
            <a:ext cx="3671999" cy="324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8060" y="2646000"/>
            <a:ext cx="3455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Yu Gothic"/>
              </a:rPr>
              <a:t>転記ミス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0060" y="2952000"/>
            <a:ext cx="3671999" cy="683999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4060" y="3024000"/>
            <a:ext cx="3383999" cy="539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受け取った紙を見て介護ソフトに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手入力 → 入力ミス・転記漏れ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6059" y="2628000"/>
            <a:ext cx="3671999" cy="324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4059" y="2646000"/>
            <a:ext cx="3455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Yu Gothic"/>
              </a:rPr>
              <a:t>コスト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6059" y="2952000"/>
            <a:ext cx="3671999" cy="683999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059" y="3024000"/>
            <a:ext cx="3383999" cy="539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紙・インク・郵送費・FAX回線。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保管スペースも必要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061" y="3743999"/>
            <a:ext cx="3671999" cy="324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2061" y="3761999"/>
            <a:ext cx="3455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Yu Gothic"/>
              </a:rPr>
              <a:t>確認の手間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061" y="4067999"/>
            <a:ext cx="3671999" cy="683999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8061" y="4139999"/>
            <a:ext cx="3383999" cy="539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「届いた?」「読めた?」の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電話連絡。再送のやり取り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0060" y="3743999"/>
            <a:ext cx="3671999" cy="324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060" y="3761999"/>
            <a:ext cx="3455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Yu Gothic"/>
              </a:rPr>
              <a:t>月末の集中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0060" y="4067999"/>
            <a:ext cx="3671999" cy="683999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4060" y="4139999"/>
            <a:ext cx="3383999" cy="539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提供票・実績の授受が月初・月末に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集中し、残業の原因に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059" y="3743999"/>
            <a:ext cx="3671999" cy="324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4059" y="3761999"/>
            <a:ext cx="3455999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Yu Gothic"/>
              </a:rPr>
              <a:t>情報漏えい</a:t>
            </a:r>
          </a:p>
          <a:p>
            <a:pPr algn="l"/>
            <a:r>
              <a:rPr sz="1300" b="1" i="0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059" y="4067999"/>
            <a:ext cx="3671999" cy="683999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0059" y="4139999"/>
            <a:ext cx="3383999" cy="539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FAX誤送信・郵送事故。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個人情報を含む書類の取扱い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" y="6012000"/>
            <a:ext cx="11328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F8FA8"/>
                </a:solidFill>
                <a:latin typeface="Yu Gothic"/>
              </a:rPr>
              <a:t>▶ 「昔からこうだから」で続けてきた作業に、初めてメスを入れるのがデータ連携システム。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データ連携システム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ケアプランデータ連携システムとは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9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概要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828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国民健康保険中央会(国保中央会)が運営する、ケアプラン関連情報を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    事業所間で電子的にやり取りする全国共通のしくみ(令和5年4月から本格稼働)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居宅介護支援事業所 ⇔ サービス事業所 の間で、提供票・実績等をデータで授受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2951999"/>
            <a:ext cx="2880000" cy="792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951999"/>
            <a:ext cx="2880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居宅介護支援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事業所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4000" y="2880000"/>
            <a:ext cx="2880000" cy="9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4000" y="2880000"/>
            <a:ext cx="2880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データ連携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システム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8000" y="2951999"/>
            <a:ext cx="2880000" cy="792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8000" y="2951999"/>
            <a:ext cx="2880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サービス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事業所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671999" y="3204000"/>
            <a:ext cx="900000" cy="324000"/>
          </a:xfrm>
          <a:prstGeom prst="rightArrow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596000" y="3204000"/>
            <a:ext cx="900000" cy="324000"/>
          </a:xfrm>
          <a:prstGeom prst="rightArrow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3888000"/>
            <a:ext cx="1072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0">
                <a:solidFill>
                  <a:srgbClr val="2F333C"/>
                </a:solidFill>
                <a:latin typeface="Yu Gothic"/>
              </a:rPr>
              <a:t>提供票・提供票別表・実績情報 などを、紙でなくデータで送受信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392000"/>
            <a:ext cx="5580000" cy="36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000" y="4428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やり取りできる主な情報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4752000"/>
            <a:ext cx="5580000" cy="1368000"/>
          </a:xfrm>
          <a:prstGeom prst="rect">
            <a:avLst/>
          </a:prstGeom>
          <a:solidFill>
            <a:srgbClr val="DF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4788000"/>
            <a:ext cx="536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サービス利用票・利用票別表(提供票)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サービス提供実績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厚労省の「ケアプラン標準仕様」に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準拠したデータ形式でやり取り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000" y="4392000"/>
            <a:ext cx="5400000" cy="36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000" y="4428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前提となる環境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000" y="4752000"/>
            <a:ext cx="5400000" cy="1368000"/>
          </a:xfrm>
          <a:prstGeom prst="rect">
            <a:avLst/>
          </a:prstGeom>
          <a:solidFill>
            <a:srgbClr val="FAF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8000" y="4788000"/>
            <a:ext cx="518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介護ソフト(データ連携対応のもの)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国保連合会の電子請求で使う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電子証明書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インターネット接続環境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連携専用のクライアントソフト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データ連携システム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導入のメリット ― 何が変わるか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10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項目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6000" y="1656000"/>
            <a:ext cx="410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従来(紙・FAX)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8000" y="1656000"/>
            <a:ext cx="410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データ連携システム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304000" cy="522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277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授受の手間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000" y="203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印刷・封入・送信・電話確認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8000" y="203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クリック操作でデータ送受信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502000"/>
            <a:ext cx="11304000" cy="522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556000"/>
            <a:ext cx="277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転記作業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6000" y="2556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紙を見て介護ソフトへ手入力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8000" y="2556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データを取り込み(転記不要)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024000"/>
            <a:ext cx="11304000" cy="522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078000"/>
            <a:ext cx="277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ミス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6000" y="3078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転記ミス・送信ミスが起こる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8000" y="3078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転記が減りミスの機会が減る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546000"/>
            <a:ext cx="11304000" cy="522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3600000"/>
            <a:ext cx="277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コスト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6000" y="3600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紙・インク・郵送費・FAX代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8000" y="3600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通信費中心(印刷物が大幅減)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068000"/>
            <a:ext cx="11304000" cy="522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122000"/>
            <a:ext cx="277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時間帯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6000" y="4122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相手の営業時間に依存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8000" y="4122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24時間いつでも送受信可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4590000"/>
            <a:ext cx="11304000" cy="522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000" y="4644000"/>
            <a:ext cx="277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保管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66000" y="464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紙の保管スペースが必要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8000" y="464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データで管理(省スペース)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5040000"/>
            <a:ext cx="11304000" cy="36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" y="50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効果の試算例(国保中央会)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5400000"/>
            <a:ext cx="11304000" cy="720000"/>
          </a:xfrm>
          <a:prstGeom prst="rect">
            <a:avLst/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5436000"/>
            <a:ext cx="11088000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国保中央会は、1事業所あたり 年間で相応の業務コスト削減効果 があるとの試算を公表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ただし効果は「連携できる相手先がどれだけあるか」に大きく左右される(後述)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▶ 具体的な金額・最新の試算は、国保中央会の公表資料で必ず確認すること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データ連携システム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費用 ・ ライセンス ・ 補助制度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11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ライセンス費用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80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ケアプランデータ連携システムの利用には、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1事業所単位の年間ライセンスが必要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比較的低額な年額ライセンス制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(金額は国保中央会の最新情報を要確認)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このほか、対応介護ソフトの利用料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電子証明書の取得費用 等がかかる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▶ 「何にいくらかかるか」を一覧化して試算する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補助制度(ICT導入支援事業)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800000"/>
          </a:xfrm>
          <a:prstGeom prst="rect">
            <a:avLst/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地域医療介護総合確保基金を活用した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ICT導入支援事業 がある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介護ソフト・タブレット・連携システム等の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導入費用の一部を補助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補助率・上限額・要件は 都道府県ごと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に異なり、年度ごとに変わる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▶ 自治体の介護保険担当課・国保連に確認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費用対効果の考え方 ― 主任CMの試算ポイント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コスト側:ライセンス料 + ソフト利用料 + 証明書 + 導入時の研修・設定の手間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効果側:削減できる 紙・郵送・FAXコスト + 作業時間(時給換算)+ 残業削減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「連携相手がゼロ」なら効果もゼロ ― 周囲のサービス事業所の対応状況とセットで判断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補助金が使える年度に導入すれば、初期負担を大きく抑えられる ― タイミングが重要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データ連携システム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導入の流れ ― 5ステップ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12 / 33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745999"/>
            <a:ext cx="468000" cy="468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4000" y="1620000"/>
            <a:ext cx="2340000" cy="72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4000" y="1620000"/>
            <a:ext cx="234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現状確認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4000" y="1620000"/>
            <a:ext cx="8196119" cy="7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8000" y="1692000"/>
            <a:ext cx="7908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・使っている介護ソフトがデータ連携に対応しているか確認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・電子証明書(電子請求用)の有無を確認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591999"/>
            <a:ext cx="468000" cy="468000"/>
          </a:xfrm>
          <a:prstGeom prst="ellipse">
            <a:avLst/>
          </a:prstGeom>
          <a:solidFill>
            <a:srgbClr val="606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4000" y="2466000"/>
            <a:ext cx="2340000" cy="720000"/>
          </a:xfrm>
          <a:prstGeom prst="rect">
            <a:avLst/>
          </a:prstGeom>
          <a:solidFill>
            <a:srgbClr val="606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4000" y="2466000"/>
            <a:ext cx="234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情報収集・申込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4000" y="2466000"/>
            <a:ext cx="8196119" cy="7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8000" y="2538000"/>
            <a:ext cx="7908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・国保中央会のサイトで仕様・費用を確認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・ライセンスの申込手続き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3437999"/>
            <a:ext cx="468000" cy="468000"/>
          </a:xfrm>
          <a:prstGeom prst="ellipse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4000" y="3312000"/>
            <a:ext cx="2340000" cy="72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4000" y="3312000"/>
            <a:ext cx="234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環境準備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4000" y="3312000"/>
            <a:ext cx="8196119" cy="7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8000" y="3384000"/>
            <a:ext cx="7908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・連携用クライアントソフトの導入・設定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・介護ソフト側の連携設定・動作確認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283999"/>
            <a:ext cx="468000" cy="468000"/>
          </a:xfrm>
          <a:prstGeom prst="ellipse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4000" y="4158000"/>
            <a:ext cx="2340000" cy="72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4000" y="4158000"/>
            <a:ext cx="234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連携先の調整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4000" y="4158000"/>
            <a:ext cx="8196119" cy="7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8000" y="4230000"/>
            <a:ext cx="7908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・取引のあるサービス事業所に対応状況を確認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・連携を始める相手と運用ルールを取り決め</a:t>
            </a:r>
          </a:p>
        </p:txBody>
      </p:sp>
      <p:sp>
        <p:nvSpPr>
          <p:cNvPr id="28" name="Oval 27"/>
          <p:cNvSpPr/>
          <p:nvPr/>
        </p:nvSpPr>
        <p:spPr>
          <a:xfrm>
            <a:off x="540000" y="5129999"/>
            <a:ext cx="468000" cy="468000"/>
          </a:xfrm>
          <a:prstGeom prst="ellipse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24000" y="5004000"/>
            <a:ext cx="2340000" cy="72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4000" y="5004000"/>
            <a:ext cx="234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運用開始・拡大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4000" y="5004000"/>
            <a:ext cx="8196119" cy="7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8000" y="5076000"/>
            <a:ext cx="7908119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・一部の利用者・事業所から試行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・問題なければ対象を段階的に拡大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F8FA8"/>
                </a:solidFill>
                <a:latin typeface="Yu Gothic"/>
              </a:rPr>
              <a:t>▶ ステップ1・4 がカギ。「自分のソフトが対応しているか」「連携できる相手がいるか」を最初に確認。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1F8FA8"/>
                </a:solidFill>
                <a:latin typeface="Yu Gothic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既存システムとの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併用戦略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Coexistence Strategy with Existing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併用戦略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ケアプランデータ連携システムと介護ソフトの関係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14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よくある誤解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720000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「データ連携システムを入れたら、今の介護ソフトを買い替えないといけない」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→ 誤解。データ連携システムは 既存の介護ソフトと組み合わせて使う ものです。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2880000"/>
            <a:ext cx="3960000" cy="108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2880000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介護ソフト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(楽にネット 等)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日々の記録・帳票・請求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48000" y="3240000"/>
            <a:ext cx="1800000" cy="360000"/>
          </a:xfrm>
          <a:prstGeom prst="rightArrow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00" y="2951999"/>
            <a:ext cx="18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2F8C5A"/>
                </a:solidFill>
                <a:latin typeface="Yu Gothic"/>
              </a:rPr>
              <a:t>データ受渡し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28000" y="2880000"/>
            <a:ext cx="3960000" cy="108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8000" y="2880000"/>
            <a:ext cx="3960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データ連携システム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事業所間でのデータ送受信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212000"/>
            <a:ext cx="5580000" cy="36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4248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それぞれの役割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72000"/>
            <a:ext cx="5580000" cy="1548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608000"/>
            <a:ext cx="5364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介護ソフト:事業所内の業務システム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記録・ケアプラン作成・帳票・国保連請求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データ連携システム:事業所間の通り道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作ったデータを「外に送る・受け取る」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▶ 役割が違うので、両方が必要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4212000"/>
            <a:ext cx="5400000" cy="36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000" y="4248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カギは「連携対応」かどうか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4572000"/>
            <a:ext cx="5400000" cy="1548000"/>
          </a:xfrm>
          <a:prstGeom prst="rect">
            <a:avLst/>
          </a:prstGeom>
          <a:solidFill>
            <a:srgbClr val="FAF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8000" y="4608000"/>
            <a:ext cx="5184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介護ソフトが データ連携システムに対応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していれば、そのまま使い続けられる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多くの主要な介護ソフトは対応済み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または対応を進めている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▶ まず自社ソフトのベンダーに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「連携対応の有無」を確認する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併用戦略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自事業所はどのパターン? ― 4つの状況別判断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15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48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331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現在の状況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6000" y="1656000"/>
            <a:ext cx="385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とるべき方針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6000" y="1656000"/>
            <a:ext cx="39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ポイント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484000" cy="827999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331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介護ソフトあり</a:t>
            </a:r>
          </a:p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+ 連携対応済み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6000" y="2034000"/>
            <a:ext cx="38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そのまま連携システムを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追加導入する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6000" y="2034000"/>
            <a:ext cx="399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最もスムーズ。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ソフト買い替え不要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807999"/>
            <a:ext cx="11484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861999"/>
            <a:ext cx="331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介護ソフトあり</a:t>
            </a:r>
          </a:p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+ 連携未対応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6000" y="2861999"/>
            <a:ext cx="38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ベンダーに対応予定を確認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対応版へのアップデートを待つ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/ 検討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6000" y="2861999"/>
            <a:ext cx="399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買い替えありきにしない。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まず対応予定を聞く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635998"/>
            <a:ext cx="11484000" cy="827999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689998"/>
            <a:ext cx="331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紙・Excelで</a:t>
            </a:r>
          </a:p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運用している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6000" y="3689998"/>
            <a:ext cx="38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連携対応の介護ソフト導入と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セットで計画する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6000" y="3689998"/>
            <a:ext cx="399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補助金活用のチャンス。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業務全体を見直す好機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463997"/>
            <a:ext cx="11484000" cy="82799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517997"/>
            <a:ext cx="331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複数ソフトが</a:t>
            </a:r>
          </a:p>
          <a:p>
            <a:pPr algn="ctr"/>
            <a:r>
              <a:rPr sz="1100" b="1" i="0">
                <a:solidFill>
                  <a:srgbClr val="1F8FA8"/>
                </a:solidFill>
                <a:latin typeface="Yu Gothic"/>
              </a:rPr>
              <a:t>混在している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6000" y="4517997"/>
            <a:ext cx="3852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連携を機にソフトを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整理・統一を検討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6000" y="4517997"/>
            <a:ext cx="3996000" cy="719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現場の負担を考え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段階的に進める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508000"/>
            <a:ext cx="11304000" cy="36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554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「楽にネット等」既存ソフトを使っている事業所へ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868000"/>
            <a:ext cx="11304000" cy="432000"/>
          </a:xfrm>
          <a:prstGeom prst="rect">
            <a:avLst/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904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慣れたソフトを無理に変えない ― まずは「連携対応しているか」をベンダーに確認するのが第一歩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対応していれば、操作を覚え直す負担なく、連携の効果だけを得られる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併用戦略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ソフト選定 ・ 移行時のチェックポイント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16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84000"/>
            <a:ext cx="11304000" cy="684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00" y="1782000"/>
            <a:ext cx="288000" cy="288000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7999" y="1656000"/>
            <a:ext cx="10572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32E5C"/>
                </a:solidFill>
                <a:latin typeface="Yu Gothic"/>
              </a:rPr>
              <a:t>ケアプランデータ連携システムに対応しているか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999" y="1944000"/>
            <a:ext cx="1057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対応していなければ連携の効果が得られない。最重要確認項目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321999"/>
            <a:ext cx="11304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00" y="2519999"/>
            <a:ext cx="288000" cy="288000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7999" y="2393999"/>
            <a:ext cx="10572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32E5C"/>
                </a:solidFill>
                <a:latin typeface="Yu Gothic"/>
              </a:rPr>
              <a:t>国保連の電子請求機能と連動しているか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999" y="2681999"/>
            <a:ext cx="1057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請求業務まで一気通貫だと、二重入力が発生しない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59998"/>
            <a:ext cx="11304000" cy="684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00" y="3257998"/>
            <a:ext cx="288000" cy="288000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999" y="3131998"/>
            <a:ext cx="10572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32E5C"/>
                </a:solidFill>
                <a:latin typeface="Yu Gothic"/>
              </a:rPr>
              <a:t>LIFE・他システムとの連携に対応しているか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999" y="3419998"/>
            <a:ext cx="1057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将来の科学的介護・データ活用を見据えた拡張性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797997"/>
            <a:ext cx="11304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" y="3995997"/>
            <a:ext cx="288000" cy="288000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999" y="3869997"/>
            <a:ext cx="10572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32E5C"/>
                </a:solidFill>
                <a:latin typeface="Yu Gothic"/>
              </a:rPr>
              <a:t>操作性・サポート体制は十分か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999" y="4157997"/>
            <a:ext cx="1057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現場のCMが無理なく使えるか。困ったときのサポートの手厚さ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535996"/>
            <a:ext cx="11304000" cy="684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4733996"/>
            <a:ext cx="288000" cy="288000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7999" y="4607996"/>
            <a:ext cx="10572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32E5C"/>
                </a:solidFill>
                <a:latin typeface="Yu Gothic"/>
              </a:rPr>
              <a:t>費用(初期・月額)が事業規模に見合うか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999" y="4895996"/>
            <a:ext cx="1057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クラウド型/オンプレ型、利用人数による課金体系を確認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273995"/>
            <a:ext cx="11304000" cy="684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00" y="5471995"/>
            <a:ext cx="288000" cy="288000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999" y="5345995"/>
            <a:ext cx="10572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32E5C"/>
                </a:solidFill>
                <a:latin typeface="Yu Gothic"/>
              </a:rPr>
              <a:t>データの移行・バックアップが安全に行えるか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999" y="5633995"/>
            <a:ext cx="1057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ソフト乗り換え時の過去データの引き継ぎ。情報セキュリティ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1F8FA8"/>
                </a:solidFill>
                <a:latin typeface="Yu Gothic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業務効率化の実際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Real-World Efficiency Gains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業務効率化の実際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導入事例① ― 中規模・居宅介護支援事業所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18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事業所プロフィール(モデル例)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常勤CM 5名 / 担当 約180名 / 周辺のサービス事業所と多くの取引あり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→ 提供票・実績の授受がFAX・郵送中心で、月初・月末に事務作業が集中していた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520000"/>
            <a:ext cx="5580000" cy="360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5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導入前の課題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880000"/>
            <a:ext cx="5580000" cy="1440000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916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月初:提供票の送付に丸2日かかる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月末:実績の回収・転記に追われる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FAXの送信エラー・再送が頻発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紙・郵送費が月数万円規模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520000"/>
            <a:ext cx="5400000" cy="36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5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導入後の変化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880000"/>
            <a:ext cx="5400000" cy="1440000"/>
          </a:xfrm>
          <a:prstGeom prst="rect">
            <a:avLst/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2916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連携対応のサービス事業所とは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データで一括送受信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提供票送付の作業時間が大幅短縮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転記作業が減り、ミスも減少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紙・郵送コストが目に見えて減少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1304000" cy="36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53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成功のポイント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860000"/>
            <a:ext cx="11304000" cy="1260000"/>
          </a:xfrm>
          <a:prstGeom prst="rect">
            <a:avLst/>
          </a:prstGeom>
          <a:solidFill>
            <a:srgbClr val="DF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4896000"/>
            <a:ext cx="11088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取引の多い大手サービス事業所が連携に対応していた → 効果が出やすかった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「全件いきなり」ではなく、対応事業所から段階的に切り替えた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浮いた時間を、モニタリング訪問・記録の充実にあてた(=DXの目的を果たした)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業務効率化の実際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導入事例② ― 効果が出にくかったケース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19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事業所プロフィール(モデル例)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常勤CM 2名 / 担当 約60名 / 取引先は地域の小規模サービス事業所が中心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→ 「効率化したい」と考え、データ連携システムを導入した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520000"/>
            <a:ext cx="5580000" cy="360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5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起きたこと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880000"/>
            <a:ext cx="5580000" cy="1440000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916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取引先の多くがシステム未対応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結局、FAX・郵送も続けることに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「紙」と「データ」の二重運用に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かえって手間が増えた感覚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520000"/>
            <a:ext cx="5400000" cy="36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5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原因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880000"/>
            <a:ext cx="5400000" cy="1440000"/>
          </a:xfrm>
          <a:prstGeom prst="rect">
            <a:avLst/>
          </a:prstGeom>
          <a:solidFill>
            <a:srgbClr val="FAF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2916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導入前に連携相手の対応状況を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確認していなかった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「入れれば効率化する」と思い込んだ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連携先を増やす働きかけをしなかった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効果検証の指標を持っていなかった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453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ここから学べること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860000"/>
            <a:ext cx="11304000" cy="126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4896000"/>
            <a:ext cx="11088000" cy="12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データ連携の効果は 「連携できる相手の数」 に正比例する ― 相手がいなければ効果はゼロ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導入の前に必ず:取引先のサービス事業所の対応状況を調べる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「二重運用」の期間は必ず生じる ― それを織り込み、徐々に連携先を増やす計画を持つ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業務効率化の実際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効果が出る条件 ― 2つの事例の対比から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20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66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313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6000" y="1656000"/>
            <a:ext cx="410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効果が出やすい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8000" y="1656000"/>
            <a:ext cx="410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効果が出にくい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664000" cy="522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313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連携先の対応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6000" y="203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取引先の多くが対応済み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8000" y="203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取引先がほぼ未対応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502000"/>
            <a:ext cx="11664000" cy="522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556000"/>
            <a:ext cx="313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導入前の調査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6000" y="2556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相手の状況を事前に確認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8000" y="2556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確認せず見切り発車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024000"/>
            <a:ext cx="11664000" cy="522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078000"/>
            <a:ext cx="313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切り替え方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6000" y="3078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対応先から段階的に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8000" y="3078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全件いきなり / 計画なし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546000"/>
            <a:ext cx="11664000" cy="522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3600000"/>
            <a:ext cx="313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連携先拡大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6000" y="3600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未対応先に働きかける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8000" y="3600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待ちの姿勢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068000"/>
            <a:ext cx="11664000" cy="522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122000"/>
            <a:ext cx="313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効果検証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6000" y="4122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時間・コストを数値で把握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8000" y="4122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なんとなくの感覚のみ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4590000"/>
            <a:ext cx="11664000" cy="522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000" y="4644000"/>
            <a:ext cx="3132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32E5C"/>
                </a:solidFill>
                <a:latin typeface="Yu Gothic"/>
              </a:rPr>
              <a:t>目的の共有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6000" y="464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浮いた時間の使い道が明確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8000" y="4644000"/>
            <a:ext cx="4104000" cy="41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「導入」自体が目的化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5040000"/>
            <a:ext cx="11304000" cy="36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" y="50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結論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5400000"/>
            <a:ext cx="11304000" cy="720000"/>
          </a:xfrm>
          <a:prstGeom prst="rect">
            <a:avLst/>
          </a:prstGeom>
          <a:solidFill>
            <a:srgbClr val="DF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5436000"/>
            <a:ext cx="11088000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システムは「入れれば効率化する魔法の箱」ではない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効果 = システムの性能 × 連携先の数 × 運用の工夫 ― どれかがゼロなら効果もゼロ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主任CMの仕事は、この「掛け算」のすべてを高めること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業務効率化の実際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連携先を増やす ― 一事業所だけでは完結しない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21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データ連携は「相手あってのDX」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11304000" cy="54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自分の事業所だけ導入しても、相手が紙のままなら連携は成立しない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地域全体で対応事業所が増えるほど、すべての事業所の効果が高まる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59" y="2772000"/>
            <a:ext cx="2772000" cy="72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059" y="2772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取引先に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働きかける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59" y="3492000"/>
            <a:ext cx="2772000" cy="16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059" y="3599999"/>
            <a:ext cx="2556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・よく取引するサービス事業所に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  対応状況を聞く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・「一緒に連携しませんか」と提案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772000"/>
            <a:ext cx="2772000" cy="72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6059" y="2772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地域で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声をあげる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0059" y="3492000"/>
            <a:ext cx="2772000" cy="16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8059" y="3599999"/>
            <a:ext cx="2556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・ケアマネ連絡会・事業者連絡会で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  データ連携を話題にする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・地域ケア会議でも共有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059" y="2772000"/>
            <a:ext cx="2772000" cy="72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6059" y="2772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情報を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共有する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0059" y="3492000"/>
            <a:ext cx="2772000" cy="16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8059" y="3599999"/>
            <a:ext cx="2556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・補助金情報・導入事例を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  地域の事業所に伝える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・つまずきポイントも共有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0059" y="2772000"/>
            <a:ext cx="2772000" cy="72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6059" y="2772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行政・国保連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と連携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3492000"/>
            <a:ext cx="2772000" cy="16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8059" y="3599999"/>
            <a:ext cx="2556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・自治体の生産性向上の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  取り組みと歩調を合わせる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・説明会・研修を活用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94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F8FA8"/>
                </a:solidFill>
                <a:latin typeface="Yu Gothic"/>
              </a:rPr>
              <a:t>▶ 主任CMは、自事業所を超えて「地域のDX」を後押しできる立場にある。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業務効率化の実際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よくあるつまずきと対処法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22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48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331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つまずき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6000" y="1656000"/>
            <a:ext cx="385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なぜ起こるか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6000" y="1656000"/>
            <a:ext cx="39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対処法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484000" cy="720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33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二重運用が</a:t>
            </a:r>
          </a:p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負担になる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6000" y="2034000"/>
            <a:ext cx="385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連携先と未連携先が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混在する移行期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6000" y="203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移行期は必ずあると割り切る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連携先を計画的に増やす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00000"/>
            <a:ext cx="1148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754000"/>
            <a:ext cx="33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現場が</a:t>
            </a:r>
          </a:p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操作に不慣れ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6000" y="2754000"/>
            <a:ext cx="385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新しい手順への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戸惑い・抵抗感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6000" y="275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少人数・少件数から試行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操作担当者を決めて教え合う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420000"/>
            <a:ext cx="11484000" cy="720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474000"/>
            <a:ext cx="33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効果が</a:t>
            </a:r>
          </a:p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実感できない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6000" y="3474000"/>
            <a:ext cx="385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連携先が少ない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効果を測っていない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6000" y="347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導入前後で時間・コストを記録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連携率を見える化する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48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194000"/>
            <a:ext cx="33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設定で</a:t>
            </a:r>
          </a:p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つまずく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6000" y="4194000"/>
            <a:ext cx="385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証明書・ソフト設定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が分かりにくい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6000" y="419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ベンダー・国保連のサポートを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遠慮なく活用する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860000"/>
            <a:ext cx="11484000" cy="720000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000" y="4914000"/>
            <a:ext cx="331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導入が</a:t>
            </a:r>
          </a:p>
          <a:p>
            <a:pPr algn="ctr"/>
            <a:r>
              <a:rPr sz="1100" b="1" i="0">
                <a:solidFill>
                  <a:srgbClr val="C0423A"/>
                </a:solidFill>
                <a:latin typeface="Yu Gothic"/>
              </a:rPr>
              <a:t>目的化する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6000" y="4914000"/>
            <a:ext cx="385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「入れて満足」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してしまう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6000" y="4914000"/>
            <a:ext cx="399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「浮いた時間で何をするか」を</a:t>
            </a:r>
          </a:p>
          <a:p>
            <a:pPr algn="l"/>
            <a:r>
              <a:rPr sz="1100" b="0" i="0">
                <a:solidFill>
                  <a:srgbClr val="2F333C"/>
                </a:solidFill>
                <a:latin typeface="Yu Gothic"/>
              </a:rPr>
              <a:t>最初に決めておく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000" y="5760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F8FA8"/>
                </a:solidFill>
                <a:latin typeface="Yu Gothic"/>
              </a:rPr>
              <a:t>▶ つまずきの多くは「想定内」。事前に知っておけば、慌てず対処できる。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1F8FA8"/>
                </a:solidFill>
                <a:latin typeface="Yu Gothic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導入を成功させるために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Making the Implementation Succeed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導入の進め方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段階的導入ロードマップ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24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372059" y="1620000"/>
            <a:ext cx="2232000" cy="827999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8059" y="1692000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STEP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調べる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059" y="2196000"/>
            <a:ext cx="2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0〜1ヶ月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059" y="2447999"/>
            <a:ext cx="2232000" cy="2772001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59" y="2556000"/>
            <a:ext cx="2016000" cy="25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・自社ソフトの連携対応を確認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・取引先の対応状況を調査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・費用・補助金を試算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6059" y="1620000"/>
            <a:ext cx="2232000" cy="827999"/>
          </a:xfrm>
          <a:prstGeom prst="rect">
            <a:avLst/>
          </a:prstGeom>
          <a:solidFill>
            <a:srgbClr val="606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2059" y="1692000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STEP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決める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059" y="2196000"/>
            <a:ext cx="2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1〜2ヶ月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6059" y="2447999"/>
            <a:ext cx="2232000" cy="2772001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4059" y="2556000"/>
            <a:ext cx="2016000" cy="25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・導入の可否・時期を判断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・事業所内で合意形成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・補助金申請(該当年度)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0059" y="1620000"/>
            <a:ext cx="2232000" cy="827999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6059" y="1692000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STEP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準備する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6059" y="2196000"/>
            <a:ext cx="2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2〜3ヶ月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0059" y="2447999"/>
            <a:ext cx="2232000" cy="2772001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8059" y="2556000"/>
            <a:ext cx="2016000" cy="25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・ライセンス申込・環境設定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・操作担当者の決定・研修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・連携先と運用ルール調整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4059" y="1620000"/>
            <a:ext cx="2232000" cy="827999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0059" y="1692000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STEP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試す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0059" y="2196000"/>
            <a:ext cx="2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3〜4ヶ月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4059" y="2447999"/>
            <a:ext cx="2232000" cy="2772001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2059" y="2556000"/>
            <a:ext cx="2016000" cy="25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・一部利用者・事業所で試行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・問題点の洗い出し・改善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・効果を記録し始める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8059" y="1620000"/>
            <a:ext cx="2232000" cy="827999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4059" y="1692000"/>
            <a:ext cx="216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STEP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Yu Gothic"/>
              </a:rPr>
              <a:t>広げる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4059" y="2196000"/>
            <a:ext cx="216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</a:rPr>
              <a:t>4ヶ月〜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8059" y="2447999"/>
            <a:ext cx="2232000" cy="2772001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6059" y="2556000"/>
            <a:ext cx="2016000" cy="255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・対象を段階的に拡大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・連携先を増やす働きかけ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F333C"/>
                </a:solidFill>
                <a:latin typeface="Yu Gothic"/>
              </a:rPr>
              <a:t>・効果を検証・共有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40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000" y="543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ロードマップの考え方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5760000"/>
            <a:ext cx="11304000" cy="43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5796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期間はあくまで目安。事業所の規模・体制に合わせて無理のないペースで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「調べる」を飛ばさない ― ここを省くと事例②のような失敗につながる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導入の進め方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事業所内の合意形成 ― 「やらされ感」をなくす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25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C04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65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現場が抵抗を感じる理由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1980000"/>
          </a:xfrm>
          <a:prstGeom prst="rect">
            <a:avLst/>
          </a:prstGeom>
          <a:solidFill>
            <a:srgbClr val="FA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016000"/>
            <a:ext cx="536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「今のやり方で困っていない」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「新しい操作を覚えるのが面倒」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「忙しいのに、また仕事が増える」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「うまくいかなかったらどうする」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「結局、上が決めたことでしょう」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▶ 不安・負担感は当然のもの。否定しない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620000"/>
            <a:ext cx="5400000" cy="36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65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主任CMの進め方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80000"/>
            <a:ext cx="5400000" cy="1980000"/>
          </a:xfrm>
          <a:prstGeom prst="rect">
            <a:avLst/>
          </a:prstGeom>
          <a:solidFill>
            <a:srgbClr val="E4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2016000"/>
            <a:ext cx="5184000" cy="19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目的を共有する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「あなたの○○の作業が楽になる」と具体的に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不安を聞く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反対意見こそ、改善のヒント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小さく始める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一部から試し、成功体験を共有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役割を与える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操作に強い職員を「推進担当」に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効果を見せる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   「これだけ楽になった」を数字で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14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417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DX推進は「人」のマネジメント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500000"/>
            <a:ext cx="11304000" cy="162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536000"/>
            <a:ext cx="11088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技術の問題より、人の気持ちの問題でつまずくことが多い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「効率化のため」ではなく「あなたの負担を減らすため」と、一人ひとりの言葉に翻訳する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第4弾で学んだ スーパービジョン・ファシリテーションの技術 が、ここでも生きる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一度の説明で終わらせず、移行期は繰り返し声をかけ、フォローする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導入の進め方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導入判断チェックリスト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26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503999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0000" y="1638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7999" y="1656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8000" y="1620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現在使っている介護ソフトがデータ連携システムに対応しているか確認した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070000"/>
            <a:ext cx="11304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0000" y="2160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7999" y="2178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8000" y="2142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対応していない場合、ベンダーに対応予定を問い合わせた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592000"/>
            <a:ext cx="11304000" cy="503999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0000" y="2682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7999" y="2700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8000" y="2664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電子請求で使う電子証明書の有無・有効期限を確認した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114000"/>
            <a:ext cx="11304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0000" y="3204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7999" y="3222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8000" y="3186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よく取引するサービス事業所の対応状況を調べた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636000"/>
            <a:ext cx="11304000" cy="503999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0000" y="3726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7999" y="3744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00" y="3708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ライセンス料・ソフト費用・証明書費用などの総コストを試算した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158000"/>
            <a:ext cx="11304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0000" y="4248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7999" y="4266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8000" y="4230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活用できる補助金(ICT導入支援事業)の有無を自治体に確認した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4680000"/>
            <a:ext cx="11304000" cy="503999"/>
          </a:xfrm>
          <a:prstGeom prst="rect">
            <a:avLst/>
          </a:prstGeom>
          <a:solidFill>
            <a:srgbClr val="E7EAF2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0000" y="4770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7999" y="4788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8000" y="4752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導入後に「浮いた時間で何をするか」を事業所内で話し合った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5202000"/>
            <a:ext cx="11304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0000" y="5292000"/>
            <a:ext cx="324000" cy="324000"/>
          </a:xfrm>
          <a:prstGeom prst="ellipse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7999" y="5310000"/>
            <a:ext cx="251999" cy="251999"/>
          </a:xfrm>
          <a:prstGeom prst="rect">
            <a:avLst/>
          </a:prstGeom>
          <a:solidFill>
            <a:srgbClr val="FFFFFF"/>
          </a:solidFill>
          <a:ln>
            <a:solidFill>
              <a:srgbClr val="232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68000" y="5274000"/>
            <a:ext cx="10392119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段階的な導入スケジュールと、効果を測る指標を決めた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5868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F8FA8"/>
                </a:solidFill>
                <a:latin typeface="Yu Gothic"/>
              </a:rPr>
              <a:t>▶ 8項目すべてに「はい」と言えるようになってから、本格導入に進むのが安全。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1F8FA8"/>
                </a:solidFill>
                <a:latin typeface="Yu Gothic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これからの介護DXと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Yu Gothic"/>
              </a:rPr>
              <a:t>主任CMの役割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The Future of Care DX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これからの介護DX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データ連携の先に広がるもの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28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59" y="1620000"/>
            <a:ext cx="2772000" cy="72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LIFEとの連動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・サービス事業所のLIFEデータを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  ケアプランに反映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・データに基づくケアの検証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・科学的介護の本格化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0059" y="1620000"/>
            <a:ext cx="2772000" cy="72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ケアプラン作成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のAI支援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・アセスメントからの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  プラン原案づくりの支援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・あくまでCMの判断を補助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・最終判断は専門職が担う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0059" y="1620000"/>
            <a:ext cx="2772000" cy="72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医療介護連携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の深化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・入退院時の情報連携の電子化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・医療機関とのデータ共有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・多職種のシームレスな連携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0059" y="1620000"/>
            <a:ext cx="2772000" cy="72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6059" y="1620000"/>
            <a:ext cx="270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ケアプラン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データの活用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0059" y="2340000"/>
            <a:ext cx="2772000" cy="19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8059" y="2447999"/>
            <a:ext cx="255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・地域全体のケアの傾向把握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・政策・事業計画への反映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F333C"/>
                </a:solidFill>
                <a:latin typeface="Yu Gothic"/>
              </a:rPr>
              <a:t>・R9改定の論点とも連動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68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7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データ連携システムは「入口」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040000"/>
            <a:ext cx="11304000" cy="10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076000"/>
            <a:ext cx="11088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ケアプランデータ連携システムは、介護DXの最初の一歩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ここで「データでやり取りする」経験を積むことが、LIFE活用・AI活用への土台になる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「まだ早い」ではなく「今できることから」 ― 小さな一歩が、次の大きな変化につながる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これからの介護DX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DX推進における主任CMの役割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29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見極める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97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・「何のためのDXか」を問い続ける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・流行や売り込みに振り回されない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・自事業所に必要なものを選ぶ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リードする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97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・導入の旗振り役になる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・現場の不安に寄り添い、合意を作る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・段階的に・無理なく進める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60000"/>
            <a:ext cx="5580000" cy="360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つなげる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20000"/>
            <a:ext cx="5580000" cy="97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・連携先・地域に働きかける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・事例・情報を共有する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・地域全体のDXを後押しする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060000"/>
            <a:ext cx="5580000" cy="36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活かす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20000"/>
            <a:ext cx="5580000" cy="97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・浮いた時間をケアの質に振り向ける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・データを読み、ケアに活かす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・学び続け、後輩にも伝える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680000"/>
            <a:ext cx="11304000" cy="360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7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DXの主役は「技術」ではなく「人」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040000"/>
            <a:ext cx="11304000" cy="1080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076000"/>
            <a:ext cx="11088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どんなに優れたシステムも、使いこなす人がいなければ意味がない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主任CMは、技術と現場の「翻訳者」 ― 難しい話を、現場の言葉に置き換えて伝える</a:t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F333C"/>
                </a:solidFill>
                <a:latin typeface="Yu Gothic"/>
              </a:rPr>
              <a:t>■ DXのゴールは、利用者と向き合う時間を取り戻し、ケアの質を高めること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明日からの 3 つのアクション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30 /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620000" cy="1332000"/>
          </a:xfrm>
          <a:prstGeom prst="rect">
            <a:avLst/>
          </a:prstGeom>
          <a:solidFill>
            <a:srgbClr val="3C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76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16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000" y="1620000"/>
            <a:ext cx="9708119" cy="133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0" y="172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32E5C"/>
                </a:solidFill>
                <a:latin typeface="Yu Gothic"/>
              </a:rPr>
              <a:t>自社の介護ソフトの「連携対応」を確認する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12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・使っている介護ソフトのベンダーに、データ連携システム対応の有無を問い合わせる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・未対応なら、対応予定の時期も確認する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060000"/>
            <a:ext cx="1620000" cy="1332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320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60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2000" y="3060000"/>
            <a:ext cx="9708119" cy="133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0" y="316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32E5C"/>
                </a:solidFill>
                <a:latin typeface="Yu Gothic"/>
              </a:rPr>
              <a:t>取引先サービス事業所の対応状況を調べる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356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・よく取引する事業所が何件、データ連携に対応しているかをリスト化する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・「効果が出るだけの連携先があるか」を見極める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620000" cy="1332000"/>
          </a:xfrm>
          <a:prstGeom prst="rect">
            <a:avLst/>
          </a:prstGeom>
          <a:solidFill>
            <a:srgbClr val="2F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464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504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2000" y="4500000"/>
            <a:ext cx="9708119" cy="1332000"/>
          </a:xfrm>
          <a:prstGeom prst="rect">
            <a:avLst/>
          </a:prstGeom>
          <a:solidFill>
            <a:srgbClr val="E7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0" y="460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32E5C"/>
                </a:solidFill>
                <a:latin typeface="Yu Gothic"/>
              </a:rPr>
              <a:t>補助金と費用を試算する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500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・自治体にICT導入支援事業(補助金)の有無・要件を確認する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F333C"/>
                </a:solidFill>
                <a:latin typeface="Yu Gothic"/>
              </a:rPr>
              <a:t>・ライセンス料等の総コストと、削減できるコスト・時間を試算する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20000"/>
            <a:ext cx="12192119" cy="360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1F8FA8"/>
                </a:solidFill>
                <a:latin typeface="Yu Gothic"/>
              </a:rP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500" b="1" i="0">
                <a:solidFill>
                  <a:srgbClr val="FFFFFF"/>
                </a:solidFill>
                <a:latin typeface="Yu Gothic"/>
              </a:rPr>
              <a:t>DXの目的は、効率化ではなく、</a:t>
            </a:r>
          </a:p>
          <a:p>
            <a:pPr algn="ctr">
              <a:lnSpc>
                <a:spcPct val="140000"/>
              </a:lnSpc>
            </a:pPr>
            <a:r>
              <a:rPr sz="2500" b="1" i="0">
                <a:solidFill>
                  <a:srgbClr val="FFFFFF"/>
                </a:solidFill>
                <a:latin typeface="Yu Gothic"/>
              </a:rPr>
              <a:t>「人と向き合う時間」を取り戻すこと。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500000"/>
            <a:ext cx="1003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3D8E2"/>
                </a:solidFill>
                <a:latin typeface="Yu Gothic"/>
              </a:rPr>
              <a:t>FAXを送る時間、紙を探す時間、転記する時間。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3D8E2"/>
                </a:solidFill>
                <a:latin typeface="Yu Gothic"/>
              </a:rPr>
              <a:t>その一つひとつを減らした先に、利用者ともう一度きちんと向き合える時間があります。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3D8E2"/>
                </a:solidFill>
                <a:latin typeface="Yu Gothic"/>
              </a:rPr>
              <a:t>完璧でなくていい。まずは「自社のソフトは対応しているか」の一本の電話から。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32E5C"/>
                </a:solidFill>
                <a:latin typeface="Yu Gothic"/>
              </a:rPr>
              <a:t>参考資料 ・ 情報源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606EAE"/>
                </a:solidFill>
                <a:latin typeface="Yu Gothic"/>
              </a:rPr>
              <a:t>主任CM研修 / ケアプランデータ連携システムと介護DXの推進  ※費用・補助制度は最新情報をご確認ください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606EAE"/>
                </a:solidFill>
                <a:latin typeface="Yu Gothic"/>
              </a:rPr>
              <a:t>32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2F333C"/>
                </a:solidFill>
                <a:latin typeface="Yu Gothic"/>
              </a:rPr>
              <a:t>■ 国民健康保険中央会「ケアプランデータ連携システム」公式情報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8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2F333C"/>
                </a:solidFill>
                <a:latin typeface="Yu Gothic"/>
              </a:rPr>
              <a:t>■ 厚生労働省「介護分野におけるICTの活用」「ケアプラン標準仕様」関連資料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56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2F333C"/>
                </a:solidFill>
                <a:latin typeface="Yu Gothic"/>
              </a:rPr>
              <a:t>■ 厚生労働省「介護現場における生産性向上」関連ガイドライン・手引き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024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2F333C"/>
                </a:solidFill>
                <a:latin typeface="Yu Gothic"/>
              </a:rPr>
              <a:t>■ 各都道府県「ICT導入支援事業(地域医療介護総合確保基金)」の募集要項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92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2F333C"/>
                </a:solidFill>
                <a:latin typeface="Yu Gothic"/>
              </a:rPr>
              <a:t>■ 利用中の介護ソフトベンダーの提供する連携対応情報・サポート窓口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96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 i="0">
                <a:solidFill>
                  <a:srgbClr val="2F333C"/>
                </a:solidFill>
                <a:latin typeface="Yu Gothic"/>
              </a:rPr>
              <a:t>■ 市町村・国保連合会の説明会・研修資料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4680000"/>
            <a:ext cx="11304000" cy="360000"/>
          </a:xfrm>
          <a:prstGeom prst="rect">
            <a:avLst/>
          </a:prstGeom>
          <a:solidFill>
            <a:srgbClr val="D49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471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ご注意 ・ 情報の確認について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5040000"/>
            <a:ext cx="11304000" cy="1080000"/>
          </a:xfrm>
          <a:prstGeom prst="rect">
            <a:avLst/>
          </a:prstGeom>
          <a:solidFill>
            <a:srgbClr val="FAF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5076000"/>
            <a:ext cx="11088000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ライセンス費用・補助金の要件・対応ソフトの状況は、年度や地域により変わります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導入を検討する際は、必ず 国保中央会・自治体・ソフトベンダーの最新情報 をご確認ください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本資料は 2026年5月時点の一般的な情報を基に、特定の製品を推奨しない中立的な立場で構成しています</a:t>
            </a:r>
          </a:p>
          <a:p>
            <a:pPr algn="l"/>
            <a:r>
              <a:rPr sz="1200" b="0" i="0">
                <a:solidFill>
                  <a:srgbClr val="2F333C"/>
                </a:solidFill>
                <a:latin typeface="Yu Gothic"/>
              </a:rPr>
              <a:t>■ 「楽にネット等」は、既存の介護ソフトの一例として記載したものです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3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60000" y="2700000"/>
            <a:ext cx="4248000" cy="43200"/>
          </a:xfrm>
          <a:prstGeom prst="rect">
            <a:avLst/>
          </a:prstGeom>
          <a:solidFill>
            <a:srgbClr val="1F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08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0">
                <a:solidFill>
                  <a:srgbClr val="D4972A"/>
                </a:solidFill>
                <a:latin typeface="Yu Gothic"/>
              </a:rPr>
              <a:t>質疑応答 ・ 情報交換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68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3D8E2"/>
                </a:solidFill>
                <a:latin typeface="Yu Gothic"/>
              </a:rPr>
              <a:t>自事業所・連携先の状況を持ち寄り、地域での取り組みにつなげましょう。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