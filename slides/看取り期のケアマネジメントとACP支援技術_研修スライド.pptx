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Lst>
  <p:sldSz cx="12192119"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119" cy="6858000"/>
          </a:xfrm>
          <a:prstGeom prst="rect">
            <a:avLst/>
          </a:prstGeom>
          <a:solidFill>
            <a:srgbClr val="423A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2880000"/>
            <a:ext cx="12192119" cy="54000"/>
          </a:xfrm>
          <a:prstGeom prst="rect">
            <a:avLst/>
          </a:prstGeom>
          <a:solidFill>
            <a:srgbClr val="C48C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4428000"/>
            <a:ext cx="12192119" cy="18000"/>
          </a:xfrm>
          <a:prstGeom prst="rect">
            <a:avLst/>
          </a:prstGeom>
          <a:solidFill>
            <a:srgbClr val="8C83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20000" y="1440000"/>
            <a:ext cx="10752119" cy="360000"/>
          </a:xfrm>
          <a:prstGeom prst="rect">
            <a:avLst/>
          </a:prstGeom>
          <a:noFill/>
        </p:spPr>
        <p:txBody>
          <a:bodyPr wrap="square" lIns="36000" rIns="36000" tIns="18000" bIns="18000" anchor="t">
            <a:spAutoFit/>
          </a:bodyPr>
          <a:lstStyle/>
          <a:p>
            <a:pPr algn="ctr"/>
            <a:r>
              <a:rPr sz="1800" b="1" i="0">
                <a:solidFill>
                  <a:srgbClr val="C48C3A"/>
                </a:solidFill>
                <a:latin typeface="Yu Gothic"/>
              </a:rPr>
              <a:t>主任介護支援専門員 研修会</a:t>
            </a:r>
          </a:p>
        </p:txBody>
      </p:sp>
      <p:sp>
        <p:nvSpPr>
          <p:cNvPr id="6" name="TextBox 5"/>
          <p:cNvSpPr txBox="1"/>
          <p:nvPr/>
        </p:nvSpPr>
        <p:spPr>
          <a:xfrm>
            <a:off x="360000" y="1944000"/>
            <a:ext cx="11472119" cy="900000"/>
          </a:xfrm>
          <a:prstGeom prst="rect">
            <a:avLst/>
          </a:prstGeom>
          <a:noFill/>
        </p:spPr>
        <p:txBody>
          <a:bodyPr wrap="square" lIns="36000" rIns="36000" tIns="18000" bIns="18000" anchor="t">
            <a:spAutoFit/>
          </a:bodyPr>
          <a:lstStyle/>
          <a:p>
            <a:pPr algn="ctr">
              <a:lnSpc>
                <a:spcPct val="125000"/>
              </a:lnSpc>
            </a:pPr>
            <a:r>
              <a:rPr sz="3000" b="1" i="0">
                <a:solidFill>
                  <a:srgbClr val="FFFFFF"/>
                </a:solidFill>
                <a:latin typeface="Yu Gothic"/>
              </a:rPr>
              <a:t>看取り期のケアマネジメントと</a:t>
            </a:r>
          </a:p>
          <a:p>
            <a:pPr algn="ctr">
              <a:lnSpc>
                <a:spcPct val="125000"/>
              </a:lnSpc>
            </a:pPr>
            <a:r>
              <a:rPr sz="3000" b="1" i="0">
                <a:solidFill>
                  <a:srgbClr val="FFFFFF"/>
                </a:solidFill>
                <a:latin typeface="Yu Gothic"/>
              </a:rPr>
              <a:t>ACP(人生会議)の支援技術</a:t>
            </a:r>
          </a:p>
        </p:txBody>
      </p:sp>
      <p:sp>
        <p:nvSpPr>
          <p:cNvPr id="7" name="TextBox 6"/>
          <p:cNvSpPr txBox="1"/>
          <p:nvPr/>
        </p:nvSpPr>
        <p:spPr>
          <a:xfrm>
            <a:off x="540000" y="3491999"/>
            <a:ext cx="11112119" cy="720000"/>
          </a:xfrm>
          <a:prstGeom prst="rect">
            <a:avLst/>
          </a:prstGeom>
          <a:noFill/>
        </p:spPr>
        <p:txBody>
          <a:bodyPr wrap="square" lIns="36000" rIns="36000" tIns="18000" bIns="18000" anchor="t">
            <a:spAutoFit/>
          </a:bodyPr>
          <a:lstStyle/>
          <a:p>
            <a:pPr algn="ctr"/>
            <a:r>
              <a:rPr sz="1600" b="0" i="0">
                <a:solidFill>
                  <a:srgbClr val="FFFFFF"/>
                </a:solidFill>
                <a:latin typeface="Yu Gothic"/>
              </a:rPr>
              <a:t>ー 本人の意思を支え、家族・多職種とともに最期の時を支える ー</a:t>
            </a:r>
          </a:p>
        </p:txBody>
      </p:sp>
      <p:sp>
        <p:nvSpPr>
          <p:cNvPr id="8" name="TextBox 7"/>
          <p:cNvSpPr txBox="1"/>
          <p:nvPr/>
        </p:nvSpPr>
        <p:spPr>
          <a:xfrm>
            <a:off x="540000" y="4680000"/>
            <a:ext cx="11112119" cy="720000"/>
          </a:xfrm>
          <a:prstGeom prst="rect">
            <a:avLst/>
          </a:prstGeom>
          <a:noFill/>
        </p:spPr>
        <p:txBody>
          <a:bodyPr wrap="square" lIns="36000" rIns="36000" tIns="18000" bIns="18000" anchor="t">
            <a:spAutoFit/>
          </a:bodyPr>
          <a:lstStyle/>
          <a:p>
            <a:pPr algn="ctr">
              <a:lnSpc>
                <a:spcPct val="150000"/>
              </a:lnSpc>
            </a:pPr>
            <a:r>
              <a:rPr sz="1400" b="0" i="0">
                <a:solidFill>
                  <a:srgbClr val="F9F0DD"/>
                </a:solidFill>
                <a:latin typeface="Yu Gothic"/>
              </a:rPr>
              <a:t>■ ACP(人生会議)の意味と、本人の意思を支える技術</a:t>
            </a:r>
          </a:p>
          <a:p>
            <a:pPr algn="ctr">
              <a:lnSpc>
                <a:spcPct val="150000"/>
              </a:lnSpc>
            </a:pPr>
            <a:r>
              <a:rPr sz="1400" b="0" i="0">
                <a:solidFill>
                  <a:srgbClr val="F9F0DD"/>
                </a:solidFill>
                <a:latin typeface="Yu Gothic"/>
              </a:rPr>
              <a:t>■ ターミナルケアマネジメント加算の算定要件と実務</a:t>
            </a:r>
          </a:p>
          <a:p>
            <a:pPr algn="ctr">
              <a:lnSpc>
                <a:spcPct val="150000"/>
              </a:lnSpc>
            </a:pPr>
            <a:r>
              <a:rPr sz="1400" b="0" i="0">
                <a:solidFill>
                  <a:srgbClr val="F9F0DD"/>
                </a:solidFill>
                <a:latin typeface="Yu Gothic"/>
              </a:rPr>
              <a:t>■ 家族の揺れに寄り添い、多職種と合意を形成する</a:t>
            </a:r>
          </a:p>
        </p:txBody>
      </p:sp>
      <p:sp>
        <p:nvSpPr>
          <p:cNvPr id="9" name="TextBox 8"/>
          <p:cNvSpPr txBox="1"/>
          <p:nvPr/>
        </p:nvSpPr>
        <p:spPr>
          <a:xfrm>
            <a:off x="720000" y="5868000"/>
            <a:ext cx="10752119" cy="360000"/>
          </a:xfrm>
          <a:prstGeom prst="rect">
            <a:avLst/>
          </a:prstGeom>
          <a:noFill/>
        </p:spPr>
        <p:txBody>
          <a:bodyPr wrap="square" lIns="36000" rIns="36000" tIns="18000" bIns="18000" anchor="t">
            <a:spAutoFit/>
          </a:bodyPr>
          <a:lstStyle/>
          <a:p>
            <a:pPr algn="ctr"/>
            <a:r>
              <a:rPr sz="1400" b="0" i="0">
                <a:solidFill>
                  <a:srgbClr val="D7D4DE"/>
                </a:solidFill>
                <a:latin typeface="Yu Gothic"/>
              </a:rPr>
              <a:t>主任ケアマネジャーの会  主催  ・  研修時間 90 分</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119" cy="576000"/>
          </a:xfrm>
          <a:prstGeom prst="rect">
            <a:avLst/>
          </a:prstGeom>
          <a:solidFill>
            <a:srgbClr val="423A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88000" y="90000"/>
            <a:ext cx="7920000" cy="216000"/>
          </a:xfrm>
          <a:prstGeom prst="rect">
            <a:avLst/>
          </a:prstGeom>
          <a:noFill/>
        </p:spPr>
        <p:txBody>
          <a:bodyPr wrap="square" lIns="36000" rIns="36000" tIns="18000" bIns="18000" anchor="t">
            <a:spAutoFit/>
          </a:bodyPr>
          <a:lstStyle/>
          <a:p>
            <a:pPr algn="l"/>
            <a:r>
              <a:rPr sz="1100" b="1" i="0">
                <a:solidFill>
                  <a:srgbClr val="FFFFFF"/>
                </a:solidFill>
                <a:latin typeface="Yu Gothic"/>
              </a:rPr>
              <a:t>Introduction</a:t>
            </a:r>
          </a:p>
        </p:txBody>
      </p:sp>
      <p:sp>
        <p:nvSpPr>
          <p:cNvPr id="4" name="TextBox 3"/>
          <p:cNvSpPr txBox="1"/>
          <p:nvPr/>
        </p:nvSpPr>
        <p:spPr>
          <a:xfrm>
            <a:off x="288000" y="684000"/>
            <a:ext cx="11616119" cy="468000"/>
          </a:xfrm>
          <a:prstGeom prst="rect">
            <a:avLst/>
          </a:prstGeom>
          <a:noFill/>
        </p:spPr>
        <p:txBody>
          <a:bodyPr wrap="square" lIns="36000" rIns="36000" tIns="18000" bIns="18000" anchor="t">
            <a:spAutoFit/>
          </a:bodyPr>
          <a:lstStyle/>
          <a:p>
            <a:pPr algn="l"/>
            <a:r>
              <a:rPr sz="2300" b="1" i="0">
                <a:solidFill>
                  <a:srgbClr val="423A5E"/>
                </a:solidFill>
                <a:latin typeface="Yu Gothic"/>
              </a:rPr>
              <a:t>本日の研修目標</a:t>
            </a:r>
          </a:p>
        </p:txBody>
      </p:sp>
      <p:sp>
        <p:nvSpPr>
          <p:cNvPr id="5" name="Rectangle 4"/>
          <p:cNvSpPr/>
          <p:nvPr/>
        </p:nvSpPr>
        <p:spPr>
          <a:xfrm>
            <a:off x="288000" y="1152000"/>
            <a:ext cx="900000" cy="43200"/>
          </a:xfrm>
          <a:prstGeom prst="rect">
            <a:avLst/>
          </a:prstGeom>
          <a:solidFill>
            <a:srgbClr val="C48C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288000" y="6570000"/>
            <a:ext cx="9360000" cy="180000"/>
          </a:xfrm>
          <a:prstGeom prst="rect">
            <a:avLst/>
          </a:prstGeom>
          <a:noFill/>
        </p:spPr>
        <p:txBody>
          <a:bodyPr wrap="square" lIns="36000" rIns="36000" tIns="18000" bIns="18000" anchor="t">
            <a:spAutoFit/>
          </a:bodyPr>
          <a:lstStyle/>
          <a:p>
            <a:pPr algn="l"/>
            <a:r>
              <a:rPr sz="900" b="0" i="0">
                <a:solidFill>
                  <a:srgbClr val="8C83A6"/>
                </a:solidFill>
                <a:latin typeface="Yu Gothic"/>
              </a:rPr>
              <a:t>主任CM研修 / 看取り期のケアマネジメントとACPの支援技術  ※算定要件は最新の告示・通知をご確認ください</a:t>
            </a:r>
          </a:p>
        </p:txBody>
      </p:sp>
      <p:sp>
        <p:nvSpPr>
          <p:cNvPr id="7" name="TextBox 6"/>
          <p:cNvSpPr txBox="1"/>
          <p:nvPr/>
        </p:nvSpPr>
        <p:spPr>
          <a:xfrm>
            <a:off x="11112119" y="6570000"/>
            <a:ext cx="792000" cy="180000"/>
          </a:xfrm>
          <a:prstGeom prst="rect">
            <a:avLst/>
          </a:prstGeom>
          <a:noFill/>
        </p:spPr>
        <p:txBody>
          <a:bodyPr wrap="square" lIns="36000" rIns="36000" tIns="18000" bIns="18000" anchor="t">
            <a:spAutoFit/>
          </a:bodyPr>
          <a:lstStyle/>
          <a:p>
            <a:pPr algn="r"/>
            <a:r>
              <a:rPr sz="900" b="0" i="0">
                <a:solidFill>
                  <a:srgbClr val="8C83A6"/>
                </a:solidFill>
                <a:latin typeface="Yu Gothic"/>
              </a:rPr>
              <a:t>2 / 33</a:t>
            </a:r>
          </a:p>
        </p:txBody>
      </p:sp>
      <p:sp>
        <p:nvSpPr>
          <p:cNvPr id="8" name="Rectangle 7"/>
          <p:cNvSpPr/>
          <p:nvPr/>
        </p:nvSpPr>
        <p:spPr>
          <a:xfrm>
            <a:off x="432000" y="1620000"/>
            <a:ext cx="180000" cy="540000"/>
          </a:xfrm>
          <a:prstGeom prst="rect">
            <a:avLst/>
          </a:prstGeom>
          <a:solidFill>
            <a:srgbClr val="C48C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20000" y="1674000"/>
            <a:ext cx="10932119" cy="432000"/>
          </a:xfrm>
          <a:prstGeom prst="rect">
            <a:avLst/>
          </a:prstGeom>
          <a:noFill/>
        </p:spPr>
        <p:txBody>
          <a:bodyPr wrap="square" lIns="36000" rIns="36000" tIns="18000" bIns="18000" anchor="ctr">
            <a:spAutoFit/>
          </a:bodyPr>
          <a:lstStyle/>
          <a:p>
            <a:pPr algn="l">
              <a:lnSpc>
                <a:spcPct val="130000"/>
              </a:lnSpc>
            </a:pPr>
            <a:r>
              <a:rPr sz="1500" b="0" i="0">
                <a:solidFill>
                  <a:srgbClr val="323038"/>
                </a:solidFill>
                <a:latin typeface="Yu Gothic"/>
              </a:rPr>
              <a:t>看取り期のケアマネジメントに求められる役割と、その特有の難しさを理解する</a:t>
            </a:r>
          </a:p>
        </p:txBody>
      </p:sp>
      <p:sp>
        <p:nvSpPr>
          <p:cNvPr id="10" name="Rectangle 9"/>
          <p:cNvSpPr/>
          <p:nvPr/>
        </p:nvSpPr>
        <p:spPr>
          <a:xfrm>
            <a:off x="432000" y="2268000"/>
            <a:ext cx="180000" cy="540000"/>
          </a:xfrm>
          <a:prstGeom prst="rect">
            <a:avLst/>
          </a:prstGeom>
          <a:solidFill>
            <a:srgbClr val="C48C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20000" y="2322000"/>
            <a:ext cx="10932119" cy="432000"/>
          </a:xfrm>
          <a:prstGeom prst="rect">
            <a:avLst/>
          </a:prstGeom>
          <a:noFill/>
        </p:spPr>
        <p:txBody>
          <a:bodyPr wrap="square" lIns="36000" rIns="36000" tIns="18000" bIns="18000" anchor="ctr">
            <a:spAutoFit/>
          </a:bodyPr>
          <a:lstStyle/>
          <a:p>
            <a:pPr algn="l">
              <a:lnSpc>
                <a:spcPct val="130000"/>
              </a:lnSpc>
            </a:pPr>
            <a:r>
              <a:rPr sz="1500" b="0" i="0">
                <a:solidFill>
                  <a:srgbClr val="323038"/>
                </a:solidFill>
                <a:latin typeface="Yu Gothic"/>
              </a:rPr>
              <a:t>ACP(人生会議)の本来の意味を理解し、「一度決めて終わり」ではないと捉え直す</a:t>
            </a:r>
          </a:p>
        </p:txBody>
      </p:sp>
      <p:sp>
        <p:nvSpPr>
          <p:cNvPr id="12" name="Rectangle 11"/>
          <p:cNvSpPr/>
          <p:nvPr/>
        </p:nvSpPr>
        <p:spPr>
          <a:xfrm>
            <a:off x="432000" y="2916000"/>
            <a:ext cx="180000" cy="540000"/>
          </a:xfrm>
          <a:prstGeom prst="rect">
            <a:avLst/>
          </a:prstGeom>
          <a:solidFill>
            <a:srgbClr val="C48C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20000" y="2970000"/>
            <a:ext cx="10932119" cy="432000"/>
          </a:xfrm>
          <a:prstGeom prst="rect">
            <a:avLst/>
          </a:prstGeom>
          <a:noFill/>
        </p:spPr>
        <p:txBody>
          <a:bodyPr wrap="square" lIns="36000" rIns="36000" tIns="18000" bIns="18000" anchor="ctr">
            <a:spAutoFit/>
          </a:bodyPr>
          <a:lstStyle/>
          <a:p>
            <a:pPr algn="l">
              <a:lnSpc>
                <a:spcPct val="130000"/>
              </a:lnSpc>
            </a:pPr>
            <a:r>
              <a:rPr sz="1500" b="0" i="0">
                <a:solidFill>
                  <a:srgbClr val="323038"/>
                </a:solidFill>
                <a:latin typeface="Yu Gothic"/>
              </a:rPr>
              <a:t>本人の意思を聴き、支える具体的な技術(問いかけ・受けとめ・推定意思)を持ち帰る</a:t>
            </a:r>
          </a:p>
        </p:txBody>
      </p:sp>
      <p:sp>
        <p:nvSpPr>
          <p:cNvPr id="14" name="Rectangle 13"/>
          <p:cNvSpPr/>
          <p:nvPr/>
        </p:nvSpPr>
        <p:spPr>
          <a:xfrm>
            <a:off x="432000" y="3564000"/>
            <a:ext cx="180000" cy="540000"/>
          </a:xfrm>
          <a:prstGeom prst="rect">
            <a:avLst/>
          </a:prstGeom>
          <a:solidFill>
            <a:srgbClr val="C48C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20000" y="3618000"/>
            <a:ext cx="10932119" cy="432000"/>
          </a:xfrm>
          <a:prstGeom prst="rect">
            <a:avLst/>
          </a:prstGeom>
          <a:noFill/>
        </p:spPr>
        <p:txBody>
          <a:bodyPr wrap="square" lIns="36000" rIns="36000" tIns="18000" bIns="18000" anchor="ctr">
            <a:spAutoFit/>
          </a:bodyPr>
          <a:lstStyle/>
          <a:p>
            <a:pPr algn="l">
              <a:lnSpc>
                <a:spcPct val="130000"/>
              </a:lnSpc>
            </a:pPr>
            <a:r>
              <a:rPr sz="1500" b="0" i="0">
                <a:solidFill>
                  <a:srgbClr val="323038"/>
                </a:solidFill>
                <a:latin typeface="Yu Gothic"/>
              </a:rPr>
              <a:t>ターミナルケアマネジメント加算の算定要件と、算定漏れ・記録不備の防ぎ方を整理する</a:t>
            </a:r>
          </a:p>
        </p:txBody>
      </p:sp>
      <p:sp>
        <p:nvSpPr>
          <p:cNvPr id="16" name="Rectangle 15"/>
          <p:cNvSpPr/>
          <p:nvPr/>
        </p:nvSpPr>
        <p:spPr>
          <a:xfrm>
            <a:off x="432000" y="4212000"/>
            <a:ext cx="180000" cy="540000"/>
          </a:xfrm>
          <a:prstGeom prst="rect">
            <a:avLst/>
          </a:prstGeom>
          <a:solidFill>
            <a:srgbClr val="C48C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20000" y="4266000"/>
            <a:ext cx="10932119" cy="432000"/>
          </a:xfrm>
          <a:prstGeom prst="rect">
            <a:avLst/>
          </a:prstGeom>
          <a:noFill/>
        </p:spPr>
        <p:txBody>
          <a:bodyPr wrap="square" lIns="36000" rIns="36000" tIns="18000" bIns="18000" anchor="ctr">
            <a:spAutoFit/>
          </a:bodyPr>
          <a:lstStyle/>
          <a:p>
            <a:pPr algn="l">
              <a:lnSpc>
                <a:spcPct val="130000"/>
              </a:lnSpc>
            </a:pPr>
            <a:r>
              <a:rPr sz="1500" b="0" i="0">
                <a:solidFill>
                  <a:srgbClr val="323038"/>
                </a:solidFill>
                <a:latin typeface="Yu Gothic"/>
              </a:rPr>
              <a:t>家族の揺れ・家族間の相違に寄り添い、多職種と合意を形成する技術を学ぶ</a:t>
            </a:r>
          </a:p>
        </p:txBody>
      </p:sp>
      <p:sp>
        <p:nvSpPr>
          <p:cNvPr id="18" name="Rectangle 17"/>
          <p:cNvSpPr/>
          <p:nvPr/>
        </p:nvSpPr>
        <p:spPr>
          <a:xfrm>
            <a:off x="432000" y="4860000"/>
            <a:ext cx="180000" cy="540000"/>
          </a:xfrm>
          <a:prstGeom prst="rect">
            <a:avLst/>
          </a:prstGeom>
          <a:solidFill>
            <a:srgbClr val="C48C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20000" y="4914000"/>
            <a:ext cx="10932119" cy="432000"/>
          </a:xfrm>
          <a:prstGeom prst="rect">
            <a:avLst/>
          </a:prstGeom>
          <a:noFill/>
        </p:spPr>
        <p:txBody>
          <a:bodyPr wrap="square" lIns="36000" rIns="36000" tIns="18000" bIns="18000" anchor="ctr">
            <a:spAutoFit/>
          </a:bodyPr>
          <a:lstStyle/>
          <a:p>
            <a:pPr algn="l">
              <a:lnSpc>
                <a:spcPct val="130000"/>
              </a:lnSpc>
            </a:pPr>
            <a:r>
              <a:rPr sz="1500" b="0" i="0">
                <a:solidFill>
                  <a:srgbClr val="323038"/>
                </a:solidFill>
                <a:latin typeface="Yu Gothic"/>
              </a:rPr>
              <a:t>看取り後のグリーフケア・CM自身のケアまでを含めた支援を考える</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119" cy="576000"/>
          </a:xfrm>
          <a:prstGeom prst="rect">
            <a:avLst/>
          </a:prstGeom>
          <a:solidFill>
            <a:srgbClr val="423A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88000" y="90000"/>
            <a:ext cx="7920000" cy="216000"/>
          </a:xfrm>
          <a:prstGeom prst="rect">
            <a:avLst/>
          </a:prstGeom>
          <a:noFill/>
        </p:spPr>
        <p:txBody>
          <a:bodyPr wrap="square" lIns="36000" rIns="36000" tIns="18000" bIns="18000" anchor="t">
            <a:spAutoFit/>
          </a:bodyPr>
          <a:lstStyle/>
          <a:p>
            <a:pPr algn="l"/>
            <a:r>
              <a:rPr sz="1100" b="1" i="0">
                <a:solidFill>
                  <a:srgbClr val="FFFFFF"/>
                </a:solidFill>
                <a:latin typeface="Yu Gothic"/>
              </a:rPr>
              <a:t>Agenda</a:t>
            </a:r>
          </a:p>
        </p:txBody>
      </p:sp>
      <p:sp>
        <p:nvSpPr>
          <p:cNvPr id="4" name="TextBox 3"/>
          <p:cNvSpPr txBox="1"/>
          <p:nvPr/>
        </p:nvSpPr>
        <p:spPr>
          <a:xfrm>
            <a:off x="288000" y="684000"/>
            <a:ext cx="11616119" cy="468000"/>
          </a:xfrm>
          <a:prstGeom prst="rect">
            <a:avLst/>
          </a:prstGeom>
          <a:noFill/>
        </p:spPr>
        <p:txBody>
          <a:bodyPr wrap="square" lIns="36000" rIns="36000" tIns="18000" bIns="18000" anchor="t">
            <a:spAutoFit/>
          </a:bodyPr>
          <a:lstStyle/>
          <a:p>
            <a:pPr algn="l"/>
            <a:r>
              <a:rPr sz="2300" b="1" i="0">
                <a:solidFill>
                  <a:srgbClr val="423A5E"/>
                </a:solidFill>
                <a:latin typeface="Yu Gothic"/>
              </a:rPr>
              <a:t>本日の流れ(90分)</a:t>
            </a:r>
          </a:p>
        </p:txBody>
      </p:sp>
      <p:sp>
        <p:nvSpPr>
          <p:cNvPr id="5" name="Rectangle 4"/>
          <p:cNvSpPr/>
          <p:nvPr/>
        </p:nvSpPr>
        <p:spPr>
          <a:xfrm>
            <a:off x="288000" y="1152000"/>
            <a:ext cx="900000" cy="43200"/>
          </a:xfrm>
          <a:prstGeom prst="rect">
            <a:avLst/>
          </a:prstGeom>
          <a:solidFill>
            <a:srgbClr val="C48C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288000" y="6570000"/>
            <a:ext cx="9360000" cy="180000"/>
          </a:xfrm>
          <a:prstGeom prst="rect">
            <a:avLst/>
          </a:prstGeom>
          <a:noFill/>
        </p:spPr>
        <p:txBody>
          <a:bodyPr wrap="square" lIns="36000" rIns="36000" tIns="18000" bIns="18000" anchor="t">
            <a:spAutoFit/>
          </a:bodyPr>
          <a:lstStyle/>
          <a:p>
            <a:pPr algn="l"/>
            <a:r>
              <a:rPr sz="900" b="0" i="0">
                <a:solidFill>
                  <a:srgbClr val="8C83A6"/>
                </a:solidFill>
                <a:latin typeface="Yu Gothic"/>
              </a:rPr>
              <a:t>主任CM研修 / 看取り期のケアマネジメントとACPの支援技術  ※算定要件は最新の告示・通知をご確認ください</a:t>
            </a:r>
          </a:p>
        </p:txBody>
      </p:sp>
      <p:sp>
        <p:nvSpPr>
          <p:cNvPr id="7" name="TextBox 6"/>
          <p:cNvSpPr txBox="1"/>
          <p:nvPr/>
        </p:nvSpPr>
        <p:spPr>
          <a:xfrm>
            <a:off x="11112119" y="6570000"/>
            <a:ext cx="792000" cy="180000"/>
          </a:xfrm>
          <a:prstGeom prst="rect">
            <a:avLst/>
          </a:prstGeom>
          <a:noFill/>
        </p:spPr>
        <p:txBody>
          <a:bodyPr wrap="square" lIns="36000" rIns="36000" tIns="18000" bIns="18000" anchor="t">
            <a:spAutoFit/>
          </a:bodyPr>
          <a:lstStyle/>
          <a:p>
            <a:pPr algn="r"/>
            <a:r>
              <a:rPr sz="900" b="0" i="0">
                <a:solidFill>
                  <a:srgbClr val="8C83A6"/>
                </a:solidFill>
                <a:latin typeface="Yu Gothic"/>
              </a:rPr>
              <a:t>3 / 33</a:t>
            </a:r>
          </a:p>
        </p:txBody>
      </p:sp>
      <p:sp>
        <p:nvSpPr>
          <p:cNvPr id="8" name="Oval 7"/>
          <p:cNvSpPr/>
          <p:nvPr/>
        </p:nvSpPr>
        <p:spPr>
          <a:xfrm>
            <a:off x="540000" y="1692000"/>
            <a:ext cx="468000" cy="468000"/>
          </a:xfrm>
          <a:prstGeom prst="ellipse">
            <a:avLst/>
          </a:prstGeom>
          <a:solidFill>
            <a:srgbClr val="605780"/>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500" b="1">
                <a:solidFill>
                  <a:srgbClr val="FFFFFF"/>
                </a:solidFill>
                <a:latin typeface="Yu Gothic"/>
              </a:rPr>
              <a:t>1</a:t>
            </a:r>
          </a:p>
        </p:txBody>
      </p:sp>
      <p:sp>
        <p:nvSpPr>
          <p:cNvPr id="9" name="TextBox 8"/>
          <p:cNvSpPr txBox="1"/>
          <p:nvPr/>
        </p:nvSpPr>
        <p:spPr>
          <a:xfrm>
            <a:off x="1188000" y="1746000"/>
            <a:ext cx="7920000" cy="360000"/>
          </a:xfrm>
          <a:prstGeom prst="rect">
            <a:avLst/>
          </a:prstGeom>
          <a:noFill/>
        </p:spPr>
        <p:txBody>
          <a:bodyPr wrap="square" lIns="36000" rIns="36000" tIns="18000" bIns="18000" anchor="t">
            <a:spAutoFit/>
          </a:bodyPr>
          <a:lstStyle/>
          <a:p>
            <a:pPr algn="l"/>
            <a:r>
              <a:rPr sz="1700" b="1" i="0">
                <a:solidFill>
                  <a:srgbClr val="423A5E"/>
                </a:solidFill>
                <a:latin typeface="Yu Gothic"/>
              </a:rPr>
              <a:t>看取り期のケアマネジメントとは</a:t>
            </a:r>
          </a:p>
        </p:txBody>
      </p:sp>
      <p:sp>
        <p:nvSpPr>
          <p:cNvPr id="10" name="TextBox 9"/>
          <p:cNvSpPr txBox="1"/>
          <p:nvPr/>
        </p:nvSpPr>
        <p:spPr>
          <a:xfrm>
            <a:off x="10752119" y="1764000"/>
            <a:ext cx="1080000" cy="360000"/>
          </a:xfrm>
          <a:prstGeom prst="rect">
            <a:avLst/>
          </a:prstGeom>
          <a:noFill/>
        </p:spPr>
        <p:txBody>
          <a:bodyPr wrap="square" lIns="36000" rIns="36000" tIns="18000" bIns="18000" anchor="t">
            <a:spAutoFit/>
          </a:bodyPr>
          <a:lstStyle/>
          <a:p>
            <a:pPr algn="r"/>
            <a:r>
              <a:rPr sz="1400" b="1" i="0">
                <a:solidFill>
                  <a:srgbClr val="C48C3A"/>
                </a:solidFill>
                <a:latin typeface="Yu Gothic"/>
              </a:rPr>
              <a:t>10分</a:t>
            </a:r>
          </a:p>
        </p:txBody>
      </p:sp>
      <p:sp>
        <p:nvSpPr>
          <p:cNvPr id="11" name="Oval 10"/>
          <p:cNvSpPr/>
          <p:nvPr/>
        </p:nvSpPr>
        <p:spPr>
          <a:xfrm>
            <a:off x="540000" y="2358000"/>
            <a:ext cx="468000" cy="468000"/>
          </a:xfrm>
          <a:prstGeom prst="ellipse">
            <a:avLst/>
          </a:prstGeom>
          <a:solidFill>
            <a:srgbClr val="605780"/>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500" b="1">
                <a:solidFill>
                  <a:srgbClr val="FFFFFF"/>
                </a:solidFill>
                <a:latin typeface="Yu Gothic"/>
              </a:rPr>
              <a:t>2</a:t>
            </a:r>
          </a:p>
        </p:txBody>
      </p:sp>
      <p:sp>
        <p:nvSpPr>
          <p:cNvPr id="12" name="TextBox 11"/>
          <p:cNvSpPr txBox="1"/>
          <p:nvPr/>
        </p:nvSpPr>
        <p:spPr>
          <a:xfrm>
            <a:off x="1188000" y="2412000"/>
            <a:ext cx="7920000" cy="360000"/>
          </a:xfrm>
          <a:prstGeom prst="rect">
            <a:avLst/>
          </a:prstGeom>
          <a:noFill/>
        </p:spPr>
        <p:txBody>
          <a:bodyPr wrap="square" lIns="36000" rIns="36000" tIns="18000" bIns="18000" anchor="t">
            <a:spAutoFit/>
          </a:bodyPr>
          <a:lstStyle/>
          <a:p>
            <a:pPr algn="l"/>
            <a:r>
              <a:rPr sz="1700" b="1" i="0">
                <a:solidFill>
                  <a:srgbClr val="423A5E"/>
                </a:solidFill>
                <a:latin typeface="Yu Gothic"/>
              </a:rPr>
              <a:t>ACP(人生会議)の理解</a:t>
            </a:r>
          </a:p>
        </p:txBody>
      </p:sp>
      <p:sp>
        <p:nvSpPr>
          <p:cNvPr id="13" name="TextBox 12"/>
          <p:cNvSpPr txBox="1"/>
          <p:nvPr/>
        </p:nvSpPr>
        <p:spPr>
          <a:xfrm>
            <a:off x="10752119" y="2430000"/>
            <a:ext cx="1080000" cy="360000"/>
          </a:xfrm>
          <a:prstGeom prst="rect">
            <a:avLst/>
          </a:prstGeom>
          <a:noFill/>
        </p:spPr>
        <p:txBody>
          <a:bodyPr wrap="square" lIns="36000" rIns="36000" tIns="18000" bIns="18000" anchor="t">
            <a:spAutoFit/>
          </a:bodyPr>
          <a:lstStyle/>
          <a:p>
            <a:pPr algn="r"/>
            <a:r>
              <a:rPr sz="1400" b="1" i="0">
                <a:solidFill>
                  <a:srgbClr val="C48C3A"/>
                </a:solidFill>
                <a:latin typeface="Yu Gothic"/>
              </a:rPr>
              <a:t>15分</a:t>
            </a:r>
          </a:p>
        </p:txBody>
      </p:sp>
      <p:sp>
        <p:nvSpPr>
          <p:cNvPr id="14" name="Oval 13"/>
          <p:cNvSpPr/>
          <p:nvPr/>
        </p:nvSpPr>
        <p:spPr>
          <a:xfrm>
            <a:off x="540000" y="3024000"/>
            <a:ext cx="468000" cy="468000"/>
          </a:xfrm>
          <a:prstGeom prst="ellipse">
            <a:avLst/>
          </a:prstGeom>
          <a:solidFill>
            <a:srgbClr val="605780"/>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500" b="1">
                <a:solidFill>
                  <a:srgbClr val="FFFFFF"/>
                </a:solidFill>
                <a:latin typeface="Yu Gothic"/>
              </a:rPr>
              <a:t>3</a:t>
            </a:r>
          </a:p>
        </p:txBody>
      </p:sp>
      <p:sp>
        <p:nvSpPr>
          <p:cNvPr id="15" name="TextBox 14"/>
          <p:cNvSpPr txBox="1"/>
          <p:nvPr/>
        </p:nvSpPr>
        <p:spPr>
          <a:xfrm>
            <a:off x="1188000" y="3078000"/>
            <a:ext cx="7920000" cy="360000"/>
          </a:xfrm>
          <a:prstGeom prst="rect">
            <a:avLst/>
          </a:prstGeom>
          <a:noFill/>
        </p:spPr>
        <p:txBody>
          <a:bodyPr wrap="square" lIns="36000" rIns="36000" tIns="18000" bIns="18000" anchor="t">
            <a:spAutoFit/>
          </a:bodyPr>
          <a:lstStyle/>
          <a:p>
            <a:pPr algn="l"/>
            <a:r>
              <a:rPr sz="1700" b="1" i="0">
                <a:solidFill>
                  <a:srgbClr val="423A5E"/>
                </a:solidFill>
                <a:latin typeface="Yu Gothic"/>
              </a:rPr>
              <a:t>ACPの支援技術 ― 意思を聴き、支える</a:t>
            </a:r>
          </a:p>
        </p:txBody>
      </p:sp>
      <p:sp>
        <p:nvSpPr>
          <p:cNvPr id="16" name="TextBox 15"/>
          <p:cNvSpPr txBox="1"/>
          <p:nvPr/>
        </p:nvSpPr>
        <p:spPr>
          <a:xfrm>
            <a:off x="10752119" y="3096000"/>
            <a:ext cx="1080000" cy="360000"/>
          </a:xfrm>
          <a:prstGeom prst="rect">
            <a:avLst/>
          </a:prstGeom>
          <a:noFill/>
        </p:spPr>
        <p:txBody>
          <a:bodyPr wrap="square" lIns="36000" rIns="36000" tIns="18000" bIns="18000" anchor="t">
            <a:spAutoFit/>
          </a:bodyPr>
          <a:lstStyle/>
          <a:p>
            <a:pPr algn="r"/>
            <a:r>
              <a:rPr sz="1400" b="1" i="0">
                <a:solidFill>
                  <a:srgbClr val="C48C3A"/>
                </a:solidFill>
                <a:latin typeface="Yu Gothic"/>
              </a:rPr>
              <a:t>20分</a:t>
            </a:r>
          </a:p>
        </p:txBody>
      </p:sp>
      <p:sp>
        <p:nvSpPr>
          <p:cNvPr id="17" name="Oval 16"/>
          <p:cNvSpPr/>
          <p:nvPr/>
        </p:nvSpPr>
        <p:spPr>
          <a:xfrm>
            <a:off x="540000" y="3690000"/>
            <a:ext cx="468000" cy="468000"/>
          </a:xfrm>
          <a:prstGeom prst="ellipse">
            <a:avLst/>
          </a:prstGeom>
          <a:solidFill>
            <a:srgbClr val="605780"/>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500" b="1">
                <a:solidFill>
                  <a:srgbClr val="FFFFFF"/>
                </a:solidFill>
                <a:latin typeface="Yu Gothic"/>
              </a:rPr>
              <a:t>4</a:t>
            </a:r>
          </a:p>
        </p:txBody>
      </p:sp>
      <p:sp>
        <p:nvSpPr>
          <p:cNvPr id="18" name="TextBox 17"/>
          <p:cNvSpPr txBox="1"/>
          <p:nvPr/>
        </p:nvSpPr>
        <p:spPr>
          <a:xfrm>
            <a:off x="1188000" y="3744000"/>
            <a:ext cx="7920000" cy="360000"/>
          </a:xfrm>
          <a:prstGeom prst="rect">
            <a:avLst/>
          </a:prstGeom>
          <a:noFill/>
        </p:spPr>
        <p:txBody>
          <a:bodyPr wrap="square" lIns="36000" rIns="36000" tIns="18000" bIns="18000" anchor="t">
            <a:spAutoFit/>
          </a:bodyPr>
          <a:lstStyle/>
          <a:p>
            <a:pPr algn="l"/>
            <a:r>
              <a:rPr sz="1700" b="1" i="0">
                <a:solidFill>
                  <a:srgbClr val="423A5E"/>
                </a:solidFill>
                <a:latin typeface="Yu Gothic"/>
              </a:rPr>
              <a:t>ターミナルケアマネジメント加算の実務</a:t>
            </a:r>
          </a:p>
        </p:txBody>
      </p:sp>
      <p:sp>
        <p:nvSpPr>
          <p:cNvPr id="19" name="TextBox 18"/>
          <p:cNvSpPr txBox="1"/>
          <p:nvPr/>
        </p:nvSpPr>
        <p:spPr>
          <a:xfrm>
            <a:off x="10752119" y="3762000"/>
            <a:ext cx="1080000" cy="360000"/>
          </a:xfrm>
          <a:prstGeom prst="rect">
            <a:avLst/>
          </a:prstGeom>
          <a:noFill/>
        </p:spPr>
        <p:txBody>
          <a:bodyPr wrap="square" lIns="36000" rIns="36000" tIns="18000" bIns="18000" anchor="t">
            <a:spAutoFit/>
          </a:bodyPr>
          <a:lstStyle/>
          <a:p>
            <a:pPr algn="r"/>
            <a:r>
              <a:rPr sz="1400" b="1" i="0">
                <a:solidFill>
                  <a:srgbClr val="C48C3A"/>
                </a:solidFill>
                <a:latin typeface="Yu Gothic"/>
              </a:rPr>
              <a:t>15分</a:t>
            </a:r>
          </a:p>
        </p:txBody>
      </p:sp>
      <p:sp>
        <p:nvSpPr>
          <p:cNvPr id="20" name="Oval 19"/>
          <p:cNvSpPr/>
          <p:nvPr/>
        </p:nvSpPr>
        <p:spPr>
          <a:xfrm>
            <a:off x="540000" y="4356000"/>
            <a:ext cx="468000" cy="468000"/>
          </a:xfrm>
          <a:prstGeom prst="ellipse">
            <a:avLst/>
          </a:prstGeom>
          <a:solidFill>
            <a:srgbClr val="605780"/>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500" b="1">
                <a:solidFill>
                  <a:srgbClr val="FFFFFF"/>
                </a:solidFill>
                <a:latin typeface="Yu Gothic"/>
              </a:rPr>
              <a:t>5</a:t>
            </a:r>
          </a:p>
        </p:txBody>
      </p:sp>
      <p:sp>
        <p:nvSpPr>
          <p:cNvPr id="21" name="TextBox 20"/>
          <p:cNvSpPr txBox="1"/>
          <p:nvPr/>
        </p:nvSpPr>
        <p:spPr>
          <a:xfrm>
            <a:off x="1188000" y="4410000"/>
            <a:ext cx="7920000" cy="360000"/>
          </a:xfrm>
          <a:prstGeom prst="rect">
            <a:avLst/>
          </a:prstGeom>
          <a:noFill/>
        </p:spPr>
        <p:txBody>
          <a:bodyPr wrap="square" lIns="36000" rIns="36000" tIns="18000" bIns="18000" anchor="t">
            <a:spAutoFit/>
          </a:bodyPr>
          <a:lstStyle/>
          <a:p>
            <a:pPr algn="l"/>
            <a:r>
              <a:rPr sz="1700" b="1" i="0">
                <a:solidFill>
                  <a:srgbClr val="423A5E"/>
                </a:solidFill>
                <a:latin typeface="Yu Gothic"/>
              </a:rPr>
              <a:t>家族・多職種との合意形成</a:t>
            </a:r>
          </a:p>
        </p:txBody>
      </p:sp>
      <p:sp>
        <p:nvSpPr>
          <p:cNvPr id="22" name="TextBox 21"/>
          <p:cNvSpPr txBox="1"/>
          <p:nvPr/>
        </p:nvSpPr>
        <p:spPr>
          <a:xfrm>
            <a:off x="10752119" y="4428000"/>
            <a:ext cx="1080000" cy="360000"/>
          </a:xfrm>
          <a:prstGeom prst="rect">
            <a:avLst/>
          </a:prstGeom>
          <a:noFill/>
        </p:spPr>
        <p:txBody>
          <a:bodyPr wrap="square" lIns="36000" rIns="36000" tIns="18000" bIns="18000" anchor="t">
            <a:spAutoFit/>
          </a:bodyPr>
          <a:lstStyle/>
          <a:p>
            <a:pPr algn="r"/>
            <a:r>
              <a:rPr sz="1400" b="1" i="0">
                <a:solidFill>
                  <a:srgbClr val="C48C3A"/>
                </a:solidFill>
                <a:latin typeface="Yu Gothic"/>
              </a:rPr>
              <a:t>20分</a:t>
            </a:r>
          </a:p>
        </p:txBody>
      </p:sp>
      <p:sp>
        <p:nvSpPr>
          <p:cNvPr id="23" name="Oval 22"/>
          <p:cNvSpPr/>
          <p:nvPr/>
        </p:nvSpPr>
        <p:spPr>
          <a:xfrm>
            <a:off x="540000" y="5022000"/>
            <a:ext cx="468000" cy="468000"/>
          </a:xfrm>
          <a:prstGeom prst="ellipse">
            <a:avLst/>
          </a:prstGeom>
          <a:solidFill>
            <a:srgbClr val="605780"/>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500" b="1">
                <a:solidFill>
                  <a:srgbClr val="FFFFFF"/>
                </a:solidFill>
                <a:latin typeface="Yu Gothic"/>
              </a:rPr>
              <a:t>6</a:t>
            </a:r>
          </a:p>
        </p:txBody>
      </p:sp>
      <p:sp>
        <p:nvSpPr>
          <p:cNvPr id="24" name="TextBox 23"/>
          <p:cNvSpPr txBox="1"/>
          <p:nvPr/>
        </p:nvSpPr>
        <p:spPr>
          <a:xfrm>
            <a:off x="1188000" y="5076000"/>
            <a:ext cx="7920000" cy="360000"/>
          </a:xfrm>
          <a:prstGeom prst="rect">
            <a:avLst/>
          </a:prstGeom>
          <a:noFill/>
        </p:spPr>
        <p:txBody>
          <a:bodyPr wrap="square" lIns="36000" rIns="36000" tIns="18000" bIns="18000" anchor="t">
            <a:spAutoFit/>
          </a:bodyPr>
          <a:lstStyle/>
          <a:p>
            <a:pPr algn="l"/>
            <a:r>
              <a:rPr sz="1700" b="1" i="0">
                <a:solidFill>
                  <a:srgbClr val="423A5E"/>
                </a:solidFill>
                <a:latin typeface="Yu Gothic"/>
              </a:rPr>
              <a:t>看取り後の支援 ・ まとめ</a:t>
            </a:r>
          </a:p>
        </p:txBody>
      </p:sp>
      <p:sp>
        <p:nvSpPr>
          <p:cNvPr id="25" name="TextBox 24"/>
          <p:cNvSpPr txBox="1"/>
          <p:nvPr/>
        </p:nvSpPr>
        <p:spPr>
          <a:xfrm>
            <a:off x="10752119" y="5094000"/>
            <a:ext cx="1080000" cy="360000"/>
          </a:xfrm>
          <a:prstGeom prst="rect">
            <a:avLst/>
          </a:prstGeom>
          <a:noFill/>
        </p:spPr>
        <p:txBody>
          <a:bodyPr wrap="square" lIns="36000" rIns="36000" tIns="18000" bIns="18000" anchor="t">
            <a:spAutoFit/>
          </a:bodyPr>
          <a:lstStyle/>
          <a:p>
            <a:pPr algn="r"/>
            <a:r>
              <a:rPr sz="1400" b="1" i="0">
                <a:solidFill>
                  <a:srgbClr val="C48C3A"/>
                </a:solidFill>
                <a:latin typeface="Yu Gothic"/>
              </a:rPr>
              <a:t>10分</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119" cy="6858000"/>
          </a:xfrm>
          <a:prstGeom prst="rect">
            <a:avLst/>
          </a:prstGeom>
          <a:solidFill>
            <a:srgbClr val="423A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3060000"/>
            <a:ext cx="12192119" cy="36000"/>
          </a:xfrm>
          <a:prstGeom prst="rect">
            <a:avLst/>
          </a:prstGeom>
          <a:solidFill>
            <a:srgbClr val="C48C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20000" y="2340000"/>
            <a:ext cx="10752119" cy="540000"/>
          </a:xfrm>
          <a:prstGeom prst="rect">
            <a:avLst/>
          </a:prstGeom>
          <a:noFill/>
        </p:spPr>
        <p:txBody>
          <a:bodyPr wrap="square" lIns="36000" rIns="36000" tIns="18000" bIns="18000" anchor="t">
            <a:spAutoFit/>
          </a:bodyPr>
          <a:lstStyle/>
          <a:p>
            <a:pPr algn="ctr"/>
            <a:r>
              <a:rPr sz="2200" b="1" i="0">
                <a:solidFill>
                  <a:srgbClr val="C48C3A"/>
                </a:solidFill>
                <a:latin typeface="Yu Gothic"/>
              </a:rPr>
              <a:t>PART 1</a:t>
            </a:r>
          </a:p>
        </p:txBody>
      </p:sp>
      <p:sp>
        <p:nvSpPr>
          <p:cNvPr id="5" name="TextBox 4"/>
          <p:cNvSpPr txBox="1"/>
          <p:nvPr/>
        </p:nvSpPr>
        <p:spPr>
          <a:xfrm>
            <a:off x="360000" y="3420000"/>
            <a:ext cx="11472119" cy="720000"/>
          </a:xfrm>
          <a:prstGeom prst="rect">
            <a:avLst/>
          </a:prstGeom>
          <a:noFill/>
        </p:spPr>
        <p:txBody>
          <a:bodyPr wrap="square" lIns="36000" rIns="36000" tIns="18000" bIns="18000" anchor="t">
            <a:spAutoFit/>
          </a:bodyPr>
          <a:lstStyle/>
          <a:p>
            <a:pPr algn="ctr"/>
            <a:r>
              <a:rPr sz="3300" b="1" i="0">
                <a:solidFill>
                  <a:srgbClr val="FFFFFF"/>
                </a:solidFill>
                <a:latin typeface="Yu Gothic"/>
              </a:rPr>
              <a:t>看取り期の</a:t>
            </a:r>
          </a:p>
          <a:p>
            <a:pPr algn="ctr"/>
            <a:r>
              <a:rPr sz="3300" b="1" i="0">
                <a:solidFill>
                  <a:srgbClr val="FFFFFF"/>
                </a:solidFill>
                <a:latin typeface="Yu Gothic"/>
              </a:rPr>
              <a:t>ケアマネジメントとは</a:t>
            </a:r>
          </a:p>
        </p:txBody>
      </p:sp>
      <p:sp>
        <p:nvSpPr>
          <p:cNvPr id="6" name="TextBox 5"/>
          <p:cNvSpPr txBox="1"/>
          <p:nvPr/>
        </p:nvSpPr>
        <p:spPr>
          <a:xfrm>
            <a:off x="360000" y="4680000"/>
            <a:ext cx="11472119" cy="360000"/>
          </a:xfrm>
          <a:prstGeom prst="rect">
            <a:avLst/>
          </a:prstGeom>
          <a:noFill/>
        </p:spPr>
        <p:txBody>
          <a:bodyPr wrap="square" lIns="36000" rIns="36000" tIns="18000" bIns="18000" anchor="t">
            <a:spAutoFit/>
          </a:bodyPr>
          <a:lstStyle/>
          <a:p>
            <a:pPr algn="ctr"/>
            <a:r>
              <a:rPr sz="1400" b="0" i="0">
                <a:solidFill>
                  <a:srgbClr val="D7D4DE"/>
                </a:solidFill>
                <a:latin typeface="Yu Gothic"/>
              </a:rPr>
              <a:t>Care Management at the End of Life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119" cy="576000"/>
          </a:xfrm>
          <a:prstGeom prst="rect">
            <a:avLst/>
          </a:prstGeom>
          <a:solidFill>
            <a:srgbClr val="423A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88000" y="90000"/>
            <a:ext cx="7920000" cy="216000"/>
          </a:xfrm>
          <a:prstGeom prst="rect">
            <a:avLst/>
          </a:prstGeom>
          <a:noFill/>
        </p:spPr>
        <p:txBody>
          <a:bodyPr wrap="square" lIns="36000" rIns="36000" tIns="18000" bIns="18000" anchor="t">
            <a:spAutoFit/>
          </a:bodyPr>
          <a:lstStyle/>
          <a:p>
            <a:pPr algn="l"/>
            <a:r>
              <a:rPr sz="1100" b="1" i="0">
                <a:solidFill>
                  <a:srgbClr val="FFFFFF"/>
                </a:solidFill>
                <a:latin typeface="Yu Gothic"/>
              </a:rPr>
              <a:t>1. 看取り期のケアマネジメント</a:t>
            </a:r>
          </a:p>
        </p:txBody>
      </p:sp>
      <p:sp>
        <p:nvSpPr>
          <p:cNvPr id="4" name="TextBox 3"/>
          <p:cNvSpPr txBox="1"/>
          <p:nvPr/>
        </p:nvSpPr>
        <p:spPr>
          <a:xfrm>
            <a:off x="288000" y="684000"/>
            <a:ext cx="11616119" cy="468000"/>
          </a:xfrm>
          <a:prstGeom prst="rect">
            <a:avLst/>
          </a:prstGeom>
          <a:noFill/>
        </p:spPr>
        <p:txBody>
          <a:bodyPr wrap="square" lIns="36000" rIns="36000" tIns="18000" bIns="18000" anchor="t">
            <a:spAutoFit/>
          </a:bodyPr>
          <a:lstStyle/>
          <a:p>
            <a:pPr algn="l"/>
            <a:r>
              <a:rPr sz="2300" b="1" i="0">
                <a:solidFill>
                  <a:srgbClr val="423A5E"/>
                </a:solidFill>
                <a:latin typeface="Yu Gothic"/>
              </a:rPr>
              <a:t>在宅での看取りを支える時代へ</a:t>
            </a:r>
          </a:p>
        </p:txBody>
      </p:sp>
      <p:sp>
        <p:nvSpPr>
          <p:cNvPr id="5" name="Rectangle 4"/>
          <p:cNvSpPr/>
          <p:nvPr/>
        </p:nvSpPr>
        <p:spPr>
          <a:xfrm>
            <a:off x="288000" y="1152000"/>
            <a:ext cx="900000" cy="43200"/>
          </a:xfrm>
          <a:prstGeom prst="rect">
            <a:avLst/>
          </a:prstGeom>
          <a:solidFill>
            <a:srgbClr val="C48C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288000" y="6570000"/>
            <a:ext cx="9360000" cy="180000"/>
          </a:xfrm>
          <a:prstGeom prst="rect">
            <a:avLst/>
          </a:prstGeom>
          <a:noFill/>
        </p:spPr>
        <p:txBody>
          <a:bodyPr wrap="square" lIns="36000" rIns="36000" tIns="18000" bIns="18000" anchor="t">
            <a:spAutoFit/>
          </a:bodyPr>
          <a:lstStyle/>
          <a:p>
            <a:pPr algn="l"/>
            <a:r>
              <a:rPr sz="900" b="0" i="0">
                <a:solidFill>
                  <a:srgbClr val="8C83A6"/>
                </a:solidFill>
                <a:latin typeface="Yu Gothic"/>
              </a:rPr>
              <a:t>主任CM研修 / 看取り期のケアマネジメントとACPの支援技術  ※算定要件は最新の告示・通知をご確認ください</a:t>
            </a:r>
          </a:p>
        </p:txBody>
      </p:sp>
      <p:sp>
        <p:nvSpPr>
          <p:cNvPr id="7" name="TextBox 6"/>
          <p:cNvSpPr txBox="1"/>
          <p:nvPr/>
        </p:nvSpPr>
        <p:spPr>
          <a:xfrm>
            <a:off x="11112119" y="6570000"/>
            <a:ext cx="792000" cy="180000"/>
          </a:xfrm>
          <a:prstGeom prst="rect">
            <a:avLst/>
          </a:prstGeom>
          <a:noFill/>
        </p:spPr>
        <p:txBody>
          <a:bodyPr wrap="square" lIns="36000" rIns="36000" tIns="18000" bIns="18000" anchor="t">
            <a:spAutoFit/>
          </a:bodyPr>
          <a:lstStyle/>
          <a:p>
            <a:pPr algn="r"/>
            <a:r>
              <a:rPr sz="900" b="0" i="0">
                <a:solidFill>
                  <a:srgbClr val="8C83A6"/>
                </a:solidFill>
                <a:latin typeface="Yu Gothic"/>
              </a:rPr>
              <a:t>5 / 33</a:t>
            </a:r>
          </a:p>
        </p:txBody>
      </p:sp>
      <p:sp>
        <p:nvSpPr>
          <p:cNvPr id="8" name="Rectangle 7"/>
          <p:cNvSpPr/>
          <p:nvPr/>
        </p:nvSpPr>
        <p:spPr>
          <a:xfrm>
            <a:off x="432000" y="1548000"/>
            <a:ext cx="11304000" cy="360000"/>
          </a:xfrm>
          <a:prstGeom prst="rect">
            <a:avLst/>
          </a:prstGeom>
          <a:solidFill>
            <a:srgbClr val="423A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04000" y="1584000"/>
            <a:ext cx="11160000" cy="288000"/>
          </a:xfrm>
          <a:prstGeom prst="rect">
            <a:avLst/>
          </a:prstGeom>
          <a:noFill/>
        </p:spPr>
        <p:txBody>
          <a:bodyPr wrap="square" lIns="36000" rIns="36000" tIns="18000" bIns="18000" anchor="ctr">
            <a:spAutoFit/>
          </a:bodyPr>
          <a:lstStyle/>
          <a:p>
            <a:pPr algn="l"/>
            <a:r>
              <a:rPr sz="1400" b="1" i="0">
                <a:solidFill>
                  <a:srgbClr val="FFFFFF"/>
                </a:solidFill>
                <a:latin typeface="Yu Gothic"/>
              </a:rPr>
              <a:t>「最期をどこで迎えるか」という問い</a:t>
            </a:r>
          </a:p>
        </p:txBody>
      </p:sp>
      <p:sp>
        <p:nvSpPr>
          <p:cNvPr id="10" name="Rectangle 9"/>
          <p:cNvSpPr/>
          <p:nvPr/>
        </p:nvSpPr>
        <p:spPr>
          <a:xfrm>
            <a:off x="432000" y="1908000"/>
            <a:ext cx="11304000" cy="720000"/>
          </a:xfrm>
          <a:prstGeom prst="rect">
            <a:avLst/>
          </a:prstGeom>
          <a:solidFill>
            <a:srgbClr val="EAE8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40000" y="1944000"/>
            <a:ext cx="11088000" cy="684000"/>
          </a:xfrm>
          <a:prstGeom prst="rect">
            <a:avLst/>
          </a:prstGeom>
          <a:noFill/>
        </p:spPr>
        <p:txBody>
          <a:bodyPr wrap="square" lIns="36000" rIns="36000" tIns="18000" bIns="18000" anchor="t">
            <a:spAutoFit/>
          </a:bodyPr>
          <a:lstStyle/>
          <a:p>
            <a:pPr algn="l"/>
            <a:r>
              <a:rPr sz="1300" b="0" i="0">
                <a:solidFill>
                  <a:srgbClr val="323038"/>
                </a:solidFill>
                <a:latin typeface="Yu Gothic"/>
              </a:rPr>
              <a:t>「住み慣れた自宅で最期まで過ごしたい」と願う人は少なくない。</a:t>
            </a:r>
          </a:p>
          <a:p>
            <a:pPr algn="l"/>
            <a:r>
              <a:rPr sz="1300" b="0" i="0">
                <a:solidFill>
                  <a:srgbClr val="323038"/>
                </a:solidFill>
                <a:latin typeface="Yu Gothic"/>
              </a:rPr>
              <a:t>国も、地域包括ケアの中で在宅での看取りを支える体制づくりを進めている。</a:t>
            </a:r>
          </a:p>
          <a:p>
            <a:pPr algn="l"/>
            <a:r>
              <a:rPr sz="1300" b="0" i="0">
                <a:solidFill>
                  <a:srgbClr val="323038"/>
                </a:solidFill>
                <a:latin typeface="Yu Gothic"/>
              </a:rPr>
              <a:t>居宅CMは、その願いを生活の場で支える、数少ない伴走者である。</a:t>
            </a:r>
          </a:p>
        </p:txBody>
      </p:sp>
      <p:sp>
        <p:nvSpPr>
          <p:cNvPr id="12" name="Rectangle 11"/>
          <p:cNvSpPr/>
          <p:nvPr/>
        </p:nvSpPr>
        <p:spPr>
          <a:xfrm>
            <a:off x="432000" y="2880000"/>
            <a:ext cx="5580000" cy="360000"/>
          </a:xfrm>
          <a:prstGeom prst="rect">
            <a:avLst/>
          </a:prstGeom>
          <a:solidFill>
            <a:srgbClr val="6057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04000" y="2916000"/>
            <a:ext cx="5436000" cy="288000"/>
          </a:xfrm>
          <a:prstGeom prst="rect">
            <a:avLst/>
          </a:prstGeom>
          <a:noFill/>
        </p:spPr>
        <p:txBody>
          <a:bodyPr wrap="square" lIns="36000" rIns="36000" tIns="18000" bIns="18000" anchor="ctr">
            <a:spAutoFit/>
          </a:bodyPr>
          <a:lstStyle/>
          <a:p>
            <a:pPr algn="l"/>
            <a:r>
              <a:rPr sz="1400" b="1" i="0">
                <a:solidFill>
                  <a:srgbClr val="FFFFFF"/>
                </a:solidFill>
                <a:latin typeface="Yu Gothic"/>
              </a:rPr>
              <a:t>看取り期に本人・家族が願うこと</a:t>
            </a:r>
          </a:p>
        </p:txBody>
      </p:sp>
      <p:sp>
        <p:nvSpPr>
          <p:cNvPr id="14" name="Rectangle 13"/>
          <p:cNvSpPr/>
          <p:nvPr/>
        </p:nvSpPr>
        <p:spPr>
          <a:xfrm>
            <a:off x="432000" y="3240000"/>
            <a:ext cx="5580000" cy="1440000"/>
          </a:xfrm>
          <a:prstGeom prst="rect">
            <a:avLst/>
          </a:prstGeom>
          <a:solidFill>
            <a:srgbClr val="EAE8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40000" y="3276000"/>
            <a:ext cx="5364000" cy="1404000"/>
          </a:xfrm>
          <a:prstGeom prst="rect">
            <a:avLst/>
          </a:prstGeom>
          <a:noFill/>
        </p:spPr>
        <p:txBody>
          <a:bodyPr wrap="square" lIns="36000" rIns="36000" tIns="18000" bIns="18000" anchor="t">
            <a:spAutoFit/>
          </a:bodyPr>
          <a:lstStyle/>
          <a:p>
            <a:pPr algn="l"/>
            <a:r>
              <a:rPr sz="1200" b="0" i="0">
                <a:solidFill>
                  <a:srgbClr val="323038"/>
                </a:solidFill>
                <a:latin typeface="Yu Gothic"/>
              </a:rPr>
              <a:t>■ 痛み・苦痛のない穏やかな時間</a:t>
            </a:r>
          </a:p>
          <a:p>
            <a:pPr algn="l"/>
            <a:r>
              <a:rPr sz="1200" b="0" i="0">
                <a:solidFill>
                  <a:srgbClr val="323038"/>
                </a:solidFill>
                <a:latin typeface="Yu Gothic"/>
              </a:rPr>
              <a:t/>
            </a:r>
          </a:p>
          <a:p>
            <a:pPr algn="l"/>
            <a:r>
              <a:rPr sz="1200" b="0" i="0">
                <a:solidFill>
                  <a:srgbClr val="323038"/>
                </a:solidFill>
                <a:latin typeface="Yu Gothic"/>
              </a:rPr>
              <a:t>■ 住み慣れた場所・なじみの人の中で</a:t>
            </a:r>
          </a:p>
          <a:p>
            <a:pPr algn="l"/>
            <a:r>
              <a:rPr sz="1200" b="0" i="0">
                <a:solidFill>
                  <a:srgbClr val="323038"/>
                </a:solidFill>
                <a:latin typeface="Yu Gothic"/>
              </a:rPr>
              <a:t/>
            </a:r>
          </a:p>
          <a:p>
            <a:pPr algn="l"/>
            <a:r>
              <a:rPr sz="1200" b="0" i="0">
                <a:solidFill>
                  <a:srgbClr val="323038"/>
                </a:solidFill>
                <a:latin typeface="Yu Gothic"/>
              </a:rPr>
              <a:t>■ 自分らしさ・尊厳が保たれること</a:t>
            </a:r>
          </a:p>
          <a:p>
            <a:pPr algn="l"/>
            <a:r>
              <a:rPr sz="1200" b="0" i="0">
                <a:solidFill>
                  <a:srgbClr val="323038"/>
                </a:solidFill>
                <a:latin typeface="Yu Gothic"/>
              </a:rPr>
              <a:t/>
            </a:r>
          </a:p>
          <a:p>
            <a:pPr algn="l"/>
            <a:r>
              <a:rPr sz="1200" b="0" i="0">
                <a:solidFill>
                  <a:srgbClr val="323038"/>
                </a:solidFill>
                <a:latin typeface="Yu Gothic"/>
              </a:rPr>
              <a:t>■ 家族に過度な負担をかけたくない</a:t>
            </a:r>
          </a:p>
          <a:p>
            <a:pPr algn="l"/>
            <a:r>
              <a:rPr sz="1200" b="0" i="0">
                <a:solidFill>
                  <a:srgbClr val="323038"/>
                </a:solidFill>
                <a:latin typeface="Yu Gothic"/>
              </a:rPr>
              <a:t/>
            </a:r>
          </a:p>
          <a:p>
            <a:pPr algn="l"/>
            <a:r>
              <a:rPr sz="1200" b="0" i="0">
                <a:solidFill>
                  <a:srgbClr val="323038"/>
                </a:solidFill>
                <a:latin typeface="Yu Gothic"/>
              </a:rPr>
              <a:t>■ やり残したことへの思い・別れの時間</a:t>
            </a:r>
          </a:p>
        </p:txBody>
      </p:sp>
      <p:sp>
        <p:nvSpPr>
          <p:cNvPr id="16" name="Rectangle 15"/>
          <p:cNvSpPr/>
          <p:nvPr/>
        </p:nvSpPr>
        <p:spPr>
          <a:xfrm>
            <a:off x="6300000" y="2880000"/>
            <a:ext cx="5400000" cy="360000"/>
          </a:xfrm>
          <a:prstGeom prst="rect">
            <a:avLst/>
          </a:prstGeom>
          <a:solidFill>
            <a:srgbClr val="527C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372000" y="2916000"/>
            <a:ext cx="5256000" cy="288000"/>
          </a:xfrm>
          <a:prstGeom prst="rect">
            <a:avLst/>
          </a:prstGeom>
          <a:noFill/>
        </p:spPr>
        <p:txBody>
          <a:bodyPr wrap="square" lIns="36000" rIns="36000" tIns="18000" bIns="18000" anchor="ctr">
            <a:spAutoFit/>
          </a:bodyPr>
          <a:lstStyle/>
          <a:p>
            <a:pPr algn="l"/>
            <a:r>
              <a:rPr sz="1400" b="1" i="0">
                <a:solidFill>
                  <a:srgbClr val="FFFFFF"/>
                </a:solidFill>
                <a:latin typeface="Yu Gothic"/>
              </a:rPr>
              <a:t>在宅看取りを可能にする条件</a:t>
            </a:r>
          </a:p>
        </p:txBody>
      </p:sp>
      <p:sp>
        <p:nvSpPr>
          <p:cNvPr id="18" name="Rectangle 17"/>
          <p:cNvSpPr/>
          <p:nvPr/>
        </p:nvSpPr>
        <p:spPr>
          <a:xfrm>
            <a:off x="6300000" y="3240000"/>
            <a:ext cx="5400000" cy="1440000"/>
          </a:xfrm>
          <a:prstGeom prst="rect">
            <a:avLst/>
          </a:prstGeom>
          <a:solidFill>
            <a:srgbClr val="E5EC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8000" y="3276000"/>
            <a:ext cx="5184000" cy="1404000"/>
          </a:xfrm>
          <a:prstGeom prst="rect">
            <a:avLst/>
          </a:prstGeom>
          <a:noFill/>
        </p:spPr>
        <p:txBody>
          <a:bodyPr wrap="square" lIns="36000" rIns="36000" tIns="18000" bIns="18000" anchor="t">
            <a:spAutoFit/>
          </a:bodyPr>
          <a:lstStyle/>
          <a:p>
            <a:pPr algn="l"/>
            <a:r>
              <a:rPr sz="1200" b="0" i="0">
                <a:solidFill>
                  <a:srgbClr val="323038"/>
                </a:solidFill>
                <a:latin typeface="Yu Gothic"/>
              </a:rPr>
              <a:t>■ 本人・家族の意思と心構え</a:t>
            </a:r>
          </a:p>
          <a:p>
            <a:pPr algn="l"/>
            <a:r>
              <a:rPr sz="1200" b="0" i="0">
                <a:solidFill>
                  <a:srgbClr val="323038"/>
                </a:solidFill>
                <a:latin typeface="Yu Gothic"/>
              </a:rPr>
              <a:t/>
            </a:r>
          </a:p>
          <a:p>
            <a:pPr algn="l"/>
            <a:r>
              <a:rPr sz="1200" b="0" i="0">
                <a:solidFill>
                  <a:srgbClr val="323038"/>
                </a:solidFill>
                <a:latin typeface="Yu Gothic"/>
              </a:rPr>
              <a:t>■ 24時間対応できる医療(訪問診療・看護)</a:t>
            </a:r>
          </a:p>
          <a:p>
            <a:pPr algn="l"/>
            <a:r>
              <a:rPr sz="1200" b="0" i="0">
                <a:solidFill>
                  <a:srgbClr val="323038"/>
                </a:solidFill>
                <a:latin typeface="Yu Gothic"/>
              </a:rPr>
              <a:t/>
            </a:r>
          </a:p>
          <a:p>
            <a:pPr algn="l"/>
            <a:r>
              <a:rPr sz="1200" b="0" i="0">
                <a:solidFill>
                  <a:srgbClr val="323038"/>
                </a:solidFill>
                <a:latin typeface="Yu Gothic"/>
              </a:rPr>
              <a:t>■ 介護サービスと家族介護の体制</a:t>
            </a:r>
          </a:p>
          <a:p>
            <a:pPr algn="l"/>
            <a:r>
              <a:rPr sz="1200" b="0" i="0">
                <a:solidFill>
                  <a:srgbClr val="323038"/>
                </a:solidFill>
                <a:latin typeface="Yu Gothic"/>
              </a:rPr>
              <a:t/>
            </a:r>
          </a:p>
          <a:p>
            <a:pPr algn="l"/>
            <a:r>
              <a:rPr sz="1200" b="0" i="0">
                <a:solidFill>
                  <a:srgbClr val="323038"/>
                </a:solidFill>
                <a:latin typeface="Yu Gothic"/>
              </a:rPr>
              <a:t>■ 急変時の方針の共有(救急搬送の是非)</a:t>
            </a:r>
          </a:p>
          <a:p>
            <a:pPr algn="l"/>
            <a:r>
              <a:rPr sz="1200" b="0" i="0">
                <a:solidFill>
                  <a:srgbClr val="323038"/>
                </a:solidFill>
                <a:latin typeface="Yu Gothic"/>
              </a:rPr>
              <a:t/>
            </a:r>
          </a:p>
          <a:p>
            <a:pPr algn="l"/>
            <a:r>
              <a:rPr sz="1200" b="0" i="0">
                <a:solidFill>
                  <a:srgbClr val="323038"/>
                </a:solidFill>
                <a:latin typeface="Yu Gothic"/>
              </a:rPr>
              <a:t>■ 多職種が連携し、情報を共有できる関係</a:t>
            </a:r>
          </a:p>
        </p:txBody>
      </p:sp>
      <p:sp>
        <p:nvSpPr>
          <p:cNvPr id="20" name="TextBox 19"/>
          <p:cNvSpPr txBox="1"/>
          <p:nvPr/>
        </p:nvSpPr>
        <p:spPr>
          <a:xfrm>
            <a:off x="432000" y="4860000"/>
            <a:ext cx="11328119" cy="432000"/>
          </a:xfrm>
          <a:prstGeom prst="rect">
            <a:avLst/>
          </a:prstGeom>
          <a:noFill/>
        </p:spPr>
        <p:txBody>
          <a:bodyPr wrap="square" lIns="36000" rIns="36000" tIns="18000" bIns="18000" anchor="t">
            <a:spAutoFit/>
          </a:bodyPr>
          <a:lstStyle/>
          <a:p>
            <a:pPr algn="l"/>
            <a:r>
              <a:rPr sz="1300" b="1" i="0">
                <a:solidFill>
                  <a:srgbClr val="423A5E"/>
                </a:solidFill>
                <a:latin typeface="Yu Gothic"/>
              </a:rPr>
              <a:t>▶ CMは、これらの条件を「つなぎ」「整え」「揺れを支える」役割を担う。</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119" cy="576000"/>
          </a:xfrm>
          <a:prstGeom prst="rect">
            <a:avLst/>
          </a:prstGeom>
          <a:solidFill>
            <a:srgbClr val="423A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88000" y="90000"/>
            <a:ext cx="7920000" cy="216000"/>
          </a:xfrm>
          <a:prstGeom prst="rect">
            <a:avLst/>
          </a:prstGeom>
          <a:noFill/>
        </p:spPr>
        <p:txBody>
          <a:bodyPr wrap="square" lIns="36000" rIns="36000" tIns="18000" bIns="18000" anchor="t">
            <a:spAutoFit/>
          </a:bodyPr>
          <a:lstStyle/>
          <a:p>
            <a:pPr algn="l"/>
            <a:r>
              <a:rPr sz="1100" b="1" i="0">
                <a:solidFill>
                  <a:srgbClr val="FFFFFF"/>
                </a:solidFill>
                <a:latin typeface="Yu Gothic"/>
              </a:rPr>
              <a:t>1. 看取り期のケアマネジメント</a:t>
            </a:r>
          </a:p>
        </p:txBody>
      </p:sp>
      <p:sp>
        <p:nvSpPr>
          <p:cNvPr id="4" name="TextBox 3"/>
          <p:cNvSpPr txBox="1"/>
          <p:nvPr/>
        </p:nvSpPr>
        <p:spPr>
          <a:xfrm>
            <a:off x="288000" y="684000"/>
            <a:ext cx="11616119" cy="468000"/>
          </a:xfrm>
          <a:prstGeom prst="rect">
            <a:avLst/>
          </a:prstGeom>
          <a:noFill/>
        </p:spPr>
        <p:txBody>
          <a:bodyPr wrap="square" lIns="36000" rIns="36000" tIns="18000" bIns="18000" anchor="t">
            <a:spAutoFit/>
          </a:bodyPr>
          <a:lstStyle/>
          <a:p>
            <a:pPr algn="l"/>
            <a:r>
              <a:rPr sz="2300" b="1" i="0">
                <a:solidFill>
                  <a:srgbClr val="423A5E"/>
                </a:solidFill>
                <a:latin typeface="Yu Gothic"/>
              </a:rPr>
              <a:t>看取り期のCMの役割と、特有の難しさ</a:t>
            </a:r>
          </a:p>
        </p:txBody>
      </p:sp>
      <p:sp>
        <p:nvSpPr>
          <p:cNvPr id="5" name="Rectangle 4"/>
          <p:cNvSpPr/>
          <p:nvPr/>
        </p:nvSpPr>
        <p:spPr>
          <a:xfrm>
            <a:off x="288000" y="1152000"/>
            <a:ext cx="900000" cy="43200"/>
          </a:xfrm>
          <a:prstGeom prst="rect">
            <a:avLst/>
          </a:prstGeom>
          <a:solidFill>
            <a:srgbClr val="C48C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288000" y="6570000"/>
            <a:ext cx="9360000" cy="180000"/>
          </a:xfrm>
          <a:prstGeom prst="rect">
            <a:avLst/>
          </a:prstGeom>
          <a:noFill/>
        </p:spPr>
        <p:txBody>
          <a:bodyPr wrap="square" lIns="36000" rIns="36000" tIns="18000" bIns="18000" anchor="t">
            <a:spAutoFit/>
          </a:bodyPr>
          <a:lstStyle/>
          <a:p>
            <a:pPr algn="l"/>
            <a:r>
              <a:rPr sz="900" b="0" i="0">
                <a:solidFill>
                  <a:srgbClr val="8C83A6"/>
                </a:solidFill>
                <a:latin typeface="Yu Gothic"/>
              </a:rPr>
              <a:t>主任CM研修 / 看取り期のケアマネジメントとACPの支援技術  ※算定要件は最新の告示・通知をご確認ください</a:t>
            </a:r>
          </a:p>
        </p:txBody>
      </p:sp>
      <p:sp>
        <p:nvSpPr>
          <p:cNvPr id="7" name="TextBox 6"/>
          <p:cNvSpPr txBox="1"/>
          <p:nvPr/>
        </p:nvSpPr>
        <p:spPr>
          <a:xfrm>
            <a:off x="11112119" y="6570000"/>
            <a:ext cx="792000" cy="180000"/>
          </a:xfrm>
          <a:prstGeom prst="rect">
            <a:avLst/>
          </a:prstGeom>
          <a:noFill/>
        </p:spPr>
        <p:txBody>
          <a:bodyPr wrap="square" lIns="36000" rIns="36000" tIns="18000" bIns="18000" anchor="t">
            <a:spAutoFit/>
          </a:bodyPr>
          <a:lstStyle/>
          <a:p>
            <a:pPr algn="r"/>
            <a:r>
              <a:rPr sz="900" b="0" i="0">
                <a:solidFill>
                  <a:srgbClr val="8C83A6"/>
                </a:solidFill>
                <a:latin typeface="Yu Gothic"/>
              </a:rPr>
              <a:t>6 / 33</a:t>
            </a:r>
          </a:p>
        </p:txBody>
      </p:sp>
      <p:sp>
        <p:nvSpPr>
          <p:cNvPr id="8" name="Rectangle 7"/>
          <p:cNvSpPr/>
          <p:nvPr/>
        </p:nvSpPr>
        <p:spPr>
          <a:xfrm>
            <a:off x="432000" y="1548000"/>
            <a:ext cx="5580000" cy="360000"/>
          </a:xfrm>
          <a:prstGeom prst="rect">
            <a:avLst/>
          </a:prstGeom>
          <a:solidFill>
            <a:srgbClr val="6057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04000" y="1584000"/>
            <a:ext cx="5436000" cy="288000"/>
          </a:xfrm>
          <a:prstGeom prst="rect">
            <a:avLst/>
          </a:prstGeom>
          <a:noFill/>
        </p:spPr>
        <p:txBody>
          <a:bodyPr wrap="square" lIns="36000" rIns="36000" tIns="18000" bIns="18000" anchor="ctr">
            <a:spAutoFit/>
          </a:bodyPr>
          <a:lstStyle/>
          <a:p>
            <a:pPr algn="l"/>
            <a:r>
              <a:rPr sz="1400" b="1" i="0">
                <a:solidFill>
                  <a:srgbClr val="FFFFFF"/>
                </a:solidFill>
                <a:latin typeface="Yu Gothic"/>
              </a:rPr>
              <a:t>看取り期のCMの役割</a:t>
            </a:r>
          </a:p>
        </p:txBody>
      </p:sp>
      <p:sp>
        <p:nvSpPr>
          <p:cNvPr id="10" name="Rectangle 9"/>
          <p:cNvSpPr/>
          <p:nvPr/>
        </p:nvSpPr>
        <p:spPr>
          <a:xfrm>
            <a:off x="432000" y="1908000"/>
            <a:ext cx="5580000" cy="1908000"/>
          </a:xfrm>
          <a:prstGeom prst="rect">
            <a:avLst/>
          </a:prstGeom>
          <a:solidFill>
            <a:srgbClr val="EAE8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40000" y="1944000"/>
            <a:ext cx="5364000" cy="1872000"/>
          </a:xfrm>
          <a:prstGeom prst="rect">
            <a:avLst/>
          </a:prstGeom>
          <a:noFill/>
        </p:spPr>
        <p:txBody>
          <a:bodyPr wrap="square" lIns="36000" rIns="36000" tIns="18000" bIns="18000" anchor="t">
            <a:spAutoFit/>
          </a:bodyPr>
          <a:lstStyle/>
          <a:p>
            <a:pPr algn="l"/>
            <a:r>
              <a:rPr sz="1200" b="0" i="0">
                <a:solidFill>
                  <a:srgbClr val="323038"/>
                </a:solidFill>
                <a:latin typeface="Yu Gothic"/>
              </a:rPr>
              <a:t>■ 本人の意思を聴き、ケアに反映する</a:t>
            </a:r>
          </a:p>
          <a:p>
            <a:pPr algn="l"/>
            <a:r>
              <a:rPr sz="1200" b="0" i="0">
                <a:solidFill>
                  <a:srgbClr val="323038"/>
                </a:solidFill>
                <a:latin typeface="Yu Gothic"/>
              </a:rPr>
              <a:t/>
            </a:r>
          </a:p>
          <a:p>
            <a:pPr algn="l"/>
            <a:r>
              <a:rPr sz="1200" b="0" i="0">
                <a:solidFill>
                  <a:srgbClr val="323038"/>
                </a:solidFill>
                <a:latin typeface="Yu Gothic"/>
              </a:rPr>
              <a:t>■ 状態変化に応じてプランを機動的に見直す</a:t>
            </a:r>
          </a:p>
          <a:p>
            <a:pPr algn="l"/>
            <a:r>
              <a:rPr sz="1200" b="0" i="0">
                <a:solidFill>
                  <a:srgbClr val="323038"/>
                </a:solidFill>
                <a:latin typeface="Yu Gothic"/>
              </a:rPr>
              <a:t/>
            </a:r>
          </a:p>
          <a:p>
            <a:pPr algn="l"/>
            <a:r>
              <a:rPr sz="1200" b="0" i="0">
                <a:solidFill>
                  <a:srgbClr val="323038"/>
                </a:solidFill>
                <a:latin typeface="Yu Gothic"/>
              </a:rPr>
              <a:t>■ 医療(訪問診療・看護)との連携をつなぐ</a:t>
            </a:r>
          </a:p>
          <a:p>
            <a:pPr algn="l"/>
            <a:r>
              <a:rPr sz="1200" b="0" i="0">
                <a:solidFill>
                  <a:srgbClr val="323038"/>
                </a:solidFill>
                <a:latin typeface="Yu Gothic"/>
              </a:rPr>
              <a:t/>
            </a:r>
          </a:p>
          <a:p>
            <a:pPr algn="l"/>
            <a:r>
              <a:rPr sz="1200" b="0" i="0">
                <a:solidFill>
                  <a:srgbClr val="323038"/>
                </a:solidFill>
                <a:latin typeface="Yu Gothic"/>
              </a:rPr>
              <a:t>■ 家族の不安・揺れに寄り添う</a:t>
            </a:r>
          </a:p>
          <a:p>
            <a:pPr algn="l"/>
            <a:r>
              <a:rPr sz="1200" b="0" i="0">
                <a:solidFill>
                  <a:srgbClr val="323038"/>
                </a:solidFill>
                <a:latin typeface="Yu Gothic"/>
              </a:rPr>
              <a:t/>
            </a:r>
          </a:p>
          <a:p>
            <a:pPr algn="l"/>
            <a:r>
              <a:rPr sz="1200" b="0" i="0">
                <a:solidFill>
                  <a:srgbClr val="323038"/>
                </a:solidFill>
                <a:latin typeface="Yu Gothic"/>
              </a:rPr>
              <a:t>■ 急変時・看取りの方針を多職種と共有</a:t>
            </a:r>
          </a:p>
          <a:p>
            <a:pPr algn="l"/>
            <a:r>
              <a:rPr sz="1200" b="0" i="0">
                <a:solidFill>
                  <a:srgbClr val="323038"/>
                </a:solidFill>
                <a:latin typeface="Yu Gothic"/>
              </a:rPr>
              <a:t/>
            </a:r>
          </a:p>
          <a:p>
            <a:pPr algn="l"/>
            <a:r>
              <a:rPr sz="1200" b="0" i="0">
                <a:solidFill>
                  <a:srgbClr val="323038"/>
                </a:solidFill>
                <a:latin typeface="Yu Gothic"/>
              </a:rPr>
              <a:t>■ 看取り後の家族支援(グリーフケア)</a:t>
            </a:r>
          </a:p>
        </p:txBody>
      </p:sp>
      <p:sp>
        <p:nvSpPr>
          <p:cNvPr id="12" name="Rectangle 11"/>
          <p:cNvSpPr/>
          <p:nvPr/>
        </p:nvSpPr>
        <p:spPr>
          <a:xfrm>
            <a:off x="6300000" y="1548000"/>
            <a:ext cx="5400000" cy="360000"/>
          </a:xfrm>
          <a:prstGeom prst="rect">
            <a:avLst/>
          </a:prstGeom>
          <a:solidFill>
            <a:srgbClr val="A85C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372000" y="1584000"/>
            <a:ext cx="5256000" cy="288000"/>
          </a:xfrm>
          <a:prstGeom prst="rect">
            <a:avLst/>
          </a:prstGeom>
          <a:noFill/>
        </p:spPr>
        <p:txBody>
          <a:bodyPr wrap="square" lIns="36000" rIns="36000" tIns="18000" bIns="18000" anchor="ctr">
            <a:spAutoFit/>
          </a:bodyPr>
          <a:lstStyle/>
          <a:p>
            <a:pPr algn="l"/>
            <a:r>
              <a:rPr sz="1400" b="1" i="0">
                <a:solidFill>
                  <a:srgbClr val="FFFFFF"/>
                </a:solidFill>
                <a:latin typeface="Yu Gothic"/>
              </a:rPr>
              <a:t>看取り期ならではの難しさ</a:t>
            </a:r>
          </a:p>
        </p:txBody>
      </p:sp>
      <p:sp>
        <p:nvSpPr>
          <p:cNvPr id="14" name="Rectangle 13"/>
          <p:cNvSpPr/>
          <p:nvPr/>
        </p:nvSpPr>
        <p:spPr>
          <a:xfrm>
            <a:off x="6300000" y="1908000"/>
            <a:ext cx="5400000" cy="1908000"/>
          </a:xfrm>
          <a:prstGeom prst="rect">
            <a:avLst/>
          </a:prstGeom>
          <a:solidFill>
            <a:srgbClr val="F6E8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08000" y="1944000"/>
            <a:ext cx="5184000" cy="1872000"/>
          </a:xfrm>
          <a:prstGeom prst="rect">
            <a:avLst/>
          </a:prstGeom>
          <a:noFill/>
        </p:spPr>
        <p:txBody>
          <a:bodyPr wrap="square" lIns="36000" rIns="36000" tIns="18000" bIns="18000" anchor="t">
            <a:spAutoFit/>
          </a:bodyPr>
          <a:lstStyle/>
          <a:p>
            <a:pPr algn="l"/>
            <a:r>
              <a:rPr sz="1200" b="0" i="0">
                <a:solidFill>
                  <a:srgbClr val="323038"/>
                </a:solidFill>
                <a:latin typeface="Yu Gothic"/>
              </a:rPr>
              <a:t>■ 時間が限られ、状態が急速に変化する</a:t>
            </a:r>
          </a:p>
          <a:p>
            <a:pPr algn="l"/>
            <a:r>
              <a:rPr sz="1200" b="0" i="0">
                <a:solidFill>
                  <a:srgbClr val="323038"/>
                </a:solidFill>
                <a:latin typeface="Yu Gothic"/>
              </a:rPr>
              <a:t/>
            </a:r>
          </a:p>
          <a:p>
            <a:pPr algn="l"/>
            <a:r>
              <a:rPr sz="1200" b="0" i="0">
                <a:solidFill>
                  <a:srgbClr val="323038"/>
                </a:solidFill>
                <a:latin typeface="Yu Gothic"/>
              </a:rPr>
              <a:t>■ 本人の意思が確認しづらくなっていく</a:t>
            </a:r>
          </a:p>
          <a:p>
            <a:pPr algn="l"/>
            <a:r>
              <a:rPr sz="1200" b="0" i="0">
                <a:solidFill>
                  <a:srgbClr val="323038"/>
                </a:solidFill>
                <a:latin typeface="Yu Gothic"/>
              </a:rPr>
              <a:t/>
            </a:r>
          </a:p>
          <a:p>
            <a:pPr algn="l"/>
            <a:r>
              <a:rPr sz="1200" b="0" i="0">
                <a:solidFill>
                  <a:srgbClr val="323038"/>
                </a:solidFill>
                <a:latin typeface="Yu Gothic"/>
              </a:rPr>
              <a:t>■ 家族の感情が揺れ動き、葛藤も生じる</a:t>
            </a:r>
          </a:p>
          <a:p>
            <a:pPr algn="l"/>
            <a:r>
              <a:rPr sz="1200" b="0" i="0">
                <a:solidFill>
                  <a:srgbClr val="323038"/>
                </a:solidFill>
                <a:latin typeface="Yu Gothic"/>
              </a:rPr>
              <a:t/>
            </a:r>
          </a:p>
          <a:p>
            <a:pPr algn="l"/>
            <a:r>
              <a:rPr sz="1200" b="0" i="0">
                <a:solidFill>
                  <a:srgbClr val="323038"/>
                </a:solidFill>
                <a:latin typeface="Yu Gothic"/>
              </a:rPr>
              <a:t>■ 「正解」がない判断の連続</a:t>
            </a:r>
          </a:p>
          <a:p>
            <a:pPr algn="l"/>
            <a:r>
              <a:rPr sz="1200" b="0" i="0">
                <a:solidFill>
                  <a:srgbClr val="323038"/>
                </a:solidFill>
                <a:latin typeface="Yu Gothic"/>
              </a:rPr>
              <a:t/>
            </a:r>
          </a:p>
          <a:p>
            <a:pPr algn="l"/>
            <a:r>
              <a:rPr sz="1200" b="0" i="0">
                <a:solidFill>
                  <a:srgbClr val="323038"/>
                </a:solidFill>
                <a:latin typeface="Yu Gothic"/>
              </a:rPr>
              <a:t>■ 医療の比重が高まり、連携が複雑に</a:t>
            </a:r>
          </a:p>
          <a:p>
            <a:pPr algn="l"/>
            <a:r>
              <a:rPr sz="1200" b="0" i="0">
                <a:solidFill>
                  <a:srgbClr val="323038"/>
                </a:solidFill>
                <a:latin typeface="Yu Gothic"/>
              </a:rPr>
              <a:t/>
            </a:r>
          </a:p>
          <a:p>
            <a:pPr algn="l"/>
            <a:r>
              <a:rPr sz="1200" b="0" i="0">
                <a:solidFill>
                  <a:srgbClr val="323038"/>
                </a:solidFill>
                <a:latin typeface="Yu Gothic"/>
              </a:rPr>
              <a:t>■ CM自身も感情を揺さぶられる</a:t>
            </a:r>
          </a:p>
        </p:txBody>
      </p:sp>
      <p:sp>
        <p:nvSpPr>
          <p:cNvPr id="16" name="Rectangle 15"/>
          <p:cNvSpPr/>
          <p:nvPr/>
        </p:nvSpPr>
        <p:spPr>
          <a:xfrm>
            <a:off x="432000" y="3960000"/>
            <a:ext cx="11304000" cy="360000"/>
          </a:xfrm>
          <a:prstGeom prst="rect">
            <a:avLst/>
          </a:prstGeom>
          <a:solidFill>
            <a:srgbClr val="423A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04000" y="3996000"/>
            <a:ext cx="11160000" cy="288000"/>
          </a:xfrm>
          <a:prstGeom prst="rect">
            <a:avLst/>
          </a:prstGeom>
          <a:noFill/>
        </p:spPr>
        <p:txBody>
          <a:bodyPr wrap="square" lIns="36000" rIns="36000" tIns="18000" bIns="18000" anchor="ctr">
            <a:spAutoFit/>
          </a:bodyPr>
          <a:lstStyle/>
          <a:p>
            <a:pPr algn="l"/>
            <a:r>
              <a:rPr sz="1400" b="1" i="0">
                <a:solidFill>
                  <a:srgbClr val="FFFFFF"/>
                </a:solidFill>
                <a:latin typeface="Yu Gothic"/>
              </a:rPr>
              <a:t>看取り期のケアマネジメントで大切にしたい姿勢</a:t>
            </a:r>
          </a:p>
        </p:txBody>
      </p:sp>
      <p:sp>
        <p:nvSpPr>
          <p:cNvPr id="18" name="Rectangle 17"/>
          <p:cNvSpPr/>
          <p:nvPr/>
        </p:nvSpPr>
        <p:spPr>
          <a:xfrm>
            <a:off x="432000" y="4320000"/>
            <a:ext cx="11304000" cy="1800000"/>
          </a:xfrm>
          <a:prstGeom prst="rect">
            <a:avLst/>
          </a:prstGeom>
          <a:solidFill>
            <a:srgbClr val="EAE8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40000" y="4356000"/>
            <a:ext cx="11088000" cy="1764000"/>
          </a:xfrm>
          <a:prstGeom prst="rect">
            <a:avLst/>
          </a:prstGeom>
          <a:noFill/>
        </p:spPr>
        <p:txBody>
          <a:bodyPr wrap="square" lIns="36000" rIns="36000" tIns="18000" bIns="18000" anchor="t">
            <a:spAutoFit/>
          </a:bodyPr>
          <a:lstStyle/>
          <a:p>
            <a:pPr algn="l"/>
            <a:r>
              <a:rPr sz="1300" b="0" i="0">
                <a:solidFill>
                  <a:srgbClr val="323038"/>
                </a:solidFill>
                <a:latin typeface="Yu Gothic"/>
              </a:rPr>
              <a:t>■ 「何をするか」より「誰のための時間か」 ― 主役は最期まで本人</a:t>
            </a:r>
          </a:p>
          <a:p>
            <a:pPr algn="l"/>
            <a:r>
              <a:rPr sz="1300" b="0" i="0">
                <a:solidFill>
                  <a:srgbClr val="323038"/>
                </a:solidFill>
                <a:latin typeface="Yu Gothic"/>
              </a:rPr>
              <a:t/>
            </a:r>
          </a:p>
          <a:p>
            <a:pPr algn="l"/>
            <a:r>
              <a:rPr sz="1300" b="0" i="0">
                <a:solidFill>
                  <a:srgbClr val="323038"/>
                </a:solidFill>
                <a:latin typeface="Yu Gothic"/>
              </a:rPr>
              <a:t>■ 答えを出すことより、本人・家族の「揺れ」に寄り添い続けること</a:t>
            </a:r>
          </a:p>
          <a:p>
            <a:pPr algn="l"/>
            <a:r>
              <a:rPr sz="1300" b="0" i="0">
                <a:solidFill>
                  <a:srgbClr val="323038"/>
                </a:solidFill>
                <a:latin typeface="Yu Gothic"/>
              </a:rPr>
              <a:t/>
            </a:r>
          </a:p>
          <a:p>
            <a:pPr algn="l"/>
            <a:r>
              <a:rPr sz="1300" b="0" i="0">
                <a:solidFill>
                  <a:srgbClr val="323038"/>
                </a:solidFill>
                <a:latin typeface="Yu Gothic"/>
              </a:rPr>
              <a:t>■ 一人で抱えない ― 医療・看護・介護のチームで支える</a:t>
            </a:r>
          </a:p>
          <a:p>
            <a:pPr algn="l"/>
            <a:r>
              <a:rPr sz="1300" b="0" i="0">
                <a:solidFill>
                  <a:srgbClr val="323038"/>
                </a:solidFill>
                <a:latin typeface="Yu Gothic"/>
              </a:rPr>
              <a:t/>
            </a:r>
          </a:p>
          <a:p>
            <a:pPr algn="l"/>
            <a:r>
              <a:rPr sz="1300" b="0" i="0">
                <a:solidFill>
                  <a:srgbClr val="323038"/>
                </a:solidFill>
                <a:latin typeface="Yu Gothic"/>
              </a:rPr>
              <a:t>■ 「できなかったこと」を悔やむより、「共に過ごせた時間」を大切にする</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119" cy="6858000"/>
          </a:xfrm>
          <a:prstGeom prst="rect">
            <a:avLst/>
          </a:prstGeom>
          <a:solidFill>
            <a:srgbClr val="423A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3060000"/>
            <a:ext cx="12192119" cy="36000"/>
          </a:xfrm>
          <a:prstGeom prst="rect">
            <a:avLst/>
          </a:prstGeom>
          <a:solidFill>
            <a:srgbClr val="C48C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20000" y="2340000"/>
            <a:ext cx="10752119" cy="540000"/>
          </a:xfrm>
          <a:prstGeom prst="rect">
            <a:avLst/>
          </a:prstGeom>
          <a:noFill/>
        </p:spPr>
        <p:txBody>
          <a:bodyPr wrap="square" lIns="36000" rIns="36000" tIns="18000" bIns="18000" anchor="t">
            <a:spAutoFit/>
          </a:bodyPr>
          <a:lstStyle/>
          <a:p>
            <a:pPr algn="ctr"/>
            <a:r>
              <a:rPr sz="2200" b="1" i="0">
                <a:solidFill>
                  <a:srgbClr val="C48C3A"/>
                </a:solidFill>
                <a:latin typeface="Yu Gothic"/>
              </a:rPr>
              <a:t>PART 2</a:t>
            </a:r>
          </a:p>
        </p:txBody>
      </p:sp>
      <p:sp>
        <p:nvSpPr>
          <p:cNvPr id="5" name="TextBox 4"/>
          <p:cNvSpPr txBox="1"/>
          <p:nvPr/>
        </p:nvSpPr>
        <p:spPr>
          <a:xfrm>
            <a:off x="360000" y="3420000"/>
            <a:ext cx="11472119" cy="720000"/>
          </a:xfrm>
          <a:prstGeom prst="rect">
            <a:avLst/>
          </a:prstGeom>
          <a:noFill/>
        </p:spPr>
        <p:txBody>
          <a:bodyPr wrap="square" lIns="36000" rIns="36000" tIns="18000" bIns="18000" anchor="t">
            <a:spAutoFit/>
          </a:bodyPr>
          <a:lstStyle/>
          <a:p>
            <a:pPr algn="ctr"/>
            <a:r>
              <a:rPr sz="3300" b="1" i="0">
                <a:solidFill>
                  <a:srgbClr val="FFFFFF"/>
                </a:solidFill>
                <a:latin typeface="Yu Gothic"/>
              </a:rPr>
              <a:t>ACP(人生会議)の理解</a:t>
            </a:r>
          </a:p>
        </p:txBody>
      </p:sp>
      <p:sp>
        <p:nvSpPr>
          <p:cNvPr id="6" name="TextBox 5"/>
          <p:cNvSpPr txBox="1"/>
          <p:nvPr/>
        </p:nvSpPr>
        <p:spPr>
          <a:xfrm>
            <a:off x="360000" y="4680000"/>
            <a:ext cx="11472119" cy="360000"/>
          </a:xfrm>
          <a:prstGeom prst="rect">
            <a:avLst/>
          </a:prstGeom>
          <a:noFill/>
        </p:spPr>
        <p:txBody>
          <a:bodyPr wrap="square" lIns="36000" rIns="36000" tIns="18000" bIns="18000" anchor="t">
            <a:spAutoFit/>
          </a:bodyPr>
          <a:lstStyle/>
          <a:p>
            <a:pPr algn="ctr"/>
            <a:r>
              <a:rPr sz="1400" b="0" i="0">
                <a:solidFill>
                  <a:srgbClr val="D7D4DE"/>
                </a:solidFill>
                <a:latin typeface="Yu Gothic"/>
              </a:rPr>
              <a:t>Understanding Advance Care Planning</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119" cy="576000"/>
          </a:xfrm>
          <a:prstGeom prst="rect">
            <a:avLst/>
          </a:prstGeom>
          <a:solidFill>
            <a:srgbClr val="423A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88000" y="90000"/>
            <a:ext cx="7920000" cy="216000"/>
          </a:xfrm>
          <a:prstGeom prst="rect">
            <a:avLst/>
          </a:prstGeom>
          <a:noFill/>
        </p:spPr>
        <p:txBody>
          <a:bodyPr wrap="square" lIns="36000" rIns="36000" tIns="18000" bIns="18000" anchor="t">
            <a:spAutoFit/>
          </a:bodyPr>
          <a:lstStyle/>
          <a:p>
            <a:pPr algn="l"/>
            <a:r>
              <a:rPr sz="1100" b="1" i="0">
                <a:solidFill>
                  <a:srgbClr val="FFFFFF"/>
                </a:solidFill>
                <a:latin typeface="Yu Gothic"/>
              </a:rPr>
              <a:t>2. ACPの理解</a:t>
            </a:r>
          </a:p>
        </p:txBody>
      </p:sp>
      <p:sp>
        <p:nvSpPr>
          <p:cNvPr id="4" name="TextBox 3"/>
          <p:cNvSpPr txBox="1"/>
          <p:nvPr/>
        </p:nvSpPr>
        <p:spPr>
          <a:xfrm>
            <a:off x="288000" y="684000"/>
            <a:ext cx="11616119" cy="468000"/>
          </a:xfrm>
          <a:prstGeom prst="rect">
            <a:avLst/>
          </a:prstGeom>
          <a:noFill/>
        </p:spPr>
        <p:txBody>
          <a:bodyPr wrap="square" lIns="36000" rIns="36000" tIns="18000" bIns="18000" anchor="t">
            <a:spAutoFit/>
          </a:bodyPr>
          <a:lstStyle/>
          <a:p>
            <a:pPr algn="l"/>
            <a:r>
              <a:rPr sz="2300" b="1" i="0">
                <a:solidFill>
                  <a:srgbClr val="423A5E"/>
                </a:solidFill>
                <a:latin typeface="Yu Gothic"/>
              </a:rPr>
              <a:t>ACP(人生会議)とは</a:t>
            </a:r>
          </a:p>
        </p:txBody>
      </p:sp>
      <p:sp>
        <p:nvSpPr>
          <p:cNvPr id="5" name="Rectangle 4"/>
          <p:cNvSpPr/>
          <p:nvPr/>
        </p:nvSpPr>
        <p:spPr>
          <a:xfrm>
            <a:off x="288000" y="1152000"/>
            <a:ext cx="900000" cy="43200"/>
          </a:xfrm>
          <a:prstGeom prst="rect">
            <a:avLst/>
          </a:prstGeom>
          <a:solidFill>
            <a:srgbClr val="C48C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288000" y="6570000"/>
            <a:ext cx="9360000" cy="180000"/>
          </a:xfrm>
          <a:prstGeom prst="rect">
            <a:avLst/>
          </a:prstGeom>
          <a:noFill/>
        </p:spPr>
        <p:txBody>
          <a:bodyPr wrap="square" lIns="36000" rIns="36000" tIns="18000" bIns="18000" anchor="t">
            <a:spAutoFit/>
          </a:bodyPr>
          <a:lstStyle/>
          <a:p>
            <a:pPr algn="l"/>
            <a:r>
              <a:rPr sz="900" b="0" i="0">
                <a:solidFill>
                  <a:srgbClr val="8C83A6"/>
                </a:solidFill>
                <a:latin typeface="Yu Gothic"/>
              </a:rPr>
              <a:t>主任CM研修 / 看取り期のケアマネジメントとACPの支援技術  ※算定要件は最新の告示・通知をご確認ください</a:t>
            </a:r>
          </a:p>
        </p:txBody>
      </p:sp>
      <p:sp>
        <p:nvSpPr>
          <p:cNvPr id="7" name="TextBox 6"/>
          <p:cNvSpPr txBox="1"/>
          <p:nvPr/>
        </p:nvSpPr>
        <p:spPr>
          <a:xfrm>
            <a:off x="11112119" y="6570000"/>
            <a:ext cx="792000" cy="180000"/>
          </a:xfrm>
          <a:prstGeom prst="rect">
            <a:avLst/>
          </a:prstGeom>
          <a:noFill/>
        </p:spPr>
        <p:txBody>
          <a:bodyPr wrap="square" lIns="36000" rIns="36000" tIns="18000" bIns="18000" anchor="t">
            <a:spAutoFit/>
          </a:bodyPr>
          <a:lstStyle/>
          <a:p>
            <a:pPr algn="r"/>
            <a:r>
              <a:rPr sz="900" b="0" i="0">
                <a:solidFill>
                  <a:srgbClr val="8C83A6"/>
                </a:solidFill>
                <a:latin typeface="Yu Gothic"/>
              </a:rPr>
              <a:t>8 / 33</a:t>
            </a:r>
          </a:p>
        </p:txBody>
      </p:sp>
      <p:sp>
        <p:nvSpPr>
          <p:cNvPr id="8" name="Rectangle 7"/>
          <p:cNvSpPr/>
          <p:nvPr/>
        </p:nvSpPr>
        <p:spPr>
          <a:xfrm>
            <a:off x="432000" y="1548000"/>
            <a:ext cx="11304000" cy="360000"/>
          </a:xfrm>
          <a:prstGeom prst="rect">
            <a:avLst/>
          </a:prstGeom>
          <a:solidFill>
            <a:srgbClr val="423A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04000" y="1584000"/>
            <a:ext cx="11160000" cy="288000"/>
          </a:xfrm>
          <a:prstGeom prst="rect">
            <a:avLst/>
          </a:prstGeom>
          <a:noFill/>
        </p:spPr>
        <p:txBody>
          <a:bodyPr wrap="square" lIns="36000" rIns="36000" tIns="18000" bIns="18000" anchor="ctr">
            <a:spAutoFit/>
          </a:bodyPr>
          <a:lstStyle/>
          <a:p>
            <a:pPr algn="l"/>
            <a:r>
              <a:rPr sz="1400" b="1" i="0">
                <a:solidFill>
                  <a:srgbClr val="FFFFFF"/>
                </a:solidFill>
                <a:latin typeface="Yu Gothic"/>
              </a:rPr>
              <a:t>ACP = アドバンス・ケア・プランニング</a:t>
            </a:r>
          </a:p>
        </p:txBody>
      </p:sp>
      <p:sp>
        <p:nvSpPr>
          <p:cNvPr id="10" name="Rectangle 9"/>
          <p:cNvSpPr/>
          <p:nvPr/>
        </p:nvSpPr>
        <p:spPr>
          <a:xfrm>
            <a:off x="432000" y="1908000"/>
            <a:ext cx="11304000" cy="828000"/>
          </a:xfrm>
          <a:prstGeom prst="rect">
            <a:avLst/>
          </a:prstGeom>
          <a:solidFill>
            <a:srgbClr val="EAE8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40000" y="1944000"/>
            <a:ext cx="11088000" cy="792000"/>
          </a:xfrm>
          <a:prstGeom prst="rect">
            <a:avLst/>
          </a:prstGeom>
          <a:noFill/>
        </p:spPr>
        <p:txBody>
          <a:bodyPr wrap="square" lIns="36000" rIns="36000" tIns="18000" bIns="18000" anchor="t">
            <a:spAutoFit/>
          </a:bodyPr>
          <a:lstStyle/>
          <a:p>
            <a:pPr algn="l"/>
            <a:r>
              <a:rPr sz="1300" b="0" i="0">
                <a:solidFill>
                  <a:srgbClr val="323038"/>
                </a:solidFill>
                <a:latin typeface="Yu Gothic"/>
              </a:rPr>
              <a:t>■ もしものときに備え、本人が望む医療・ケアについて、本人を中心に、家族等や</a:t>
            </a:r>
          </a:p>
          <a:p>
            <a:pPr algn="l"/>
            <a:r>
              <a:rPr sz="1300" b="0" i="0">
                <a:solidFill>
                  <a:srgbClr val="323038"/>
                </a:solidFill>
                <a:latin typeface="Yu Gothic"/>
              </a:rPr>
              <a:t>    医療・ケアチームが、繰り返し話し合い、共有する取組み</a:t>
            </a:r>
          </a:p>
          <a:p>
            <a:pPr algn="l"/>
            <a:r>
              <a:rPr sz="1300" b="0" i="0">
                <a:solidFill>
                  <a:srgbClr val="323038"/>
                </a:solidFill>
                <a:latin typeface="Yu Gothic"/>
              </a:rPr>
              <a:t>■ 日本では「人生会議」という愛称で普及が図られている</a:t>
            </a:r>
          </a:p>
        </p:txBody>
      </p:sp>
      <p:sp>
        <p:nvSpPr>
          <p:cNvPr id="12" name="Rectangle 11"/>
          <p:cNvSpPr/>
          <p:nvPr/>
        </p:nvSpPr>
        <p:spPr>
          <a:xfrm>
            <a:off x="432000" y="2880000"/>
            <a:ext cx="5580000" cy="360000"/>
          </a:xfrm>
          <a:prstGeom prst="rect">
            <a:avLst/>
          </a:prstGeom>
          <a:solidFill>
            <a:srgbClr val="6057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04000" y="2916000"/>
            <a:ext cx="5436000" cy="288000"/>
          </a:xfrm>
          <a:prstGeom prst="rect">
            <a:avLst/>
          </a:prstGeom>
          <a:noFill/>
        </p:spPr>
        <p:txBody>
          <a:bodyPr wrap="square" lIns="36000" rIns="36000" tIns="18000" bIns="18000" anchor="ctr">
            <a:spAutoFit/>
          </a:bodyPr>
          <a:lstStyle/>
          <a:p>
            <a:pPr algn="l"/>
            <a:r>
              <a:rPr sz="1400" b="1" i="0">
                <a:solidFill>
                  <a:srgbClr val="FFFFFF"/>
                </a:solidFill>
                <a:latin typeface="Yu Gothic"/>
              </a:rPr>
              <a:t>ACPで大切にすること</a:t>
            </a:r>
          </a:p>
        </p:txBody>
      </p:sp>
      <p:sp>
        <p:nvSpPr>
          <p:cNvPr id="14" name="Rectangle 13"/>
          <p:cNvSpPr/>
          <p:nvPr/>
        </p:nvSpPr>
        <p:spPr>
          <a:xfrm>
            <a:off x="432000" y="3240000"/>
            <a:ext cx="5580000" cy="1440000"/>
          </a:xfrm>
          <a:prstGeom prst="rect">
            <a:avLst/>
          </a:prstGeom>
          <a:solidFill>
            <a:srgbClr val="EAE8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40000" y="3276000"/>
            <a:ext cx="5364000" cy="1404000"/>
          </a:xfrm>
          <a:prstGeom prst="rect">
            <a:avLst/>
          </a:prstGeom>
          <a:noFill/>
        </p:spPr>
        <p:txBody>
          <a:bodyPr wrap="square" lIns="36000" rIns="36000" tIns="18000" bIns="18000" anchor="t">
            <a:spAutoFit/>
          </a:bodyPr>
          <a:lstStyle/>
          <a:p>
            <a:pPr algn="l"/>
            <a:r>
              <a:rPr sz="1200" b="0" i="0">
                <a:solidFill>
                  <a:srgbClr val="323038"/>
                </a:solidFill>
                <a:latin typeface="Yu Gothic"/>
              </a:rPr>
              <a:t>■ 主役は「本人」 ― 本人の価値観・希望</a:t>
            </a:r>
          </a:p>
          <a:p>
            <a:pPr algn="l"/>
            <a:r>
              <a:rPr sz="1200" b="0" i="0">
                <a:solidFill>
                  <a:srgbClr val="323038"/>
                </a:solidFill>
                <a:latin typeface="Yu Gothic"/>
              </a:rPr>
              <a:t/>
            </a:r>
          </a:p>
          <a:p>
            <a:pPr algn="l"/>
            <a:r>
              <a:rPr sz="1200" b="0" i="0">
                <a:solidFill>
                  <a:srgbClr val="323038"/>
                </a:solidFill>
                <a:latin typeface="Yu Gothic"/>
              </a:rPr>
              <a:t>■ 家族等・医療ケアチームと「共に」話す</a:t>
            </a:r>
          </a:p>
          <a:p>
            <a:pPr algn="l"/>
            <a:r>
              <a:rPr sz="1200" b="0" i="0">
                <a:solidFill>
                  <a:srgbClr val="323038"/>
                </a:solidFill>
                <a:latin typeface="Yu Gothic"/>
              </a:rPr>
              <a:t/>
            </a:r>
          </a:p>
          <a:p>
            <a:pPr algn="l"/>
            <a:r>
              <a:rPr sz="1200" b="0" i="0">
                <a:solidFill>
                  <a:srgbClr val="323038"/>
                </a:solidFill>
                <a:latin typeface="Yu Gothic"/>
              </a:rPr>
              <a:t>■ 一度ではなく「繰り返し」話し合う</a:t>
            </a:r>
          </a:p>
          <a:p>
            <a:pPr algn="l"/>
            <a:r>
              <a:rPr sz="1200" b="0" i="0">
                <a:solidFill>
                  <a:srgbClr val="323038"/>
                </a:solidFill>
                <a:latin typeface="Yu Gothic"/>
              </a:rPr>
              <a:t/>
            </a:r>
          </a:p>
          <a:p>
            <a:pPr algn="l"/>
            <a:r>
              <a:rPr sz="1200" b="0" i="0">
                <a:solidFill>
                  <a:srgbClr val="323038"/>
                </a:solidFill>
                <a:latin typeface="Yu Gothic"/>
              </a:rPr>
              <a:t>■ 話し合った内容を「共有」する</a:t>
            </a:r>
          </a:p>
          <a:p>
            <a:pPr algn="l"/>
            <a:r>
              <a:rPr sz="1200" b="0" i="0">
                <a:solidFill>
                  <a:srgbClr val="323038"/>
                </a:solidFill>
                <a:latin typeface="Yu Gothic"/>
              </a:rPr>
              <a:t/>
            </a:r>
          </a:p>
          <a:p>
            <a:pPr algn="l"/>
            <a:r>
              <a:rPr sz="1200" b="0" i="0">
                <a:solidFill>
                  <a:srgbClr val="323038"/>
                </a:solidFill>
                <a:latin typeface="Yu Gothic"/>
              </a:rPr>
              <a:t>■ 「決めること」より「話し合う過程」</a:t>
            </a:r>
          </a:p>
        </p:txBody>
      </p:sp>
      <p:sp>
        <p:nvSpPr>
          <p:cNvPr id="16" name="Rectangle 15"/>
          <p:cNvSpPr/>
          <p:nvPr/>
        </p:nvSpPr>
        <p:spPr>
          <a:xfrm>
            <a:off x="6300000" y="2880000"/>
            <a:ext cx="5400000" cy="360000"/>
          </a:xfrm>
          <a:prstGeom prst="rect">
            <a:avLst/>
          </a:prstGeom>
          <a:solidFill>
            <a:srgbClr val="C48C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372000" y="2916000"/>
            <a:ext cx="5256000" cy="288000"/>
          </a:xfrm>
          <a:prstGeom prst="rect">
            <a:avLst/>
          </a:prstGeom>
          <a:noFill/>
        </p:spPr>
        <p:txBody>
          <a:bodyPr wrap="square" lIns="36000" rIns="36000" tIns="18000" bIns="18000" anchor="ctr">
            <a:spAutoFit/>
          </a:bodyPr>
          <a:lstStyle/>
          <a:p>
            <a:pPr algn="l"/>
            <a:r>
              <a:rPr sz="1400" b="1" i="0">
                <a:solidFill>
                  <a:srgbClr val="FFFFFF"/>
                </a:solidFill>
                <a:latin typeface="Yu Gothic"/>
              </a:rPr>
              <a:t>ACPは「書類づくり」ではない</a:t>
            </a:r>
          </a:p>
        </p:txBody>
      </p:sp>
      <p:sp>
        <p:nvSpPr>
          <p:cNvPr id="18" name="Rectangle 17"/>
          <p:cNvSpPr/>
          <p:nvPr/>
        </p:nvSpPr>
        <p:spPr>
          <a:xfrm>
            <a:off x="6300000" y="3240000"/>
            <a:ext cx="5400000" cy="1440000"/>
          </a:xfrm>
          <a:prstGeom prst="rect">
            <a:avLst/>
          </a:prstGeom>
          <a:solidFill>
            <a:srgbClr val="F9F0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8000" y="3276000"/>
            <a:ext cx="5184000" cy="1404000"/>
          </a:xfrm>
          <a:prstGeom prst="rect">
            <a:avLst/>
          </a:prstGeom>
          <a:noFill/>
        </p:spPr>
        <p:txBody>
          <a:bodyPr wrap="square" lIns="36000" rIns="36000" tIns="18000" bIns="18000" anchor="t">
            <a:spAutoFit/>
          </a:bodyPr>
          <a:lstStyle/>
          <a:p>
            <a:pPr algn="l"/>
            <a:r>
              <a:rPr sz="1200" b="0" i="0">
                <a:solidFill>
                  <a:srgbClr val="323038"/>
                </a:solidFill>
                <a:latin typeface="Yu Gothic"/>
              </a:rPr>
              <a:t>■ 事前指示書を書かせることが目的ではない</a:t>
            </a:r>
          </a:p>
          <a:p>
            <a:pPr algn="l"/>
            <a:r>
              <a:rPr sz="1200" b="0" i="0">
                <a:solidFill>
                  <a:srgbClr val="323038"/>
                </a:solidFill>
                <a:latin typeface="Yu Gothic"/>
              </a:rPr>
              <a:t/>
            </a:r>
          </a:p>
          <a:p>
            <a:pPr algn="l"/>
            <a:r>
              <a:rPr sz="1200" b="0" i="0">
                <a:solidFill>
                  <a:srgbClr val="323038"/>
                </a:solidFill>
                <a:latin typeface="Yu Gothic"/>
              </a:rPr>
              <a:t>■ 「対話のプロセス」そのものに意味がある</a:t>
            </a:r>
          </a:p>
          <a:p>
            <a:pPr algn="l"/>
            <a:r>
              <a:rPr sz="1200" b="0" i="0">
                <a:solidFill>
                  <a:srgbClr val="323038"/>
                </a:solidFill>
                <a:latin typeface="Yu Gothic"/>
              </a:rPr>
              <a:t/>
            </a:r>
          </a:p>
          <a:p>
            <a:pPr algn="l"/>
            <a:r>
              <a:rPr sz="1200" b="0" i="0">
                <a:solidFill>
                  <a:srgbClr val="323038"/>
                </a:solidFill>
                <a:latin typeface="Yu Gothic"/>
              </a:rPr>
              <a:t>■ 本人が自分の思いに気づき、</a:t>
            </a:r>
          </a:p>
          <a:p>
            <a:pPr algn="l"/>
            <a:r>
              <a:rPr sz="1200" b="0" i="0">
                <a:solidFill>
                  <a:srgbClr val="323038"/>
                </a:solidFill>
                <a:latin typeface="Yu Gothic"/>
              </a:rPr>
              <a:t>   大切な人と分かち合うことが核心</a:t>
            </a:r>
          </a:p>
          <a:p>
            <a:pPr algn="l"/>
            <a:r>
              <a:rPr sz="1200" b="0" i="0">
                <a:solidFill>
                  <a:srgbClr val="323038"/>
                </a:solidFill>
                <a:latin typeface="Yu Gothic"/>
              </a:rPr>
              <a:t/>
            </a:r>
          </a:p>
          <a:p>
            <a:pPr algn="l"/>
            <a:r>
              <a:rPr sz="1200" b="0" i="0">
                <a:solidFill>
                  <a:srgbClr val="323038"/>
                </a:solidFill>
                <a:latin typeface="Yu Gothic"/>
              </a:rPr>
              <a:t>▶ 様式を埋めることをゴールにしない</a:t>
            </a:r>
          </a:p>
        </p:txBody>
      </p:sp>
      <p:sp>
        <p:nvSpPr>
          <p:cNvPr id="20" name="TextBox 19"/>
          <p:cNvSpPr txBox="1"/>
          <p:nvPr/>
        </p:nvSpPr>
        <p:spPr>
          <a:xfrm>
            <a:off x="432000" y="4860000"/>
            <a:ext cx="11328119" cy="432000"/>
          </a:xfrm>
          <a:prstGeom prst="rect">
            <a:avLst/>
          </a:prstGeom>
          <a:noFill/>
        </p:spPr>
        <p:txBody>
          <a:bodyPr wrap="square" lIns="36000" rIns="36000" tIns="18000" bIns="18000" anchor="t">
            <a:spAutoFit/>
          </a:bodyPr>
          <a:lstStyle/>
          <a:p>
            <a:pPr algn="l"/>
            <a:r>
              <a:rPr sz="1300" b="1" i="0">
                <a:solidFill>
                  <a:srgbClr val="423A5E"/>
                </a:solidFill>
                <a:latin typeface="Yu Gothic"/>
              </a:rPr>
              <a:t>▶ ACPは「最終段階だけの話」ではない。元気なうちから始められる、人生の対話。</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119" cy="576000"/>
          </a:xfrm>
          <a:prstGeom prst="rect">
            <a:avLst/>
          </a:prstGeom>
          <a:solidFill>
            <a:srgbClr val="423A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88000" y="90000"/>
            <a:ext cx="7920000" cy="216000"/>
          </a:xfrm>
          <a:prstGeom prst="rect">
            <a:avLst/>
          </a:prstGeom>
          <a:noFill/>
        </p:spPr>
        <p:txBody>
          <a:bodyPr wrap="square" lIns="36000" rIns="36000" tIns="18000" bIns="18000" anchor="t">
            <a:spAutoFit/>
          </a:bodyPr>
          <a:lstStyle/>
          <a:p>
            <a:pPr algn="l"/>
            <a:r>
              <a:rPr sz="1100" b="1" i="0">
                <a:solidFill>
                  <a:srgbClr val="FFFFFF"/>
                </a:solidFill>
                <a:latin typeface="Yu Gothic"/>
              </a:rPr>
              <a:t>2. ACPの理解</a:t>
            </a:r>
          </a:p>
        </p:txBody>
      </p:sp>
      <p:sp>
        <p:nvSpPr>
          <p:cNvPr id="4" name="TextBox 3"/>
          <p:cNvSpPr txBox="1"/>
          <p:nvPr/>
        </p:nvSpPr>
        <p:spPr>
          <a:xfrm>
            <a:off x="288000" y="684000"/>
            <a:ext cx="11616119" cy="468000"/>
          </a:xfrm>
          <a:prstGeom prst="rect">
            <a:avLst/>
          </a:prstGeom>
          <a:noFill/>
        </p:spPr>
        <p:txBody>
          <a:bodyPr wrap="square" lIns="36000" rIns="36000" tIns="18000" bIns="18000" anchor="t">
            <a:spAutoFit/>
          </a:bodyPr>
          <a:lstStyle/>
          <a:p>
            <a:pPr algn="l"/>
            <a:r>
              <a:rPr sz="2300" b="1" i="0">
                <a:solidFill>
                  <a:srgbClr val="423A5E"/>
                </a:solidFill>
                <a:latin typeface="Yu Gothic"/>
              </a:rPr>
              <a:t>意思決定プロセスのガイドライン ― よりどころ</a:t>
            </a:r>
          </a:p>
        </p:txBody>
      </p:sp>
      <p:sp>
        <p:nvSpPr>
          <p:cNvPr id="5" name="Rectangle 4"/>
          <p:cNvSpPr/>
          <p:nvPr/>
        </p:nvSpPr>
        <p:spPr>
          <a:xfrm>
            <a:off x="288000" y="1152000"/>
            <a:ext cx="900000" cy="43200"/>
          </a:xfrm>
          <a:prstGeom prst="rect">
            <a:avLst/>
          </a:prstGeom>
          <a:solidFill>
            <a:srgbClr val="C48C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288000" y="6570000"/>
            <a:ext cx="9360000" cy="180000"/>
          </a:xfrm>
          <a:prstGeom prst="rect">
            <a:avLst/>
          </a:prstGeom>
          <a:noFill/>
        </p:spPr>
        <p:txBody>
          <a:bodyPr wrap="square" lIns="36000" rIns="36000" tIns="18000" bIns="18000" anchor="t">
            <a:spAutoFit/>
          </a:bodyPr>
          <a:lstStyle/>
          <a:p>
            <a:pPr algn="l"/>
            <a:r>
              <a:rPr sz="900" b="0" i="0">
                <a:solidFill>
                  <a:srgbClr val="8C83A6"/>
                </a:solidFill>
                <a:latin typeface="Yu Gothic"/>
              </a:rPr>
              <a:t>主任CM研修 / 看取り期のケアマネジメントとACPの支援技術  ※算定要件は最新の告示・通知をご確認ください</a:t>
            </a:r>
          </a:p>
        </p:txBody>
      </p:sp>
      <p:sp>
        <p:nvSpPr>
          <p:cNvPr id="7" name="TextBox 6"/>
          <p:cNvSpPr txBox="1"/>
          <p:nvPr/>
        </p:nvSpPr>
        <p:spPr>
          <a:xfrm>
            <a:off x="11112119" y="6570000"/>
            <a:ext cx="792000" cy="180000"/>
          </a:xfrm>
          <a:prstGeom prst="rect">
            <a:avLst/>
          </a:prstGeom>
          <a:noFill/>
        </p:spPr>
        <p:txBody>
          <a:bodyPr wrap="square" lIns="36000" rIns="36000" tIns="18000" bIns="18000" anchor="t">
            <a:spAutoFit/>
          </a:bodyPr>
          <a:lstStyle/>
          <a:p>
            <a:pPr algn="r"/>
            <a:r>
              <a:rPr sz="900" b="0" i="0">
                <a:solidFill>
                  <a:srgbClr val="8C83A6"/>
                </a:solidFill>
                <a:latin typeface="Yu Gothic"/>
              </a:rPr>
              <a:t>9 / 33</a:t>
            </a:r>
          </a:p>
        </p:txBody>
      </p:sp>
      <p:sp>
        <p:nvSpPr>
          <p:cNvPr id="8" name="Rectangle 7"/>
          <p:cNvSpPr/>
          <p:nvPr/>
        </p:nvSpPr>
        <p:spPr>
          <a:xfrm>
            <a:off x="432000" y="1548000"/>
            <a:ext cx="11304000" cy="360000"/>
          </a:xfrm>
          <a:prstGeom prst="rect">
            <a:avLst/>
          </a:prstGeom>
          <a:solidFill>
            <a:srgbClr val="423A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04000" y="1584000"/>
            <a:ext cx="11160000" cy="288000"/>
          </a:xfrm>
          <a:prstGeom prst="rect">
            <a:avLst/>
          </a:prstGeom>
          <a:noFill/>
        </p:spPr>
        <p:txBody>
          <a:bodyPr wrap="square" lIns="36000" rIns="36000" tIns="18000" bIns="18000" anchor="ctr">
            <a:spAutoFit/>
          </a:bodyPr>
          <a:lstStyle/>
          <a:p>
            <a:pPr algn="l"/>
            <a:r>
              <a:rPr sz="1400" b="1" i="0">
                <a:solidFill>
                  <a:srgbClr val="FFFFFF"/>
                </a:solidFill>
                <a:latin typeface="Yu Gothic"/>
              </a:rPr>
              <a:t>厚労省「人生の最終段階における医療・ケアの決定プロセスに関するガイドライン」</a:t>
            </a:r>
          </a:p>
        </p:txBody>
      </p:sp>
      <p:sp>
        <p:nvSpPr>
          <p:cNvPr id="10" name="Rectangle 9"/>
          <p:cNvSpPr/>
          <p:nvPr/>
        </p:nvSpPr>
        <p:spPr>
          <a:xfrm>
            <a:off x="432000" y="1908000"/>
            <a:ext cx="11304000" cy="612000"/>
          </a:xfrm>
          <a:prstGeom prst="rect">
            <a:avLst/>
          </a:prstGeom>
          <a:solidFill>
            <a:srgbClr val="EAE8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40000" y="1944000"/>
            <a:ext cx="11088000" cy="576000"/>
          </a:xfrm>
          <a:prstGeom prst="rect">
            <a:avLst/>
          </a:prstGeom>
          <a:noFill/>
        </p:spPr>
        <p:txBody>
          <a:bodyPr wrap="square" lIns="36000" rIns="36000" tIns="18000" bIns="18000" anchor="t">
            <a:spAutoFit/>
          </a:bodyPr>
          <a:lstStyle/>
          <a:p>
            <a:pPr algn="l"/>
            <a:r>
              <a:rPr sz="1200" b="0" i="0">
                <a:solidFill>
                  <a:srgbClr val="323038"/>
                </a:solidFill>
                <a:latin typeface="Yu Gothic"/>
              </a:rPr>
              <a:t>人生の最終段階の医療・ケアのあり方は、本人の意思決定を基本に進める ―</a:t>
            </a:r>
          </a:p>
          <a:p>
            <a:pPr algn="l"/>
            <a:r>
              <a:rPr sz="1200" b="0" i="0">
                <a:solidFill>
                  <a:srgbClr val="323038"/>
                </a:solidFill>
                <a:latin typeface="Yu Gothic"/>
              </a:rPr>
              <a:t>その手順と考え方を示したもの。看取り期の判断に迷ったときの「よりどころ」になる。</a:t>
            </a:r>
          </a:p>
        </p:txBody>
      </p:sp>
      <p:sp>
        <p:nvSpPr>
          <p:cNvPr id="12" name="Rectangle 11"/>
          <p:cNvSpPr/>
          <p:nvPr/>
        </p:nvSpPr>
        <p:spPr>
          <a:xfrm>
            <a:off x="444061" y="2628000"/>
            <a:ext cx="3671999" cy="612000"/>
          </a:xfrm>
          <a:prstGeom prst="rect">
            <a:avLst/>
          </a:prstGeom>
          <a:solidFill>
            <a:srgbClr val="6057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44061" y="2628000"/>
            <a:ext cx="3671999" cy="612000"/>
          </a:xfrm>
          <a:prstGeom prst="rect">
            <a:avLst/>
          </a:prstGeom>
          <a:noFill/>
        </p:spPr>
        <p:txBody>
          <a:bodyPr wrap="square" lIns="36000" rIns="36000" tIns="18000" bIns="18000" anchor="ctr">
            <a:spAutoFit/>
          </a:bodyPr>
          <a:lstStyle/>
          <a:p>
            <a:pPr algn="ctr"/>
            <a:r>
              <a:rPr sz="1400" b="1" i="0">
                <a:solidFill>
                  <a:srgbClr val="FFFFFF"/>
                </a:solidFill>
                <a:latin typeface="Yu Gothic"/>
              </a:rPr>
              <a:t>本人の意思が</a:t>
            </a:r>
          </a:p>
          <a:p>
            <a:pPr algn="ctr"/>
            <a:r>
              <a:rPr sz="1400" b="1" i="0">
                <a:solidFill>
                  <a:srgbClr val="FFFFFF"/>
                </a:solidFill>
                <a:latin typeface="Yu Gothic"/>
              </a:rPr>
              <a:t>確認できる場合</a:t>
            </a:r>
          </a:p>
        </p:txBody>
      </p:sp>
      <p:sp>
        <p:nvSpPr>
          <p:cNvPr id="14" name="Rectangle 13"/>
          <p:cNvSpPr/>
          <p:nvPr/>
        </p:nvSpPr>
        <p:spPr>
          <a:xfrm>
            <a:off x="444061" y="3240000"/>
            <a:ext cx="3671999" cy="1908000"/>
          </a:xfrm>
          <a:prstGeom prst="rect">
            <a:avLst/>
          </a:prstGeom>
          <a:solidFill>
            <a:srgbClr val="EAE8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88061" y="3348000"/>
            <a:ext cx="3383999" cy="1692001"/>
          </a:xfrm>
          <a:prstGeom prst="rect">
            <a:avLst/>
          </a:prstGeom>
          <a:noFill/>
        </p:spPr>
        <p:txBody>
          <a:bodyPr wrap="square" lIns="36000" rIns="36000" tIns="18000" bIns="18000" anchor="t">
            <a:spAutoFit/>
          </a:bodyPr>
          <a:lstStyle/>
          <a:p>
            <a:pPr algn="l">
              <a:lnSpc>
                <a:spcPct val="150000"/>
              </a:lnSpc>
            </a:pPr>
            <a:r>
              <a:rPr sz="1100" b="0" i="0">
                <a:solidFill>
                  <a:srgbClr val="323038"/>
                </a:solidFill>
                <a:latin typeface="Yu Gothic"/>
              </a:rPr>
              <a:t>・本人の意思決定を基本とする</a:t>
            </a:r>
          </a:p>
          <a:p>
            <a:pPr algn="l">
              <a:lnSpc>
                <a:spcPct val="150000"/>
              </a:lnSpc>
            </a:pPr>
            <a:r>
              <a:rPr sz="1100" b="0" i="0">
                <a:solidFill>
                  <a:srgbClr val="323038"/>
                </a:solidFill>
                <a:latin typeface="Yu Gothic"/>
              </a:rPr>
              <a:t>・本人と医療ケアチームが</a:t>
            </a:r>
          </a:p>
          <a:p>
            <a:pPr algn="l">
              <a:lnSpc>
                <a:spcPct val="150000"/>
              </a:lnSpc>
            </a:pPr>
            <a:r>
              <a:rPr sz="1100" b="0" i="0">
                <a:solidFill>
                  <a:srgbClr val="323038"/>
                </a:solidFill>
                <a:latin typeface="Yu Gothic"/>
              </a:rPr>
              <a:t>  話し合いを繰り返す</a:t>
            </a:r>
          </a:p>
          <a:p>
            <a:pPr algn="l">
              <a:lnSpc>
                <a:spcPct val="150000"/>
              </a:lnSpc>
            </a:pPr>
            <a:r>
              <a:rPr sz="1100" b="0" i="0">
                <a:solidFill>
                  <a:srgbClr val="323038"/>
                </a:solidFill>
                <a:latin typeface="Yu Gothic"/>
              </a:rPr>
              <a:t>・本人が意思を伝えられるうちに</a:t>
            </a:r>
          </a:p>
        </p:txBody>
      </p:sp>
      <p:sp>
        <p:nvSpPr>
          <p:cNvPr id="16" name="Rectangle 15"/>
          <p:cNvSpPr/>
          <p:nvPr/>
        </p:nvSpPr>
        <p:spPr>
          <a:xfrm>
            <a:off x="4260060" y="2628000"/>
            <a:ext cx="3671999" cy="612000"/>
          </a:xfrm>
          <a:prstGeom prst="rect">
            <a:avLst/>
          </a:prstGeom>
          <a:solidFill>
            <a:srgbClr val="A85C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260060" y="2628000"/>
            <a:ext cx="3671999" cy="612000"/>
          </a:xfrm>
          <a:prstGeom prst="rect">
            <a:avLst/>
          </a:prstGeom>
          <a:noFill/>
        </p:spPr>
        <p:txBody>
          <a:bodyPr wrap="square" lIns="36000" rIns="36000" tIns="18000" bIns="18000" anchor="ctr">
            <a:spAutoFit/>
          </a:bodyPr>
          <a:lstStyle/>
          <a:p>
            <a:pPr algn="ctr"/>
            <a:r>
              <a:rPr sz="1400" b="1" i="0">
                <a:solidFill>
                  <a:srgbClr val="FFFFFF"/>
                </a:solidFill>
                <a:latin typeface="Yu Gothic"/>
              </a:rPr>
              <a:t>本人の意思が</a:t>
            </a:r>
          </a:p>
          <a:p>
            <a:pPr algn="ctr"/>
            <a:r>
              <a:rPr sz="1400" b="1" i="0">
                <a:solidFill>
                  <a:srgbClr val="FFFFFF"/>
                </a:solidFill>
                <a:latin typeface="Yu Gothic"/>
              </a:rPr>
              <a:t>確認できない場合</a:t>
            </a:r>
          </a:p>
        </p:txBody>
      </p:sp>
      <p:sp>
        <p:nvSpPr>
          <p:cNvPr id="18" name="Rectangle 17"/>
          <p:cNvSpPr/>
          <p:nvPr/>
        </p:nvSpPr>
        <p:spPr>
          <a:xfrm>
            <a:off x="4260060" y="3240000"/>
            <a:ext cx="3671999" cy="1908000"/>
          </a:xfrm>
          <a:prstGeom prst="rect">
            <a:avLst/>
          </a:prstGeom>
          <a:solidFill>
            <a:srgbClr val="EAE8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404060" y="3348000"/>
            <a:ext cx="3383999" cy="1692001"/>
          </a:xfrm>
          <a:prstGeom prst="rect">
            <a:avLst/>
          </a:prstGeom>
          <a:noFill/>
        </p:spPr>
        <p:txBody>
          <a:bodyPr wrap="square" lIns="36000" rIns="36000" tIns="18000" bIns="18000" anchor="t">
            <a:spAutoFit/>
          </a:bodyPr>
          <a:lstStyle/>
          <a:p>
            <a:pPr algn="l">
              <a:lnSpc>
                <a:spcPct val="150000"/>
              </a:lnSpc>
            </a:pPr>
            <a:r>
              <a:rPr sz="1100" b="0" i="0">
                <a:solidFill>
                  <a:srgbClr val="323038"/>
                </a:solidFill>
                <a:latin typeface="Yu Gothic"/>
              </a:rPr>
              <a:t>・家族等が本人の意思を推定</a:t>
            </a:r>
          </a:p>
          <a:p>
            <a:pPr algn="l">
              <a:lnSpc>
                <a:spcPct val="150000"/>
              </a:lnSpc>
            </a:pPr>
            <a:r>
              <a:rPr sz="1100" b="0" i="0">
                <a:solidFill>
                  <a:srgbClr val="323038"/>
                </a:solidFill>
                <a:latin typeface="Yu Gothic"/>
              </a:rPr>
              <a:t>  → 推定意思を尊重</a:t>
            </a:r>
          </a:p>
          <a:p>
            <a:pPr algn="l">
              <a:lnSpc>
                <a:spcPct val="150000"/>
              </a:lnSpc>
            </a:pPr>
            <a:r>
              <a:rPr sz="1100" b="0" i="0">
                <a:solidFill>
                  <a:srgbClr val="323038"/>
                </a:solidFill>
                <a:latin typeface="Yu Gothic"/>
              </a:rPr>
              <a:t>・推定できない場合は本人にとって</a:t>
            </a:r>
          </a:p>
          <a:p>
            <a:pPr algn="l">
              <a:lnSpc>
                <a:spcPct val="150000"/>
              </a:lnSpc>
            </a:pPr>
            <a:r>
              <a:rPr sz="1100" b="0" i="0">
                <a:solidFill>
                  <a:srgbClr val="323038"/>
                </a:solidFill>
                <a:latin typeface="Yu Gothic"/>
              </a:rPr>
              <a:t>  最善の方針を、家族等とチームで</a:t>
            </a:r>
          </a:p>
        </p:txBody>
      </p:sp>
      <p:sp>
        <p:nvSpPr>
          <p:cNvPr id="20" name="Rectangle 19"/>
          <p:cNvSpPr/>
          <p:nvPr/>
        </p:nvSpPr>
        <p:spPr>
          <a:xfrm>
            <a:off x="8076059" y="2628000"/>
            <a:ext cx="3671999" cy="612000"/>
          </a:xfrm>
          <a:prstGeom prst="rect">
            <a:avLst/>
          </a:prstGeom>
          <a:solidFill>
            <a:srgbClr val="527C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076059" y="2628000"/>
            <a:ext cx="3671999" cy="612000"/>
          </a:xfrm>
          <a:prstGeom prst="rect">
            <a:avLst/>
          </a:prstGeom>
          <a:noFill/>
        </p:spPr>
        <p:txBody>
          <a:bodyPr wrap="square" lIns="36000" rIns="36000" tIns="18000" bIns="18000" anchor="ctr">
            <a:spAutoFit/>
          </a:bodyPr>
          <a:lstStyle/>
          <a:p>
            <a:pPr algn="ctr"/>
            <a:r>
              <a:rPr sz="1400" b="1" i="0">
                <a:solidFill>
                  <a:srgbClr val="FFFFFF"/>
                </a:solidFill>
                <a:latin typeface="Yu Gothic"/>
              </a:rPr>
              <a:t>共通して</a:t>
            </a:r>
          </a:p>
          <a:p>
            <a:pPr algn="ctr"/>
            <a:r>
              <a:rPr sz="1400" b="1" i="0">
                <a:solidFill>
                  <a:srgbClr val="FFFFFF"/>
                </a:solidFill>
                <a:latin typeface="Yu Gothic"/>
              </a:rPr>
              <a:t>大切なこと</a:t>
            </a:r>
          </a:p>
        </p:txBody>
      </p:sp>
      <p:sp>
        <p:nvSpPr>
          <p:cNvPr id="22" name="Rectangle 21"/>
          <p:cNvSpPr/>
          <p:nvPr/>
        </p:nvSpPr>
        <p:spPr>
          <a:xfrm>
            <a:off x="8076059" y="3240000"/>
            <a:ext cx="3671999" cy="1908000"/>
          </a:xfrm>
          <a:prstGeom prst="rect">
            <a:avLst/>
          </a:prstGeom>
          <a:solidFill>
            <a:srgbClr val="EAE8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220059" y="3348000"/>
            <a:ext cx="3383999" cy="1692001"/>
          </a:xfrm>
          <a:prstGeom prst="rect">
            <a:avLst/>
          </a:prstGeom>
          <a:noFill/>
        </p:spPr>
        <p:txBody>
          <a:bodyPr wrap="square" lIns="36000" rIns="36000" tIns="18000" bIns="18000" anchor="t">
            <a:spAutoFit/>
          </a:bodyPr>
          <a:lstStyle/>
          <a:p>
            <a:pPr algn="l">
              <a:lnSpc>
                <a:spcPct val="150000"/>
              </a:lnSpc>
            </a:pPr>
            <a:r>
              <a:rPr sz="1100" b="0" i="0">
                <a:solidFill>
                  <a:srgbClr val="323038"/>
                </a:solidFill>
                <a:latin typeface="Yu Gothic"/>
              </a:rPr>
              <a:t>・複数の専門職からなるチームで</a:t>
            </a:r>
          </a:p>
          <a:p>
            <a:pPr algn="l">
              <a:lnSpc>
                <a:spcPct val="150000"/>
              </a:lnSpc>
            </a:pPr>
            <a:r>
              <a:rPr sz="1100" b="0" i="0">
                <a:solidFill>
                  <a:srgbClr val="323038"/>
                </a:solidFill>
                <a:latin typeface="Yu Gothic"/>
              </a:rPr>
              <a:t>・話し合いの内容は文書にまとめ</a:t>
            </a:r>
          </a:p>
          <a:p>
            <a:pPr algn="l">
              <a:lnSpc>
                <a:spcPct val="150000"/>
              </a:lnSpc>
            </a:pPr>
            <a:r>
              <a:rPr sz="1100" b="0" i="0">
                <a:solidFill>
                  <a:srgbClr val="323038"/>
                </a:solidFill>
                <a:latin typeface="Yu Gothic"/>
              </a:rPr>
              <a:t>  共有する</a:t>
            </a:r>
          </a:p>
          <a:p>
            <a:pPr algn="l">
              <a:lnSpc>
                <a:spcPct val="150000"/>
              </a:lnSpc>
            </a:pPr>
            <a:r>
              <a:rPr sz="1100" b="0" i="0">
                <a:solidFill>
                  <a:srgbClr val="323038"/>
                </a:solidFill>
                <a:latin typeface="Yu Gothic"/>
              </a:rPr>
              <a:t>・心身の状態変化に応じて繰り返す</a:t>
            </a:r>
          </a:p>
        </p:txBody>
      </p:sp>
      <p:sp>
        <p:nvSpPr>
          <p:cNvPr id="24" name="Rectangle 23"/>
          <p:cNvSpPr/>
          <p:nvPr/>
        </p:nvSpPr>
        <p:spPr>
          <a:xfrm>
            <a:off x="432000" y="5292000"/>
            <a:ext cx="11304000" cy="360000"/>
          </a:xfrm>
          <a:prstGeom prst="rect">
            <a:avLst/>
          </a:prstGeom>
          <a:solidFill>
            <a:srgbClr val="C48C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04000" y="5328000"/>
            <a:ext cx="11160000" cy="288000"/>
          </a:xfrm>
          <a:prstGeom prst="rect">
            <a:avLst/>
          </a:prstGeom>
          <a:noFill/>
        </p:spPr>
        <p:txBody>
          <a:bodyPr wrap="square" lIns="36000" rIns="36000" tIns="18000" bIns="18000" anchor="ctr">
            <a:spAutoFit/>
          </a:bodyPr>
          <a:lstStyle/>
          <a:p>
            <a:pPr algn="l"/>
            <a:r>
              <a:rPr sz="1400" b="1" i="0">
                <a:solidFill>
                  <a:srgbClr val="FFFFFF"/>
                </a:solidFill>
                <a:latin typeface="Yu Gothic"/>
              </a:rPr>
              <a:t>ガイドラインの根底にある考え方</a:t>
            </a:r>
          </a:p>
        </p:txBody>
      </p:sp>
      <p:sp>
        <p:nvSpPr>
          <p:cNvPr id="26" name="Rectangle 25"/>
          <p:cNvSpPr/>
          <p:nvPr/>
        </p:nvSpPr>
        <p:spPr>
          <a:xfrm>
            <a:off x="432000" y="5652000"/>
            <a:ext cx="11304000" cy="467999"/>
          </a:xfrm>
          <a:prstGeom prst="rect">
            <a:avLst/>
          </a:prstGeom>
          <a:solidFill>
            <a:srgbClr val="F9F0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540000" y="5688000"/>
            <a:ext cx="11088000" cy="431999"/>
          </a:xfrm>
          <a:prstGeom prst="rect">
            <a:avLst/>
          </a:prstGeom>
          <a:noFill/>
        </p:spPr>
        <p:txBody>
          <a:bodyPr wrap="square" lIns="36000" rIns="36000" tIns="18000" bIns="18000" anchor="t">
            <a:spAutoFit/>
          </a:bodyPr>
          <a:lstStyle/>
          <a:p>
            <a:pPr algn="l"/>
            <a:r>
              <a:rPr sz="1200" b="0" i="0">
                <a:solidFill>
                  <a:srgbClr val="323038"/>
                </a:solidFill>
                <a:latin typeface="Yu Gothic"/>
              </a:rPr>
              <a:t>■ 「誰かが一人で決める」のではなく「本人を中心に、チームで、話し合って決める」</a:t>
            </a:r>
          </a:p>
          <a:p>
            <a:pPr algn="l"/>
            <a:r>
              <a:rPr sz="1200" b="0" i="0">
                <a:solidFill>
                  <a:srgbClr val="323038"/>
                </a:solidFill>
                <a:latin typeface="Yu Gothic"/>
              </a:rPr>
              <a:t>■ 第7弾で学んだ「意思決定支援」が、人生の最終段階でも一貫した土台になる</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119" cy="576000"/>
          </a:xfrm>
          <a:prstGeom prst="rect">
            <a:avLst/>
          </a:prstGeom>
          <a:solidFill>
            <a:srgbClr val="423A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88000" y="90000"/>
            <a:ext cx="7920000" cy="216000"/>
          </a:xfrm>
          <a:prstGeom prst="rect">
            <a:avLst/>
          </a:prstGeom>
          <a:noFill/>
        </p:spPr>
        <p:txBody>
          <a:bodyPr wrap="square" lIns="36000" rIns="36000" tIns="18000" bIns="18000" anchor="t">
            <a:spAutoFit/>
          </a:bodyPr>
          <a:lstStyle/>
          <a:p>
            <a:pPr algn="l"/>
            <a:r>
              <a:rPr sz="1100" b="1" i="0">
                <a:solidFill>
                  <a:srgbClr val="FFFFFF"/>
                </a:solidFill>
                <a:latin typeface="Yu Gothic"/>
              </a:rPr>
              <a:t>2. ACPの理解</a:t>
            </a:r>
          </a:p>
        </p:txBody>
      </p:sp>
      <p:sp>
        <p:nvSpPr>
          <p:cNvPr id="4" name="TextBox 3"/>
          <p:cNvSpPr txBox="1"/>
          <p:nvPr/>
        </p:nvSpPr>
        <p:spPr>
          <a:xfrm>
            <a:off x="288000" y="684000"/>
            <a:ext cx="11616119" cy="468000"/>
          </a:xfrm>
          <a:prstGeom prst="rect">
            <a:avLst/>
          </a:prstGeom>
          <a:noFill/>
        </p:spPr>
        <p:txBody>
          <a:bodyPr wrap="square" lIns="36000" rIns="36000" tIns="18000" bIns="18000" anchor="t">
            <a:spAutoFit/>
          </a:bodyPr>
          <a:lstStyle/>
          <a:p>
            <a:pPr algn="l"/>
            <a:r>
              <a:rPr sz="2300" b="1" i="0">
                <a:solidFill>
                  <a:srgbClr val="423A5E"/>
                </a:solidFill>
                <a:latin typeface="Yu Gothic"/>
              </a:rPr>
              <a:t>ACPをめぐる「よくある誤解」</a:t>
            </a:r>
          </a:p>
        </p:txBody>
      </p:sp>
      <p:sp>
        <p:nvSpPr>
          <p:cNvPr id="5" name="Rectangle 4"/>
          <p:cNvSpPr/>
          <p:nvPr/>
        </p:nvSpPr>
        <p:spPr>
          <a:xfrm>
            <a:off x="288000" y="1152000"/>
            <a:ext cx="900000" cy="43200"/>
          </a:xfrm>
          <a:prstGeom prst="rect">
            <a:avLst/>
          </a:prstGeom>
          <a:solidFill>
            <a:srgbClr val="C48C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288000" y="6570000"/>
            <a:ext cx="9360000" cy="180000"/>
          </a:xfrm>
          <a:prstGeom prst="rect">
            <a:avLst/>
          </a:prstGeom>
          <a:noFill/>
        </p:spPr>
        <p:txBody>
          <a:bodyPr wrap="square" lIns="36000" rIns="36000" tIns="18000" bIns="18000" anchor="t">
            <a:spAutoFit/>
          </a:bodyPr>
          <a:lstStyle/>
          <a:p>
            <a:pPr algn="l"/>
            <a:r>
              <a:rPr sz="900" b="0" i="0">
                <a:solidFill>
                  <a:srgbClr val="8C83A6"/>
                </a:solidFill>
                <a:latin typeface="Yu Gothic"/>
              </a:rPr>
              <a:t>主任CM研修 / 看取り期のケアマネジメントとACPの支援技術  ※算定要件は最新の告示・通知をご確認ください</a:t>
            </a:r>
          </a:p>
        </p:txBody>
      </p:sp>
      <p:sp>
        <p:nvSpPr>
          <p:cNvPr id="7" name="TextBox 6"/>
          <p:cNvSpPr txBox="1"/>
          <p:nvPr/>
        </p:nvSpPr>
        <p:spPr>
          <a:xfrm>
            <a:off x="11112119" y="6570000"/>
            <a:ext cx="792000" cy="180000"/>
          </a:xfrm>
          <a:prstGeom prst="rect">
            <a:avLst/>
          </a:prstGeom>
          <a:noFill/>
        </p:spPr>
        <p:txBody>
          <a:bodyPr wrap="square" lIns="36000" rIns="36000" tIns="18000" bIns="18000" anchor="t">
            <a:spAutoFit/>
          </a:bodyPr>
          <a:lstStyle/>
          <a:p>
            <a:pPr algn="r"/>
            <a:r>
              <a:rPr sz="900" b="0" i="0">
                <a:solidFill>
                  <a:srgbClr val="8C83A6"/>
                </a:solidFill>
                <a:latin typeface="Yu Gothic"/>
              </a:rPr>
              <a:t>10 / 33</a:t>
            </a:r>
          </a:p>
        </p:txBody>
      </p:sp>
      <p:sp>
        <p:nvSpPr>
          <p:cNvPr id="8" name="Rectangle 7"/>
          <p:cNvSpPr/>
          <p:nvPr/>
        </p:nvSpPr>
        <p:spPr>
          <a:xfrm>
            <a:off x="432000" y="1620000"/>
            <a:ext cx="11304000" cy="360000"/>
          </a:xfrm>
          <a:prstGeom prst="rect">
            <a:avLst/>
          </a:prstGeom>
          <a:solidFill>
            <a:srgbClr val="423A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86000" y="1656000"/>
            <a:ext cx="5544000" cy="288000"/>
          </a:xfrm>
          <a:prstGeom prst="rect">
            <a:avLst/>
          </a:prstGeom>
          <a:noFill/>
        </p:spPr>
        <p:txBody>
          <a:bodyPr wrap="square" lIns="36000" rIns="36000" tIns="18000" bIns="18000" anchor="ctr">
            <a:spAutoFit/>
          </a:bodyPr>
          <a:lstStyle/>
          <a:p>
            <a:pPr algn="ctr"/>
            <a:r>
              <a:rPr sz="1200" b="1" i="0">
                <a:solidFill>
                  <a:srgbClr val="FFFFFF"/>
                </a:solidFill>
                <a:latin typeface="Yu Gothic"/>
              </a:rPr>
              <a:t>よくある誤解</a:t>
            </a:r>
          </a:p>
        </p:txBody>
      </p:sp>
      <p:sp>
        <p:nvSpPr>
          <p:cNvPr id="10" name="TextBox 9"/>
          <p:cNvSpPr txBox="1"/>
          <p:nvPr/>
        </p:nvSpPr>
        <p:spPr>
          <a:xfrm>
            <a:off x="6138000" y="1656000"/>
            <a:ext cx="5544000" cy="288000"/>
          </a:xfrm>
          <a:prstGeom prst="rect">
            <a:avLst/>
          </a:prstGeom>
          <a:noFill/>
        </p:spPr>
        <p:txBody>
          <a:bodyPr wrap="square" lIns="36000" rIns="36000" tIns="18000" bIns="18000" anchor="ctr">
            <a:spAutoFit/>
          </a:bodyPr>
          <a:lstStyle/>
          <a:p>
            <a:pPr algn="ctr"/>
            <a:r>
              <a:rPr sz="1200" b="1" i="0">
                <a:solidFill>
                  <a:srgbClr val="FFFFFF"/>
                </a:solidFill>
                <a:latin typeface="Yu Gothic"/>
              </a:rPr>
              <a:t>本来の考え方</a:t>
            </a:r>
          </a:p>
        </p:txBody>
      </p:sp>
      <p:sp>
        <p:nvSpPr>
          <p:cNvPr id="11" name="Rectangle 10"/>
          <p:cNvSpPr/>
          <p:nvPr/>
        </p:nvSpPr>
        <p:spPr>
          <a:xfrm>
            <a:off x="432000" y="1980000"/>
            <a:ext cx="11304000" cy="666000"/>
          </a:xfrm>
          <a:prstGeom prst="rect">
            <a:avLst/>
          </a:prstGeom>
          <a:solidFill>
            <a:srgbClr val="EAE8EF"/>
          </a:solidFill>
          <a:ln>
            <a:solidFill>
              <a:srgbClr val="D7D4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86000" y="2034000"/>
            <a:ext cx="5544000" cy="558000"/>
          </a:xfrm>
          <a:prstGeom prst="rect">
            <a:avLst/>
          </a:prstGeom>
          <a:noFill/>
        </p:spPr>
        <p:txBody>
          <a:bodyPr wrap="square" lIns="36000" rIns="36000" tIns="18000" bIns="18000" anchor="ctr">
            <a:spAutoFit/>
          </a:bodyPr>
          <a:lstStyle/>
          <a:p>
            <a:pPr algn="ctr"/>
            <a:r>
              <a:rPr sz="1200" b="0" i="0">
                <a:solidFill>
                  <a:srgbClr val="B0443C"/>
                </a:solidFill>
                <a:latin typeface="Yu Gothic"/>
              </a:rPr>
              <a:t>延命治療をするか/しないかを</a:t>
            </a:r>
          </a:p>
          <a:p>
            <a:pPr algn="ctr"/>
            <a:r>
              <a:rPr sz="1200" b="0" i="0">
                <a:solidFill>
                  <a:srgbClr val="B0443C"/>
                </a:solidFill>
                <a:latin typeface="Yu Gothic"/>
              </a:rPr>
              <a:t>決めることだ</a:t>
            </a:r>
          </a:p>
        </p:txBody>
      </p:sp>
      <p:sp>
        <p:nvSpPr>
          <p:cNvPr id="13" name="TextBox 12"/>
          <p:cNvSpPr txBox="1"/>
          <p:nvPr/>
        </p:nvSpPr>
        <p:spPr>
          <a:xfrm>
            <a:off x="6138000" y="2034000"/>
            <a:ext cx="5544000" cy="558000"/>
          </a:xfrm>
          <a:prstGeom prst="rect">
            <a:avLst/>
          </a:prstGeom>
          <a:noFill/>
        </p:spPr>
        <p:txBody>
          <a:bodyPr wrap="square" lIns="36000" rIns="36000" tIns="18000" bIns="18000" anchor="ctr">
            <a:spAutoFit/>
          </a:bodyPr>
          <a:lstStyle/>
          <a:p>
            <a:pPr algn="l"/>
            <a:r>
              <a:rPr sz="1200" b="0" i="0">
                <a:solidFill>
                  <a:srgbClr val="323038"/>
                </a:solidFill>
                <a:latin typeface="Yu Gothic"/>
              </a:rPr>
              <a:t>治療の選択は一部。価値観・どう生きたいか</a:t>
            </a:r>
          </a:p>
          <a:p>
            <a:pPr algn="l"/>
            <a:r>
              <a:rPr sz="1200" b="0" i="0">
                <a:solidFill>
                  <a:srgbClr val="323038"/>
                </a:solidFill>
                <a:latin typeface="Yu Gothic"/>
              </a:rPr>
              <a:t>を語り合う、もっと広い対話</a:t>
            </a:r>
          </a:p>
        </p:txBody>
      </p:sp>
      <p:sp>
        <p:nvSpPr>
          <p:cNvPr id="14" name="Rectangle 13"/>
          <p:cNvSpPr/>
          <p:nvPr/>
        </p:nvSpPr>
        <p:spPr>
          <a:xfrm>
            <a:off x="432000" y="2646000"/>
            <a:ext cx="11304000" cy="666000"/>
          </a:xfrm>
          <a:prstGeom prst="rect">
            <a:avLst/>
          </a:prstGeom>
          <a:solidFill>
            <a:srgbClr val="FFFFFF"/>
          </a:solidFill>
          <a:ln>
            <a:solidFill>
              <a:srgbClr val="D7D4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86000" y="2700000"/>
            <a:ext cx="5544000" cy="558000"/>
          </a:xfrm>
          <a:prstGeom prst="rect">
            <a:avLst/>
          </a:prstGeom>
          <a:noFill/>
        </p:spPr>
        <p:txBody>
          <a:bodyPr wrap="square" lIns="36000" rIns="36000" tIns="18000" bIns="18000" anchor="ctr">
            <a:spAutoFit/>
          </a:bodyPr>
          <a:lstStyle/>
          <a:p>
            <a:pPr algn="ctr"/>
            <a:r>
              <a:rPr sz="1200" b="0" i="0">
                <a:solidFill>
                  <a:srgbClr val="B0443C"/>
                </a:solidFill>
                <a:latin typeface="Yu Gothic"/>
              </a:rPr>
              <a:t>一度決めたら、それで終わり</a:t>
            </a:r>
          </a:p>
        </p:txBody>
      </p:sp>
      <p:sp>
        <p:nvSpPr>
          <p:cNvPr id="16" name="TextBox 15"/>
          <p:cNvSpPr txBox="1"/>
          <p:nvPr/>
        </p:nvSpPr>
        <p:spPr>
          <a:xfrm>
            <a:off x="6138000" y="2700000"/>
            <a:ext cx="5544000" cy="558000"/>
          </a:xfrm>
          <a:prstGeom prst="rect">
            <a:avLst/>
          </a:prstGeom>
          <a:noFill/>
        </p:spPr>
        <p:txBody>
          <a:bodyPr wrap="square" lIns="36000" rIns="36000" tIns="18000" bIns="18000" anchor="ctr">
            <a:spAutoFit/>
          </a:bodyPr>
          <a:lstStyle/>
          <a:p>
            <a:pPr algn="l"/>
            <a:r>
              <a:rPr sz="1200" b="0" i="0">
                <a:solidFill>
                  <a:srgbClr val="323038"/>
                </a:solidFill>
                <a:latin typeface="Yu Gothic"/>
              </a:rPr>
              <a:t>意思は変わってよい。状態や状況に応じて</a:t>
            </a:r>
          </a:p>
          <a:p>
            <a:pPr algn="l"/>
            <a:r>
              <a:rPr sz="1200" b="0" i="0">
                <a:solidFill>
                  <a:srgbClr val="323038"/>
                </a:solidFill>
                <a:latin typeface="Yu Gothic"/>
              </a:rPr>
              <a:t>何度も話し合い、見直していく</a:t>
            </a:r>
          </a:p>
        </p:txBody>
      </p:sp>
      <p:sp>
        <p:nvSpPr>
          <p:cNvPr id="17" name="Rectangle 16"/>
          <p:cNvSpPr/>
          <p:nvPr/>
        </p:nvSpPr>
        <p:spPr>
          <a:xfrm>
            <a:off x="432000" y="3312000"/>
            <a:ext cx="11304000" cy="666000"/>
          </a:xfrm>
          <a:prstGeom prst="rect">
            <a:avLst/>
          </a:prstGeom>
          <a:solidFill>
            <a:srgbClr val="EAE8EF"/>
          </a:solidFill>
          <a:ln>
            <a:solidFill>
              <a:srgbClr val="D7D4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86000" y="3366000"/>
            <a:ext cx="5544000" cy="558000"/>
          </a:xfrm>
          <a:prstGeom prst="rect">
            <a:avLst/>
          </a:prstGeom>
          <a:noFill/>
        </p:spPr>
        <p:txBody>
          <a:bodyPr wrap="square" lIns="36000" rIns="36000" tIns="18000" bIns="18000" anchor="ctr">
            <a:spAutoFit/>
          </a:bodyPr>
          <a:lstStyle/>
          <a:p>
            <a:pPr algn="ctr"/>
            <a:r>
              <a:rPr sz="1200" b="0" i="0">
                <a:solidFill>
                  <a:srgbClr val="B0443C"/>
                </a:solidFill>
                <a:latin typeface="Yu Gothic"/>
              </a:rPr>
              <a:t>人生の最終段階になってから</a:t>
            </a:r>
          </a:p>
          <a:p>
            <a:pPr algn="ctr"/>
            <a:r>
              <a:rPr sz="1200" b="0" i="0">
                <a:solidFill>
                  <a:srgbClr val="B0443C"/>
                </a:solidFill>
                <a:latin typeface="Yu Gothic"/>
              </a:rPr>
              <a:t>始めるもの</a:t>
            </a:r>
          </a:p>
        </p:txBody>
      </p:sp>
      <p:sp>
        <p:nvSpPr>
          <p:cNvPr id="19" name="TextBox 18"/>
          <p:cNvSpPr txBox="1"/>
          <p:nvPr/>
        </p:nvSpPr>
        <p:spPr>
          <a:xfrm>
            <a:off x="6138000" y="3366000"/>
            <a:ext cx="5544000" cy="558000"/>
          </a:xfrm>
          <a:prstGeom prst="rect">
            <a:avLst/>
          </a:prstGeom>
          <a:noFill/>
        </p:spPr>
        <p:txBody>
          <a:bodyPr wrap="square" lIns="36000" rIns="36000" tIns="18000" bIns="18000" anchor="ctr">
            <a:spAutoFit/>
          </a:bodyPr>
          <a:lstStyle/>
          <a:p>
            <a:pPr algn="l"/>
            <a:r>
              <a:rPr sz="1200" b="0" i="0">
                <a:solidFill>
                  <a:srgbClr val="323038"/>
                </a:solidFill>
                <a:latin typeface="Yu Gothic"/>
              </a:rPr>
              <a:t>元気なうちから始められる。早く始めるほど</a:t>
            </a:r>
          </a:p>
          <a:p>
            <a:pPr algn="l"/>
            <a:r>
              <a:rPr sz="1200" b="0" i="0">
                <a:solidFill>
                  <a:srgbClr val="323038"/>
                </a:solidFill>
                <a:latin typeface="Yu Gothic"/>
              </a:rPr>
              <a:t>本人の言葉でじっくり語り合える</a:t>
            </a:r>
          </a:p>
        </p:txBody>
      </p:sp>
      <p:sp>
        <p:nvSpPr>
          <p:cNvPr id="20" name="Rectangle 19"/>
          <p:cNvSpPr/>
          <p:nvPr/>
        </p:nvSpPr>
        <p:spPr>
          <a:xfrm>
            <a:off x="432000" y="3978000"/>
            <a:ext cx="11304000" cy="666000"/>
          </a:xfrm>
          <a:prstGeom prst="rect">
            <a:avLst/>
          </a:prstGeom>
          <a:solidFill>
            <a:srgbClr val="FFFFFF"/>
          </a:solidFill>
          <a:ln>
            <a:solidFill>
              <a:srgbClr val="D7D4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86000" y="4032000"/>
            <a:ext cx="5544000" cy="558000"/>
          </a:xfrm>
          <a:prstGeom prst="rect">
            <a:avLst/>
          </a:prstGeom>
          <a:noFill/>
        </p:spPr>
        <p:txBody>
          <a:bodyPr wrap="square" lIns="36000" rIns="36000" tIns="18000" bIns="18000" anchor="ctr">
            <a:spAutoFit/>
          </a:bodyPr>
          <a:lstStyle/>
          <a:p>
            <a:pPr algn="ctr"/>
            <a:r>
              <a:rPr sz="1200" b="0" i="0">
                <a:solidFill>
                  <a:srgbClr val="B0443C"/>
                </a:solidFill>
                <a:latin typeface="Yu Gothic"/>
              </a:rPr>
              <a:t>書類(事前指示書)を</a:t>
            </a:r>
          </a:p>
          <a:p>
            <a:pPr algn="ctr"/>
            <a:r>
              <a:rPr sz="1200" b="0" i="0">
                <a:solidFill>
                  <a:srgbClr val="B0443C"/>
                </a:solidFill>
                <a:latin typeface="Yu Gothic"/>
              </a:rPr>
              <a:t>書くことがゴール</a:t>
            </a:r>
          </a:p>
        </p:txBody>
      </p:sp>
      <p:sp>
        <p:nvSpPr>
          <p:cNvPr id="22" name="TextBox 21"/>
          <p:cNvSpPr txBox="1"/>
          <p:nvPr/>
        </p:nvSpPr>
        <p:spPr>
          <a:xfrm>
            <a:off x="6138000" y="4032000"/>
            <a:ext cx="5544000" cy="558000"/>
          </a:xfrm>
          <a:prstGeom prst="rect">
            <a:avLst/>
          </a:prstGeom>
          <a:noFill/>
        </p:spPr>
        <p:txBody>
          <a:bodyPr wrap="square" lIns="36000" rIns="36000" tIns="18000" bIns="18000" anchor="ctr">
            <a:spAutoFit/>
          </a:bodyPr>
          <a:lstStyle/>
          <a:p>
            <a:pPr algn="l"/>
            <a:r>
              <a:rPr sz="1200" b="0" i="0">
                <a:solidFill>
                  <a:srgbClr val="323038"/>
                </a:solidFill>
                <a:latin typeface="Yu Gothic"/>
              </a:rPr>
              <a:t>対話のプロセスそのものが大切。</a:t>
            </a:r>
          </a:p>
          <a:p>
            <a:pPr algn="l"/>
            <a:r>
              <a:rPr sz="1200" b="0" i="0">
                <a:solidFill>
                  <a:srgbClr val="323038"/>
                </a:solidFill>
                <a:latin typeface="Yu Gothic"/>
              </a:rPr>
              <a:t>書類は話し合いの結果を残す手段</a:t>
            </a:r>
          </a:p>
        </p:txBody>
      </p:sp>
      <p:sp>
        <p:nvSpPr>
          <p:cNvPr id="23" name="Rectangle 22"/>
          <p:cNvSpPr/>
          <p:nvPr/>
        </p:nvSpPr>
        <p:spPr>
          <a:xfrm>
            <a:off x="432000" y="4644000"/>
            <a:ext cx="11304000" cy="666000"/>
          </a:xfrm>
          <a:prstGeom prst="rect">
            <a:avLst/>
          </a:prstGeom>
          <a:solidFill>
            <a:srgbClr val="EAE8EF"/>
          </a:solidFill>
          <a:ln>
            <a:solidFill>
              <a:srgbClr val="D7D4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86000" y="4698000"/>
            <a:ext cx="5544000" cy="558000"/>
          </a:xfrm>
          <a:prstGeom prst="rect">
            <a:avLst/>
          </a:prstGeom>
          <a:noFill/>
        </p:spPr>
        <p:txBody>
          <a:bodyPr wrap="square" lIns="36000" rIns="36000" tIns="18000" bIns="18000" anchor="ctr">
            <a:spAutoFit/>
          </a:bodyPr>
          <a:lstStyle/>
          <a:p>
            <a:pPr algn="ctr"/>
            <a:r>
              <a:rPr sz="1200" b="0" i="0">
                <a:solidFill>
                  <a:srgbClr val="B0443C"/>
                </a:solidFill>
                <a:latin typeface="Yu Gothic"/>
              </a:rPr>
              <a:t>医師が主導して進めるもの</a:t>
            </a:r>
          </a:p>
        </p:txBody>
      </p:sp>
      <p:sp>
        <p:nvSpPr>
          <p:cNvPr id="25" name="TextBox 24"/>
          <p:cNvSpPr txBox="1"/>
          <p:nvPr/>
        </p:nvSpPr>
        <p:spPr>
          <a:xfrm>
            <a:off x="6138000" y="4698000"/>
            <a:ext cx="5544000" cy="558000"/>
          </a:xfrm>
          <a:prstGeom prst="rect">
            <a:avLst/>
          </a:prstGeom>
          <a:noFill/>
        </p:spPr>
        <p:txBody>
          <a:bodyPr wrap="square" lIns="36000" rIns="36000" tIns="18000" bIns="18000" anchor="ctr">
            <a:spAutoFit/>
          </a:bodyPr>
          <a:lstStyle/>
          <a:p>
            <a:pPr algn="l"/>
            <a:r>
              <a:rPr sz="1200" b="0" i="0">
                <a:solidFill>
                  <a:srgbClr val="323038"/>
                </a:solidFill>
                <a:latin typeface="Yu Gothic"/>
              </a:rPr>
              <a:t>主役は本人。医療・介護・家族等の</a:t>
            </a:r>
          </a:p>
          <a:p>
            <a:pPr algn="l"/>
            <a:r>
              <a:rPr sz="1200" b="0" i="0">
                <a:solidFill>
                  <a:srgbClr val="323038"/>
                </a:solidFill>
                <a:latin typeface="Yu Gothic"/>
              </a:rPr>
              <a:t>チームで支える。CMも担い手の一人</a:t>
            </a:r>
          </a:p>
        </p:txBody>
      </p:sp>
      <p:sp>
        <p:nvSpPr>
          <p:cNvPr id="26" name="Rectangle 25"/>
          <p:cNvSpPr/>
          <p:nvPr/>
        </p:nvSpPr>
        <p:spPr>
          <a:xfrm>
            <a:off x="432000" y="5508000"/>
            <a:ext cx="11304000" cy="360000"/>
          </a:xfrm>
          <a:prstGeom prst="rect">
            <a:avLst/>
          </a:prstGeom>
          <a:solidFill>
            <a:srgbClr val="527C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504000" y="5544000"/>
            <a:ext cx="11160000" cy="288000"/>
          </a:xfrm>
          <a:prstGeom prst="rect">
            <a:avLst/>
          </a:prstGeom>
          <a:noFill/>
        </p:spPr>
        <p:txBody>
          <a:bodyPr wrap="square" lIns="36000" rIns="36000" tIns="18000" bIns="18000" anchor="ctr">
            <a:spAutoFit/>
          </a:bodyPr>
          <a:lstStyle/>
          <a:p>
            <a:pPr algn="l"/>
            <a:r>
              <a:rPr sz="1400" b="1" i="0">
                <a:solidFill>
                  <a:srgbClr val="FFFFFF"/>
                </a:solidFill>
                <a:latin typeface="Yu Gothic"/>
              </a:rPr>
              <a:t>主任CMが正したい誤解</a:t>
            </a:r>
          </a:p>
        </p:txBody>
      </p:sp>
      <p:sp>
        <p:nvSpPr>
          <p:cNvPr id="28" name="Rectangle 27"/>
          <p:cNvSpPr/>
          <p:nvPr/>
        </p:nvSpPr>
        <p:spPr>
          <a:xfrm>
            <a:off x="432000" y="5868000"/>
            <a:ext cx="11304000" cy="432000"/>
          </a:xfrm>
          <a:prstGeom prst="rect">
            <a:avLst/>
          </a:prstGeom>
          <a:solidFill>
            <a:srgbClr val="E5EC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540000" y="5904000"/>
            <a:ext cx="11088000" cy="396000"/>
          </a:xfrm>
          <a:prstGeom prst="rect">
            <a:avLst/>
          </a:prstGeom>
          <a:noFill/>
        </p:spPr>
        <p:txBody>
          <a:bodyPr wrap="square" lIns="36000" rIns="36000" tIns="18000" bIns="18000" anchor="t">
            <a:spAutoFit/>
          </a:bodyPr>
          <a:lstStyle/>
          <a:p>
            <a:pPr algn="l"/>
            <a:r>
              <a:rPr sz="1200" b="0" i="0">
                <a:solidFill>
                  <a:srgbClr val="323038"/>
                </a:solidFill>
                <a:latin typeface="Yu Gothic"/>
              </a:rPr>
              <a:t>■ ACPを「重い手続き」と捉えると、本人も家族も身構えてしまう</a:t>
            </a:r>
          </a:p>
          <a:p>
            <a:pPr algn="l"/>
            <a:r>
              <a:rPr sz="1200" b="0" i="0">
                <a:solidFill>
                  <a:srgbClr val="323038"/>
                </a:solidFill>
                <a:latin typeface="Yu Gothic"/>
              </a:rPr>
              <a:t>■ 「これからどう過ごしたい?」という、日々の暮らしの延長の対話として伝える</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119" cy="6858000"/>
          </a:xfrm>
          <a:prstGeom prst="rect">
            <a:avLst/>
          </a:prstGeom>
          <a:solidFill>
            <a:srgbClr val="423A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3060000"/>
            <a:ext cx="12192119" cy="36000"/>
          </a:xfrm>
          <a:prstGeom prst="rect">
            <a:avLst/>
          </a:prstGeom>
          <a:solidFill>
            <a:srgbClr val="C48C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20000" y="2340000"/>
            <a:ext cx="10752119" cy="540000"/>
          </a:xfrm>
          <a:prstGeom prst="rect">
            <a:avLst/>
          </a:prstGeom>
          <a:noFill/>
        </p:spPr>
        <p:txBody>
          <a:bodyPr wrap="square" lIns="36000" rIns="36000" tIns="18000" bIns="18000" anchor="t">
            <a:spAutoFit/>
          </a:bodyPr>
          <a:lstStyle/>
          <a:p>
            <a:pPr algn="ctr"/>
            <a:r>
              <a:rPr sz="2200" b="1" i="0">
                <a:solidFill>
                  <a:srgbClr val="C48C3A"/>
                </a:solidFill>
                <a:latin typeface="Yu Gothic"/>
              </a:rPr>
              <a:t>PART 3</a:t>
            </a:r>
          </a:p>
        </p:txBody>
      </p:sp>
      <p:sp>
        <p:nvSpPr>
          <p:cNvPr id="5" name="TextBox 4"/>
          <p:cNvSpPr txBox="1"/>
          <p:nvPr/>
        </p:nvSpPr>
        <p:spPr>
          <a:xfrm>
            <a:off x="360000" y="3420000"/>
            <a:ext cx="11472119" cy="720000"/>
          </a:xfrm>
          <a:prstGeom prst="rect">
            <a:avLst/>
          </a:prstGeom>
          <a:noFill/>
        </p:spPr>
        <p:txBody>
          <a:bodyPr wrap="square" lIns="36000" rIns="36000" tIns="18000" bIns="18000" anchor="t">
            <a:spAutoFit/>
          </a:bodyPr>
          <a:lstStyle/>
          <a:p>
            <a:pPr algn="ctr"/>
            <a:r>
              <a:rPr sz="3300" b="1" i="0">
                <a:solidFill>
                  <a:srgbClr val="FFFFFF"/>
                </a:solidFill>
                <a:latin typeface="Yu Gothic"/>
              </a:rPr>
              <a:t>ACPの支援技術</a:t>
            </a:r>
          </a:p>
        </p:txBody>
      </p:sp>
      <p:sp>
        <p:nvSpPr>
          <p:cNvPr id="6" name="TextBox 5"/>
          <p:cNvSpPr txBox="1"/>
          <p:nvPr/>
        </p:nvSpPr>
        <p:spPr>
          <a:xfrm>
            <a:off x="360000" y="4680000"/>
            <a:ext cx="11472119" cy="360000"/>
          </a:xfrm>
          <a:prstGeom prst="rect">
            <a:avLst/>
          </a:prstGeom>
          <a:noFill/>
        </p:spPr>
        <p:txBody>
          <a:bodyPr wrap="square" lIns="36000" rIns="36000" tIns="18000" bIns="18000" anchor="t">
            <a:spAutoFit/>
          </a:bodyPr>
          <a:lstStyle/>
          <a:p>
            <a:pPr algn="ctr"/>
            <a:r>
              <a:rPr sz="1400" b="0" i="0">
                <a:solidFill>
                  <a:srgbClr val="D7D4DE"/>
                </a:solidFill>
                <a:latin typeface="Yu Gothic"/>
              </a:rPr>
              <a:t>Skills for Supporting ACP</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119" cy="576000"/>
          </a:xfrm>
          <a:prstGeom prst="rect">
            <a:avLst/>
          </a:prstGeom>
          <a:solidFill>
            <a:srgbClr val="423A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88000" y="90000"/>
            <a:ext cx="7920000" cy="216000"/>
          </a:xfrm>
          <a:prstGeom prst="rect">
            <a:avLst/>
          </a:prstGeom>
          <a:noFill/>
        </p:spPr>
        <p:txBody>
          <a:bodyPr wrap="square" lIns="36000" rIns="36000" tIns="18000" bIns="18000" anchor="t">
            <a:spAutoFit/>
          </a:bodyPr>
          <a:lstStyle/>
          <a:p>
            <a:pPr algn="l"/>
            <a:r>
              <a:rPr sz="1100" b="1" i="0">
                <a:solidFill>
                  <a:srgbClr val="FFFFFF"/>
                </a:solidFill>
                <a:latin typeface="Yu Gothic"/>
              </a:rPr>
              <a:t>3. ACPの支援技術</a:t>
            </a:r>
          </a:p>
        </p:txBody>
      </p:sp>
      <p:sp>
        <p:nvSpPr>
          <p:cNvPr id="4" name="TextBox 3"/>
          <p:cNvSpPr txBox="1"/>
          <p:nvPr/>
        </p:nvSpPr>
        <p:spPr>
          <a:xfrm>
            <a:off x="288000" y="684000"/>
            <a:ext cx="11616119" cy="468000"/>
          </a:xfrm>
          <a:prstGeom prst="rect">
            <a:avLst/>
          </a:prstGeom>
          <a:noFill/>
        </p:spPr>
        <p:txBody>
          <a:bodyPr wrap="square" lIns="36000" rIns="36000" tIns="18000" bIns="18000" anchor="t">
            <a:spAutoFit/>
          </a:bodyPr>
          <a:lstStyle/>
          <a:p>
            <a:pPr algn="l"/>
            <a:r>
              <a:rPr sz="2300" b="1" i="0">
                <a:solidFill>
                  <a:srgbClr val="423A5E"/>
                </a:solidFill>
                <a:latin typeface="Yu Gothic"/>
              </a:rPr>
              <a:t>いつ始めるか ― 「きっかけ」を逃さない</a:t>
            </a:r>
          </a:p>
        </p:txBody>
      </p:sp>
      <p:sp>
        <p:nvSpPr>
          <p:cNvPr id="5" name="Rectangle 4"/>
          <p:cNvSpPr/>
          <p:nvPr/>
        </p:nvSpPr>
        <p:spPr>
          <a:xfrm>
            <a:off x="288000" y="1152000"/>
            <a:ext cx="900000" cy="43200"/>
          </a:xfrm>
          <a:prstGeom prst="rect">
            <a:avLst/>
          </a:prstGeom>
          <a:solidFill>
            <a:srgbClr val="C48C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288000" y="6570000"/>
            <a:ext cx="9360000" cy="180000"/>
          </a:xfrm>
          <a:prstGeom prst="rect">
            <a:avLst/>
          </a:prstGeom>
          <a:noFill/>
        </p:spPr>
        <p:txBody>
          <a:bodyPr wrap="square" lIns="36000" rIns="36000" tIns="18000" bIns="18000" anchor="t">
            <a:spAutoFit/>
          </a:bodyPr>
          <a:lstStyle/>
          <a:p>
            <a:pPr algn="l"/>
            <a:r>
              <a:rPr sz="900" b="0" i="0">
                <a:solidFill>
                  <a:srgbClr val="8C83A6"/>
                </a:solidFill>
                <a:latin typeface="Yu Gothic"/>
              </a:rPr>
              <a:t>主任CM研修 / 看取り期のケアマネジメントとACPの支援技術  ※算定要件は最新の告示・通知をご確認ください</a:t>
            </a:r>
          </a:p>
        </p:txBody>
      </p:sp>
      <p:sp>
        <p:nvSpPr>
          <p:cNvPr id="7" name="TextBox 6"/>
          <p:cNvSpPr txBox="1"/>
          <p:nvPr/>
        </p:nvSpPr>
        <p:spPr>
          <a:xfrm>
            <a:off x="11112119" y="6570000"/>
            <a:ext cx="792000" cy="180000"/>
          </a:xfrm>
          <a:prstGeom prst="rect">
            <a:avLst/>
          </a:prstGeom>
          <a:noFill/>
        </p:spPr>
        <p:txBody>
          <a:bodyPr wrap="square" lIns="36000" rIns="36000" tIns="18000" bIns="18000" anchor="t">
            <a:spAutoFit/>
          </a:bodyPr>
          <a:lstStyle/>
          <a:p>
            <a:pPr algn="r"/>
            <a:r>
              <a:rPr sz="900" b="0" i="0">
                <a:solidFill>
                  <a:srgbClr val="8C83A6"/>
                </a:solidFill>
                <a:latin typeface="Yu Gothic"/>
              </a:rPr>
              <a:t>12 / 33</a:t>
            </a:r>
          </a:p>
        </p:txBody>
      </p:sp>
      <p:sp>
        <p:nvSpPr>
          <p:cNvPr id="8" name="Rectangle 7"/>
          <p:cNvSpPr/>
          <p:nvPr/>
        </p:nvSpPr>
        <p:spPr>
          <a:xfrm>
            <a:off x="432000" y="1548000"/>
            <a:ext cx="11304000" cy="360000"/>
          </a:xfrm>
          <a:prstGeom prst="rect">
            <a:avLst/>
          </a:prstGeom>
          <a:solidFill>
            <a:srgbClr val="423A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04000" y="1584000"/>
            <a:ext cx="11160000" cy="288000"/>
          </a:xfrm>
          <a:prstGeom prst="rect">
            <a:avLst/>
          </a:prstGeom>
          <a:noFill/>
        </p:spPr>
        <p:txBody>
          <a:bodyPr wrap="square" lIns="36000" rIns="36000" tIns="18000" bIns="18000" anchor="ctr">
            <a:spAutoFit/>
          </a:bodyPr>
          <a:lstStyle/>
          <a:p>
            <a:pPr algn="l"/>
            <a:r>
              <a:rPr sz="1400" b="1" i="0">
                <a:solidFill>
                  <a:srgbClr val="FFFFFF"/>
                </a:solidFill>
                <a:latin typeface="Yu Gothic"/>
              </a:rPr>
              <a:t>「いつか」ではなく「今日の暮らし」から</a:t>
            </a:r>
          </a:p>
        </p:txBody>
      </p:sp>
      <p:sp>
        <p:nvSpPr>
          <p:cNvPr id="10" name="Rectangle 9"/>
          <p:cNvSpPr/>
          <p:nvPr/>
        </p:nvSpPr>
        <p:spPr>
          <a:xfrm>
            <a:off x="432000" y="1908000"/>
            <a:ext cx="11304000" cy="467999"/>
          </a:xfrm>
          <a:prstGeom prst="rect">
            <a:avLst/>
          </a:prstGeom>
          <a:solidFill>
            <a:srgbClr val="EAE8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40000" y="1944000"/>
            <a:ext cx="11088000" cy="431999"/>
          </a:xfrm>
          <a:prstGeom prst="rect">
            <a:avLst/>
          </a:prstGeom>
          <a:noFill/>
        </p:spPr>
        <p:txBody>
          <a:bodyPr wrap="square" lIns="36000" rIns="36000" tIns="18000" bIns="18000" anchor="t">
            <a:spAutoFit/>
          </a:bodyPr>
          <a:lstStyle/>
          <a:p>
            <a:pPr algn="l"/>
            <a:r>
              <a:rPr sz="1200" b="0" i="0">
                <a:solidFill>
                  <a:srgbClr val="323038"/>
                </a:solidFill>
                <a:latin typeface="Yu Gothic"/>
              </a:rPr>
              <a:t>改まって「人生会議をしましょう」と切り出すより、日々の関わりの中の</a:t>
            </a:r>
          </a:p>
          <a:p>
            <a:pPr algn="l"/>
            <a:r>
              <a:rPr sz="1200" b="0" i="0">
                <a:solidFill>
                  <a:srgbClr val="323038"/>
                </a:solidFill>
                <a:latin typeface="Yu Gothic"/>
              </a:rPr>
              <a:t>自然な「きっかけ」を捉えて、少しずつ話を深めていくほうがうまくいく。</a:t>
            </a:r>
          </a:p>
        </p:txBody>
      </p:sp>
      <p:sp>
        <p:nvSpPr>
          <p:cNvPr id="12" name="Rectangle 11"/>
          <p:cNvSpPr/>
          <p:nvPr/>
        </p:nvSpPr>
        <p:spPr>
          <a:xfrm>
            <a:off x="390059" y="2592000"/>
            <a:ext cx="2772000" cy="468000"/>
          </a:xfrm>
          <a:prstGeom prst="rect">
            <a:avLst/>
          </a:prstGeom>
          <a:solidFill>
            <a:srgbClr val="6057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90059" y="2592000"/>
            <a:ext cx="2772000" cy="468000"/>
          </a:xfrm>
          <a:prstGeom prst="rect">
            <a:avLst/>
          </a:prstGeom>
          <a:noFill/>
        </p:spPr>
        <p:txBody>
          <a:bodyPr wrap="square" lIns="36000" rIns="36000" tIns="18000" bIns="18000" anchor="ctr">
            <a:spAutoFit/>
          </a:bodyPr>
          <a:lstStyle/>
          <a:p>
            <a:pPr algn="ctr"/>
            <a:r>
              <a:rPr sz="1400" b="1" i="0">
                <a:solidFill>
                  <a:srgbClr val="FFFFFF"/>
                </a:solidFill>
                <a:latin typeface="Yu Gothic"/>
              </a:rPr>
              <a:t>生活の節目</a:t>
            </a:r>
          </a:p>
        </p:txBody>
      </p:sp>
      <p:sp>
        <p:nvSpPr>
          <p:cNvPr id="14" name="Rectangle 13"/>
          <p:cNvSpPr/>
          <p:nvPr/>
        </p:nvSpPr>
        <p:spPr>
          <a:xfrm>
            <a:off x="390059" y="3060000"/>
            <a:ext cx="2772000" cy="1620000"/>
          </a:xfrm>
          <a:prstGeom prst="rect">
            <a:avLst/>
          </a:prstGeom>
          <a:solidFill>
            <a:srgbClr val="EAE8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98059" y="3168000"/>
            <a:ext cx="2556000" cy="1404000"/>
          </a:xfrm>
          <a:prstGeom prst="rect">
            <a:avLst/>
          </a:prstGeom>
          <a:noFill/>
        </p:spPr>
        <p:txBody>
          <a:bodyPr wrap="square" lIns="36000" rIns="36000" tIns="18000" bIns="18000" anchor="t">
            <a:spAutoFit/>
          </a:bodyPr>
          <a:lstStyle/>
          <a:p>
            <a:pPr algn="l">
              <a:lnSpc>
                <a:spcPct val="140000"/>
              </a:lnSpc>
            </a:pPr>
            <a:r>
              <a:rPr sz="1100" b="0" i="0">
                <a:solidFill>
                  <a:srgbClr val="323038"/>
                </a:solidFill>
                <a:latin typeface="Yu Gothic"/>
              </a:rPr>
              <a:t>・要介護度の変化</a:t>
            </a:r>
          </a:p>
          <a:p>
            <a:pPr algn="l">
              <a:lnSpc>
                <a:spcPct val="140000"/>
              </a:lnSpc>
            </a:pPr>
            <a:r>
              <a:rPr sz="1100" b="0" i="0">
                <a:solidFill>
                  <a:srgbClr val="323038"/>
                </a:solidFill>
                <a:latin typeface="Yu Gothic"/>
              </a:rPr>
              <a:t>・入退院のとき</a:t>
            </a:r>
          </a:p>
          <a:p>
            <a:pPr algn="l">
              <a:lnSpc>
                <a:spcPct val="140000"/>
              </a:lnSpc>
            </a:pPr>
            <a:r>
              <a:rPr sz="1100" b="0" i="0">
                <a:solidFill>
                  <a:srgbClr val="323038"/>
                </a:solidFill>
                <a:latin typeface="Yu Gothic"/>
              </a:rPr>
              <a:t>・サービスの見直しのとき</a:t>
            </a:r>
          </a:p>
        </p:txBody>
      </p:sp>
      <p:sp>
        <p:nvSpPr>
          <p:cNvPr id="16" name="Rectangle 15"/>
          <p:cNvSpPr/>
          <p:nvPr/>
        </p:nvSpPr>
        <p:spPr>
          <a:xfrm>
            <a:off x="3270059" y="2592000"/>
            <a:ext cx="2772000" cy="468000"/>
          </a:xfrm>
          <a:prstGeom prst="rect">
            <a:avLst/>
          </a:prstGeom>
          <a:solidFill>
            <a:srgbClr val="C48C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270059" y="2592000"/>
            <a:ext cx="2772000" cy="468000"/>
          </a:xfrm>
          <a:prstGeom prst="rect">
            <a:avLst/>
          </a:prstGeom>
          <a:noFill/>
        </p:spPr>
        <p:txBody>
          <a:bodyPr wrap="square" lIns="36000" rIns="36000" tIns="18000" bIns="18000" anchor="ctr">
            <a:spAutoFit/>
          </a:bodyPr>
          <a:lstStyle/>
          <a:p>
            <a:pPr algn="ctr"/>
            <a:r>
              <a:rPr sz="1400" b="1" i="0">
                <a:solidFill>
                  <a:srgbClr val="FFFFFF"/>
                </a:solidFill>
                <a:latin typeface="Yu Gothic"/>
              </a:rPr>
              <a:t>本人の言葉</a:t>
            </a:r>
          </a:p>
        </p:txBody>
      </p:sp>
      <p:sp>
        <p:nvSpPr>
          <p:cNvPr id="18" name="Rectangle 17"/>
          <p:cNvSpPr/>
          <p:nvPr/>
        </p:nvSpPr>
        <p:spPr>
          <a:xfrm>
            <a:off x="3270059" y="3060000"/>
            <a:ext cx="2772000" cy="1620000"/>
          </a:xfrm>
          <a:prstGeom prst="rect">
            <a:avLst/>
          </a:prstGeom>
          <a:solidFill>
            <a:srgbClr val="EAE8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3378059" y="3168000"/>
            <a:ext cx="2556000" cy="1404000"/>
          </a:xfrm>
          <a:prstGeom prst="rect">
            <a:avLst/>
          </a:prstGeom>
          <a:noFill/>
        </p:spPr>
        <p:txBody>
          <a:bodyPr wrap="square" lIns="36000" rIns="36000" tIns="18000" bIns="18000" anchor="t">
            <a:spAutoFit/>
          </a:bodyPr>
          <a:lstStyle/>
          <a:p>
            <a:pPr algn="l">
              <a:lnSpc>
                <a:spcPct val="140000"/>
              </a:lnSpc>
            </a:pPr>
            <a:r>
              <a:rPr sz="1100" b="0" i="0">
                <a:solidFill>
                  <a:srgbClr val="323038"/>
                </a:solidFill>
                <a:latin typeface="Yu Gothic"/>
              </a:rPr>
              <a:t>・「もう長くないかも」</a:t>
            </a:r>
          </a:p>
          <a:p>
            <a:pPr algn="l">
              <a:lnSpc>
                <a:spcPct val="140000"/>
              </a:lnSpc>
            </a:pPr>
            <a:r>
              <a:rPr sz="1100" b="0" i="0">
                <a:solidFill>
                  <a:srgbClr val="323038"/>
                </a:solidFill>
                <a:latin typeface="Yu Gothic"/>
              </a:rPr>
              <a:t>・「迷惑をかけたくない」</a:t>
            </a:r>
          </a:p>
          <a:p>
            <a:pPr algn="l">
              <a:lnSpc>
                <a:spcPct val="140000"/>
              </a:lnSpc>
            </a:pPr>
            <a:r>
              <a:rPr sz="1100" b="0" i="0">
                <a:solidFill>
                  <a:srgbClr val="323038"/>
                </a:solidFill>
                <a:latin typeface="Yu Gothic"/>
              </a:rPr>
              <a:t>・「家にいたい」等のつぶやき</a:t>
            </a:r>
          </a:p>
        </p:txBody>
      </p:sp>
      <p:sp>
        <p:nvSpPr>
          <p:cNvPr id="20" name="Rectangle 19"/>
          <p:cNvSpPr/>
          <p:nvPr/>
        </p:nvSpPr>
        <p:spPr>
          <a:xfrm>
            <a:off x="6150059" y="2592000"/>
            <a:ext cx="2772000" cy="468000"/>
          </a:xfrm>
          <a:prstGeom prst="rect">
            <a:avLst/>
          </a:prstGeom>
          <a:solidFill>
            <a:srgbClr val="2E6B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150059" y="2592000"/>
            <a:ext cx="2772000" cy="468000"/>
          </a:xfrm>
          <a:prstGeom prst="rect">
            <a:avLst/>
          </a:prstGeom>
          <a:noFill/>
        </p:spPr>
        <p:txBody>
          <a:bodyPr wrap="square" lIns="36000" rIns="36000" tIns="18000" bIns="18000" anchor="ctr">
            <a:spAutoFit/>
          </a:bodyPr>
          <a:lstStyle/>
          <a:p>
            <a:pPr algn="ctr"/>
            <a:r>
              <a:rPr sz="1400" b="1" i="0">
                <a:solidFill>
                  <a:srgbClr val="FFFFFF"/>
                </a:solidFill>
                <a:latin typeface="Yu Gothic"/>
              </a:rPr>
              <a:t>身体の変化</a:t>
            </a:r>
          </a:p>
        </p:txBody>
      </p:sp>
      <p:sp>
        <p:nvSpPr>
          <p:cNvPr id="22" name="Rectangle 21"/>
          <p:cNvSpPr/>
          <p:nvPr/>
        </p:nvSpPr>
        <p:spPr>
          <a:xfrm>
            <a:off x="6150059" y="3060000"/>
            <a:ext cx="2772000" cy="1620000"/>
          </a:xfrm>
          <a:prstGeom prst="rect">
            <a:avLst/>
          </a:prstGeom>
          <a:solidFill>
            <a:srgbClr val="EAE8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258059" y="3168000"/>
            <a:ext cx="2556000" cy="1404000"/>
          </a:xfrm>
          <a:prstGeom prst="rect">
            <a:avLst/>
          </a:prstGeom>
          <a:noFill/>
        </p:spPr>
        <p:txBody>
          <a:bodyPr wrap="square" lIns="36000" rIns="36000" tIns="18000" bIns="18000" anchor="t">
            <a:spAutoFit/>
          </a:bodyPr>
          <a:lstStyle/>
          <a:p>
            <a:pPr algn="l">
              <a:lnSpc>
                <a:spcPct val="140000"/>
              </a:lnSpc>
            </a:pPr>
            <a:r>
              <a:rPr sz="1100" b="0" i="0">
                <a:solidFill>
                  <a:srgbClr val="323038"/>
                </a:solidFill>
                <a:latin typeface="Yu Gothic"/>
              </a:rPr>
              <a:t>・病状の進行・診断</a:t>
            </a:r>
          </a:p>
          <a:p>
            <a:pPr algn="l">
              <a:lnSpc>
                <a:spcPct val="140000"/>
              </a:lnSpc>
            </a:pPr>
            <a:r>
              <a:rPr sz="1100" b="0" i="0">
                <a:solidFill>
                  <a:srgbClr val="323038"/>
                </a:solidFill>
                <a:latin typeface="Yu Gothic"/>
              </a:rPr>
              <a:t>・食べられなくなってきた</a:t>
            </a:r>
          </a:p>
          <a:p>
            <a:pPr algn="l">
              <a:lnSpc>
                <a:spcPct val="140000"/>
              </a:lnSpc>
            </a:pPr>
            <a:r>
              <a:rPr sz="1100" b="0" i="0">
                <a:solidFill>
                  <a:srgbClr val="323038"/>
                </a:solidFill>
                <a:latin typeface="Yu Gothic"/>
              </a:rPr>
              <a:t>・できないことが増えてきた</a:t>
            </a:r>
          </a:p>
        </p:txBody>
      </p:sp>
      <p:sp>
        <p:nvSpPr>
          <p:cNvPr id="24" name="Rectangle 23"/>
          <p:cNvSpPr/>
          <p:nvPr/>
        </p:nvSpPr>
        <p:spPr>
          <a:xfrm>
            <a:off x="9030059" y="2592000"/>
            <a:ext cx="2772000" cy="468000"/>
          </a:xfrm>
          <a:prstGeom prst="rect">
            <a:avLst/>
          </a:prstGeom>
          <a:solidFill>
            <a:srgbClr val="A85C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9030059" y="2592000"/>
            <a:ext cx="2772000" cy="468000"/>
          </a:xfrm>
          <a:prstGeom prst="rect">
            <a:avLst/>
          </a:prstGeom>
          <a:noFill/>
        </p:spPr>
        <p:txBody>
          <a:bodyPr wrap="square" lIns="36000" rIns="36000" tIns="18000" bIns="18000" anchor="ctr">
            <a:spAutoFit/>
          </a:bodyPr>
          <a:lstStyle/>
          <a:p>
            <a:pPr algn="ctr"/>
            <a:r>
              <a:rPr sz="1400" b="1" i="0">
                <a:solidFill>
                  <a:srgbClr val="FFFFFF"/>
                </a:solidFill>
                <a:latin typeface="Yu Gothic"/>
              </a:rPr>
              <a:t>家族の不安</a:t>
            </a:r>
          </a:p>
        </p:txBody>
      </p:sp>
      <p:sp>
        <p:nvSpPr>
          <p:cNvPr id="26" name="Rectangle 25"/>
          <p:cNvSpPr/>
          <p:nvPr/>
        </p:nvSpPr>
        <p:spPr>
          <a:xfrm>
            <a:off x="9030059" y="3060000"/>
            <a:ext cx="2772000" cy="1620000"/>
          </a:xfrm>
          <a:prstGeom prst="rect">
            <a:avLst/>
          </a:prstGeom>
          <a:solidFill>
            <a:srgbClr val="EAE8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9138059" y="3168000"/>
            <a:ext cx="2556000" cy="1404000"/>
          </a:xfrm>
          <a:prstGeom prst="rect">
            <a:avLst/>
          </a:prstGeom>
          <a:noFill/>
        </p:spPr>
        <p:txBody>
          <a:bodyPr wrap="square" lIns="36000" rIns="36000" tIns="18000" bIns="18000" anchor="t">
            <a:spAutoFit/>
          </a:bodyPr>
          <a:lstStyle/>
          <a:p>
            <a:pPr algn="l">
              <a:lnSpc>
                <a:spcPct val="140000"/>
              </a:lnSpc>
            </a:pPr>
            <a:r>
              <a:rPr sz="1100" b="0" i="0">
                <a:solidFill>
                  <a:srgbClr val="323038"/>
                </a:solidFill>
                <a:latin typeface="Yu Gothic"/>
              </a:rPr>
              <a:t>・「どうしたらいいか」</a:t>
            </a:r>
          </a:p>
          <a:p>
            <a:pPr algn="l">
              <a:lnSpc>
                <a:spcPct val="140000"/>
              </a:lnSpc>
            </a:pPr>
            <a:r>
              <a:rPr sz="1100" b="0" i="0">
                <a:solidFill>
                  <a:srgbClr val="323038"/>
                </a:solidFill>
                <a:latin typeface="Yu Gothic"/>
              </a:rPr>
              <a:t>・「もしものとき心配」</a:t>
            </a:r>
          </a:p>
          <a:p>
            <a:pPr algn="l">
              <a:lnSpc>
                <a:spcPct val="140000"/>
              </a:lnSpc>
            </a:pPr>
            <a:r>
              <a:rPr sz="1100" b="0" i="0">
                <a:solidFill>
                  <a:srgbClr val="323038"/>
                </a:solidFill>
                <a:latin typeface="Yu Gothic"/>
              </a:rPr>
              <a:t>・家族からの相談</a:t>
            </a:r>
          </a:p>
        </p:txBody>
      </p:sp>
      <p:sp>
        <p:nvSpPr>
          <p:cNvPr id="28" name="Rectangle 27"/>
          <p:cNvSpPr/>
          <p:nvPr/>
        </p:nvSpPr>
        <p:spPr>
          <a:xfrm>
            <a:off x="432000" y="5040000"/>
            <a:ext cx="11304000" cy="360000"/>
          </a:xfrm>
          <a:prstGeom prst="rect">
            <a:avLst/>
          </a:prstGeom>
          <a:solidFill>
            <a:srgbClr val="C48C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504000" y="5076000"/>
            <a:ext cx="11160000" cy="288000"/>
          </a:xfrm>
          <a:prstGeom prst="rect">
            <a:avLst/>
          </a:prstGeom>
          <a:noFill/>
        </p:spPr>
        <p:txBody>
          <a:bodyPr wrap="square" lIns="36000" rIns="36000" tIns="18000" bIns="18000" anchor="ctr">
            <a:spAutoFit/>
          </a:bodyPr>
          <a:lstStyle/>
          <a:p>
            <a:pPr algn="l"/>
            <a:r>
              <a:rPr sz="1400" b="1" i="0">
                <a:solidFill>
                  <a:srgbClr val="FFFFFF"/>
                </a:solidFill>
                <a:latin typeface="Yu Gothic"/>
              </a:rPr>
              <a:t>早く始めることの意味</a:t>
            </a:r>
          </a:p>
        </p:txBody>
      </p:sp>
      <p:sp>
        <p:nvSpPr>
          <p:cNvPr id="30" name="Rectangle 29"/>
          <p:cNvSpPr/>
          <p:nvPr/>
        </p:nvSpPr>
        <p:spPr>
          <a:xfrm>
            <a:off x="432000" y="5400000"/>
            <a:ext cx="11304000" cy="720000"/>
          </a:xfrm>
          <a:prstGeom prst="rect">
            <a:avLst/>
          </a:prstGeom>
          <a:solidFill>
            <a:srgbClr val="F9F0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540000" y="5436000"/>
            <a:ext cx="11088000" cy="684000"/>
          </a:xfrm>
          <a:prstGeom prst="rect">
            <a:avLst/>
          </a:prstGeom>
          <a:noFill/>
        </p:spPr>
        <p:txBody>
          <a:bodyPr wrap="square" lIns="36000" rIns="36000" tIns="18000" bIns="18000" anchor="t">
            <a:spAutoFit/>
          </a:bodyPr>
          <a:lstStyle/>
          <a:p>
            <a:pPr algn="l"/>
            <a:r>
              <a:rPr sz="1300" b="0" i="0">
                <a:solidFill>
                  <a:srgbClr val="323038"/>
                </a:solidFill>
                <a:latin typeface="Yu Gothic"/>
              </a:rPr>
              <a:t>■ 本人が自分の言葉で語れるうちに始めれば、推定でなく「本人の意思」を残せる</a:t>
            </a:r>
          </a:p>
          <a:p>
            <a:pPr algn="l"/>
            <a:r>
              <a:rPr sz="1300" b="0" i="0">
                <a:solidFill>
                  <a:srgbClr val="323038"/>
                </a:solidFill>
                <a:latin typeface="Yu Gothic"/>
              </a:rPr>
              <a:t>■ 「縁起でもない」と避けず、本人が語りたそうなサインを逃さない</a:t>
            </a:r>
          </a:p>
          <a:p>
            <a:pPr algn="l"/>
            <a:r>
              <a:rPr sz="1300" b="0" i="0">
                <a:solidFill>
                  <a:srgbClr val="323038"/>
                </a:solidFill>
                <a:latin typeface="Yu Gothic"/>
              </a:rPr>
              <a:t>■ ただし、本人が話したくないときは無理強いしない ― タイミングと本人のペースを尊重</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119" cy="576000"/>
          </a:xfrm>
          <a:prstGeom prst="rect">
            <a:avLst/>
          </a:prstGeom>
          <a:solidFill>
            <a:srgbClr val="423A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88000" y="90000"/>
            <a:ext cx="7920000" cy="216000"/>
          </a:xfrm>
          <a:prstGeom prst="rect">
            <a:avLst/>
          </a:prstGeom>
          <a:noFill/>
        </p:spPr>
        <p:txBody>
          <a:bodyPr wrap="square" lIns="36000" rIns="36000" tIns="18000" bIns="18000" anchor="t">
            <a:spAutoFit/>
          </a:bodyPr>
          <a:lstStyle/>
          <a:p>
            <a:pPr algn="l"/>
            <a:r>
              <a:rPr sz="1100" b="1" i="0">
                <a:solidFill>
                  <a:srgbClr val="FFFFFF"/>
                </a:solidFill>
                <a:latin typeface="Yu Gothic"/>
              </a:rPr>
              <a:t>3. ACPの支援技術</a:t>
            </a:r>
          </a:p>
        </p:txBody>
      </p:sp>
      <p:sp>
        <p:nvSpPr>
          <p:cNvPr id="4" name="TextBox 3"/>
          <p:cNvSpPr txBox="1"/>
          <p:nvPr/>
        </p:nvSpPr>
        <p:spPr>
          <a:xfrm>
            <a:off x="288000" y="684000"/>
            <a:ext cx="11616119" cy="468000"/>
          </a:xfrm>
          <a:prstGeom prst="rect">
            <a:avLst/>
          </a:prstGeom>
          <a:noFill/>
        </p:spPr>
        <p:txBody>
          <a:bodyPr wrap="square" lIns="36000" rIns="36000" tIns="18000" bIns="18000" anchor="t">
            <a:spAutoFit/>
          </a:bodyPr>
          <a:lstStyle/>
          <a:p>
            <a:pPr algn="l"/>
            <a:r>
              <a:rPr sz="2300" b="1" i="0">
                <a:solidFill>
                  <a:srgbClr val="423A5E"/>
                </a:solidFill>
                <a:latin typeface="Yu Gothic"/>
              </a:rPr>
              <a:t>何を話すか ― 対話のテーマ</a:t>
            </a:r>
          </a:p>
        </p:txBody>
      </p:sp>
      <p:sp>
        <p:nvSpPr>
          <p:cNvPr id="5" name="Rectangle 4"/>
          <p:cNvSpPr/>
          <p:nvPr/>
        </p:nvSpPr>
        <p:spPr>
          <a:xfrm>
            <a:off x="288000" y="1152000"/>
            <a:ext cx="900000" cy="43200"/>
          </a:xfrm>
          <a:prstGeom prst="rect">
            <a:avLst/>
          </a:prstGeom>
          <a:solidFill>
            <a:srgbClr val="C48C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288000" y="6570000"/>
            <a:ext cx="9360000" cy="180000"/>
          </a:xfrm>
          <a:prstGeom prst="rect">
            <a:avLst/>
          </a:prstGeom>
          <a:noFill/>
        </p:spPr>
        <p:txBody>
          <a:bodyPr wrap="square" lIns="36000" rIns="36000" tIns="18000" bIns="18000" anchor="t">
            <a:spAutoFit/>
          </a:bodyPr>
          <a:lstStyle/>
          <a:p>
            <a:pPr algn="l"/>
            <a:r>
              <a:rPr sz="900" b="0" i="0">
                <a:solidFill>
                  <a:srgbClr val="8C83A6"/>
                </a:solidFill>
                <a:latin typeface="Yu Gothic"/>
              </a:rPr>
              <a:t>主任CM研修 / 看取り期のケアマネジメントとACPの支援技術  ※算定要件は最新の告示・通知をご確認ください</a:t>
            </a:r>
          </a:p>
        </p:txBody>
      </p:sp>
      <p:sp>
        <p:nvSpPr>
          <p:cNvPr id="7" name="TextBox 6"/>
          <p:cNvSpPr txBox="1"/>
          <p:nvPr/>
        </p:nvSpPr>
        <p:spPr>
          <a:xfrm>
            <a:off x="11112119" y="6570000"/>
            <a:ext cx="792000" cy="180000"/>
          </a:xfrm>
          <a:prstGeom prst="rect">
            <a:avLst/>
          </a:prstGeom>
          <a:noFill/>
        </p:spPr>
        <p:txBody>
          <a:bodyPr wrap="square" lIns="36000" rIns="36000" tIns="18000" bIns="18000" anchor="t">
            <a:spAutoFit/>
          </a:bodyPr>
          <a:lstStyle/>
          <a:p>
            <a:pPr algn="r"/>
            <a:r>
              <a:rPr sz="900" b="0" i="0">
                <a:solidFill>
                  <a:srgbClr val="8C83A6"/>
                </a:solidFill>
                <a:latin typeface="Yu Gothic"/>
              </a:rPr>
              <a:t>13 / 33</a:t>
            </a:r>
          </a:p>
        </p:txBody>
      </p:sp>
      <p:sp>
        <p:nvSpPr>
          <p:cNvPr id="8" name="Rectangle 7"/>
          <p:cNvSpPr/>
          <p:nvPr/>
        </p:nvSpPr>
        <p:spPr>
          <a:xfrm>
            <a:off x="432000" y="1620000"/>
            <a:ext cx="5580000" cy="360000"/>
          </a:xfrm>
          <a:prstGeom prst="rect">
            <a:avLst/>
          </a:prstGeom>
          <a:solidFill>
            <a:srgbClr val="6057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12000" y="1620000"/>
            <a:ext cx="5220000" cy="360000"/>
          </a:xfrm>
          <a:prstGeom prst="rect">
            <a:avLst/>
          </a:prstGeom>
          <a:noFill/>
        </p:spPr>
        <p:txBody>
          <a:bodyPr wrap="square" lIns="36000" rIns="36000" tIns="18000" bIns="18000" anchor="ctr">
            <a:spAutoFit/>
          </a:bodyPr>
          <a:lstStyle/>
          <a:p>
            <a:pPr algn="l"/>
            <a:r>
              <a:rPr sz="1400" b="1" i="0">
                <a:solidFill>
                  <a:srgbClr val="FFFFFF"/>
                </a:solidFill>
                <a:latin typeface="Yu Gothic"/>
              </a:rPr>
              <a:t>価値観・大切なこと</a:t>
            </a:r>
          </a:p>
        </p:txBody>
      </p:sp>
      <p:sp>
        <p:nvSpPr>
          <p:cNvPr id="10" name="Rectangle 9"/>
          <p:cNvSpPr/>
          <p:nvPr/>
        </p:nvSpPr>
        <p:spPr>
          <a:xfrm>
            <a:off x="432000" y="1980000"/>
            <a:ext cx="5580000" cy="972000"/>
          </a:xfrm>
          <a:prstGeom prst="rect">
            <a:avLst/>
          </a:prstGeom>
          <a:solidFill>
            <a:srgbClr val="EAE8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12000" y="2052000"/>
            <a:ext cx="5220000" cy="828001"/>
          </a:xfrm>
          <a:prstGeom prst="rect">
            <a:avLst/>
          </a:prstGeom>
          <a:noFill/>
        </p:spPr>
        <p:txBody>
          <a:bodyPr wrap="square" lIns="36000" rIns="36000" tIns="18000" bIns="18000" anchor="t">
            <a:spAutoFit/>
          </a:bodyPr>
          <a:lstStyle/>
          <a:p>
            <a:pPr algn="l">
              <a:lnSpc>
                <a:spcPct val="140000"/>
              </a:lnSpc>
            </a:pPr>
            <a:r>
              <a:rPr sz="1200" b="0" i="0">
                <a:solidFill>
                  <a:srgbClr val="323038"/>
                </a:solidFill>
                <a:latin typeface="Yu Gothic"/>
              </a:rPr>
              <a:t>・どんなことを大切に生きてきたか</a:t>
            </a:r>
          </a:p>
          <a:p>
            <a:pPr algn="l">
              <a:lnSpc>
                <a:spcPct val="140000"/>
              </a:lnSpc>
            </a:pPr>
            <a:r>
              <a:rPr sz="1200" b="0" i="0">
                <a:solidFill>
                  <a:srgbClr val="323038"/>
                </a:solidFill>
                <a:latin typeface="Yu Gothic"/>
              </a:rPr>
              <a:t>・何があれば心穏やかでいられるか</a:t>
            </a:r>
          </a:p>
          <a:p>
            <a:pPr algn="l">
              <a:lnSpc>
                <a:spcPct val="140000"/>
              </a:lnSpc>
            </a:pPr>
            <a:r>
              <a:rPr sz="1200" b="0" i="0">
                <a:solidFill>
                  <a:srgbClr val="323038"/>
                </a:solidFill>
                <a:latin typeface="Yu Gothic"/>
              </a:rPr>
              <a:t>・してほしくないこと</a:t>
            </a:r>
          </a:p>
        </p:txBody>
      </p:sp>
      <p:sp>
        <p:nvSpPr>
          <p:cNvPr id="12" name="Rectangle 11"/>
          <p:cNvSpPr/>
          <p:nvPr/>
        </p:nvSpPr>
        <p:spPr>
          <a:xfrm>
            <a:off x="6156000" y="1620000"/>
            <a:ext cx="5580000" cy="360000"/>
          </a:xfrm>
          <a:prstGeom prst="rect">
            <a:avLst/>
          </a:prstGeom>
          <a:solidFill>
            <a:srgbClr val="527C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336000" y="1620000"/>
            <a:ext cx="5220000" cy="360000"/>
          </a:xfrm>
          <a:prstGeom prst="rect">
            <a:avLst/>
          </a:prstGeom>
          <a:noFill/>
        </p:spPr>
        <p:txBody>
          <a:bodyPr wrap="square" lIns="36000" rIns="36000" tIns="18000" bIns="18000" anchor="ctr">
            <a:spAutoFit/>
          </a:bodyPr>
          <a:lstStyle/>
          <a:p>
            <a:pPr algn="l"/>
            <a:r>
              <a:rPr sz="1400" b="1" i="0">
                <a:solidFill>
                  <a:srgbClr val="FFFFFF"/>
                </a:solidFill>
                <a:latin typeface="Yu Gothic"/>
              </a:rPr>
              <a:t>過ごし方・療養場所</a:t>
            </a:r>
          </a:p>
        </p:txBody>
      </p:sp>
      <p:sp>
        <p:nvSpPr>
          <p:cNvPr id="14" name="Rectangle 13"/>
          <p:cNvSpPr/>
          <p:nvPr/>
        </p:nvSpPr>
        <p:spPr>
          <a:xfrm>
            <a:off x="6156000" y="1980000"/>
            <a:ext cx="5580000" cy="972000"/>
          </a:xfrm>
          <a:prstGeom prst="rect">
            <a:avLst/>
          </a:prstGeom>
          <a:solidFill>
            <a:srgbClr val="EAE8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336000" y="2052000"/>
            <a:ext cx="5220000" cy="828001"/>
          </a:xfrm>
          <a:prstGeom prst="rect">
            <a:avLst/>
          </a:prstGeom>
          <a:noFill/>
        </p:spPr>
        <p:txBody>
          <a:bodyPr wrap="square" lIns="36000" rIns="36000" tIns="18000" bIns="18000" anchor="t">
            <a:spAutoFit/>
          </a:bodyPr>
          <a:lstStyle/>
          <a:p>
            <a:pPr algn="l">
              <a:lnSpc>
                <a:spcPct val="140000"/>
              </a:lnSpc>
            </a:pPr>
            <a:r>
              <a:rPr sz="1200" b="0" i="0">
                <a:solidFill>
                  <a:srgbClr val="323038"/>
                </a:solidFill>
                <a:latin typeface="Yu Gothic"/>
              </a:rPr>
              <a:t>・最期までどこで過ごしたいか</a:t>
            </a:r>
          </a:p>
          <a:p>
            <a:pPr algn="l">
              <a:lnSpc>
                <a:spcPct val="140000"/>
              </a:lnSpc>
            </a:pPr>
            <a:r>
              <a:rPr sz="1200" b="0" i="0">
                <a:solidFill>
                  <a:srgbClr val="323038"/>
                </a:solidFill>
                <a:latin typeface="Yu Gothic"/>
              </a:rPr>
              <a:t>・家で過ごす上で大切にしたいこと</a:t>
            </a:r>
          </a:p>
          <a:p>
            <a:pPr algn="l">
              <a:lnSpc>
                <a:spcPct val="140000"/>
              </a:lnSpc>
            </a:pPr>
            <a:r>
              <a:rPr sz="1200" b="0" i="0">
                <a:solidFill>
                  <a:srgbClr val="323038"/>
                </a:solidFill>
                <a:latin typeface="Yu Gothic"/>
              </a:rPr>
              <a:t>・誰と、どんな時間を過ごしたいか</a:t>
            </a:r>
          </a:p>
        </p:txBody>
      </p:sp>
      <p:sp>
        <p:nvSpPr>
          <p:cNvPr id="16" name="Rectangle 15"/>
          <p:cNvSpPr/>
          <p:nvPr/>
        </p:nvSpPr>
        <p:spPr>
          <a:xfrm>
            <a:off x="432000" y="3060000"/>
            <a:ext cx="5580000" cy="360000"/>
          </a:xfrm>
          <a:prstGeom prst="rect">
            <a:avLst/>
          </a:prstGeom>
          <a:solidFill>
            <a:srgbClr val="2E6B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12000" y="3060000"/>
            <a:ext cx="5220000" cy="360000"/>
          </a:xfrm>
          <a:prstGeom prst="rect">
            <a:avLst/>
          </a:prstGeom>
          <a:noFill/>
        </p:spPr>
        <p:txBody>
          <a:bodyPr wrap="square" lIns="36000" rIns="36000" tIns="18000" bIns="18000" anchor="ctr">
            <a:spAutoFit/>
          </a:bodyPr>
          <a:lstStyle/>
          <a:p>
            <a:pPr algn="l"/>
            <a:r>
              <a:rPr sz="1400" b="1" i="0">
                <a:solidFill>
                  <a:srgbClr val="FFFFFF"/>
                </a:solidFill>
                <a:latin typeface="Yu Gothic"/>
              </a:rPr>
              <a:t>医療・ケアの希望</a:t>
            </a:r>
          </a:p>
        </p:txBody>
      </p:sp>
      <p:sp>
        <p:nvSpPr>
          <p:cNvPr id="18" name="Rectangle 17"/>
          <p:cNvSpPr/>
          <p:nvPr/>
        </p:nvSpPr>
        <p:spPr>
          <a:xfrm>
            <a:off x="432000" y="3420000"/>
            <a:ext cx="5580000" cy="972000"/>
          </a:xfrm>
          <a:prstGeom prst="rect">
            <a:avLst/>
          </a:prstGeom>
          <a:solidFill>
            <a:srgbClr val="EAE8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12000" y="3492000"/>
            <a:ext cx="5220000" cy="828001"/>
          </a:xfrm>
          <a:prstGeom prst="rect">
            <a:avLst/>
          </a:prstGeom>
          <a:noFill/>
        </p:spPr>
        <p:txBody>
          <a:bodyPr wrap="square" lIns="36000" rIns="36000" tIns="18000" bIns="18000" anchor="t">
            <a:spAutoFit/>
          </a:bodyPr>
          <a:lstStyle/>
          <a:p>
            <a:pPr algn="l">
              <a:lnSpc>
                <a:spcPct val="140000"/>
              </a:lnSpc>
            </a:pPr>
            <a:r>
              <a:rPr sz="1200" b="0" i="0">
                <a:solidFill>
                  <a:srgbClr val="323038"/>
                </a:solidFill>
                <a:latin typeface="Yu Gothic"/>
              </a:rPr>
              <a:t>・受けたい/受けたくない医療</a:t>
            </a:r>
          </a:p>
          <a:p>
            <a:pPr algn="l">
              <a:lnSpc>
                <a:spcPct val="140000"/>
              </a:lnSpc>
            </a:pPr>
            <a:r>
              <a:rPr sz="1200" b="0" i="0">
                <a:solidFill>
                  <a:srgbClr val="323038"/>
                </a:solidFill>
                <a:latin typeface="Yu Gothic"/>
              </a:rPr>
              <a:t>・苦痛をどう和らげたいか</a:t>
            </a:r>
          </a:p>
          <a:p>
            <a:pPr algn="l">
              <a:lnSpc>
                <a:spcPct val="140000"/>
              </a:lnSpc>
            </a:pPr>
            <a:r>
              <a:rPr sz="1200" b="0" i="0">
                <a:solidFill>
                  <a:srgbClr val="323038"/>
                </a:solidFill>
                <a:latin typeface="Yu Gothic"/>
              </a:rPr>
              <a:t>・急変時にどうしてほしいか</a:t>
            </a:r>
          </a:p>
        </p:txBody>
      </p:sp>
      <p:sp>
        <p:nvSpPr>
          <p:cNvPr id="20" name="Rectangle 19"/>
          <p:cNvSpPr/>
          <p:nvPr/>
        </p:nvSpPr>
        <p:spPr>
          <a:xfrm>
            <a:off x="6156000" y="3060000"/>
            <a:ext cx="5580000" cy="360000"/>
          </a:xfrm>
          <a:prstGeom prst="rect">
            <a:avLst/>
          </a:prstGeom>
          <a:solidFill>
            <a:srgbClr val="A85C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336000" y="3060000"/>
            <a:ext cx="5220000" cy="360000"/>
          </a:xfrm>
          <a:prstGeom prst="rect">
            <a:avLst/>
          </a:prstGeom>
          <a:noFill/>
        </p:spPr>
        <p:txBody>
          <a:bodyPr wrap="square" lIns="36000" rIns="36000" tIns="18000" bIns="18000" anchor="ctr">
            <a:spAutoFit/>
          </a:bodyPr>
          <a:lstStyle/>
          <a:p>
            <a:pPr algn="l"/>
            <a:r>
              <a:rPr sz="1400" b="1" i="0">
                <a:solidFill>
                  <a:srgbClr val="FFFFFF"/>
                </a:solidFill>
                <a:latin typeface="Yu Gothic"/>
              </a:rPr>
              <a:t>大切な人・気がかり</a:t>
            </a:r>
          </a:p>
        </p:txBody>
      </p:sp>
      <p:sp>
        <p:nvSpPr>
          <p:cNvPr id="22" name="Rectangle 21"/>
          <p:cNvSpPr/>
          <p:nvPr/>
        </p:nvSpPr>
        <p:spPr>
          <a:xfrm>
            <a:off x="6156000" y="3420000"/>
            <a:ext cx="5580000" cy="972000"/>
          </a:xfrm>
          <a:prstGeom prst="rect">
            <a:avLst/>
          </a:prstGeom>
          <a:solidFill>
            <a:srgbClr val="EAE8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336000" y="3492000"/>
            <a:ext cx="5220000" cy="828001"/>
          </a:xfrm>
          <a:prstGeom prst="rect">
            <a:avLst/>
          </a:prstGeom>
          <a:noFill/>
        </p:spPr>
        <p:txBody>
          <a:bodyPr wrap="square" lIns="36000" rIns="36000" tIns="18000" bIns="18000" anchor="t">
            <a:spAutoFit/>
          </a:bodyPr>
          <a:lstStyle/>
          <a:p>
            <a:pPr algn="l">
              <a:lnSpc>
                <a:spcPct val="140000"/>
              </a:lnSpc>
            </a:pPr>
            <a:r>
              <a:rPr sz="1200" b="0" i="0">
                <a:solidFill>
                  <a:srgbClr val="323038"/>
                </a:solidFill>
                <a:latin typeface="Yu Gothic"/>
              </a:rPr>
              <a:t>・誰に意思を託したいか(代弁者)</a:t>
            </a:r>
          </a:p>
          <a:p>
            <a:pPr algn="l">
              <a:lnSpc>
                <a:spcPct val="140000"/>
              </a:lnSpc>
            </a:pPr>
            <a:r>
              <a:rPr sz="1200" b="0" i="0">
                <a:solidFill>
                  <a:srgbClr val="323038"/>
                </a:solidFill>
                <a:latin typeface="Yu Gothic"/>
              </a:rPr>
              <a:t>・伝えておきたいこと</a:t>
            </a:r>
          </a:p>
          <a:p>
            <a:pPr algn="l">
              <a:lnSpc>
                <a:spcPct val="140000"/>
              </a:lnSpc>
            </a:pPr>
            <a:r>
              <a:rPr sz="1200" b="0" i="0">
                <a:solidFill>
                  <a:srgbClr val="323038"/>
                </a:solidFill>
                <a:latin typeface="Yu Gothic"/>
              </a:rPr>
              <a:t>・やり残したこと・気がかり</a:t>
            </a:r>
          </a:p>
        </p:txBody>
      </p:sp>
      <p:sp>
        <p:nvSpPr>
          <p:cNvPr id="24" name="Rectangle 23"/>
          <p:cNvSpPr/>
          <p:nvPr/>
        </p:nvSpPr>
        <p:spPr>
          <a:xfrm>
            <a:off x="432000" y="4788000"/>
            <a:ext cx="11304000" cy="360000"/>
          </a:xfrm>
          <a:prstGeom prst="rect">
            <a:avLst/>
          </a:prstGeom>
          <a:solidFill>
            <a:srgbClr val="423A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04000" y="4824000"/>
            <a:ext cx="11160000" cy="288000"/>
          </a:xfrm>
          <a:prstGeom prst="rect">
            <a:avLst/>
          </a:prstGeom>
          <a:noFill/>
        </p:spPr>
        <p:txBody>
          <a:bodyPr wrap="square" lIns="36000" rIns="36000" tIns="18000" bIns="18000" anchor="ctr">
            <a:spAutoFit/>
          </a:bodyPr>
          <a:lstStyle/>
          <a:p>
            <a:pPr algn="l"/>
            <a:r>
              <a:rPr sz="1400" b="1" i="0">
                <a:solidFill>
                  <a:srgbClr val="FFFFFF"/>
                </a:solidFill>
                <a:latin typeface="Yu Gothic"/>
              </a:rPr>
              <a:t>話す順番のコツ</a:t>
            </a:r>
          </a:p>
        </p:txBody>
      </p:sp>
      <p:sp>
        <p:nvSpPr>
          <p:cNvPr id="26" name="Rectangle 25"/>
          <p:cNvSpPr/>
          <p:nvPr/>
        </p:nvSpPr>
        <p:spPr>
          <a:xfrm>
            <a:off x="432000" y="5148000"/>
            <a:ext cx="11304000" cy="972000"/>
          </a:xfrm>
          <a:prstGeom prst="rect">
            <a:avLst/>
          </a:prstGeom>
          <a:solidFill>
            <a:srgbClr val="EAE8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540000" y="5184000"/>
            <a:ext cx="11088000" cy="936000"/>
          </a:xfrm>
          <a:prstGeom prst="rect">
            <a:avLst/>
          </a:prstGeom>
          <a:noFill/>
        </p:spPr>
        <p:txBody>
          <a:bodyPr wrap="square" lIns="36000" rIns="36000" tIns="18000" bIns="18000" anchor="t">
            <a:spAutoFit/>
          </a:bodyPr>
          <a:lstStyle/>
          <a:p>
            <a:pPr algn="l"/>
            <a:r>
              <a:rPr sz="1300" b="0" i="0">
                <a:solidFill>
                  <a:srgbClr val="323038"/>
                </a:solidFill>
                <a:latin typeface="Yu Gothic"/>
              </a:rPr>
              <a:t>■ いきなり「延命治療どうしますか」から入らない ― 本人も家族も身構えてしまう</a:t>
            </a:r>
          </a:p>
          <a:p>
            <a:pPr algn="l"/>
            <a:r>
              <a:rPr sz="1300" b="0" i="0">
                <a:solidFill>
                  <a:srgbClr val="323038"/>
                </a:solidFill>
                <a:latin typeface="Yu Gothic"/>
              </a:rPr>
              <a:t>■ まず「価値観・どう過ごしたいか」から。本人の人生・思いを聴くことから始める</a:t>
            </a:r>
          </a:p>
          <a:p>
            <a:pPr algn="l"/>
            <a:r>
              <a:rPr sz="1300" b="0" i="0">
                <a:solidFill>
                  <a:srgbClr val="323038"/>
                </a:solidFill>
                <a:latin typeface="Yu Gothic"/>
              </a:rPr>
              <a:t>■ 医療の具体的な選択は、本人の価値観が見えてきた後に、医療職と一緒に</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119" cy="576000"/>
          </a:xfrm>
          <a:prstGeom prst="rect">
            <a:avLst/>
          </a:prstGeom>
          <a:solidFill>
            <a:srgbClr val="423A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88000" y="90000"/>
            <a:ext cx="7920000" cy="216000"/>
          </a:xfrm>
          <a:prstGeom prst="rect">
            <a:avLst/>
          </a:prstGeom>
          <a:noFill/>
        </p:spPr>
        <p:txBody>
          <a:bodyPr wrap="square" lIns="36000" rIns="36000" tIns="18000" bIns="18000" anchor="t">
            <a:spAutoFit/>
          </a:bodyPr>
          <a:lstStyle/>
          <a:p>
            <a:pPr algn="l"/>
            <a:r>
              <a:rPr sz="1100" b="1" i="0">
                <a:solidFill>
                  <a:srgbClr val="FFFFFF"/>
                </a:solidFill>
                <a:latin typeface="Yu Gothic"/>
              </a:rPr>
              <a:t>3. ACPの支援技術</a:t>
            </a:r>
          </a:p>
        </p:txBody>
      </p:sp>
      <p:sp>
        <p:nvSpPr>
          <p:cNvPr id="4" name="TextBox 3"/>
          <p:cNvSpPr txBox="1"/>
          <p:nvPr/>
        </p:nvSpPr>
        <p:spPr>
          <a:xfrm>
            <a:off x="288000" y="684000"/>
            <a:ext cx="11616119" cy="468000"/>
          </a:xfrm>
          <a:prstGeom prst="rect">
            <a:avLst/>
          </a:prstGeom>
          <a:noFill/>
        </p:spPr>
        <p:txBody>
          <a:bodyPr wrap="square" lIns="36000" rIns="36000" tIns="18000" bIns="18000" anchor="t">
            <a:spAutoFit/>
          </a:bodyPr>
          <a:lstStyle/>
          <a:p>
            <a:pPr algn="l"/>
            <a:r>
              <a:rPr sz="2300" b="1" i="0">
                <a:solidFill>
                  <a:srgbClr val="423A5E"/>
                </a:solidFill>
                <a:latin typeface="Yu Gothic"/>
              </a:rPr>
              <a:t>聴く技術 ― 本人の思いを引き出す</a:t>
            </a:r>
          </a:p>
        </p:txBody>
      </p:sp>
      <p:sp>
        <p:nvSpPr>
          <p:cNvPr id="5" name="Rectangle 4"/>
          <p:cNvSpPr/>
          <p:nvPr/>
        </p:nvSpPr>
        <p:spPr>
          <a:xfrm>
            <a:off x="288000" y="1152000"/>
            <a:ext cx="900000" cy="43200"/>
          </a:xfrm>
          <a:prstGeom prst="rect">
            <a:avLst/>
          </a:prstGeom>
          <a:solidFill>
            <a:srgbClr val="C48C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288000" y="6570000"/>
            <a:ext cx="9360000" cy="180000"/>
          </a:xfrm>
          <a:prstGeom prst="rect">
            <a:avLst/>
          </a:prstGeom>
          <a:noFill/>
        </p:spPr>
        <p:txBody>
          <a:bodyPr wrap="square" lIns="36000" rIns="36000" tIns="18000" bIns="18000" anchor="t">
            <a:spAutoFit/>
          </a:bodyPr>
          <a:lstStyle/>
          <a:p>
            <a:pPr algn="l"/>
            <a:r>
              <a:rPr sz="900" b="0" i="0">
                <a:solidFill>
                  <a:srgbClr val="8C83A6"/>
                </a:solidFill>
                <a:latin typeface="Yu Gothic"/>
              </a:rPr>
              <a:t>主任CM研修 / 看取り期のケアマネジメントとACPの支援技術  ※算定要件は最新の告示・通知をご確認ください</a:t>
            </a:r>
          </a:p>
        </p:txBody>
      </p:sp>
      <p:sp>
        <p:nvSpPr>
          <p:cNvPr id="7" name="TextBox 6"/>
          <p:cNvSpPr txBox="1"/>
          <p:nvPr/>
        </p:nvSpPr>
        <p:spPr>
          <a:xfrm>
            <a:off x="11112119" y="6570000"/>
            <a:ext cx="792000" cy="180000"/>
          </a:xfrm>
          <a:prstGeom prst="rect">
            <a:avLst/>
          </a:prstGeom>
          <a:noFill/>
        </p:spPr>
        <p:txBody>
          <a:bodyPr wrap="square" lIns="36000" rIns="36000" tIns="18000" bIns="18000" anchor="t">
            <a:spAutoFit/>
          </a:bodyPr>
          <a:lstStyle/>
          <a:p>
            <a:pPr algn="r"/>
            <a:r>
              <a:rPr sz="900" b="0" i="0">
                <a:solidFill>
                  <a:srgbClr val="8C83A6"/>
                </a:solidFill>
                <a:latin typeface="Yu Gothic"/>
              </a:rPr>
              <a:t>14 / 33</a:t>
            </a:r>
          </a:p>
        </p:txBody>
      </p:sp>
      <p:sp>
        <p:nvSpPr>
          <p:cNvPr id="8" name="Rectangle 7"/>
          <p:cNvSpPr/>
          <p:nvPr/>
        </p:nvSpPr>
        <p:spPr>
          <a:xfrm>
            <a:off x="432000" y="1548000"/>
            <a:ext cx="5580000" cy="360000"/>
          </a:xfrm>
          <a:prstGeom prst="rect">
            <a:avLst/>
          </a:prstGeom>
          <a:solidFill>
            <a:srgbClr val="527C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04000" y="1584000"/>
            <a:ext cx="5436000" cy="288000"/>
          </a:xfrm>
          <a:prstGeom prst="rect">
            <a:avLst/>
          </a:prstGeom>
          <a:noFill/>
        </p:spPr>
        <p:txBody>
          <a:bodyPr wrap="square" lIns="36000" rIns="36000" tIns="18000" bIns="18000" anchor="ctr">
            <a:spAutoFit/>
          </a:bodyPr>
          <a:lstStyle/>
          <a:p>
            <a:pPr algn="l"/>
            <a:r>
              <a:rPr sz="1400" b="1" i="0">
                <a:solidFill>
                  <a:srgbClr val="FFFFFF"/>
                </a:solidFill>
                <a:latin typeface="Yu Gothic"/>
              </a:rPr>
              <a:t>本人が語りやすい関わり</a:t>
            </a:r>
          </a:p>
        </p:txBody>
      </p:sp>
      <p:sp>
        <p:nvSpPr>
          <p:cNvPr id="10" name="Rectangle 9"/>
          <p:cNvSpPr/>
          <p:nvPr/>
        </p:nvSpPr>
        <p:spPr>
          <a:xfrm>
            <a:off x="432000" y="1908000"/>
            <a:ext cx="5580000" cy="1980000"/>
          </a:xfrm>
          <a:prstGeom prst="rect">
            <a:avLst/>
          </a:prstGeom>
          <a:solidFill>
            <a:srgbClr val="E5EC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40000" y="1944000"/>
            <a:ext cx="5364000" cy="1944000"/>
          </a:xfrm>
          <a:prstGeom prst="rect">
            <a:avLst/>
          </a:prstGeom>
          <a:noFill/>
        </p:spPr>
        <p:txBody>
          <a:bodyPr wrap="square" lIns="36000" rIns="36000" tIns="18000" bIns="18000" anchor="t">
            <a:spAutoFit/>
          </a:bodyPr>
          <a:lstStyle/>
          <a:p>
            <a:pPr algn="l"/>
            <a:r>
              <a:rPr sz="1200" b="0" i="0">
                <a:solidFill>
                  <a:srgbClr val="323038"/>
                </a:solidFill>
                <a:latin typeface="Yu Gothic"/>
              </a:rPr>
              <a:t>■ 落ち着いて話せる環境・時間をつくる</a:t>
            </a:r>
          </a:p>
          <a:p>
            <a:pPr algn="l"/>
            <a:r>
              <a:rPr sz="1200" b="0" i="0">
                <a:solidFill>
                  <a:srgbClr val="323038"/>
                </a:solidFill>
                <a:latin typeface="Yu Gothic"/>
              </a:rPr>
              <a:t/>
            </a:r>
          </a:p>
          <a:p>
            <a:pPr algn="l"/>
            <a:r>
              <a:rPr sz="1200" b="0" i="0">
                <a:solidFill>
                  <a:srgbClr val="323038"/>
                </a:solidFill>
                <a:latin typeface="Yu Gothic"/>
              </a:rPr>
              <a:t>■ 開かれた問いかけ</a:t>
            </a:r>
          </a:p>
          <a:p>
            <a:pPr algn="l"/>
            <a:r>
              <a:rPr sz="1200" b="0" i="0">
                <a:solidFill>
                  <a:srgbClr val="323038"/>
                </a:solidFill>
                <a:latin typeface="Yu Gothic"/>
              </a:rPr>
              <a:t>   「これからどう過ごしたいですか」</a:t>
            </a:r>
          </a:p>
          <a:p>
            <a:pPr algn="l"/>
            <a:r>
              <a:rPr sz="1200" b="0" i="0">
                <a:solidFill>
                  <a:srgbClr val="323038"/>
                </a:solidFill>
                <a:latin typeface="Yu Gothic"/>
              </a:rPr>
              <a:t>   「何が一番気がかりですか」</a:t>
            </a:r>
          </a:p>
          <a:p>
            <a:pPr algn="l"/>
            <a:r>
              <a:rPr sz="1200" b="0" i="0">
                <a:solidFill>
                  <a:srgbClr val="323038"/>
                </a:solidFill>
                <a:latin typeface="Yu Gothic"/>
              </a:rPr>
              <a:t/>
            </a:r>
          </a:p>
          <a:p>
            <a:pPr algn="l"/>
            <a:r>
              <a:rPr sz="1200" b="0" i="0">
                <a:solidFill>
                  <a:srgbClr val="323038"/>
                </a:solidFill>
                <a:latin typeface="Yu Gothic"/>
              </a:rPr>
              <a:t>■ 沈黙を待つ ― 答えを急かさない</a:t>
            </a:r>
          </a:p>
          <a:p>
            <a:pPr algn="l"/>
            <a:r>
              <a:rPr sz="1200" b="0" i="0">
                <a:solidFill>
                  <a:srgbClr val="323038"/>
                </a:solidFill>
                <a:latin typeface="Yu Gothic"/>
              </a:rPr>
              <a:t/>
            </a:r>
          </a:p>
          <a:p>
            <a:pPr algn="l"/>
            <a:r>
              <a:rPr sz="1200" b="0" i="0">
                <a:solidFill>
                  <a:srgbClr val="323038"/>
                </a:solidFill>
                <a:latin typeface="Yu Gothic"/>
              </a:rPr>
              <a:t>■ 言葉を受けとめ、返す(反映)</a:t>
            </a:r>
          </a:p>
          <a:p>
            <a:pPr algn="l"/>
            <a:r>
              <a:rPr sz="1200" b="0" i="0">
                <a:solidFill>
                  <a:srgbClr val="323038"/>
                </a:solidFill>
                <a:latin typeface="Yu Gothic"/>
              </a:rPr>
              <a:t/>
            </a:r>
          </a:p>
          <a:p>
            <a:pPr algn="l"/>
            <a:r>
              <a:rPr sz="1200" b="0" i="0">
                <a:solidFill>
                  <a:srgbClr val="323038"/>
                </a:solidFill>
                <a:latin typeface="Yu Gothic"/>
              </a:rPr>
              <a:t>■ 評価・否定をしない</a:t>
            </a:r>
          </a:p>
        </p:txBody>
      </p:sp>
      <p:sp>
        <p:nvSpPr>
          <p:cNvPr id="12" name="Rectangle 11"/>
          <p:cNvSpPr/>
          <p:nvPr/>
        </p:nvSpPr>
        <p:spPr>
          <a:xfrm>
            <a:off x="6300000" y="1548000"/>
            <a:ext cx="5400000" cy="360000"/>
          </a:xfrm>
          <a:prstGeom prst="rect">
            <a:avLst/>
          </a:prstGeom>
          <a:solidFill>
            <a:srgbClr val="B044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372000" y="1584000"/>
            <a:ext cx="5256000" cy="288000"/>
          </a:xfrm>
          <a:prstGeom prst="rect">
            <a:avLst/>
          </a:prstGeom>
          <a:noFill/>
        </p:spPr>
        <p:txBody>
          <a:bodyPr wrap="square" lIns="36000" rIns="36000" tIns="18000" bIns="18000" anchor="ctr">
            <a:spAutoFit/>
          </a:bodyPr>
          <a:lstStyle/>
          <a:p>
            <a:pPr algn="l"/>
            <a:r>
              <a:rPr sz="1400" b="1" i="0">
                <a:solidFill>
                  <a:srgbClr val="FFFFFF"/>
                </a:solidFill>
                <a:latin typeface="Yu Gothic"/>
              </a:rPr>
              <a:t>避けたい関わり</a:t>
            </a:r>
          </a:p>
        </p:txBody>
      </p:sp>
      <p:sp>
        <p:nvSpPr>
          <p:cNvPr id="14" name="Rectangle 13"/>
          <p:cNvSpPr/>
          <p:nvPr/>
        </p:nvSpPr>
        <p:spPr>
          <a:xfrm>
            <a:off x="6300000" y="1908000"/>
            <a:ext cx="5400000" cy="1980000"/>
          </a:xfrm>
          <a:prstGeom prst="rect">
            <a:avLst/>
          </a:prstGeom>
          <a:solidFill>
            <a:srgbClr val="F7E6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08000" y="1944000"/>
            <a:ext cx="5184000" cy="1944000"/>
          </a:xfrm>
          <a:prstGeom prst="rect">
            <a:avLst/>
          </a:prstGeom>
          <a:noFill/>
        </p:spPr>
        <p:txBody>
          <a:bodyPr wrap="square" lIns="36000" rIns="36000" tIns="18000" bIns="18000" anchor="t">
            <a:spAutoFit/>
          </a:bodyPr>
          <a:lstStyle/>
          <a:p>
            <a:pPr algn="l"/>
            <a:r>
              <a:rPr sz="1200" b="0" i="0">
                <a:solidFill>
                  <a:srgbClr val="323038"/>
                </a:solidFill>
                <a:latin typeface="Yu Gothic"/>
              </a:rPr>
              <a:t>■ 一般論・正解を押しつける</a:t>
            </a:r>
          </a:p>
          <a:p>
            <a:pPr algn="l"/>
            <a:r>
              <a:rPr sz="1200" b="0" i="0">
                <a:solidFill>
                  <a:srgbClr val="323038"/>
                </a:solidFill>
                <a:latin typeface="Yu Gothic"/>
              </a:rPr>
              <a:t/>
            </a:r>
          </a:p>
          <a:p>
            <a:pPr algn="l"/>
            <a:r>
              <a:rPr sz="1200" b="0" i="0">
                <a:solidFill>
                  <a:srgbClr val="323038"/>
                </a:solidFill>
                <a:latin typeface="Yu Gothic"/>
              </a:rPr>
              <a:t>■ 「そんな弱気にならないで」と励まし、</a:t>
            </a:r>
          </a:p>
          <a:p>
            <a:pPr algn="l"/>
            <a:r>
              <a:rPr sz="1200" b="0" i="0">
                <a:solidFill>
                  <a:srgbClr val="323038"/>
                </a:solidFill>
                <a:latin typeface="Yu Gothic"/>
              </a:rPr>
              <a:t>   本人の不安にふたをする</a:t>
            </a:r>
          </a:p>
          <a:p>
            <a:pPr algn="l"/>
            <a:r>
              <a:rPr sz="1200" b="0" i="0">
                <a:solidFill>
                  <a:srgbClr val="323038"/>
                </a:solidFill>
                <a:latin typeface="Yu Gothic"/>
              </a:rPr>
              <a:t/>
            </a:r>
          </a:p>
          <a:p>
            <a:pPr algn="l"/>
            <a:r>
              <a:rPr sz="1200" b="0" i="0">
                <a:solidFill>
                  <a:srgbClr val="323038"/>
                </a:solidFill>
                <a:latin typeface="Yu Gothic"/>
              </a:rPr>
              <a:t>■ 質問攻めにする(尋問になる)</a:t>
            </a:r>
          </a:p>
          <a:p>
            <a:pPr algn="l"/>
            <a:r>
              <a:rPr sz="1200" b="0" i="0">
                <a:solidFill>
                  <a:srgbClr val="323038"/>
                </a:solidFill>
                <a:latin typeface="Yu Gothic"/>
              </a:rPr>
              <a:t/>
            </a:r>
          </a:p>
          <a:p>
            <a:pPr algn="l"/>
            <a:r>
              <a:rPr sz="1200" b="0" i="0">
                <a:solidFill>
                  <a:srgbClr val="323038"/>
                </a:solidFill>
                <a:latin typeface="Yu Gothic"/>
              </a:rPr>
              <a:t>■ 本人より家族にばかり話を向ける</a:t>
            </a:r>
          </a:p>
          <a:p>
            <a:pPr algn="l"/>
            <a:r>
              <a:rPr sz="1200" b="0" i="0">
                <a:solidFill>
                  <a:srgbClr val="323038"/>
                </a:solidFill>
                <a:latin typeface="Yu Gothic"/>
              </a:rPr>
              <a:t/>
            </a:r>
          </a:p>
          <a:p>
            <a:pPr algn="l"/>
            <a:r>
              <a:rPr sz="1200" b="0" i="0">
                <a:solidFill>
                  <a:srgbClr val="323038"/>
                </a:solidFill>
                <a:latin typeface="Yu Gothic"/>
              </a:rPr>
              <a:t>■ 「決めさせよう」と焦る</a:t>
            </a:r>
          </a:p>
        </p:txBody>
      </p:sp>
      <p:sp>
        <p:nvSpPr>
          <p:cNvPr id="16" name="Rectangle 15"/>
          <p:cNvSpPr/>
          <p:nvPr/>
        </p:nvSpPr>
        <p:spPr>
          <a:xfrm>
            <a:off x="432000" y="3960000"/>
            <a:ext cx="11304000" cy="360000"/>
          </a:xfrm>
          <a:prstGeom prst="rect">
            <a:avLst/>
          </a:prstGeom>
          <a:solidFill>
            <a:srgbClr val="423A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04000" y="3996000"/>
            <a:ext cx="11160000" cy="288000"/>
          </a:xfrm>
          <a:prstGeom prst="rect">
            <a:avLst/>
          </a:prstGeom>
          <a:noFill/>
        </p:spPr>
        <p:txBody>
          <a:bodyPr wrap="square" lIns="36000" rIns="36000" tIns="18000" bIns="18000" anchor="ctr">
            <a:spAutoFit/>
          </a:bodyPr>
          <a:lstStyle/>
          <a:p>
            <a:pPr algn="l"/>
            <a:r>
              <a:rPr sz="1400" b="1" i="0">
                <a:solidFill>
                  <a:srgbClr val="FFFFFF"/>
                </a:solidFill>
                <a:latin typeface="Yu Gothic"/>
              </a:rPr>
              <a:t>「答え」を引き出すより、「思い」に寄り添う</a:t>
            </a:r>
          </a:p>
        </p:txBody>
      </p:sp>
      <p:sp>
        <p:nvSpPr>
          <p:cNvPr id="18" name="Rectangle 17"/>
          <p:cNvSpPr/>
          <p:nvPr/>
        </p:nvSpPr>
        <p:spPr>
          <a:xfrm>
            <a:off x="432000" y="4320000"/>
            <a:ext cx="11304000" cy="1800000"/>
          </a:xfrm>
          <a:prstGeom prst="rect">
            <a:avLst/>
          </a:prstGeom>
          <a:solidFill>
            <a:srgbClr val="EAE8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40000" y="4356000"/>
            <a:ext cx="11088000" cy="1764000"/>
          </a:xfrm>
          <a:prstGeom prst="rect">
            <a:avLst/>
          </a:prstGeom>
          <a:noFill/>
        </p:spPr>
        <p:txBody>
          <a:bodyPr wrap="square" lIns="36000" rIns="36000" tIns="18000" bIns="18000" anchor="t">
            <a:spAutoFit/>
          </a:bodyPr>
          <a:lstStyle/>
          <a:p>
            <a:pPr algn="l"/>
            <a:r>
              <a:rPr sz="1300" b="0" i="0">
                <a:solidFill>
                  <a:srgbClr val="323038"/>
                </a:solidFill>
                <a:latin typeface="Yu Gothic"/>
              </a:rPr>
              <a:t>■ ACPの対話は「結論を出す面接」ではない ― 本人の揺れ・迷いに付き合うことが支援</a:t>
            </a:r>
          </a:p>
          <a:p>
            <a:pPr algn="l"/>
            <a:r>
              <a:rPr sz="1300" b="0" i="0">
                <a:solidFill>
                  <a:srgbClr val="323038"/>
                </a:solidFill>
                <a:latin typeface="Yu Gothic"/>
              </a:rPr>
              <a:t/>
            </a:r>
          </a:p>
          <a:p>
            <a:pPr algn="l"/>
            <a:r>
              <a:rPr sz="1300" b="0" i="0">
                <a:solidFill>
                  <a:srgbClr val="323038"/>
                </a:solidFill>
                <a:latin typeface="Yu Gothic"/>
              </a:rPr>
              <a:t>■ 言葉にならない思いも大切に ― 表情・沈黙・ためらいにも、本人の気持ちが表れる</a:t>
            </a:r>
          </a:p>
          <a:p>
            <a:pPr algn="l"/>
            <a:r>
              <a:rPr sz="1300" b="0" i="0">
                <a:solidFill>
                  <a:srgbClr val="323038"/>
                </a:solidFill>
                <a:latin typeface="Yu Gothic"/>
              </a:rPr>
              <a:t/>
            </a:r>
          </a:p>
          <a:p>
            <a:pPr algn="l"/>
            <a:r>
              <a:rPr sz="1300" b="0" i="0">
                <a:solidFill>
                  <a:srgbClr val="323038"/>
                </a:solidFill>
                <a:latin typeface="Yu Gothic"/>
              </a:rPr>
              <a:t>■ 「つらい話をしてくれてありがとう」と、語ってくれたこと自体をねぎらう</a:t>
            </a:r>
          </a:p>
          <a:p>
            <a:pPr algn="l"/>
            <a:r>
              <a:rPr sz="1300" b="0" i="0">
                <a:solidFill>
                  <a:srgbClr val="323038"/>
                </a:solidFill>
                <a:latin typeface="Yu Gothic"/>
              </a:rPr>
              <a:t/>
            </a:r>
          </a:p>
          <a:p>
            <a:pPr algn="l"/>
            <a:r>
              <a:rPr sz="1300" b="0" i="0">
                <a:solidFill>
                  <a:srgbClr val="323038"/>
                </a:solidFill>
                <a:latin typeface="Yu Gothic"/>
              </a:rPr>
              <a:t>■ 第4弾のスーパービジョンの問いかけ技術が、ACPの対話でもそのまま生きる</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119" cy="576000"/>
          </a:xfrm>
          <a:prstGeom prst="rect">
            <a:avLst/>
          </a:prstGeom>
          <a:solidFill>
            <a:srgbClr val="423A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88000" y="90000"/>
            <a:ext cx="7920000" cy="216000"/>
          </a:xfrm>
          <a:prstGeom prst="rect">
            <a:avLst/>
          </a:prstGeom>
          <a:noFill/>
        </p:spPr>
        <p:txBody>
          <a:bodyPr wrap="square" lIns="36000" rIns="36000" tIns="18000" bIns="18000" anchor="t">
            <a:spAutoFit/>
          </a:bodyPr>
          <a:lstStyle/>
          <a:p>
            <a:pPr algn="l"/>
            <a:r>
              <a:rPr sz="1100" b="1" i="0">
                <a:solidFill>
                  <a:srgbClr val="FFFFFF"/>
                </a:solidFill>
                <a:latin typeface="Yu Gothic"/>
              </a:rPr>
              <a:t>3. ACPの支援技術</a:t>
            </a:r>
          </a:p>
        </p:txBody>
      </p:sp>
      <p:sp>
        <p:nvSpPr>
          <p:cNvPr id="4" name="TextBox 3"/>
          <p:cNvSpPr txBox="1"/>
          <p:nvPr/>
        </p:nvSpPr>
        <p:spPr>
          <a:xfrm>
            <a:off x="288000" y="684000"/>
            <a:ext cx="11616119" cy="468000"/>
          </a:xfrm>
          <a:prstGeom prst="rect">
            <a:avLst/>
          </a:prstGeom>
          <a:noFill/>
        </p:spPr>
        <p:txBody>
          <a:bodyPr wrap="square" lIns="36000" rIns="36000" tIns="18000" bIns="18000" anchor="t">
            <a:spAutoFit/>
          </a:bodyPr>
          <a:lstStyle/>
          <a:p>
            <a:pPr algn="l"/>
            <a:r>
              <a:rPr sz="2300" b="1" i="0">
                <a:solidFill>
                  <a:srgbClr val="423A5E"/>
                </a:solidFill>
                <a:latin typeface="Yu Gothic"/>
              </a:rPr>
              <a:t>本人の意思が確認しづらいとき</a:t>
            </a:r>
          </a:p>
        </p:txBody>
      </p:sp>
      <p:sp>
        <p:nvSpPr>
          <p:cNvPr id="5" name="Rectangle 4"/>
          <p:cNvSpPr/>
          <p:nvPr/>
        </p:nvSpPr>
        <p:spPr>
          <a:xfrm>
            <a:off x="288000" y="1152000"/>
            <a:ext cx="900000" cy="43200"/>
          </a:xfrm>
          <a:prstGeom prst="rect">
            <a:avLst/>
          </a:prstGeom>
          <a:solidFill>
            <a:srgbClr val="C48C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288000" y="6570000"/>
            <a:ext cx="9360000" cy="180000"/>
          </a:xfrm>
          <a:prstGeom prst="rect">
            <a:avLst/>
          </a:prstGeom>
          <a:noFill/>
        </p:spPr>
        <p:txBody>
          <a:bodyPr wrap="square" lIns="36000" rIns="36000" tIns="18000" bIns="18000" anchor="t">
            <a:spAutoFit/>
          </a:bodyPr>
          <a:lstStyle/>
          <a:p>
            <a:pPr algn="l"/>
            <a:r>
              <a:rPr sz="900" b="0" i="0">
                <a:solidFill>
                  <a:srgbClr val="8C83A6"/>
                </a:solidFill>
                <a:latin typeface="Yu Gothic"/>
              </a:rPr>
              <a:t>主任CM研修 / 看取り期のケアマネジメントとACPの支援技術  ※算定要件は最新の告示・通知をご確認ください</a:t>
            </a:r>
          </a:p>
        </p:txBody>
      </p:sp>
      <p:sp>
        <p:nvSpPr>
          <p:cNvPr id="7" name="TextBox 6"/>
          <p:cNvSpPr txBox="1"/>
          <p:nvPr/>
        </p:nvSpPr>
        <p:spPr>
          <a:xfrm>
            <a:off x="11112119" y="6570000"/>
            <a:ext cx="792000" cy="180000"/>
          </a:xfrm>
          <a:prstGeom prst="rect">
            <a:avLst/>
          </a:prstGeom>
          <a:noFill/>
        </p:spPr>
        <p:txBody>
          <a:bodyPr wrap="square" lIns="36000" rIns="36000" tIns="18000" bIns="18000" anchor="t">
            <a:spAutoFit/>
          </a:bodyPr>
          <a:lstStyle/>
          <a:p>
            <a:pPr algn="r"/>
            <a:r>
              <a:rPr sz="900" b="0" i="0">
                <a:solidFill>
                  <a:srgbClr val="8C83A6"/>
                </a:solidFill>
                <a:latin typeface="Yu Gothic"/>
              </a:rPr>
              <a:t>15 / 33</a:t>
            </a:r>
          </a:p>
        </p:txBody>
      </p:sp>
      <p:sp>
        <p:nvSpPr>
          <p:cNvPr id="8" name="Rectangle 7"/>
          <p:cNvSpPr/>
          <p:nvPr/>
        </p:nvSpPr>
        <p:spPr>
          <a:xfrm>
            <a:off x="432000" y="1548000"/>
            <a:ext cx="11304000" cy="360000"/>
          </a:xfrm>
          <a:prstGeom prst="rect">
            <a:avLst/>
          </a:prstGeom>
          <a:solidFill>
            <a:srgbClr val="423A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04000" y="1584000"/>
            <a:ext cx="11160000" cy="288000"/>
          </a:xfrm>
          <a:prstGeom prst="rect">
            <a:avLst/>
          </a:prstGeom>
          <a:noFill/>
        </p:spPr>
        <p:txBody>
          <a:bodyPr wrap="square" lIns="36000" rIns="36000" tIns="18000" bIns="18000" anchor="ctr">
            <a:spAutoFit/>
          </a:bodyPr>
          <a:lstStyle/>
          <a:p>
            <a:pPr algn="l"/>
            <a:r>
              <a:rPr sz="1400" b="1" i="0">
                <a:solidFill>
                  <a:srgbClr val="FFFFFF"/>
                </a:solidFill>
                <a:latin typeface="Yu Gothic"/>
              </a:rPr>
              <a:t>認知症の進行・状態の悪化で、本人が意思を表せないとき</a:t>
            </a:r>
          </a:p>
        </p:txBody>
      </p:sp>
      <p:sp>
        <p:nvSpPr>
          <p:cNvPr id="10" name="Rectangle 9"/>
          <p:cNvSpPr/>
          <p:nvPr/>
        </p:nvSpPr>
        <p:spPr>
          <a:xfrm>
            <a:off x="432000" y="1908000"/>
            <a:ext cx="11304000" cy="467999"/>
          </a:xfrm>
          <a:prstGeom prst="rect">
            <a:avLst/>
          </a:prstGeom>
          <a:solidFill>
            <a:srgbClr val="EAE8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40000" y="1944000"/>
            <a:ext cx="11088000" cy="431999"/>
          </a:xfrm>
          <a:prstGeom prst="rect">
            <a:avLst/>
          </a:prstGeom>
          <a:noFill/>
        </p:spPr>
        <p:txBody>
          <a:bodyPr wrap="square" lIns="36000" rIns="36000" tIns="18000" bIns="18000" anchor="t">
            <a:spAutoFit/>
          </a:bodyPr>
          <a:lstStyle/>
          <a:p>
            <a:pPr algn="l"/>
            <a:r>
              <a:rPr sz="1200" b="0" i="0">
                <a:solidFill>
                  <a:srgbClr val="323038"/>
                </a:solidFill>
                <a:latin typeface="Yu Gothic"/>
              </a:rPr>
              <a:t>「意思が確認できない」=「意思がない」ではない。</a:t>
            </a:r>
          </a:p>
          <a:p>
            <a:pPr algn="l"/>
            <a:r>
              <a:rPr sz="1200" b="0" i="0">
                <a:solidFill>
                  <a:srgbClr val="323038"/>
                </a:solidFill>
                <a:latin typeface="Yu Gothic"/>
              </a:rPr>
              <a:t>本人がこれまでどう生きてきたかから、その意思を「推定」して尊重する。</a:t>
            </a:r>
          </a:p>
        </p:txBody>
      </p:sp>
      <p:sp>
        <p:nvSpPr>
          <p:cNvPr id="12" name="Oval 11"/>
          <p:cNvSpPr/>
          <p:nvPr/>
        </p:nvSpPr>
        <p:spPr>
          <a:xfrm>
            <a:off x="540000" y="2628000"/>
            <a:ext cx="432000" cy="432000"/>
          </a:xfrm>
          <a:prstGeom prst="ellipse">
            <a:avLst/>
          </a:prstGeom>
          <a:solidFill>
            <a:srgbClr val="605780"/>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500" b="1">
                <a:solidFill>
                  <a:srgbClr val="FFFFFF"/>
                </a:solidFill>
                <a:latin typeface="Yu Gothic"/>
              </a:rPr>
              <a:t>1</a:t>
            </a:r>
          </a:p>
        </p:txBody>
      </p:sp>
      <p:sp>
        <p:nvSpPr>
          <p:cNvPr id="13" name="Rectangle 12"/>
          <p:cNvSpPr/>
          <p:nvPr/>
        </p:nvSpPr>
        <p:spPr>
          <a:xfrm>
            <a:off x="1152000" y="2520000"/>
            <a:ext cx="2700000" cy="648000"/>
          </a:xfrm>
          <a:prstGeom prst="rect">
            <a:avLst/>
          </a:prstGeom>
          <a:solidFill>
            <a:srgbClr val="6057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188000" y="2520000"/>
            <a:ext cx="2628000" cy="648000"/>
          </a:xfrm>
          <a:prstGeom prst="rect">
            <a:avLst/>
          </a:prstGeom>
          <a:noFill/>
        </p:spPr>
        <p:txBody>
          <a:bodyPr wrap="square" lIns="36000" rIns="36000" tIns="18000" bIns="18000" anchor="ctr">
            <a:spAutoFit/>
          </a:bodyPr>
          <a:lstStyle/>
          <a:p>
            <a:pPr algn="ctr"/>
            <a:r>
              <a:rPr sz="1300" b="1" i="0">
                <a:solidFill>
                  <a:srgbClr val="FFFFFF"/>
                </a:solidFill>
                <a:latin typeface="Yu Gothic"/>
              </a:rPr>
              <a:t>まず本人に向き合う</a:t>
            </a:r>
          </a:p>
        </p:txBody>
      </p:sp>
      <p:sp>
        <p:nvSpPr>
          <p:cNvPr id="15" name="Rectangle 14"/>
          <p:cNvSpPr/>
          <p:nvPr/>
        </p:nvSpPr>
        <p:spPr>
          <a:xfrm>
            <a:off x="3851999" y="2520000"/>
            <a:ext cx="7908119" cy="648000"/>
          </a:xfrm>
          <a:prstGeom prst="rect">
            <a:avLst/>
          </a:prstGeom>
          <a:solidFill>
            <a:srgbClr val="EAE8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996000" y="2574000"/>
            <a:ext cx="7692119" cy="540000"/>
          </a:xfrm>
          <a:prstGeom prst="rect">
            <a:avLst/>
          </a:prstGeom>
          <a:noFill/>
        </p:spPr>
        <p:txBody>
          <a:bodyPr wrap="square" lIns="36000" rIns="36000" tIns="18000" bIns="18000" anchor="ctr">
            <a:spAutoFit/>
          </a:bodyPr>
          <a:lstStyle/>
          <a:p>
            <a:pPr algn="l">
              <a:lnSpc>
                <a:spcPct val="130000"/>
              </a:lnSpc>
            </a:pPr>
            <a:r>
              <a:rPr sz="1100" b="0" i="0">
                <a:solidFill>
                  <a:srgbClr val="323038"/>
                </a:solidFill>
                <a:latin typeface="Yu Gothic"/>
              </a:rPr>
              <a:t>意思を表せないように見えても、本人に語りかけ、表情・反応から思いを読み取る努力を続ける</a:t>
            </a:r>
          </a:p>
        </p:txBody>
      </p:sp>
      <p:sp>
        <p:nvSpPr>
          <p:cNvPr id="17" name="Oval 16"/>
          <p:cNvSpPr/>
          <p:nvPr/>
        </p:nvSpPr>
        <p:spPr>
          <a:xfrm>
            <a:off x="540000" y="3384000"/>
            <a:ext cx="432000" cy="432000"/>
          </a:xfrm>
          <a:prstGeom prst="ellipse">
            <a:avLst/>
          </a:prstGeom>
          <a:solidFill>
            <a:srgbClr val="A85C66"/>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500" b="1">
                <a:solidFill>
                  <a:srgbClr val="FFFFFF"/>
                </a:solidFill>
                <a:latin typeface="Yu Gothic"/>
              </a:rPr>
              <a:t>2</a:t>
            </a:r>
          </a:p>
        </p:txBody>
      </p:sp>
      <p:sp>
        <p:nvSpPr>
          <p:cNvPr id="18" name="Rectangle 17"/>
          <p:cNvSpPr/>
          <p:nvPr/>
        </p:nvSpPr>
        <p:spPr>
          <a:xfrm>
            <a:off x="1152000" y="3276000"/>
            <a:ext cx="2700000" cy="648000"/>
          </a:xfrm>
          <a:prstGeom prst="rect">
            <a:avLst/>
          </a:prstGeom>
          <a:solidFill>
            <a:srgbClr val="A85C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188000" y="3276000"/>
            <a:ext cx="2628000" cy="648000"/>
          </a:xfrm>
          <a:prstGeom prst="rect">
            <a:avLst/>
          </a:prstGeom>
          <a:noFill/>
        </p:spPr>
        <p:txBody>
          <a:bodyPr wrap="square" lIns="36000" rIns="36000" tIns="18000" bIns="18000" anchor="ctr">
            <a:spAutoFit/>
          </a:bodyPr>
          <a:lstStyle/>
          <a:p>
            <a:pPr algn="ctr"/>
            <a:r>
              <a:rPr sz="1300" b="1" i="0">
                <a:solidFill>
                  <a:srgbClr val="FFFFFF"/>
                </a:solidFill>
                <a:latin typeface="Yu Gothic"/>
              </a:rPr>
              <a:t>推定意思を探る</a:t>
            </a:r>
          </a:p>
        </p:txBody>
      </p:sp>
      <p:sp>
        <p:nvSpPr>
          <p:cNvPr id="20" name="Rectangle 19"/>
          <p:cNvSpPr/>
          <p:nvPr/>
        </p:nvSpPr>
        <p:spPr>
          <a:xfrm>
            <a:off x="3851999" y="3276000"/>
            <a:ext cx="7908119" cy="648000"/>
          </a:xfrm>
          <a:prstGeom prst="rect">
            <a:avLst/>
          </a:prstGeom>
          <a:solidFill>
            <a:srgbClr val="EAE8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3996000" y="3330000"/>
            <a:ext cx="7692119" cy="540000"/>
          </a:xfrm>
          <a:prstGeom prst="rect">
            <a:avLst/>
          </a:prstGeom>
          <a:noFill/>
        </p:spPr>
        <p:txBody>
          <a:bodyPr wrap="square" lIns="36000" rIns="36000" tIns="18000" bIns="18000" anchor="ctr">
            <a:spAutoFit/>
          </a:bodyPr>
          <a:lstStyle/>
          <a:p>
            <a:pPr algn="l">
              <a:lnSpc>
                <a:spcPct val="130000"/>
              </a:lnSpc>
            </a:pPr>
            <a:r>
              <a:rPr sz="1100" b="0" i="0">
                <a:solidFill>
                  <a:srgbClr val="323038"/>
                </a:solidFill>
                <a:latin typeface="Yu Gothic"/>
              </a:rPr>
              <a:t>これまでの言動・価値観・人生から「本人ならどう考えるか」を、家族等と一緒に推定する</a:t>
            </a:r>
          </a:p>
        </p:txBody>
      </p:sp>
      <p:sp>
        <p:nvSpPr>
          <p:cNvPr id="22" name="Oval 21"/>
          <p:cNvSpPr/>
          <p:nvPr/>
        </p:nvSpPr>
        <p:spPr>
          <a:xfrm>
            <a:off x="540000" y="4140000"/>
            <a:ext cx="432000" cy="432000"/>
          </a:xfrm>
          <a:prstGeom prst="ellipse">
            <a:avLst/>
          </a:prstGeom>
          <a:solidFill>
            <a:srgbClr val="C48C3A"/>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500" b="1">
                <a:solidFill>
                  <a:srgbClr val="FFFFFF"/>
                </a:solidFill>
                <a:latin typeface="Yu Gothic"/>
              </a:rPr>
              <a:t>3</a:t>
            </a:r>
          </a:p>
        </p:txBody>
      </p:sp>
      <p:sp>
        <p:nvSpPr>
          <p:cNvPr id="23" name="Rectangle 22"/>
          <p:cNvSpPr/>
          <p:nvPr/>
        </p:nvSpPr>
        <p:spPr>
          <a:xfrm>
            <a:off x="1152000" y="4032000"/>
            <a:ext cx="2700000" cy="648000"/>
          </a:xfrm>
          <a:prstGeom prst="rect">
            <a:avLst/>
          </a:prstGeom>
          <a:solidFill>
            <a:srgbClr val="C48C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1188000" y="4032000"/>
            <a:ext cx="2628000" cy="648000"/>
          </a:xfrm>
          <a:prstGeom prst="rect">
            <a:avLst/>
          </a:prstGeom>
          <a:noFill/>
        </p:spPr>
        <p:txBody>
          <a:bodyPr wrap="square" lIns="36000" rIns="36000" tIns="18000" bIns="18000" anchor="ctr">
            <a:spAutoFit/>
          </a:bodyPr>
          <a:lstStyle/>
          <a:p>
            <a:pPr algn="ctr"/>
            <a:r>
              <a:rPr sz="1300" b="1" i="0">
                <a:solidFill>
                  <a:srgbClr val="FFFFFF"/>
                </a:solidFill>
                <a:latin typeface="Yu Gothic"/>
              </a:rPr>
              <a:t>事前の意思表示を確認</a:t>
            </a:r>
          </a:p>
        </p:txBody>
      </p:sp>
      <p:sp>
        <p:nvSpPr>
          <p:cNvPr id="25" name="Rectangle 24"/>
          <p:cNvSpPr/>
          <p:nvPr/>
        </p:nvSpPr>
        <p:spPr>
          <a:xfrm>
            <a:off x="3851999" y="4032000"/>
            <a:ext cx="7908119" cy="648000"/>
          </a:xfrm>
          <a:prstGeom prst="rect">
            <a:avLst/>
          </a:prstGeom>
          <a:solidFill>
            <a:srgbClr val="EAE8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3996000" y="4086000"/>
            <a:ext cx="7692119" cy="540000"/>
          </a:xfrm>
          <a:prstGeom prst="rect">
            <a:avLst/>
          </a:prstGeom>
          <a:noFill/>
        </p:spPr>
        <p:txBody>
          <a:bodyPr wrap="square" lIns="36000" rIns="36000" tIns="18000" bIns="18000" anchor="ctr">
            <a:spAutoFit/>
          </a:bodyPr>
          <a:lstStyle/>
          <a:p>
            <a:pPr algn="l">
              <a:lnSpc>
                <a:spcPct val="130000"/>
              </a:lnSpc>
            </a:pPr>
            <a:r>
              <a:rPr sz="1100" b="0" i="0">
                <a:solidFill>
                  <a:srgbClr val="323038"/>
                </a:solidFill>
                <a:latin typeface="Yu Gothic"/>
              </a:rPr>
              <a:t>過去のACPの記録、本人が語っていた言葉、書き残したものがあれば、よりどころにする</a:t>
            </a:r>
          </a:p>
        </p:txBody>
      </p:sp>
      <p:sp>
        <p:nvSpPr>
          <p:cNvPr id="27" name="Oval 26"/>
          <p:cNvSpPr/>
          <p:nvPr/>
        </p:nvSpPr>
        <p:spPr>
          <a:xfrm>
            <a:off x="540000" y="4896000"/>
            <a:ext cx="432000" cy="432000"/>
          </a:xfrm>
          <a:prstGeom prst="ellipse">
            <a:avLst/>
          </a:prstGeom>
          <a:solidFill>
            <a:srgbClr val="527C63"/>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500" b="1">
                <a:solidFill>
                  <a:srgbClr val="FFFFFF"/>
                </a:solidFill>
                <a:latin typeface="Yu Gothic"/>
              </a:rPr>
              <a:t>4</a:t>
            </a:r>
          </a:p>
        </p:txBody>
      </p:sp>
      <p:sp>
        <p:nvSpPr>
          <p:cNvPr id="28" name="Rectangle 27"/>
          <p:cNvSpPr/>
          <p:nvPr/>
        </p:nvSpPr>
        <p:spPr>
          <a:xfrm>
            <a:off x="1152000" y="4788000"/>
            <a:ext cx="2700000" cy="648000"/>
          </a:xfrm>
          <a:prstGeom prst="rect">
            <a:avLst/>
          </a:prstGeom>
          <a:solidFill>
            <a:srgbClr val="527C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1188000" y="4788000"/>
            <a:ext cx="2628000" cy="648000"/>
          </a:xfrm>
          <a:prstGeom prst="rect">
            <a:avLst/>
          </a:prstGeom>
          <a:noFill/>
        </p:spPr>
        <p:txBody>
          <a:bodyPr wrap="square" lIns="36000" rIns="36000" tIns="18000" bIns="18000" anchor="ctr">
            <a:spAutoFit/>
          </a:bodyPr>
          <a:lstStyle/>
          <a:p>
            <a:pPr algn="ctr"/>
            <a:r>
              <a:rPr sz="1300" b="1" i="0">
                <a:solidFill>
                  <a:srgbClr val="FFFFFF"/>
                </a:solidFill>
                <a:latin typeface="Yu Gothic"/>
              </a:rPr>
              <a:t>最善の方針をチームで</a:t>
            </a:r>
          </a:p>
        </p:txBody>
      </p:sp>
      <p:sp>
        <p:nvSpPr>
          <p:cNvPr id="30" name="Rectangle 29"/>
          <p:cNvSpPr/>
          <p:nvPr/>
        </p:nvSpPr>
        <p:spPr>
          <a:xfrm>
            <a:off x="3851999" y="4788000"/>
            <a:ext cx="7908119" cy="648000"/>
          </a:xfrm>
          <a:prstGeom prst="rect">
            <a:avLst/>
          </a:prstGeom>
          <a:solidFill>
            <a:srgbClr val="EAE8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3996000" y="4842000"/>
            <a:ext cx="7692119" cy="540000"/>
          </a:xfrm>
          <a:prstGeom prst="rect">
            <a:avLst/>
          </a:prstGeom>
          <a:noFill/>
        </p:spPr>
        <p:txBody>
          <a:bodyPr wrap="square" lIns="36000" rIns="36000" tIns="18000" bIns="18000" anchor="ctr">
            <a:spAutoFit/>
          </a:bodyPr>
          <a:lstStyle/>
          <a:p>
            <a:pPr algn="l">
              <a:lnSpc>
                <a:spcPct val="130000"/>
              </a:lnSpc>
            </a:pPr>
            <a:r>
              <a:rPr sz="1100" b="0" i="0">
                <a:solidFill>
                  <a:srgbClr val="323038"/>
                </a:solidFill>
                <a:latin typeface="Yu Gothic"/>
              </a:rPr>
              <a:t>推定もできない場合は、本人にとって何が最善かを、家族等と医療ケアチームで話し合う</a:t>
            </a:r>
          </a:p>
        </p:txBody>
      </p:sp>
      <p:sp>
        <p:nvSpPr>
          <p:cNvPr id="32" name="Rectangle 31"/>
          <p:cNvSpPr/>
          <p:nvPr/>
        </p:nvSpPr>
        <p:spPr>
          <a:xfrm>
            <a:off x="432000" y="5616000"/>
            <a:ext cx="11304000" cy="360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504000" y="5652000"/>
            <a:ext cx="11160000" cy="288000"/>
          </a:xfrm>
          <a:prstGeom prst="rect">
            <a:avLst/>
          </a:prstGeom>
          <a:noFill/>
        </p:spPr>
        <p:txBody>
          <a:bodyPr wrap="square" lIns="36000" rIns="36000" tIns="18000" bIns="18000" anchor="ctr">
            <a:spAutoFit/>
          </a:bodyPr>
          <a:lstStyle/>
          <a:p>
            <a:pPr algn="l"/>
            <a:r>
              <a:rPr sz="100" b="1" i="0">
                <a:solidFill>
                  <a:srgbClr val="FFFFFF"/>
                </a:solidFill>
                <a:latin typeface="Yu Gothic"/>
              </a:rPr>
              <a:t/>
            </a:r>
          </a:p>
        </p:txBody>
      </p:sp>
      <p:sp>
        <p:nvSpPr>
          <p:cNvPr id="34" name="Rectangle 33"/>
          <p:cNvSpPr/>
          <p:nvPr/>
        </p:nvSpPr>
        <p:spPr>
          <a:xfrm>
            <a:off x="432000" y="5976000"/>
            <a:ext cx="11304000" cy="216000"/>
          </a:xfrm>
          <a:prstGeom prst="rect">
            <a:avLst/>
          </a:prstGeom>
          <a:solidFill>
            <a:srgbClr val="F9F0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540000" y="6012000"/>
            <a:ext cx="11088000" cy="180000"/>
          </a:xfrm>
          <a:prstGeom prst="rect">
            <a:avLst/>
          </a:prstGeom>
          <a:noFill/>
        </p:spPr>
        <p:txBody>
          <a:bodyPr wrap="square" lIns="36000" rIns="36000" tIns="18000" bIns="18000" anchor="t">
            <a:spAutoFit/>
          </a:bodyPr>
          <a:lstStyle/>
          <a:p>
            <a:pPr algn="l"/>
            <a:r>
              <a:rPr sz="1200" b="0" i="0">
                <a:solidFill>
                  <a:srgbClr val="323038"/>
                </a:solidFill>
                <a:latin typeface="Yu Gothic"/>
              </a:rPr>
              <a:t>▶ 推定意思は「家族の希望」とは違う。「本人ならどうか」を、家族とともに考え続ける。</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119" cy="576000"/>
          </a:xfrm>
          <a:prstGeom prst="rect">
            <a:avLst/>
          </a:prstGeom>
          <a:solidFill>
            <a:srgbClr val="423A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88000" y="90000"/>
            <a:ext cx="7920000" cy="216000"/>
          </a:xfrm>
          <a:prstGeom prst="rect">
            <a:avLst/>
          </a:prstGeom>
          <a:noFill/>
        </p:spPr>
        <p:txBody>
          <a:bodyPr wrap="square" lIns="36000" rIns="36000" tIns="18000" bIns="18000" anchor="t">
            <a:spAutoFit/>
          </a:bodyPr>
          <a:lstStyle/>
          <a:p>
            <a:pPr algn="l"/>
            <a:r>
              <a:rPr sz="1100" b="1" i="0">
                <a:solidFill>
                  <a:srgbClr val="FFFFFF"/>
                </a:solidFill>
                <a:latin typeface="Yu Gothic"/>
              </a:rPr>
              <a:t>3. ACPの支援技術</a:t>
            </a:r>
          </a:p>
        </p:txBody>
      </p:sp>
      <p:sp>
        <p:nvSpPr>
          <p:cNvPr id="4" name="TextBox 3"/>
          <p:cNvSpPr txBox="1"/>
          <p:nvPr/>
        </p:nvSpPr>
        <p:spPr>
          <a:xfrm>
            <a:off x="288000" y="684000"/>
            <a:ext cx="11616119" cy="468000"/>
          </a:xfrm>
          <a:prstGeom prst="rect">
            <a:avLst/>
          </a:prstGeom>
          <a:noFill/>
        </p:spPr>
        <p:txBody>
          <a:bodyPr wrap="square" lIns="36000" rIns="36000" tIns="18000" bIns="18000" anchor="t">
            <a:spAutoFit/>
          </a:bodyPr>
          <a:lstStyle/>
          <a:p>
            <a:pPr algn="l"/>
            <a:r>
              <a:rPr sz="2300" b="1" i="0">
                <a:solidFill>
                  <a:srgbClr val="423A5E"/>
                </a:solidFill>
                <a:latin typeface="Yu Gothic"/>
              </a:rPr>
              <a:t>話し合った内容を「記録」し「共有」する</a:t>
            </a:r>
          </a:p>
        </p:txBody>
      </p:sp>
      <p:sp>
        <p:nvSpPr>
          <p:cNvPr id="5" name="Rectangle 4"/>
          <p:cNvSpPr/>
          <p:nvPr/>
        </p:nvSpPr>
        <p:spPr>
          <a:xfrm>
            <a:off x="288000" y="1152000"/>
            <a:ext cx="900000" cy="43200"/>
          </a:xfrm>
          <a:prstGeom prst="rect">
            <a:avLst/>
          </a:prstGeom>
          <a:solidFill>
            <a:srgbClr val="C48C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288000" y="6570000"/>
            <a:ext cx="9360000" cy="180000"/>
          </a:xfrm>
          <a:prstGeom prst="rect">
            <a:avLst/>
          </a:prstGeom>
          <a:noFill/>
        </p:spPr>
        <p:txBody>
          <a:bodyPr wrap="square" lIns="36000" rIns="36000" tIns="18000" bIns="18000" anchor="t">
            <a:spAutoFit/>
          </a:bodyPr>
          <a:lstStyle/>
          <a:p>
            <a:pPr algn="l"/>
            <a:r>
              <a:rPr sz="900" b="0" i="0">
                <a:solidFill>
                  <a:srgbClr val="8C83A6"/>
                </a:solidFill>
                <a:latin typeface="Yu Gothic"/>
              </a:rPr>
              <a:t>主任CM研修 / 看取り期のケアマネジメントとACPの支援技術  ※算定要件は最新の告示・通知をご確認ください</a:t>
            </a:r>
          </a:p>
        </p:txBody>
      </p:sp>
      <p:sp>
        <p:nvSpPr>
          <p:cNvPr id="7" name="TextBox 6"/>
          <p:cNvSpPr txBox="1"/>
          <p:nvPr/>
        </p:nvSpPr>
        <p:spPr>
          <a:xfrm>
            <a:off x="11112119" y="6570000"/>
            <a:ext cx="792000" cy="180000"/>
          </a:xfrm>
          <a:prstGeom prst="rect">
            <a:avLst/>
          </a:prstGeom>
          <a:noFill/>
        </p:spPr>
        <p:txBody>
          <a:bodyPr wrap="square" lIns="36000" rIns="36000" tIns="18000" bIns="18000" anchor="t">
            <a:spAutoFit/>
          </a:bodyPr>
          <a:lstStyle/>
          <a:p>
            <a:pPr algn="r"/>
            <a:r>
              <a:rPr sz="900" b="0" i="0">
                <a:solidFill>
                  <a:srgbClr val="8C83A6"/>
                </a:solidFill>
                <a:latin typeface="Yu Gothic"/>
              </a:rPr>
              <a:t>16 / 33</a:t>
            </a:r>
          </a:p>
        </p:txBody>
      </p:sp>
      <p:sp>
        <p:nvSpPr>
          <p:cNvPr id="8" name="Rectangle 7"/>
          <p:cNvSpPr/>
          <p:nvPr/>
        </p:nvSpPr>
        <p:spPr>
          <a:xfrm>
            <a:off x="432000" y="1548000"/>
            <a:ext cx="5580000" cy="360000"/>
          </a:xfrm>
          <a:prstGeom prst="rect">
            <a:avLst/>
          </a:prstGeom>
          <a:solidFill>
            <a:srgbClr val="6057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04000" y="1584000"/>
            <a:ext cx="5436000" cy="288000"/>
          </a:xfrm>
          <a:prstGeom prst="rect">
            <a:avLst/>
          </a:prstGeom>
          <a:noFill/>
        </p:spPr>
        <p:txBody>
          <a:bodyPr wrap="square" lIns="36000" rIns="36000" tIns="18000" bIns="18000" anchor="ctr">
            <a:spAutoFit/>
          </a:bodyPr>
          <a:lstStyle/>
          <a:p>
            <a:pPr algn="l"/>
            <a:r>
              <a:rPr sz="1400" b="1" i="0">
                <a:solidFill>
                  <a:srgbClr val="FFFFFF"/>
                </a:solidFill>
                <a:latin typeface="Yu Gothic"/>
              </a:rPr>
              <a:t>何を記録するか</a:t>
            </a:r>
          </a:p>
        </p:txBody>
      </p:sp>
      <p:sp>
        <p:nvSpPr>
          <p:cNvPr id="10" name="Rectangle 9"/>
          <p:cNvSpPr/>
          <p:nvPr/>
        </p:nvSpPr>
        <p:spPr>
          <a:xfrm>
            <a:off x="432000" y="1908000"/>
            <a:ext cx="5580000" cy="1908000"/>
          </a:xfrm>
          <a:prstGeom prst="rect">
            <a:avLst/>
          </a:prstGeom>
          <a:solidFill>
            <a:srgbClr val="EAE8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40000" y="1944000"/>
            <a:ext cx="5364000" cy="1872000"/>
          </a:xfrm>
          <a:prstGeom prst="rect">
            <a:avLst/>
          </a:prstGeom>
          <a:noFill/>
        </p:spPr>
        <p:txBody>
          <a:bodyPr wrap="square" lIns="36000" rIns="36000" tIns="18000" bIns="18000" anchor="t">
            <a:spAutoFit/>
          </a:bodyPr>
          <a:lstStyle/>
          <a:p>
            <a:pPr algn="l"/>
            <a:r>
              <a:rPr sz="1200" b="0" i="0">
                <a:solidFill>
                  <a:srgbClr val="323038"/>
                </a:solidFill>
                <a:latin typeface="Yu Gothic"/>
              </a:rPr>
              <a:t>■ 話し合った日付・場面・同席者</a:t>
            </a:r>
          </a:p>
          <a:p>
            <a:pPr algn="l"/>
            <a:r>
              <a:rPr sz="1200" b="0" i="0">
                <a:solidFill>
                  <a:srgbClr val="323038"/>
                </a:solidFill>
                <a:latin typeface="Yu Gothic"/>
              </a:rPr>
              <a:t/>
            </a:r>
          </a:p>
          <a:p>
            <a:pPr algn="l"/>
            <a:r>
              <a:rPr sz="1200" b="0" i="0">
                <a:solidFill>
                  <a:srgbClr val="323038"/>
                </a:solidFill>
                <a:latin typeface="Yu Gothic"/>
              </a:rPr>
              <a:t>■ 本人が語った言葉(できるだけ本人の表現で)</a:t>
            </a:r>
          </a:p>
          <a:p>
            <a:pPr algn="l"/>
            <a:r>
              <a:rPr sz="1200" b="0" i="0">
                <a:solidFill>
                  <a:srgbClr val="323038"/>
                </a:solidFill>
                <a:latin typeface="Yu Gothic"/>
              </a:rPr>
              <a:t/>
            </a:r>
          </a:p>
          <a:p>
            <a:pPr algn="l"/>
            <a:r>
              <a:rPr sz="1200" b="0" i="0">
                <a:solidFill>
                  <a:srgbClr val="323038"/>
                </a:solidFill>
                <a:latin typeface="Yu Gothic"/>
              </a:rPr>
              <a:t>■ 本人の価値観・希望・気がかり</a:t>
            </a:r>
          </a:p>
          <a:p>
            <a:pPr algn="l"/>
            <a:r>
              <a:rPr sz="1200" b="0" i="0">
                <a:solidFill>
                  <a:srgbClr val="323038"/>
                </a:solidFill>
                <a:latin typeface="Yu Gothic"/>
              </a:rPr>
              <a:t/>
            </a:r>
          </a:p>
          <a:p>
            <a:pPr algn="l"/>
            <a:r>
              <a:rPr sz="1200" b="0" i="0">
                <a:solidFill>
                  <a:srgbClr val="323038"/>
                </a:solidFill>
                <a:latin typeface="Yu Gothic"/>
              </a:rPr>
              <a:t>■ 療養場所・医療ケアの希望</a:t>
            </a:r>
          </a:p>
          <a:p>
            <a:pPr algn="l"/>
            <a:r>
              <a:rPr sz="1200" b="0" i="0">
                <a:solidFill>
                  <a:srgbClr val="323038"/>
                </a:solidFill>
                <a:latin typeface="Yu Gothic"/>
              </a:rPr>
              <a:t/>
            </a:r>
          </a:p>
          <a:p>
            <a:pPr algn="l"/>
            <a:r>
              <a:rPr sz="1200" b="0" i="0">
                <a:solidFill>
                  <a:srgbClr val="323038"/>
                </a:solidFill>
                <a:latin typeface="Yu Gothic"/>
              </a:rPr>
              <a:t>■ 意思を託す人(代弁者)</a:t>
            </a:r>
          </a:p>
          <a:p>
            <a:pPr algn="l"/>
            <a:r>
              <a:rPr sz="1200" b="0" i="0">
                <a:solidFill>
                  <a:srgbClr val="323038"/>
                </a:solidFill>
                <a:latin typeface="Yu Gothic"/>
              </a:rPr>
              <a:t/>
            </a:r>
          </a:p>
          <a:p>
            <a:pPr algn="l"/>
            <a:r>
              <a:rPr sz="1200" b="0" i="0">
                <a:solidFill>
                  <a:srgbClr val="323038"/>
                </a:solidFill>
                <a:latin typeface="Yu Gothic"/>
              </a:rPr>
              <a:t>■ 「事実」と「CMの解釈」は分けて書く</a:t>
            </a:r>
          </a:p>
        </p:txBody>
      </p:sp>
      <p:sp>
        <p:nvSpPr>
          <p:cNvPr id="12" name="Rectangle 11"/>
          <p:cNvSpPr/>
          <p:nvPr/>
        </p:nvSpPr>
        <p:spPr>
          <a:xfrm>
            <a:off x="6300000" y="1548000"/>
            <a:ext cx="5400000" cy="360000"/>
          </a:xfrm>
          <a:prstGeom prst="rect">
            <a:avLst/>
          </a:prstGeom>
          <a:solidFill>
            <a:srgbClr val="2E6B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372000" y="1584000"/>
            <a:ext cx="5256000" cy="288000"/>
          </a:xfrm>
          <a:prstGeom prst="rect">
            <a:avLst/>
          </a:prstGeom>
          <a:noFill/>
        </p:spPr>
        <p:txBody>
          <a:bodyPr wrap="square" lIns="36000" rIns="36000" tIns="18000" bIns="18000" anchor="ctr">
            <a:spAutoFit/>
          </a:bodyPr>
          <a:lstStyle/>
          <a:p>
            <a:pPr algn="l"/>
            <a:r>
              <a:rPr sz="1400" b="1" i="0">
                <a:solidFill>
                  <a:srgbClr val="FFFFFF"/>
                </a:solidFill>
                <a:latin typeface="Yu Gothic"/>
              </a:rPr>
              <a:t>誰と共有するか</a:t>
            </a:r>
          </a:p>
        </p:txBody>
      </p:sp>
      <p:sp>
        <p:nvSpPr>
          <p:cNvPr id="14" name="Rectangle 13"/>
          <p:cNvSpPr/>
          <p:nvPr/>
        </p:nvSpPr>
        <p:spPr>
          <a:xfrm>
            <a:off x="6300000" y="1908000"/>
            <a:ext cx="5400000" cy="1908000"/>
          </a:xfrm>
          <a:prstGeom prst="rect">
            <a:avLst/>
          </a:prstGeom>
          <a:solidFill>
            <a:srgbClr val="DFEA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08000" y="1944000"/>
            <a:ext cx="5184000" cy="1872000"/>
          </a:xfrm>
          <a:prstGeom prst="rect">
            <a:avLst/>
          </a:prstGeom>
          <a:noFill/>
        </p:spPr>
        <p:txBody>
          <a:bodyPr wrap="square" lIns="36000" rIns="36000" tIns="18000" bIns="18000" anchor="t">
            <a:spAutoFit/>
          </a:bodyPr>
          <a:lstStyle/>
          <a:p>
            <a:pPr algn="l"/>
            <a:r>
              <a:rPr sz="1200" b="0" i="0">
                <a:solidFill>
                  <a:srgbClr val="323038"/>
                </a:solidFill>
                <a:latin typeface="Yu Gothic"/>
              </a:rPr>
              <a:t>■ 本人・家族等</a:t>
            </a:r>
          </a:p>
          <a:p>
            <a:pPr algn="l"/>
            <a:r>
              <a:rPr sz="1200" b="0" i="0">
                <a:solidFill>
                  <a:srgbClr val="323038"/>
                </a:solidFill>
                <a:latin typeface="Yu Gothic"/>
              </a:rPr>
              <a:t/>
            </a:r>
          </a:p>
          <a:p>
            <a:pPr algn="l"/>
            <a:r>
              <a:rPr sz="1200" b="0" i="0">
                <a:solidFill>
                  <a:srgbClr val="323038"/>
                </a:solidFill>
                <a:latin typeface="Yu Gothic"/>
              </a:rPr>
              <a:t>■ 主治医・訪問看護</a:t>
            </a:r>
          </a:p>
          <a:p>
            <a:pPr algn="l"/>
            <a:r>
              <a:rPr sz="1200" b="0" i="0">
                <a:solidFill>
                  <a:srgbClr val="323038"/>
                </a:solidFill>
                <a:latin typeface="Yu Gothic"/>
              </a:rPr>
              <a:t/>
            </a:r>
          </a:p>
          <a:p>
            <a:pPr algn="l"/>
            <a:r>
              <a:rPr sz="1200" b="0" i="0">
                <a:solidFill>
                  <a:srgbClr val="323038"/>
                </a:solidFill>
                <a:latin typeface="Yu Gothic"/>
              </a:rPr>
              <a:t>■ 訪問介護等のサービス事業所</a:t>
            </a:r>
          </a:p>
          <a:p>
            <a:pPr algn="l"/>
            <a:r>
              <a:rPr sz="1200" b="0" i="0">
                <a:solidFill>
                  <a:srgbClr val="323038"/>
                </a:solidFill>
                <a:latin typeface="Yu Gothic"/>
              </a:rPr>
              <a:t/>
            </a:r>
          </a:p>
          <a:p>
            <a:pPr algn="l"/>
            <a:r>
              <a:rPr sz="1200" b="0" i="0">
                <a:solidFill>
                  <a:srgbClr val="323038"/>
                </a:solidFill>
                <a:latin typeface="Yu Gothic"/>
              </a:rPr>
              <a:t>■ サービス担当者会議で共有</a:t>
            </a:r>
          </a:p>
          <a:p>
            <a:pPr algn="l"/>
            <a:r>
              <a:rPr sz="1200" b="0" i="0">
                <a:solidFill>
                  <a:srgbClr val="323038"/>
                </a:solidFill>
                <a:latin typeface="Yu Gothic"/>
              </a:rPr>
              <a:t/>
            </a:r>
          </a:p>
          <a:p>
            <a:pPr algn="l"/>
            <a:r>
              <a:rPr sz="1200" b="0" i="0">
                <a:solidFill>
                  <a:srgbClr val="323038"/>
                </a:solidFill>
                <a:latin typeface="Yu Gothic"/>
              </a:rPr>
              <a:t>▶ 共有されない記録は、いざという時に</a:t>
            </a:r>
          </a:p>
          <a:p>
            <a:pPr algn="l"/>
            <a:r>
              <a:rPr sz="1200" b="0" i="0">
                <a:solidFill>
                  <a:srgbClr val="323038"/>
                </a:solidFill>
                <a:latin typeface="Yu Gothic"/>
              </a:rPr>
              <a:t>   活かされない</a:t>
            </a:r>
          </a:p>
        </p:txBody>
      </p:sp>
      <p:sp>
        <p:nvSpPr>
          <p:cNvPr id="16" name="Rectangle 15"/>
          <p:cNvSpPr/>
          <p:nvPr/>
        </p:nvSpPr>
        <p:spPr>
          <a:xfrm>
            <a:off x="432000" y="3960000"/>
            <a:ext cx="11304000" cy="360000"/>
          </a:xfrm>
          <a:prstGeom prst="rect">
            <a:avLst/>
          </a:prstGeom>
          <a:solidFill>
            <a:srgbClr val="423A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04000" y="3996000"/>
            <a:ext cx="11160000" cy="288000"/>
          </a:xfrm>
          <a:prstGeom prst="rect">
            <a:avLst/>
          </a:prstGeom>
          <a:noFill/>
        </p:spPr>
        <p:txBody>
          <a:bodyPr wrap="square" lIns="36000" rIns="36000" tIns="18000" bIns="18000" anchor="ctr">
            <a:spAutoFit/>
          </a:bodyPr>
          <a:lstStyle/>
          <a:p>
            <a:pPr algn="l"/>
            <a:r>
              <a:rPr sz="1400" b="1" i="0">
                <a:solidFill>
                  <a:srgbClr val="FFFFFF"/>
                </a:solidFill>
                <a:latin typeface="Yu Gothic"/>
              </a:rPr>
              <a:t>記録・共有のポイント</a:t>
            </a:r>
          </a:p>
        </p:txBody>
      </p:sp>
      <p:sp>
        <p:nvSpPr>
          <p:cNvPr id="18" name="Rectangle 17"/>
          <p:cNvSpPr/>
          <p:nvPr/>
        </p:nvSpPr>
        <p:spPr>
          <a:xfrm>
            <a:off x="432000" y="4320000"/>
            <a:ext cx="11304000" cy="1800000"/>
          </a:xfrm>
          <a:prstGeom prst="rect">
            <a:avLst/>
          </a:prstGeom>
          <a:solidFill>
            <a:srgbClr val="EAE8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40000" y="4356000"/>
            <a:ext cx="11088000" cy="1764000"/>
          </a:xfrm>
          <a:prstGeom prst="rect">
            <a:avLst/>
          </a:prstGeom>
          <a:noFill/>
        </p:spPr>
        <p:txBody>
          <a:bodyPr wrap="square" lIns="36000" rIns="36000" tIns="18000" bIns="18000" anchor="t">
            <a:spAutoFit/>
          </a:bodyPr>
          <a:lstStyle/>
          <a:p>
            <a:pPr algn="l"/>
            <a:r>
              <a:rPr sz="1300" b="0" i="0">
                <a:solidFill>
                  <a:srgbClr val="323038"/>
                </a:solidFill>
                <a:latin typeface="Yu Gothic"/>
              </a:rPr>
              <a:t>■ 意思は変わる ― 「いつ時点の意思か」を明確にし、更新したら最新版を共有する</a:t>
            </a:r>
          </a:p>
          <a:p>
            <a:pPr algn="l"/>
            <a:r>
              <a:rPr sz="1300" b="0" i="0">
                <a:solidFill>
                  <a:srgbClr val="323038"/>
                </a:solidFill>
                <a:latin typeface="Yu Gothic"/>
              </a:rPr>
              <a:t/>
            </a:r>
          </a:p>
          <a:p>
            <a:pPr algn="l"/>
            <a:r>
              <a:rPr sz="1300" b="0" i="0">
                <a:solidFill>
                  <a:srgbClr val="323038"/>
                </a:solidFill>
                <a:latin typeface="Yu Gothic"/>
              </a:rPr>
              <a:t>■ 急変時に医療職がすぐ参照できる形にしておく(本人宅に情報を置く等の工夫)</a:t>
            </a:r>
          </a:p>
          <a:p>
            <a:pPr algn="l"/>
            <a:r>
              <a:rPr sz="1300" b="0" i="0">
                <a:solidFill>
                  <a:srgbClr val="323038"/>
                </a:solidFill>
                <a:latin typeface="Yu Gothic"/>
              </a:rPr>
              <a:t/>
            </a:r>
          </a:p>
          <a:p>
            <a:pPr algn="l"/>
            <a:r>
              <a:rPr sz="1300" b="0" i="0">
                <a:solidFill>
                  <a:srgbClr val="323038"/>
                </a:solidFill>
                <a:latin typeface="Yu Gothic"/>
              </a:rPr>
              <a:t>■ 救急隊・搬送先にも伝わるよう、関係者で「どこに・何を」残すかを取り決めておく</a:t>
            </a:r>
          </a:p>
          <a:p>
            <a:pPr algn="l"/>
            <a:r>
              <a:rPr sz="1300" b="0" i="0">
                <a:solidFill>
                  <a:srgbClr val="323038"/>
                </a:solidFill>
                <a:latin typeface="Yu Gothic"/>
              </a:rPr>
              <a:t/>
            </a:r>
          </a:p>
          <a:p>
            <a:pPr algn="l"/>
            <a:r>
              <a:rPr sz="1300" b="0" i="0">
                <a:solidFill>
                  <a:srgbClr val="323038"/>
                </a:solidFill>
                <a:latin typeface="Yu Gothic"/>
              </a:rPr>
              <a:t>■ 記録は「本人の意思を守る道具」 ― ターミナルCM加算の算定根拠にもなる(第4部)</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119" cy="6858000"/>
          </a:xfrm>
          <a:prstGeom prst="rect">
            <a:avLst/>
          </a:prstGeom>
          <a:solidFill>
            <a:srgbClr val="423A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3060000"/>
            <a:ext cx="12192119" cy="36000"/>
          </a:xfrm>
          <a:prstGeom prst="rect">
            <a:avLst/>
          </a:prstGeom>
          <a:solidFill>
            <a:srgbClr val="C48C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20000" y="2340000"/>
            <a:ext cx="10752119" cy="540000"/>
          </a:xfrm>
          <a:prstGeom prst="rect">
            <a:avLst/>
          </a:prstGeom>
          <a:noFill/>
        </p:spPr>
        <p:txBody>
          <a:bodyPr wrap="square" lIns="36000" rIns="36000" tIns="18000" bIns="18000" anchor="t">
            <a:spAutoFit/>
          </a:bodyPr>
          <a:lstStyle/>
          <a:p>
            <a:pPr algn="ctr"/>
            <a:r>
              <a:rPr sz="2200" b="1" i="0">
                <a:solidFill>
                  <a:srgbClr val="C48C3A"/>
                </a:solidFill>
                <a:latin typeface="Yu Gothic"/>
              </a:rPr>
              <a:t>PART 4</a:t>
            </a:r>
          </a:p>
        </p:txBody>
      </p:sp>
      <p:sp>
        <p:nvSpPr>
          <p:cNvPr id="5" name="TextBox 4"/>
          <p:cNvSpPr txBox="1"/>
          <p:nvPr/>
        </p:nvSpPr>
        <p:spPr>
          <a:xfrm>
            <a:off x="360000" y="3420000"/>
            <a:ext cx="11472119" cy="720000"/>
          </a:xfrm>
          <a:prstGeom prst="rect">
            <a:avLst/>
          </a:prstGeom>
          <a:noFill/>
        </p:spPr>
        <p:txBody>
          <a:bodyPr wrap="square" lIns="36000" rIns="36000" tIns="18000" bIns="18000" anchor="t">
            <a:spAutoFit/>
          </a:bodyPr>
          <a:lstStyle/>
          <a:p>
            <a:pPr algn="ctr"/>
            <a:r>
              <a:rPr sz="3300" b="1" i="0">
                <a:solidFill>
                  <a:srgbClr val="FFFFFF"/>
                </a:solidFill>
                <a:latin typeface="Yu Gothic"/>
              </a:rPr>
              <a:t>ターミナルケア</a:t>
            </a:r>
          </a:p>
          <a:p>
            <a:pPr algn="ctr"/>
            <a:r>
              <a:rPr sz="3300" b="1" i="0">
                <a:solidFill>
                  <a:srgbClr val="FFFFFF"/>
                </a:solidFill>
                <a:latin typeface="Yu Gothic"/>
              </a:rPr>
              <a:t>マネジメント加算の実務</a:t>
            </a:r>
          </a:p>
        </p:txBody>
      </p:sp>
      <p:sp>
        <p:nvSpPr>
          <p:cNvPr id="6" name="TextBox 5"/>
          <p:cNvSpPr txBox="1"/>
          <p:nvPr/>
        </p:nvSpPr>
        <p:spPr>
          <a:xfrm>
            <a:off x="360000" y="4680000"/>
            <a:ext cx="11472119" cy="360000"/>
          </a:xfrm>
          <a:prstGeom prst="rect">
            <a:avLst/>
          </a:prstGeom>
          <a:noFill/>
        </p:spPr>
        <p:txBody>
          <a:bodyPr wrap="square" lIns="36000" rIns="36000" tIns="18000" bIns="18000" anchor="t">
            <a:spAutoFit/>
          </a:bodyPr>
          <a:lstStyle/>
          <a:p>
            <a:pPr algn="ctr"/>
            <a:r>
              <a:rPr sz="1400" b="0" i="0">
                <a:solidFill>
                  <a:srgbClr val="D7D4DE"/>
                </a:solidFill>
                <a:latin typeface="Yu Gothic"/>
              </a:rPr>
              <a:t>Terminal Care Management Bonus</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119" cy="576000"/>
          </a:xfrm>
          <a:prstGeom prst="rect">
            <a:avLst/>
          </a:prstGeom>
          <a:solidFill>
            <a:srgbClr val="423A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88000" y="90000"/>
            <a:ext cx="7920000" cy="216000"/>
          </a:xfrm>
          <a:prstGeom prst="rect">
            <a:avLst/>
          </a:prstGeom>
          <a:noFill/>
        </p:spPr>
        <p:txBody>
          <a:bodyPr wrap="square" lIns="36000" rIns="36000" tIns="18000" bIns="18000" anchor="t">
            <a:spAutoFit/>
          </a:bodyPr>
          <a:lstStyle/>
          <a:p>
            <a:pPr algn="l"/>
            <a:r>
              <a:rPr sz="1100" b="1" i="0">
                <a:solidFill>
                  <a:srgbClr val="FFFFFF"/>
                </a:solidFill>
                <a:latin typeface="Yu Gothic"/>
              </a:rPr>
              <a:t>4. ターミナルCM加算</a:t>
            </a:r>
          </a:p>
        </p:txBody>
      </p:sp>
      <p:sp>
        <p:nvSpPr>
          <p:cNvPr id="4" name="TextBox 3"/>
          <p:cNvSpPr txBox="1"/>
          <p:nvPr/>
        </p:nvSpPr>
        <p:spPr>
          <a:xfrm>
            <a:off x="288000" y="684000"/>
            <a:ext cx="11616119" cy="468000"/>
          </a:xfrm>
          <a:prstGeom prst="rect">
            <a:avLst/>
          </a:prstGeom>
          <a:noFill/>
        </p:spPr>
        <p:txBody>
          <a:bodyPr wrap="square" lIns="36000" rIns="36000" tIns="18000" bIns="18000" anchor="t">
            <a:spAutoFit/>
          </a:bodyPr>
          <a:lstStyle/>
          <a:p>
            <a:pPr algn="l"/>
            <a:r>
              <a:rPr sz="2300" b="1" i="0">
                <a:solidFill>
                  <a:srgbClr val="423A5E"/>
                </a:solidFill>
                <a:latin typeface="Yu Gothic"/>
              </a:rPr>
              <a:t>算定要件の全体像</a:t>
            </a:r>
          </a:p>
        </p:txBody>
      </p:sp>
      <p:sp>
        <p:nvSpPr>
          <p:cNvPr id="5" name="Rectangle 4"/>
          <p:cNvSpPr/>
          <p:nvPr/>
        </p:nvSpPr>
        <p:spPr>
          <a:xfrm>
            <a:off x="288000" y="1152000"/>
            <a:ext cx="900000" cy="43200"/>
          </a:xfrm>
          <a:prstGeom prst="rect">
            <a:avLst/>
          </a:prstGeom>
          <a:solidFill>
            <a:srgbClr val="C48C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288000" y="6570000"/>
            <a:ext cx="9360000" cy="180000"/>
          </a:xfrm>
          <a:prstGeom prst="rect">
            <a:avLst/>
          </a:prstGeom>
          <a:noFill/>
        </p:spPr>
        <p:txBody>
          <a:bodyPr wrap="square" lIns="36000" rIns="36000" tIns="18000" bIns="18000" anchor="t">
            <a:spAutoFit/>
          </a:bodyPr>
          <a:lstStyle/>
          <a:p>
            <a:pPr algn="l"/>
            <a:r>
              <a:rPr sz="900" b="0" i="0">
                <a:solidFill>
                  <a:srgbClr val="8C83A6"/>
                </a:solidFill>
                <a:latin typeface="Yu Gothic"/>
              </a:rPr>
              <a:t>主任CM研修 / 看取り期のケアマネジメントとACPの支援技術  ※算定要件は最新の告示・通知をご確認ください</a:t>
            </a:r>
          </a:p>
        </p:txBody>
      </p:sp>
      <p:sp>
        <p:nvSpPr>
          <p:cNvPr id="7" name="TextBox 6"/>
          <p:cNvSpPr txBox="1"/>
          <p:nvPr/>
        </p:nvSpPr>
        <p:spPr>
          <a:xfrm>
            <a:off x="11112119" y="6570000"/>
            <a:ext cx="792000" cy="180000"/>
          </a:xfrm>
          <a:prstGeom prst="rect">
            <a:avLst/>
          </a:prstGeom>
          <a:noFill/>
        </p:spPr>
        <p:txBody>
          <a:bodyPr wrap="square" lIns="36000" rIns="36000" tIns="18000" bIns="18000" anchor="t">
            <a:spAutoFit/>
          </a:bodyPr>
          <a:lstStyle/>
          <a:p>
            <a:pPr algn="r"/>
            <a:r>
              <a:rPr sz="900" b="0" i="0">
                <a:solidFill>
                  <a:srgbClr val="8C83A6"/>
                </a:solidFill>
                <a:latin typeface="Yu Gothic"/>
              </a:rPr>
              <a:t>18 / 33</a:t>
            </a:r>
          </a:p>
        </p:txBody>
      </p:sp>
      <p:sp>
        <p:nvSpPr>
          <p:cNvPr id="8" name="Rectangle 7"/>
          <p:cNvSpPr/>
          <p:nvPr/>
        </p:nvSpPr>
        <p:spPr>
          <a:xfrm>
            <a:off x="432000" y="1548000"/>
            <a:ext cx="11304000" cy="360000"/>
          </a:xfrm>
          <a:prstGeom prst="rect">
            <a:avLst/>
          </a:prstGeom>
          <a:solidFill>
            <a:srgbClr val="423A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04000" y="1584000"/>
            <a:ext cx="11160000" cy="288000"/>
          </a:xfrm>
          <a:prstGeom prst="rect">
            <a:avLst/>
          </a:prstGeom>
          <a:noFill/>
        </p:spPr>
        <p:txBody>
          <a:bodyPr wrap="square" lIns="36000" rIns="36000" tIns="18000" bIns="18000" anchor="ctr">
            <a:spAutoFit/>
          </a:bodyPr>
          <a:lstStyle/>
          <a:p>
            <a:pPr algn="l"/>
            <a:r>
              <a:rPr sz="1400" b="1" i="0">
                <a:solidFill>
                  <a:srgbClr val="FFFFFF"/>
                </a:solidFill>
                <a:latin typeface="Yu Gothic"/>
              </a:rPr>
              <a:t>加算の趣旨</a:t>
            </a:r>
          </a:p>
        </p:txBody>
      </p:sp>
      <p:sp>
        <p:nvSpPr>
          <p:cNvPr id="10" name="Rectangle 9"/>
          <p:cNvSpPr/>
          <p:nvPr/>
        </p:nvSpPr>
        <p:spPr>
          <a:xfrm>
            <a:off x="432000" y="1908000"/>
            <a:ext cx="11304000" cy="540000"/>
          </a:xfrm>
          <a:prstGeom prst="rect">
            <a:avLst/>
          </a:prstGeom>
          <a:solidFill>
            <a:srgbClr val="EAE8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40000" y="1944000"/>
            <a:ext cx="11088000" cy="504000"/>
          </a:xfrm>
          <a:prstGeom prst="rect">
            <a:avLst/>
          </a:prstGeom>
          <a:noFill/>
        </p:spPr>
        <p:txBody>
          <a:bodyPr wrap="square" lIns="36000" rIns="36000" tIns="18000" bIns="18000" anchor="t">
            <a:spAutoFit/>
          </a:bodyPr>
          <a:lstStyle/>
          <a:p>
            <a:pPr algn="l"/>
            <a:r>
              <a:rPr sz="1200" b="0" i="0">
                <a:solidFill>
                  <a:srgbClr val="323038"/>
                </a:solidFill>
                <a:latin typeface="Yu Gothic"/>
              </a:rPr>
              <a:t>末期の利用者が在宅で最期を過ごせるよう、CMが頻回の訪問・多職種連携・</a:t>
            </a:r>
          </a:p>
          <a:p>
            <a:pPr algn="l"/>
            <a:r>
              <a:rPr sz="1200" b="0" i="0">
                <a:solidFill>
                  <a:srgbClr val="323038"/>
                </a:solidFill>
                <a:latin typeface="Yu Gothic"/>
              </a:rPr>
              <a:t>看取りまでを一貫して支える業務を評価するもの。</a:t>
            </a:r>
          </a:p>
        </p:txBody>
      </p:sp>
      <p:sp>
        <p:nvSpPr>
          <p:cNvPr id="12" name="Rectangle 11"/>
          <p:cNvSpPr/>
          <p:nvPr/>
        </p:nvSpPr>
        <p:spPr>
          <a:xfrm>
            <a:off x="390059" y="2592000"/>
            <a:ext cx="2772000" cy="756000"/>
          </a:xfrm>
          <a:prstGeom prst="rect">
            <a:avLst/>
          </a:prstGeom>
          <a:solidFill>
            <a:srgbClr val="6057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90059" y="2646000"/>
            <a:ext cx="2772000" cy="288000"/>
          </a:xfrm>
          <a:prstGeom prst="rect">
            <a:avLst/>
          </a:prstGeom>
          <a:noFill/>
        </p:spPr>
        <p:txBody>
          <a:bodyPr wrap="square" lIns="36000" rIns="36000" tIns="18000" bIns="18000" anchor="t">
            <a:spAutoFit/>
          </a:bodyPr>
          <a:lstStyle/>
          <a:p>
            <a:pPr algn="ctr"/>
            <a:r>
              <a:rPr sz="2000" b="1" i="0">
                <a:solidFill>
                  <a:srgbClr val="C48C3A"/>
                </a:solidFill>
                <a:latin typeface="Yu Gothic"/>
              </a:rPr>
              <a:t>①</a:t>
            </a:r>
          </a:p>
        </p:txBody>
      </p:sp>
      <p:sp>
        <p:nvSpPr>
          <p:cNvPr id="14" name="TextBox 13"/>
          <p:cNvSpPr txBox="1"/>
          <p:nvPr/>
        </p:nvSpPr>
        <p:spPr>
          <a:xfrm>
            <a:off x="444059" y="2916000"/>
            <a:ext cx="2664000" cy="396000"/>
          </a:xfrm>
          <a:prstGeom prst="rect">
            <a:avLst/>
          </a:prstGeom>
          <a:noFill/>
        </p:spPr>
        <p:txBody>
          <a:bodyPr wrap="square" lIns="36000" rIns="36000" tIns="18000" bIns="18000" anchor="ctr">
            <a:spAutoFit/>
          </a:bodyPr>
          <a:lstStyle/>
          <a:p>
            <a:pPr algn="ctr"/>
            <a:r>
              <a:rPr sz="1200" b="1" i="0">
                <a:solidFill>
                  <a:srgbClr val="FFFFFF"/>
                </a:solidFill>
                <a:latin typeface="Yu Gothic"/>
              </a:rPr>
              <a:t>対象利用者</a:t>
            </a:r>
          </a:p>
        </p:txBody>
      </p:sp>
      <p:sp>
        <p:nvSpPr>
          <p:cNvPr id="15" name="Rectangle 14"/>
          <p:cNvSpPr/>
          <p:nvPr/>
        </p:nvSpPr>
        <p:spPr>
          <a:xfrm>
            <a:off x="390059" y="3348000"/>
            <a:ext cx="2772000" cy="1692000"/>
          </a:xfrm>
          <a:prstGeom prst="rect">
            <a:avLst/>
          </a:prstGeom>
          <a:solidFill>
            <a:srgbClr val="EAE8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80059" y="3456000"/>
            <a:ext cx="2592000" cy="1476000"/>
          </a:xfrm>
          <a:prstGeom prst="rect">
            <a:avLst/>
          </a:prstGeom>
          <a:noFill/>
        </p:spPr>
        <p:txBody>
          <a:bodyPr wrap="square" lIns="36000" rIns="36000" tIns="18000" bIns="18000" anchor="ctr">
            <a:spAutoFit/>
          </a:bodyPr>
          <a:lstStyle/>
          <a:p>
            <a:pPr algn="ctr">
              <a:lnSpc>
                <a:spcPct val="135000"/>
              </a:lnSpc>
            </a:pPr>
            <a:r>
              <a:rPr sz="1050" b="0" i="0">
                <a:solidFill>
                  <a:srgbClr val="323038"/>
                </a:solidFill>
                <a:latin typeface="Yu Gothic"/>
              </a:rPr>
              <a:t>末期の悪性腫瘍その他、</a:t>
            </a:r>
          </a:p>
          <a:p>
            <a:pPr algn="ctr">
              <a:lnSpc>
                <a:spcPct val="135000"/>
              </a:lnSpc>
            </a:pPr>
            <a:r>
              <a:rPr sz="1050" b="0" i="0">
                <a:solidFill>
                  <a:srgbClr val="323038"/>
                </a:solidFill>
                <a:latin typeface="Yu Gothic"/>
              </a:rPr>
              <a:t>医学的知見に基づき回復の</a:t>
            </a:r>
          </a:p>
          <a:p>
            <a:pPr algn="ctr">
              <a:lnSpc>
                <a:spcPct val="135000"/>
              </a:lnSpc>
            </a:pPr>
            <a:r>
              <a:rPr sz="1050" b="0" i="0">
                <a:solidFill>
                  <a:srgbClr val="323038"/>
                </a:solidFill>
                <a:latin typeface="Yu Gothic"/>
              </a:rPr>
              <a:t>見込みがないと診断</a:t>
            </a:r>
          </a:p>
        </p:txBody>
      </p:sp>
      <p:sp>
        <p:nvSpPr>
          <p:cNvPr id="17" name="Rectangle 16"/>
          <p:cNvSpPr/>
          <p:nvPr/>
        </p:nvSpPr>
        <p:spPr>
          <a:xfrm>
            <a:off x="3270059" y="2592000"/>
            <a:ext cx="2772000" cy="756000"/>
          </a:xfrm>
          <a:prstGeom prst="rect">
            <a:avLst/>
          </a:prstGeom>
          <a:solidFill>
            <a:srgbClr val="6057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270059" y="2646000"/>
            <a:ext cx="2772000" cy="288000"/>
          </a:xfrm>
          <a:prstGeom prst="rect">
            <a:avLst/>
          </a:prstGeom>
          <a:noFill/>
        </p:spPr>
        <p:txBody>
          <a:bodyPr wrap="square" lIns="36000" rIns="36000" tIns="18000" bIns="18000" anchor="t">
            <a:spAutoFit/>
          </a:bodyPr>
          <a:lstStyle/>
          <a:p>
            <a:pPr algn="ctr"/>
            <a:r>
              <a:rPr sz="2000" b="1" i="0">
                <a:solidFill>
                  <a:srgbClr val="C48C3A"/>
                </a:solidFill>
                <a:latin typeface="Yu Gothic"/>
              </a:rPr>
              <a:t>②</a:t>
            </a:r>
          </a:p>
        </p:txBody>
      </p:sp>
      <p:sp>
        <p:nvSpPr>
          <p:cNvPr id="19" name="TextBox 18"/>
          <p:cNvSpPr txBox="1"/>
          <p:nvPr/>
        </p:nvSpPr>
        <p:spPr>
          <a:xfrm>
            <a:off x="3324059" y="2916000"/>
            <a:ext cx="2664000" cy="396000"/>
          </a:xfrm>
          <a:prstGeom prst="rect">
            <a:avLst/>
          </a:prstGeom>
          <a:noFill/>
        </p:spPr>
        <p:txBody>
          <a:bodyPr wrap="square" lIns="36000" rIns="36000" tIns="18000" bIns="18000" anchor="ctr">
            <a:spAutoFit/>
          </a:bodyPr>
          <a:lstStyle/>
          <a:p>
            <a:pPr algn="ctr"/>
            <a:r>
              <a:rPr sz="1200" b="1" i="0">
                <a:solidFill>
                  <a:srgbClr val="FFFFFF"/>
                </a:solidFill>
                <a:latin typeface="Yu Gothic"/>
              </a:rPr>
              <a:t>死亡日・死亡前</a:t>
            </a:r>
          </a:p>
          <a:p>
            <a:pPr algn="ctr"/>
            <a:r>
              <a:rPr sz="1200" b="1" i="0">
                <a:solidFill>
                  <a:srgbClr val="FFFFFF"/>
                </a:solidFill>
                <a:latin typeface="Yu Gothic"/>
              </a:rPr>
              <a:t>14日以内の訪問</a:t>
            </a:r>
          </a:p>
        </p:txBody>
      </p:sp>
      <p:sp>
        <p:nvSpPr>
          <p:cNvPr id="20" name="Rectangle 19"/>
          <p:cNvSpPr/>
          <p:nvPr/>
        </p:nvSpPr>
        <p:spPr>
          <a:xfrm>
            <a:off x="3270059" y="3348000"/>
            <a:ext cx="2772000" cy="1692000"/>
          </a:xfrm>
          <a:prstGeom prst="rect">
            <a:avLst/>
          </a:prstGeom>
          <a:solidFill>
            <a:srgbClr val="EAE8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3360059" y="3456000"/>
            <a:ext cx="2592000" cy="1476000"/>
          </a:xfrm>
          <a:prstGeom prst="rect">
            <a:avLst/>
          </a:prstGeom>
          <a:noFill/>
        </p:spPr>
        <p:txBody>
          <a:bodyPr wrap="square" lIns="36000" rIns="36000" tIns="18000" bIns="18000" anchor="ctr">
            <a:spAutoFit/>
          </a:bodyPr>
          <a:lstStyle/>
          <a:p>
            <a:pPr algn="ctr">
              <a:lnSpc>
                <a:spcPct val="135000"/>
              </a:lnSpc>
            </a:pPr>
            <a:r>
              <a:rPr sz="1050" b="0" i="0">
                <a:solidFill>
                  <a:srgbClr val="323038"/>
                </a:solidFill>
                <a:latin typeface="Yu Gothic"/>
              </a:rPr>
              <a:t>本人・家族の同意のもと、</a:t>
            </a:r>
          </a:p>
          <a:p>
            <a:pPr algn="ctr">
              <a:lnSpc>
                <a:spcPct val="135000"/>
              </a:lnSpc>
            </a:pPr>
            <a:r>
              <a:rPr sz="1050" b="0" i="0">
                <a:solidFill>
                  <a:srgbClr val="323038"/>
                </a:solidFill>
                <a:latin typeface="Yu Gothic"/>
              </a:rPr>
              <a:t>2回以上の利用者宅訪問</a:t>
            </a:r>
          </a:p>
          <a:p>
            <a:pPr algn="ctr">
              <a:lnSpc>
                <a:spcPct val="135000"/>
              </a:lnSpc>
            </a:pPr>
            <a:r>
              <a:rPr sz="1050" b="0" i="0">
                <a:solidFill>
                  <a:srgbClr val="323038"/>
                </a:solidFill>
                <a:latin typeface="Yu Gothic"/>
              </a:rPr>
              <a:t>(状態変化等の理由が必要)</a:t>
            </a:r>
          </a:p>
        </p:txBody>
      </p:sp>
      <p:sp>
        <p:nvSpPr>
          <p:cNvPr id="22" name="Rectangle 21"/>
          <p:cNvSpPr/>
          <p:nvPr/>
        </p:nvSpPr>
        <p:spPr>
          <a:xfrm>
            <a:off x="6150059" y="2592000"/>
            <a:ext cx="2772000" cy="756000"/>
          </a:xfrm>
          <a:prstGeom prst="rect">
            <a:avLst/>
          </a:prstGeom>
          <a:solidFill>
            <a:srgbClr val="6057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150059" y="2646000"/>
            <a:ext cx="2772000" cy="288000"/>
          </a:xfrm>
          <a:prstGeom prst="rect">
            <a:avLst/>
          </a:prstGeom>
          <a:noFill/>
        </p:spPr>
        <p:txBody>
          <a:bodyPr wrap="square" lIns="36000" rIns="36000" tIns="18000" bIns="18000" anchor="t">
            <a:spAutoFit/>
          </a:bodyPr>
          <a:lstStyle/>
          <a:p>
            <a:pPr algn="ctr"/>
            <a:r>
              <a:rPr sz="2000" b="1" i="0">
                <a:solidFill>
                  <a:srgbClr val="C48C3A"/>
                </a:solidFill>
                <a:latin typeface="Yu Gothic"/>
              </a:rPr>
              <a:t>③</a:t>
            </a:r>
          </a:p>
        </p:txBody>
      </p:sp>
      <p:sp>
        <p:nvSpPr>
          <p:cNvPr id="24" name="TextBox 23"/>
          <p:cNvSpPr txBox="1"/>
          <p:nvPr/>
        </p:nvSpPr>
        <p:spPr>
          <a:xfrm>
            <a:off x="6204059" y="2916000"/>
            <a:ext cx="2664000" cy="396000"/>
          </a:xfrm>
          <a:prstGeom prst="rect">
            <a:avLst/>
          </a:prstGeom>
          <a:noFill/>
        </p:spPr>
        <p:txBody>
          <a:bodyPr wrap="square" lIns="36000" rIns="36000" tIns="18000" bIns="18000" anchor="ctr">
            <a:spAutoFit/>
          </a:bodyPr>
          <a:lstStyle/>
          <a:p>
            <a:pPr algn="ctr"/>
            <a:r>
              <a:rPr sz="1200" b="1" i="0">
                <a:solidFill>
                  <a:srgbClr val="FFFFFF"/>
                </a:solidFill>
                <a:latin typeface="Yu Gothic"/>
              </a:rPr>
              <a:t>多職種との連携</a:t>
            </a:r>
          </a:p>
        </p:txBody>
      </p:sp>
      <p:sp>
        <p:nvSpPr>
          <p:cNvPr id="25" name="Rectangle 24"/>
          <p:cNvSpPr/>
          <p:nvPr/>
        </p:nvSpPr>
        <p:spPr>
          <a:xfrm>
            <a:off x="6150059" y="3348000"/>
            <a:ext cx="2772000" cy="1692000"/>
          </a:xfrm>
          <a:prstGeom prst="rect">
            <a:avLst/>
          </a:prstGeom>
          <a:solidFill>
            <a:srgbClr val="EAE8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240059" y="3456000"/>
            <a:ext cx="2592000" cy="1476000"/>
          </a:xfrm>
          <a:prstGeom prst="rect">
            <a:avLst/>
          </a:prstGeom>
          <a:noFill/>
        </p:spPr>
        <p:txBody>
          <a:bodyPr wrap="square" lIns="36000" rIns="36000" tIns="18000" bIns="18000" anchor="ctr">
            <a:spAutoFit/>
          </a:bodyPr>
          <a:lstStyle/>
          <a:p>
            <a:pPr algn="ctr">
              <a:lnSpc>
                <a:spcPct val="135000"/>
              </a:lnSpc>
            </a:pPr>
            <a:r>
              <a:rPr sz="1050" b="0" i="0">
                <a:solidFill>
                  <a:srgbClr val="323038"/>
                </a:solidFill>
                <a:latin typeface="Yu Gothic"/>
              </a:rPr>
              <a:t>主治医・訪問看護等と連携し、</a:t>
            </a:r>
          </a:p>
          <a:p>
            <a:pPr algn="ctr">
              <a:lnSpc>
                <a:spcPct val="135000"/>
              </a:lnSpc>
            </a:pPr>
            <a:r>
              <a:rPr sz="1050" b="0" i="0">
                <a:solidFill>
                  <a:srgbClr val="323038"/>
                </a:solidFill>
                <a:latin typeface="Yu Gothic"/>
              </a:rPr>
              <a:t>利用者の状態等の情報を</a:t>
            </a:r>
          </a:p>
          <a:p>
            <a:pPr algn="ctr">
              <a:lnSpc>
                <a:spcPct val="135000"/>
              </a:lnSpc>
            </a:pPr>
            <a:r>
              <a:rPr sz="1050" b="0" i="0">
                <a:solidFill>
                  <a:srgbClr val="323038"/>
                </a:solidFill>
                <a:latin typeface="Yu Gothic"/>
              </a:rPr>
              <a:t>得ながら支援</a:t>
            </a:r>
          </a:p>
        </p:txBody>
      </p:sp>
      <p:sp>
        <p:nvSpPr>
          <p:cNvPr id="27" name="Rectangle 26"/>
          <p:cNvSpPr/>
          <p:nvPr/>
        </p:nvSpPr>
        <p:spPr>
          <a:xfrm>
            <a:off x="9030059" y="2592000"/>
            <a:ext cx="2772000" cy="756000"/>
          </a:xfrm>
          <a:prstGeom prst="rect">
            <a:avLst/>
          </a:prstGeom>
          <a:solidFill>
            <a:srgbClr val="6057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030059" y="2646000"/>
            <a:ext cx="2772000" cy="288000"/>
          </a:xfrm>
          <a:prstGeom prst="rect">
            <a:avLst/>
          </a:prstGeom>
          <a:noFill/>
        </p:spPr>
        <p:txBody>
          <a:bodyPr wrap="square" lIns="36000" rIns="36000" tIns="18000" bIns="18000" anchor="t">
            <a:spAutoFit/>
          </a:bodyPr>
          <a:lstStyle/>
          <a:p>
            <a:pPr algn="ctr"/>
            <a:r>
              <a:rPr sz="2000" b="1" i="0">
                <a:solidFill>
                  <a:srgbClr val="C48C3A"/>
                </a:solidFill>
                <a:latin typeface="Yu Gothic"/>
              </a:rPr>
              <a:t>④</a:t>
            </a:r>
          </a:p>
        </p:txBody>
      </p:sp>
      <p:sp>
        <p:nvSpPr>
          <p:cNvPr id="29" name="TextBox 28"/>
          <p:cNvSpPr txBox="1"/>
          <p:nvPr/>
        </p:nvSpPr>
        <p:spPr>
          <a:xfrm>
            <a:off x="9084059" y="2916000"/>
            <a:ext cx="2664000" cy="396000"/>
          </a:xfrm>
          <a:prstGeom prst="rect">
            <a:avLst/>
          </a:prstGeom>
          <a:noFill/>
        </p:spPr>
        <p:txBody>
          <a:bodyPr wrap="square" lIns="36000" rIns="36000" tIns="18000" bIns="18000" anchor="ctr">
            <a:spAutoFit/>
          </a:bodyPr>
          <a:lstStyle/>
          <a:p>
            <a:pPr algn="ctr"/>
            <a:r>
              <a:rPr sz="1200" b="1" i="0">
                <a:solidFill>
                  <a:srgbClr val="FFFFFF"/>
                </a:solidFill>
                <a:latin typeface="Yu Gothic"/>
              </a:rPr>
              <a:t>記録・看取り対応</a:t>
            </a:r>
          </a:p>
        </p:txBody>
      </p:sp>
      <p:sp>
        <p:nvSpPr>
          <p:cNvPr id="30" name="Rectangle 29"/>
          <p:cNvSpPr/>
          <p:nvPr/>
        </p:nvSpPr>
        <p:spPr>
          <a:xfrm>
            <a:off x="9030059" y="3348000"/>
            <a:ext cx="2772000" cy="1692000"/>
          </a:xfrm>
          <a:prstGeom prst="rect">
            <a:avLst/>
          </a:prstGeom>
          <a:solidFill>
            <a:srgbClr val="EAE8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120059" y="3456000"/>
            <a:ext cx="2592000" cy="1476000"/>
          </a:xfrm>
          <a:prstGeom prst="rect">
            <a:avLst/>
          </a:prstGeom>
          <a:noFill/>
        </p:spPr>
        <p:txBody>
          <a:bodyPr wrap="square" lIns="36000" rIns="36000" tIns="18000" bIns="18000" anchor="ctr">
            <a:spAutoFit/>
          </a:bodyPr>
          <a:lstStyle/>
          <a:p>
            <a:pPr algn="ctr">
              <a:lnSpc>
                <a:spcPct val="135000"/>
              </a:lnSpc>
            </a:pPr>
            <a:r>
              <a:rPr sz="1050" b="0" i="0">
                <a:solidFill>
                  <a:srgbClr val="323038"/>
                </a:solidFill>
                <a:latin typeface="Yu Gothic"/>
              </a:rPr>
              <a:t>訪問日・内容・連携状況等を</a:t>
            </a:r>
          </a:p>
          <a:p>
            <a:pPr algn="ctr">
              <a:lnSpc>
                <a:spcPct val="135000"/>
              </a:lnSpc>
            </a:pPr>
            <a:r>
              <a:rPr sz="1050" b="0" i="0">
                <a:solidFill>
                  <a:srgbClr val="323038"/>
                </a:solidFill>
                <a:latin typeface="Yu Gothic"/>
              </a:rPr>
              <a:t>記録。死亡日を含めた対応を</a:t>
            </a:r>
          </a:p>
          <a:p>
            <a:pPr algn="ctr">
              <a:lnSpc>
                <a:spcPct val="135000"/>
              </a:lnSpc>
            </a:pPr>
            <a:r>
              <a:rPr sz="1050" b="0" i="0">
                <a:solidFill>
                  <a:srgbClr val="323038"/>
                </a:solidFill>
                <a:latin typeface="Yu Gothic"/>
              </a:rPr>
              <a:t>行う</a:t>
            </a:r>
          </a:p>
        </p:txBody>
      </p:sp>
      <p:sp>
        <p:nvSpPr>
          <p:cNvPr id="32" name="Rectangle 31"/>
          <p:cNvSpPr/>
          <p:nvPr/>
        </p:nvSpPr>
        <p:spPr>
          <a:xfrm>
            <a:off x="432000" y="5220000"/>
            <a:ext cx="11304000" cy="360000"/>
          </a:xfrm>
          <a:prstGeom prst="rect">
            <a:avLst/>
          </a:prstGeom>
          <a:solidFill>
            <a:srgbClr val="C48C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504000" y="5256000"/>
            <a:ext cx="11160000" cy="288000"/>
          </a:xfrm>
          <a:prstGeom prst="rect">
            <a:avLst/>
          </a:prstGeom>
          <a:noFill/>
        </p:spPr>
        <p:txBody>
          <a:bodyPr wrap="square" lIns="36000" rIns="36000" tIns="18000" bIns="18000" anchor="ctr">
            <a:spAutoFit/>
          </a:bodyPr>
          <a:lstStyle/>
          <a:p>
            <a:pPr algn="l"/>
            <a:r>
              <a:rPr sz="1400" b="1" i="0">
                <a:solidFill>
                  <a:srgbClr val="FFFFFF"/>
                </a:solidFill>
                <a:latin typeface="Yu Gothic"/>
              </a:rPr>
              <a:t>算定にあたっての注意</a:t>
            </a:r>
          </a:p>
        </p:txBody>
      </p:sp>
      <p:sp>
        <p:nvSpPr>
          <p:cNvPr id="34" name="Rectangle 33"/>
          <p:cNvSpPr/>
          <p:nvPr/>
        </p:nvSpPr>
        <p:spPr>
          <a:xfrm>
            <a:off x="432000" y="5580000"/>
            <a:ext cx="11304000" cy="540000"/>
          </a:xfrm>
          <a:prstGeom prst="rect">
            <a:avLst/>
          </a:prstGeom>
          <a:solidFill>
            <a:srgbClr val="F9F0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540000" y="5616000"/>
            <a:ext cx="11088000" cy="504000"/>
          </a:xfrm>
          <a:prstGeom prst="rect">
            <a:avLst/>
          </a:prstGeom>
          <a:noFill/>
        </p:spPr>
        <p:txBody>
          <a:bodyPr wrap="square" lIns="36000" rIns="36000" tIns="18000" bIns="18000" anchor="t">
            <a:spAutoFit/>
          </a:bodyPr>
          <a:lstStyle/>
          <a:p>
            <a:pPr algn="l"/>
            <a:r>
              <a:rPr sz="1200" b="0" i="0">
                <a:solidFill>
                  <a:srgbClr val="323038"/>
                </a:solidFill>
                <a:latin typeface="Yu Gothic"/>
              </a:rPr>
              <a:t>■ 単位数・細かな要件は改定で変わりうる ― 最新の告示・解釈通知・Q&amp;Aを必ず確認すること</a:t>
            </a:r>
          </a:p>
          <a:p>
            <a:pPr algn="l"/>
            <a:r>
              <a:rPr sz="1200" b="0" i="0">
                <a:solidFill>
                  <a:srgbClr val="323038"/>
                </a:solidFill>
                <a:latin typeface="Yu Gothic"/>
              </a:rPr>
              <a:t>■ 「死亡日 + 死亡前14日以内」の業務が算定の核。この期間の記録が決め手になる</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119" cy="576000"/>
          </a:xfrm>
          <a:prstGeom prst="rect">
            <a:avLst/>
          </a:prstGeom>
          <a:solidFill>
            <a:srgbClr val="423A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88000" y="90000"/>
            <a:ext cx="7920000" cy="216000"/>
          </a:xfrm>
          <a:prstGeom prst="rect">
            <a:avLst/>
          </a:prstGeom>
          <a:noFill/>
        </p:spPr>
        <p:txBody>
          <a:bodyPr wrap="square" lIns="36000" rIns="36000" tIns="18000" bIns="18000" anchor="t">
            <a:spAutoFit/>
          </a:bodyPr>
          <a:lstStyle/>
          <a:p>
            <a:pPr algn="l"/>
            <a:r>
              <a:rPr sz="1100" b="1" i="0">
                <a:solidFill>
                  <a:srgbClr val="FFFFFF"/>
                </a:solidFill>
                <a:latin typeface="Yu Gothic"/>
              </a:rPr>
              <a:t>4. ターミナルCM加算</a:t>
            </a:r>
          </a:p>
        </p:txBody>
      </p:sp>
      <p:sp>
        <p:nvSpPr>
          <p:cNvPr id="4" name="TextBox 3"/>
          <p:cNvSpPr txBox="1"/>
          <p:nvPr/>
        </p:nvSpPr>
        <p:spPr>
          <a:xfrm>
            <a:off x="288000" y="684000"/>
            <a:ext cx="11616119" cy="468000"/>
          </a:xfrm>
          <a:prstGeom prst="rect">
            <a:avLst/>
          </a:prstGeom>
          <a:noFill/>
        </p:spPr>
        <p:txBody>
          <a:bodyPr wrap="square" lIns="36000" rIns="36000" tIns="18000" bIns="18000" anchor="t">
            <a:spAutoFit/>
          </a:bodyPr>
          <a:lstStyle/>
          <a:p>
            <a:pPr algn="l"/>
            <a:r>
              <a:rPr sz="2300" b="1" i="0">
                <a:solidFill>
                  <a:srgbClr val="423A5E"/>
                </a:solidFill>
                <a:latin typeface="Yu Gothic"/>
              </a:rPr>
              <a:t>実務フローと、算定漏れ・記録不備の防止</a:t>
            </a:r>
          </a:p>
        </p:txBody>
      </p:sp>
      <p:sp>
        <p:nvSpPr>
          <p:cNvPr id="5" name="Rectangle 4"/>
          <p:cNvSpPr/>
          <p:nvPr/>
        </p:nvSpPr>
        <p:spPr>
          <a:xfrm>
            <a:off x="288000" y="1152000"/>
            <a:ext cx="900000" cy="43200"/>
          </a:xfrm>
          <a:prstGeom prst="rect">
            <a:avLst/>
          </a:prstGeom>
          <a:solidFill>
            <a:srgbClr val="C48C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288000" y="6570000"/>
            <a:ext cx="9360000" cy="180000"/>
          </a:xfrm>
          <a:prstGeom prst="rect">
            <a:avLst/>
          </a:prstGeom>
          <a:noFill/>
        </p:spPr>
        <p:txBody>
          <a:bodyPr wrap="square" lIns="36000" rIns="36000" tIns="18000" bIns="18000" anchor="t">
            <a:spAutoFit/>
          </a:bodyPr>
          <a:lstStyle/>
          <a:p>
            <a:pPr algn="l"/>
            <a:r>
              <a:rPr sz="900" b="0" i="0">
                <a:solidFill>
                  <a:srgbClr val="8C83A6"/>
                </a:solidFill>
                <a:latin typeface="Yu Gothic"/>
              </a:rPr>
              <a:t>主任CM研修 / 看取り期のケアマネジメントとACPの支援技術  ※算定要件は最新の告示・通知をご確認ください</a:t>
            </a:r>
          </a:p>
        </p:txBody>
      </p:sp>
      <p:sp>
        <p:nvSpPr>
          <p:cNvPr id="7" name="TextBox 6"/>
          <p:cNvSpPr txBox="1"/>
          <p:nvPr/>
        </p:nvSpPr>
        <p:spPr>
          <a:xfrm>
            <a:off x="11112119" y="6570000"/>
            <a:ext cx="792000" cy="180000"/>
          </a:xfrm>
          <a:prstGeom prst="rect">
            <a:avLst/>
          </a:prstGeom>
          <a:noFill/>
        </p:spPr>
        <p:txBody>
          <a:bodyPr wrap="square" lIns="36000" rIns="36000" tIns="18000" bIns="18000" anchor="t">
            <a:spAutoFit/>
          </a:bodyPr>
          <a:lstStyle/>
          <a:p>
            <a:pPr algn="r"/>
            <a:r>
              <a:rPr sz="900" b="0" i="0">
                <a:solidFill>
                  <a:srgbClr val="8C83A6"/>
                </a:solidFill>
                <a:latin typeface="Yu Gothic"/>
              </a:rPr>
              <a:t>19 / 33</a:t>
            </a:r>
          </a:p>
        </p:txBody>
      </p:sp>
      <p:sp>
        <p:nvSpPr>
          <p:cNvPr id="8" name="Oval 7"/>
          <p:cNvSpPr/>
          <p:nvPr/>
        </p:nvSpPr>
        <p:spPr>
          <a:xfrm>
            <a:off x="540000" y="1692000"/>
            <a:ext cx="432000" cy="432000"/>
          </a:xfrm>
          <a:prstGeom prst="ellipse">
            <a:avLst/>
          </a:prstGeom>
          <a:solidFill>
            <a:srgbClr val="605780"/>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500" b="1">
                <a:solidFill>
                  <a:srgbClr val="FFFFFF"/>
                </a:solidFill>
                <a:latin typeface="Yu Gothic"/>
              </a:rPr>
              <a:t>1</a:t>
            </a:r>
          </a:p>
        </p:txBody>
      </p:sp>
      <p:sp>
        <p:nvSpPr>
          <p:cNvPr id="9" name="Rectangle 8"/>
          <p:cNvSpPr/>
          <p:nvPr/>
        </p:nvSpPr>
        <p:spPr>
          <a:xfrm>
            <a:off x="1152000" y="1584000"/>
            <a:ext cx="2340000" cy="684000"/>
          </a:xfrm>
          <a:prstGeom prst="rect">
            <a:avLst/>
          </a:prstGeom>
          <a:solidFill>
            <a:srgbClr val="6057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188000" y="1584000"/>
            <a:ext cx="2268000" cy="684000"/>
          </a:xfrm>
          <a:prstGeom prst="rect">
            <a:avLst/>
          </a:prstGeom>
          <a:noFill/>
        </p:spPr>
        <p:txBody>
          <a:bodyPr wrap="square" lIns="36000" rIns="36000" tIns="18000" bIns="18000" anchor="ctr">
            <a:spAutoFit/>
          </a:bodyPr>
          <a:lstStyle/>
          <a:p>
            <a:pPr algn="ctr"/>
            <a:r>
              <a:rPr sz="1250" b="1" i="0">
                <a:solidFill>
                  <a:srgbClr val="FFFFFF"/>
                </a:solidFill>
                <a:latin typeface="Yu Gothic"/>
              </a:rPr>
              <a:t>末期の確認</a:t>
            </a:r>
          </a:p>
        </p:txBody>
      </p:sp>
      <p:sp>
        <p:nvSpPr>
          <p:cNvPr id="11" name="Rectangle 10"/>
          <p:cNvSpPr/>
          <p:nvPr/>
        </p:nvSpPr>
        <p:spPr>
          <a:xfrm>
            <a:off x="3491999" y="1584000"/>
            <a:ext cx="8268119" cy="684000"/>
          </a:xfrm>
          <a:prstGeom prst="rect">
            <a:avLst/>
          </a:prstGeom>
          <a:solidFill>
            <a:srgbClr val="EAE8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636000" y="1638000"/>
            <a:ext cx="8052119" cy="576000"/>
          </a:xfrm>
          <a:prstGeom prst="rect">
            <a:avLst/>
          </a:prstGeom>
          <a:noFill/>
        </p:spPr>
        <p:txBody>
          <a:bodyPr wrap="square" lIns="36000" rIns="36000" tIns="18000" bIns="18000" anchor="ctr">
            <a:spAutoFit/>
          </a:bodyPr>
          <a:lstStyle/>
          <a:p>
            <a:pPr algn="l">
              <a:lnSpc>
                <a:spcPct val="130000"/>
              </a:lnSpc>
            </a:pPr>
            <a:r>
              <a:rPr sz="1100" b="0" i="0">
                <a:solidFill>
                  <a:srgbClr val="323038"/>
                </a:solidFill>
                <a:latin typeface="Yu Gothic"/>
              </a:rPr>
              <a:t>主治医意見書・診療情報提供書等で「末期である旨」を文書で確認。本人・家族の在宅看取りの意向を確認・記録</a:t>
            </a:r>
          </a:p>
        </p:txBody>
      </p:sp>
      <p:sp>
        <p:nvSpPr>
          <p:cNvPr id="13" name="Oval 12"/>
          <p:cNvSpPr/>
          <p:nvPr/>
        </p:nvSpPr>
        <p:spPr>
          <a:xfrm>
            <a:off x="540000" y="2466000"/>
            <a:ext cx="432000" cy="432000"/>
          </a:xfrm>
          <a:prstGeom prst="ellipse">
            <a:avLst/>
          </a:prstGeom>
          <a:solidFill>
            <a:srgbClr val="2E6B73"/>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500" b="1">
                <a:solidFill>
                  <a:srgbClr val="FFFFFF"/>
                </a:solidFill>
                <a:latin typeface="Yu Gothic"/>
              </a:rPr>
              <a:t>2</a:t>
            </a:r>
          </a:p>
        </p:txBody>
      </p:sp>
      <p:sp>
        <p:nvSpPr>
          <p:cNvPr id="14" name="Rectangle 13"/>
          <p:cNvSpPr/>
          <p:nvPr/>
        </p:nvSpPr>
        <p:spPr>
          <a:xfrm>
            <a:off x="1152000" y="2358000"/>
            <a:ext cx="2340000" cy="684000"/>
          </a:xfrm>
          <a:prstGeom prst="rect">
            <a:avLst/>
          </a:prstGeom>
          <a:solidFill>
            <a:srgbClr val="2E6B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188000" y="2358000"/>
            <a:ext cx="2268000" cy="684000"/>
          </a:xfrm>
          <a:prstGeom prst="rect">
            <a:avLst/>
          </a:prstGeom>
          <a:noFill/>
        </p:spPr>
        <p:txBody>
          <a:bodyPr wrap="square" lIns="36000" rIns="36000" tIns="18000" bIns="18000" anchor="ctr">
            <a:spAutoFit/>
          </a:bodyPr>
          <a:lstStyle/>
          <a:p>
            <a:pPr algn="ctr"/>
            <a:r>
              <a:rPr sz="1250" b="1" i="0">
                <a:solidFill>
                  <a:srgbClr val="FFFFFF"/>
                </a:solidFill>
                <a:latin typeface="Yu Gothic"/>
              </a:rPr>
              <a:t>ターミナル期の</a:t>
            </a:r>
          </a:p>
          <a:p>
            <a:pPr algn="ctr"/>
            <a:r>
              <a:rPr sz="1250" b="1" i="0">
                <a:solidFill>
                  <a:srgbClr val="FFFFFF"/>
                </a:solidFill>
                <a:latin typeface="Yu Gothic"/>
              </a:rPr>
              <a:t>プラン再作成</a:t>
            </a:r>
          </a:p>
        </p:txBody>
      </p:sp>
      <p:sp>
        <p:nvSpPr>
          <p:cNvPr id="16" name="Rectangle 15"/>
          <p:cNvSpPr/>
          <p:nvPr/>
        </p:nvSpPr>
        <p:spPr>
          <a:xfrm>
            <a:off x="3491999" y="2358000"/>
            <a:ext cx="8268119" cy="684000"/>
          </a:xfrm>
          <a:prstGeom prst="rect">
            <a:avLst/>
          </a:prstGeom>
          <a:solidFill>
            <a:srgbClr val="EAE8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636000" y="2412000"/>
            <a:ext cx="8052119" cy="576000"/>
          </a:xfrm>
          <a:prstGeom prst="rect">
            <a:avLst/>
          </a:prstGeom>
          <a:noFill/>
        </p:spPr>
        <p:txBody>
          <a:bodyPr wrap="square" lIns="36000" rIns="36000" tIns="18000" bIns="18000" anchor="ctr">
            <a:spAutoFit/>
          </a:bodyPr>
          <a:lstStyle/>
          <a:p>
            <a:pPr algn="l">
              <a:lnSpc>
                <a:spcPct val="130000"/>
              </a:lnSpc>
            </a:pPr>
            <a:r>
              <a:rPr sz="1100" b="0" i="0">
                <a:solidFill>
                  <a:srgbClr val="323038"/>
                </a:solidFill>
                <a:latin typeface="Yu Gothic"/>
              </a:rPr>
              <a:t>サービス担当者会議を開催。訪問診療・訪問看護との連携を強化し、看取りの方針を明文化</a:t>
            </a:r>
          </a:p>
        </p:txBody>
      </p:sp>
      <p:sp>
        <p:nvSpPr>
          <p:cNvPr id="18" name="Oval 17"/>
          <p:cNvSpPr/>
          <p:nvPr/>
        </p:nvSpPr>
        <p:spPr>
          <a:xfrm>
            <a:off x="540000" y="3240000"/>
            <a:ext cx="432000" cy="432000"/>
          </a:xfrm>
          <a:prstGeom prst="ellipse">
            <a:avLst/>
          </a:prstGeom>
          <a:solidFill>
            <a:srgbClr val="C48C3A"/>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500" b="1">
                <a:solidFill>
                  <a:srgbClr val="FFFFFF"/>
                </a:solidFill>
                <a:latin typeface="Yu Gothic"/>
              </a:rPr>
              <a:t>3</a:t>
            </a:r>
          </a:p>
        </p:txBody>
      </p:sp>
      <p:sp>
        <p:nvSpPr>
          <p:cNvPr id="19" name="Rectangle 18"/>
          <p:cNvSpPr/>
          <p:nvPr/>
        </p:nvSpPr>
        <p:spPr>
          <a:xfrm>
            <a:off x="1152000" y="3132000"/>
            <a:ext cx="2340000" cy="684000"/>
          </a:xfrm>
          <a:prstGeom prst="rect">
            <a:avLst/>
          </a:prstGeom>
          <a:solidFill>
            <a:srgbClr val="C48C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188000" y="3132000"/>
            <a:ext cx="2268000" cy="684000"/>
          </a:xfrm>
          <a:prstGeom prst="rect">
            <a:avLst/>
          </a:prstGeom>
          <a:noFill/>
        </p:spPr>
        <p:txBody>
          <a:bodyPr wrap="square" lIns="36000" rIns="36000" tIns="18000" bIns="18000" anchor="ctr">
            <a:spAutoFit/>
          </a:bodyPr>
          <a:lstStyle/>
          <a:p>
            <a:pPr algn="ctr"/>
            <a:r>
              <a:rPr sz="1250" b="1" i="0">
                <a:solidFill>
                  <a:srgbClr val="FFFFFF"/>
                </a:solidFill>
                <a:latin typeface="Yu Gothic"/>
              </a:rPr>
              <a:t>頻回訪問と</a:t>
            </a:r>
          </a:p>
          <a:p>
            <a:pPr algn="ctr"/>
            <a:r>
              <a:rPr sz="1250" b="1" i="0">
                <a:solidFill>
                  <a:srgbClr val="FFFFFF"/>
                </a:solidFill>
                <a:latin typeface="Yu Gothic"/>
              </a:rPr>
              <a:t>多職種共有</a:t>
            </a:r>
          </a:p>
        </p:txBody>
      </p:sp>
      <p:sp>
        <p:nvSpPr>
          <p:cNvPr id="21" name="Rectangle 20"/>
          <p:cNvSpPr/>
          <p:nvPr/>
        </p:nvSpPr>
        <p:spPr>
          <a:xfrm>
            <a:off x="3491999" y="3132000"/>
            <a:ext cx="8268119" cy="684000"/>
          </a:xfrm>
          <a:prstGeom prst="rect">
            <a:avLst/>
          </a:prstGeom>
          <a:solidFill>
            <a:srgbClr val="EAE8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636000" y="3186000"/>
            <a:ext cx="8052119" cy="576000"/>
          </a:xfrm>
          <a:prstGeom prst="rect">
            <a:avLst/>
          </a:prstGeom>
          <a:noFill/>
        </p:spPr>
        <p:txBody>
          <a:bodyPr wrap="square" lIns="36000" rIns="36000" tIns="18000" bIns="18000" anchor="ctr">
            <a:spAutoFit/>
          </a:bodyPr>
          <a:lstStyle/>
          <a:p>
            <a:pPr algn="l">
              <a:lnSpc>
                <a:spcPct val="130000"/>
              </a:lnSpc>
            </a:pPr>
            <a:r>
              <a:rPr sz="1100" b="0" i="0">
                <a:solidFill>
                  <a:srgbClr val="323038"/>
                </a:solidFill>
                <a:latin typeface="Yu Gothic"/>
              </a:rPr>
              <a:t>状態変化に応じて訪問(2回以上必須)。訪問の都度「訪問理由・状態・対応」を記録。主治医・看護と情報共有</a:t>
            </a:r>
          </a:p>
        </p:txBody>
      </p:sp>
      <p:sp>
        <p:nvSpPr>
          <p:cNvPr id="23" name="Oval 22"/>
          <p:cNvSpPr/>
          <p:nvPr/>
        </p:nvSpPr>
        <p:spPr>
          <a:xfrm>
            <a:off x="540000" y="4014000"/>
            <a:ext cx="432000" cy="432000"/>
          </a:xfrm>
          <a:prstGeom prst="ellipse">
            <a:avLst/>
          </a:prstGeom>
          <a:solidFill>
            <a:srgbClr val="527C63"/>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500" b="1">
                <a:solidFill>
                  <a:srgbClr val="FFFFFF"/>
                </a:solidFill>
                <a:latin typeface="Yu Gothic"/>
              </a:rPr>
              <a:t>4</a:t>
            </a:r>
          </a:p>
        </p:txBody>
      </p:sp>
      <p:sp>
        <p:nvSpPr>
          <p:cNvPr id="24" name="Rectangle 23"/>
          <p:cNvSpPr/>
          <p:nvPr/>
        </p:nvSpPr>
        <p:spPr>
          <a:xfrm>
            <a:off x="1152000" y="3906000"/>
            <a:ext cx="2340000" cy="684000"/>
          </a:xfrm>
          <a:prstGeom prst="rect">
            <a:avLst/>
          </a:prstGeom>
          <a:solidFill>
            <a:srgbClr val="527C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188000" y="3906000"/>
            <a:ext cx="2268000" cy="684000"/>
          </a:xfrm>
          <a:prstGeom prst="rect">
            <a:avLst/>
          </a:prstGeom>
          <a:noFill/>
        </p:spPr>
        <p:txBody>
          <a:bodyPr wrap="square" lIns="36000" rIns="36000" tIns="18000" bIns="18000" anchor="ctr">
            <a:spAutoFit/>
          </a:bodyPr>
          <a:lstStyle/>
          <a:p>
            <a:pPr algn="ctr"/>
            <a:r>
              <a:rPr sz="1250" b="1" i="0">
                <a:solidFill>
                  <a:srgbClr val="FFFFFF"/>
                </a:solidFill>
                <a:latin typeface="Yu Gothic"/>
              </a:rPr>
              <a:t>死亡日対応・</a:t>
            </a:r>
          </a:p>
          <a:p>
            <a:pPr algn="ctr"/>
            <a:r>
              <a:rPr sz="1250" b="1" i="0">
                <a:solidFill>
                  <a:srgbClr val="FFFFFF"/>
                </a:solidFill>
                <a:latin typeface="Yu Gothic"/>
              </a:rPr>
              <a:t>記録の確定</a:t>
            </a:r>
          </a:p>
        </p:txBody>
      </p:sp>
      <p:sp>
        <p:nvSpPr>
          <p:cNvPr id="26" name="Rectangle 25"/>
          <p:cNvSpPr/>
          <p:nvPr/>
        </p:nvSpPr>
        <p:spPr>
          <a:xfrm>
            <a:off x="3491999" y="3906000"/>
            <a:ext cx="8268119" cy="684000"/>
          </a:xfrm>
          <a:prstGeom prst="rect">
            <a:avLst/>
          </a:prstGeom>
          <a:solidFill>
            <a:srgbClr val="EAE8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3636000" y="3960000"/>
            <a:ext cx="8052119" cy="576000"/>
          </a:xfrm>
          <a:prstGeom prst="rect">
            <a:avLst/>
          </a:prstGeom>
          <a:noFill/>
        </p:spPr>
        <p:txBody>
          <a:bodyPr wrap="square" lIns="36000" rIns="36000" tIns="18000" bIns="18000" anchor="ctr">
            <a:spAutoFit/>
          </a:bodyPr>
          <a:lstStyle/>
          <a:p>
            <a:pPr algn="l">
              <a:lnSpc>
                <a:spcPct val="130000"/>
              </a:lnSpc>
            </a:pPr>
            <a:r>
              <a:rPr sz="1100" b="0" i="0">
                <a:solidFill>
                  <a:srgbClr val="323038"/>
                </a:solidFill>
                <a:latin typeface="Yu Gothic"/>
              </a:rPr>
              <a:t>死亡日の対応を記録。算定根拠となる書類(末期の確認・訪問記録・連携記録)を整理・確定</a:t>
            </a:r>
          </a:p>
        </p:txBody>
      </p:sp>
      <p:sp>
        <p:nvSpPr>
          <p:cNvPr id="28" name="Rectangle 27"/>
          <p:cNvSpPr/>
          <p:nvPr/>
        </p:nvSpPr>
        <p:spPr>
          <a:xfrm>
            <a:off x="432000" y="4824000"/>
            <a:ext cx="11304000" cy="360000"/>
          </a:xfrm>
          <a:prstGeom prst="rect">
            <a:avLst/>
          </a:prstGeom>
          <a:solidFill>
            <a:srgbClr val="423A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504000" y="4860000"/>
            <a:ext cx="11160000" cy="288000"/>
          </a:xfrm>
          <a:prstGeom prst="rect">
            <a:avLst/>
          </a:prstGeom>
          <a:noFill/>
        </p:spPr>
        <p:txBody>
          <a:bodyPr wrap="square" lIns="36000" rIns="36000" tIns="18000" bIns="18000" anchor="ctr">
            <a:spAutoFit/>
          </a:bodyPr>
          <a:lstStyle/>
          <a:p>
            <a:pPr algn="l"/>
            <a:r>
              <a:rPr sz="1400" b="1" i="0">
                <a:solidFill>
                  <a:srgbClr val="FFFFFF"/>
                </a:solidFill>
                <a:latin typeface="Yu Gothic"/>
              </a:rPr>
              <a:t>算定漏れ・指摘を防ぐチェックポイント</a:t>
            </a:r>
          </a:p>
        </p:txBody>
      </p:sp>
      <p:sp>
        <p:nvSpPr>
          <p:cNvPr id="30" name="Rectangle 29"/>
          <p:cNvSpPr/>
          <p:nvPr/>
        </p:nvSpPr>
        <p:spPr>
          <a:xfrm>
            <a:off x="432000" y="5184000"/>
            <a:ext cx="11304000" cy="972000"/>
          </a:xfrm>
          <a:prstGeom prst="rect">
            <a:avLst/>
          </a:prstGeom>
          <a:solidFill>
            <a:srgbClr val="EAE8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540000" y="5220000"/>
            <a:ext cx="11088000" cy="936000"/>
          </a:xfrm>
          <a:prstGeom prst="rect">
            <a:avLst/>
          </a:prstGeom>
          <a:noFill/>
        </p:spPr>
        <p:txBody>
          <a:bodyPr wrap="square" lIns="36000" rIns="36000" tIns="18000" bIns="18000" anchor="t">
            <a:spAutoFit/>
          </a:bodyPr>
          <a:lstStyle/>
          <a:p>
            <a:pPr algn="l"/>
            <a:r>
              <a:rPr sz="1200" b="0" i="0">
                <a:solidFill>
                  <a:srgbClr val="323038"/>
                </a:solidFill>
                <a:latin typeface="Yu Gothic"/>
              </a:rPr>
              <a:t>■ 末期である旨が「文書」で確認できるか ■ 14日以内に「2回以上」の訪問記録があるか</a:t>
            </a:r>
          </a:p>
          <a:p>
            <a:pPr algn="l"/>
            <a:r>
              <a:rPr sz="1200" b="0" i="0">
                <a:solidFill>
                  <a:srgbClr val="323038"/>
                </a:solidFill>
                <a:latin typeface="Yu Gothic"/>
              </a:rPr>
              <a:t>■ 各訪問記録に「訪問理由・状態変化・対応」が明記されているか</a:t>
            </a:r>
          </a:p>
          <a:p>
            <a:pPr algn="l"/>
            <a:r>
              <a:rPr sz="1200" b="0" i="0">
                <a:solidFill>
                  <a:srgbClr val="323038"/>
                </a:solidFill>
                <a:latin typeface="Yu Gothic"/>
              </a:rPr>
              <a:t>■ 多職種との連携(情報共有)の記録があるか ■ 死亡日の対応が記録されているか</a:t>
            </a:r>
          </a:p>
          <a:p>
            <a:pPr algn="l"/>
            <a:r>
              <a:rPr sz="1200" b="0" i="0">
                <a:solidFill>
                  <a:srgbClr val="323038"/>
                </a:solidFill>
                <a:latin typeface="Yu Gothic"/>
              </a:rPr>
              <a:t>▶ 「やったのに算定していない」「記録が不十分で算定できない」を主任CMが点検する</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119" cy="576000"/>
          </a:xfrm>
          <a:prstGeom prst="rect">
            <a:avLst/>
          </a:prstGeom>
          <a:solidFill>
            <a:srgbClr val="423A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88000" y="90000"/>
            <a:ext cx="7920000" cy="216000"/>
          </a:xfrm>
          <a:prstGeom prst="rect">
            <a:avLst/>
          </a:prstGeom>
          <a:noFill/>
        </p:spPr>
        <p:txBody>
          <a:bodyPr wrap="square" lIns="36000" rIns="36000" tIns="18000" bIns="18000" anchor="t">
            <a:spAutoFit/>
          </a:bodyPr>
          <a:lstStyle/>
          <a:p>
            <a:pPr algn="l"/>
            <a:r>
              <a:rPr sz="1100" b="1" i="0">
                <a:solidFill>
                  <a:srgbClr val="FFFFFF"/>
                </a:solidFill>
                <a:latin typeface="Yu Gothic"/>
              </a:rPr>
              <a:t>4. ターミナルCM加算</a:t>
            </a:r>
          </a:p>
        </p:txBody>
      </p:sp>
      <p:sp>
        <p:nvSpPr>
          <p:cNvPr id="4" name="TextBox 3"/>
          <p:cNvSpPr txBox="1"/>
          <p:nvPr/>
        </p:nvSpPr>
        <p:spPr>
          <a:xfrm>
            <a:off x="288000" y="684000"/>
            <a:ext cx="11616119" cy="468000"/>
          </a:xfrm>
          <a:prstGeom prst="rect">
            <a:avLst/>
          </a:prstGeom>
          <a:noFill/>
        </p:spPr>
        <p:txBody>
          <a:bodyPr wrap="square" lIns="36000" rIns="36000" tIns="18000" bIns="18000" anchor="t">
            <a:spAutoFit/>
          </a:bodyPr>
          <a:lstStyle/>
          <a:p>
            <a:pPr algn="l"/>
            <a:r>
              <a:rPr sz="2300" b="1" i="0">
                <a:solidFill>
                  <a:srgbClr val="423A5E"/>
                </a:solidFill>
                <a:latin typeface="Yu Gothic"/>
              </a:rPr>
              <a:t>医療の看取り評価との連動を理解する</a:t>
            </a:r>
          </a:p>
        </p:txBody>
      </p:sp>
      <p:sp>
        <p:nvSpPr>
          <p:cNvPr id="5" name="Rectangle 4"/>
          <p:cNvSpPr/>
          <p:nvPr/>
        </p:nvSpPr>
        <p:spPr>
          <a:xfrm>
            <a:off x="288000" y="1152000"/>
            <a:ext cx="900000" cy="43200"/>
          </a:xfrm>
          <a:prstGeom prst="rect">
            <a:avLst/>
          </a:prstGeom>
          <a:solidFill>
            <a:srgbClr val="C48C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288000" y="6570000"/>
            <a:ext cx="9360000" cy="180000"/>
          </a:xfrm>
          <a:prstGeom prst="rect">
            <a:avLst/>
          </a:prstGeom>
          <a:noFill/>
        </p:spPr>
        <p:txBody>
          <a:bodyPr wrap="square" lIns="36000" rIns="36000" tIns="18000" bIns="18000" anchor="t">
            <a:spAutoFit/>
          </a:bodyPr>
          <a:lstStyle/>
          <a:p>
            <a:pPr algn="l"/>
            <a:r>
              <a:rPr sz="900" b="0" i="0">
                <a:solidFill>
                  <a:srgbClr val="8C83A6"/>
                </a:solidFill>
                <a:latin typeface="Yu Gothic"/>
              </a:rPr>
              <a:t>主任CM研修 / 看取り期のケアマネジメントとACPの支援技術  ※算定要件は最新の告示・通知をご確認ください</a:t>
            </a:r>
          </a:p>
        </p:txBody>
      </p:sp>
      <p:sp>
        <p:nvSpPr>
          <p:cNvPr id="7" name="TextBox 6"/>
          <p:cNvSpPr txBox="1"/>
          <p:nvPr/>
        </p:nvSpPr>
        <p:spPr>
          <a:xfrm>
            <a:off x="11112119" y="6570000"/>
            <a:ext cx="792000" cy="180000"/>
          </a:xfrm>
          <a:prstGeom prst="rect">
            <a:avLst/>
          </a:prstGeom>
          <a:noFill/>
        </p:spPr>
        <p:txBody>
          <a:bodyPr wrap="square" lIns="36000" rIns="36000" tIns="18000" bIns="18000" anchor="t">
            <a:spAutoFit/>
          </a:bodyPr>
          <a:lstStyle/>
          <a:p>
            <a:pPr algn="r"/>
            <a:r>
              <a:rPr sz="900" b="0" i="0">
                <a:solidFill>
                  <a:srgbClr val="8C83A6"/>
                </a:solidFill>
                <a:latin typeface="Yu Gothic"/>
              </a:rPr>
              <a:t>20 / 33</a:t>
            </a:r>
          </a:p>
        </p:txBody>
      </p:sp>
      <p:sp>
        <p:nvSpPr>
          <p:cNvPr id="8" name="Rectangle 7"/>
          <p:cNvSpPr/>
          <p:nvPr/>
        </p:nvSpPr>
        <p:spPr>
          <a:xfrm>
            <a:off x="432000" y="1548000"/>
            <a:ext cx="11304000" cy="360000"/>
          </a:xfrm>
          <a:prstGeom prst="rect">
            <a:avLst/>
          </a:prstGeom>
          <a:solidFill>
            <a:srgbClr val="423A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04000" y="1584000"/>
            <a:ext cx="11160000" cy="288000"/>
          </a:xfrm>
          <a:prstGeom prst="rect">
            <a:avLst/>
          </a:prstGeom>
          <a:noFill/>
        </p:spPr>
        <p:txBody>
          <a:bodyPr wrap="square" lIns="36000" rIns="36000" tIns="18000" bIns="18000" anchor="ctr">
            <a:spAutoFit/>
          </a:bodyPr>
          <a:lstStyle/>
          <a:p>
            <a:pPr algn="l"/>
            <a:r>
              <a:rPr sz="1400" b="1" i="0">
                <a:solidFill>
                  <a:srgbClr val="FFFFFF"/>
                </a:solidFill>
                <a:latin typeface="Yu Gothic"/>
              </a:rPr>
              <a:t>看取りは「介護」と「医療」が連動して支える</a:t>
            </a:r>
          </a:p>
        </p:txBody>
      </p:sp>
      <p:sp>
        <p:nvSpPr>
          <p:cNvPr id="10" name="Rectangle 9"/>
          <p:cNvSpPr/>
          <p:nvPr/>
        </p:nvSpPr>
        <p:spPr>
          <a:xfrm>
            <a:off x="432000" y="1908000"/>
            <a:ext cx="11304000" cy="612000"/>
          </a:xfrm>
          <a:prstGeom prst="rect">
            <a:avLst/>
          </a:prstGeom>
          <a:solidFill>
            <a:srgbClr val="EAE8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40000" y="1944000"/>
            <a:ext cx="11088000" cy="576000"/>
          </a:xfrm>
          <a:prstGeom prst="rect">
            <a:avLst/>
          </a:prstGeom>
          <a:noFill/>
        </p:spPr>
        <p:txBody>
          <a:bodyPr wrap="square" lIns="36000" rIns="36000" tIns="18000" bIns="18000" anchor="t">
            <a:spAutoFit/>
          </a:bodyPr>
          <a:lstStyle/>
          <a:p>
            <a:pPr algn="l"/>
            <a:r>
              <a:rPr sz="1200" b="0" i="0">
                <a:solidFill>
                  <a:srgbClr val="323038"/>
                </a:solidFill>
                <a:latin typeface="Yu Gothic"/>
              </a:rPr>
              <a:t>在宅看取りでは、CM(介護)と訪問診療・訪問看護(医療)が、それぞれの役割で</a:t>
            </a:r>
          </a:p>
          <a:p>
            <a:pPr algn="l"/>
            <a:r>
              <a:rPr sz="1200" b="0" i="0">
                <a:solidFill>
                  <a:srgbClr val="323038"/>
                </a:solidFill>
                <a:latin typeface="Yu Gothic"/>
              </a:rPr>
              <a:t>本人・家族を支える。互いの動きを理解することで、連携がスムーズになる。</a:t>
            </a:r>
          </a:p>
        </p:txBody>
      </p:sp>
      <p:sp>
        <p:nvSpPr>
          <p:cNvPr id="12" name="Rectangle 11"/>
          <p:cNvSpPr/>
          <p:nvPr/>
        </p:nvSpPr>
        <p:spPr>
          <a:xfrm>
            <a:off x="432000" y="2628000"/>
            <a:ext cx="5580000" cy="360000"/>
          </a:xfrm>
          <a:prstGeom prst="rect">
            <a:avLst/>
          </a:prstGeom>
          <a:solidFill>
            <a:srgbClr val="6057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04000" y="2664000"/>
            <a:ext cx="5436000" cy="288000"/>
          </a:xfrm>
          <a:prstGeom prst="rect">
            <a:avLst/>
          </a:prstGeom>
          <a:noFill/>
        </p:spPr>
        <p:txBody>
          <a:bodyPr wrap="square" lIns="36000" rIns="36000" tIns="18000" bIns="18000" anchor="ctr">
            <a:spAutoFit/>
          </a:bodyPr>
          <a:lstStyle/>
          <a:p>
            <a:pPr algn="l"/>
            <a:r>
              <a:rPr sz="1400" b="1" i="0">
                <a:solidFill>
                  <a:srgbClr val="FFFFFF"/>
                </a:solidFill>
                <a:latin typeface="Yu Gothic"/>
              </a:rPr>
              <a:t>CM(介護)が担うこと</a:t>
            </a:r>
          </a:p>
        </p:txBody>
      </p:sp>
      <p:sp>
        <p:nvSpPr>
          <p:cNvPr id="14" name="Rectangle 13"/>
          <p:cNvSpPr/>
          <p:nvPr/>
        </p:nvSpPr>
        <p:spPr>
          <a:xfrm>
            <a:off x="432000" y="2988000"/>
            <a:ext cx="5580000" cy="1620000"/>
          </a:xfrm>
          <a:prstGeom prst="rect">
            <a:avLst/>
          </a:prstGeom>
          <a:solidFill>
            <a:srgbClr val="EAE8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40000" y="3024000"/>
            <a:ext cx="5364000" cy="1584000"/>
          </a:xfrm>
          <a:prstGeom prst="rect">
            <a:avLst/>
          </a:prstGeom>
          <a:noFill/>
        </p:spPr>
        <p:txBody>
          <a:bodyPr wrap="square" lIns="36000" rIns="36000" tIns="18000" bIns="18000" anchor="t">
            <a:spAutoFit/>
          </a:bodyPr>
          <a:lstStyle/>
          <a:p>
            <a:pPr algn="l"/>
            <a:r>
              <a:rPr sz="1200" b="0" i="0">
                <a:solidFill>
                  <a:srgbClr val="323038"/>
                </a:solidFill>
                <a:latin typeface="Yu Gothic"/>
              </a:rPr>
              <a:t>■ 生活全体のマネジメント</a:t>
            </a:r>
          </a:p>
          <a:p>
            <a:pPr algn="l"/>
            <a:r>
              <a:rPr sz="1200" b="0" i="0">
                <a:solidFill>
                  <a:srgbClr val="323038"/>
                </a:solidFill>
                <a:latin typeface="Yu Gothic"/>
              </a:rPr>
              <a:t/>
            </a:r>
          </a:p>
          <a:p>
            <a:pPr algn="l"/>
            <a:r>
              <a:rPr sz="1200" b="0" i="0">
                <a:solidFill>
                  <a:srgbClr val="323038"/>
                </a:solidFill>
                <a:latin typeface="Yu Gothic"/>
              </a:rPr>
              <a:t>■ 本人の意思・価値観を聴き、つなぐ</a:t>
            </a:r>
          </a:p>
          <a:p>
            <a:pPr algn="l"/>
            <a:r>
              <a:rPr sz="1200" b="0" i="0">
                <a:solidFill>
                  <a:srgbClr val="323038"/>
                </a:solidFill>
                <a:latin typeface="Yu Gothic"/>
              </a:rPr>
              <a:t/>
            </a:r>
          </a:p>
          <a:p>
            <a:pPr algn="l"/>
            <a:r>
              <a:rPr sz="1200" b="0" i="0">
                <a:solidFill>
                  <a:srgbClr val="323038"/>
                </a:solidFill>
                <a:latin typeface="Yu Gothic"/>
              </a:rPr>
              <a:t>■ 介護サービスの調整</a:t>
            </a:r>
          </a:p>
          <a:p>
            <a:pPr algn="l"/>
            <a:r>
              <a:rPr sz="1200" b="0" i="0">
                <a:solidFill>
                  <a:srgbClr val="323038"/>
                </a:solidFill>
                <a:latin typeface="Yu Gothic"/>
              </a:rPr>
              <a:t/>
            </a:r>
          </a:p>
          <a:p>
            <a:pPr algn="l"/>
            <a:r>
              <a:rPr sz="1200" b="0" i="0">
                <a:solidFill>
                  <a:srgbClr val="323038"/>
                </a:solidFill>
                <a:latin typeface="Yu Gothic"/>
              </a:rPr>
              <a:t>■ 家族の不安・揺れに寄り添う</a:t>
            </a:r>
          </a:p>
          <a:p>
            <a:pPr algn="l"/>
            <a:r>
              <a:rPr sz="1200" b="0" i="0">
                <a:solidFill>
                  <a:srgbClr val="323038"/>
                </a:solidFill>
                <a:latin typeface="Yu Gothic"/>
              </a:rPr>
              <a:t/>
            </a:r>
          </a:p>
          <a:p>
            <a:pPr algn="l"/>
            <a:r>
              <a:rPr sz="1200" b="0" i="0">
                <a:solidFill>
                  <a:srgbClr val="323038"/>
                </a:solidFill>
                <a:latin typeface="Yu Gothic"/>
              </a:rPr>
              <a:t>■ 多職種をつなぐハブ役</a:t>
            </a:r>
          </a:p>
        </p:txBody>
      </p:sp>
      <p:sp>
        <p:nvSpPr>
          <p:cNvPr id="16" name="Rectangle 15"/>
          <p:cNvSpPr/>
          <p:nvPr/>
        </p:nvSpPr>
        <p:spPr>
          <a:xfrm>
            <a:off x="6300000" y="2628000"/>
            <a:ext cx="5400000" cy="360000"/>
          </a:xfrm>
          <a:prstGeom prst="rect">
            <a:avLst/>
          </a:prstGeom>
          <a:solidFill>
            <a:srgbClr val="2E6B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372000" y="2664000"/>
            <a:ext cx="5256000" cy="288000"/>
          </a:xfrm>
          <a:prstGeom prst="rect">
            <a:avLst/>
          </a:prstGeom>
          <a:noFill/>
        </p:spPr>
        <p:txBody>
          <a:bodyPr wrap="square" lIns="36000" rIns="36000" tIns="18000" bIns="18000" anchor="ctr">
            <a:spAutoFit/>
          </a:bodyPr>
          <a:lstStyle/>
          <a:p>
            <a:pPr algn="l"/>
            <a:r>
              <a:rPr sz="1400" b="1" i="0">
                <a:solidFill>
                  <a:srgbClr val="FFFFFF"/>
                </a:solidFill>
                <a:latin typeface="Yu Gothic"/>
              </a:rPr>
              <a:t>医療(訪問診療・看護)が担うこと</a:t>
            </a:r>
          </a:p>
        </p:txBody>
      </p:sp>
      <p:sp>
        <p:nvSpPr>
          <p:cNvPr id="18" name="Rectangle 17"/>
          <p:cNvSpPr/>
          <p:nvPr/>
        </p:nvSpPr>
        <p:spPr>
          <a:xfrm>
            <a:off x="6300000" y="2988000"/>
            <a:ext cx="5400000" cy="1620000"/>
          </a:xfrm>
          <a:prstGeom prst="rect">
            <a:avLst/>
          </a:prstGeom>
          <a:solidFill>
            <a:srgbClr val="DFEA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8000" y="3024000"/>
            <a:ext cx="5184000" cy="1584000"/>
          </a:xfrm>
          <a:prstGeom prst="rect">
            <a:avLst/>
          </a:prstGeom>
          <a:noFill/>
        </p:spPr>
        <p:txBody>
          <a:bodyPr wrap="square" lIns="36000" rIns="36000" tIns="18000" bIns="18000" anchor="t">
            <a:spAutoFit/>
          </a:bodyPr>
          <a:lstStyle/>
          <a:p>
            <a:pPr algn="l"/>
            <a:r>
              <a:rPr sz="1200" b="0" i="0">
                <a:solidFill>
                  <a:srgbClr val="323038"/>
                </a:solidFill>
                <a:latin typeface="Yu Gothic"/>
              </a:rPr>
              <a:t>■ 病状の管理・症状緩和(痛み等)</a:t>
            </a:r>
          </a:p>
          <a:p>
            <a:pPr algn="l"/>
            <a:r>
              <a:rPr sz="1200" b="0" i="0">
                <a:solidFill>
                  <a:srgbClr val="323038"/>
                </a:solidFill>
                <a:latin typeface="Yu Gothic"/>
              </a:rPr>
              <a:t/>
            </a:r>
          </a:p>
          <a:p>
            <a:pPr algn="l"/>
            <a:r>
              <a:rPr sz="1200" b="0" i="0">
                <a:solidFill>
                  <a:srgbClr val="323038"/>
                </a:solidFill>
                <a:latin typeface="Yu Gothic"/>
              </a:rPr>
              <a:t>■ 医学的な見通しの説明</a:t>
            </a:r>
          </a:p>
          <a:p>
            <a:pPr algn="l"/>
            <a:r>
              <a:rPr sz="1200" b="0" i="0">
                <a:solidFill>
                  <a:srgbClr val="323038"/>
                </a:solidFill>
                <a:latin typeface="Yu Gothic"/>
              </a:rPr>
              <a:t/>
            </a:r>
          </a:p>
          <a:p>
            <a:pPr algn="l"/>
            <a:r>
              <a:rPr sz="1200" b="0" i="0">
                <a:solidFill>
                  <a:srgbClr val="323038"/>
                </a:solidFill>
                <a:latin typeface="Yu Gothic"/>
              </a:rPr>
              <a:t>■ 死亡確認・看取りの医療対応</a:t>
            </a:r>
          </a:p>
          <a:p>
            <a:pPr algn="l"/>
            <a:r>
              <a:rPr sz="1200" b="0" i="0">
                <a:solidFill>
                  <a:srgbClr val="323038"/>
                </a:solidFill>
                <a:latin typeface="Yu Gothic"/>
              </a:rPr>
              <a:t/>
            </a:r>
          </a:p>
          <a:p>
            <a:pPr algn="l"/>
            <a:r>
              <a:rPr sz="1200" b="0" i="0">
                <a:solidFill>
                  <a:srgbClr val="323038"/>
                </a:solidFill>
                <a:latin typeface="Yu Gothic"/>
              </a:rPr>
              <a:t>■ 24時間の医療的バックアップ</a:t>
            </a:r>
          </a:p>
          <a:p>
            <a:pPr algn="l"/>
            <a:r>
              <a:rPr sz="1200" b="0" i="0">
                <a:solidFill>
                  <a:srgbClr val="323038"/>
                </a:solidFill>
                <a:latin typeface="Yu Gothic"/>
              </a:rPr>
              <a:t/>
            </a:r>
          </a:p>
          <a:p>
            <a:pPr algn="l"/>
            <a:r>
              <a:rPr sz="1200" b="0" i="0">
                <a:solidFill>
                  <a:srgbClr val="323038"/>
                </a:solidFill>
                <a:latin typeface="Yu Gothic"/>
              </a:rPr>
              <a:t>■ 急変時の判断・対応</a:t>
            </a:r>
          </a:p>
        </p:txBody>
      </p:sp>
      <p:sp>
        <p:nvSpPr>
          <p:cNvPr id="20" name="TextBox 19"/>
          <p:cNvSpPr txBox="1"/>
          <p:nvPr/>
        </p:nvSpPr>
        <p:spPr>
          <a:xfrm>
            <a:off x="432000" y="4788000"/>
            <a:ext cx="11328119" cy="720000"/>
          </a:xfrm>
          <a:prstGeom prst="rect">
            <a:avLst/>
          </a:prstGeom>
          <a:noFill/>
        </p:spPr>
        <p:txBody>
          <a:bodyPr wrap="square" lIns="36000" rIns="36000" tIns="18000" bIns="18000" anchor="t">
            <a:spAutoFit/>
          </a:bodyPr>
          <a:lstStyle/>
          <a:p>
            <a:pPr algn="l">
              <a:lnSpc>
                <a:spcPct val="140000"/>
              </a:lnSpc>
            </a:pPr>
            <a:r>
              <a:rPr sz="1300" b="1" i="0">
                <a:solidFill>
                  <a:srgbClr val="423A5E"/>
                </a:solidFill>
                <a:latin typeface="Yu Gothic"/>
              </a:rPr>
              <a:t>▶ 医療側にも在宅での看取りを評価するしくみがある ― 介護・医療が「同じ利用者を、</a:t>
            </a:r>
          </a:p>
          <a:p>
            <a:pPr algn="l">
              <a:lnSpc>
                <a:spcPct val="140000"/>
              </a:lnSpc>
            </a:pPr>
            <a:r>
              <a:rPr sz="1300" b="1" i="0">
                <a:solidFill>
                  <a:srgbClr val="423A5E"/>
                </a:solidFill>
                <a:latin typeface="Yu Gothic"/>
              </a:rPr>
              <a:t>▶ それぞれの立場で評価し、支えている」と理解し、対等な連携を心がける。</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119" cy="6858000"/>
          </a:xfrm>
          <a:prstGeom prst="rect">
            <a:avLst/>
          </a:prstGeom>
          <a:solidFill>
            <a:srgbClr val="423A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3060000"/>
            <a:ext cx="12192119" cy="36000"/>
          </a:xfrm>
          <a:prstGeom prst="rect">
            <a:avLst/>
          </a:prstGeom>
          <a:solidFill>
            <a:srgbClr val="C48C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20000" y="2340000"/>
            <a:ext cx="10752119" cy="540000"/>
          </a:xfrm>
          <a:prstGeom prst="rect">
            <a:avLst/>
          </a:prstGeom>
          <a:noFill/>
        </p:spPr>
        <p:txBody>
          <a:bodyPr wrap="square" lIns="36000" rIns="36000" tIns="18000" bIns="18000" anchor="t">
            <a:spAutoFit/>
          </a:bodyPr>
          <a:lstStyle/>
          <a:p>
            <a:pPr algn="ctr"/>
            <a:r>
              <a:rPr sz="2200" b="1" i="0">
                <a:solidFill>
                  <a:srgbClr val="C48C3A"/>
                </a:solidFill>
                <a:latin typeface="Yu Gothic"/>
              </a:rPr>
              <a:t>PART 5</a:t>
            </a:r>
          </a:p>
        </p:txBody>
      </p:sp>
      <p:sp>
        <p:nvSpPr>
          <p:cNvPr id="5" name="TextBox 4"/>
          <p:cNvSpPr txBox="1"/>
          <p:nvPr/>
        </p:nvSpPr>
        <p:spPr>
          <a:xfrm>
            <a:off x="360000" y="3420000"/>
            <a:ext cx="11472119" cy="720000"/>
          </a:xfrm>
          <a:prstGeom prst="rect">
            <a:avLst/>
          </a:prstGeom>
          <a:noFill/>
        </p:spPr>
        <p:txBody>
          <a:bodyPr wrap="square" lIns="36000" rIns="36000" tIns="18000" bIns="18000" anchor="t">
            <a:spAutoFit/>
          </a:bodyPr>
          <a:lstStyle/>
          <a:p>
            <a:pPr algn="ctr"/>
            <a:r>
              <a:rPr sz="3300" b="1" i="0">
                <a:solidFill>
                  <a:srgbClr val="FFFFFF"/>
                </a:solidFill>
                <a:latin typeface="Yu Gothic"/>
              </a:rPr>
              <a:t>家族・多職種との</a:t>
            </a:r>
          </a:p>
          <a:p>
            <a:pPr algn="ctr"/>
            <a:r>
              <a:rPr sz="3300" b="1" i="0">
                <a:solidFill>
                  <a:srgbClr val="FFFFFF"/>
                </a:solidFill>
                <a:latin typeface="Yu Gothic"/>
              </a:rPr>
              <a:t>合意形成</a:t>
            </a:r>
          </a:p>
        </p:txBody>
      </p:sp>
      <p:sp>
        <p:nvSpPr>
          <p:cNvPr id="6" name="TextBox 5"/>
          <p:cNvSpPr txBox="1"/>
          <p:nvPr/>
        </p:nvSpPr>
        <p:spPr>
          <a:xfrm>
            <a:off x="360000" y="4680000"/>
            <a:ext cx="11472119" cy="360000"/>
          </a:xfrm>
          <a:prstGeom prst="rect">
            <a:avLst/>
          </a:prstGeom>
          <a:noFill/>
        </p:spPr>
        <p:txBody>
          <a:bodyPr wrap="square" lIns="36000" rIns="36000" tIns="18000" bIns="18000" anchor="t">
            <a:spAutoFit/>
          </a:bodyPr>
          <a:lstStyle/>
          <a:p>
            <a:pPr algn="ctr"/>
            <a:r>
              <a:rPr sz="1400" b="0" i="0">
                <a:solidFill>
                  <a:srgbClr val="D7D4DE"/>
                </a:solidFill>
                <a:latin typeface="Yu Gothic"/>
              </a:rPr>
              <a:t>Building Consensus</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119" cy="576000"/>
          </a:xfrm>
          <a:prstGeom prst="rect">
            <a:avLst/>
          </a:prstGeom>
          <a:solidFill>
            <a:srgbClr val="423A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88000" y="90000"/>
            <a:ext cx="7920000" cy="216000"/>
          </a:xfrm>
          <a:prstGeom prst="rect">
            <a:avLst/>
          </a:prstGeom>
          <a:noFill/>
        </p:spPr>
        <p:txBody>
          <a:bodyPr wrap="square" lIns="36000" rIns="36000" tIns="18000" bIns="18000" anchor="t">
            <a:spAutoFit/>
          </a:bodyPr>
          <a:lstStyle/>
          <a:p>
            <a:pPr algn="l"/>
            <a:r>
              <a:rPr sz="1100" b="1" i="0">
                <a:solidFill>
                  <a:srgbClr val="FFFFFF"/>
                </a:solidFill>
                <a:latin typeface="Yu Gothic"/>
              </a:rPr>
              <a:t>5. 合意形成</a:t>
            </a:r>
          </a:p>
        </p:txBody>
      </p:sp>
      <p:sp>
        <p:nvSpPr>
          <p:cNvPr id="4" name="TextBox 3"/>
          <p:cNvSpPr txBox="1"/>
          <p:nvPr/>
        </p:nvSpPr>
        <p:spPr>
          <a:xfrm>
            <a:off x="288000" y="684000"/>
            <a:ext cx="11616119" cy="468000"/>
          </a:xfrm>
          <a:prstGeom prst="rect">
            <a:avLst/>
          </a:prstGeom>
          <a:noFill/>
        </p:spPr>
        <p:txBody>
          <a:bodyPr wrap="square" lIns="36000" rIns="36000" tIns="18000" bIns="18000" anchor="t">
            <a:spAutoFit/>
          </a:bodyPr>
          <a:lstStyle/>
          <a:p>
            <a:pPr algn="l"/>
            <a:r>
              <a:rPr sz="2300" b="1" i="0">
                <a:solidFill>
                  <a:srgbClr val="423A5E"/>
                </a:solidFill>
                <a:latin typeface="Yu Gothic"/>
              </a:rPr>
              <a:t>家族の「揺れ」を理解する</a:t>
            </a:r>
          </a:p>
        </p:txBody>
      </p:sp>
      <p:sp>
        <p:nvSpPr>
          <p:cNvPr id="5" name="Rectangle 4"/>
          <p:cNvSpPr/>
          <p:nvPr/>
        </p:nvSpPr>
        <p:spPr>
          <a:xfrm>
            <a:off x="288000" y="1152000"/>
            <a:ext cx="900000" cy="43200"/>
          </a:xfrm>
          <a:prstGeom prst="rect">
            <a:avLst/>
          </a:prstGeom>
          <a:solidFill>
            <a:srgbClr val="C48C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288000" y="6570000"/>
            <a:ext cx="9360000" cy="180000"/>
          </a:xfrm>
          <a:prstGeom prst="rect">
            <a:avLst/>
          </a:prstGeom>
          <a:noFill/>
        </p:spPr>
        <p:txBody>
          <a:bodyPr wrap="square" lIns="36000" rIns="36000" tIns="18000" bIns="18000" anchor="t">
            <a:spAutoFit/>
          </a:bodyPr>
          <a:lstStyle/>
          <a:p>
            <a:pPr algn="l"/>
            <a:r>
              <a:rPr sz="900" b="0" i="0">
                <a:solidFill>
                  <a:srgbClr val="8C83A6"/>
                </a:solidFill>
                <a:latin typeface="Yu Gothic"/>
              </a:rPr>
              <a:t>主任CM研修 / 看取り期のケアマネジメントとACPの支援技術  ※算定要件は最新の告示・通知をご確認ください</a:t>
            </a:r>
          </a:p>
        </p:txBody>
      </p:sp>
      <p:sp>
        <p:nvSpPr>
          <p:cNvPr id="7" name="TextBox 6"/>
          <p:cNvSpPr txBox="1"/>
          <p:nvPr/>
        </p:nvSpPr>
        <p:spPr>
          <a:xfrm>
            <a:off x="11112119" y="6570000"/>
            <a:ext cx="792000" cy="180000"/>
          </a:xfrm>
          <a:prstGeom prst="rect">
            <a:avLst/>
          </a:prstGeom>
          <a:noFill/>
        </p:spPr>
        <p:txBody>
          <a:bodyPr wrap="square" lIns="36000" rIns="36000" tIns="18000" bIns="18000" anchor="t">
            <a:spAutoFit/>
          </a:bodyPr>
          <a:lstStyle/>
          <a:p>
            <a:pPr algn="r"/>
            <a:r>
              <a:rPr sz="900" b="0" i="0">
                <a:solidFill>
                  <a:srgbClr val="8C83A6"/>
                </a:solidFill>
                <a:latin typeface="Yu Gothic"/>
              </a:rPr>
              <a:t>22 / 33</a:t>
            </a:r>
          </a:p>
        </p:txBody>
      </p:sp>
      <p:sp>
        <p:nvSpPr>
          <p:cNvPr id="8" name="Rectangle 7"/>
          <p:cNvSpPr/>
          <p:nvPr/>
        </p:nvSpPr>
        <p:spPr>
          <a:xfrm>
            <a:off x="432000" y="1548000"/>
            <a:ext cx="11304000" cy="360000"/>
          </a:xfrm>
          <a:prstGeom prst="rect">
            <a:avLst/>
          </a:prstGeom>
          <a:solidFill>
            <a:srgbClr val="423A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04000" y="1584000"/>
            <a:ext cx="11160000" cy="288000"/>
          </a:xfrm>
          <a:prstGeom prst="rect">
            <a:avLst/>
          </a:prstGeom>
          <a:noFill/>
        </p:spPr>
        <p:txBody>
          <a:bodyPr wrap="square" lIns="36000" rIns="36000" tIns="18000" bIns="18000" anchor="ctr">
            <a:spAutoFit/>
          </a:bodyPr>
          <a:lstStyle/>
          <a:p>
            <a:pPr algn="l"/>
            <a:r>
              <a:rPr sz="1400" b="1" i="0">
                <a:solidFill>
                  <a:srgbClr val="FFFFFF"/>
                </a:solidFill>
                <a:latin typeface="Yu Gothic"/>
              </a:rPr>
              <a:t>揺れるのは当然 ― 家族を「決められない人」と見ない</a:t>
            </a:r>
          </a:p>
        </p:txBody>
      </p:sp>
      <p:sp>
        <p:nvSpPr>
          <p:cNvPr id="10" name="Rectangle 9"/>
          <p:cNvSpPr/>
          <p:nvPr/>
        </p:nvSpPr>
        <p:spPr>
          <a:xfrm>
            <a:off x="432000" y="1908000"/>
            <a:ext cx="11304000" cy="467999"/>
          </a:xfrm>
          <a:prstGeom prst="rect">
            <a:avLst/>
          </a:prstGeom>
          <a:solidFill>
            <a:srgbClr val="EAE8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40000" y="1944000"/>
            <a:ext cx="11088000" cy="431999"/>
          </a:xfrm>
          <a:prstGeom prst="rect">
            <a:avLst/>
          </a:prstGeom>
          <a:noFill/>
        </p:spPr>
        <p:txBody>
          <a:bodyPr wrap="square" lIns="36000" rIns="36000" tIns="18000" bIns="18000" anchor="t">
            <a:spAutoFit/>
          </a:bodyPr>
          <a:lstStyle/>
          <a:p>
            <a:pPr algn="l"/>
            <a:r>
              <a:rPr sz="1200" b="0" i="0">
                <a:solidFill>
                  <a:srgbClr val="323038"/>
                </a:solidFill>
                <a:latin typeface="Yu Gothic"/>
              </a:rPr>
              <a:t>大切な人の最期を前に、家族の気持ちが揺れ動くのは自然なこと。</a:t>
            </a:r>
          </a:p>
          <a:p>
            <a:pPr algn="l"/>
            <a:r>
              <a:rPr sz="1200" b="0" i="0">
                <a:solidFill>
                  <a:srgbClr val="323038"/>
                </a:solidFill>
                <a:latin typeface="Yu Gothic"/>
              </a:rPr>
              <a:t>「揺れ」を問題視せず、揺れに寄り添うことが、合意形成の出発点になる。</a:t>
            </a:r>
          </a:p>
        </p:txBody>
      </p:sp>
      <p:sp>
        <p:nvSpPr>
          <p:cNvPr id="12" name="Rectangle 11"/>
          <p:cNvSpPr/>
          <p:nvPr/>
        </p:nvSpPr>
        <p:spPr>
          <a:xfrm>
            <a:off x="432000" y="2628000"/>
            <a:ext cx="5580000" cy="360000"/>
          </a:xfrm>
          <a:prstGeom prst="rect">
            <a:avLst/>
          </a:prstGeom>
          <a:solidFill>
            <a:srgbClr val="A85C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04000" y="2664000"/>
            <a:ext cx="5436000" cy="288000"/>
          </a:xfrm>
          <a:prstGeom prst="rect">
            <a:avLst/>
          </a:prstGeom>
          <a:noFill/>
        </p:spPr>
        <p:txBody>
          <a:bodyPr wrap="square" lIns="36000" rIns="36000" tIns="18000" bIns="18000" anchor="ctr">
            <a:spAutoFit/>
          </a:bodyPr>
          <a:lstStyle/>
          <a:p>
            <a:pPr algn="l"/>
            <a:r>
              <a:rPr sz="1400" b="1" i="0">
                <a:solidFill>
                  <a:srgbClr val="FFFFFF"/>
                </a:solidFill>
                <a:latin typeface="Yu Gothic"/>
              </a:rPr>
              <a:t>家族の中で起きていること</a:t>
            </a:r>
          </a:p>
        </p:txBody>
      </p:sp>
      <p:sp>
        <p:nvSpPr>
          <p:cNvPr id="14" name="Rectangle 13"/>
          <p:cNvSpPr/>
          <p:nvPr/>
        </p:nvSpPr>
        <p:spPr>
          <a:xfrm>
            <a:off x="432000" y="2988000"/>
            <a:ext cx="5580000" cy="1620000"/>
          </a:xfrm>
          <a:prstGeom prst="rect">
            <a:avLst/>
          </a:prstGeom>
          <a:solidFill>
            <a:srgbClr val="F6E8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40000" y="3024000"/>
            <a:ext cx="5364000" cy="1584000"/>
          </a:xfrm>
          <a:prstGeom prst="rect">
            <a:avLst/>
          </a:prstGeom>
          <a:noFill/>
        </p:spPr>
        <p:txBody>
          <a:bodyPr wrap="square" lIns="36000" rIns="36000" tIns="18000" bIns="18000" anchor="t">
            <a:spAutoFit/>
          </a:bodyPr>
          <a:lstStyle/>
          <a:p>
            <a:pPr algn="l"/>
            <a:r>
              <a:rPr sz="1200" b="0" i="0">
                <a:solidFill>
                  <a:srgbClr val="323038"/>
                </a:solidFill>
                <a:latin typeface="Yu Gothic"/>
              </a:rPr>
              <a:t>■ 「家で看たい」と「自信がない」の間で</a:t>
            </a:r>
          </a:p>
          <a:p>
            <a:pPr algn="l"/>
            <a:r>
              <a:rPr sz="1200" b="0" i="0">
                <a:solidFill>
                  <a:srgbClr val="323038"/>
                </a:solidFill>
                <a:latin typeface="Yu Gothic"/>
              </a:rPr>
              <a:t/>
            </a:r>
          </a:p>
          <a:p>
            <a:pPr algn="l"/>
            <a:r>
              <a:rPr sz="1200" b="0" i="0">
                <a:solidFill>
                  <a:srgbClr val="323038"/>
                </a:solidFill>
                <a:latin typeface="Yu Gothic"/>
              </a:rPr>
              <a:t>■ 本人の意思と、家族自身の願いの違い</a:t>
            </a:r>
          </a:p>
          <a:p>
            <a:pPr algn="l"/>
            <a:r>
              <a:rPr sz="1200" b="0" i="0">
                <a:solidFill>
                  <a:srgbClr val="323038"/>
                </a:solidFill>
                <a:latin typeface="Yu Gothic"/>
              </a:rPr>
              <a:t/>
            </a:r>
          </a:p>
          <a:p>
            <a:pPr algn="l"/>
            <a:r>
              <a:rPr sz="1200" b="0" i="0">
                <a:solidFill>
                  <a:srgbClr val="323038"/>
                </a:solidFill>
                <a:latin typeface="Yu Gothic"/>
              </a:rPr>
              <a:t>■ 「何かしてあげたい」という焦り</a:t>
            </a:r>
          </a:p>
          <a:p>
            <a:pPr algn="l"/>
            <a:r>
              <a:rPr sz="1200" b="0" i="0">
                <a:solidFill>
                  <a:srgbClr val="323038"/>
                </a:solidFill>
                <a:latin typeface="Yu Gothic"/>
              </a:rPr>
              <a:t/>
            </a:r>
          </a:p>
          <a:p>
            <a:pPr algn="l"/>
            <a:r>
              <a:rPr sz="1200" b="0" i="0">
                <a:solidFill>
                  <a:srgbClr val="323038"/>
                </a:solidFill>
                <a:latin typeface="Yu Gothic"/>
              </a:rPr>
              <a:t>■ 予期悲嘆(失う前から始まる悲しみ)</a:t>
            </a:r>
          </a:p>
          <a:p>
            <a:pPr algn="l"/>
            <a:r>
              <a:rPr sz="1200" b="0" i="0">
                <a:solidFill>
                  <a:srgbClr val="323038"/>
                </a:solidFill>
                <a:latin typeface="Yu Gothic"/>
              </a:rPr>
              <a:t/>
            </a:r>
          </a:p>
          <a:p>
            <a:pPr algn="l"/>
            <a:r>
              <a:rPr sz="1200" b="0" i="0">
                <a:solidFill>
                  <a:srgbClr val="323038"/>
                </a:solidFill>
                <a:latin typeface="Yu Gothic"/>
              </a:rPr>
              <a:t>■ 介護疲れ・睡眠不足・孤立</a:t>
            </a:r>
          </a:p>
        </p:txBody>
      </p:sp>
      <p:sp>
        <p:nvSpPr>
          <p:cNvPr id="16" name="Rectangle 15"/>
          <p:cNvSpPr/>
          <p:nvPr/>
        </p:nvSpPr>
        <p:spPr>
          <a:xfrm>
            <a:off x="6300000" y="2628000"/>
            <a:ext cx="5400000" cy="360000"/>
          </a:xfrm>
          <a:prstGeom prst="rect">
            <a:avLst/>
          </a:prstGeom>
          <a:solidFill>
            <a:srgbClr val="527C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372000" y="2664000"/>
            <a:ext cx="5256000" cy="288000"/>
          </a:xfrm>
          <a:prstGeom prst="rect">
            <a:avLst/>
          </a:prstGeom>
          <a:noFill/>
        </p:spPr>
        <p:txBody>
          <a:bodyPr wrap="square" lIns="36000" rIns="36000" tIns="18000" bIns="18000" anchor="ctr">
            <a:spAutoFit/>
          </a:bodyPr>
          <a:lstStyle/>
          <a:p>
            <a:pPr algn="l"/>
            <a:r>
              <a:rPr sz="1400" b="1" i="0">
                <a:solidFill>
                  <a:srgbClr val="FFFFFF"/>
                </a:solidFill>
                <a:latin typeface="Yu Gothic"/>
              </a:rPr>
              <a:t>CMが家族にできること</a:t>
            </a:r>
          </a:p>
        </p:txBody>
      </p:sp>
      <p:sp>
        <p:nvSpPr>
          <p:cNvPr id="18" name="Rectangle 17"/>
          <p:cNvSpPr/>
          <p:nvPr/>
        </p:nvSpPr>
        <p:spPr>
          <a:xfrm>
            <a:off x="6300000" y="2988000"/>
            <a:ext cx="5400000" cy="1620000"/>
          </a:xfrm>
          <a:prstGeom prst="rect">
            <a:avLst/>
          </a:prstGeom>
          <a:solidFill>
            <a:srgbClr val="E5EC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8000" y="3024000"/>
            <a:ext cx="5184000" cy="1584000"/>
          </a:xfrm>
          <a:prstGeom prst="rect">
            <a:avLst/>
          </a:prstGeom>
          <a:noFill/>
        </p:spPr>
        <p:txBody>
          <a:bodyPr wrap="square" lIns="36000" rIns="36000" tIns="18000" bIns="18000" anchor="t">
            <a:spAutoFit/>
          </a:bodyPr>
          <a:lstStyle/>
          <a:p>
            <a:pPr algn="l"/>
            <a:r>
              <a:rPr sz="1200" b="0" i="0">
                <a:solidFill>
                  <a:srgbClr val="323038"/>
                </a:solidFill>
                <a:latin typeface="Yu Gothic"/>
              </a:rPr>
              <a:t>■ 揺れる気持ちをそのまま受けとめる</a:t>
            </a:r>
          </a:p>
          <a:p>
            <a:pPr algn="l"/>
            <a:r>
              <a:rPr sz="1200" b="0" i="0">
                <a:solidFill>
                  <a:srgbClr val="323038"/>
                </a:solidFill>
                <a:latin typeface="Yu Gothic"/>
              </a:rPr>
              <a:t/>
            </a:r>
          </a:p>
          <a:p>
            <a:pPr algn="l"/>
            <a:r>
              <a:rPr sz="1200" b="0" i="0">
                <a:solidFill>
                  <a:srgbClr val="323038"/>
                </a:solidFill>
                <a:latin typeface="Yu Gothic"/>
              </a:rPr>
              <a:t>■ 「迷って当然」と伝え、孤立させない</a:t>
            </a:r>
          </a:p>
          <a:p>
            <a:pPr algn="l"/>
            <a:r>
              <a:rPr sz="1200" b="0" i="0">
                <a:solidFill>
                  <a:srgbClr val="323038"/>
                </a:solidFill>
                <a:latin typeface="Yu Gothic"/>
              </a:rPr>
              <a:t/>
            </a:r>
          </a:p>
          <a:p>
            <a:pPr algn="l"/>
            <a:r>
              <a:rPr sz="1200" b="0" i="0">
                <a:solidFill>
                  <a:srgbClr val="323038"/>
                </a:solidFill>
                <a:latin typeface="Yu Gothic"/>
              </a:rPr>
              <a:t>■ 見通しを具体的に伝え、不安を和らげる</a:t>
            </a:r>
          </a:p>
          <a:p>
            <a:pPr algn="l"/>
            <a:r>
              <a:rPr sz="1200" b="0" i="0">
                <a:solidFill>
                  <a:srgbClr val="323038"/>
                </a:solidFill>
                <a:latin typeface="Yu Gothic"/>
              </a:rPr>
              <a:t/>
            </a:r>
          </a:p>
          <a:p>
            <a:pPr algn="l"/>
            <a:r>
              <a:rPr sz="1200" b="0" i="0">
                <a:solidFill>
                  <a:srgbClr val="323038"/>
                </a:solidFill>
                <a:latin typeface="Yu Gothic"/>
              </a:rPr>
              <a:t>■ 「いつでも方針は変えられる」と保証する</a:t>
            </a:r>
          </a:p>
          <a:p>
            <a:pPr algn="l"/>
            <a:r>
              <a:rPr sz="1200" b="0" i="0">
                <a:solidFill>
                  <a:srgbClr val="323038"/>
                </a:solidFill>
                <a:latin typeface="Yu Gothic"/>
              </a:rPr>
              <a:t/>
            </a:r>
          </a:p>
          <a:p>
            <a:pPr algn="l"/>
            <a:r>
              <a:rPr sz="1200" b="0" i="0">
                <a:solidFill>
                  <a:srgbClr val="323038"/>
                </a:solidFill>
                <a:latin typeface="Yu Gothic"/>
              </a:rPr>
              <a:t>■ 家族自身の休息・支援にも目を向ける</a:t>
            </a:r>
          </a:p>
        </p:txBody>
      </p:sp>
      <p:sp>
        <p:nvSpPr>
          <p:cNvPr id="20" name="TextBox 19"/>
          <p:cNvSpPr txBox="1"/>
          <p:nvPr/>
        </p:nvSpPr>
        <p:spPr>
          <a:xfrm>
            <a:off x="432000" y="4788000"/>
            <a:ext cx="11328119" cy="432000"/>
          </a:xfrm>
          <a:prstGeom prst="rect">
            <a:avLst/>
          </a:prstGeom>
          <a:noFill/>
        </p:spPr>
        <p:txBody>
          <a:bodyPr wrap="square" lIns="36000" rIns="36000" tIns="18000" bIns="18000" anchor="t">
            <a:spAutoFit/>
          </a:bodyPr>
          <a:lstStyle/>
          <a:p>
            <a:pPr algn="l"/>
            <a:r>
              <a:rPr sz="1300" b="1" i="0">
                <a:solidFill>
                  <a:srgbClr val="423A5E"/>
                </a:solidFill>
                <a:latin typeface="Yu Gothic"/>
              </a:rPr>
              <a:t>▶ 「在宅か入院か」を急いで決めさせない。揺れながら進む過程に、CMが伴走する。</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119" cy="576000"/>
          </a:xfrm>
          <a:prstGeom prst="rect">
            <a:avLst/>
          </a:prstGeom>
          <a:solidFill>
            <a:srgbClr val="423A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88000" y="90000"/>
            <a:ext cx="7920000" cy="216000"/>
          </a:xfrm>
          <a:prstGeom prst="rect">
            <a:avLst/>
          </a:prstGeom>
          <a:noFill/>
        </p:spPr>
        <p:txBody>
          <a:bodyPr wrap="square" lIns="36000" rIns="36000" tIns="18000" bIns="18000" anchor="t">
            <a:spAutoFit/>
          </a:bodyPr>
          <a:lstStyle/>
          <a:p>
            <a:pPr algn="l"/>
            <a:r>
              <a:rPr sz="1100" b="1" i="0">
                <a:solidFill>
                  <a:srgbClr val="FFFFFF"/>
                </a:solidFill>
                <a:latin typeface="Yu Gothic"/>
              </a:rPr>
              <a:t>5. 合意形成</a:t>
            </a:r>
          </a:p>
        </p:txBody>
      </p:sp>
      <p:sp>
        <p:nvSpPr>
          <p:cNvPr id="4" name="TextBox 3"/>
          <p:cNvSpPr txBox="1"/>
          <p:nvPr/>
        </p:nvSpPr>
        <p:spPr>
          <a:xfrm>
            <a:off x="288000" y="684000"/>
            <a:ext cx="11616119" cy="468000"/>
          </a:xfrm>
          <a:prstGeom prst="rect">
            <a:avLst/>
          </a:prstGeom>
          <a:noFill/>
        </p:spPr>
        <p:txBody>
          <a:bodyPr wrap="square" lIns="36000" rIns="36000" tIns="18000" bIns="18000" anchor="t">
            <a:spAutoFit/>
          </a:bodyPr>
          <a:lstStyle/>
          <a:p>
            <a:pPr algn="l"/>
            <a:r>
              <a:rPr sz="2300" b="1" i="0">
                <a:solidFill>
                  <a:srgbClr val="423A5E"/>
                </a:solidFill>
                <a:latin typeface="Yu Gothic"/>
              </a:rPr>
              <a:t>家族間で意見が分かれたとき</a:t>
            </a:r>
          </a:p>
        </p:txBody>
      </p:sp>
      <p:sp>
        <p:nvSpPr>
          <p:cNvPr id="5" name="Rectangle 4"/>
          <p:cNvSpPr/>
          <p:nvPr/>
        </p:nvSpPr>
        <p:spPr>
          <a:xfrm>
            <a:off x="288000" y="1152000"/>
            <a:ext cx="900000" cy="43200"/>
          </a:xfrm>
          <a:prstGeom prst="rect">
            <a:avLst/>
          </a:prstGeom>
          <a:solidFill>
            <a:srgbClr val="C48C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288000" y="6570000"/>
            <a:ext cx="9360000" cy="180000"/>
          </a:xfrm>
          <a:prstGeom prst="rect">
            <a:avLst/>
          </a:prstGeom>
          <a:noFill/>
        </p:spPr>
        <p:txBody>
          <a:bodyPr wrap="square" lIns="36000" rIns="36000" tIns="18000" bIns="18000" anchor="t">
            <a:spAutoFit/>
          </a:bodyPr>
          <a:lstStyle/>
          <a:p>
            <a:pPr algn="l"/>
            <a:r>
              <a:rPr sz="900" b="0" i="0">
                <a:solidFill>
                  <a:srgbClr val="8C83A6"/>
                </a:solidFill>
                <a:latin typeface="Yu Gothic"/>
              </a:rPr>
              <a:t>主任CM研修 / 看取り期のケアマネジメントとACPの支援技術  ※算定要件は最新の告示・通知をご確認ください</a:t>
            </a:r>
          </a:p>
        </p:txBody>
      </p:sp>
      <p:sp>
        <p:nvSpPr>
          <p:cNvPr id="7" name="TextBox 6"/>
          <p:cNvSpPr txBox="1"/>
          <p:nvPr/>
        </p:nvSpPr>
        <p:spPr>
          <a:xfrm>
            <a:off x="11112119" y="6570000"/>
            <a:ext cx="792000" cy="180000"/>
          </a:xfrm>
          <a:prstGeom prst="rect">
            <a:avLst/>
          </a:prstGeom>
          <a:noFill/>
        </p:spPr>
        <p:txBody>
          <a:bodyPr wrap="square" lIns="36000" rIns="36000" tIns="18000" bIns="18000" anchor="t">
            <a:spAutoFit/>
          </a:bodyPr>
          <a:lstStyle/>
          <a:p>
            <a:pPr algn="r"/>
            <a:r>
              <a:rPr sz="900" b="0" i="0">
                <a:solidFill>
                  <a:srgbClr val="8C83A6"/>
                </a:solidFill>
                <a:latin typeface="Yu Gothic"/>
              </a:rPr>
              <a:t>23 / 33</a:t>
            </a:r>
          </a:p>
        </p:txBody>
      </p:sp>
      <p:sp>
        <p:nvSpPr>
          <p:cNvPr id="8" name="Rectangle 7"/>
          <p:cNvSpPr/>
          <p:nvPr/>
        </p:nvSpPr>
        <p:spPr>
          <a:xfrm>
            <a:off x="432000" y="1548000"/>
            <a:ext cx="11304000" cy="360000"/>
          </a:xfrm>
          <a:prstGeom prst="rect">
            <a:avLst/>
          </a:prstGeom>
          <a:solidFill>
            <a:srgbClr val="423A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04000" y="1584000"/>
            <a:ext cx="11160000" cy="288000"/>
          </a:xfrm>
          <a:prstGeom prst="rect">
            <a:avLst/>
          </a:prstGeom>
          <a:noFill/>
        </p:spPr>
        <p:txBody>
          <a:bodyPr wrap="square" lIns="36000" rIns="36000" tIns="18000" bIns="18000" anchor="ctr">
            <a:spAutoFit/>
          </a:bodyPr>
          <a:lstStyle/>
          <a:p>
            <a:pPr algn="l"/>
            <a:r>
              <a:rPr sz="1400" b="1" i="0">
                <a:solidFill>
                  <a:srgbClr val="FFFFFF"/>
                </a:solidFill>
                <a:latin typeface="Yu Gothic"/>
              </a:rPr>
              <a:t>よくある場面</a:t>
            </a:r>
          </a:p>
        </p:txBody>
      </p:sp>
      <p:sp>
        <p:nvSpPr>
          <p:cNvPr id="10" name="Rectangle 9"/>
          <p:cNvSpPr/>
          <p:nvPr/>
        </p:nvSpPr>
        <p:spPr>
          <a:xfrm>
            <a:off x="432000" y="1908000"/>
            <a:ext cx="11304000" cy="467999"/>
          </a:xfrm>
          <a:prstGeom prst="rect">
            <a:avLst/>
          </a:prstGeom>
          <a:solidFill>
            <a:srgbClr val="EAE8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40000" y="1944000"/>
            <a:ext cx="11088000" cy="431999"/>
          </a:xfrm>
          <a:prstGeom prst="rect">
            <a:avLst/>
          </a:prstGeom>
          <a:noFill/>
        </p:spPr>
        <p:txBody>
          <a:bodyPr wrap="square" lIns="36000" rIns="36000" tIns="18000" bIns="18000" anchor="t">
            <a:spAutoFit/>
          </a:bodyPr>
          <a:lstStyle/>
          <a:p>
            <a:pPr algn="l"/>
            <a:r>
              <a:rPr sz="1200" b="0" i="0">
                <a:solidFill>
                  <a:srgbClr val="323038"/>
                </a:solidFill>
                <a:latin typeface="Yu Gothic"/>
              </a:rPr>
              <a:t>同居の家族は「家で看取りたい」、離れて暮らす家族は「入院を」 ―</a:t>
            </a:r>
          </a:p>
          <a:p>
            <a:pPr algn="l"/>
            <a:r>
              <a:rPr sz="1200" b="0" i="0">
                <a:solidFill>
                  <a:srgbClr val="323038"/>
                </a:solidFill>
                <a:latin typeface="Yu Gothic"/>
              </a:rPr>
              <a:t>家族の中で意見が割れることは珍しくない。それぞれに事情と思いがある。</a:t>
            </a:r>
          </a:p>
        </p:txBody>
      </p:sp>
      <p:sp>
        <p:nvSpPr>
          <p:cNvPr id="12" name="Rectangle 11"/>
          <p:cNvSpPr/>
          <p:nvPr/>
        </p:nvSpPr>
        <p:spPr>
          <a:xfrm>
            <a:off x="432000" y="2628000"/>
            <a:ext cx="11304000" cy="360000"/>
          </a:xfrm>
          <a:prstGeom prst="rect">
            <a:avLst/>
          </a:prstGeom>
          <a:solidFill>
            <a:srgbClr val="423A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86000" y="2664000"/>
            <a:ext cx="3672000" cy="288000"/>
          </a:xfrm>
          <a:prstGeom prst="rect">
            <a:avLst/>
          </a:prstGeom>
          <a:noFill/>
        </p:spPr>
        <p:txBody>
          <a:bodyPr wrap="square" lIns="36000" rIns="36000" tIns="18000" bIns="18000" anchor="ctr">
            <a:spAutoFit/>
          </a:bodyPr>
          <a:lstStyle/>
          <a:p>
            <a:pPr algn="ctr"/>
            <a:r>
              <a:rPr sz="1200" b="1" i="0">
                <a:solidFill>
                  <a:srgbClr val="FFFFFF"/>
                </a:solidFill>
                <a:latin typeface="Yu Gothic"/>
              </a:rPr>
              <a:t>対応の原則</a:t>
            </a:r>
          </a:p>
        </p:txBody>
      </p:sp>
      <p:sp>
        <p:nvSpPr>
          <p:cNvPr id="14" name="TextBox 13"/>
          <p:cNvSpPr txBox="1"/>
          <p:nvPr/>
        </p:nvSpPr>
        <p:spPr>
          <a:xfrm>
            <a:off x="4266000" y="2664000"/>
            <a:ext cx="3672000" cy="288000"/>
          </a:xfrm>
          <a:prstGeom prst="rect">
            <a:avLst/>
          </a:prstGeom>
          <a:noFill/>
        </p:spPr>
        <p:txBody>
          <a:bodyPr wrap="square" lIns="36000" rIns="36000" tIns="18000" bIns="18000" anchor="ctr">
            <a:spAutoFit/>
          </a:bodyPr>
          <a:lstStyle/>
          <a:p>
            <a:pPr algn="ctr"/>
            <a:r>
              <a:rPr sz="1200" b="1" i="0">
                <a:solidFill>
                  <a:srgbClr val="FFFFFF"/>
                </a:solidFill>
                <a:latin typeface="Yu Gothic"/>
              </a:rPr>
              <a:t>具体的な関わり</a:t>
            </a:r>
          </a:p>
        </p:txBody>
      </p:sp>
      <p:sp>
        <p:nvSpPr>
          <p:cNvPr id="15" name="TextBox 14"/>
          <p:cNvSpPr txBox="1"/>
          <p:nvPr/>
        </p:nvSpPr>
        <p:spPr>
          <a:xfrm>
            <a:off x="8046000" y="2664000"/>
            <a:ext cx="3636000" cy="288000"/>
          </a:xfrm>
          <a:prstGeom prst="rect">
            <a:avLst/>
          </a:prstGeom>
          <a:noFill/>
        </p:spPr>
        <p:txBody>
          <a:bodyPr wrap="square" lIns="36000" rIns="36000" tIns="18000" bIns="18000" anchor="ctr">
            <a:spAutoFit/>
          </a:bodyPr>
          <a:lstStyle/>
          <a:p>
            <a:pPr algn="ctr"/>
            <a:r>
              <a:rPr sz="1200" b="1" i="0">
                <a:solidFill>
                  <a:srgbClr val="FFFFFF"/>
                </a:solidFill>
                <a:latin typeface="Yu Gothic"/>
              </a:rPr>
              <a:t>避けたいこと</a:t>
            </a:r>
          </a:p>
        </p:txBody>
      </p:sp>
      <p:sp>
        <p:nvSpPr>
          <p:cNvPr id="16" name="Rectangle 15"/>
          <p:cNvSpPr/>
          <p:nvPr/>
        </p:nvSpPr>
        <p:spPr>
          <a:xfrm>
            <a:off x="432000" y="2988000"/>
            <a:ext cx="11304000" cy="666000"/>
          </a:xfrm>
          <a:prstGeom prst="rect">
            <a:avLst/>
          </a:prstGeom>
          <a:solidFill>
            <a:srgbClr val="EAE8EF"/>
          </a:solidFill>
          <a:ln>
            <a:solidFill>
              <a:srgbClr val="D7D4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86000" y="3042000"/>
            <a:ext cx="3672000" cy="558000"/>
          </a:xfrm>
          <a:prstGeom prst="rect">
            <a:avLst/>
          </a:prstGeom>
          <a:noFill/>
        </p:spPr>
        <p:txBody>
          <a:bodyPr wrap="square" lIns="36000" rIns="36000" tIns="18000" bIns="18000" anchor="ctr">
            <a:spAutoFit/>
          </a:bodyPr>
          <a:lstStyle/>
          <a:p>
            <a:pPr algn="ctr"/>
            <a:r>
              <a:rPr sz="1100" b="1" i="0">
                <a:solidFill>
                  <a:srgbClr val="423A5E"/>
                </a:solidFill>
                <a:latin typeface="Yu Gothic"/>
              </a:rPr>
              <a:t>本人の意思に</a:t>
            </a:r>
          </a:p>
          <a:p>
            <a:pPr algn="ctr"/>
            <a:r>
              <a:rPr sz="1100" b="1" i="0">
                <a:solidFill>
                  <a:srgbClr val="423A5E"/>
                </a:solidFill>
                <a:latin typeface="Yu Gothic"/>
              </a:rPr>
              <a:t>立ち返る</a:t>
            </a:r>
          </a:p>
        </p:txBody>
      </p:sp>
      <p:sp>
        <p:nvSpPr>
          <p:cNvPr id="18" name="TextBox 17"/>
          <p:cNvSpPr txBox="1"/>
          <p:nvPr/>
        </p:nvSpPr>
        <p:spPr>
          <a:xfrm>
            <a:off x="4266000" y="3042000"/>
            <a:ext cx="3672000" cy="558000"/>
          </a:xfrm>
          <a:prstGeom prst="rect">
            <a:avLst/>
          </a:prstGeom>
          <a:noFill/>
        </p:spPr>
        <p:txBody>
          <a:bodyPr wrap="square" lIns="36000" rIns="36000" tIns="18000" bIns="18000" anchor="ctr">
            <a:spAutoFit/>
          </a:bodyPr>
          <a:lstStyle/>
          <a:p>
            <a:pPr algn="l"/>
            <a:r>
              <a:rPr sz="1100" b="0" i="0">
                <a:solidFill>
                  <a:srgbClr val="323038"/>
                </a:solidFill>
                <a:latin typeface="Yu Gothic"/>
              </a:rPr>
              <a:t>「ご本人はどう望んで</a:t>
            </a:r>
          </a:p>
          <a:p>
            <a:pPr algn="l"/>
            <a:r>
              <a:rPr sz="1100" b="0" i="0">
                <a:solidFill>
                  <a:srgbClr val="323038"/>
                </a:solidFill>
                <a:latin typeface="Yu Gothic"/>
              </a:rPr>
              <a:t>おられたか」を中心に置く</a:t>
            </a:r>
          </a:p>
        </p:txBody>
      </p:sp>
      <p:sp>
        <p:nvSpPr>
          <p:cNvPr id="19" name="TextBox 18"/>
          <p:cNvSpPr txBox="1"/>
          <p:nvPr/>
        </p:nvSpPr>
        <p:spPr>
          <a:xfrm>
            <a:off x="8046000" y="3042000"/>
            <a:ext cx="3636000" cy="558000"/>
          </a:xfrm>
          <a:prstGeom prst="rect">
            <a:avLst/>
          </a:prstGeom>
          <a:noFill/>
        </p:spPr>
        <p:txBody>
          <a:bodyPr wrap="square" lIns="36000" rIns="36000" tIns="18000" bIns="18000" anchor="ctr">
            <a:spAutoFit/>
          </a:bodyPr>
          <a:lstStyle/>
          <a:p>
            <a:pPr algn="l"/>
            <a:r>
              <a:rPr sz="1100" b="0" i="0">
                <a:solidFill>
                  <a:srgbClr val="323038"/>
                </a:solidFill>
                <a:latin typeface="Yu Gothic"/>
              </a:rPr>
              <a:t>家族の声の大きさで</a:t>
            </a:r>
          </a:p>
          <a:p>
            <a:pPr algn="l"/>
            <a:r>
              <a:rPr sz="1100" b="0" i="0">
                <a:solidFill>
                  <a:srgbClr val="323038"/>
                </a:solidFill>
                <a:latin typeface="Yu Gothic"/>
              </a:rPr>
              <a:t>方針が決まること</a:t>
            </a:r>
          </a:p>
        </p:txBody>
      </p:sp>
      <p:sp>
        <p:nvSpPr>
          <p:cNvPr id="20" name="Rectangle 19"/>
          <p:cNvSpPr/>
          <p:nvPr/>
        </p:nvSpPr>
        <p:spPr>
          <a:xfrm>
            <a:off x="432000" y="3654000"/>
            <a:ext cx="11304000" cy="666000"/>
          </a:xfrm>
          <a:prstGeom prst="rect">
            <a:avLst/>
          </a:prstGeom>
          <a:solidFill>
            <a:srgbClr val="FFFFFF"/>
          </a:solidFill>
          <a:ln>
            <a:solidFill>
              <a:srgbClr val="D7D4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86000" y="3708000"/>
            <a:ext cx="3672000" cy="558000"/>
          </a:xfrm>
          <a:prstGeom prst="rect">
            <a:avLst/>
          </a:prstGeom>
          <a:noFill/>
        </p:spPr>
        <p:txBody>
          <a:bodyPr wrap="square" lIns="36000" rIns="36000" tIns="18000" bIns="18000" anchor="ctr">
            <a:spAutoFit/>
          </a:bodyPr>
          <a:lstStyle/>
          <a:p>
            <a:pPr algn="ctr"/>
            <a:r>
              <a:rPr sz="1100" b="1" i="0">
                <a:solidFill>
                  <a:srgbClr val="423A5E"/>
                </a:solidFill>
                <a:latin typeface="Yu Gothic"/>
              </a:rPr>
              <a:t>それぞれの思いを</a:t>
            </a:r>
          </a:p>
          <a:p>
            <a:pPr algn="ctr"/>
            <a:r>
              <a:rPr sz="1100" b="1" i="0">
                <a:solidFill>
                  <a:srgbClr val="423A5E"/>
                </a:solidFill>
                <a:latin typeface="Yu Gothic"/>
              </a:rPr>
              <a:t>聴く</a:t>
            </a:r>
          </a:p>
        </p:txBody>
      </p:sp>
      <p:sp>
        <p:nvSpPr>
          <p:cNvPr id="22" name="TextBox 21"/>
          <p:cNvSpPr txBox="1"/>
          <p:nvPr/>
        </p:nvSpPr>
        <p:spPr>
          <a:xfrm>
            <a:off x="4266000" y="3708000"/>
            <a:ext cx="3672000" cy="558000"/>
          </a:xfrm>
          <a:prstGeom prst="rect">
            <a:avLst/>
          </a:prstGeom>
          <a:noFill/>
        </p:spPr>
        <p:txBody>
          <a:bodyPr wrap="square" lIns="36000" rIns="36000" tIns="18000" bIns="18000" anchor="ctr">
            <a:spAutoFit/>
          </a:bodyPr>
          <a:lstStyle/>
          <a:p>
            <a:pPr algn="l"/>
            <a:r>
              <a:rPr sz="1100" b="0" i="0">
                <a:solidFill>
                  <a:srgbClr val="323038"/>
                </a:solidFill>
                <a:latin typeface="Yu Gothic"/>
              </a:rPr>
              <a:t>各家族の事情・不安・</a:t>
            </a:r>
          </a:p>
          <a:p>
            <a:pPr algn="l"/>
            <a:r>
              <a:rPr sz="1100" b="0" i="0">
                <a:solidFill>
                  <a:srgbClr val="323038"/>
                </a:solidFill>
                <a:latin typeface="Yu Gothic"/>
              </a:rPr>
              <a:t>罪悪感を個別に受けとめる</a:t>
            </a:r>
          </a:p>
        </p:txBody>
      </p:sp>
      <p:sp>
        <p:nvSpPr>
          <p:cNvPr id="23" name="TextBox 22"/>
          <p:cNvSpPr txBox="1"/>
          <p:nvPr/>
        </p:nvSpPr>
        <p:spPr>
          <a:xfrm>
            <a:off x="8046000" y="3708000"/>
            <a:ext cx="3636000" cy="558000"/>
          </a:xfrm>
          <a:prstGeom prst="rect">
            <a:avLst/>
          </a:prstGeom>
          <a:noFill/>
        </p:spPr>
        <p:txBody>
          <a:bodyPr wrap="square" lIns="36000" rIns="36000" tIns="18000" bIns="18000" anchor="ctr">
            <a:spAutoFit/>
          </a:bodyPr>
          <a:lstStyle/>
          <a:p>
            <a:pPr algn="l"/>
            <a:r>
              <a:rPr sz="1100" b="0" i="0">
                <a:solidFill>
                  <a:srgbClr val="323038"/>
                </a:solidFill>
                <a:latin typeface="Yu Gothic"/>
              </a:rPr>
              <a:t>一方の家族だけと</a:t>
            </a:r>
          </a:p>
          <a:p>
            <a:pPr algn="l"/>
            <a:r>
              <a:rPr sz="1100" b="0" i="0">
                <a:solidFill>
                  <a:srgbClr val="323038"/>
                </a:solidFill>
                <a:latin typeface="Yu Gothic"/>
              </a:rPr>
              <a:t>話を進めること</a:t>
            </a:r>
          </a:p>
        </p:txBody>
      </p:sp>
      <p:sp>
        <p:nvSpPr>
          <p:cNvPr id="24" name="Rectangle 23"/>
          <p:cNvSpPr/>
          <p:nvPr/>
        </p:nvSpPr>
        <p:spPr>
          <a:xfrm>
            <a:off x="432000" y="4320000"/>
            <a:ext cx="11304000" cy="666000"/>
          </a:xfrm>
          <a:prstGeom prst="rect">
            <a:avLst/>
          </a:prstGeom>
          <a:solidFill>
            <a:srgbClr val="EAE8EF"/>
          </a:solidFill>
          <a:ln>
            <a:solidFill>
              <a:srgbClr val="D7D4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486000" y="4374000"/>
            <a:ext cx="3672000" cy="558000"/>
          </a:xfrm>
          <a:prstGeom prst="rect">
            <a:avLst/>
          </a:prstGeom>
          <a:noFill/>
        </p:spPr>
        <p:txBody>
          <a:bodyPr wrap="square" lIns="36000" rIns="36000" tIns="18000" bIns="18000" anchor="ctr">
            <a:spAutoFit/>
          </a:bodyPr>
          <a:lstStyle/>
          <a:p>
            <a:pPr algn="ctr"/>
            <a:r>
              <a:rPr sz="1100" b="1" i="0">
                <a:solidFill>
                  <a:srgbClr val="423A5E"/>
                </a:solidFill>
                <a:latin typeface="Yu Gothic"/>
              </a:rPr>
              <a:t>情報を共有し</a:t>
            </a:r>
          </a:p>
          <a:p>
            <a:pPr algn="ctr"/>
            <a:r>
              <a:rPr sz="1100" b="1" i="0">
                <a:solidFill>
                  <a:srgbClr val="423A5E"/>
                </a:solidFill>
                <a:latin typeface="Yu Gothic"/>
              </a:rPr>
              <a:t>見通しを揃える</a:t>
            </a:r>
          </a:p>
        </p:txBody>
      </p:sp>
      <p:sp>
        <p:nvSpPr>
          <p:cNvPr id="26" name="TextBox 25"/>
          <p:cNvSpPr txBox="1"/>
          <p:nvPr/>
        </p:nvSpPr>
        <p:spPr>
          <a:xfrm>
            <a:off x="4266000" y="4374000"/>
            <a:ext cx="3672000" cy="558000"/>
          </a:xfrm>
          <a:prstGeom prst="rect">
            <a:avLst/>
          </a:prstGeom>
          <a:noFill/>
        </p:spPr>
        <p:txBody>
          <a:bodyPr wrap="square" lIns="36000" rIns="36000" tIns="18000" bIns="18000" anchor="ctr">
            <a:spAutoFit/>
          </a:bodyPr>
          <a:lstStyle/>
          <a:p>
            <a:pPr algn="l"/>
            <a:r>
              <a:rPr sz="1100" b="0" i="0">
                <a:solidFill>
                  <a:srgbClr val="323038"/>
                </a:solidFill>
                <a:latin typeface="Yu Gothic"/>
              </a:rPr>
              <a:t>病状・見通し・選択肢を</a:t>
            </a:r>
          </a:p>
          <a:p>
            <a:pPr algn="l"/>
            <a:r>
              <a:rPr sz="1100" b="0" i="0">
                <a:solidFill>
                  <a:srgbClr val="323038"/>
                </a:solidFill>
                <a:latin typeface="Yu Gothic"/>
              </a:rPr>
              <a:t>家族全員が同じく理解</a:t>
            </a:r>
          </a:p>
        </p:txBody>
      </p:sp>
      <p:sp>
        <p:nvSpPr>
          <p:cNvPr id="27" name="TextBox 26"/>
          <p:cNvSpPr txBox="1"/>
          <p:nvPr/>
        </p:nvSpPr>
        <p:spPr>
          <a:xfrm>
            <a:off x="8046000" y="4374000"/>
            <a:ext cx="3636000" cy="558000"/>
          </a:xfrm>
          <a:prstGeom prst="rect">
            <a:avLst/>
          </a:prstGeom>
          <a:noFill/>
        </p:spPr>
        <p:txBody>
          <a:bodyPr wrap="square" lIns="36000" rIns="36000" tIns="18000" bIns="18000" anchor="ctr">
            <a:spAutoFit/>
          </a:bodyPr>
          <a:lstStyle/>
          <a:p>
            <a:pPr algn="l"/>
            <a:r>
              <a:rPr sz="1100" b="0" i="0">
                <a:solidFill>
                  <a:srgbClr val="323038"/>
                </a:solidFill>
                <a:latin typeface="Yu Gothic"/>
              </a:rPr>
              <a:t>情報の差が</a:t>
            </a:r>
          </a:p>
          <a:p>
            <a:pPr algn="l"/>
            <a:r>
              <a:rPr sz="1100" b="0" i="0">
                <a:solidFill>
                  <a:srgbClr val="323038"/>
                </a:solidFill>
                <a:latin typeface="Yu Gothic"/>
              </a:rPr>
              <a:t>対立を深めること</a:t>
            </a:r>
          </a:p>
        </p:txBody>
      </p:sp>
      <p:sp>
        <p:nvSpPr>
          <p:cNvPr id="28" name="Rectangle 27"/>
          <p:cNvSpPr/>
          <p:nvPr/>
        </p:nvSpPr>
        <p:spPr>
          <a:xfrm>
            <a:off x="432000" y="4986000"/>
            <a:ext cx="11304000" cy="666000"/>
          </a:xfrm>
          <a:prstGeom prst="rect">
            <a:avLst/>
          </a:prstGeom>
          <a:solidFill>
            <a:srgbClr val="FFFFFF"/>
          </a:solidFill>
          <a:ln>
            <a:solidFill>
              <a:srgbClr val="D7D4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486000" y="5040000"/>
            <a:ext cx="3672000" cy="558000"/>
          </a:xfrm>
          <a:prstGeom prst="rect">
            <a:avLst/>
          </a:prstGeom>
          <a:noFill/>
        </p:spPr>
        <p:txBody>
          <a:bodyPr wrap="square" lIns="36000" rIns="36000" tIns="18000" bIns="18000" anchor="ctr">
            <a:spAutoFit/>
          </a:bodyPr>
          <a:lstStyle/>
          <a:p>
            <a:pPr algn="ctr"/>
            <a:r>
              <a:rPr sz="1100" b="1" i="0">
                <a:solidFill>
                  <a:srgbClr val="423A5E"/>
                </a:solidFill>
                <a:latin typeface="Yu Gothic"/>
              </a:rPr>
              <a:t>話し合いの場を</a:t>
            </a:r>
          </a:p>
          <a:p>
            <a:pPr algn="ctr"/>
            <a:r>
              <a:rPr sz="1100" b="1" i="0">
                <a:solidFill>
                  <a:srgbClr val="423A5E"/>
                </a:solidFill>
                <a:latin typeface="Yu Gothic"/>
              </a:rPr>
              <a:t>つくる</a:t>
            </a:r>
          </a:p>
        </p:txBody>
      </p:sp>
      <p:sp>
        <p:nvSpPr>
          <p:cNvPr id="30" name="TextBox 29"/>
          <p:cNvSpPr txBox="1"/>
          <p:nvPr/>
        </p:nvSpPr>
        <p:spPr>
          <a:xfrm>
            <a:off x="4266000" y="5040000"/>
            <a:ext cx="3672000" cy="558000"/>
          </a:xfrm>
          <a:prstGeom prst="rect">
            <a:avLst/>
          </a:prstGeom>
          <a:noFill/>
        </p:spPr>
        <p:txBody>
          <a:bodyPr wrap="square" lIns="36000" rIns="36000" tIns="18000" bIns="18000" anchor="ctr">
            <a:spAutoFit/>
          </a:bodyPr>
          <a:lstStyle/>
          <a:p>
            <a:pPr algn="l"/>
            <a:r>
              <a:rPr sz="1100" b="0" i="0">
                <a:solidFill>
                  <a:srgbClr val="323038"/>
                </a:solidFill>
                <a:latin typeface="Yu Gothic"/>
              </a:rPr>
              <a:t>多職種同席のカンファ等で</a:t>
            </a:r>
          </a:p>
          <a:p>
            <a:pPr algn="l"/>
            <a:r>
              <a:rPr sz="1100" b="0" i="0">
                <a:solidFill>
                  <a:srgbClr val="323038"/>
                </a:solidFill>
                <a:latin typeface="Yu Gothic"/>
              </a:rPr>
              <a:t>冷静に話せる場を設定</a:t>
            </a:r>
          </a:p>
        </p:txBody>
      </p:sp>
      <p:sp>
        <p:nvSpPr>
          <p:cNvPr id="31" name="TextBox 30"/>
          <p:cNvSpPr txBox="1"/>
          <p:nvPr/>
        </p:nvSpPr>
        <p:spPr>
          <a:xfrm>
            <a:off x="8046000" y="5040000"/>
            <a:ext cx="3636000" cy="558000"/>
          </a:xfrm>
          <a:prstGeom prst="rect">
            <a:avLst/>
          </a:prstGeom>
          <a:noFill/>
        </p:spPr>
        <p:txBody>
          <a:bodyPr wrap="square" lIns="36000" rIns="36000" tIns="18000" bIns="18000" anchor="ctr">
            <a:spAutoFit/>
          </a:bodyPr>
          <a:lstStyle/>
          <a:p>
            <a:pPr algn="l"/>
            <a:r>
              <a:rPr sz="1100" b="0" i="0">
                <a:solidFill>
                  <a:srgbClr val="323038"/>
                </a:solidFill>
                <a:latin typeface="Yu Gothic"/>
              </a:rPr>
              <a:t>CM一人で家族の</a:t>
            </a:r>
          </a:p>
          <a:p>
            <a:pPr algn="l"/>
            <a:r>
              <a:rPr sz="1100" b="0" i="0">
                <a:solidFill>
                  <a:srgbClr val="323038"/>
                </a:solidFill>
                <a:latin typeface="Yu Gothic"/>
              </a:rPr>
              <a:t>仲裁を抱え込むこと</a:t>
            </a:r>
          </a:p>
        </p:txBody>
      </p:sp>
      <p:sp>
        <p:nvSpPr>
          <p:cNvPr id="32" name="Rectangle 31"/>
          <p:cNvSpPr/>
          <p:nvPr/>
        </p:nvSpPr>
        <p:spPr>
          <a:xfrm>
            <a:off x="432000" y="5544000"/>
            <a:ext cx="11304000" cy="360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504000" y="5580000"/>
            <a:ext cx="11160000" cy="288000"/>
          </a:xfrm>
          <a:prstGeom prst="rect">
            <a:avLst/>
          </a:prstGeom>
          <a:noFill/>
        </p:spPr>
        <p:txBody>
          <a:bodyPr wrap="square" lIns="36000" rIns="36000" tIns="18000" bIns="18000" anchor="ctr">
            <a:spAutoFit/>
          </a:bodyPr>
          <a:lstStyle/>
          <a:p>
            <a:pPr algn="l"/>
            <a:r>
              <a:rPr sz="100" b="1" i="0">
                <a:solidFill>
                  <a:srgbClr val="FFFFFF"/>
                </a:solidFill>
                <a:latin typeface="Yu Gothic"/>
              </a:rPr>
              <a:t/>
            </a:r>
          </a:p>
        </p:txBody>
      </p:sp>
      <p:sp>
        <p:nvSpPr>
          <p:cNvPr id="34" name="Rectangle 33"/>
          <p:cNvSpPr/>
          <p:nvPr/>
        </p:nvSpPr>
        <p:spPr>
          <a:xfrm>
            <a:off x="432000" y="5904000"/>
            <a:ext cx="11304000" cy="288000"/>
          </a:xfrm>
          <a:prstGeom prst="rect">
            <a:avLst/>
          </a:prstGeom>
          <a:solidFill>
            <a:srgbClr val="F9F0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540000" y="5940000"/>
            <a:ext cx="11088000" cy="252000"/>
          </a:xfrm>
          <a:prstGeom prst="rect">
            <a:avLst/>
          </a:prstGeom>
          <a:noFill/>
        </p:spPr>
        <p:txBody>
          <a:bodyPr wrap="square" lIns="36000" rIns="36000" tIns="18000" bIns="18000" anchor="t">
            <a:spAutoFit/>
          </a:bodyPr>
          <a:lstStyle/>
          <a:p>
            <a:pPr algn="l"/>
            <a:r>
              <a:rPr sz="1200" b="0" i="0">
                <a:solidFill>
                  <a:srgbClr val="323038"/>
                </a:solidFill>
                <a:latin typeface="Yu Gothic"/>
              </a:rPr>
              <a:t>▶ 家族間の対立の調整は重い。主任CM・多職種・必要なら医療職と分担し、一人で抱えない。</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119" cy="576000"/>
          </a:xfrm>
          <a:prstGeom prst="rect">
            <a:avLst/>
          </a:prstGeom>
          <a:solidFill>
            <a:srgbClr val="423A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88000" y="90000"/>
            <a:ext cx="7920000" cy="216000"/>
          </a:xfrm>
          <a:prstGeom prst="rect">
            <a:avLst/>
          </a:prstGeom>
          <a:noFill/>
        </p:spPr>
        <p:txBody>
          <a:bodyPr wrap="square" lIns="36000" rIns="36000" tIns="18000" bIns="18000" anchor="t">
            <a:spAutoFit/>
          </a:bodyPr>
          <a:lstStyle/>
          <a:p>
            <a:pPr algn="l"/>
            <a:r>
              <a:rPr sz="1100" b="1" i="0">
                <a:solidFill>
                  <a:srgbClr val="FFFFFF"/>
                </a:solidFill>
                <a:latin typeface="Yu Gothic"/>
              </a:rPr>
              <a:t>5. 合意形成</a:t>
            </a:r>
          </a:p>
        </p:txBody>
      </p:sp>
      <p:sp>
        <p:nvSpPr>
          <p:cNvPr id="4" name="TextBox 3"/>
          <p:cNvSpPr txBox="1"/>
          <p:nvPr/>
        </p:nvSpPr>
        <p:spPr>
          <a:xfrm>
            <a:off x="288000" y="684000"/>
            <a:ext cx="11616119" cy="468000"/>
          </a:xfrm>
          <a:prstGeom prst="rect">
            <a:avLst/>
          </a:prstGeom>
          <a:noFill/>
        </p:spPr>
        <p:txBody>
          <a:bodyPr wrap="square" lIns="36000" rIns="36000" tIns="18000" bIns="18000" anchor="t">
            <a:spAutoFit/>
          </a:bodyPr>
          <a:lstStyle/>
          <a:p>
            <a:pPr algn="l"/>
            <a:r>
              <a:rPr sz="2300" b="1" i="0">
                <a:solidFill>
                  <a:srgbClr val="423A5E"/>
                </a:solidFill>
                <a:latin typeface="Yu Gothic"/>
              </a:rPr>
              <a:t>多職種との連携 ― 看取りを支えるチーム</a:t>
            </a:r>
          </a:p>
        </p:txBody>
      </p:sp>
      <p:sp>
        <p:nvSpPr>
          <p:cNvPr id="5" name="Rectangle 4"/>
          <p:cNvSpPr/>
          <p:nvPr/>
        </p:nvSpPr>
        <p:spPr>
          <a:xfrm>
            <a:off x="288000" y="1152000"/>
            <a:ext cx="900000" cy="43200"/>
          </a:xfrm>
          <a:prstGeom prst="rect">
            <a:avLst/>
          </a:prstGeom>
          <a:solidFill>
            <a:srgbClr val="C48C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288000" y="6570000"/>
            <a:ext cx="9360000" cy="180000"/>
          </a:xfrm>
          <a:prstGeom prst="rect">
            <a:avLst/>
          </a:prstGeom>
          <a:noFill/>
        </p:spPr>
        <p:txBody>
          <a:bodyPr wrap="square" lIns="36000" rIns="36000" tIns="18000" bIns="18000" anchor="t">
            <a:spAutoFit/>
          </a:bodyPr>
          <a:lstStyle/>
          <a:p>
            <a:pPr algn="l"/>
            <a:r>
              <a:rPr sz="900" b="0" i="0">
                <a:solidFill>
                  <a:srgbClr val="8C83A6"/>
                </a:solidFill>
                <a:latin typeface="Yu Gothic"/>
              </a:rPr>
              <a:t>主任CM研修 / 看取り期のケアマネジメントとACPの支援技術  ※算定要件は最新の告示・通知をご確認ください</a:t>
            </a:r>
          </a:p>
        </p:txBody>
      </p:sp>
      <p:sp>
        <p:nvSpPr>
          <p:cNvPr id="7" name="TextBox 6"/>
          <p:cNvSpPr txBox="1"/>
          <p:nvPr/>
        </p:nvSpPr>
        <p:spPr>
          <a:xfrm>
            <a:off x="11112119" y="6570000"/>
            <a:ext cx="792000" cy="180000"/>
          </a:xfrm>
          <a:prstGeom prst="rect">
            <a:avLst/>
          </a:prstGeom>
          <a:noFill/>
        </p:spPr>
        <p:txBody>
          <a:bodyPr wrap="square" lIns="36000" rIns="36000" tIns="18000" bIns="18000" anchor="t">
            <a:spAutoFit/>
          </a:bodyPr>
          <a:lstStyle/>
          <a:p>
            <a:pPr algn="r"/>
            <a:r>
              <a:rPr sz="900" b="0" i="0">
                <a:solidFill>
                  <a:srgbClr val="8C83A6"/>
                </a:solidFill>
                <a:latin typeface="Yu Gothic"/>
              </a:rPr>
              <a:t>24 / 33</a:t>
            </a:r>
          </a:p>
        </p:txBody>
      </p:sp>
      <p:sp>
        <p:nvSpPr>
          <p:cNvPr id="8" name="Rectangle 7"/>
          <p:cNvSpPr/>
          <p:nvPr/>
        </p:nvSpPr>
        <p:spPr>
          <a:xfrm>
            <a:off x="372059" y="1620000"/>
            <a:ext cx="2232000" cy="648000"/>
          </a:xfrm>
          <a:prstGeom prst="rect">
            <a:avLst/>
          </a:prstGeom>
          <a:solidFill>
            <a:srgbClr val="2E6B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08059" y="1620000"/>
            <a:ext cx="2160000" cy="648000"/>
          </a:xfrm>
          <a:prstGeom prst="rect">
            <a:avLst/>
          </a:prstGeom>
          <a:noFill/>
        </p:spPr>
        <p:txBody>
          <a:bodyPr wrap="square" lIns="36000" rIns="36000" tIns="18000" bIns="18000" anchor="ctr">
            <a:spAutoFit/>
          </a:bodyPr>
          <a:lstStyle/>
          <a:p>
            <a:pPr algn="ctr"/>
            <a:r>
              <a:rPr sz="1250" b="1" i="0">
                <a:solidFill>
                  <a:srgbClr val="FFFFFF"/>
                </a:solidFill>
                <a:latin typeface="Yu Gothic"/>
              </a:rPr>
              <a:t>主治医・</a:t>
            </a:r>
          </a:p>
          <a:p>
            <a:pPr algn="ctr"/>
            <a:r>
              <a:rPr sz="1250" b="1" i="0">
                <a:solidFill>
                  <a:srgbClr val="FFFFFF"/>
                </a:solidFill>
                <a:latin typeface="Yu Gothic"/>
              </a:rPr>
              <a:t>訪問診療医</a:t>
            </a:r>
          </a:p>
        </p:txBody>
      </p:sp>
      <p:sp>
        <p:nvSpPr>
          <p:cNvPr id="10" name="Rectangle 9"/>
          <p:cNvSpPr/>
          <p:nvPr/>
        </p:nvSpPr>
        <p:spPr>
          <a:xfrm>
            <a:off x="372059" y="2268000"/>
            <a:ext cx="2232000" cy="1332000"/>
          </a:xfrm>
          <a:prstGeom prst="rect">
            <a:avLst/>
          </a:prstGeom>
          <a:solidFill>
            <a:srgbClr val="EAE8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44059" y="2376000"/>
            <a:ext cx="2088000" cy="1116000"/>
          </a:xfrm>
          <a:prstGeom prst="rect">
            <a:avLst/>
          </a:prstGeom>
          <a:noFill/>
        </p:spPr>
        <p:txBody>
          <a:bodyPr wrap="square" lIns="36000" rIns="36000" tIns="18000" bIns="18000" anchor="t">
            <a:spAutoFit/>
          </a:bodyPr>
          <a:lstStyle/>
          <a:p>
            <a:pPr algn="ctr">
              <a:lnSpc>
                <a:spcPct val="135000"/>
              </a:lnSpc>
            </a:pPr>
            <a:r>
              <a:rPr sz="1000" b="0" i="0">
                <a:solidFill>
                  <a:srgbClr val="323038"/>
                </a:solidFill>
                <a:latin typeface="Yu Gothic"/>
              </a:rPr>
              <a:t>病状管理・症状緩和</a:t>
            </a:r>
          </a:p>
          <a:p>
            <a:pPr algn="ctr">
              <a:lnSpc>
                <a:spcPct val="135000"/>
              </a:lnSpc>
            </a:pPr>
            <a:r>
              <a:rPr sz="1000" b="0" i="0">
                <a:solidFill>
                  <a:srgbClr val="323038"/>
                </a:solidFill>
                <a:latin typeface="Yu Gothic"/>
              </a:rPr>
              <a:t>医学的見通し・死亡確認</a:t>
            </a:r>
          </a:p>
        </p:txBody>
      </p:sp>
      <p:sp>
        <p:nvSpPr>
          <p:cNvPr id="12" name="Rectangle 11"/>
          <p:cNvSpPr/>
          <p:nvPr/>
        </p:nvSpPr>
        <p:spPr>
          <a:xfrm>
            <a:off x="2676059" y="1620000"/>
            <a:ext cx="2232000" cy="648000"/>
          </a:xfrm>
          <a:prstGeom prst="rect">
            <a:avLst/>
          </a:prstGeom>
          <a:solidFill>
            <a:srgbClr val="6057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712059" y="1620000"/>
            <a:ext cx="2160000" cy="648000"/>
          </a:xfrm>
          <a:prstGeom prst="rect">
            <a:avLst/>
          </a:prstGeom>
          <a:noFill/>
        </p:spPr>
        <p:txBody>
          <a:bodyPr wrap="square" lIns="36000" rIns="36000" tIns="18000" bIns="18000" anchor="ctr">
            <a:spAutoFit/>
          </a:bodyPr>
          <a:lstStyle/>
          <a:p>
            <a:pPr algn="ctr"/>
            <a:r>
              <a:rPr sz="1250" b="1" i="0">
                <a:solidFill>
                  <a:srgbClr val="FFFFFF"/>
                </a:solidFill>
                <a:latin typeface="Yu Gothic"/>
              </a:rPr>
              <a:t>訪問看護師</a:t>
            </a:r>
          </a:p>
        </p:txBody>
      </p:sp>
      <p:sp>
        <p:nvSpPr>
          <p:cNvPr id="14" name="Rectangle 13"/>
          <p:cNvSpPr/>
          <p:nvPr/>
        </p:nvSpPr>
        <p:spPr>
          <a:xfrm>
            <a:off x="2676059" y="2268000"/>
            <a:ext cx="2232000" cy="1332000"/>
          </a:xfrm>
          <a:prstGeom prst="rect">
            <a:avLst/>
          </a:prstGeom>
          <a:solidFill>
            <a:srgbClr val="EAE8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748059" y="2376000"/>
            <a:ext cx="2088000" cy="1116000"/>
          </a:xfrm>
          <a:prstGeom prst="rect">
            <a:avLst/>
          </a:prstGeom>
          <a:noFill/>
        </p:spPr>
        <p:txBody>
          <a:bodyPr wrap="square" lIns="36000" rIns="36000" tIns="18000" bIns="18000" anchor="t">
            <a:spAutoFit/>
          </a:bodyPr>
          <a:lstStyle/>
          <a:p>
            <a:pPr algn="ctr">
              <a:lnSpc>
                <a:spcPct val="135000"/>
              </a:lnSpc>
            </a:pPr>
            <a:r>
              <a:rPr sz="1000" b="0" i="0">
                <a:solidFill>
                  <a:srgbClr val="323038"/>
                </a:solidFill>
                <a:latin typeface="Yu Gothic"/>
              </a:rPr>
              <a:t>日々の状態観察・医療処置</a:t>
            </a:r>
          </a:p>
          <a:p>
            <a:pPr algn="ctr">
              <a:lnSpc>
                <a:spcPct val="135000"/>
              </a:lnSpc>
            </a:pPr>
            <a:r>
              <a:rPr sz="1000" b="0" i="0">
                <a:solidFill>
                  <a:srgbClr val="323038"/>
                </a:solidFill>
                <a:latin typeface="Yu Gothic"/>
              </a:rPr>
              <a:t>本人家族の心身の支え</a:t>
            </a:r>
          </a:p>
        </p:txBody>
      </p:sp>
      <p:sp>
        <p:nvSpPr>
          <p:cNvPr id="16" name="Rectangle 15"/>
          <p:cNvSpPr/>
          <p:nvPr/>
        </p:nvSpPr>
        <p:spPr>
          <a:xfrm>
            <a:off x="4980059" y="1620000"/>
            <a:ext cx="2232000" cy="648000"/>
          </a:xfrm>
          <a:prstGeom prst="rect">
            <a:avLst/>
          </a:prstGeom>
          <a:solidFill>
            <a:srgbClr val="527C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016059" y="1620000"/>
            <a:ext cx="2160000" cy="648000"/>
          </a:xfrm>
          <a:prstGeom prst="rect">
            <a:avLst/>
          </a:prstGeom>
          <a:noFill/>
        </p:spPr>
        <p:txBody>
          <a:bodyPr wrap="square" lIns="36000" rIns="36000" tIns="18000" bIns="18000" anchor="ctr">
            <a:spAutoFit/>
          </a:bodyPr>
          <a:lstStyle/>
          <a:p>
            <a:pPr algn="ctr"/>
            <a:r>
              <a:rPr sz="1250" b="1" i="0">
                <a:solidFill>
                  <a:srgbClr val="FFFFFF"/>
                </a:solidFill>
                <a:latin typeface="Yu Gothic"/>
              </a:rPr>
              <a:t>訪問介護員等</a:t>
            </a:r>
          </a:p>
        </p:txBody>
      </p:sp>
      <p:sp>
        <p:nvSpPr>
          <p:cNvPr id="18" name="Rectangle 17"/>
          <p:cNvSpPr/>
          <p:nvPr/>
        </p:nvSpPr>
        <p:spPr>
          <a:xfrm>
            <a:off x="4980059" y="2268000"/>
            <a:ext cx="2232000" cy="1332000"/>
          </a:xfrm>
          <a:prstGeom prst="rect">
            <a:avLst/>
          </a:prstGeom>
          <a:solidFill>
            <a:srgbClr val="EAE8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052059" y="2376000"/>
            <a:ext cx="2088000" cy="1116000"/>
          </a:xfrm>
          <a:prstGeom prst="rect">
            <a:avLst/>
          </a:prstGeom>
          <a:noFill/>
        </p:spPr>
        <p:txBody>
          <a:bodyPr wrap="square" lIns="36000" rIns="36000" tIns="18000" bIns="18000" anchor="t">
            <a:spAutoFit/>
          </a:bodyPr>
          <a:lstStyle/>
          <a:p>
            <a:pPr algn="ctr">
              <a:lnSpc>
                <a:spcPct val="135000"/>
              </a:lnSpc>
            </a:pPr>
            <a:r>
              <a:rPr sz="1000" b="0" i="0">
                <a:solidFill>
                  <a:srgbClr val="323038"/>
                </a:solidFill>
                <a:latin typeface="Yu Gothic"/>
              </a:rPr>
              <a:t>日常生活の支援</a:t>
            </a:r>
          </a:p>
          <a:p>
            <a:pPr algn="ctr">
              <a:lnSpc>
                <a:spcPct val="135000"/>
              </a:lnSpc>
            </a:pPr>
            <a:r>
              <a:rPr sz="1000" b="0" i="0">
                <a:solidFill>
                  <a:srgbClr val="323038"/>
                </a:solidFill>
                <a:latin typeface="Yu Gothic"/>
              </a:rPr>
              <a:t>本人の様子の変化に気づく</a:t>
            </a:r>
          </a:p>
        </p:txBody>
      </p:sp>
      <p:sp>
        <p:nvSpPr>
          <p:cNvPr id="20" name="Rectangle 19"/>
          <p:cNvSpPr/>
          <p:nvPr/>
        </p:nvSpPr>
        <p:spPr>
          <a:xfrm>
            <a:off x="7284059" y="1620000"/>
            <a:ext cx="2232000" cy="648000"/>
          </a:xfrm>
          <a:prstGeom prst="rect">
            <a:avLst/>
          </a:prstGeom>
          <a:solidFill>
            <a:srgbClr val="A85C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20059" y="1620000"/>
            <a:ext cx="2160000" cy="648000"/>
          </a:xfrm>
          <a:prstGeom prst="rect">
            <a:avLst/>
          </a:prstGeom>
          <a:noFill/>
        </p:spPr>
        <p:txBody>
          <a:bodyPr wrap="square" lIns="36000" rIns="36000" tIns="18000" bIns="18000" anchor="ctr">
            <a:spAutoFit/>
          </a:bodyPr>
          <a:lstStyle/>
          <a:p>
            <a:pPr algn="ctr"/>
            <a:r>
              <a:rPr sz="1250" b="1" i="0">
                <a:solidFill>
                  <a:srgbClr val="FFFFFF"/>
                </a:solidFill>
                <a:latin typeface="Yu Gothic"/>
              </a:rPr>
              <a:t>薬剤師</a:t>
            </a:r>
          </a:p>
        </p:txBody>
      </p:sp>
      <p:sp>
        <p:nvSpPr>
          <p:cNvPr id="22" name="Rectangle 21"/>
          <p:cNvSpPr/>
          <p:nvPr/>
        </p:nvSpPr>
        <p:spPr>
          <a:xfrm>
            <a:off x="7284059" y="2268000"/>
            <a:ext cx="2232000" cy="1332000"/>
          </a:xfrm>
          <a:prstGeom prst="rect">
            <a:avLst/>
          </a:prstGeom>
          <a:solidFill>
            <a:srgbClr val="EAE8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356059" y="2376000"/>
            <a:ext cx="2088000" cy="1116000"/>
          </a:xfrm>
          <a:prstGeom prst="rect">
            <a:avLst/>
          </a:prstGeom>
          <a:noFill/>
        </p:spPr>
        <p:txBody>
          <a:bodyPr wrap="square" lIns="36000" rIns="36000" tIns="18000" bIns="18000" anchor="t">
            <a:spAutoFit/>
          </a:bodyPr>
          <a:lstStyle/>
          <a:p>
            <a:pPr algn="ctr">
              <a:lnSpc>
                <a:spcPct val="135000"/>
              </a:lnSpc>
            </a:pPr>
            <a:r>
              <a:rPr sz="1000" b="0" i="0">
                <a:solidFill>
                  <a:srgbClr val="323038"/>
                </a:solidFill>
                <a:latin typeface="Yu Gothic"/>
              </a:rPr>
              <a:t>疼痛緩和の薬剤管理</a:t>
            </a:r>
          </a:p>
          <a:p>
            <a:pPr algn="ctr">
              <a:lnSpc>
                <a:spcPct val="135000"/>
              </a:lnSpc>
            </a:pPr>
            <a:r>
              <a:rPr sz="1000" b="0" i="0">
                <a:solidFill>
                  <a:srgbClr val="323038"/>
                </a:solidFill>
                <a:latin typeface="Yu Gothic"/>
              </a:rPr>
              <a:t>服薬しやすい工夫</a:t>
            </a:r>
          </a:p>
        </p:txBody>
      </p:sp>
      <p:sp>
        <p:nvSpPr>
          <p:cNvPr id="24" name="Rectangle 23"/>
          <p:cNvSpPr/>
          <p:nvPr/>
        </p:nvSpPr>
        <p:spPr>
          <a:xfrm>
            <a:off x="9588059" y="1620000"/>
            <a:ext cx="2232000" cy="648000"/>
          </a:xfrm>
          <a:prstGeom prst="rect">
            <a:avLst/>
          </a:prstGeom>
          <a:solidFill>
            <a:srgbClr val="C48C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9624059" y="1620000"/>
            <a:ext cx="2160000" cy="648000"/>
          </a:xfrm>
          <a:prstGeom prst="rect">
            <a:avLst/>
          </a:prstGeom>
          <a:noFill/>
        </p:spPr>
        <p:txBody>
          <a:bodyPr wrap="square" lIns="36000" rIns="36000" tIns="18000" bIns="18000" anchor="ctr">
            <a:spAutoFit/>
          </a:bodyPr>
          <a:lstStyle/>
          <a:p>
            <a:pPr algn="ctr"/>
            <a:r>
              <a:rPr sz="1250" b="1" i="0">
                <a:solidFill>
                  <a:srgbClr val="FFFFFF"/>
                </a:solidFill>
                <a:latin typeface="Yu Gothic"/>
              </a:rPr>
              <a:t>CM</a:t>
            </a:r>
          </a:p>
        </p:txBody>
      </p:sp>
      <p:sp>
        <p:nvSpPr>
          <p:cNvPr id="26" name="Rectangle 25"/>
          <p:cNvSpPr/>
          <p:nvPr/>
        </p:nvSpPr>
        <p:spPr>
          <a:xfrm>
            <a:off x="9588059" y="2268000"/>
            <a:ext cx="2232000" cy="1332000"/>
          </a:xfrm>
          <a:prstGeom prst="rect">
            <a:avLst/>
          </a:prstGeom>
          <a:solidFill>
            <a:srgbClr val="EAE8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9660059" y="2376000"/>
            <a:ext cx="2088000" cy="1116000"/>
          </a:xfrm>
          <a:prstGeom prst="rect">
            <a:avLst/>
          </a:prstGeom>
          <a:noFill/>
        </p:spPr>
        <p:txBody>
          <a:bodyPr wrap="square" lIns="36000" rIns="36000" tIns="18000" bIns="18000" anchor="t">
            <a:spAutoFit/>
          </a:bodyPr>
          <a:lstStyle/>
          <a:p>
            <a:pPr algn="ctr">
              <a:lnSpc>
                <a:spcPct val="135000"/>
              </a:lnSpc>
            </a:pPr>
            <a:r>
              <a:rPr sz="1000" b="0" i="0">
                <a:solidFill>
                  <a:srgbClr val="323038"/>
                </a:solidFill>
                <a:latin typeface="Yu Gothic"/>
              </a:rPr>
              <a:t>全体のマネジメント</a:t>
            </a:r>
          </a:p>
          <a:p>
            <a:pPr algn="ctr">
              <a:lnSpc>
                <a:spcPct val="135000"/>
              </a:lnSpc>
            </a:pPr>
            <a:r>
              <a:rPr sz="1000" b="0" i="0">
                <a:solidFill>
                  <a:srgbClr val="323038"/>
                </a:solidFill>
                <a:latin typeface="Yu Gothic"/>
              </a:rPr>
              <a:t>意思をつなぎ、揺れを支える</a:t>
            </a:r>
          </a:p>
        </p:txBody>
      </p:sp>
      <p:sp>
        <p:nvSpPr>
          <p:cNvPr id="28" name="Rectangle 27"/>
          <p:cNvSpPr/>
          <p:nvPr/>
        </p:nvSpPr>
        <p:spPr>
          <a:xfrm>
            <a:off x="432000" y="3780000"/>
            <a:ext cx="11304000" cy="360000"/>
          </a:xfrm>
          <a:prstGeom prst="rect">
            <a:avLst/>
          </a:prstGeom>
          <a:solidFill>
            <a:srgbClr val="423A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504000" y="3816000"/>
            <a:ext cx="11160000" cy="288000"/>
          </a:xfrm>
          <a:prstGeom prst="rect">
            <a:avLst/>
          </a:prstGeom>
          <a:noFill/>
        </p:spPr>
        <p:txBody>
          <a:bodyPr wrap="square" lIns="36000" rIns="36000" tIns="18000" bIns="18000" anchor="ctr">
            <a:spAutoFit/>
          </a:bodyPr>
          <a:lstStyle/>
          <a:p>
            <a:pPr algn="l"/>
            <a:r>
              <a:rPr sz="1400" b="1" i="0">
                <a:solidFill>
                  <a:srgbClr val="FFFFFF"/>
                </a:solidFill>
                <a:latin typeface="Yu Gothic"/>
              </a:rPr>
              <a:t>連携を機能させるために</a:t>
            </a:r>
          </a:p>
        </p:txBody>
      </p:sp>
      <p:sp>
        <p:nvSpPr>
          <p:cNvPr id="30" name="Rectangle 29"/>
          <p:cNvSpPr/>
          <p:nvPr/>
        </p:nvSpPr>
        <p:spPr>
          <a:xfrm>
            <a:off x="432000" y="4140000"/>
            <a:ext cx="11304000" cy="1980000"/>
          </a:xfrm>
          <a:prstGeom prst="rect">
            <a:avLst/>
          </a:prstGeom>
          <a:solidFill>
            <a:srgbClr val="EAE8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540000" y="4176000"/>
            <a:ext cx="11088000" cy="1944000"/>
          </a:xfrm>
          <a:prstGeom prst="rect">
            <a:avLst/>
          </a:prstGeom>
          <a:noFill/>
        </p:spPr>
        <p:txBody>
          <a:bodyPr wrap="square" lIns="36000" rIns="36000" tIns="18000" bIns="18000" anchor="t">
            <a:spAutoFit/>
          </a:bodyPr>
          <a:lstStyle/>
          <a:p>
            <a:pPr algn="l"/>
            <a:r>
              <a:rPr sz="1300" b="0" i="0">
                <a:solidFill>
                  <a:srgbClr val="323038"/>
                </a:solidFill>
                <a:latin typeface="Yu Gothic"/>
              </a:rPr>
              <a:t>■ 平時から「顔の見える関係」を ― 看取り期になって初めて連絡、では間に合わない</a:t>
            </a:r>
          </a:p>
          <a:p>
            <a:pPr algn="l"/>
            <a:r>
              <a:rPr sz="1300" b="0" i="0">
                <a:solidFill>
                  <a:srgbClr val="323038"/>
                </a:solidFill>
                <a:latin typeface="Yu Gothic"/>
              </a:rPr>
              <a:t/>
            </a:r>
          </a:p>
          <a:p>
            <a:pPr algn="l"/>
            <a:r>
              <a:rPr sz="1300" b="0" i="0">
                <a:solidFill>
                  <a:srgbClr val="323038"/>
                </a:solidFill>
                <a:latin typeface="Yu Gothic"/>
              </a:rPr>
              <a:t>■ 情報共有の手段を決めておく(電話・FAX・ICT・連絡ノート等)― 急変時に迷わないように</a:t>
            </a:r>
          </a:p>
          <a:p>
            <a:pPr algn="l"/>
            <a:r>
              <a:rPr sz="1300" b="0" i="0">
                <a:solidFill>
                  <a:srgbClr val="323038"/>
                </a:solidFill>
                <a:latin typeface="Yu Gothic"/>
              </a:rPr>
              <a:t/>
            </a:r>
          </a:p>
          <a:p>
            <a:pPr algn="l"/>
            <a:r>
              <a:rPr sz="1300" b="0" i="0">
                <a:solidFill>
                  <a:srgbClr val="323038"/>
                </a:solidFill>
                <a:latin typeface="Yu Gothic"/>
              </a:rPr>
              <a:t>■ 「誰が・何を担うか」「急変時に誰に連絡するか」を、文書で明確にして共有する</a:t>
            </a:r>
          </a:p>
          <a:p>
            <a:pPr algn="l"/>
            <a:r>
              <a:rPr sz="1300" b="0" i="0">
                <a:solidFill>
                  <a:srgbClr val="323038"/>
                </a:solidFill>
                <a:latin typeface="Yu Gothic"/>
              </a:rPr>
              <a:t/>
            </a:r>
          </a:p>
          <a:p>
            <a:pPr algn="l"/>
            <a:r>
              <a:rPr sz="1300" b="0" i="0">
                <a:solidFill>
                  <a:srgbClr val="323038"/>
                </a:solidFill>
                <a:latin typeface="Yu Gothic"/>
              </a:rPr>
              <a:t>■ 状態は急変する ― 小さな変化も「些細かも」と思わず、チームで共有する</a:t>
            </a:r>
          </a:p>
          <a:p>
            <a:pPr algn="l"/>
            <a:r>
              <a:rPr sz="1300" b="0" i="0">
                <a:solidFill>
                  <a:srgbClr val="323038"/>
                </a:solidFill>
                <a:latin typeface="Yu Gothic"/>
              </a:rPr>
              <a:t/>
            </a:r>
          </a:p>
          <a:p>
            <a:pPr algn="l"/>
            <a:r>
              <a:rPr sz="1300" b="0" i="0">
                <a:solidFill>
                  <a:srgbClr val="323038"/>
                </a:solidFill>
                <a:latin typeface="Yu Gothic"/>
              </a:rPr>
              <a:t>■ CMは指示する立場ではなく「つなぐ」立場 ― 各職種の専門性を尊重し、対等に連携する</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119" cy="576000"/>
          </a:xfrm>
          <a:prstGeom prst="rect">
            <a:avLst/>
          </a:prstGeom>
          <a:solidFill>
            <a:srgbClr val="423A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88000" y="90000"/>
            <a:ext cx="7920000" cy="216000"/>
          </a:xfrm>
          <a:prstGeom prst="rect">
            <a:avLst/>
          </a:prstGeom>
          <a:noFill/>
        </p:spPr>
        <p:txBody>
          <a:bodyPr wrap="square" lIns="36000" rIns="36000" tIns="18000" bIns="18000" anchor="t">
            <a:spAutoFit/>
          </a:bodyPr>
          <a:lstStyle/>
          <a:p>
            <a:pPr algn="l"/>
            <a:r>
              <a:rPr sz="1100" b="1" i="0">
                <a:solidFill>
                  <a:srgbClr val="FFFFFF"/>
                </a:solidFill>
                <a:latin typeface="Yu Gothic"/>
              </a:rPr>
              <a:t>5. 合意形成</a:t>
            </a:r>
          </a:p>
        </p:txBody>
      </p:sp>
      <p:sp>
        <p:nvSpPr>
          <p:cNvPr id="4" name="TextBox 3"/>
          <p:cNvSpPr txBox="1"/>
          <p:nvPr/>
        </p:nvSpPr>
        <p:spPr>
          <a:xfrm>
            <a:off x="288000" y="684000"/>
            <a:ext cx="11616119" cy="468000"/>
          </a:xfrm>
          <a:prstGeom prst="rect">
            <a:avLst/>
          </a:prstGeom>
          <a:noFill/>
        </p:spPr>
        <p:txBody>
          <a:bodyPr wrap="square" lIns="36000" rIns="36000" tIns="18000" bIns="18000" anchor="t">
            <a:spAutoFit/>
          </a:bodyPr>
          <a:lstStyle/>
          <a:p>
            <a:pPr algn="l"/>
            <a:r>
              <a:rPr sz="2300" b="1" i="0">
                <a:solidFill>
                  <a:srgbClr val="423A5E"/>
                </a:solidFill>
                <a:latin typeface="Yu Gothic"/>
              </a:rPr>
              <a:t>サービス担当者会議・カンファレンスを合意の場に</a:t>
            </a:r>
          </a:p>
        </p:txBody>
      </p:sp>
      <p:sp>
        <p:nvSpPr>
          <p:cNvPr id="5" name="Rectangle 4"/>
          <p:cNvSpPr/>
          <p:nvPr/>
        </p:nvSpPr>
        <p:spPr>
          <a:xfrm>
            <a:off x="288000" y="1152000"/>
            <a:ext cx="900000" cy="43200"/>
          </a:xfrm>
          <a:prstGeom prst="rect">
            <a:avLst/>
          </a:prstGeom>
          <a:solidFill>
            <a:srgbClr val="C48C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288000" y="6570000"/>
            <a:ext cx="9360000" cy="180000"/>
          </a:xfrm>
          <a:prstGeom prst="rect">
            <a:avLst/>
          </a:prstGeom>
          <a:noFill/>
        </p:spPr>
        <p:txBody>
          <a:bodyPr wrap="square" lIns="36000" rIns="36000" tIns="18000" bIns="18000" anchor="t">
            <a:spAutoFit/>
          </a:bodyPr>
          <a:lstStyle/>
          <a:p>
            <a:pPr algn="l"/>
            <a:r>
              <a:rPr sz="900" b="0" i="0">
                <a:solidFill>
                  <a:srgbClr val="8C83A6"/>
                </a:solidFill>
                <a:latin typeface="Yu Gothic"/>
              </a:rPr>
              <a:t>主任CM研修 / 看取り期のケアマネジメントとACPの支援技術  ※算定要件は最新の告示・通知をご確認ください</a:t>
            </a:r>
          </a:p>
        </p:txBody>
      </p:sp>
      <p:sp>
        <p:nvSpPr>
          <p:cNvPr id="7" name="TextBox 6"/>
          <p:cNvSpPr txBox="1"/>
          <p:nvPr/>
        </p:nvSpPr>
        <p:spPr>
          <a:xfrm>
            <a:off x="11112119" y="6570000"/>
            <a:ext cx="792000" cy="180000"/>
          </a:xfrm>
          <a:prstGeom prst="rect">
            <a:avLst/>
          </a:prstGeom>
          <a:noFill/>
        </p:spPr>
        <p:txBody>
          <a:bodyPr wrap="square" lIns="36000" rIns="36000" tIns="18000" bIns="18000" anchor="t">
            <a:spAutoFit/>
          </a:bodyPr>
          <a:lstStyle/>
          <a:p>
            <a:pPr algn="r"/>
            <a:r>
              <a:rPr sz="900" b="0" i="0">
                <a:solidFill>
                  <a:srgbClr val="8C83A6"/>
                </a:solidFill>
                <a:latin typeface="Yu Gothic"/>
              </a:rPr>
              <a:t>25 / 33</a:t>
            </a:r>
          </a:p>
        </p:txBody>
      </p:sp>
      <p:sp>
        <p:nvSpPr>
          <p:cNvPr id="8" name="Rectangle 7"/>
          <p:cNvSpPr/>
          <p:nvPr/>
        </p:nvSpPr>
        <p:spPr>
          <a:xfrm>
            <a:off x="432000" y="1548000"/>
            <a:ext cx="11304000" cy="360000"/>
          </a:xfrm>
          <a:prstGeom prst="rect">
            <a:avLst/>
          </a:prstGeom>
          <a:solidFill>
            <a:srgbClr val="423A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04000" y="1584000"/>
            <a:ext cx="11160000" cy="288000"/>
          </a:xfrm>
          <a:prstGeom prst="rect">
            <a:avLst/>
          </a:prstGeom>
          <a:noFill/>
        </p:spPr>
        <p:txBody>
          <a:bodyPr wrap="square" lIns="36000" rIns="36000" tIns="18000" bIns="18000" anchor="ctr">
            <a:spAutoFit/>
          </a:bodyPr>
          <a:lstStyle/>
          <a:p>
            <a:pPr algn="l"/>
            <a:r>
              <a:rPr sz="1400" b="1" i="0">
                <a:solidFill>
                  <a:srgbClr val="FFFFFF"/>
                </a:solidFill>
                <a:latin typeface="Yu Gothic"/>
              </a:rPr>
              <a:t>「場」をつくることが合意形成の鍵</a:t>
            </a:r>
          </a:p>
        </p:txBody>
      </p:sp>
      <p:sp>
        <p:nvSpPr>
          <p:cNvPr id="10" name="Rectangle 9"/>
          <p:cNvSpPr/>
          <p:nvPr/>
        </p:nvSpPr>
        <p:spPr>
          <a:xfrm>
            <a:off x="432000" y="1908000"/>
            <a:ext cx="11304000" cy="467999"/>
          </a:xfrm>
          <a:prstGeom prst="rect">
            <a:avLst/>
          </a:prstGeom>
          <a:solidFill>
            <a:srgbClr val="EAE8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40000" y="1944000"/>
            <a:ext cx="11088000" cy="431999"/>
          </a:xfrm>
          <a:prstGeom prst="rect">
            <a:avLst/>
          </a:prstGeom>
          <a:noFill/>
        </p:spPr>
        <p:txBody>
          <a:bodyPr wrap="square" lIns="36000" rIns="36000" tIns="18000" bIns="18000" anchor="t">
            <a:spAutoFit/>
          </a:bodyPr>
          <a:lstStyle/>
          <a:p>
            <a:pPr algn="l"/>
            <a:r>
              <a:rPr sz="1200" b="0" i="0">
                <a:solidFill>
                  <a:srgbClr val="323038"/>
                </a:solidFill>
                <a:latin typeface="Yu Gothic"/>
              </a:rPr>
              <a:t>本人・家族・多職種が同じ情報を共有し、一緒に方針を確認する「場」をつくる。</a:t>
            </a:r>
          </a:p>
          <a:p>
            <a:pPr algn="l"/>
            <a:r>
              <a:rPr sz="1200" b="0" i="0">
                <a:solidFill>
                  <a:srgbClr val="323038"/>
                </a:solidFill>
                <a:latin typeface="Yu Gothic"/>
              </a:rPr>
              <a:t>CMは、その場のファシリテーター(第4弾の技術がここで生きる)。</a:t>
            </a:r>
          </a:p>
        </p:txBody>
      </p:sp>
      <p:sp>
        <p:nvSpPr>
          <p:cNvPr id="12" name="Rectangle 11"/>
          <p:cNvSpPr/>
          <p:nvPr/>
        </p:nvSpPr>
        <p:spPr>
          <a:xfrm>
            <a:off x="432000" y="2628000"/>
            <a:ext cx="5580000" cy="360000"/>
          </a:xfrm>
          <a:prstGeom prst="rect">
            <a:avLst/>
          </a:prstGeom>
          <a:solidFill>
            <a:srgbClr val="6057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04000" y="2664000"/>
            <a:ext cx="5436000" cy="288000"/>
          </a:xfrm>
          <a:prstGeom prst="rect">
            <a:avLst/>
          </a:prstGeom>
          <a:noFill/>
        </p:spPr>
        <p:txBody>
          <a:bodyPr wrap="square" lIns="36000" rIns="36000" tIns="18000" bIns="18000" anchor="ctr">
            <a:spAutoFit/>
          </a:bodyPr>
          <a:lstStyle/>
          <a:p>
            <a:pPr algn="l"/>
            <a:r>
              <a:rPr sz="1400" b="1" i="0">
                <a:solidFill>
                  <a:srgbClr val="FFFFFF"/>
                </a:solidFill>
                <a:latin typeface="Yu Gothic"/>
              </a:rPr>
              <a:t>会議で確認したいこと</a:t>
            </a:r>
          </a:p>
        </p:txBody>
      </p:sp>
      <p:sp>
        <p:nvSpPr>
          <p:cNvPr id="14" name="Rectangle 13"/>
          <p:cNvSpPr/>
          <p:nvPr/>
        </p:nvSpPr>
        <p:spPr>
          <a:xfrm>
            <a:off x="432000" y="2988000"/>
            <a:ext cx="5580000" cy="1620000"/>
          </a:xfrm>
          <a:prstGeom prst="rect">
            <a:avLst/>
          </a:prstGeom>
          <a:solidFill>
            <a:srgbClr val="EAE8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40000" y="3024000"/>
            <a:ext cx="5364000" cy="1584000"/>
          </a:xfrm>
          <a:prstGeom prst="rect">
            <a:avLst/>
          </a:prstGeom>
          <a:noFill/>
        </p:spPr>
        <p:txBody>
          <a:bodyPr wrap="square" lIns="36000" rIns="36000" tIns="18000" bIns="18000" anchor="t">
            <a:spAutoFit/>
          </a:bodyPr>
          <a:lstStyle/>
          <a:p>
            <a:pPr algn="l"/>
            <a:r>
              <a:rPr sz="1200" b="0" i="0">
                <a:solidFill>
                  <a:srgbClr val="323038"/>
                </a:solidFill>
                <a:latin typeface="Yu Gothic"/>
              </a:rPr>
              <a:t>■ 本人の意思・希望(最優先で)</a:t>
            </a:r>
          </a:p>
          <a:p>
            <a:pPr algn="l"/>
            <a:r>
              <a:rPr sz="1200" b="0" i="0">
                <a:solidFill>
                  <a:srgbClr val="323038"/>
                </a:solidFill>
                <a:latin typeface="Yu Gothic"/>
              </a:rPr>
              <a:t/>
            </a:r>
          </a:p>
          <a:p>
            <a:pPr algn="l"/>
            <a:r>
              <a:rPr sz="1200" b="0" i="0">
                <a:solidFill>
                  <a:srgbClr val="323038"/>
                </a:solidFill>
                <a:latin typeface="Yu Gothic"/>
              </a:rPr>
              <a:t>■ 病状の見通しの共有</a:t>
            </a:r>
          </a:p>
          <a:p>
            <a:pPr algn="l"/>
            <a:r>
              <a:rPr sz="1200" b="0" i="0">
                <a:solidFill>
                  <a:srgbClr val="323038"/>
                </a:solidFill>
                <a:latin typeface="Yu Gothic"/>
              </a:rPr>
              <a:t/>
            </a:r>
          </a:p>
          <a:p>
            <a:pPr algn="l"/>
            <a:r>
              <a:rPr sz="1200" b="0" i="0">
                <a:solidFill>
                  <a:srgbClr val="323038"/>
                </a:solidFill>
                <a:latin typeface="Yu Gothic"/>
              </a:rPr>
              <a:t>■ 療養場所・看取りの方針</a:t>
            </a:r>
          </a:p>
          <a:p>
            <a:pPr algn="l"/>
            <a:r>
              <a:rPr sz="1200" b="0" i="0">
                <a:solidFill>
                  <a:srgbClr val="323038"/>
                </a:solidFill>
                <a:latin typeface="Yu Gothic"/>
              </a:rPr>
              <a:t/>
            </a:r>
          </a:p>
          <a:p>
            <a:pPr algn="l"/>
            <a:r>
              <a:rPr sz="1200" b="0" i="0">
                <a:solidFill>
                  <a:srgbClr val="323038"/>
                </a:solidFill>
                <a:latin typeface="Yu Gothic"/>
              </a:rPr>
              <a:t>■ 急変時の対応(救急搬送の是非)</a:t>
            </a:r>
          </a:p>
          <a:p>
            <a:pPr algn="l"/>
            <a:r>
              <a:rPr sz="1200" b="0" i="0">
                <a:solidFill>
                  <a:srgbClr val="323038"/>
                </a:solidFill>
                <a:latin typeface="Yu Gothic"/>
              </a:rPr>
              <a:t/>
            </a:r>
          </a:p>
          <a:p>
            <a:pPr algn="l"/>
            <a:r>
              <a:rPr sz="1200" b="0" i="0">
                <a:solidFill>
                  <a:srgbClr val="323038"/>
                </a:solidFill>
                <a:latin typeface="Yu Gothic"/>
              </a:rPr>
              <a:t>■ 各職種の役割分担・連絡体制</a:t>
            </a:r>
          </a:p>
        </p:txBody>
      </p:sp>
      <p:sp>
        <p:nvSpPr>
          <p:cNvPr id="16" name="Rectangle 15"/>
          <p:cNvSpPr/>
          <p:nvPr/>
        </p:nvSpPr>
        <p:spPr>
          <a:xfrm>
            <a:off x="6300000" y="2628000"/>
            <a:ext cx="5400000" cy="360000"/>
          </a:xfrm>
          <a:prstGeom prst="rect">
            <a:avLst/>
          </a:prstGeom>
          <a:solidFill>
            <a:srgbClr val="527C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372000" y="2664000"/>
            <a:ext cx="5256000" cy="288000"/>
          </a:xfrm>
          <a:prstGeom prst="rect">
            <a:avLst/>
          </a:prstGeom>
          <a:noFill/>
        </p:spPr>
        <p:txBody>
          <a:bodyPr wrap="square" lIns="36000" rIns="36000" tIns="18000" bIns="18000" anchor="ctr">
            <a:spAutoFit/>
          </a:bodyPr>
          <a:lstStyle/>
          <a:p>
            <a:pPr algn="l"/>
            <a:r>
              <a:rPr sz="1400" b="1" i="0">
                <a:solidFill>
                  <a:srgbClr val="FFFFFF"/>
                </a:solidFill>
                <a:latin typeface="Yu Gothic"/>
              </a:rPr>
              <a:t>ファシリテーターとしてのCM</a:t>
            </a:r>
          </a:p>
        </p:txBody>
      </p:sp>
      <p:sp>
        <p:nvSpPr>
          <p:cNvPr id="18" name="Rectangle 17"/>
          <p:cNvSpPr/>
          <p:nvPr/>
        </p:nvSpPr>
        <p:spPr>
          <a:xfrm>
            <a:off x="6300000" y="2988000"/>
            <a:ext cx="5400000" cy="1620000"/>
          </a:xfrm>
          <a:prstGeom prst="rect">
            <a:avLst/>
          </a:prstGeom>
          <a:solidFill>
            <a:srgbClr val="E5EC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8000" y="3024000"/>
            <a:ext cx="5184000" cy="1584000"/>
          </a:xfrm>
          <a:prstGeom prst="rect">
            <a:avLst/>
          </a:prstGeom>
          <a:noFill/>
        </p:spPr>
        <p:txBody>
          <a:bodyPr wrap="square" lIns="36000" rIns="36000" tIns="18000" bIns="18000" anchor="t">
            <a:spAutoFit/>
          </a:bodyPr>
          <a:lstStyle/>
          <a:p>
            <a:pPr algn="l"/>
            <a:r>
              <a:rPr sz="1200" b="0" i="0">
                <a:solidFill>
                  <a:srgbClr val="323038"/>
                </a:solidFill>
                <a:latin typeface="Yu Gothic"/>
              </a:rPr>
              <a:t>■ 本人・家族が安心して話せる雰囲気を</a:t>
            </a:r>
          </a:p>
          <a:p>
            <a:pPr algn="l"/>
            <a:r>
              <a:rPr sz="1200" b="0" i="0">
                <a:solidFill>
                  <a:srgbClr val="323038"/>
                </a:solidFill>
                <a:latin typeface="Yu Gothic"/>
              </a:rPr>
              <a:t/>
            </a:r>
          </a:p>
          <a:p>
            <a:pPr algn="l"/>
            <a:r>
              <a:rPr sz="1200" b="0" i="0">
                <a:solidFill>
                  <a:srgbClr val="323038"/>
                </a:solidFill>
                <a:latin typeface="Yu Gothic"/>
              </a:rPr>
              <a:t>■ 専門用語をかみくだき、理解を揃える</a:t>
            </a:r>
          </a:p>
          <a:p>
            <a:pPr algn="l"/>
            <a:r>
              <a:rPr sz="1200" b="0" i="0">
                <a:solidFill>
                  <a:srgbClr val="323038"/>
                </a:solidFill>
                <a:latin typeface="Yu Gothic"/>
              </a:rPr>
              <a:t/>
            </a:r>
          </a:p>
          <a:p>
            <a:pPr algn="l"/>
            <a:r>
              <a:rPr sz="1200" b="0" i="0">
                <a:solidFill>
                  <a:srgbClr val="323038"/>
                </a:solidFill>
                <a:latin typeface="Yu Gothic"/>
              </a:rPr>
              <a:t>■ 立場の弱い声(本人・家族)を引き出す</a:t>
            </a:r>
          </a:p>
          <a:p>
            <a:pPr algn="l"/>
            <a:r>
              <a:rPr sz="1200" b="0" i="0">
                <a:solidFill>
                  <a:srgbClr val="323038"/>
                </a:solidFill>
                <a:latin typeface="Yu Gothic"/>
              </a:rPr>
              <a:t/>
            </a:r>
          </a:p>
          <a:p>
            <a:pPr algn="l"/>
            <a:r>
              <a:rPr sz="1200" b="0" i="0">
                <a:solidFill>
                  <a:srgbClr val="323038"/>
                </a:solidFill>
                <a:latin typeface="Yu Gothic"/>
              </a:rPr>
              <a:t>■ 「決まったこと」「保留」を明確にする</a:t>
            </a:r>
          </a:p>
          <a:p>
            <a:pPr algn="l"/>
            <a:r>
              <a:rPr sz="1200" b="0" i="0">
                <a:solidFill>
                  <a:srgbClr val="323038"/>
                </a:solidFill>
                <a:latin typeface="Yu Gothic"/>
              </a:rPr>
              <a:t/>
            </a:r>
          </a:p>
          <a:p>
            <a:pPr algn="l"/>
            <a:r>
              <a:rPr sz="1200" b="0" i="0">
                <a:solidFill>
                  <a:srgbClr val="323038"/>
                </a:solidFill>
                <a:latin typeface="Yu Gothic"/>
              </a:rPr>
              <a:t>■ 方針は変えてよいと、必ず添える</a:t>
            </a:r>
          </a:p>
        </p:txBody>
      </p:sp>
      <p:sp>
        <p:nvSpPr>
          <p:cNvPr id="20" name="Rectangle 19"/>
          <p:cNvSpPr/>
          <p:nvPr/>
        </p:nvSpPr>
        <p:spPr>
          <a:xfrm>
            <a:off x="432000" y="4788000"/>
            <a:ext cx="11304000" cy="360000"/>
          </a:xfrm>
          <a:prstGeom prst="rect">
            <a:avLst/>
          </a:prstGeom>
          <a:solidFill>
            <a:srgbClr val="C48C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04000" y="4824000"/>
            <a:ext cx="11160000" cy="288000"/>
          </a:xfrm>
          <a:prstGeom prst="rect">
            <a:avLst/>
          </a:prstGeom>
          <a:noFill/>
        </p:spPr>
        <p:txBody>
          <a:bodyPr wrap="square" lIns="36000" rIns="36000" tIns="18000" bIns="18000" anchor="ctr">
            <a:spAutoFit/>
          </a:bodyPr>
          <a:lstStyle/>
          <a:p>
            <a:pPr algn="l"/>
            <a:r>
              <a:rPr sz="1400" b="1" i="0">
                <a:solidFill>
                  <a:srgbClr val="FFFFFF"/>
                </a:solidFill>
                <a:latin typeface="Yu Gothic"/>
              </a:rPr>
              <a:t>急変時・救急搬送をめぐる合意</a:t>
            </a:r>
          </a:p>
        </p:txBody>
      </p:sp>
      <p:sp>
        <p:nvSpPr>
          <p:cNvPr id="22" name="Rectangle 21"/>
          <p:cNvSpPr/>
          <p:nvPr/>
        </p:nvSpPr>
        <p:spPr>
          <a:xfrm>
            <a:off x="432000" y="5148000"/>
            <a:ext cx="11304000" cy="972000"/>
          </a:xfrm>
          <a:prstGeom prst="rect">
            <a:avLst/>
          </a:prstGeom>
          <a:solidFill>
            <a:srgbClr val="F9F0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40000" y="5184000"/>
            <a:ext cx="11088000" cy="936000"/>
          </a:xfrm>
          <a:prstGeom prst="rect">
            <a:avLst/>
          </a:prstGeom>
          <a:noFill/>
        </p:spPr>
        <p:txBody>
          <a:bodyPr wrap="square" lIns="36000" rIns="36000" tIns="18000" bIns="18000" anchor="t">
            <a:spAutoFit/>
          </a:bodyPr>
          <a:lstStyle/>
          <a:p>
            <a:pPr algn="l"/>
            <a:r>
              <a:rPr sz="1200" b="0" i="0">
                <a:solidFill>
                  <a:srgbClr val="323038"/>
                </a:solidFill>
                <a:latin typeface="Yu Gothic"/>
              </a:rPr>
              <a:t>■ 「急に容体が変わったとき、どうするか」を、落ち着いているうちに話し合っておく</a:t>
            </a:r>
          </a:p>
          <a:p>
            <a:pPr algn="l"/>
            <a:r>
              <a:rPr sz="1200" b="0" i="0">
                <a:solidFill>
                  <a:srgbClr val="323038"/>
                </a:solidFill>
                <a:latin typeface="Yu Gothic"/>
              </a:rPr>
              <a:t>■ 在宅看取りの方針でも、いざという時に家族が動揺し救急車を呼ぶことは自然に起こる</a:t>
            </a:r>
          </a:p>
          <a:p>
            <a:pPr algn="l"/>
            <a:r>
              <a:rPr sz="1200" b="0" i="0">
                <a:solidFill>
                  <a:srgbClr val="323038"/>
                </a:solidFill>
                <a:latin typeface="Yu Gothic"/>
              </a:rPr>
              <a:t>■ 「呼んでもよい」と保証しつつ、本人の意思・連絡先・対応を関係者・救急隊にも伝わる形で共有</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119" cy="6858000"/>
          </a:xfrm>
          <a:prstGeom prst="rect">
            <a:avLst/>
          </a:prstGeom>
          <a:solidFill>
            <a:srgbClr val="423A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3060000"/>
            <a:ext cx="12192119" cy="36000"/>
          </a:xfrm>
          <a:prstGeom prst="rect">
            <a:avLst/>
          </a:prstGeom>
          <a:solidFill>
            <a:srgbClr val="C48C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20000" y="2340000"/>
            <a:ext cx="10752119" cy="540000"/>
          </a:xfrm>
          <a:prstGeom prst="rect">
            <a:avLst/>
          </a:prstGeom>
          <a:noFill/>
        </p:spPr>
        <p:txBody>
          <a:bodyPr wrap="square" lIns="36000" rIns="36000" tIns="18000" bIns="18000" anchor="t">
            <a:spAutoFit/>
          </a:bodyPr>
          <a:lstStyle/>
          <a:p>
            <a:pPr algn="ctr"/>
            <a:r>
              <a:rPr sz="2200" b="1" i="0">
                <a:solidFill>
                  <a:srgbClr val="C48C3A"/>
                </a:solidFill>
                <a:latin typeface="Yu Gothic"/>
              </a:rPr>
              <a:t>PART 6</a:t>
            </a:r>
          </a:p>
        </p:txBody>
      </p:sp>
      <p:sp>
        <p:nvSpPr>
          <p:cNvPr id="5" name="TextBox 4"/>
          <p:cNvSpPr txBox="1"/>
          <p:nvPr/>
        </p:nvSpPr>
        <p:spPr>
          <a:xfrm>
            <a:off x="360000" y="3420000"/>
            <a:ext cx="11472119" cy="720000"/>
          </a:xfrm>
          <a:prstGeom prst="rect">
            <a:avLst/>
          </a:prstGeom>
          <a:noFill/>
        </p:spPr>
        <p:txBody>
          <a:bodyPr wrap="square" lIns="36000" rIns="36000" tIns="18000" bIns="18000" anchor="t">
            <a:spAutoFit/>
          </a:bodyPr>
          <a:lstStyle/>
          <a:p>
            <a:pPr algn="ctr"/>
            <a:r>
              <a:rPr sz="3300" b="1" i="0">
                <a:solidFill>
                  <a:srgbClr val="FFFFFF"/>
                </a:solidFill>
                <a:latin typeface="Yu Gothic"/>
              </a:rPr>
              <a:t>看取り後の支援 ・ まとめ</a:t>
            </a:r>
          </a:p>
        </p:txBody>
      </p:sp>
      <p:sp>
        <p:nvSpPr>
          <p:cNvPr id="6" name="TextBox 5"/>
          <p:cNvSpPr txBox="1"/>
          <p:nvPr/>
        </p:nvSpPr>
        <p:spPr>
          <a:xfrm>
            <a:off x="360000" y="4680000"/>
            <a:ext cx="11472119" cy="360000"/>
          </a:xfrm>
          <a:prstGeom prst="rect">
            <a:avLst/>
          </a:prstGeom>
          <a:noFill/>
        </p:spPr>
        <p:txBody>
          <a:bodyPr wrap="square" lIns="36000" rIns="36000" tIns="18000" bIns="18000" anchor="t">
            <a:spAutoFit/>
          </a:bodyPr>
          <a:lstStyle/>
          <a:p>
            <a:pPr algn="ctr"/>
            <a:r>
              <a:rPr sz="1400" b="0" i="0">
                <a:solidFill>
                  <a:srgbClr val="D7D4DE"/>
                </a:solidFill>
                <a:latin typeface="Yu Gothic"/>
              </a:rPr>
              <a:t>After the Passing &amp; Wrap Up</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119" cy="576000"/>
          </a:xfrm>
          <a:prstGeom prst="rect">
            <a:avLst/>
          </a:prstGeom>
          <a:solidFill>
            <a:srgbClr val="423A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88000" y="90000"/>
            <a:ext cx="7920000" cy="216000"/>
          </a:xfrm>
          <a:prstGeom prst="rect">
            <a:avLst/>
          </a:prstGeom>
          <a:noFill/>
        </p:spPr>
        <p:txBody>
          <a:bodyPr wrap="square" lIns="36000" rIns="36000" tIns="18000" bIns="18000" anchor="t">
            <a:spAutoFit/>
          </a:bodyPr>
          <a:lstStyle/>
          <a:p>
            <a:pPr algn="l"/>
            <a:r>
              <a:rPr sz="1100" b="1" i="0">
                <a:solidFill>
                  <a:srgbClr val="FFFFFF"/>
                </a:solidFill>
                <a:latin typeface="Yu Gothic"/>
              </a:rPr>
              <a:t>6. 看取り後の支援</a:t>
            </a:r>
          </a:p>
        </p:txBody>
      </p:sp>
      <p:sp>
        <p:nvSpPr>
          <p:cNvPr id="4" name="TextBox 3"/>
          <p:cNvSpPr txBox="1"/>
          <p:nvPr/>
        </p:nvSpPr>
        <p:spPr>
          <a:xfrm>
            <a:off x="288000" y="684000"/>
            <a:ext cx="11616119" cy="468000"/>
          </a:xfrm>
          <a:prstGeom prst="rect">
            <a:avLst/>
          </a:prstGeom>
          <a:noFill/>
        </p:spPr>
        <p:txBody>
          <a:bodyPr wrap="square" lIns="36000" rIns="36000" tIns="18000" bIns="18000" anchor="t">
            <a:spAutoFit/>
          </a:bodyPr>
          <a:lstStyle/>
          <a:p>
            <a:pPr algn="l"/>
            <a:r>
              <a:rPr sz="2300" b="1" i="0">
                <a:solidFill>
                  <a:srgbClr val="423A5E"/>
                </a:solidFill>
                <a:latin typeface="Yu Gothic"/>
              </a:rPr>
              <a:t>看取り後の支援 ― グリーフケア</a:t>
            </a:r>
          </a:p>
        </p:txBody>
      </p:sp>
      <p:sp>
        <p:nvSpPr>
          <p:cNvPr id="5" name="Rectangle 4"/>
          <p:cNvSpPr/>
          <p:nvPr/>
        </p:nvSpPr>
        <p:spPr>
          <a:xfrm>
            <a:off x="288000" y="1152000"/>
            <a:ext cx="900000" cy="43200"/>
          </a:xfrm>
          <a:prstGeom prst="rect">
            <a:avLst/>
          </a:prstGeom>
          <a:solidFill>
            <a:srgbClr val="C48C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288000" y="6570000"/>
            <a:ext cx="9360000" cy="180000"/>
          </a:xfrm>
          <a:prstGeom prst="rect">
            <a:avLst/>
          </a:prstGeom>
          <a:noFill/>
        </p:spPr>
        <p:txBody>
          <a:bodyPr wrap="square" lIns="36000" rIns="36000" tIns="18000" bIns="18000" anchor="t">
            <a:spAutoFit/>
          </a:bodyPr>
          <a:lstStyle/>
          <a:p>
            <a:pPr algn="l"/>
            <a:r>
              <a:rPr sz="900" b="0" i="0">
                <a:solidFill>
                  <a:srgbClr val="8C83A6"/>
                </a:solidFill>
                <a:latin typeface="Yu Gothic"/>
              </a:rPr>
              <a:t>主任CM研修 / 看取り期のケアマネジメントとACPの支援技術  ※算定要件は最新の告示・通知をご確認ください</a:t>
            </a:r>
          </a:p>
        </p:txBody>
      </p:sp>
      <p:sp>
        <p:nvSpPr>
          <p:cNvPr id="7" name="TextBox 6"/>
          <p:cNvSpPr txBox="1"/>
          <p:nvPr/>
        </p:nvSpPr>
        <p:spPr>
          <a:xfrm>
            <a:off x="11112119" y="6570000"/>
            <a:ext cx="792000" cy="180000"/>
          </a:xfrm>
          <a:prstGeom prst="rect">
            <a:avLst/>
          </a:prstGeom>
          <a:noFill/>
        </p:spPr>
        <p:txBody>
          <a:bodyPr wrap="square" lIns="36000" rIns="36000" tIns="18000" bIns="18000" anchor="t">
            <a:spAutoFit/>
          </a:bodyPr>
          <a:lstStyle/>
          <a:p>
            <a:pPr algn="r"/>
            <a:r>
              <a:rPr sz="900" b="0" i="0">
                <a:solidFill>
                  <a:srgbClr val="8C83A6"/>
                </a:solidFill>
                <a:latin typeface="Yu Gothic"/>
              </a:rPr>
              <a:t>27 / 33</a:t>
            </a:r>
          </a:p>
        </p:txBody>
      </p:sp>
      <p:sp>
        <p:nvSpPr>
          <p:cNvPr id="8" name="Rectangle 7"/>
          <p:cNvSpPr/>
          <p:nvPr/>
        </p:nvSpPr>
        <p:spPr>
          <a:xfrm>
            <a:off x="432000" y="1548000"/>
            <a:ext cx="11304000" cy="360000"/>
          </a:xfrm>
          <a:prstGeom prst="rect">
            <a:avLst/>
          </a:prstGeom>
          <a:solidFill>
            <a:srgbClr val="423A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04000" y="1584000"/>
            <a:ext cx="11160000" cy="288000"/>
          </a:xfrm>
          <a:prstGeom prst="rect">
            <a:avLst/>
          </a:prstGeom>
          <a:noFill/>
        </p:spPr>
        <p:txBody>
          <a:bodyPr wrap="square" lIns="36000" rIns="36000" tIns="18000" bIns="18000" anchor="ctr">
            <a:spAutoFit/>
          </a:bodyPr>
          <a:lstStyle/>
          <a:p>
            <a:pPr algn="l"/>
            <a:r>
              <a:rPr sz="1400" b="1" i="0">
                <a:solidFill>
                  <a:srgbClr val="FFFFFF"/>
                </a:solidFill>
                <a:latin typeface="Yu Gothic"/>
              </a:rPr>
              <a:t>看取りは「死亡」で終わらない</a:t>
            </a:r>
          </a:p>
        </p:txBody>
      </p:sp>
      <p:sp>
        <p:nvSpPr>
          <p:cNvPr id="10" name="Rectangle 9"/>
          <p:cNvSpPr/>
          <p:nvPr/>
        </p:nvSpPr>
        <p:spPr>
          <a:xfrm>
            <a:off x="432000" y="1908000"/>
            <a:ext cx="11304000" cy="612000"/>
          </a:xfrm>
          <a:prstGeom prst="rect">
            <a:avLst/>
          </a:prstGeom>
          <a:solidFill>
            <a:srgbClr val="EAE8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40000" y="1944000"/>
            <a:ext cx="11088000" cy="576000"/>
          </a:xfrm>
          <a:prstGeom prst="rect">
            <a:avLst/>
          </a:prstGeom>
          <a:noFill/>
        </p:spPr>
        <p:txBody>
          <a:bodyPr wrap="square" lIns="36000" rIns="36000" tIns="18000" bIns="18000" anchor="t">
            <a:spAutoFit/>
          </a:bodyPr>
          <a:lstStyle/>
          <a:p>
            <a:pPr algn="l"/>
            <a:r>
              <a:rPr sz="1200" b="0" i="0">
                <a:solidFill>
                  <a:srgbClr val="323038"/>
                </a:solidFill>
                <a:latin typeface="Yu Gothic"/>
              </a:rPr>
              <a:t>大切な人を亡くした家族の悲嘆(グリーフ)に寄り添うことも、看取り支援の一部。</a:t>
            </a:r>
          </a:p>
          <a:p>
            <a:pPr algn="l"/>
            <a:r>
              <a:rPr sz="1200" b="0" i="0">
                <a:solidFill>
                  <a:srgbClr val="323038"/>
                </a:solidFill>
                <a:latin typeface="Yu Gothic"/>
              </a:rPr>
              <a:t>ターミナルケアマネジメント加算でも、死亡日を含めた対応が想定されている。</a:t>
            </a:r>
          </a:p>
        </p:txBody>
      </p:sp>
      <p:sp>
        <p:nvSpPr>
          <p:cNvPr id="12" name="Rectangle 11"/>
          <p:cNvSpPr/>
          <p:nvPr/>
        </p:nvSpPr>
        <p:spPr>
          <a:xfrm>
            <a:off x="432000" y="2628000"/>
            <a:ext cx="5580000" cy="360000"/>
          </a:xfrm>
          <a:prstGeom prst="rect">
            <a:avLst/>
          </a:prstGeom>
          <a:solidFill>
            <a:srgbClr val="A85C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04000" y="2664000"/>
            <a:ext cx="5436000" cy="288000"/>
          </a:xfrm>
          <a:prstGeom prst="rect">
            <a:avLst/>
          </a:prstGeom>
          <a:noFill/>
        </p:spPr>
        <p:txBody>
          <a:bodyPr wrap="square" lIns="36000" rIns="36000" tIns="18000" bIns="18000" anchor="ctr">
            <a:spAutoFit/>
          </a:bodyPr>
          <a:lstStyle/>
          <a:p>
            <a:pPr algn="l"/>
            <a:r>
              <a:rPr sz="1400" b="1" i="0">
                <a:solidFill>
                  <a:srgbClr val="FFFFFF"/>
                </a:solidFill>
                <a:latin typeface="Yu Gothic"/>
              </a:rPr>
              <a:t>遺族(家族)への関わり</a:t>
            </a:r>
          </a:p>
        </p:txBody>
      </p:sp>
      <p:sp>
        <p:nvSpPr>
          <p:cNvPr id="14" name="Rectangle 13"/>
          <p:cNvSpPr/>
          <p:nvPr/>
        </p:nvSpPr>
        <p:spPr>
          <a:xfrm>
            <a:off x="432000" y="2988000"/>
            <a:ext cx="5580000" cy="1620000"/>
          </a:xfrm>
          <a:prstGeom prst="rect">
            <a:avLst/>
          </a:prstGeom>
          <a:solidFill>
            <a:srgbClr val="F6E8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40000" y="3024000"/>
            <a:ext cx="5364000" cy="1584000"/>
          </a:xfrm>
          <a:prstGeom prst="rect">
            <a:avLst/>
          </a:prstGeom>
          <a:noFill/>
        </p:spPr>
        <p:txBody>
          <a:bodyPr wrap="square" lIns="36000" rIns="36000" tIns="18000" bIns="18000" anchor="t">
            <a:spAutoFit/>
          </a:bodyPr>
          <a:lstStyle/>
          <a:p>
            <a:pPr algn="l"/>
            <a:r>
              <a:rPr sz="1200" b="0" i="0">
                <a:solidFill>
                  <a:srgbClr val="323038"/>
                </a:solidFill>
                <a:latin typeface="Yu Gothic"/>
              </a:rPr>
              <a:t>■ ねぎらいの言葉をかける</a:t>
            </a:r>
          </a:p>
          <a:p>
            <a:pPr algn="l"/>
            <a:r>
              <a:rPr sz="1200" b="0" i="0">
                <a:solidFill>
                  <a:srgbClr val="323038"/>
                </a:solidFill>
                <a:latin typeface="Yu Gothic"/>
              </a:rPr>
              <a:t>   「よく支えてこられましたね」</a:t>
            </a:r>
          </a:p>
          <a:p>
            <a:pPr algn="l"/>
            <a:r>
              <a:rPr sz="1200" b="0" i="0">
                <a:solidFill>
                  <a:srgbClr val="323038"/>
                </a:solidFill>
                <a:latin typeface="Yu Gothic"/>
              </a:rPr>
              <a:t/>
            </a:r>
          </a:p>
          <a:p>
            <a:pPr algn="l"/>
            <a:r>
              <a:rPr sz="1200" b="0" i="0">
                <a:solidFill>
                  <a:srgbClr val="323038"/>
                </a:solidFill>
                <a:latin typeface="Yu Gothic"/>
              </a:rPr>
              <a:t>■ 悲しみを否定せず、そのまま受けとめる</a:t>
            </a:r>
          </a:p>
          <a:p>
            <a:pPr algn="l"/>
            <a:r>
              <a:rPr sz="1200" b="0" i="0">
                <a:solidFill>
                  <a:srgbClr val="323038"/>
                </a:solidFill>
                <a:latin typeface="Yu Gothic"/>
              </a:rPr>
              <a:t/>
            </a:r>
          </a:p>
          <a:p>
            <a:pPr algn="l"/>
            <a:r>
              <a:rPr sz="1200" b="0" i="0">
                <a:solidFill>
                  <a:srgbClr val="323038"/>
                </a:solidFill>
                <a:latin typeface="Yu Gothic"/>
              </a:rPr>
              <a:t>■ 自責感(「もっとできたのでは」)に</a:t>
            </a:r>
          </a:p>
          <a:p>
            <a:pPr algn="l"/>
            <a:r>
              <a:rPr sz="1200" b="0" i="0">
                <a:solidFill>
                  <a:srgbClr val="323038"/>
                </a:solidFill>
                <a:latin typeface="Yu Gothic"/>
              </a:rPr>
              <a:t>   寄り添う</a:t>
            </a:r>
          </a:p>
          <a:p>
            <a:pPr algn="l"/>
            <a:r>
              <a:rPr sz="1200" b="0" i="0">
                <a:solidFill>
                  <a:srgbClr val="323038"/>
                </a:solidFill>
                <a:latin typeface="Yu Gothic"/>
              </a:rPr>
              <a:t/>
            </a:r>
          </a:p>
          <a:p>
            <a:pPr algn="l"/>
            <a:r>
              <a:rPr sz="1200" b="0" i="0">
                <a:solidFill>
                  <a:srgbClr val="323038"/>
                </a:solidFill>
                <a:latin typeface="Yu Gothic"/>
              </a:rPr>
              <a:t>■ 必要に応じ、専門的な支援につなぐ</a:t>
            </a:r>
          </a:p>
        </p:txBody>
      </p:sp>
      <p:sp>
        <p:nvSpPr>
          <p:cNvPr id="16" name="Rectangle 15"/>
          <p:cNvSpPr/>
          <p:nvPr/>
        </p:nvSpPr>
        <p:spPr>
          <a:xfrm>
            <a:off x="6300000" y="2628000"/>
            <a:ext cx="5400000" cy="360000"/>
          </a:xfrm>
          <a:prstGeom prst="rect">
            <a:avLst/>
          </a:prstGeom>
          <a:solidFill>
            <a:srgbClr val="2E6B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372000" y="2664000"/>
            <a:ext cx="5256000" cy="288000"/>
          </a:xfrm>
          <a:prstGeom prst="rect">
            <a:avLst/>
          </a:prstGeom>
          <a:noFill/>
        </p:spPr>
        <p:txBody>
          <a:bodyPr wrap="square" lIns="36000" rIns="36000" tIns="18000" bIns="18000" anchor="ctr">
            <a:spAutoFit/>
          </a:bodyPr>
          <a:lstStyle/>
          <a:p>
            <a:pPr algn="l"/>
            <a:r>
              <a:rPr sz="1400" b="1" i="0">
                <a:solidFill>
                  <a:srgbClr val="FFFFFF"/>
                </a:solidFill>
                <a:latin typeface="Yu Gothic"/>
              </a:rPr>
              <a:t>デスカンファレンス(振り返り)</a:t>
            </a:r>
          </a:p>
        </p:txBody>
      </p:sp>
      <p:sp>
        <p:nvSpPr>
          <p:cNvPr id="18" name="Rectangle 17"/>
          <p:cNvSpPr/>
          <p:nvPr/>
        </p:nvSpPr>
        <p:spPr>
          <a:xfrm>
            <a:off x="6300000" y="2988000"/>
            <a:ext cx="5400000" cy="1620000"/>
          </a:xfrm>
          <a:prstGeom prst="rect">
            <a:avLst/>
          </a:prstGeom>
          <a:solidFill>
            <a:srgbClr val="DFEA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8000" y="3024000"/>
            <a:ext cx="5184000" cy="1584000"/>
          </a:xfrm>
          <a:prstGeom prst="rect">
            <a:avLst/>
          </a:prstGeom>
          <a:noFill/>
        </p:spPr>
        <p:txBody>
          <a:bodyPr wrap="square" lIns="36000" rIns="36000" tIns="18000" bIns="18000" anchor="t">
            <a:spAutoFit/>
          </a:bodyPr>
          <a:lstStyle/>
          <a:p>
            <a:pPr algn="l"/>
            <a:r>
              <a:rPr sz="1200" b="0" i="0">
                <a:solidFill>
                  <a:srgbClr val="323038"/>
                </a:solidFill>
                <a:latin typeface="Yu Gothic"/>
              </a:rPr>
              <a:t>■ 関わった多職種で看取りを振り返る</a:t>
            </a:r>
          </a:p>
          <a:p>
            <a:pPr algn="l"/>
            <a:r>
              <a:rPr sz="1200" b="0" i="0">
                <a:solidFill>
                  <a:srgbClr val="323038"/>
                </a:solidFill>
                <a:latin typeface="Yu Gothic"/>
              </a:rPr>
              <a:t/>
            </a:r>
          </a:p>
          <a:p>
            <a:pPr algn="l"/>
            <a:r>
              <a:rPr sz="1200" b="0" i="0">
                <a:solidFill>
                  <a:srgbClr val="323038"/>
                </a:solidFill>
                <a:latin typeface="Yu Gothic"/>
              </a:rPr>
              <a:t>■ 「何がよかったか」「何ができたか」</a:t>
            </a:r>
          </a:p>
          <a:p>
            <a:pPr algn="l"/>
            <a:r>
              <a:rPr sz="1200" b="0" i="0">
                <a:solidFill>
                  <a:srgbClr val="323038"/>
                </a:solidFill>
                <a:latin typeface="Yu Gothic"/>
              </a:rPr>
              <a:t>   を中心に</a:t>
            </a:r>
          </a:p>
          <a:p>
            <a:pPr algn="l"/>
            <a:r>
              <a:rPr sz="1200" b="0" i="0">
                <a:solidFill>
                  <a:srgbClr val="323038"/>
                </a:solidFill>
                <a:latin typeface="Yu Gothic"/>
              </a:rPr>
              <a:t/>
            </a:r>
          </a:p>
          <a:p>
            <a:pPr algn="l"/>
            <a:r>
              <a:rPr sz="1200" b="0" i="0">
                <a:solidFill>
                  <a:srgbClr val="323038"/>
                </a:solidFill>
                <a:latin typeface="Yu Gothic"/>
              </a:rPr>
              <a:t>■ 反省点も、次への学びとして共有</a:t>
            </a:r>
          </a:p>
          <a:p>
            <a:pPr algn="l"/>
            <a:r>
              <a:rPr sz="1200" b="0" i="0">
                <a:solidFill>
                  <a:srgbClr val="323038"/>
                </a:solidFill>
                <a:latin typeface="Yu Gothic"/>
              </a:rPr>
              <a:t/>
            </a:r>
          </a:p>
          <a:p>
            <a:pPr algn="l"/>
            <a:r>
              <a:rPr sz="1200" b="0" i="0">
                <a:solidFill>
                  <a:srgbClr val="323038"/>
                </a:solidFill>
                <a:latin typeface="Yu Gothic"/>
              </a:rPr>
              <a:t>■ 関わった職員の気持ちもケアする場に</a:t>
            </a:r>
          </a:p>
        </p:txBody>
      </p:sp>
      <p:sp>
        <p:nvSpPr>
          <p:cNvPr id="20" name="TextBox 19"/>
          <p:cNvSpPr txBox="1"/>
          <p:nvPr/>
        </p:nvSpPr>
        <p:spPr>
          <a:xfrm>
            <a:off x="432000" y="4788000"/>
            <a:ext cx="11328119" cy="432000"/>
          </a:xfrm>
          <a:prstGeom prst="rect">
            <a:avLst/>
          </a:prstGeom>
          <a:noFill/>
        </p:spPr>
        <p:txBody>
          <a:bodyPr wrap="square" lIns="36000" rIns="36000" tIns="18000" bIns="18000" anchor="t">
            <a:spAutoFit/>
          </a:bodyPr>
          <a:lstStyle/>
          <a:p>
            <a:pPr algn="l"/>
            <a:r>
              <a:rPr sz="1300" b="1" i="0">
                <a:solidFill>
                  <a:srgbClr val="423A5E"/>
                </a:solidFill>
                <a:latin typeface="Yu Gothic"/>
              </a:rPr>
              <a:t>▶ 振り返りは「評価・反省会」ではなく、チームが次の看取りに向かうための学びと癒やしの場。</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119" cy="576000"/>
          </a:xfrm>
          <a:prstGeom prst="rect">
            <a:avLst/>
          </a:prstGeom>
          <a:solidFill>
            <a:srgbClr val="423A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88000" y="90000"/>
            <a:ext cx="7920000" cy="216000"/>
          </a:xfrm>
          <a:prstGeom prst="rect">
            <a:avLst/>
          </a:prstGeom>
          <a:noFill/>
        </p:spPr>
        <p:txBody>
          <a:bodyPr wrap="square" lIns="36000" rIns="36000" tIns="18000" bIns="18000" anchor="t">
            <a:spAutoFit/>
          </a:bodyPr>
          <a:lstStyle/>
          <a:p>
            <a:pPr algn="l"/>
            <a:r>
              <a:rPr sz="1100" b="1" i="0">
                <a:solidFill>
                  <a:srgbClr val="FFFFFF"/>
                </a:solidFill>
                <a:latin typeface="Yu Gothic"/>
              </a:rPr>
              <a:t>6. 看取り後の支援</a:t>
            </a:r>
          </a:p>
        </p:txBody>
      </p:sp>
      <p:sp>
        <p:nvSpPr>
          <p:cNvPr id="4" name="TextBox 3"/>
          <p:cNvSpPr txBox="1"/>
          <p:nvPr/>
        </p:nvSpPr>
        <p:spPr>
          <a:xfrm>
            <a:off x="288000" y="684000"/>
            <a:ext cx="11616119" cy="468000"/>
          </a:xfrm>
          <a:prstGeom prst="rect">
            <a:avLst/>
          </a:prstGeom>
          <a:noFill/>
        </p:spPr>
        <p:txBody>
          <a:bodyPr wrap="square" lIns="36000" rIns="36000" tIns="18000" bIns="18000" anchor="t">
            <a:spAutoFit/>
          </a:bodyPr>
          <a:lstStyle/>
          <a:p>
            <a:pPr algn="l"/>
            <a:r>
              <a:rPr sz="2300" b="1" i="0">
                <a:solidFill>
                  <a:srgbClr val="423A5E"/>
                </a:solidFill>
                <a:latin typeface="Yu Gothic"/>
              </a:rPr>
              <a:t>支える人を支える ― CM自身のケア</a:t>
            </a:r>
          </a:p>
        </p:txBody>
      </p:sp>
      <p:sp>
        <p:nvSpPr>
          <p:cNvPr id="5" name="Rectangle 4"/>
          <p:cNvSpPr/>
          <p:nvPr/>
        </p:nvSpPr>
        <p:spPr>
          <a:xfrm>
            <a:off x="288000" y="1152000"/>
            <a:ext cx="900000" cy="43200"/>
          </a:xfrm>
          <a:prstGeom prst="rect">
            <a:avLst/>
          </a:prstGeom>
          <a:solidFill>
            <a:srgbClr val="C48C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288000" y="6570000"/>
            <a:ext cx="9360000" cy="180000"/>
          </a:xfrm>
          <a:prstGeom prst="rect">
            <a:avLst/>
          </a:prstGeom>
          <a:noFill/>
        </p:spPr>
        <p:txBody>
          <a:bodyPr wrap="square" lIns="36000" rIns="36000" tIns="18000" bIns="18000" anchor="t">
            <a:spAutoFit/>
          </a:bodyPr>
          <a:lstStyle/>
          <a:p>
            <a:pPr algn="l"/>
            <a:r>
              <a:rPr sz="900" b="0" i="0">
                <a:solidFill>
                  <a:srgbClr val="8C83A6"/>
                </a:solidFill>
                <a:latin typeface="Yu Gothic"/>
              </a:rPr>
              <a:t>主任CM研修 / 看取り期のケアマネジメントとACPの支援技術  ※算定要件は最新の告示・通知をご確認ください</a:t>
            </a:r>
          </a:p>
        </p:txBody>
      </p:sp>
      <p:sp>
        <p:nvSpPr>
          <p:cNvPr id="7" name="TextBox 6"/>
          <p:cNvSpPr txBox="1"/>
          <p:nvPr/>
        </p:nvSpPr>
        <p:spPr>
          <a:xfrm>
            <a:off x="11112119" y="6570000"/>
            <a:ext cx="792000" cy="180000"/>
          </a:xfrm>
          <a:prstGeom prst="rect">
            <a:avLst/>
          </a:prstGeom>
          <a:noFill/>
        </p:spPr>
        <p:txBody>
          <a:bodyPr wrap="square" lIns="36000" rIns="36000" tIns="18000" bIns="18000" anchor="t">
            <a:spAutoFit/>
          </a:bodyPr>
          <a:lstStyle/>
          <a:p>
            <a:pPr algn="r"/>
            <a:r>
              <a:rPr sz="900" b="0" i="0">
                <a:solidFill>
                  <a:srgbClr val="8C83A6"/>
                </a:solidFill>
                <a:latin typeface="Yu Gothic"/>
              </a:rPr>
              <a:t>28 / 33</a:t>
            </a:r>
          </a:p>
        </p:txBody>
      </p:sp>
      <p:sp>
        <p:nvSpPr>
          <p:cNvPr id="8" name="Rectangle 7"/>
          <p:cNvSpPr/>
          <p:nvPr/>
        </p:nvSpPr>
        <p:spPr>
          <a:xfrm>
            <a:off x="432000" y="1548000"/>
            <a:ext cx="11304000" cy="360000"/>
          </a:xfrm>
          <a:prstGeom prst="rect">
            <a:avLst/>
          </a:prstGeom>
          <a:solidFill>
            <a:srgbClr val="423A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04000" y="1584000"/>
            <a:ext cx="11160000" cy="288000"/>
          </a:xfrm>
          <a:prstGeom prst="rect">
            <a:avLst/>
          </a:prstGeom>
          <a:noFill/>
        </p:spPr>
        <p:txBody>
          <a:bodyPr wrap="square" lIns="36000" rIns="36000" tIns="18000" bIns="18000" anchor="ctr">
            <a:spAutoFit/>
          </a:bodyPr>
          <a:lstStyle/>
          <a:p>
            <a:pPr algn="l"/>
            <a:r>
              <a:rPr sz="1400" b="1" i="0">
                <a:solidFill>
                  <a:srgbClr val="FFFFFF"/>
                </a:solidFill>
                <a:latin typeface="Yu Gothic"/>
              </a:rPr>
              <a:t>看取りは、CM自身の心も揺さぶる</a:t>
            </a:r>
          </a:p>
        </p:txBody>
      </p:sp>
      <p:sp>
        <p:nvSpPr>
          <p:cNvPr id="10" name="Rectangle 9"/>
          <p:cNvSpPr/>
          <p:nvPr/>
        </p:nvSpPr>
        <p:spPr>
          <a:xfrm>
            <a:off x="432000" y="1908000"/>
            <a:ext cx="11304000" cy="612000"/>
          </a:xfrm>
          <a:prstGeom prst="rect">
            <a:avLst/>
          </a:prstGeom>
          <a:solidFill>
            <a:srgbClr val="EAE8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40000" y="1944000"/>
            <a:ext cx="11088000" cy="576000"/>
          </a:xfrm>
          <a:prstGeom prst="rect">
            <a:avLst/>
          </a:prstGeom>
          <a:noFill/>
        </p:spPr>
        <p:txBody>
          <a:bodyPr wrap="square" lIns="36000" rIns="36000" tIns="18000" bIns="18000" anchor="t">
            <a:spAutoFit/>
          </a:bodyPr>
          <a:lstStyle/>
          <a:p>
            <a:pPr algn="l"/>
            <a:r>
              <a:rPr sz="1200" b="0" i="0">
                <a:solidFill>
                  <a:srgbClr val="323038"/>
                </a:solidFill>
                <a:latin typeface="Yu Gothic"/>
              </a:rPr>
              <a:t>看取りに関わるCMもまた、悲しみ・無力感・自責の念を抱える。</a:t>
            </a:r>
          </a:p>
          <a:p>
            <a:pPr algn="l"/>
            <a:r>
              <a:rPr sz="1200" b="0" i="0">
                <a:solidFill>
                  <a:srgbClr val="323038"/>
                </a:solidFill>
                <a:latin typeface="Yu Gothic"/>
              </a:rPr>
              <a:t>「支える人」自身がケアされなければ、支援を続けることはできない。</a:t>
            </a:r>
          </a:p>
        </p:txBody>
      </p:sp>
      <p:sp>
        <p:nvSpPr>
          <p:cNvPr id="12" name="Rectangle 11"/>
          <p:cNvSpPr/>
          <p:nvPr/>
        </p:nvSpPr>
        <p:spPr>
          <a:xfrm>
            <a:off x="432000" y="2628000"/>
            <a:ext cx="5580000" cy="360000"/>
          </a:xfrm>
          <a:prstGeom prst="rect">
            <a:avLst/>
          </a:prstGeom>
          <a:solidFill>
            <a:srgbClr val="B044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04000" y="2664000"/>
            <a:ext cx="5436000" cy="288000"/>
          </a:xfrm>
          <a:prstGeom prst="rect">
            <a:avLst/>
          </a:prstGeom>
          <a:noFill/>
        </p:spPr>
        <p:txBody>
          <a:bodyPr wrap="square" lIns="36000" rIns="36000" tIns="18000" bIns="18000" anchor="ctr">
            <a:spAutoFit/>
          </a:bodyPr>
          <a:lstStyle/>
          <a:p>
            <a:pPr algn="l"/>
            <a:r>
              <a:rPr sz="1400" b="1" i="0">
                <a:solidFill>
                  <a:srgbClr val="FFFFFF"/>
                </a:solidFill>
                <a:latin typeface="Yu Gothic"/>
              </a:rPr>
              <a:t>CMが抱えやすいもの</a:t>
            </a:r>
          </a:p>
        </p:txBody>
      </p:sp>
      <p:sp>
        <p:nvSpPr>
          <p:cNvPr id="14" name="Rectangle 13"/>
          <p:cNvSpPr/>
          <p:nvPr/>
        </p:nvSpPr>
        <p:spPr>
          <a:xfrm>
            <a:off x="432000" y="2988000"/>
            <a:ext cx="5580000" cy="1620000"/>
          </a:xfrm>
          <a:prstGeom prst="rect">
            <a:avLst/>
          </a:prstGeom>
          <a:solidFill>
            <a:srgbClr val="F7E6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40000" y="3024000"/>
            <a:ext cx="5364000" cy="1584000"/>
          </a:xfrm>
          <a:prstGeom prst="rect">
            <a:avLst/>
          </a:prstGeom>
          <a:noFill/>
        </p:spPr>
        <p:txBody>
          <a:bodyPr wrap="square" lIns="36000" rIns="36000" tIns="18000" bIns="18000" anchor="t">
            <a:spAutoFit/>
          </a:bodyPr>
          <a:lstStyle/>
          <a:p>
            <a:pPr algn="l"/>
            <a:r>
              <a:rPr sz="1200" b="0" i="0">
                <a:solidFill>
                  <a:srgbClr val="323038"/>
                </a:solidFill>
                <a:latin typeface="Yu Gothic"/>
              </a:rPr>
              <a:t>■ 「もっとできたのでは」という自責</a:t>
            </a:r>
          </a:p>
          <a:p>
            <a:pPr algn="l"/>
            <a:r>
              <a:rPr sz="1200" b="0" i="0">
                <a:solidFill>
                  <a:srgbClr val="323038"/>
                </a:solidFill>
                <a:latin typeface="Yu Gothic"/>
              </a:rPr>
              <a:t/>
            </a:r>
          </a:p>
          <a:p>
            <a:pPr algn="l"/>
            <a:r>
              <a:rPr sz="1200" b="0" i="0">
                <a:solidFill>
                  <a:srgbClr val="323038"/>
                </a:solidFill>
                <a:latin typeface="Yu Gothic"/>
              </a:rPr>
              <a:t>■ 無力感・喪失感</a:t>
            </a:r>
          </a:p>
          <a:p>
            <a:pPr algn="l"/>
            <a:r>
              <a:rPr sz="1200" b="0" i="0">
                <a:solidFill>
                  <a:srgbClr val="323038"/>
                </a:solidFill>
                <a:latin typeface="Yu Gothic"/>
              </a:rPr>
              <a:t/>
            </a:r>
          </a:p>
          <a:p>
            <a:pPr algn="l"/>
            <a:r>
              <a:rPr sz="1200" b="0" i="0">
                <a:solidFill>
                  <a:srgbClr val="323038"/>
                </a:solidFill>
                <a:latin typeface="Yu Gothic"/>
              </a:rPr>
              <a:t>■ 感情を出せずに溜め込む</a:t>
            </a:r>
          </a:p>
          <a:p>
            <a:pPr algn="l"/>
            <a:r>
              <a:rPr sz="1200" b="0" i="0">
                <a:solidFill>
                  <a:srgbClr val="323038"/>
                </a:solidFill>
                <a:latin typeface="Yu Gothic"/>
              </a:rPr>
              <a:t/>
            </a:r>
          </a:p>
          <a:p>
            <a:pPr algn="l"/>
            <a:r>
              <a:rPr sz="1200" b="0" i="0">
                <a:solidFill>
                  <a:srgbClr val="323038"/>
                </a:solidFill>
                <a:latin typeface="Yu Gothic"/>
              </a:rPr>
              <a:t>■ 看取りが続くときの消耗</a:t>
            </a:r>
          </a:p>
          <a:p>
            <a:pPr algn="l"/>
            <a:r>
              <a:rPr sz="1200" b="0" i="0">
                <a:solidFill>
                  <a:srgbClr val="323038"/>
                </a:solidFill>
                <a:latin typeface="Yu Gothic"/>
              </a:rPr>
              <a:t/>
            </a:r>
          </a:p>
          <a:p>
            <a:pPr algn="l"/>
            <a:r>
              <a:rPr sz="1200" b="0" i="0">
                <a:solidFill>
                  <a:srgbClr val="323038"/>
                </a:solidFill>
                <a:latin typeface="Yu Gothic"/>
              </a:rPr>
              <a:t>■ 「専門職だから平気」という思い込み</a:t>
            </a:r>
          </a:p>
        </p:txBody>
      </p:sp>
      <p:sp>
        <p:nvSpPr>
          <p:cNvPr id="16" name="Rectangle 15"/>
          <p:cNvSpPr/>
          <p:nvPr/>
        </p:nvSpPr>
        <p:spPr>
          <a:xfrm>
            <a:off x="6300000" y="2628000"/>
            <a:ext cx="5400000" cy="360000"/>
          </a:xfrm>
          <a:prstGeom prst="rect">
            <a:avLst/>
          </a:prstGeom>
          <a:solidFill>
            <a:srgbClr val="527C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372000" y="2664000"/>
            <a:ext cx="5256000" cy="288000"/>
          </a:xfrm>
          <a:prstGeom prst="rect">
            <a:avLst/>
          </a:prstGeom>
          <a:noFill/>
        </p:spPr>
        <p:txBody>
          <a:bodyPr wrap="square" lIns="36000" rIns="36000" tIns="18000" bIns="18000" anchor="ctr">
            <a:spAutoFit/>
          </a:bodyPr>
          <a:lstStyle/>
          <a:p>
            <a:pPr algn="l"/>
            <a:r>
              <a:rPr sz="1400" b="1" i="0">
                <a:solidFill>
                  <a:srgbClr val="FFFFFF"/>
                </a:solidFill>
                <a:latin typeface="Yu Gothic"/>
              </a:rPr>
              <a:t>主任CMができること</a:t>
            </a:r>
          </a:p>
        </p:txBody>
      </p:sp>
      <p:sp>
        <p:nvSpPr>
          <p:cNvPr id="18" name="Rectangle 17"/>
          <p:cNvSpPr/>
          <p:nvPr/>
        </p:nvSpPr>
        <p:spPr>
          <a:xfrm>
            <a:off x="6300000" y="2988000"/>
            <a:ext cx="5400000" cy="1620000"/>
          </a:xfrm>
          <a:prstGeom prst="rect">
            <a:avLst/>
          </a:prstGeom>
          <a:solidFill>
            <a:srgbClr val="E5EC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8000" y="3024000"/>
            <a:ext cx="5184000" cy="1584000"/>
          </a:xfrm>
          <a:prstGeom prst="rect">
            <a:avLst/>
          </a:prstGeom>
          <a:noFill/>
        </p:spPr>
        <p:txBody>
          <a:bodyPr wrap="square" lIns="36000" rIns="36000" tIns="18000" bIns="18000" anchor="t">
            <a:spAutoFit/>
          </a:bodyPr>
          <a:lstStyle/>
          <a:p>
            <a:pPr algn="l"/>
            <a:r>
              <a:rPr sz="1200" b="0" i="0">
                <a:solidFill>
                  <a:srgbClr val="323038"/>
                </a:solidFill>
                <a:latin typeface="Yu Gothic"/>
              </a:rPr>
              <a:t>■ 看取り後、担当CMの気持ちに目を向ける</a:t>
            </a:r>
          </a:p>
          <a:p>
            <a:pPr algn="l"/>
            <a:r>
              <a:rPr sz="1200" b="0" i="0">
                <a:solidFill>
                  <a:srgbClr val="323038"/>
                </a:solidFill>
                <a:latin typeface="Yu Gothic"/>
              </a:rPr>
              <a:t/>
            </a:r>
          </a:p>
          <a:p>
            <a:pPr algn="l"/>
            <a:r>
              <a:rPr sz="1200" b="0" i="0">
                <a:solidFill>
                  <a:srgbClr val="323038"/>
                </a:solidFill>
                <a:latin typeface="Yu Gothic"/>
              </a:rPr>
              <a:t>■ 振り返りの場で、感情を語れるようにする</a:t>
            </a:r>
          </a:p>
          <a:p>
            <a:pPr algn="l"/>
            <a:r>
              <a:rPr sz="1200" b="0" i="0">
                <a:solidFill>
                  <a:srgbClr val="323038"/>
                </a:solidFill>
                <a:latin typeface="Yu Gothic"/>
              </a:rPr>
              <a:t/>
            </a:r>
          </a:p>
          <a:p>
            <a:pPr algn="l"/>
            <a:r>
              <a:rPr sz="1200" b="0" i="0">
                <a:solidFill>
                  <a:srgbClr val="323038"/>
                </a:solidFill>
                <a:latin typeface="Yu Gothic"/>
              </a:rPr>
              <a:t>■ 「よく支えた」とねぎらう</a:t>
            </a:r>
          </a:p>
          <a:p>
            <a:pPr algn="l"/>
            <a:r>
              <a:rPr sz="1200" b="0" i="0">
                <a:solidFill>
                  <a:srgbClr val="323038"/>
                </a:solidFill>
                <a:latin typeface="Yu Gothic"/>
              </a:rPr>
              <a:t/>
            </a:r>
          </a:p>
          <a:p>
            <a:pPr algn="l"/>
            <a:r>
              <a:rPr sz="1200" b="0" i="0">
                <a:solidFill>
                  <a:srgbClr val="323038"/>
                </a:solidFill>
                <a:latin typeface="Yu Gothic"/>
              </a:rPr>
              <a:t>■ 一人に看取りが偏らないよう配慮</a:t>
            </a:r>
          </a:p>
          <a:p>
            <a:pPr algn="l"/>
            <a:r>
              <a:rPr sz="1200" b="0" i="0">
                <a:solidFill>
                  <a:srgbClr val="323038"/>
                </a:solidFill>
                <a:latin typeface="Yu Gothic"/>
              </a:rPr>
              <a:t/>
            </a:r>
          </a:p>
          <a:p>
            <a:pPr algn="l"/>
            <a:r>
              <a:rPr sz="1200" b="0" i="0">
                <a:solidFill>
                  <a:srgbClr val="323038"/>
                </a:solidFill>
                <a:latin typeface="Yu Gothic"/>
              </a:rPr>
              <a:t>■ 支持的スーパービジョン(第4弾)を活かす</a:t>
            </a:r>
          </a:p>
        </p:txBody>
      </p:sp>
      <p:sp>
        <p:nvSpPr>
          <p:cNvPr id="20" name="TextBox 19"/>
          <p:cNvSpPr txBox="1"/>
          <p:nvPr/>
        </p:nvSpPr>
        <p:spPr>
          <a:xfrm>
            <a:off x="432000" y="4788000"/>
            <a:ext cx="11328119" cy="432000"/>
          </a:xfrm>
          <a:prstGeom prst="rect">
            <a:avLst/>
          </a:prstGeom>
          <a:noFill/>
        </p:spPr>
        <p:txBody>
          <a:bodyPr wrap="square" lIns="36000" rIns="36000" tIns="18000" bIns="18000" anchor="t">
            <a:spAutoFit/>
          </a:bodyPr>
          <a:lstStyle/>
          <a:p>
            <a:pPr algn="l"/>
            <a:r>
              <a:rPr sz="1300" b="1" i="0">
                <a:solidFill>
                  <a:srgbClr val="423A5E"/>
                </a:solidFill>
                <a:latin typeface="Yu Gothic"/>
              </a:rPr>
              <a:t>▶ CM自身のケアは「甘え」ではない。支援を続けるための、専門職としての必要条件。</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119" cy="576000"/>
          </a:xfrm>
          <a:prstGeom prst="rect">
            <a:avLst/>
          </a:prstGeom>
          <a:solidFill>
            <a:srgbClr val="423A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88000" y="90000"/>
            <a:ext cx="7920000" cy="216000"/>
          </a:xfrm>
          <a:prstGeom prst="rect">
            <a:avLst/>
          </a:prstGeom>
          <a:noFill/>
        </p:spPr>
        <p:txBody>
          <a:bodyPr wrap="square" lIns="36000" rIns="36000" tIns="18000" bIns="18000" anchor="t">
            <a:spAutoFit/>
          </a:bodyPr>
          <a:lstStyle/>
          <a:p>
            <a:pPr algn="l"/>
            <a:r>
              <a:rPr sz="1100" b="1" i="0">
                <a:solidFill>
                  <a:srgbClr val="FFFFFF"/>
                </a:solidFill>
                <a:latin typeface="Yu Gothic"/>
              </a:rPr>
              <a:t>6. まとめ</a:t>
            </a:r>
          </a:p>
        </p:txBody>
      </p:sp>
      <p:sp>
        <p:nvSpPr>
          <p:cNvPr id="4" name="TextBox 3"/>
          <p:cNvSpPr txBox="1"/>
          <p:nvPr/>
        </p:nvSpPr>
        <p:spPr>
          <a:xfrm>
            <a:off x="288000" y="684000"/>
            <a:ext cx="11616119" cy="468000"/>
          </a:xfrm>
          <a:prstGeom prst="rect">
            <a:avLst/>
          </a:prstGeom>
          <a:noFill/>
        </p:spPr>
        <p:txBody>
          <a:bodyPr wrap="square" lIns="36000" rIns="36000" tIns="18000" bIns="18000" anchor="t">
            <a:spAutoFit/>
          </a:bodyPr>
          <a:lstStyle/>
          <a:p>
            <a:pPr algn="l"/>
            <a:r>
              <a:rPr sz="2300" b="1" i="0">
                <a:solidFill>
                  <a:srgbClr val="423A5E"/>
                </a:solidFill>
                <a:latin typeface="Yu Gothic"/>
              </a:rPr>
              <a:t>看取り支援における主任CMの役割</a:t>
            </a:r>
          </a:p>
        </p:txBody>
      </p:sp>
      <p:sp>
        <p:nvSpPr>
          <p:cNvPr id="5" name="Rectangle 4"/>
          <p:cNvSpPr/>
          <p:nvPr/>
        </p:nvSpPr>
        <p:spPr>
          <a:xfrm>
            <a:off x="288000" y="1152000"/>
            <a:ext cx="900000" cy="43200"/>
          </a:xfrm>
          <a:prstGeom prst="rect">
            <a:avLst/>
          </a:prstGeom>
          <a:solidFill>
            <a:srgbClr val="C48C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288000" y="6570000"/>
            <a:ext cx="9360000" cy="180000"/>
          </a:xfrm>
          <a:prstGeom prst="rect">
            <a:avLst/>
          </a:prstGeom>
          <a:noFill/>
        </p:spPr>
        <p:txBody>
          <a:bodyPr wrap="square" lIns="36000" rIns="36000" tIns="18000" bIns="18000" anchor="t">
            <a:spAutoFit/>
          </a:bodyPr>
          <a:lstStyle/>
          <a:p>
            <a:pPr algn="l"/>
            <a:r>
              <a:rPr sz="900" b="0" i="0">
                <a:solidFill>
                  <a:srgbClr val="8C83A6"/>
                </a:solidFill>
                <a:latin typeface="Yu Gothic"/>
              </a:rPr>
              <a:t>主任CM研修 / 看取り期のケアマネジメントとACPの支援技術  ※算定要件は最新の告示・通知をご確認ください</a:t>
            </a:r>
          </a:p>
        </p:txBody>
      </p:sp>
      <p:sp>
        <p:nvSpPr>
          <p:cNvPr id="7" name="TextBox 6"/>
          <p:cNvSpPr txBox="1"/>
          <p:nvPr/>
        </p:nvSpPr>
        <p:spPr>
          <a:xfrm>
            <a:off x="11112119" y="6570000"/>
            <a:ext cx="792000" cy="180000"/>
          </a:xfrm>
          <a:prstGeom prst="rect">
            <a:avLst/>
          </a:prstGeom>
          <a:noFill/>
        </p:spPr>
        <p:txBody>
          <a:bodyPr wrap="square" lIns="36000" rIns="36000" tIns="18000" bIns="18000" anchor="t">
            <a:spAutoFit/>
          </a:bodyPr>
          <a:lstStyle/>
          <a:p>
            <a:pPr algn="r"/>
            <a:r>
              <a:rPr sz="900" b="0" i="0">
                <a:solidFill>
                  <a:srgbClr val="8C83A6"/>
                </a:solidFill>
                <a:latin typeface="Yu Gothic"/>
              </a:rPr>
              <a:t>29 / 33</a:t>
            </a:r>
          </a:p>
        </p:txBody>
      </p:sp>
      <p:sp>
        <p:nvSpPr>
          <p:cNvPr id="8" name="Rectangle 7"/>
          <p:cNvSpPr/>
          <p:nvPr/>
        </p:nvSpPr>
        <p:spPr>
          <a:xfrm>
            <a:off x="432000" y="1620000"/>
            <a:ext cx="5580000" cy="360000"/>
          </a:xfrm>
          <a:prstGeom prst="rect">
            <a:avLst/>
          </a:prstGeom>
          <a:solidFill>
            <a:srgbClr val="6057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12000" y="1620000"/>
            <a:ext cx="5220000" cy="360000"/>
          </a:xfrm>
          <a:prstGeom prst="rect">
            <a:avLst/>
          </a:prstGeom>
          <a:noFill/>
        </p:spPr>
        <p:txBody>
          <a:bodyPr wrap="square" lIns="36000" rIns="36000" tIns="18000" bIns="18000" anchor="ctr">
            <a:spAutoFit/>
          </a:bodyPr>
          <a:lstStyle/>
          <a:p>
            <a:pPr algn="l"/>
            <a:r>
              <a:rPr sz="1500" b="1" i="0">
                <a:solidFill>
                  <a:srgbClr val="FFFFFF"/>
                </a:solidFill>
                <a:latin typeface="Yu Gothic"/>
              </a:rPr>
              <a:t>実践を伝える</a:t>
            </a:r>
          </a:p>
        </p:txBody>
      </p:sp>
      <p:sp>
        <p:nvSpPr>
          <p:cNvPr id="10" name="Rectangle 9"/>
          <p:cNvSpPr/>
          <p:nvPr/>
        </p:nvSpPr>
        <p:spPr>
          <a:xfrm>
            <a:off x="432000" y="1980000"/>
            <a:ext cx="5580000" cy="972000"/>
          </a:xfrm>
          <a:prstGeom prst="rect">
            <a:avLst/>
          </a:prstGeom>
          <a:solidFill>
            <a:srgbClr val="EAE8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12000" y="2052000"/>
            <a:ext cx="5220000" cy="828001"/>
          </a:xfrm>
          <a:prstGeom prst="rect">
            <a:avLst/>
          </a:prstGeom>
          <a:noFill/>
        </p:spPr>
        <p:txBody>
          <a:bodyPr wrap="square" lIns="36000" rIns="36000" tIns="18000" bIns="18000" anchor="t">
            <a:spAutoFit/>
          </a:bodyPr>
          <a:lstStyle/>
          <a:p>
            <a:pPr algn="l">
              <a:lnSpc>
                <a:spcPct val="140000"/>
              </a:lnSpc>
            </a:pPr>
            <a:r>
              <a:rPr sz="1200" b="0" i="0">
                <a:solidFill>
                  <a:srgbClr val="323038"/>
                </a:solidFill>
                <a:latin typeface="Yu Gothic"/>
              </a:rPr>
              <a:t>・ACPの対話、看取りの関わりを</a:t>
            </a:r>
          </a:p>
          <a:p>
            <a:pPr algn="l">
              <a:lnSpc>
                <a:spcPct val="140000"/>
              </a:lnSpc>
            </a:pPr>
            <a:r>
              <a:rPr sz="1200" b="0" i="0">
                <a:solidFill>
                  <a:srgbClr val="323038"/>
                </a:solidFill>
                <a:latin typeface="Yu Gothic"/>
              </a:rPr>
              <a:t>  同行・SVを通じて後輩に伝える</a:t>
            </a:r>
          </a:p>
          <a:p>
            <a:pPr algn="l">
              <a:lnSpc>
                <a:spcPct val="140000"/>
              </a:lnSpc>
            </a:pPr>
            <a:r>
              <a:rPr sz="1200" b="0" i="0">
                <a:solidFill>
                  <a:srgbClr val="323038"/>
                </a:solidFill>
                <a:latin typeface="Yu Gothic"/>
              </a:rPr>
              <a:t>・経験の浅いCMを一人にしない</a:t>
            </a:r>
          </a:p>
        </p:txBody>
      </p:sp>
      <p:sp>
        <p:nvSpPr>
          <p:cNvPr id="12" name="Rectangle 11"/>
          <p:cNvSpPr/>
          <p:nvPr/>
        </p:nvSpPr>
        <p:spPr>
          <a:xfrm>
            <a:off x="6156000" y="1620000"/>
            <a:ext cx="5580000" cy="360000"/>
          </a:xfrm>
          <a:prstGeom prst="rect">
            <a:avLst/>
          </a:prstGeom>
          <a:solidFill>
            <a:srgbClr val="2E6B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336000" y="1620000"/>
            <a:ext cx="5220000" cy="360000"/>
          </a:xfrm>
          <a:prstGeom prst="rect">
            <a:avLst/>
          </a:prstGeom>
          <a:noFill/>
        </p:spPr>
        <p:txBody>
          <a:bodyPr wrap="square" lIns="36000" rIns="36000" tIns="18000" bIns="18000" anchor="ctr">
            <a:spAutoFit/>
          </a:bodyPr>
          <a:lstStyle/>
          <a:p>
            <a:pPr algn="l"/>
            <a:r>
              <a:rPr sz="1500" b="1" i="0">
                <a:solidFill>
                  <a:srgbClr val="FFFFFF"/>
                </a:solidFill>
                <a:latin typeface="Yu Gothic"/>
              </a:rPr>
              <a:t>仕組みを整える</a:t>
            </a:r>
          </a:p>
        </p:txBody>
      </p:sp>
      <p:sp>
        <p:nvSpPr>
          <p:cNvPr id="14" name="Rectangle 13"/>
          <p:cNvSpPr/>
          <p:nvPr/>
        </p:nvSpPr>
        <p:spPr>
          <a:xfrm>
            <a:off x="6156000" y="1980000"/>
            <a:ext cx="5580000" cy="972000"/>
          </a:xfrm>
          <a:prstGeom prst="rect">
            <a:avLst/>
          </a:prstGeom>
          <a:solidFill>
            <a:srgbClr val="EAE8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336000" y="2052000"/>
            <a:ext cx="5220000" cy="828001"/>
          </a:xfrm>
          <a:prstGeom prst="rect">
            <a:avLst/>
          </a:prstGeom>
          <a:noFill/>
        </p:spPr>
        <p:txBody>
          <a:bodyPr wrap="square" lIns="36000" rIns="36000" tIns="18000" bIns="18000" anchor="t">
            <a:spAutoFit/>
          </a:bodyPr>
          <a:lstStyle/>
          <a:p>
            <a:pPr algn="l">
              <a:lnSpc>
                <a:spcPct val="140000"/>
              </a:lnSpc>
            </a:pPr>
            <a:r>
              <a:rPr sz="1200" b="0" i="0">
                <a:solidFill>
                  <a:srgbClr val="323038"/>
                </a:solidFill>
                <a:latin typeface="Yu Gothic"/>
              </a:rPr>
              <a:t>・加算の算定漏れ・記録不備を点検</a:t>
            </a:r>
          </a:p>
          <a:p>
            <a:pPr algn="l">
              <a:lnSpc>
                <a:spcPct val="140000"/>
              </a:lnSpc>
            </a:pPr>
            <a:r>
              <a:rPr sz="1200" b="0" i="0">
                <a:solidFill>
                  <a:srgbClr val="323038"/>
                </a:solidFill>
                <a:latin typeface="Yu Gothic"/>
              </a:rPr>
              <a:t>・多職種連携の体制を整える</a:t>
            </a:r>
          </a:p>
          <a:p>
            <a:pPr algn="l">
              <a:lnSpc>
                <a:spcPct val="140000"/>
              </a:lnSpc>
            </a:pPr>
            <a:r>
              <a:rPr sz="1200" b="0" i="0">
                <a:solidFill>
                  <a:srgbClr val="323038"/>
                </a:solidFill>
                <a:latin typeface="Yu Gothic"/>
              </a:rPr>
              <a:t>・看取り後の振り返りを定例化</a:t>
            </a:r>
          </a:p>
        </p:txBody>
      </p:sp>
      <p:sp>
        <p:nvSpPr>
          <p:cNvPr id="16" name="Rectangle 15"/>
          <p:cNvSpPr/>
          <p:nvPr/>
        </p:nvSpPr>
        <p:spPr>
          <a:xfrm>
            <a:off x="432000" y="3060000"/>
            <a:ext cx="5580000" cy="360000"/>
          </a:xfrm>
          <a:prstGeom prst="rect">
            <a:avLst/>
          </a:prstGeom>
          <a:solidFill>
            <a:srgbClr val="A85C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12000" y="3060000"/>
            <a:ext cx="5220000" cy="360000"/>
          </a:xfrm>
          <a:prstGeom prst="rect">
            <a:avLst/>
          </a:prstGeom>
          <a:noFill/>
        </p:spPr>
        <p:txBody>
          <a:bodyPr wrap="square" lIns="36000" rIns="36000" tIns="18000" bIns="18000" anchor="ctr">
            <a:spAutoFit/>
          </a:bodyPr>
          <a:lstStyle/>
          <a:p>
            <a:pPr algn="l"/>
            <a:r>
              <a:rPr sz="1500" b="1" i="0">
                <a:solidFill>
                  <a:srgbClr val="FFFFFF"/>
                </a:solidFill>
                <a:latin typeface="Yu Gothic"/>
              </a:rPr>
              <a:t>揺れを支える</a:t>
            </a:r>
          </a:p>
        </p:txBody>
      </p:sp>
      <p:sp>
        <p:nvSpPr>
          <p:cNvPr id="18" name="Rectangle 17"/>
          <p:cNvSpPr/>
          <p:nvPr/>
        </p:nvSpPr>
        <p:spPr>
          <a:xfrm>
            <a:off x="432000" y="3420000"/>
            <a:ext cx="5580000" cy="972000"/>
          </a:xfrm>
          <a:prstGeom prst="rect">
            <a:avLst/>
          </a:prstGeom>
          <a:solidFill>
            <a:srgbClr val="EAE8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12000" y="3492000"/>
            <a:ext cx="5220000" cy="828001"/>
          </a:xfrm>
          <a:prstGeom prst="rect">
            <a:avLst/>
          </a:prstGeom>
          <a:noFill/>
        </p:spPr>
        <p:txBody>
          <a:bodyPr wrap="square" lIns="36000" rIns="36000" tIns="18000" bIns="18000" anchor="t">
            <a:spAutoFit/>
          </a:bodyPr>
          <a:lstStyle/>
          <a:p>
            <a:pPr algn="l">
              <a:lnSpc>
                <a:spcPct val="140000"/>
              </a:lnSpc>
            </a:pPr>
            <a:r>
              <a:rPr sz="1200" b="0" i="0">
                <a:solidFill>
                  <a:srgbClr val="323038"/>
                </a:solidFill>
                <a:latin typeface="Yu Gothic"/>
              </a:rPr>
              <a:t>・本人・家族の揺れに伴走する</a:t>
            </a:r>
          </a:p>
          <a:p>
            <a:pPr algn="l">
              <a:lnSpc>
                <a:spcPct val="140000"/>
              </a:lnSpc>
            </a:pPr>
            <a:r>
              <a:rPr sz="1200" b="0" i="0">
                <a:solidFill>
                  <a:srgbClr val="323038"/>
                </a:solidFill>
                <a:latin typeface="Yu Gothic"/>
              </a:rPr>
              <a:t>・家族間の調整を分担して支える</a:t>
            </a:r>
          </a:p>
          <a:p>
            <a:pPr algn="l">
              <a:lnSpc>
                <a:spcPct val="140000"/>
              </a:lnSpc>
            </a:pPr>
            <a:r>
              <a:rPr sz="1200" b="0" i="0">
                <a:solidFill>
                  <a:srgbClr val="323038"/>
                </a:solidFill>
                <a:latin typeface="Yu Gothic"/>
              </a:rPr>
              <a:t>・担当CMの気持ちもケアする</a:t>
            </a:r>
          </a:p>
        </p:txBody>
      </p:sp>
      <p:sp>
        <p:nvSpPr>
          <p:cNvPr id="20" name="Rectangle 19"/>
          <p:cNvSpPr/>
          <p:nvPr/>
        </p:nvSpPr>
        <p:spPr>
          <a:xfrm>
            <a:off x="6156000" y="3060000"/>
            <a:ext cx="5580000" cy="360000"/>
          </a:xfrm>
          <a:prstGeom prst="rect">
            <a:avLst/>
          </a:prstGeom>
          <a:solidFill>
            <a:srgbClr val="527C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336000" y="3060000"/>
            <a:ext cx="5220000" cy="360000"/>
          </a:xfrm>
          <a:prstGeom prst="rect">
            <a:avLst/>
          </a:prstGeom>
          <a:noFill/>
        </p:spPr>
        <p:txBody>
          <a:bodyPr wrap="square" lIns="36000" rIns="36000" tIns="18000" bIns="18000" anchor="ctr">
            <a:spAutoFit/>
          </a:bodyPr>
          <a:lstStyle/>
          <a:p>
            <a:pPr algn="l"/>
            <a:r>
              <a:rPr sz="1500" b="1" i="0">
                <a:solidFill>
                  <a:srgbClr val="FFFFFF"/>
                </a:solidFill>
                <a:latin typeface="Yu Gothic"/>
              </a:rPr>
              <a:t>地域につなぐ</a:t>
            </a:r>
          </a:p>
        </p:txBody>
      </p:sp>
      <p:sp>
        <p:nvSpPr>
          <p:cNvPr id="22" name="Rectangle 21"/>
          <p:cNvSpPr/>
          <p:nvPr/>
        </p:nvSpPr>
        <p:spPr>
          <a:xfrm>
            <a:off x="6156000" y="3420000"/>
            <a:ext cx="5580000" cy="972000"/>
          </a:xfrm>
          <a:prstGeom prst="rect">
            <a:avLst/>
          </a:prstGeom>
          <a:solidFill>
            <a:srgbClr val="EAE8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336000" y="3492000"/>
            <a:ext cx="5220000" cy="828001"/>
          </a:xfrm>
          <a:prstGeom prst="rect">
            <a:avLst/>
          </a:prstGeom>
          <a:noFill/>
        </p:spPr>
        <p:txBody>
          <a:bodyPr wrap="square" lIns="36000" rIns="36000" tIns="18000" bIns="18000" anchor="t">
            <a:spAutoFit/>
          </a:bodyPr>
          <a:lstStyle/>
          <a:p>
            <a:pPr algn="l">
              <a:lnSpc>
                <a:spcPct val="140000"/>
              </a:lnSpc>
            </a:pPr>
            <a:r>
              <a:rPr sz="1200" b="0" i="0">
                <a:solidFill>
                  <a:srgbClr val="323038"/>
                </a:solidFill>
                <a:latin typeface="Yu Gothic"/>
              </a:rPr>
              <a:t>・在宅看取りを支える地域資源を把握</a:t>
            </a:r>
          </a:p>
          <a:p>
            <a:pPr algn="l">
              <a:lnSpc>
                <a:spcPct val="140000"/>
              </a:lnSpc>
            </a:pPr>
            <a:r>
              <a:rPr sz="1200" b="0" i="0">
                <a:solidFill>
                  <a:srgbClr val="323038"/>
                </a:solidFill>
                <a:latin typeface="Yu Gothic"/>
              </a:rPr>
              <a:t>・医療・介護の顔の見える関係づくり</a:t>
            </a:r>
          </a:p>
          <a:p>
            <a:pPr algn="l">
              <a:lnSpc>
                <a:spcPct val="140000"/>
              </a:lnSpc>
            </a:pPr>
            <a:r>
              <a:rPr sz="1200" b="0" i="0">
                <a:solidFill>
                  <a:srgbClr val="323038"/>
                </a:solidFill>
                <a:latin typeface="Yu Gothic"/>
              </a:rPr>
              <a:t>・地域ケア会議で課題を共有</a:t>
            </a:r>
          </a:p>
        </p:txBody>
      </p:sp>
      <p:sp>
        <p:nvSpPr>
          <p:cNvPr id="24" name="Rectangle 23"/>
          <p:cNvSpPr/>
          <p:nvPr/>
        </p:nvSpPr>
        <p:spPr>
          <a:xfrm>
            <a:off x="432000" y="4788000"/>
            <a:ext cx="11304000" cy="360000"/>
          </a:xfrm>
          <a:prstGeom prst="rect">
            <a:avLst/>
          </a:prstGeom>
          <a:solidFill>
            <a:srgbClr val="423A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04000" y="4824000"/>
            <a:ext cx="11160000" cy="288000"/>
          </a:xfrm>
          <a:prstGeom prst="rect">
            <a:avLst/>
          </a:prstGeom>
          <a:noFill/>
        </p:spPr>
        <p:txBody>
          <a:bodyPr wrap="square" lIns="36000" rIns="36000" tIns="18000" bIns="18000" anchor="ctr">
            <a:spAutoFit/>
          </a:bodyPr>
          <a:lstStyle/>
          <a:p>
            <a:pPr algn="l"/>
            <a:r>
              <a:rPr sz="1400" b="1" i="0">
                <a:solidFill>
                  <a:srgbClr val="FFFFFF"/>
                </a:solidFill>
                <a:latin typeface="Yu Gothic"/>
              </a:rPr>
              <a:t>看取り支援は「チームの力」と「主任CMの支え」で成り立つ</a:t>
            </a:r>
          </a:p>
        </p:txBody>
      </p:sp>
      <p:sp>
        <p:nvSpPr>
          <p:cNvPr id="26" name="Rectangle 25"/>
          <p:cNvSpPr/>
          <p:nvPr/>
        </p:nvSpPr>
        <p:spPr>
          <a:xfrm>
            <a:off x="432000" y="5148000"/>
            <a:ext cx="11304000" cy="972000"/>
          </a:xfrm>
          <a:prstGeom prst="rect">
            <a:avLst/>
          </a:prstGeom>
          <a:solidFill>
            <a:srgbClr val="EAE8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540000" y="5184000"/>
            <a:ext cx="11088000" cy="936000"/>
          </a:xfrm>
          <a:prstGeom prst="rect">
            <a:avLst/>
          </a:prstGeom>
          <a:noFill/>
        </p:spPr>
        <p:txBody>
          <a:bodyPr wrap="square" lIns="36000" rIns="36000" tIns="18000" bIns="18000" anchor="t">
            <a:spAutoFit/>
          </a:bodyPr>
          <a:lstStyle/>
          <a:p>
            <a:pPr algn="l"/>
            <a:r>
              <a:rPr sz="1300" b="0" i="0">
                <a:solidFill>
                  <a:srgbClr val="323038"/>
                </a:solidFill>
                <a:latin typeface="Yu Gothic"/>
              </a:rPr>
              <a:t>■ 看取りは、一人のCMが背負うには重すぎる ― チームで支える仕組みを主任CMがつくる</a:t>
            </a:r>
          </a:p>
          <a:p>
            <a:pPr algn="l"/>
            <a:r>
              <a:rPr sz="1300" b="0" i="0">
                <a:solidFill>
                  <a:srgbClr val="323038"/>
                </a:solidFill>
                <a:latin typeface="Yu Gothic"/>
              </a:rPr>
              <a:t>■ ACP・合意形成・グリーフケアは「技術」 ― 経験を言葉にし、後輩に伝え、地域に広げる</a:t>
            </a:r>
          </a:p>
          <a:p>
            <a:pPr algn="l"/>
            <a:r>
              <a:rPr sz="1300" b="0" i="0">
                <a:solidFill>
                  <a:srgbClr val="323038"/>
                </a:solidFill>
                <a:latin typeface="Yu Gothic"/>
              </a:rPr>
              <a:t>■ 本シリーズで学んだ意思決定支援・SV・ファシリテーションのすべてが、看取りの場で生きる</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119" cy="576000"/>
          </a:xfrm>
          <a:prstGeom prst="rect">
            <a:avLst/>
          </a:prstGeom>
          <a:solidFill>
            <a:srgbClr val="423A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88000" y="90000"/>
            <a:ext cx="7920000" cy="216000"/>
          </a:xfrm>
          <a:prstGeom prst="rect">
            <a:avLst/>
          </a:prstGeom>
          <a:noFill/>
        </p:spPr>
        <p:txBody>
          <a:bodyPr wrap="square" lIns="36000" rIns="36000" tIns="18000" bIns="18000" anchor="t">
            <a:spAutoFit/>
          </a:bodyPr>
          <a:lstStyle/>
          <a:p>
            <a:pPr algn="l"/>
            <a:r>
              <a:rPr sz="1100" b="1" i="0">
                <a:solidFill>
                  <a:srgbClr val="FFFFFF"/>
                </a:solidFill>
                <a:latin typeface="Yu Gothic"/>
              </a:rPr>
              <a:t>Closing</a:t>
            </a:r>
          </a:p>
        </p:txBody>
      </p:sp>
      <p:sp>
        <p:nvSpPr>
          <p:cNvPr id="4" name="TextBox 3"/>
          <p:cNvSpPr txBox="1"/>
          <p:nvPr/>
        </p:nvSpPr>
        <p:spPr>
          <a:xfrm>
            <a:off x="288000" y="684000"/>
            <a:ext cx="11616119" cy="468000"/>
          </a:xfrm>
          <a:prstGeom prst="rect">
            <a:avLst/>
          </a:prstGeom>
          <a:noFill/>
        </p:spPr>
        <p:txBody>
          <a:bodyPr wrap="square" lIns="36000" rIns="36000" tIns="18000" bIns="18000" anchor="t">
            <a:spAutoFit/>
          </a:bodyPr>
          <a:lstStyle/>
          <a:p>
            <a:pPr algn="l"/>
            <a:r>
              <a:rPr sz="2300" b="1" i="0">
                <a:solidFill>
                  <a:srgbClr val="423A5E"/>
                </a:solidFill>
                <a:latin typeface="Yu Gothic"/>
              </a:rPr>
              <a:t>明日からの 3 つのアクション</a:t>
            </a:r>
          </a:p>
        </p:txBody>
      </p:sp>
      <p:sp>
        <p:nvSpPr>
          <p:cNvPr id="5" name="Rectangle 4"/>
          <p:cNvSpPr/>
          <p:nvPr/>
        </p:nvSpPr>
        <p:spPr>
          <a:xfrm>
            <a:off x="288000" y="1152000"/>
            <a:ext cx="900000" cy="43200"/>
          </a:xfrm>
          <a:prstGeom prst="rect">
            <a:avLst/>
          </a:prstGeom>
          <a:solidFill>
            <a:srgbClr val="C48C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288000" y="6570000"/>
            <a:ext cx="9360000" cy="180000"/>
          </a:xfrm>
          <a:prstGeom prst="rect">
            <a:avLst/>
          </a:prstGeom>
          <a:noFill/>
        </p:spPr>
        <p:txBody>
          <a:bodyPr wrap="square" lIns="36000" rIns="36000" tIns="18000" bIns="18000" anchor="t">
            <a:spAutoFit/>
          </a:bodyPr>
          <a:lstStyle/>
          <a:p>
            <a:pPr algn="l"/>
            <a:r>
              <a:rPr sz="900" b="0" i="0">
                <a:solidFill>
                  <a:srgbClr val="8C83A6"/>
                </a:solidFill>
                <a:latin typeface="Yu Gothic"/>
              </a:rPr>
              <a:t>主任CM研修 / 看取り期のケアマネジメントとACPの支援技術  ※算定要件は最新の告示・通知をご確認ください</a:t>
            </a:r>
          </a:p>
        </p:txBody>
      </p:sp>
      <p:sp>
        <p:nvSpPr>
          <p:cNvPr id="7" name="TextBox 6"/>
          <p:cNvSpPr txBox="1"/>
          <p:nvPr/>
        </p:nvSpPr>
        <p:spPr>
          <a:xfrm>
            <a:off x="11112119" y="6570000"/>
            <a:ext cx="792000" cy="180000"/>
          </a:xfrm>
          <a:prstGeom prst="rect">
            <a:avLst/>
          </a:prstGeom>
          <a:noFill/>
        </p:spPr>
        <p:txBody>
          <a:bodyPr wrap="square" lIns="36000" rIns="36000" tIns="18000" bIns="18000" anchor="t">
            <a:spAutoFit/>
          </a:bodyPr>
          <a:lstStyle/>
          <a:p>
            <a:pPr algn="r"/>
            <a:r>
              <a:rPr sz="900" b="0" i="0">
                <a:solidFill>
                  <a:srgbClr val="8C83A6"/>
                </a:solidFill>
                <a:latin typeface="Yu Gothic"/>
              </a:rPr>
              <a:t>30 / 33</a:t>
            </a:r>
          </a:p>
        </p:txBody>
      </p:sp>
      <p:sp>
        <p:nvSpPr>
          <p:cNvPr id="8" name="Rectangle 7"/>
          <p:cNvSpPr/>
          <p:nvPr/>
        </p:nvSpPr>
        <p:spPr>
          <a:xfrm>
            <a:off x="432000" y="1620000"/>
            <a:ext cx="1620000" cy="1332000"/>
          </a:xfrm>
          <a:prstGeom prst="rect">
            <a:avLst/>
          </a:prstGeom>
          <a:solidFill>
            <a:srgbClr val="6057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32000" y="1764000"/>
            <a:ext cx="1620000" cy="360000"/>
          </a:xfrm>
          <a:prstGeom prst="rect">
            <a:avLst/>
          </a:prstGeom>
          <a:noFill/>
        </p:spPr>
        <p:txBody>
          <a:bodyPr wrap="square" lIns="36000" rIns="36000" tIns="18000" bIns="18000" anchor="t">
            <a:spAutoFit/>
          </a:bodyPr>
          <a:lstStyle/>
          <a:p>
            <a:pPr algn="ctr"/>
            <a:r>
              <a:rPr sz="1400" b="1" i="0">
                <a:solidFill>
                  <a:srgbClr val="FFFFFF"/>
                </a:solidFill>
                <a:latin typeface="Yu Gothic"/>
              </a:rPr>
              <a:t>Action 1</a:t>
            </a:r>
          </a:p>
        </p:txBody>
      </p:sp>
      <p:sp>
        <p:nvSpPr>
          <p:cNvPr id="10" name="TextBox 9"/>
          <p:cNvSpPr txBox="1"/>
          <p:nvPr/>
        </p:nvSpPr>
        <p:spPr>
          <a:xfrm>
            <a:off x="432000" y="2160000"/>
            <a:ext cx="1620000" cy="648000"/>
          </a:xfrm>
          <a:prstGeom prst="rect">
            <a:avLst/>
          </a:prstGeom>
          <a:noFill/>
        </p:spPr>
        <p:txBody>
          <a:bodyPr wrap="square" lIns="36000" rIns="36000" tIns="18000" bIns="18000" anchor="ctr">
            <a:spAutoFit/>
          </a:bodyPr>
          <a:lstStyle/>
          <a:p>
            <a:pPr algn="ctr"/>
            <a:r>
              <a:rPr sz="2400" b="1" i="0">
                <a:solidFill>
                  <a:srgbClr val="FFFFFF"/>
                </a:solidFill>
                <a:latin typeface="Yu Gothic"/>
              </a:rPr>
              <a:t>1</a:t>
            </a:r>
          </a:p>
        </p:txBody>
      </p:sp>
      <p:sp>
        <p:nvSpPr>
          <p:cNvPr id="11" name="Rectangle 10"/>
          <p:cNvSpPr/>
          <p:nvPr/>
        </p:nvSpPr>
        <p:spPr>
          <a:xfrm>
            <a:off x="2052000" y="1620000"/>
            <a:ext cx="9708119" cy="1332000"/>
          </a:xfrm>
          <a:prstGeom prst="rect">
            <a:avLst/>
          </a:prstGeom>
          <a:solidFill>
            <a:srgbClr val="EAE8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160000" y="1728000"/>
            <a:ext cx="9492119" cy="360000"/>
          </a:xfrm>
          <a:prstGeom prst="rect">
            <a:avLst/>
          </a:prstGeom>
          <a:noFill/>
        </p:spPr>
        <p:txBody>
          <a:bodyPr wrap="square" lIns="36000" rIns="36000" tIns="18000" bIns="18000" anchor="t">
            <a:spAutoFit/>
          </a:bodyPr>
          <a:lstStyle/>
          <a:p>
            <a:pPr algn="l"/>
            <a:r>
              <a:rPr sz="1600" b="1" i="0">
                <a:solidFill>
                  <a:srgbClr val="423A5E"/>
                </a:solidFill>
                <a:latin typeface="Yu Gothic"/>
              </a:rPr>
              <a:t>「きっかけ」を捉えてACPの対話を始める</a:t>
            </a:r>
          </a:p>
        </p:txBody>
      </p:sp>
      <p:sp>
        <p:nvSpPr>
          <p:cNvPr id="13" name="TextBox 12"/>
          <p:cNvSpPr txBox="1"/>
          <p:nvPr/>
        </p:nvSpPr>
        <p:spPr>
          <a:xfrm>
            <a:off x="2160000" y="2123999"/>
            <a:ext cx="9492119" cy="792000"/>
          </a:xfrm>
          <a:prstGeom prst="rect">
            <a:avLst/>
          </a:prstGeom>
          <a:noFill/>
        </p:spPr>
        <p:txBody>
          <a:bodyPr wrap="square" lIns="36000" rIns="36000" tIns="18000" bIns="18000" anchor="t">
            <a:spAutoFit/>
          </a:bodyPr>
          <a:lstStyle/>
          <a:p>
            <a:pPr algn="l">
              <a:lnSpc>
                <a:spcPct val="140000"/>
              </a:lnSpc>
            </a:pPr>
            <a:r>
              <a:rPr sz="1200" b="0" i="0">
                <a:solidFill>
                  <a:srgbClr val="323038"/>
                </a:solidFill>
                <a:latin typeface="Yu Gothic"/>
              </a:rPr>
              <a:t>・担当ケースの中で、価値観・これからの過ごし方を聴ける場面を意識する</a:t>
            </a:r>
          </a:p>
          <a:p>
            <a:pPr algn="l">
              <a:lnSpc>
                <a:spcPct val="140000"/>
              </a:lnSpc>
            </a:pPr>
            <a:r>
              <a:rPr sz="1200" b="0" i="0">
                <a:solidFill>
                  <a:srgbClr val="323038"/>
                </a:solidFill>
                <a:latin typeface="Yu Gothic"/>
              </a:rPr>
              <a:t>・改まった会議でなく、日々の対話の延長として始める</a:t>
            </a:r>
          </a:p>
        </p:txBody>
      </p:sp>
      <p:sp>
        <p:nvSpPr>
          <p:cNvPr id="14" name="Rectangle 13"/>
          <p:cNvSpPr/>
          <p:nvPr/>
        </p:nvSpPr>
        <p:spPr>
          <a:xfrm>
            <a:off x="432000" y="3060000"/>
            <a:ext cx="1620000" cy="1332000"/>
          </a:xfrm>
          <a:prstGeom prst="rect">
            <a:avLst/>
          </a:prstGeom>
          <a:solidFill>
            <a:srgbClr val="C48C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32000" y="3204000"/>
            <a:ext cx="1620000" cy="360000"/>
          </a:xfrm>
          <a:prstGeom prst="rect">
            <a:avLst/>
          </a:prstGeom>
          <a:noFill/>
        </p:spPr>
        <p:txBody>
          <a:bodyPr wrap="square" lIns="36000" rIns="36000" tIns="18000" bIns="18000" anchor="t">
            <a:spAutoFit/>
          </a:bodyPr>
          <a:lstStyle/>
          <a:p>
            <a:pPr algn="ctr"/>
            <a:r>
              <a:rPr sz="1400" b="1" i="0">
                <a:solidFill>
                  <a:srgbClr val="FFFFFF"/>
                </a:solidFill>
                <a:latin typeface="Yu Gothic"/>
              </a:rPr>
              <a:t>Action 2</a:t>
            </a:r>
          </a:p>
        </p:txBody>
      </p:sp>
      <p:sp>
        <p:nvSpPr>
          <p:cNvPr id="16" name="TextBox 15"/>
          <p:cNvSpPr txBox="1"/>
          <p:nvPr/>
        </p:nvSpPr>
        <p:spPr>
          <a:xfrm>
            <a:off x="432000" y="3600000"/>
            <a:ext cx="1620000" cy="648000"/>
          </a:xfrm>
          <a:prstGeom prst="rect">
            <a:avLst/>
          </a:prstGeom>
          <a:noFill/>
        </p:spPr>
        <p:txBody>
          <a:bodyPr wrap="square" lIns="36000" rIns="36000" tIns="18000" bIns="18000" anchor="ctr">
            <a:spAutoFit/>
          </a:bodyPr>
          <a:lstStyle/>
          <a:p>
            <a:pPr algn="ctr"/>
            <a:r>
              <a:rPr sz="2400" b="1" i="0">
                <a:solidFill>
                  <a:srgbClr val="FFFFFF"/>
                </a:solidFill>
                <a:latin typeface="Yu Gothic"/>
              </a:rPr>
              <a:t>2</a:t>
            </a:r>
          </a:p>
        </p:txBody>
      </p:sp>
      <p:sp>
        <p:nvSpPr>
          <p:cNvPr id="17" name="Rectangle 16"/>
          <p:cNvSpPr/>
          <p:nvPr/>
        </p:nvSpPr>
        <p:spPr>
          <a:xfrm>
            <a:off x="2052000" y="3060000"/>
            <a:ext cx="9708119" cy="1332000"/>
          </a:xfrm>
          <a:prstGeom prst="rect">
            <a:avLst/>
          </a:prstGeom>
          <a:solidFill>
            <a:srgbClr val="EAE8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2160000" y="3168000"/>
            <a:ext cx="9492119" cy="360000"/>
          </a:xfrm>
          <a:prstGeom prst="rect">
            <a:avLst/>
          </a:prstGeom>
          <a:noFill/>
        </p:spPr>
        <p:txBody>
          <a:bodyPr wrap="square" lIns="36000" rIns="36000" tIns="18000" bIns="18000" anchor="t">
            <a:spAutoFit/>
          </a:bodyPr>
          <a:lstStyle/>
          <a:p>
            <a:pPr algn="l"/>
            <a:r>
              <a:rPr sz="1600" b="1" i="0">
                <a:solidFill>
                  <a:srgbClr val="423A5E"/>
                </a:solidFill>
                <a:latin typeface="Yu Gothic"/>
              </a:rPr>
              <a:t>ターミナルCM加算の記録を点検する</a:t>
            </a:r>
          </a:p>
        </p:txBody>
      </p:sp>
      <p:sp>
        <p:nvSpPr>
          <p:cNvPr id="19" name="TextBox 18"/>
          <p:cNvSpPr txBox="1"/>
          <p:nvPr/>
        </p:nvSpPr>
        <p:spPr>
          <a:xfrm>
            <a:off x="2160000" y="3563999"/>
            <a:ext cx="9492119" cy="792000"/>
          </a:xfrm>
          <a:prstGeom prst="rect">
            <a:avLst/>
          </a:prstGeom>
          <a:noFill/>
        </p:spPr>
        <p:txBody>
          <a:bodyPr wrap="square" lIns="36000" rIns="36000" tIns="18000" bIns="18000" anchor="t">
            <a:spAutoFit/>
          </a:bodyPr>
          <a:lstStyle/>
          <a:p>
            <a:pPr algn="l">
              <a:lnSpc>
                <a:spcPct val="140000"/>
              </a:lnSpc>
            </a:pPr>
            <a:r>
              <a:rPr sz="1200" b="0" i="0">
                <a:solidFill>
                  <a:srgbClr val="323038"/>
                </a:solidFill>
                <a:latin typeface="Yu Gothic"/>
              </a:rPr>
              <a:t>・看取りに関わったケースの記録が、算定要件を満たす形で残っているか確認する</a:t>
            </a:r>
          </a:p>
          <a:p>
            <a:pPr algn="l">
              <a:lnSpc>
                <a:spcPct val="140000"/>
              </a:lnSpc>
            </a:pPr>
            <a:r>
              <a:rPr sz="1200" b="0" i="0">
                <a:solidFill>
                  <a:srgbClr val="323038"/>
                </a:solidFill>
                <a:latin typeface="Yu Gothic"/>
              </a:rPr>
              <a:t>・「末期の文書確認・14日以内2回訪問・連携・死亡日対応」をチェックする</a:t>
            </a:r>
          </a:p>
        </p:txBody>
      </p:sp>
      <p:sp>
        <p:nvSpPr>
          <p:cNvPr id="20" name="Rectangle 19"/>
          <p:cNvSpPr/>
          <p:nvPr/>
        </p:nvSpPr>
        <p:spPr>
          <a:xfrm>
            <a:off x="432000" y="4500000"/>
            <a:ext cx="1620000" cy="1332000"/>
          </a:xfrm>
          <a:prstGeom prst="rect">
            <a:avLst/>
          </a:prstGeom>
          <a:solidFill>
            <a:srgbClr val="2E6B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32000" y="4644000"/>
            <a:ext cx="1620000" cy="360000"/>
          </a:xfrm>
          <a:prstGeom prst="rect">
            <a:avLst/>
          </a:prstGeom>
          <a:noFill/>
        </p:spPr>
        <p:txBody>
          <a:bodyPr wrap="square" lIns="36000" rIns="36000" tIns="18000" bIns="18000" anchor="t">
            <a:spAutoFit/>
          </a:bodyPr>
          <a:lstStyle/>
          <a:p>
            <a:pPr algn="ctr"/>
            <a:r>
              <a:rPr sz="1400" b="1" i="0">
                <a:solidFill>
                  <a:srgbClr val="FFFFFF"/>
                </a:solidFill>
                <a:latin typeface="Yu Gothic"/>
              </a:rPr>
              <a:t>Action 3</a:t>
            </a:r>
          </a:p>
        </p:txBody>
      </p:sp>
      <p:sp>
        <p:nvSpPr>
          <p:cNvPr id="22" name="TextBox 21"/>
          <p:cNvSpPr txBox="1"/>
          <p:nvPr/>
        </p:nvSpPr>
        <p:spPr>
          <a:xfrm>
            <a:off x="432000" y="5040000"/>
            <a:ext cx="1620000" cy="648000"/>
          </a:xfrm>
          <a:prstGeom prst="rect">
            <a:avLst/>
          </a:prstGeom>
          <a:noFill/>
        </p:spPr>
        <p:txBody>
          <a:bodyPr wrap="square" lIns="36000" rIns="36000" tIns="18000" bIns="18000" anchor="ctr">
            <a:spAutoFit/>
          </a:bodyPr>
          <a:lstStyle/>
          <a:p>
            <a:pPr algn="ctr"/>
            <a:r>
              <a:rPr sz="2400" b="1" i="0">
                <a:solidFill>
                  <a:srgbClr val="FFFFFF"/>
                </a:solidFill>
                <a:latin typeface="Yu Gothic"/>
              </a:rPr>
              <a:t>3</a:t>
            </a:r>
          </a:p>
        </p:txBody>
      </p:sp>
      <p:sp>
        <p:nvSpPr>
          <p:cNvPr id="23" name="Rectangle 22"/>
          <p:cNvSpPr/>
          <p:nvPr/>
        </p:nvSpPr>
        <p:spPr>
          <a:xfrm>
            <a:off x="2052000" y="4500000"/>
            <a:ext cx="9708119" cy="1332000"/>
          </a:xfrm>
          <a:prstGeom prst="rect">
            <a:avLst/>
          </a:prstGeom>
          <a:solidFill>
            <a:srgbClr val="EAE8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2160000" y="4608000"/>
            <a:ext cx="9492119" cy="360000"/>
          </a:xfrm>
          <a:prstGeom prst="rect">
            <a:avLst/>
          </a:prstGeom>
          <a:noFill/>
        </p:spPr>
        <p:txBody>
          <a:bodyPr wrap="square" lIns="36000" rIns="36000" tIns="18000" bIns="18000" anchor="t">
            <a:spAutoFit/>
          </a:bodyPr>
          <a:lstStyle/>
          <a:p>
            <a:pPr algn="l"/>
            <a:r>
              <a:rPr sz="1600" b="1" i="0">
                <a:solidFill>
                  <a:srgbClr val="423A5E"/>
                </a:solidFill>
                <a:latin typeface="Yu Gothic"/>
              </a:rPr>
              <a:t>多職種との連携体制を見直す</a:t>
            </a:r>
          </a:p>
        </p:txBody>
      </p:sp>
      <p:sp>
        <p:nvSpPr>
          <p:cNvPr id="25" name="TextBox 24"/>
          <p:cNvSpPr txBox="1"/>
          <p:nvPr/>
        </p:nvSpPr>
        <p:spPr>
          <a:xfrm>
            <a:off x="2160000" y="5003999"/>
            <a:ext cx="9492119" cy="792000"/>
          </a:xfrm>
          <a:prstGeom prst="rect">
            <a:avLst/>
          </a:prstGeom>
          <a:noFill/>
        </p:spPr>
        <p:txBody>
          <a:bodyPr wrap="square" lIns="36000" rIns="36000" tIns="18000" bIns="18000" anchor="t">
            <a:spAutoFit/>
          </a:bodyPr>
          <a:lstStyle/>
          <a:p>
            <a:pPr algn="l">
              <a:lnSpc>
                <a:spcPct val="140000"/>
              </a:lnSpc>
            </a:pPr>
            <a:r>
              <a:rPr sz="1200" b="0" i="0">
                <a:solidFill>
                  <a:srgbClr val="323038"/>
                </a:solidFill>
                <a:latin typeface="Yu Gothic"/>
              </a:rPr>
              <a:t>・看取りに関わる主治医・訪問看護等との連絡手段・役割分担を再確認する</a:t>
            </a:r>
          </a:p>
          <a:p>
            <a:pPr algn="l">
              <a:lnSpc>
                <a:spcPct val="140000"/>
              </a:lnSpc>
            </a:pPr>
            <a:r>
              <a:rPr sz="1200" b="0" i="0">
                <a:solidFill>
                  <a:srgbClr val="323038"/>
                </a:solidFill>
                <a:latin typeface="Yu Gothic"/>
              </a:rPr>
              <a:t>・急変時・救急搬送をめぐる方針を、関係者で共有できているか点検する</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119" cy="6858000"/>
          </a:xfrm>
          <a:prstGeom prst="rect">
            <a:avLst/>
          </a:prstGeom>
          <a:solidFill>
            <a:srgbClr val="423A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2520000"/>
            <a:ext cx="12192119" cy="36000"/>
          </a:xfrm>
          <a:prstGeom prst="rect">
            <a:avLst/>
          </a:prstGeom>
          <a:solidFill>
            <a:srgbClr val="C48C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20000" y="1080000"/>
            <a:ext cx="10752119" cy="360000"/>
          </a:xfrm>
          <a:prstGeom prst="rect">
            <a:avLst/>
          </a:prstGeom>
          <a:noFill/>
        </p:spPr>
        <p:txBody>
          <a:bodyPr wrap="square" lIns="36000" rIns="36000" tIns="18000" bIns="18000" anchor="t">
            <a:spAutoFit/>
          </a:bodyPr>
          <a:lstStyle/>
          <a:p>
            <a:pPr algn="ctr"/>
            <a:r>
              <a:rPr sz="1400" b="1" i="0">
                <a:solidFill>
                  <a:srgbClr val="C48C3A"/>
                </a:solidFill>
                <a:latin typeface="Yu Gothic"/>
              </a:rPr>
              <a:t>Closing Message</a:t>
            </a:r>
          </a:p>
        </p:txBody>
      </p:sp>
      <p:sp>
        <p:nvSpPr>
          <p:cNvPr id="5" name="TextBox 4"/>
          <p:cNvSpPr txBox="1"/>
          <p:nvPr/>
        </p:nvSpPr>
        <p:spPr>
          <a:xfrm>
            <a:off x="720000" y="2880000"/>
            <a:ext cx="10752119" cy="1080000"/>
          </a:xfrm>
          <a:prstGeom prst="rect">
            <a:avLst/>
          </a:prstGeom>
          <a:noFill/>
        </p:spPr>
        <p:txBody>
          <a:bodyPr wrap="square" lIns="36000" rIns="36000" tIns="18000" bIns="18000" anchor="t">
            <a:spAutoFit/>
          </a:bodyPr>
          <a:lstStyle/>
          <a:p>
            <a:pPr algn="ctr">
              <a:lnSpc>
                <a:spcPct val="140000"/>
              </a:lnSpc>
            </a:pPr>
            <a:r>
              <a:rPr sz="2500" b="1" i="0">
                <a:solidFill>
                  <a:srgbClr val="FFFFFF"/>
                </a:solidFill>
                <a:latin typeface="Yu Gothic"/>
              </a:rPr>
              <a:t>最期の時間をどう過ごすかは、</a:t>
            </a:r>
          </a:p>
          <a:p>
            <a:pPr algn="ctr">
              <a:lnSpc>
                <a:spcPct val="140000"/>
              </a:lnSpc>
            </a:pPr>
            <a:r>
              <a:rPr sz="2500" b="1" i="0">
                <a:solidFill>
                  <a:srgbClr val="FFFFFF"/>
                </a:solidFill>
                <a:latin typeface="Yu Gothic"/>
              </a:rPr>
              <a:t>その人の人生の、最後の自己決定。</a:t>
            </a:r>
          </a:p>
        </p:txBody>
      </p:sp>
      <p:sp>
        <p:nvSpPr>
          <p:cNvPr id="6" name="TextBox 5"/>
          <p:cNvSpPr txBox="1"/>
          <p:nvPr/>
        </p:nvSpPr>
        <p:spPr>
          <a:xfrm>
            <a:off x="1080000" y="4500000"/>
            <a:ext cx="10032119" cy="1080000"/>
          </a:xfrm>
          <a:prstGeom prst="rect">
            <a:avLst/>
          </a:prstGeom>
          <a:noFill/>
        </p:spPr>
        <p:txBody>
          <a:bodyPr wrap="square" lIns="36000" rIns="36000" tIns="18000" bIns="18000" anchor="t">
            <a:spAutoFit/>
          </a:bodyPr>
          <a:lstStyle/>
          <a:p>
            <a:pPr algn="ctr">
              <a:lnSpc>
                <a:spcPct val="160000"/>
              </a:lnSpc>
            </a:pPr>
            <a:r>
              <a:rPr sz="1400" b="0" i="0">
                <a:solidFill>
                  <a:srgbClr val="D7D4DE"/>
                </a:solidFill>
                <a:latin typeface="Yu Gothic"/>
              </a:rPr>
              <a:t>答えのない問いに、本人と家族とともに向き合う日々。</a:t>
            </a:r>
          </a:p>
          <a:p>
            <a:pPr algn="ctr">
              <a:lnSpc>
                <a:spcPct val="160000"/>
              </a:lnSpc>
            </a:pPr>
            <a:r>
              <a:rPr sz="1400" b="0" i="0">
                <a:solidFill>
                  <a:srgbClr val="D7D4DE"/>
                </a:solidFill>
                <a:latin typeface="Yu Gothic"/>
              </a:rPr>
              <a:t>あなたが交わした対話、揺れに寄り添った時間、つないだ多職種の手。</a:t>
            </a:r>
          </a:p>
          <a:p>
            <a:pPr algn="ctr">
              <a:lnSpc>
                <a:spcPct val="160000"/>
              </a:lnSpc>
            </a:pPr>
            <a:r>
              <a:rPr sz="1400" b="0" i="0">
                <a:solidFill>
                  <a:srgbClr val="D7D4DE"/>
                </a:solidFill>
                <a:latin typeface="Yu Gothic"/>
              </a:rPr>
              <a:t>その一つひとつが、誰かの「その人らしい最期」を、確かに支えています。</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119" cy="576000"/>
          </a:xfrm>
          <a:prstGeom prst="rect">
            <a:avLst/>
          </a:prstGeom>
          <a:solidFill>
            <a:srgbClr val="423A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88000" y="90000"/>
            <a:ext cx="7920000" cy="216000"/>
          </a:xfrm>
          <a:prstGeom prst="rect">
            <a:avLst/>
          </a:prstGeom>
          <a:noFill/>
        </p:spPr>
        <p:txBody>
          <a:bodyPr wrap="square" lIns="36000" rIns="36000" tIns="18000" bIns="18000" anchor="t">
            <a:spAutoFit/>
          </a:bodyPr>
          <a:lstStyle/>
          <a:p>
            <a:pPr algn="l"/>
            <a:r>
              <a:rPr sz="1100" b="1" i="0">
                <a:solidFill>
                  <a:srgbClr val="FFFFFF"/>
                </a:solidFill>
                <a:latin typeface="Yu Gothic"/>
              </a:rPr>
              <a:t>Reference</a:t>
            </a:r>
          </a:p>
        </p:txBody>
      </p:sp>
      <p:sp>
        <p:nvSpPr>
          <p:cNvPr id="4" name="TextBox 3"/>
          <p:cNvSpPr txBox="1"/>
          <p:nvPr/>
        </p:nvSpPr>
        <p:spPr>
          <a:xfrm>
            <a:off x="288000" y="684000"/>
            <a:ext cx="11616119" cy="468000"/>
          </a:xfrm>
          <a:prstGeom prst="rect">
            <a:avLst/>
          </a:prstGeom>
          <a:noFill/>
        </p:spPr>
        <p:txBody>
          <a:bodyPr wrap="square" lIns="36000" rIns="36000" tIns="18000" bIns="18000" anchor="t">
            <a:spAutoFit/>
          </a:bodyPr>
          <a:lstStyle/>
          <a:p>
            <a:pPr algn="l"/>
            <a:r>
              <a:rPr sz="2300" b="1" i="0">
                <a:solidFill>
                  <a:srgbClr val="423A5E"/>
                </a:solidFill>
                <a:latin typeface="Yu Gothic"/>
              </a:rPr>
              <a:t>参考資料 ・ 情報源</a:t>
            </a:r>
          </a:p>
        </p:txBody>
      </p:sp>
      <p:sp>
        <p:nvSpPr>
          <p:cNvPr id="5" name="Rectangle 4"/>
          <p:cNvSpPr/>
          <p:nvPr/>
        </p:nvSpPr>
        <p:spPr>
          <a:xfrm>
            <a:off x="288000" y="1152000"/>
            <a:ext cx="900000" cy="43200"/>
          </a:xfrm>
          <a:prstGeom prst="rect">
            <a:avLst/>
          </a:prstGeom>
          <a:solidFill>
            <a:srgbClr val="C48C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288000" y="6570000"/>
            <a:ext cx="9360000" cy="180000"/>
          </a:xfrm>
          <a:prstGeom prst="rect">
            <a:avLst/>
          </a:prstGeom>
          <a:noFill/>
        </p:spPr>
        <p:txBody>
          <a:bodyPr wrap="square" lIns="36000" rIns="36000" tIns="18000" bIns="18000" anchor="t">
            <a:spAutoFit/>
          </a:bodyPr>
          <a:lstStyle/>
          <a:p>
            <a:pPr algn="l"/>
            <a:r>
              <a:rPr sz="900" b="0" i="0">
                <a:solidFill>
                  <a:srgbClr val="8C83A6"/>
                </a:solidFill>
                <a:latin typeface="Yu Gothic"/>
              </a:rPr>
              <a:t>主任CM研修 / 看取り期のケアマネジメントとACPの支援技術  ※算定要件は最新の告示・通知をご確認ください</a:t>
            </a:r>
          </a:p>
        </p:txBody>
      </p:sp>
      <p:sp>
        <p:nvSpPr>
          <p:cNvPr id="7" name="TextBox 6"/>
          <p:cNvSpPr txBox="1"/>
          <p:nvPr/>
        </p:nvSpPr>
        <p:spPr>
          <a:xfrm>
            <a:off x="11112119" y="6570000"/>
            <a:ext cx="792000" cy="180000"/>
          </a:xfrm>
          <a:prstGeom prst="rect">
            <a:avLst/>
          </a:prstGeom>
          <a:noFill/>
        </p:spPr>
        <p:txBody>
          <a:bodyPr wrap="square" lIns="36000" rIns="36000" tIns="18000" bIns="18000" anchor="t">
            <a:spAutoFit/>
          </a:bodyPr>
          <a:lstStyle/>
          <a:p>
            <a:pPr algn="r"/>
            <a:r>
              <a:rPr sz="900" b="0" i="0">
                <a:solidFill>
                  <a:srgbClr val="8C83A6"/>
                </a:solidFill>
                <a:latin typeface="Yu Gothic"/>
              </a:rPr>
              <a:t>32 / 33</a:t>
            </a:r>
          </a:p>
        </p:txBody>
      </p:sp>
      <p:sp>
        <p:nvSpPr>
          <p:cNvPr id="8" name="TextBox 7"/>
          <p:cNvSpPr txBox="1"/>
          <p:nvPr/>
        </p:nvSpPr>
        <p:spPr>
          <a:xfrm>
            <a:off x="720000" y="1620000"/>
            <a:ext cx="10752119" cy="360000"/>
          </a:xfrm>
          <a:prstGeom prst="rect">
            <a:avLst/>
          </a:prstGeom>
          <a:noFill/>
        </p:spPr>
        <p:txBody>
          <a:bodyPr wrap="square" lIns="36000" rIns="36000" tIns="18000" bIns="18000" anchor="t">
            <a:spAutoFit/>
          </a:bodyPr>
          <a:lstStyle/>
          <a:p>
            <a:pPr algn="l"/>
            <a:r>
              <a:rPr sz="1300" b="0" i="0">
                <a:solidFill>
                  <a:srgbClr val="323038"/>
                </a:solidFill>
                <a:latin typeface="Yu Gothic"/>
              </a:rPr>
              <a:t>■ 厚生労働省「人生の最終段階における医療・ケアの決定プロセスに関するガイドライン」</a:t>
            </a:r>
          </a:p>
        </p:txBody>
      </p:sp>
      <p:sp>
        <p:nvSpPr>
          <p:cNvPr id="9" name="TextBox 8"/>
          <p:cNvSpPr txBox="1"/>
          <p:nvPr/>
        </p:nvSpPr>
        <p:spPr>
          <a:xfrm>
            <a:off x="720000" y="2070000"/>
            <a:ext cx="10752119" cy="360000"/>
          </a:xfrm>
          <a:prstGeom prst="rect">
            <a:avLst/>
          </a:prstGeom>
          <a:noFill/>
        </p:spPr>
        <p:txBody>
          <a:bodyPr wrap="square" lIns="36000" rIns="36000" tIns="18000" bIns="18000" anchor="t">
            <a:spAutoFit/>
          </a:bodyPr>
          <a:lstStyle/>
          <a:p>
            <a:pPr algn="l"/>
            <a:r>
              <a:rPr sz="1300" b="0" i="0">
                <a:solidFill>
                  <a:srgbClr val="323038"/>
                </a:solidFill>
                <a:latin typeface="Yu Gothic"/>
              </a:rPr>
              <a:t>■ 厚生労働省「人生会議(ACP)」普及啓発関連資料</a:t>
            </a:r>
          </a:p>
        </p:txBody>
      </p:sp>
      <p:sp>
        <p:nvSpPr>
          <p:cNvPr id="10" name="TextBox 9"/>
          <p:cNvSpPr txBox="1"/>
          <p:nvPr/>
        </p:nvSpPr>
        <p:spPr>
          <a:xfrm>
            <a:off x="720000" y="2520000"/>
            <a:ext cx="10752119" cy="360000"/>
          </a:xfrm>
          <a:prstGeom prst="rect">
            <a:avLst/>
          </a:prstGeom>
          <a:noFill/>
        </p:spPr>
        <p:txBody>
          <a:bodyPr wrap="square" lIns="36000" rIns="36000" tIns="18000" bIns="18000" anchor="t">
            <a:spAutoFit/>
          </a:bodyPr>
          <a:lstStyle/>
          <a:p>
            <a:pPr algn="l"/>
            <a:r>
              <a:rPr sz="1300" b="0" i="0">
                <a:solidFill>
                  <a:srgbClr val="323038"/>
                </a:solidFill>
                <a:latin typeface="Yu Gothic"/>
              </a:rPr>
              <a:t>■ 厚生労働省「認知症の人の日常生活・社会生活における意思決定支援ガイドライン」</a:t>
            </a:r>
          </a:p>
        </p:txBody>
      </p:sp>
      <p:sp>
        <p:nvSpPr>
          <p:cNvPr id="11" name="TextBox 10"/>
          <p:cNvSpPr txBox="1"/>
          <p:nvPr/>
        </p:nvSpPr>
        <p:spPr>
          <a:xfrm>
            <a:off x="720000" y="2970000"/>
            <a:ext cx="10752119" cy="360000"/>
          </a:xfrm>
          <a:prstGeom prst="rect">
            <a:avLst/>
          </a:prstGeom>
          <a:noFill/>
        </p:spPr>
        <p:txBody>
          <a:bodyPr wrap="square" lIns="36000" rIns="36000" tIns="18000" bIns="18000" anchor="t">
            <a:spAutoFit/>
          </a:bodyPr>
          <a:lstStyle/>
          <a:p>
            <a:pPr algn="l"/>
            <a:r>
              <a:rPr sz="1300" b="0" i="0">
                <a:solidFill>
                  <a:srgbClr val="323038"/>
                </a:solidFill>
                <a:latin typeface="Yu Gothic"/>
              </a:rPr>
              <a:t>■ 厚生労働省「介護報酬改定」関係告示・通知(ターミナルケアマネジメント加算)</a:t>
            </a:r>
          </a:p>
        </p:txBody>
      </p:sp>
      <p:sp>
        <p:nvSpPr>
          <p:cNvPr id="12" name="TextBox 11"/>
          <p:cNvSpPr txBox="1"/>
          <p:nvPr/>
        </p:nvSpPr>
        <p:spPr>
          <a:xfrm>
            <a:off x="720000" y="3420000"/>
            <a:ext cx="10752119" cy="360000"/>
          </a:xfrm>
          <a:prstGeom prst="rect">
            <a:avLst/>
          </a:prstGeom>
          <a:noFill/>
        </p:spPr>
        <p:txBody>
          <a:bodyPr wrap="square" lIns="36000" rIns="36000" tIns="18000" bIns="18000" anchor="t">
            <a:spAutoFit/>
          </a:bodyPr>
          <a:lstStyle/>
          <a:p>
            <a:pPr algn="l"/>
            <a:r>
              <a:rPr sz="1300" b="0" i="0">
                <a:solidFill>
                  <a:srgbClr val="323038"/>
                </a:solidFill>
                <a:latin typeface="Yu Gothic"/>
              </a:rPr>
              <a:t>■ 介護給付費単位数表・算定基準告示・解釈通知・Q&amp;A</a:t>
            </a:r>
          </a:p>
        </p:txBody>
      </p:sp>
      <p:sp>
        <p:nvSpPr>
          <p:cNvPr id="13" name="TextBox 12"/>
          <p:cNvSpPr txBox="1"/>
          <p:nvPr/>
        </p:nvSpPr>
        <p:spPr>
          <a:xfrm>
            <a:off x="720000" y="3870000"/>
            <a:ext cx="10752119" cy="360000"/>
          </a:xfrm>
          <a:prstGeom prst="rect">
            <a:avLst/>
          </a:prstGeom>
          <a:noFill/>
        </p:spPr>
        <p:txBody>
          <a:bodyPr wrap="square" lIns="36000" rIns="36000" tIns="18000" bIns="18000" anchor="t">
            <a:spAutoFit/>
          </a:bodyPr>
          <a:lstStyle/>
          <a:p>
            <a:pPr algn="l"/>
            <a:r>
              <a:rPr sz="1300" b="0" i="0">
                <a:solidFill>
                  <a:srgbClr val="323038"/>
                </a:solidFill>
                <a:latin typeface="Yu Gothic"/>
              </a:rPr>
              <a:t>■ 在宅看取り・グリーフケアに関する専門書・研修資料</a:t>
            </a:r>
          </a:p>
        </p:txBody>
      </p:sp>
      <p:sp>
        <p:nvSpPr>
          <p:cNvPr id="14" name="TextBox 13"/>
          <p:cNvSpPr txBox="1"/>
          <p:nvPr/>
        </p:nvSpPr>
        <p:spPr>
          <a:xfrm>
            <a:off x="720000" y="4320000"/>
            <a:ext cx="10752119" cy="360000"/>
          </a:xfrm>
          <a:prstGeom prst="rect">
            <a:avLst/>
          </a:prstGeom>
          <a:noFill/>
        </p:spPr>
        <p:txBody>
          <a:bodyPr wrap="square" lIns="36000" rIns="36000" tIns="18000" bIns="18000" anchor="t">
            <a:spAutoFit/>
          </a:bodyPr>
          <a:lstStyle/>
          <a:p>
            <a:pPr algn="l"/>
            <a:r>
              <a:rPr sz="1300" b="0" i="0">
                <a:solidFill>
                  <a:srgbClr val="323038"/>
                </a:solidFill>
                <a:latin typeface="Yu Gothic"/>
              </a:rPr>
              <a:t>■ 日本介護支援専門員協会等による看取り支援関連の研修資料</a:t>
            </a:r>
          </a:p>
        </p:txBody>
      </p:sp>
      <p:sp>
        <p:nvSpPr>
          <p:cNvPr id="15" name="Rectangle 14"/>
          <p:cNvSpPr/>
          <p:nvPr/>
        </p:nvSpPr>
        <p:spPr>
          <a:xfrm>
            <a:off x="432000" y="4788000"/>
            <a:ext cx="11304000" cy="360000"/>
          </a:xfrm>
          <a:prstGeom prst="rect">
            <a:avLst/>
          </a:prstGeom>
          <a:solidFill>
            <a:srgbClr val="C48C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04000" y="4824000"/>
            <a:ext cx="11160000" cy="288000"/>
          </a:xfrm>
          <a:prstGeom prst="rect">
            <a:avLst/>
          </a:prstGeom>
          <a:noFill/>
        </p:spPr>
        <p:txBody>
          <a:bodyPr wrap="square" lIns="36000" rIns="36000" tIns="18000" bIns="18000" anchor="ctr">
            <a:spAutoFit/>
          </a:bodyPr>
          <a:lstStyle/>
          <a:p>
            <a:pPr algn="l"/>
            <a:r>
              <a:rPr sz="1400" b="1" i="0">
                <a:solidFill>
                  <a:srgbClr val="FFFFFF"/>
                </a:solidFill>
                <a:latin typeface="Yu Gothic"/>
              </a:rPr>
              <a:t>ご注意 ・ 学び続けるために</a:t>
            </a:r>
          </a:p>
        </p:txBody>
      </p:sp>
      <p:sp>
        <p:nvSpPr>
          <p:cNvPr id="17" name="Rectangle 16"/>
          <p:cNvSpPr/>
          <p:nvPr/>
        </p:nvSpPr>
        <p:spPr>
          <a:xfrm>
            <a:off x="432000" y="5148000"/>
            <a:ext cx="11304000" cy="972000"/>
          </a:xfrm>
          <a:prstGeom prst="rect">
            <a:avLst/>
          </a:prstGeom>
          <a:solidFill>
            <a:srgbClr val="F9F0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40000" y="5184000"/>
            <a:ext cx="11088000" cy="936000"/>
          </a:xfrm>
          <a:prstGeom prst="rect">
            <a:avLst/>
          </a:prstGeom>
          <a:noFill/>
        </p:spPr>
        <p:txBody>
          <a:bodyPr wrap="square" lIns="36000" rIns="36000" tIns="18000" bIns="18000" anchor="t">
            <a:spAutoFit/>
          </a:bodyPr>
          <a:lstStyle/>
          <a:p>
            <a:pPr algn="l"/>
            <a:r>
              <a:rPr sz="1200" b="0" i="0">
                <a:solidFill>
                  <a:srgbClr val="323038"/>
                </a:solidFill>
                <a:latin typeface="Yu Gothic"/>
              </a:rPr>
              <a:t>■ ターミナルケアマネジメント加算の単位数・要件は改定で変わります ―</a:t>
            </a:r>
          </a:p>
          <a:p>
            <a:pPr algn="l"/>
            <a:r>
              <a:rPr sz="1200" b="0" i="0">
                <a:solidFill>
                  <a:srgbClr val="323038"/>
                </a:solidFill>
                <a:latin typeface="Yu Gothic"/>
              </a:rPr>
              <a:t>    算定にあたっては最新の告示・解釈通知・Q&amp;A、保険者の指導内容を必ずご確認ください</a:t>
            </a:r>
          </a:p>
          <a:p>
            <a:pPr algn="l"/>
            <a:r>
              <a:rPr sz="1200" b="0" i="0">
                <a:solidFill>
                  <a:srgbClr val="323038"/>
                </a:solidFill>
                <a:latin typeface="Yu Gothic"/>
              </a:rPr>
              <a:t>■ 看取り支援は、知識だけでなく「一つひとつの看取りの振り返り」を通じて深まります</a:t>
            </a:r>
          </a:p>
          <a:p>
            <a:pPr algn="l"/>
            <a:r>
              <a:rPr sz="1200" b="0" i="0">
                <a:solidFill>
                  <a:srgbClr val="323038"/>
                </a:solidFill>
                <a:latin typeface="Yu Gothic"/>
              </a:rPr>
              <a:t>■ 本資料は 2026年5月時点の一般的な情報を基に構成しています</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119" cy="6858000"/>
          </a:xfrm>
          <a:prstGeom prst="rect">
            <a:avLst/>
          </a:prstGeom>
          <a:solidFill>
            <a:srgbClr val="423A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960000" y="2700000"/>
            <a:ext cx="4248000" cy="43200"/>
          </a:xfrm>
          <a:prstGeom prst="rect">
            <a:avLst/>
          </a:prstGeom>
          <a:solidFill>
            <a:srgbClr val="C48C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20000" y="2808000"/>
            <a:ext cx="10752119" cy="720000"/>
          </a:xfrm>
          <a:prstGeom prst="rect">
            <a:avLst/>
          </a:prstGeom>
          <a:noFill/>
        </p:spPr>
        <p:txBody>
          <a:bodyPr wrap="square" lIns="36000" rIns="36000" tIns="18000" bIns="18000" anchor="t">
            <a:spAutoFit/>
          </a:bodyPr>
          <a:lstStyle/>
          <a:p>
            <a:pPr algn="ctr"/>
            <a:r>
              <a:rPr sz="3000" b="1" i="0">
                <a:solidFill>
                  <a:srgbClr val="FFFFFF"/>
                </a:solidFill>
                <a:latin typeface="Yu Gothic"/>
              </a:rPr>
              <a:t>ご清聴ありがとうございました</a:t>
            </a:r>
          </a:p>
        </p:txBody>
      </p:sp>
      <p:sp>
        <p:nvSpPr>
          <p:cNvPr id="5" name="TextBox 4"/>
          <p:cNvSpPr txBox="1"/>
          <p:nvPr/>
        </p:nvSpPr>
        <p:spPr>
          <a:xfrm>
            <a:off x="720000" y="3960000"/>
            <a:ext cx="10752119" cy="540000"/>
          </a:xfrm>
          <a:prstGeom prst="rect">
            <a:avLst/>
          </a:prstGeom>
          <a:noFill/>
        </p:spPr>
        <p:txBody>
          <a:bodyPr wrap="square" lIns="36000" rIns="36000" tIns="18000" bIns="18000" anchor="t">
            <a:spAutoFit/>
          </a:bodyPr>
          <a:lstStyle/>
          <a:p>
            <a:pPr algn="ctr"/>
            <a:r>
              <a:rPr sz="1800" b="0" i="0">
                <a:solidFill>
                  <a:srgbClr val="C48C3A"/>
                </a:solidFill>
                <a:latin typeface="Yu Gothic"/>
              </a:rPr>
              <a:t>質疑応答 ・ 事例検討</a:t>
            </a:r>
          </a:p>
        </p:txBody>
      </p:sp>
      <p:sp>
        <p:nvSpPr>
          <p:cNvPr id="6" name="TextBox 5"/>
          <p:cNvSpPr txBox="1"/>
          <p:nvPr/>
        </p:nvSpPr>
        <p:spPr>
          <a:xfrm>
            <a:off x="720000" y="4680000"/>
            <a:ext cx="10752119" cy="540000"/>
          </a:xfrm>
          <a:prstGeom prst="rect">
            <a:avLst/>
          </a:prstGeom>
          <a:noFill/>
        </p:spPr>
        <p:txBody>
          <a:bodyPr wrap="square" lIns="36000" rIns="36000" tIns="18000" bIns="18000" anchor="t">
            <a:spAutoFit/>
          </a:bodyPr>
          <a:lstStyle/>
          <a:p>
            <a:pPr algn="ctr"/>
            <a:r>
              <a:rPr sz="1400" b="0" i="0">
                <a:solidFill>
                  <a:srgbClr val="D7D4DE"/>
                </a:solidFill>
                <a:latin typeface="Yu Gothic"/>
              </a:rPr>
              <a:t>現場で関わった看取りの経験を持ち寄り、ともに学びを深めましょう。</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