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194560" cy="45720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FOR FRONTLINE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1F2D3D"/>
                </a:solidFill>
                <a:latin typeface="Yu Gothic UI"/>
              </a:rPr>
              <a:t>介護DXについて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C6E91"/>
                </a:solidFill>
                <a:latin typeface="Yu Gothic UI"/>
              </a:rPr>
              <a:t>現場で活きるデジタル活用と、これからの介護のかたち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937760"/>
            <a:ext cx="1828800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B7D"/>
                </a:solidFill>
                <a:latin typeface="Yu Gothic UI"/>
              </a:rPr>
              <a:t>2026年5月  ｜  社内勉強会資料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本日お話しする内容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2 / 12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34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Yu Gothic UI"/>
              </a:rPr>
              <a:t>介護現場の今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002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人手不足・記録業務・多忙化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94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Yu Gothic UI"/>
              </a:rPr>
              <a:t>介護DXとは何か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560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DXの定義と「IT化」との違い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108960"/>
            <a:ext cx="640080" cy="64008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54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Yu Gothic UI"/>
              </a:rPr>
              <a:t>なぜ今、DXなのか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204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国の動きと業界の必要性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069080"/>
            <a:ext cx="640080" cy="64008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14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Yu Gothic UI"/>
              </a:rPr>
              <a:t>主なデジタル技術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805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ICT記録／見守り／ロボット／AI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029200"/>
            <a:ext cx="640080" cy="64008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074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Yu Gothic UI"/>
              </a:rPr>
              <a:t>現場での活用事例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440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明日から使えるイメージ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1188720"/>
            <a:ext cx="640080" cy="64008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1887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1234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Yu Gothic UI"/>
              </a:rPr>
              <a:t>導入のメリット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6002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職員・利用者・事業所の3視点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2148840"/>
            <a:ext cx="640080" cy="64008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148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194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Yu Gothic UI"/>
              </a:rPr>
              <a:t>うまく進めるコツ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560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失敗しないための5原則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3108960"/>
            <a:ext cx="640080" cy="64008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154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Yu Gothic UI"/>
              </a:rPr>
              <a:t>これからの介護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5204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私たちの役割の変化</a:t>
            </a:r>
          </a:p>
        </p:txBody>
      </p:sp>
      <p:sp>
        <p:nvSpPr>
          <p:cNvPr id="40" name="Oval 39"/>
          <p:cNvSpPr/>
          <p:nvPr/>
        </p:nvSpPr>
        <p:spPr>
          <a:xfrm>
            <a:off x="6309360" y="4069080"/>
            <a:ext cx="640080" cy="64008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069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114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Yu Gothic UI"/>
              </a:rPr>
              <a:t>まとめ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4805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まず一歩、何から始めるか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01. 介護現場の今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皆さんが毎日感じている「あの大変さ」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6E91"/>
                </a:solidFill>
                <a:latin typeface="Yu Gothic UI"/>
              </a:rPr>
              <a:t>現場の声から見える3つの課題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00" cy="73152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C6E91"/>
                </a:solidFill>
                <a:latin typeface="Yu Gothic UI"/>
              </a:rP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116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人手不足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3200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・採用しても定着しない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・夜勤体制を組むのもギリギリ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・2040年には約57万人の介護人材が不足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  （厚労省試算）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3736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737360"/>
            <a:ext cx="365760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65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8C28"/>
                </a:solidFill>
                <a:latin typeface="Yu Gothic UI"/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0116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28C28"/>
                </a:solidFill>
                <a:latin typeface="Yu Gothic UI"/>
              </a:rPr>
              <a:t>記録・書類業務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06040"/>
            <a:ext cx="3200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・1日の業務時間のうち約3割が記録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・紙とパソコンで二重入力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・申し送りに時間がかかる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・記録の質にばらつきがある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73736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737360"/>
            <a:ext cx="3657600" cy="73152"/>
          </a:xfrm>
          <a:prstGeom prst="rect">
            <a:avLst/>
          </a:prstGeom>
          <a:solidFill>
            <a:srgbClr val="6A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965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A9C4E"/>
                </a:solidFill>
                <a:latin typeface="Yu Gothic UI"/>
              </a:rPr>
              <a:t>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0116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A9C4E"/>
                </a:solidFill>
                <a:latin typeface="Yu Gothic UI"/>
              </a:rPr>
              <a:t>身体的・精神的負担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606040"/>
            <a:ext cx="3200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・移乗介助での腰痛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・常に気を張った見守り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・突発対応で休憩が取れない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・利用者と向き合う時間が削られる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989320"/>
            <a:ext cx="1124712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👉 「これ以上、人だけでがんばる」のは限界。仕組みで支える発想が必要です。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02. 介護DXとは何か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「ICT化」と「DX」は何が違うのか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1188720"/>
          </a:xfrm>
          <a:prstGeom prst="roundRect">
            <a:avLst/>
          </a:prstGeom>
          <a:solidFill>
            <a:srgbClr val="E9EFF4"/>
          </a:solidFill>
          <a:ln w="19050">
            <a:solidFill>
              <a:srgbClr val="2C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6E91"/>
                </a:solidFill>
                <a:latin typeface="Yu Gothic UI"/>
              </a:rPr>
              <a:t>📘 介護DXとは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Yu Gothic UI"/>
              </a:rPr>
              <a:t>デジタル技術を使って、介護サービスの提供方法・働き方・組織のあり方そのものを</a:t>
            </a:r>
          </a:p>
          <a:p>
            <a:pPr algn="l"/>
            <a:r>
              <a:rPr sz="1500" b="0">
                <a:solidFill>
                  <a:srgbClr val="1F2D3D"/>
                </a:solidFill>
                <a:latin typeface="Yu Gothic UI"/>
              </a:rPr>
              <a:t>見直し、利用者にも職員にもよりよい介護を実現していく取り組み。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C6E91"/>
                </a:solidFill>
                <a:latin typeface="Yu Gothic UI"/>
              </a:rPr>
              <a:t>比較してみると…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1828800" cy="502920"/>
          </a:xfrm>
          <a:prstGeom prst="rect">
            <a:avLst/>
          </a:prstGeom>
          <a:solidFill>
            <a:srgbClr val="2C6E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観点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063240"/>
            <a:ext cx="4572000" cy="502920"/>
          </a:xfrm>
          <a:prstGeom prst="rect">
            <a:avLst/>
          </a:prstGeom>
          <a:solidFill>
            <a:srgbClr val="2C6E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0632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ICT化（これまで）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063240"/>
            <a:ext cx="4846320" cy="502920"/>
          </a:xfrm>
          <a:prstGeom prst="rect">
            <a:avLst/>
          </a:prstGeom>
          <a:solidFill>
            <a:srgbClr val="2C6E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06324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DX（これから）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828800" cy="502920"/>
          </a:xfrm>
          <a:prstGeom prst="rect">
            <a:avLst/>
          </a:prstGeom>
          <a:solidFill>
            <a:srgbClr val="E9EF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Yu Gothic UI"/>
              </a:rPr>
              <a:t>目的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3566160"/>
            <a:ext cx="4572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5661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Yu Gothic UI"/>
              </a:rPr>
              <a:t>業務をデジタルに置き換える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56616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56616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Yu Gothic UI"/>
              </a:rPr>
              <a:t>ケアの質と働き方を変える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69080"/>
            <a:ext cx="1828800" cy="502920"/>
          </a:xfrm>
          <a:prstGeom prst="rect">
            <a:avLst/>
          </a:prstGeom>
          <a:solidFill>
            <a:srgbClr val="E9EF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690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Yu Gothic UI"/>
              </a:rPr>
              <a:t>主役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Yu Gothic UI"/>
              </a:rPr>
              <a:t>ツール（道具）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06908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0690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Yu Gothic UI"/>
              </a:rPr>
              <a:t>利用者と職員（人）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1828800" cy="502920"/>
          </a:xfrm>
          <a:prstGeom prst="rect">
            <a:avLst/>
          </a:prstGeom>
          <a:solidFill>
            <a:srgbClr val="E9EF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Yu Gothic UI"/>
              </a:rPr>
              <a:t>範囲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Yu Gothic UI"/>
              </a:rPr>
              <a:t>一部の業務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57200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5720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Yu Gothic UI"/>
              </a:rPr>
              <a:t>業務全体・組織文化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74920"/>
            <a:ext cx="1828800" cy="502920"/>
          </a:xfrm>
          <a:prstGeom prst="rect">
            <a:avLst/>
          </a:prstGeom>
          <a:solidFill>
            <a:srgbClr val="E9EF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749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Yu Gothic UI"/>
              </a:rPr>
              <a:t>効果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074920"/>
            <a:ext cx="4572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50749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Yu Gothic UI"/>
              </a:rPr>
              <a:t>作業時間の削減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5074920"/>
            <a:ext cx="4846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50749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F2D3D"/>
                </a:solidFill>
                <a:latin typeface="Yu Gothic UI"/>
              </a:rPr>
              <a:t>ケア時間の創出・離職率改善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Yu Gothic UI"/>
              </a:rPr>
              <a:t>💡 ポイント：道具を入れるだけがゴールではなく、入れたことで何が変わるか、が大切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03. なぜ今、DXなのか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国も業界も、待ったなしの状況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6E91"/>
                </a:solidFill>
                <a:latin typeface="Yu Gothic UI"/>
              </a:rPr>
              <a:t>数字で見る、いまの介護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C6E91"/>
                </a:solidFill>
                <a:latin typeface="Yu Gothic UI"/>
              </a:rPr>
              <a:t>2040年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830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Yu Gothic UI"/>
              </a:rPr>
              <a:t>高齢者人口がピークに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8C28"/>
                </a:solidFill>
                <a:latin typeface="Yu Gothic UI"/>
              </a:rPr>
              <a:t>約57万人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3464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Yu Gothic UI"/>
              </a:rPr>
              <a:t>不足する介護人材（2040年）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9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A9C4E"/>
                </a:solidFill>
                <a:latin typeface="Yu Gothic UI"/>
              </a:rPr>
              <a:t>約3割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8862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Yu Gothic UI"/>
              </a:rPr>
              <a:t>記録業務が占める就業時間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5486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C04F4F"/>
                </a:solidFill>
                <a:latin typeface="Yu Gothic UI"/>
              </a:rPr>
              <a:t>14%超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93776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Yu Gothic UI"/>
              </a:rPr>
              <a:t>介護職の年間離職率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6E91"/>
                </a:solidFill>
                <a:latin typeface="Yu Gothic UI"/>
              </a:rPr>
              <a:t>国・業界の動き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69164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691640"/>
            <a:ext cx="109728" cy="914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801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Yu Gothic UI"/>
              </a:rPr>
              <a:t>介護報酬改定 (2024)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48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ICT・介護ロボット導入により人員配置基準が柔軟化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74320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743200"/>
            <a:ext cx="109728" cy="914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8529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Yu Gothic UI"/>
              </a:rPr>
              <a:t>LIFE（科学的介護情報システム）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00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ケアの記録データを国が分析し、エビデンスベースのケアへ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79476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794760"/>
            <a:ext cx="109728" cy="914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9044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Yu Gothic UI"/>
              </a:rPr>
              <a:t>ICT導入支援補助金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51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都道府県ごとに、機器・ソフトの導入に補助制度あり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84632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846320"/>
            <a:ext cx="109728" cy="914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9560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Yu Gothic UI"/>
              </a:rPr>
              <a:t>BCP（業務継続計画）の義務化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3035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B7D"/>
                </a:solidFill>
                <a:latin typeface="Yu Gothic UI"/>
              </a:rPr>
              <a:t>災害・感染症対応にもデジタル基盤が不可欠に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04. 主なデジタル技術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現場で広がっている4つの領域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991" y="118872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9991" y="1188720"/>
            <a:ext cx="2743200" cy="118872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991" y="1325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Yu Gothic UI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991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ICT記録ソフト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" y="260604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スマホ・タブレットで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記録をその場で入力。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紙の連絡帳や手書きの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申し送りを置き換え。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" y="4572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8C28"/>
                </a:solidFill>
                <a:latin typeface="Yu Gothic UI"/>
              </a:rPr>
              <a:t>▼ 代表例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" y="48463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例：ほのぼの、CareViewer、</a:t>
            </a:r>
          </a:p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ワイズマン、カナミック など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9495" y="118872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9495" y="1188720"/>
            <a:ext cx="2743200" cy="1188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9495" y="1325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Yu Gothic UI"/>
              </a:rPr>
              <a:t>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9495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見守りセンサー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8095" y="260604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ベッドや居室の状態を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センサーで把握。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離床・呼吸・心拍を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夜勤者へ通知。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8095" y="4572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8C28"/>
                </a:solidFill>
                <a:latin typeface="Yu Gothic UI"/>
              </a:rPr>
              <a:t>▼ 代表例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8095" y="48463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例：眠りSCAN、aams、</a:t>
            </a:r>
          </a:p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NeOSなど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8999" y="118872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8999" y="1188720"/>
            <a:ext cx="2743200" cy="1188720"/>
          </a:xfrm>
          <a:prstGeom prst="rect">
            <a:avLst/>
          </a:prstGeom>
          <a:solidFill>
            <a:srgbClr val="6A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8999" y="1325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Yu Gothic UI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8999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介護ロボット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7599" y="260604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移乗・移動・入浴を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サポートする機器。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腰痛予防と一人介助化に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つながる。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7599" y="4572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8C28"/>
                </a:solidFill>
                <a:latin typeface="Yu Gothic UI"/>
              </a:rPr>
              <a:t>▼ 代表例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7599" y="48463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例：ハグL1、リショーネ、</a:t>
            </a:r>
          </a:p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ROBEAR、Hug など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8503" y="118872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8503" y="1188720"/>
            <a:ext cx="2743200" cy="1188720"/>
          </a:xfrm>
          <a:prstGeom prst="rect">
            <a:avLst/>
          </a:prstGeom>
          <a:solidFill>
            <a:srgbClr val="8E5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8503" y="1325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Yu Gothic UI"/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8503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AI・データ活用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7103" y="260604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蓄積した記録を分析し、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ケアプラン作成や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転倒予測、シフト最適化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などに応用。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7103" y="4572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8C28"/>
                </a:solidFill>
                <a:latin typeface="Yu Gothic UI"/>
              </a:rPr>
              <a:t>▼ 代表例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7103" y="48463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例：LIFE連携ソフト、</a:t>
            </a:r>
          </a:p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AIケアプラン提案 など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05. 現場での活用事例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「明日の業務」がこう変わる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11247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307592"/>
            <a:ext cx="822960" cy="822960"/>
          </a:xfrm>
          <a:prstGeom prst="ellipse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0759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Yu Gothic UI"/>
              </a:rPr>
              <a:t>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325880"/>
            <a:ext cx="1188720" cy="3200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3258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夜勤帯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3258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見守りセンサーで先回り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6916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Before：30分ごとの巡視で寝ている方を起こしてしまう。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After：センサー通知で必要な方の所だけ訪室。職員の負担も利用者の睡眠も改善。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23160"/>
            <a:ext cx="11247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587752"/>
            <a:ext cx="822960" cy="822960"/>
          </a:xfrm>
          <a:prstGeom prst="ellipse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8775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Yu Gothic UI"/>
              </a:rPr>
              <a:t>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2606040"/>
            <a:ext cx="1188720" cy="3200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26060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日中の記録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606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音声入力＆スマホ記録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9718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Before：休憩時間や勤務後に記録のために事務所に戻る。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After：歩きながら音声で記録。1日あたり30〜60分の業務時間短縮。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11247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867912"/>
            <a:ext cx="822960" cy="822960"/>
          </a:xfrm>
          <a:prstGeom prst="ellipse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6791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Yu Gothic UI"/>
              </a:rPr>
              <a:t>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40" y="3886200"/>
            <a:ext cx="1188720" cy="3200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40" y="38862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食事・水分管理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886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タブレットで一元管理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25196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Before：食事量・水分量を紙に書き、後で別の表に転記。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After：その場で入力すれば家族や看護師にも自動共有。ヒヤリハットの早期発見に。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83479"/>
            <a:ext cx="11247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5148071"/>
            <a:ext cx="822960" cy="822960"/>
          </a:xfrm>
          <a:prstGeom prst="ellipse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48071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Yu Gothic UI"/>
              </a:rPr>
              <a:t>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91640" y="5166359"/>
            <a:ext cx="1188720" cy="3200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516635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ケアプラン作成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16635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AIによる提案＆LIFE連携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532119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Before：経験頼みで時間がかかる。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Yu Gothic UI"/>
              </a:rPr>
              <a:t>After：過去データやエビデンスをAIが提示。ケアマネと多職種で議論する時間に充てられる。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06. 導入のメリット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3つの立場から見たプラス効果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987" y="1188720"/>
            <a:ext cx="3703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7987" y="1188720"/>
            <a:ext cx="3703320" cy="73152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987" y="118872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 UI"/>
              </a:rPr>
              <a:t>👨‍⚕️ 職員にとって</a:t>
            </a:r>
          </a:p>
        </p:txBody>
      </p:sp>
      <p:sp>
        <p:nvSpPr>
          <p:cNvPr id="11" name="Oval 10"/>
          <p:cNvSpPr/>
          <p:nvPr/>
        </p:nvSpPr>
        <p:spPr>
          <a:xfrm>
            <a:off x="632307" y="2194560"/>
            <a:ext cx="320040" cy="32004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307" y="21945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9507" y="217627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記録・転記の時間が減る</a:t>
            </a:r>
          </a:p>
        </p:txBody>
      </p:sp>
      <p:sp>
        <p:nvSpPr>
          <p:cNvPr id="14" name="Oval 13"/>
          <p:cNvSpPr/>
          <p:nvPr/>
        </p:nvSpPr>
        <p:spPr>
          <a:xfrm>
            <a:off x="632307" y="2926080"/>
            <a:ext cx="320040" cy="32004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307" y="29260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507" y="290779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夜勤の精神的負担が軽減</a:t>
            </a:r>
          </a:p>
        </p:txBody>
      </p:sp>
      <p:sp>
        <p:nvSpPr>
          <p:cNvPr id="17" name="Oval 16"/>
          <p:cNvSpPr/>
          <p:nvPr/>
        </p:nvSpPr>
        <p:spPr>
          <a:xfrm>
            <a:off x="632307" y="3657600"/>
            <a:ext cx="320040" cy="32004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307" y="36576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507" y="36393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腰痛などの身体的負担が減る</a:t>
            </a:r>
          </a:p>
        </p:txBody>
      </p:sp>
      <p:sp>
        <p:nvSpPr>
          <p:cNvPr id="20" name="Oval 19"/>
          <p:cNvSpPr/>
          <p:nvPr/>
        </p:nvSpPr>
        <p:spPr>
          <a:xfrm>
            <a:off x="632307" y="4389120"/>
            <a:ext cx="320040" cy="32004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307" y="43891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507" y="437083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申し送りがスムーズになる</a:t>
            </a:r>
          </a:p>
        </p:txBody>
      </p:sp>
      <p:sp>
        <p:nvSpPr>
          <p:cNvPr id="23" name="Oval 22"/>
          <p:cNvSpPr/>
          <p:nvPr/>
        </p:nvSpPr>
        <p:spPr>
          <a:xfrm>
            <a:off x="632307" y="5120640"/>
            <a:ext cx="320040" cy="32004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" y="5120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9507" y="510235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ケアに集中できる時間が増える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4187" y="1188720"/>
            <a:ext cx="3703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4187" y="1188720"/>
            <a:ext cx="3703320" cy="7315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4187" y="118872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 UI"/>
              </a:rPr>
              <a:t>👵 利用者にとって</a:t>
            </a:r>
          </a:p>
        </p:txBody>
      </p:sp>
      <p:sp>
        <p:nvSpPr>
          <p:cNvPr id="29" name="Oval 28"/>
          <p:cNvSpPr/>
          <p:nvPr/>
        </p:nvSpPr>
        <p:spPr>
          <a:xfrm>
            <a:off x="4518507" y="2194560"/>
            <a:ext cx="320040" cy="3200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8507" y="21945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5707" y="217627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見守られている安心感</a:t>
            </a:r>
          </a:p>
        </p:txBody>
      </p:sp>
      <p:sp>
        <p:nvSpPr>
          <p:cNvPr id="32" name="Oval 31"/>
          <p:cNvSpPr/>
          <p:nvPr/>
        </p:nvSpPr>
        <p:spPr>
          <a:xfrm>
            <a:off x="4518507" y="2926080"/>
            <a:ext cx="320040" cy="3200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8507" y="29260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5707" y="290779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睡眠を妨げない巡視</a:t>
            </a:r>
          </a:p>
        </p:txBody>
      </p:sp>
      <p:sp>
        <p:nvSpPr>
          <p:cNvPr id="35" name="Oval 34"/>
          <p:cNvSpPr/>
          <p:nvPr/>
        </p:nvSpPr>
        <p:spPr>
          <a:xfrm>
            <a:off x="4518507" y="3657600"/>
            <a:ext cx="320040" cy="3200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18507" y="36576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5707" y="36393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より個別性の高いケア</a:t>
            </a:r>
          </a:p>
        </p:txBody>
      </p:sp>
      <p:sp>
        <p:nvSpPr>
          <p:cNvPr id="38" name="Oval 37"/>
          <p:cNvSpPr/>
          <p:nvPr/>
        </p:nvSpPr>
        <p:spPr>
          <a:xfrm>
            <a:off x="4518507" y="4389120"/>
            <a:ext cx="320040" cy="3200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8507" y="43891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75707" y="437083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状態変化への早い対応</a:t>
            </a:r>
          </a:p>
        </p:txBody>
      </p:sp>
      <p:sp>
        <p:nvSpPr>
          <p:cNvPr id="41" name="Oval 40"/>
          <p:cNvSpPr/>
          <p:nvPr/>
        </p:nvSpPr>
        <p:spPr>
          <a:xfrm>
            <a:off x="4518507" y="5120640"/>
            <a:ext cx="320040" cy="3200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18507" y="5120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75707" y="510235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家族との情報共有が円滑に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0387" y="1188720"/>
            <a:ext cx="3703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9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0387" y="1188720"/>
            <a:ext cx="3703320" cy="731520"/>
          </a:xfrm>
          <a:prstGeom prst="rect">
            <a:avLst/>
          </a:prstGeom>
          <a:solidFill>
            <a:srgbClr val="6A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0387" y="118872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 UI"/>
              </a:rPr>
              <a:t>🏢 事業所にとって</a:t>
            </a:r>
          </a:p>
        </p:txBody>
      </p:sp>
      <p:sp>
        <p:nvSpPr>
          <p:cNvPr id="47" name="Oval 46"/>
          <p:cNvSpPr/>
          <p:nvPr/>
        </p:nvSpPr>
        <p:spPr>
          <a:xfrm>
            <a:off x="8404707" y="2194560"/>
            <a:ext cx="320040" cy="320040"/>
          </a:xfrm>
          <a:prstGeom prst="ellipse">
            <a:avLst/>
          </a:prstGeom>
          <a:solidFill>
            <a:srgbClr val="6A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04707" y="21945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1907" y="217627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離職率の低下・採用力アップ</a:t>
            </a:r>
          </a:p>
        </p:txBody>
      </p:sp>
      <p:sp>
        <p:nvSpPr>
          <p:cNvPr id="50" name="Oval 49"/>
          <p:cNvSpPr/>
          <p:nvPr/>
        </p:nvSpPr>
        <p:spPr>
          <a:xfrm>
            <a:off x="8404707" y="2926080"/>
            <a:ext cx="320040" cy="320040"/>
          </a:xfrm>
          <a:prstGeom prst="ellipse">
            <a:avLst/>
          </a:prstGeom>
          <a:solidFill>
            <a:srgbClr val="6A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4707" y="29260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1907" y="290779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サービスの質の標準化</a:t>
            </a:r>
          </a:p>
        </p:txBody>
      </p:sp>
      <p:sp>
        <p:nvSpPr>
          <p:cNvPr id="53" name="Oval 52"/>
          <p:cNvSpPr/>
          <p:nvPr/>
        </p:nvSpPr>
        <p:spPr>
          <a:xfrm>
            <a:off x="8404707" y="3657600"/>
            <a:ext cx="320040" cy="320040"/>
          </a:xfrm>
          <a:prstGeom prst="ellipse">
            <a:avLst/>
          </a:prstGeom>
          <a:solidFill>
            <a:srgbClr val="6A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4707" y="36576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1907" y="363931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事故・ヒヤリハットの低減</a:t>
            </a:r>
          </a:p>
        </p:txBody>
      </p:sp>
      <p:sp>
        <p:nvSpPr>
          <p:cNvPr id="56" name="Oval 55"/>
          <p:cNvSpPr/>
          <p:nvPr/>
        </p:nvSpPr>
        <p:spPr>
          <a:xfrm>
            <a:off x="8404707" y="4389120"/>
            <a:ext cx="320040" cy="320040"/>
          </a:xfrm>
          <a:prstGeom prst="ellipse">
            <a:avLst/>
          </a:prstGeom>
          <a:solidFill>
            <a:srgbClr val="6A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04707" y="43891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1907" y="437083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加算取得・人員基準の柔軟化</a:t>
            </a:r>
          </a:p>
        </p:txBody>
      </p:sp>
      <p:sp>
        <p:nvSpPr>
          <p:cNvPr id="59" name="Oval 58"/>
          <p:cNvSpPr/>
          <p:nvPr/>
        </p:nvSpPr>
        <p:spPr>
          <a:xfrm>
            <a:off x="8404707" y="5120640"/>
            <a:ext cx="320040" cy="320040"/>
          </a:xfrm>
          <a:prstGeom prst="ellipse">
            <a:avLst/>
          </a:prstGeom>
          <a:solidFill>
            <a:srgbClr val="6A9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04707" y="5120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1907" y="510235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データに基づく経営判断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07. うまく進めるコツ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失敗しないための5原則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9 / 12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188720"/>
            <a:ext cx="777240" cy="7772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 UI"/>
              </a:rPr>
              <a:t>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1188720"/>
            <a:ext cx="10058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234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「困りごと」から始める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0020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ツールありきではなく、現場の困りごとを起点に。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148840"/>
            <a:ext cx="777240" cy="7772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 UI"/>
              </a:rPr>
              <a:t>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2148840"/>
            <a:ext cx="10058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1945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小さく始めて、広げる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5603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まずは1フロア・1業務から。成功体験を積み重ねる。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108960"/>
            <a:ext cx="777240" cy="7772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 UI"/>
              </a:rPr>
              <a:t>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3108960"/>
            <a:ext cx="10058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1546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推進役と現場の声をつなぐ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520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「DX担当」を孤立させない。現場の声を吸い上げる仕組みを。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069080"/>
            <a:ext cx="777240" cy="7772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 UI"/>
              </a:rPr>
              <a:t>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4069080"/>
            <a:ext cx="10058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11480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苦手な人を置き去りにしない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4805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操作研修・マニュアル整備・聞ける相手を用意する。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029200"/>
            <a:ext cx="777240" cy="7772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 UI"/>
              </a:rPr>
              <a:t>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5029200"/>
            <a:ext cx="10058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9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6E91"/>
                </a:solidFill>
                <a:latin typeface="Yu Gothic UI"/>
              </a:rPr>
              <a:t>効果を見える化する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4406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時間・件数・声をデータで残し、次の改善につなげる。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08. これからの介護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私たちの仕事はどう変わる？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10 / 12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3200400"/>
            <a:ext cx="1188720" cy="64008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4937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556B7D"/>
                </a:solidFill>
                <a:latin typeface="Yu Gothic UI"/>
              </a:rPr>
              <a:t>これまで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B7D"/>
                </a:solidFill>
                <a:latin typeface="Yu Gothic UI"/>
              </a:rPr>
              <a:t>── 人が頑張る介護 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📋 記録は紙とPCで二重入力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🚶 30分おきの定時巡視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💪 二人介助が前提の移乗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🗣 口頭中心の申し送り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👀 経験と勘によるケア判断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Yu Gothic UI"/>
              </a:rPr>
              <a:t>🕰 残業前提の業務スタイル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188720"/>
            <a:ext cx="4937760" cy="4937760"/>
          </a:xfrm>
          <a:prstGeom prst="roundRect">
            <a:avLst/>
          </a:prstGeom>
          <a:solidFill>
            <a:srgbClr val="E9EFF4"/>
          </a:solidFill>
          <a:ln w="19050">
            <a:solidFill>
              <a:srgbClr val="2C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371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C6E91"/>
                </a:solidFill>
                <a:latin typeface="Yu Gothic UI"/>
              </a:rPr>
              <a:t>これから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737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C6E91"/>
                </a:solidFill>
                <a:latin typeface="Yu Gothic UI"/>
              </a:rPr>
              <a:t>── 人と技術で支える介護 ──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2860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Yu Gothic UI"/>
              </a:rPr>
              <a:t>📱 その場でスマホ記録・自動共有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346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Yu Gothic UI"/>
              </a:rPr>
              <a:t>🛏 センサーで必要な時だけ訪室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Yu Gothic UI"/>
              </a:rPr>
              <a:t>🤖 ロボット補助で一人介助も可能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319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Yu Gothic UI"/>
              </a:rPr>
              <a:t>💬 デジタル申し送りで漏れゼロへ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4805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Yu Gothic UI"/>
              </a:rPr>
              <a:t>📊 データに基づくケアの根拠化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0292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Yu Gothic UI"/>
              </a:rPr>
              <a:t>⏰ 定時で帰り、ケアに集中する時間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09. 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FF4"/>
                </a:solidFill>
                <a:latin typeface="Yu Gothic UI"/>
              </a:rPr>
              <a:t>まず一歩、明日からできること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 UI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 UI"/>
              </a:rPr>
              <a:t>🌱 介護DXのゴールは「人にしかできないケア」に集中できる現場をつくること。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E9EFF4"/>
                </a:solidFill>
                <a:latin typeface="Yu Gothic UI"/>
              </a:rPr>
              <a:t>デジタルは目的ではなく、利用者と職員の笑顔を増やすための手段です。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6E91"/>
                </a:solidFill>
                <a:latin typeface="Yu Gothic UI"/>
              </a:rPr>
              <a:t>今日から、私たちにできる3つのこと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287" y="3429000"/>
            <a:ext cx="36576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287" y="36576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0">
                <a:solidFill>
                  <a:srgbClr val="F28C28"/>
                </a:solidFill>
                <a:latin typeface="Yu Gothic U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87" y="4526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F2D3D"/>
                </a:solidFill>
                <a:latin typeface="Yu Gothic UI"/>
              </a:rPr>
              <a:t>知る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51206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B7D"/>
                </a:solidFill>
                <a:latin typeface="Yu Gothic UI"/>
              </a:rPr>
              <a:t>今、自分の現場にはどんなICT機器・ソフトがあるかを</a:t>
            </a:r>
          </a:p>
          <a:p>
            <a:pPr algn="ctr"/>
            <a:r>
              <a:rPr sz="1200" b="0">
                <a:solidFill>
                  <a:srgbClr val="556B7D"/>
                </a:solidFill>
                <a:latin typeface="Yu Gothic UI"/>
              </a:rPr>
              <a:t>あらためて確認してみる。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7047" y="3429000"/>
            <a:ext cx="36576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7047" y="36576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0">
                <a:solidFill>
                  <a:srgbClr val="F28C28"/>
                </a:solidFill>
                <a:latin typeface="Yu Gothic UI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047" y="4526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F2D3D"/>
                </a:solidFill>
                <a:latin typeface="Yu Gothic UI"/>
              </a:rPr>
              <a:t>話す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47" y="51206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B7D"/>
                </a:solidFill>
                <a:latin typeface="Yu Gothic UI"/>
              </a:rPr>
              <a:t>「ここが大変」「もっとこうしたい」を同僚と共有する。</a:t>
            </a:r>
          </a:p>
          <a:p>
            <a:pPr algn="ctr"/>
            <a:r>
              <a:rPr sz="1200" b="0">
                <a:solidFill>
                  <a:srgbClr val="556B7D"/>
                </a:solidFill>
                <a:latin typeface="Yu Gothic UI"/>
              </a:rPr>
              <a:t>現場の声がDXの第一歩。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1807" y="3429000"/>
            <a:ext cx="36576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1807" y="36576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0">
                <a:solidFill>
                  <a:srgbClr val="F28C28"/>
                </a:solidFill>
                <a:latin typeface="Yu Gothic UI"/>
              </a:rPr>
              <a:t>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1807" y="4526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F2D3D"/>
                </a:solidFill>
                <a:latin typeface="Yu Gothic UI"/>
              </a:rPr>
              <a:t>試す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407" y="51206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6B7D"/>
                </a:solidFill>
                <a:latin typeface="Yu Gothic UI"/>
              </a:rPr>
              <a:t>新しい仕組みが入ったとき、まず触ってみる。</a:t>
            </a:r>
          </a:p>
          <a:p>
            <a:pPr algn="ctr"/>
            <a:r>
              <a:rPr sz="1200" b="0">
                <a:solidFill>
                  <a:srgbClr val="556B7D"/>
                </a:solidFill>
                <a:latin typeface="Yu Gothic UI"/>
              </a:rPr>
              <a:t>気づきはマニュアルにフィードバック。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537960"/>
            <a:ext cx="11430000" cy="9525"/>
          </a:xfrm>
          <a:prstGeom prst="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B7D"/>
                </a:solidFill>
                <a:latin typeface="Yu Gothic UI"/>
              </a:rPr>
              <a:t>介護DXについて  ｜  現場で活きるデジタル活用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836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B7D"/>
                </a:solidFill>
                <a:latin typeface="Yu Gothic UI"/>
              </a:rPr>
              <a:t>Page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2C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Yu Gothic UI"/>
              </a:rPr>
              <a:t>Thank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E9EFF4"/>
                </a:solidFill>
                <a:latin typeface="Yu Gothic UI"/>
              </a:rPr>
              <a:t>ご質問・ご意見をお待ちしています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9EFF4"/>
                </a:solidFill>
                <a:latin typeface="Yu Gothic UI"/>
              </a:rPr>
              <a:t>「やってみたい」「ここが不安」── どんな声も歓迎です。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