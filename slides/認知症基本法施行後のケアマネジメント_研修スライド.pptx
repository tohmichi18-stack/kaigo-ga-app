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000"/>
            <a:ext cx="12192119" cy="54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28000"/>
            <a:ext cx="12192119" cy="18000"/>
          </a:xfrm>
          <a:prstGeom prst="rect">
            <a:avLst/>
          </a:prstGeom>
          <a:solidFill>
            <a:srgbClr val="E4A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0000" y="1440000"/>
            <a:ext cx="10752119" cy="360000"/>
          </a:xfrm>
          <a:prstGeom prst="rect">
            <a:avLst/>
          </a:prstGeom>
          <a:noFill/>
        </p:spPr>
        <p:txBody>
          <a:bodyPr wrap="square" lIns="36000" rIns="36000" tIns="18000" bIns="18000" anchor="t">
            <a:spAutoFit/>
          </a:bodyPr>
          <a:lstStyle/>
          <a:p>
            <a:pPr algn="ctr"/>
            <a:r>
              <a:rPr sz="1800" b="1" i="0">
                <a:solidFill>
                  <a:srgbClr val="FAF1DA"/>
                </a:solidFill>
                <a:latin typeface="Yu Gothic"/>
              </a:rPr>
              <a:t>主任介護支援専門員 研修会</a:t>
            </a:r>
          </a:p>
        </p:txBody>
      </p:sp>
      <p:sp>
        <p:nvSpPr>
          <p:cNvPr id="6" name="TextBox 5"/>
          <p:cNvSpPr txBox="1"/>
          <p:nvPr/>
        </p:nvSpPr>
        <p:spPr>
          <a:xfrm>
            <a:off x="360000" y="1944000"/>
            <a:ext cx="11472119" cy="900000"/>
          </a:xfrm>
          <a:prstGeom prst="rect">
            <a:avLst/>
          </a:prstGeom>
          <a:noFill/>
        </p:spPr>
        <p:txBody>
          <a:bodyPr wrap="square" lIns="36000" rIns="36000" tIns="18000" bIns="18000" anchor="t">
            <a:spAutoFit/>
          </a:bodyPr>
          <a:lstStyle/>
          <a:p>
            <a:pPr algn="ctr">
              <a:lnSpc>
                <a:spcPct val="125000"/>
              </a:lnSpc>
            </a:pPr>
            <a:r>
              <a:rPr sz="3200" b="1" i="0">
                <a:solidFill>
                  <a:srgbClr val="FFFFFF"/>
                </a:solidFill>
                <a:latin typeface="Yu Gothic"/>
              </a:rPr>
              <a:t>認知症基本法施行後の</a:t>
            </a:r>
          </a:p>
          <a:p>
            <a:pPr algn="ctr">
              <a:lnSpc>
                <a:spcPct val="125000"/>
              </a:lnSpc>
            </a:pPr>
            <a:r>
              <a:rPr sz="3200" b="1" i="0">
                <a:solidFill>
                  <a:srgbClr val="FFFFFF"/>
                </a:solidFill>
                <a:latin typeface="Yu Gothic"/>
              </a:rPr>
              <a:t>ケアマネジメント</a:t>
            </a:r>
          </a:p>
        </p:txBody>
      </p:sp>
      <p:sp>
        <p:nvSpPr>
          <p:cNvPr id="7" name="TextBox 6"/>
          <p:cNvSpPr txBox="1"/>
          <p:nvPr/>
        </p:nvSpPr>
        <p:spPr>
          <a:xfrm>
            <a:off x="540000" y="3491999"/>
            <a:ext cx="11112119" cy="720000"/>
          </a:xfrm>
          <a:prstGeom prst="rect">
            <a:avLst/>
          </a:prstGeom>
          <a:noFill/>
        </p:spPr>
        <p:txBody>
          <a:bodyPr wrap="square" lIns="36000" rIns="36000" tIns="18000" bIns="18000" anchor="t">
            <a:spAutoFit/>
          </a:bodyPr>
          <a:lstStyle/>
          <a:p>
            <a:pPr algn="ctr"/>
            <a:r>
              <a:rPr sz="1600" b="0" i="0">
                <a:solidFill>
                  <a:srgbClr val="FFFFFF"/>
                </a:solidFill>
                <a:latin typeface="Yu Gothic"/>
              </a:rPr>
              <a:t>ー 本人の意思を中心に、認知症の人と家族の地域共生を支える ー</a:t>
            </a:r>
          </a:p>
        </p:txBody>
      </p:sp>
      <p:sp>
        <p:nvSpPr>
          <p:cNvPr id="8" name="TextBox 7"/>
          <p:cNvSpPr txBox="1"/>
          <p:nvPr/>
        </p:nvSpPr>
        <p:spPr>
          <a:xfrm>
            <a:off x="540000" y="4680000"/>
            <a:ext cx="11112119" cy="720000"/>
          </a:xfrm>
          <a:prstGeom prst="rect">
            <a:avLst/>
          </a:prstGeom>
          <a:noFill/>
        </p:spPr>
        <p:txBody>
          <a:bodyPr wrap="square" lIns="36000" rIns="36000" tIns="18000" bIns="18000" anchor="t">
            <a:spAutoFit/>
          </a:bodyPr>
          <a:lstStyle/>
          <a:p>
            <a:pPr algn="ctr">
              <a:lnSpc>
                <a:spcPct val="150000"/>
              </a:lnSpc>
            </a:pPr>
            <a:r>
              <a:rPr sz="1400" b="0" i="0">
                <a:solidFill>
                  <a:srgbClr val="FAF1DA"/>
                </a:solidFill>
                <a:latin typeface="Yu Gothic"/>
              </a:rPr>
              <a:t>■ 認知症基本法の理念とケアマネジメントへの影響</a:t>
            </a:r>
          </a:p>
          <a:p>
            <a:pPr algn="ctr">
              <a:lnSpc>
                <a:spcPct val="150000"/>
              </a:lnSpc>
            </a:pPr>
            <a:r>
              <a:rPr sz="1400" b="0" i="0">
                <a:solidFill>
                  <a:srgbClr val="FAF1DA"/>
                </a:solidFill>
                <a:latin typeface="Yu Gothic"/>
              </a:rPr>
              <a:t>■ 本人の意思決定支援 ― 形成・表明・実現を支える</a:t>
            </a:r>
          </a:p>
          <a:p>
            <a:pPr algn="ctr">
              <a:lnSpc>
                <a:spcPct val="150000"/>
              </a:lnSpc>
            </a:pPr>
            <a:r>
              <a:rPr sz="1400" b="0" i="0">
                <a:solidFill>
                  <a:srgbClr val="FAF1DA"/>
                </a:solidFill>
                <a:latin typeface="Yu Gothic"/>
              </a:rPr>
              <a:t>■ 認知症の人と家族の、地域共生に向けた実践</a:t>
            </a:r>
          </a:p>
        </p:txBody>
      </p:sp>
      <p:sp>
        <p:nvSpPr>
          <p:cNvPr id="9" name="TextBox 8"/>
          <p:cNvSpPr txBox="1"/>
          <p:nvPr/>
        </p:nvSpPr>
        <p:spPr>
          <a:xfrm>
            <a:off x="720000" y="5868000"/>
            <a:ext cx="10752119" cy="360000"/>
          </a:xfrm>
          <a:prstGeom prst="rect">
            <a:avLst/>
          </a:prstGeom>
          <a:noFill/>
        </p:spPr>
        <p:txBody>
          <a:bodyPr wrap="square" lIns="36000" rIns="36000" tIns="18000" bIns="18000" anchor="t">
            <a:spAutoFit/>
          </a:bodyPr>
          <a:lstStyle/>
          <a:p>
            <a:pPr algn="ctr"/>
            <a:r>
              <a:rPr sz="1400" b="0" i="0">
                <a:solidFill>
                  <a:srgbClr val="F6F1EB"/>
                </a:solidFill>
                <a:latin typeface="Yu Gothic"/>
              </a:rPr>
              <a:t>主任ケアマネジャーの会  主催  ・  研修時間 90 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Introduction</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本日の研修目標</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 / 32</a:t>
            </a:r>
          </a:p>
        </p:txBody>
      </p:sp>
      <p:sp>
        <p:nvSpPr>
          <p:cNvPr id="8" name="Rectangle 7"/>
          <p:cNvSpPr/>
          <p:nvPr/>
        </p:nvSpPr>
        <p:spPr>
          <a:xfrm>
            <a:off x="432000" y="1620000"/>
            <a:ext cx="180000" cy="54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1674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5302B"/>
                </a:solidFill>
                <a:latin typeface="Yu Gothic"/>
              </a:rPr>
              <a:t>認知症基本法の理念と、それがケアマネジメントに求めるものを理解する</a:t>
            </a:r>
          </a:p>
        </p:txBody>
      </p:sp>
      <p:sp>
        <p:nvSpPr>
          <p:cNvPr id="10" name="Rectangle 9"/>
          <p:cNvSpPr/>
          <p:nvPr/>
        </p:nvSpPr>
        <p:spPr>
          <a:xfrm>
            <a:off x="432000" y="2268000"/>
            <a:ext cx="180000" cy="54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322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5302B"/>
                </a:solidFill>
                <a:latin typeface="Yu Gothic"/>
              </a:rPr>
              <a:t>「支援される人」から「権利の主体」へ ― 認知症観の転換を捉える</a:t>
            </a:r>
          </a:p>
        </p:txBody>
      </p:sp>
      <p:sp>
        <p:nvSpPr>
          <p:cNvPr id="12" name="Rectangle 11"/>
          <p:cNvSpPr/>
          <p:nvPr/>
        </p:nvSpPr>
        <p:spPr>
          <a:xfrm>
            <a:off x="432000" y="2916000"/>
            <a:ext cx="180000" cy="54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00" y="2970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5302B"/>
                </a:solidFill>
                <a:latin typeface="Yu Gothic"/>
              </a:rPr>
              <a:t>意思決定支援の3つのプロセス(形成・表明・実現)を実践に移せる</a:t>
            </a:r>
          </a:p>
        </p:txBody>
      </p:sp>
      <p:sp>
        <p:nvSpPr>
          <p:cNvPr id="14" name="Rectangle 13"/>
          <p:cNvSpPr/>
          <p:nvPr/>
        </p:nvSpPr>
        <p:spPr>
          <a:xfrm>
            <a:off x="432000" y="3564000"/>
            <a:ext cx="180000" cy="54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00" y="3618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5302B"/>
                </a:solidFill>
                <a:latin typeface="Yu Gothic"/>
              </a:rPr>
              <a:t>診断直後から進行期まで、各段階に応じた支援の視点を持つ</a:t>
            </a:r>
          </a:p>
        </p:txBody>
      </p:sp>
      <p:sp>
        <p:nvSpPr>
          <p:cNvPr id="16" name="Rectangle 15"/>
          <p:cNvSpPr/>
          <p:nvPr/>
        </p:nvSpPr>
        <p:spPr>
          <a:xfrm>
            <a:off x="432000" y="4212000"/>
            <a:ext cx="180000" cy="54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000" y="4266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5302B"/>
                </a:solidFill>
                <a:latin typeface="Yu Gothic"/>
              </a:rPr>
              <a:t>認知症の人と家族が地域で共生するための、地域資源と実践を知る</a:t>
            </a:r>
          </a:p>
        </p:txBody>
      </p:sp>
      <p:sp>
        <p:nvSpPr>
          <p:cNvPr id="18" name="Rectangle 17"/>
          <p:cNvSpPr/>
          <p:nvPr/>
        </p:nvSpPr>
        <p:spPr>
          <a:xfrm>
            <a:off x="432000" y="4860000"/>
            <a:ext cx="180000" cy="54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4914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5302B"/>
                </a:solidFill>
                <a:latin typeface="Yu Gothic"/>
              </a:rPr>
              <a:t>主任CMとして、本人中心の実践を事業所・地域に広げる視点を持つ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Agenda</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本日の流れ(90分)</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3 / 32</a:t>
            </a:r>
          </a:p>
        </p:txBody>
      </p:sp>
      <p:sp>
        <p:nvSpPr>
          <p:cNvPr id="8" name="Oval 7"/>
          <p:cNvSpPr/>
          <p:nvPr/>
        </p:nvSpPr>
        <p:spPr>
          <a:xfrm>
            <a:off x="540000" y="1692000"/>
            <a:ext cx="468000" cy="468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1</a:t>
            </a:r>
          </a:p>
        </p:txBody>
      </p:sp>
      <p:sp>
        <p:nvSpPr>
          <p:cNvPr id="9" name="TextBox 8"/>
          <p:cNvSpPr txBox="1"/>
          <p:nvPr/>
        </p:nvSpPr>
        <p:spPr>
          <a:xfrm>
            <a:off x="1188000" y="1746000"/>
            <a:ext cx="7920000" cy="360000"/>
          </a:xfrm>
          <a:prstGeom prst="rect">
            <a:avLst/>
          </a:prstGeom>
          <a:noFill/>
        </p:spPr>
        <p:txBody>
          <a:bodyPr wrap="square" lIns="36000" rIns="36000" tIns="18000" bIns="18000" anchor="t">
            <a:spAutoFit/>
          </a:bodyPr>
          <a:lstStyle/>
          <a:p>
            <a:pPr algn="l"/>
            <a:r>
              <a:rPr sz="1700" b="1" i="0">
                <a:solidFill>
                  <a:srgbClr val="C2571C"/>
                </a:solidFill>
                <a:latin typeface="Yu Gothic"/>
              </a:rPr>
              <a:t>認知症基本法の理解 ― 共生社会への道</a:t>
            </a:r>
          </a:p>
        </p:txBody>
      </p:sp>
      <p:sp>
        <p:nvSpPr>
          <p:cNvPr id="10" name="TextBox 9"/>
          <p:cNvSpPr txBox="1"/>
          <p:nvPr/>
        </p:nvSpPr>
        <p:spPr>
          <a:xfrm>
            <a:off x="10752119" y="1764000"/>
            <a:ext cx="1080000" cy="360000"/>
          </a:xfrm>
          <a:prstGeom prst="rect">
            <a:avLst/>
          </a:prstGeom>
          <a:noFill/>
        </p:spPr>
        <p:txBody>
          <a:bodyPr wrap="square" lIns="36000" rIns="36000" tIns="18000" bIns="18000" anchor="t">
            <a:spAutoFit/>
          </a:bodyPr>
          <a:lstStyle/>
          <a:p>
            <a:pPr algn="r"/>
            <a:r>
              <a:rPr sz="1400" b="1" i="0">
                <a:solidFill>
                  <a:srgbClr val="3C7A4E"/>
                </a:solidFill>
                <a:latin typeface="Yu Gothic"/>
              </a:rPr>
              <a:t>10分</a:t>
            </a:r>
          </a:p>
        </p:txBody>
      </p:sp>
      <p:sp>
        <p:nvSpPr>
          <p:cNvPr id="11" name="Oval 10"/>
          <p:cNvSpPr/>
          <p:nvPr/>
        </p:nvSpPr>
        <p:spPr>
          <a:xfrm>
            <a:off x="540000" y="2358000"/>
            <a:ext cx="468000" cy="468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2</a:t>
            </a:r>
          </a:p>
        </p:txBody>
      </p:sp>
      <p:sp>
        <p:nvSpPr>
          <p:cNvPr id="12" name="TextBox 11"/>
          <p:cNvSpPr txBox="1"/>
          <p:nvPr/>
        </p:nvSpPr>
        <p:spPr>
          <a:xfrm>
            <a:off x="1188000" y="2412000"/>
            <a:ext cx="7920000" cy="360000"/>
          </a:xfrm>
          <a:prstGeom prst="rect">
            <a:avLst/>
          </a:prstGeom>
          <a:noFill/>
        </p:spPr>
        <p:txBody>
          <a:bodyPr wrap="square" lIns="36000" rIns="36000" tIns="18000" bIns="18000" anchor="t">
            <a:spAutoFit/>
          </a:bodyPr>
          <a:lstStyle/>
          <a:p>
            <a:pPr algn="l"/>
            <a:r>
              <a:rPr sz="1700" b="1" i="0">
                <a:solidFill>
                  <a:srgbClr val="C2571C"/>
                </a:solidFill>
                <a:latin typeface="Yu Gothic"/>
              </a:rPr>
              <a:t>ケアマネジメントへの影響 ― 認知症観の転換</a:t>
            </a:r>
          </a:p>
        </p:txBody>
      </p:sp>
      <p:sp>
        <p:nvSpPr>
          <p:cNvPr id="13" name="TextBox 12"/>
          <p:cNvSpPr txBox="1"/>
          <p:nvPr/>
        </p:nvSpPr>
        <p:spPr>
          <a:xfrm>
            <a:off x="10752119" y="2430000"/>
            <a:ext cx="1080000" cy="360000"/>
          </a:xfrm>
          <a:prstGeom prst="rect">
            <a:avLst/>
          </a:prstGeom>
          <a:noFill/>
        </p:spPr>
        <p:txBody>
          <a:bodyPr wrap="square" lIns="36000" rIns="36000" tIns="18000" bIns="18000" anchor="t">
            <a:spAutoFit/>
          </a:bodyPr>
          <a:lstStyle/>
          <a:p>
            <a:pPr algn="r"/>
            <a:r>
              <a:rPr sz="1400" b="1" i="0">
                <a:solidFill>
                  <a:srgbClr val="3C7A4E"/>
                </a:solidFill>
                <a:latin typeface="Yu Gothic"/>
              </a:rPr>
              <a:t>10分</a:t>
            </a:r>
          </a:p>
        </p:txBody>
      </p:sp>
      <p:sp>
        <p:nvSpPr>
          <p:cNvPr id="14" name="Oval 13"/>
          <p:cNvSpPr/>
          <p:nvPr/>
        </p:nvSpPr>
        <p:spPr>
          <a:xfrm>
            <a:off x="540000" y="3024000"/>
            <a:ext cx="468000" cy="468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3</a:t>
            </a:r>
          </a:p>
        </p:txBody>
      </p:sp>
      <p:sp>
        <p:nvSpPr>
          <p:cNvPr id="15" name="TextBox 14"/>
          <p:cNvSpPr txBox="1"/>
          <p:nvPr/>
        </p:nvSpPr>
        <p:spPr>
          <a:xfrm>
            <a:off x="1188000" y="3078000"/>
            <a:ext cx="7920000" cy="360000"/>
          </a:xfrm>
          <a:prstGeom prst="rect">
            <a:avLst/>
          </a:prstGeom>
          <a:noFill/>
        </p:spPr>
        <p:txBody>
          <a:bodyPr wrap="square" lIns="36000" rIns="36000" tIns="18000" bIns="18000" anchor="t">
            <a:spAutoFit/>
          </a:bodyPr>
          <a:lstStyle/>
          <a:p>
            <a:pPr algn="l"/>
            <a:r>
              <a:rPr sz="1700" b="1" i="0">
                <a:solidFill>
                  <a:srgbClr val="C2571C"/>
                </a:solidFill>
                <a:latin typeface="Yu Gothic"/>
              </a:rPr>
              <a:t>本人の意思決定支援 ― 形成・表明・実現</a:t>
            </a:r>
          </a:p>
        </p:txBody>
      </p:sp>
      <p:sp>
        <p:nvSpPr>
          <p:cNvPr id="16" name="TextBox 15"/>
          <p:cNvSpPr txBox="1"/>
          <p:nvPr/>
        </p:nvSpPr>
        <p:spPr>
          <a:xfrm>
            <a:off x="10752119" y="3096000"/>
            <a:ext cx="1080000" cy="360000"/>
          </a:xfrm>
          <a:prstGeom prst="rect">
            <a:avLst/>
          </a:prstGeom>
          <a:noFill/>
        </p:spPr>
        <p:txBody>
          <a:bodyPr wrap="square" lIns="36000" rIns="36000" tIns="18000" bIns="18000" anchor="t">
            <a:spAutoFit/>
          </a:bodyPr>
          <a:lstStyle/>
          <a:p>
            <a:pPr algn="r"/>
            <a:r>
              <a:rPr sz="1400" b="1" i="0">
                <a:solidFill>
                  <a:srgbClr val="3C7A4E"/>
                </a:solidFill>
                <a:latin typeface="Yu Gothic"/>
              </a:rPr>
              <a:t>25分</a:t>
            </a:r>
          </a:p>
        </p:txBody>
      </p:sp>
      <p:sp>
        <p:nvSpPr>
          <p:cNvPr id="17" name="Oval 16"/>
          <p:cNvSpPr/>
          <p:nvPr/>
        </p:nvSpPr>
        <p:spPr>
          <a:xfrm>
            <a:off x="540000" y="3690000"/>
            <a:ext cx="468000" cy="468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4</a:t>
            </a:r>
          </a:p>
        </p:txBody>
      </p:sp>
      <p:sp>
        <p:nvSpPr>
          <p:cNvPr id="18" name="TextBox 17"/>
          <p:cNvSpPr txBox="1"/>
          <p:nvPr/>
        </p:nvSpPr>
        <p:spPr>
          <a:xfrm>
            <a:off x="1188000" y="3744000"/>
            <a:ext cx="7920000" cy="360000"/>
          </a:xfrm>
          <a:prstGeom prst="rect">
            <a:avLst/>
          </a:prstGeom>
          <a:noFill/>
        </p:spPr>
        <p:txBody>
          <a:bodyPr wrap="square" lIns="36000" rIns="36000" tIns="18000" bIns="18000" anchor="t">
            <a:spAutoFit/>
          </a:bodyPr>
          <a:lstStyle/>
          <a:p>
            <a:pPr algn="l"/>
            <a:r>
              <a:rPr sz="1700" b="1" i="0">
                <a:solidFill>
                  <a:srgbClr val="C2571C"/>
                </a:solidFill>
                <a:latin typeface="Yu Gothic"/>
              </a:rPr>
              <a:t>段階に応じた認知症の人と家族への実践</a:t>
            </a:r>
          </a:p>
        </p:txBody>
      </p:sp>
      <p:sp>
        <p:nvSpPr>
          <p:cNvPr id="19" name="TextBox 18"/>
          <p:cNvSpPr txBox="1"/>
          <p:nvPr/>
        </p:nvSpPr>
        <p:spPr>
          <a:xfrm>
            <a:off x="10752119" y="3762000"/>
            <a:ext cx="1080000" cy="360000"/>
          </a:xfrm>
          <a:prstGeom prst="rect">
            <a:avLst/>
          </a:prstGeom>
          <a:noFill/>
        </p:spPr>
        <p:txBody>
          <a:bodyPr wrap="square" lIns="36000" rIns="36000" tIns="18000" bIns="18000" anchor="t">
            <a:spAutoFit/>
          </a:bodyPr>
          <a:lstStyle/>
          <a:p>
            <a:pPr algn="r"/>
            <a:r>
              <a:rPr sz="1400" b="1" i="0">
                <a:solidFill>
                  <a:srgbClr val="3C7A4E"/>
                </a:solidFill>
                <a:latin typeface="Yu Gothic"/>
              </a:rPr>
              <a:t>20分</a:t>
            </a:r>
          </a:p>
        </p:txBody>
      </p:sp>
      <p:sp>
        <p:nvSpPr>
          <p:cNvPr id="20" name="Oval 19"/>
          <p:cNvSpPr/>
          <p:nvPr/>
        </p:nvSpPr>
        <p:spPr>
          <a:xfrm>
            <a:off x="540000" y="4356000"/>
            <a:ext cx="468000" cy="468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5</a:t>
            </a:r>
          </a:p>
        </p:txBody>
      </p:sp>
      <p:sp>
        <p:nvSpPr>
          <p:cNvPr id="21" name="TextBox 20"/>
          <p:cNvSpPr txBox="1"/>
          <p:nvPr/>
        </p:nvSpPr>
        <p:spPr>
          <a:xfrm>
            <a:off x="1188000" y="4410000"/>
            <a:ext cx="7920000" cy="360000"/>
          </a:xfrm>
          <a:prstGeom prst="rect">
            <a:avLst/>
          </a:prstGeom>
          <a:noFill/>
        </p:spPr>
        <p:txBody>
          <a:bodyPr wrap="square" lIns="36000" rIns="36000" tIns="18000" bIns="18000" anchor="t">
            <a:spAutoFit/>
          </a:bodyPr>
          <a:lstStyle/>
          <a:p>
            <a:pPr algn="l"/>
            <a:r>
              <a:rPr sz="1700" b="1" i="0">
                <a:solidFill>
                  <a:srgbClr val="C2571C"/>
                </a:solidFill>
                <a:latin typeface="Yu Gothic"/>
              </a:rPr>
              <a:t>地域共生に向けた実践と地域資源</a:t>
            </a:r>
          </a:p>
        </p:txBody>
      </p:sp>
      <p:sp>
        <p:nvSpPr>
          <p:cNvPr id="22" name="TextBox 21"/>
          <p:cNvSpPr txBox="1"/>
          <p:nvPr/>
        </p:nvSpPr>
        <p:spPr>
          <a:xfrm>
            <a:off x="10752119" y="4428000"/>
            <a:ext cx="1080000" cy="360000"/>
          </a:xfrm>
          <a:prstGeom prst="rect">
            <a:avLst/>
          </a:prstGeom>
          <a:noFill/>
        </p:spPr>
        <p:txBody>
          <a:bodyPr wrap="square" lIns="36000" rIns="36000" tIns="18000" bIns="18000" anchor="t">
            <a:spAutoFit/>
          </a:bodyPr>
          <a:lstStyle/>
          <a:p>
            <a:pPr algn="r"/>
            <a:r>
              <a:rPr sz="1400" b="1" i="0">
                <a:solidFill>
                  <a:srgbClr val="3C7A4E"/>
                </a:solidFill>
                <a:latin typeface="Yu Gothic"/>
              </a:rPr>
              <a:t>20分</a:t>
            </a:r>
          </a:p>
        </p:txBody>
      </p:sp>
      <p:sp>
        <p:nvSpPr>
          <p:cNvPr id="23" name="Oval 22"/>
          <p:cNvSpPr/>
          <p:nvPr/>
        </p:nvSpPr>
        <p:spPr>
          <a:xfrm>
            <a:off x="540000" y="5022000"/>
            <a:ext cx="468000" cy="468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6</a:t>
            </a:r>
          </a:p>
        </p:txBody>
      </p:sp>
      <p:sp>
        <p:nvSpPr>
          <p:cNvPr id="24" name="TextBox 23"/>
          <p:cNvSpPr txBox="1"/>
          <p:nvPr/>
        </p:nvSpPr>
        <p:spPr>
          <a:xfrm>
            <a:off x="1188000" y="5076000"/>
            <a:ext cx="7920000" cy="360000"/>
          </a:xfrm>
          <a:prstGeom prst="rect">
            <a:avLst/>
          </a:prstGeom>
          <a:noFill/>
        </p:spPr>
        <p:txBody>
          <a:bodyPr wrap="square" lIns="36000" rIns="36000" tIns="18000" bIns="18000" anchor="t">
            <a:spAutoFit/>
          </a:bodyPr>
          <a:lstStyle/>
          <a:p>
            <a:pPr algn="l"/>
            <a:r>
              <a:rPr sz="1700" b="1" i="0">
                <a:solidFill>
                  <a:srgbClr val="C2571C"/>
                </a:solidFill>
                <a:latin typeface="Yu Gothic"/>
              </a:rPr>
              <a:t>まとめ ― 主任CMが持ち帰るもの</a:t>
            </a:r>
          </a:p>
        </p:txBody>
      </p:sp>
      <p:sp>
        <p:nvSpPr>
          <p:cNvPr id="25" name="TextBox 24"/>
          <p:cNvSpPr txBox="1"/>
          <p:nvPr/>
        </p:nvSpPr>
        <p:spPr>
          <a:xfrm>
            <a:off x="10752119" y="5094000"/>
            <a:ext cx="1080000" cy="360000"/>
          </a:xfrm>
          <a:prstGeom prst="rect">
            <a:avLst/>
          </a:prstGeom>
          <a:noFill/>
        </p:spPr>
        <p:txBody>
          <a:bodyPr wrap="square" lIns="36000" rIns="36000" tIns="18000" bIns="18000" anchor="t">
            <a:spAutoFit/>
          </a:bodyPr>
          <a:lstStyle/>
          <a:p>
            <a:pPr algn="r"/>
            <a:r>
              <a:rPr sz="1400" b="1" i="0">
                <a:solidFill>
                  <a:srgbClr val="3C7A4E"/>
                </a:solidFill>
                <a:latin typeface="Yu Gothic"/>
              </a:rPr>
              <a:t> 5分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FFFFFF"/>
                </a:solidFill>
                <a:latin typeface="Yu Gothic"/>
              </a:rPr>
              <a:t>PART 1</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認知症基本法の理解</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FAF1DA"/>
                </a:solidFill>
                <a:latin typeface="Yu Gothic"/>
              </a:rPr>
              <a:t>Understanding the Basic Act on Dementia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認知症基本法の理解</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認知症基本法とは</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5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正式名称と施行</a:t>
            </a:r>
          </a:p>
        </p:txBody>
      </p:sp>
      <p:sp>
        <p:nvSpPr>
          <p:cNvPr id="10" name="Rectangle 9"/>
          <p:cNvSpPr/>
          <p:nvPr/>
        </p:nvSpPr>
        <p:spPr>
          <a:xfrm>
            <a:off x="432000" y="1908000"/>
            <a:ext cx="11304000" cy="828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792000"/>
          </a:xfrm>
          <a:prstGeom prst="rect">
            <a:avLst/>
          </a:prstGeom>
          <a:noFill/>
        </p:spPr>
        <p:txBody>
          <a:bodyPr wrap="square" lIns="36000" rIns="36000" tIns="18000" bIns="18000" anchor="t">
            <a:spAutoFit/>
          </a:bodyPr>
          <a:lstStyle/>
          <a:p>
            <a:pPr algn="l"/>
            <a:r>
              <a:rPr sz="1300" b="0" i="0">
                <a:solidFill>
                  <a:srgbClr val="35302B"/>
                </a:solidFill>
                <a:latin typeface="Yu Gothic"/>
              </a:rPr>
              <a:t>■ 「共生社会の実現を推進するための認知症基本法」</a:t>
            </a:r>
          </a:p>
          <a:p>
            <a:pPr algn="l"/>
            <a:r>
              <a:rPr sz="1300" b="0" i="0">
                <a:solidFill>
                  <a:srgbClr val="35302B"/>
                </a:solidFill>
                <a:latin typeface="Yu Gothic"/>
              </a:rPr>
              <a:t>■ 令和6年(2024年)1月1日 施行</a:t>
            </a:r>
          </a:p>
          <a:p>
            <a:pPr algn="l"/>
            <a:r>
              <a:rPr sz="1300" b="0" i="0">
                <a:solidFill>
                  <a:srgbClr val="35302B"/>
                </a:solidFill>
                <a:latin typeface="Yu Gothic"/>
              </a:rPr>
              <a:t>■ 認知症の人が尊厳を保持し、希望を持って暮らせる「共生社会」の実現を目的とする</a:t>
            </a:r>
          </a:p>
        </p:txBody>
      </p:sp>
      <p:sp>
        <p:nvSpPr>
          <p:cNvPr id="12" name="Rectangle 11"/>
          <p:cNvSpPr/>
          <p:nvPr/>
        </p:nvSpPr>
        <p:spPr>
          <a:xfrm>
            <a:off x="432000" y="2880000"/>
            <a:ext cx="5580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91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法律が定める主な事項</a:t>
            </a:r>
          </a:p>
        </p:txBody>
      </p:sp>
      <p:sp>
        <p:nvSpPr>
          <p:cNvPr id="14" name="Rectangle 13"/>
          <p:cNvSpPr/>
          <p:nvPr/>
        </p:nvSpPr>
        <p:spPr>
          <a:xfrm>
            <a:off x="432000" y="3240000"/>
            <a:ext cx="5580000" cy="1260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276000"/>
            <a:ext cx="5364000" cy="1224000"/>
          </a:xfrm>
          <a:prstGeom prst="rect">
            <a:avLst/>
          </a:prstGeom>
          <a:noFill/>
        </p:spPr>
        <p:txBody>
          <a:bodyPr wrap="square" lIns="36000" rIns="36000" tIns="18000" bIns="18000" anchor="t">
            <a:spAutoFit/>
          </a:bodyPr>
          <a:lstStyle/>
          <a:p>
            <a:pPr algn="l"/>
            <a:r>
              <a:rPr sz="1200" b="0" i="0">
                <a:solidFill>
                  <a:srgbClr val="35302B"/>
                </a:solidFill>
                <a:latin typeface="Yu Gothic"/>
              </a:rPr>
              <a:t>■ 基本理念(7つ)</a:t>
            </a:r>
          </a:p>
          <a:p>
            <a:pPr algn="l"/>
            <a:r>
              <a:rPr sz="1200" b="0" i="0">
                <a:solidFill>
                  <a:srgbClr val="35302B"/>
                </a:solidFill>
                <a:latin typeface="Yu Gothic"/>
              </a:rPr>
              <a:t/>
            </a:r>
          </a:p>
          <a:p>
            <a:pPr algn="l"/>
            <a:r>
              <a:rPr sz="1200" b="0" i="0">
                <a:solidFill>
                  <a:srgbClr val="35302B"/>
                </a:solidFill>
                <a:latin typeface="Yu Gothic"/>
              </a:rPr>
              <a:t>■ 国・地方公共団体・国民・事業者の責務</a:t>
            </a:r>
          </a:p>
          <a:p>
            <a:pPr algn="l"/>
            <a:r>
              <a:rPr sz="1200" b="0" i="0">
                <a:solidFill>
                  <a:srgbClr val="35302B"/>
                </a:solidFill>
                <a:latin typeface="Yu Gothic"/>
              </a:rPr>
              <a:t/>
            </a:r>
          </a:p>
          <a:p>
            <a:pPr algn="l"/>
            <a:r>
              <a:rPr sz="1200" b="0" i="0">
                <a:solidFill>
                  <a:srgbClr val="35302B"/>
                </a:solidFill>
                <a:latin typeface="Yu Gothic"/>
              </a:rPr>
              <a:t>■ 認知症施策推進基本計画の策定</a:t>
            </a:r>
          </a:p>
          <a:p>
            <a:pPr algn="l"/>
            <a:r>
              <a:rPr sz="1200" b="0" i="0">
                <a:solidFill>
                  <a:srgbClr val="35302B"/>
                </a:solidFill>
                <a:latin typeface="Yu Gothic"/>
              </a:rPr>
              <a:t/>
            </a:r>
          </a:p>
          <a:p>
            <a:pPr algn="l"/>
            <a:r>
              <a:rPr sz="1200" b="0" i="0">
                <a:solidFill>
                  <a:srgbClr val="35302B"/>
                </a:solidFill>
                <a:latin typeface="Yu Gothic"/>
              </a:rPr>
              <a:t>■ 認知症の日(9月21日)・認知症月間(9月)</a:t>
            </a:r>
          </a:p>
        </p:txBody>
      </p:sp>
      <p:sp>
        <p:nvSpPr>
          <p:cNvPr id="16" name="Rectangle 15"/>
          <p:cNvSpPr/>
          <p:nvPr/>
        </p:nvSpPr>
        <p:spPr>
          <a:xfrm>
            <a:off x="6300000" y="2880000"/>
            <a:ext cx="5400000" cy="360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91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「新しい認知症観」への転換</a:t>
            </a:r>
          </a:p>
        </p:txBody>
      </p:sp>
      <p:sp>
        <p:nvSpPr>
          <p:cNvPr id="18" name="Rectangle 17"/>
          <p:cNvSpPr/>
          <p:nvPr/>
        </p:nvSpPr>
        <p:spPr>
          <a:xfrm>
            <a:off x="6300000" y="3240000"/>
            <a:ext cx="5400000" cy="1260000"/>
          </a:xfrm>
          <a:prstGeom prst="rect">
            <a:avLst/>
          </a:prstGeom>
          <a:solidFill>
            <a:srgbClr val="FA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276000"/>
            <a:ext cx="5184000" cy="1224000"/>
          </a:xfrm>
          <a:prstGeom prst="rect">
            <a:avLst/>
          </a:prstGeom>
          <a:noFill/>
        </p:spPr>
        <p:txBody>
          <a:bodyPr wrap="square" lIns="36000" rIns="36000" tIns="18000" bIns="18000" anchor="t">
            <a:spAutoFit/>
          </a:bodyPr>
          <a:lstStyle/>
          <a:p>
            <a:pPr algn="l"/>
            <a:r>
              <a:rPr sz="1200" b="0" i="0">
                <a:solidFill>
                  <a:srgbClr val="35302B"/>
                </a:solidFill>
                <a:latin typeface="Yu Gothic"/>
              </a:rPr>
              <a:t>■ 認知症は「誰もがなりうるもの」</a:t>
            </a:r>
          </a:p>
          <a:p>
            <a:pPr algn="l"/>
            <a:r>
              <a:rPr sz="1200" b="0" i="0">
                <a:solidFill>
                  <a:srgbClr val="35302B"/>
                </a:solidFill>
                <a:latin typeface="Yu Gothic"/>
              </a:rPr>
              <a:t/>
            </a:r>
          </a:p>
          <a:p>
            <a:pPr algn="l"/>
            <a:r>
              <a:rPr sz="1200" b="0" i="0">
                <a:solidFill>
                  <a:srgbClr val="35302B"/>
                </a:solidFill>
                <a:latin typeface="Yu Gothic"/>
              </a:rPr>
              <a:t>■ 認知症になっても「希望を持って</a:t>
            </a:r>
          </a:p>
          <a:p>
            <a:pPr algn="l"/>
            <a:r>
              <a:rPr sz="1200" b="0" i="0">
                <a:solidFill>
                  <a:srgbClr val="35302B"/>
                </a:solidFill>
                <a:latin typeface="Yu Gothic"/>
              </a:rPr>
              <a:t>   自分らしく暮らし続けられる」</a:t>
            </a:r>
          </a:p>
          <a:p>
            <a:pPr algn="l"/>
            <a:r>
              <a:rPr sz="1200" b="0" i="0">
                <a:solidFill>
                  <a:srgbClr val="35302B"/>
                </a:solidFill>
                <a:latin typeface="Yu Gothic"/>
              </a:rPr>
              <a:t/>
            </a:r>
          </a:p>
          <a:p>
            <a:pPr algn="l"/>
            <a:r>
              <a:rPr sz="1200" b="0" i="0">
                <a:solidFill>
                  <a:srgbClr val="35302B"/>
                </a:solidFill>
                <a:latin typeface="Yu Gothic"/>
              </a:rPr>
              <a:t>■ 認知症の人は「支えられるだけの存在」</a:t>
            </a:r>
          </a:p>
          <a:p>
            <a:pPr algn="l"/>
            <a:r>
              <a:rPr sz="1200" b="0" i="0">
                <a:solidFill>
                  <a:srgbClr val="35302B"/>
                </a:solidFill>
                <a:latin typeface="Yu Gothic"/>
              </a:rPr>
              <a:t>   ではなく、社会の対等な構成員</a:t>
            </a:r>
          </a:p>
        </p:txBody>
      </p:sp>
      <p:sp>
        <p:nvSpPr>
          <p:cNvPr id="20" name="TextBox 19"/>
          <p:cNvSpPr txBox="1"/>
          <p:nvPr/>
        </p:nvSpPr>
        <p:spPr>
          <a:xfrm>
            <a:off x="432000" y="4680000"/>
            <a:ext cx="11328119" cy="720000"/>
          </a:xfrm>
          <a:prstGeom prst="rect">
            <a:avLst/>
          </a:prstGeom>
          <a:noFill/>
        </p:spPr>
        <p:txBody>
          <a:bodyPr wrap="square" lIns="36000" rIns="36000" tIns="18000" bIns="18000" anchor="t">
            <a:spAutoFit/>
          </a:bodyPr>
          <a:lstStyle/>
          <a:p>
            <a:pPr algn="l">
              <a:lnSpc>
                <a:spcPct val="140000"/>
              </a:lnSpc>
            </a:pPr>
            <a:r>
              <a:rPr sz="1300" b="1" i="0">
                <a:solidFill>
                  <a:srgbClr val="C2571C"/>
                </a:solidFill>
                <a:latin typeface="Yu Gothic"/>
              </a:rPr>
              <a:t>▶ 「認知症の人のための法律」であると同時に、「社会全体のあり方を変える法律」。</a:t>
            </a:r>
          </a:p>
          <a:p>
            <a:pPr algn="l">
              <a:lnSpc>
                <a:spcPct val="140000"/>
              </a:lnSpc>
            </a:pPr>
            <a:r>
              <a:rPr sz="1300" b="1" i="0">
                <a:solidFill>
                  <a:srgbClr val="C2571C"/>
                </a:solidFill>
                <a:latin typeface="Yu Gothic"/>
              </a:rPr>
              <a:t>▶ ケアマネジメントの実践も、この理念を土台に問い直すことが求められる。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認知症基本法の理解</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7つの基本理念</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6 / 32</a:t>
            </a:r>
          </a:p>
        </p:txBody>
      </p:sp>
      <p:sp>
        <p:nvSpPr>
          <p:cNvPr id="8" name="Rectangle 7"/>
          <p:cNvSpPr/>
          <p:nvPr/>
        </p:nvSpPr>
        <p:spPr>
          <a:xfrm>
            <a:off x="432000" y="1584000"/>
            <a:ext cx="3671999" cy="1332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22000" y="1674000"/>
            <a:ext cx="360000" cy="360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Yu Gothic"/>
              </a:rPr>
              <a:t>1</a:t>
            </a:r>
          </a:p>
        </p:txBody>
      </p:sp>
      <p:sp>
        <p:nvSpPr>
          <p:cNvPr id="10" name="TextBox 9"/>
          <p:cNvSpPr txBox="1"/>
          <p:nvPr/>
        </p:nvSpPr>
        <p:spPr>
          <a:xfrm>
            <a:off x="935999" y="1692000"/>
            <a:ext cx="3095999" cy="324000"/>
          </a:xfrm>
          <a:prstGeom prst="rect">
            <a:avLst/>
          </a:prstGeom>
          <a:noFill/>
        </p:spPr>
        <p:txBody>
          <a:bodyPr wrap="square" lIns="36000" rIns="36000" tIns="18000" bIns="18000" anchor="t">
            <a:spAutoFit/>
          </a:bodyPr>
          <a:lstStyle/>
          <a:p>
            <a:pPr algn="l"/>
            <a:r>
              <a:rPr sz="1200" b="1" i="0">
                <a:solidFill>
                  <a:srgbClr val="C2571C"/>
                </a:solidFill>
                <a:latin typeface="Yu Gothic"/>
              </a:rPr>
              <a:t>自らの意思による生活</a:t>
            </a:r>
          </a:p>
        </p:txBody>
      </p:sp>
      <p:sp>
        <p:nvSpPr>
          <p:cNvPr id="11" name="TextBox 10"/>
          <p:cNvSpPr txBox="1"/>
          <p:nvPr/>
        </p:nvSpPr>
        <p:spPr>
          <a:xfrm>
            <a:off x="576000" y="2052000"/>
            <a:ext cx="3383999" cy="792000"/>
          </a:xfrm>
          <a:prstGeom prst="rect">
            <a:avLst/>
          </a:prstGeom>
          <a:noFill/>
        </p:spPr>
        <p:txBody>
          <a:bodyPr wrap="square" lIns="36000" rIns="36000" tIns="18000" bIns="18000" anchor="t">
            <a:spAutoFit/>
          </a:bodyPr>
          <a:lstStyle/>
          <a:p>
            <a:pPr algn="l">
              <a:lnSpc>
                <a:spcPct val="130000"/>
              </a:lnSpc>
            </a:pPr>
            <a:r>
              <a:rPr sz="1000" b="0" i="0">
                <a:solidFill>
                  <a:srgbClr val="35302B"/>
                </a:solidFill>
                <a:latin typeface="Yu Gothic"/>
              </a:rPr>
              <a:t>認知症の人が基本的人権を持つ個人として、</a:t>
            </a:r>
          </a:p>
          <a:p>
            <a:pPr algn="l">
              <a:lnSpc>
                <a:spcPct val="130000"/>
              </a:lnSpc>
            </a:pPr>
            <a:r>
              <a:rPr sz="1000" b="0" i="0">
                <a:solidFill>
                  <a:srgbClr val="35302B"/>
                </a:solidFill>
                <a:latin typeface="Yu Gothic"/>
              </a:rPr>
              <a:t>自らの意思で日常生活・社会生活を営める</a:t>
            </a:r>
          </a:p>
        </p:txBody>
      </p:sp>
      <p:sp>
        <p:nvSpPr>
          <p:cNvPr id="12" name="Rectangle 11"/>
          <p:cNvSpPr/>
          <p:nvPr/>
        </p:nvSpPr>
        <p:spPr>
          <a:xfrm>
            <a:off x="4229998" y="1584000"/>
            <a:ext cx="3671999" cy="1332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19998" y="1674000"/>
            <a:ext cx="360000" cy="360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Yu Gothic"/>
              </a:rPr>
              <a:t>2</a:t>
            </a:r>
          </a:p>
        </p:txBody>
      </p:sp>
      <p:sp>
        <p:nvSpPr>
          <p:cNvPr id="14" name="TextBox 13"/>
          <p:cNvSpPr txBox="1"/>
          <p:nvPr/>
        </p:nvSpPr>
        <p:spPr>
          <a:xfrm>
            <a:off x="4733997" y="1692000"/>
            <a:ext cx="3095999" cy="324000"/>
          </a:xfrm>
          <a:prstGeom prst="rect">
            <a:avLst/>
          </a:prstGeom>
          <a:noFill/>
        </p:spPr>
        <p:txBody>
          <a:bodyPr wrap="square" lIns="36000" rIns="36000" tIns="18000" bIns="18000" anchor="t">
            <a:spAutoFit/>
          </a:bodyPr>
          <a:lstStyle/>
          <a:p>
            <a:pPr algn="l"/>
            <a:r>
              <a:rPr sz="1200" b="1" i="0">
                <a:solidFill>
                  <a:srgbClr val="C2571C"/>
                </a:solidFill>
                <a:latin typeface="Yu Gothic"/>
              </a:rPr>
              <a:t>正しい知識と理解</a:t>
            </a:r>
          </a:p>
        </p:txBody>
      </p:sp>
      <p:sp>
        <p:nvSpPr>
          <p:cNvPr id="15" name="TextBox 14"/>
          <p:cNvSpPr txBox="1"/>
          <p:nvPr/>
        </p:nvSpPr>
        <p:spPr>
          <a:xfrm>
            <a:off x="4373998" y="2052000"/>
            <a:ext cx="3383999" cy="792000"/>
          </a:xfrm>
          <a:prstGeom prst="rect">
            <a:avLst/>
          </a:prstGeom>
          <a:noFill/>
        </p:spPr>
        <p:txBody>
          <a:bodyPr wrap="square" lIns="36000" rIns="36000" tIns="18000" bIns="18000" anchor="t">
            <a:spAutoFit/>
          </a:bodyPr>
          <a:lstStyle/>
          <a:p>
            <a:pPr algn="l">
              <a:lnSpc>
                <a:spcPct val="130000"/>
              </a:lnSpc>
            </a:pPr>
            <a:r>
              <a:rPr sz="1000" b="0" i="0">
                <a:solidFill>
                  <a:srgbClr val="35302B"/>
                </a:solidFill>
                <a:latin typeface="Yu Gothic"/>
              </a:rPr>
              <a:t>国民が認知症に関する正しい知識と理解を</a:t>
            </a:r>
          </a:p>
          <a:p>
            <a:pPr algn="l">
              <a:lnSpc>
                <a:spcPct val="130000"/>
              </a:lnSpc>
            </a:pPr>
            <a:r>
              <a:rPr sz="1000" b="0" i="0">
                <a:solidFill>
                  <a:srgbClr val="35302B"/>
                </a:solidFill>
                <a:latin typeface="Yu Gothic"/>
              </a:rPr>
              <a:t>深められるようにする</a:t>
            </a:r>
          </a:p>
        </p:txBody>
      </p:sp>
      <p:sp>
        <p:nvSpPr>
          <p:cNvPr id="16" name="Rectangle 15"/>
          <p:cNvSpPr/>
          <p:nvPr/>
        </p:nvSpPr>
        <p:spPr>
          <a:xfrm>
            <a:off x="8027996" y="1584000"/>
            <a:ext cx="3671999" cy="1332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17996" y="1674000"/>
            <a:ext cx="360000" cy="360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Yu Gothic"/>
              </a:rPr>
              <a:t>3</a:t>
            </a:r>
          </a:p>
        </p:txBody>
      </p:sp>
      <p:sp>
        <p:nvSpPr>
          <p:cNvPr id="18" name="TextBox 17"/>
          <p:cNvSpPr txBox="1"/>
          <p:nvPr/>
        </p:nvSpPr>
        <p:spPr>
          <a:xfrm>
            <a:off x="8531995" y="1692000"/>
            <a:ext cx="3095999" cy="324000"/>
          </a:xfrm>
          <a:prstGeom prst="rect">
            <a:avLst/>
          </a:prstGeom>
          <a:noFill/>
        </p:spPr>
        <p:txBody>
          <a:bodyPr wrap="square" lIns="36000" rIns="36000" tIns="18000" bIns="18000" anchor="t">
            <a:spAutoFit/>
          </a:bodyPr>
          <a:lstStyle/>
          <a:p>
            <a:pPr algn="l"/>
            <a:r>
              <a:rPr sz="1200" b="1" i="0">
                <a:solidFill>
                  <a:srgbClr val="C2571C"/>
                </a:solidFill>
                <a:latin typeface="Yu Gothic"/>
              </a:rPr>
              <a:t>社会的障壁の除去</a:t>
            </a:r>
          </a:p>
        </p:txBody>
      </p:sp>
      <p:sp>
        <p:nvSpPr>
          <p:cNvPr id="19" name="TextBox 18"/>
          <p:cNvSpPr txBox="1"/>
          <p:nvPr/>
        </p:nvSpPr>
        <p:spPr>
          <a:xfrm>
            <a:off x="8171996" y="2052000"/>
            <a:ext cx="3383999" cy="792000"/>
          </a:xfrm>
          <a:prstGeom prst="rect">
            <a:avLst/>
          </a:prstGeom>
          <a:noFill/>
        </p:spPr>
        <p:txBody>
          <a:bodyPr wrap="square" lIns="36000" rIns="36000" tIns="18000" bIns="18000" anchor="t">
            <a:spAutoFit/>
          </a:bodyPr>
          <a:lstStyle/>
          <a:p>
            <a:pPr algn="l">
              <a:lnSpc>
                <a:spcPct val="130000"/>
              </a:lnSpc>
            </a:pPr>
            <a:r>
              <a:rPr sz="1000" b="0" i="0">
                <a:solidFill>
                  <a:srgbClr val="35302B"/>
                </a:solidFill>
                <a:latin typeface="Yu Gothic"/>
              </a:rPr>
              <a:t>障壁を取り除き、対等な構成員として</a:t>
            </a:r>
          </a:p>
          <a:p>
            <a:pPr algn="l">
              <a:lnSpc>
                <a:spcPct val="130000"/>
              </a:lnSpc>
            </a:pPr>
            <a:r>
              <a:rPr sz="1000" b="0" i="0">
                <a:solidFill>
                  <a:srgbClr val="35302B"/>
                </a:solidFill>
                <a:latin typeface="Yu Gothic"/>
              </a:rPr>
              <a:t>地域で安全・安心に自立して暮らせる</a:t>
            </a:r>
          </a:p>
        </p:txBody>
      </p:sp>
      <p:sp>
        <p:nvSpPr>
          <p:cNvPr id="20" name="Rectangle 19"/>
          <p:cNvSpPr/>
          <p:nvPr/>
        </p:nvSpPr>
        <p:spPr>
          <a:xfrm>
            <a:off x="432000" y="3024000"/>
            <a:ext cx="3671999" cy="1332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22000" y="3114000"/>
            <a:ext cx="360000" cy="360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Yu Gothic"/>
              </a:rPr>
              <a:t>4</a:t>
            </a:r>
          </a:p>
        </p:txBody>
      </p:sp>
      <p:sp>
        <p:nvSpPr>
          <p:cNvPr id="22" name="TextBox 21"/>
          <p:cNvSpPr txBox="1"/>
          <p:nvPr/>
        </p:nvSpPr>
        <p:spPr>
          <a:xfrm>
            <a:off x="935999" y="3132000"/>
            <a:ext cx="3095999" cy="324000"/>
          </a:xfrm>
          <a:prstGeom prst="rect">
            <a:avLst/>
          </a:prstGeom>
          <a:noFill/>
        </p:spPr>
        <p:txBody>
          <a:bodyPr wrap="square" lIns="36000" rIns="36000" tIns="18000" bIns="18000" anchor="t">
            <a:spAutoFit/>
          </a:bodyPr>
          <a:lstStyle/>
          <a:p>
            <a:pPr algn="l"/>
            <a:r>
              <a:rPr sz="1200" b="1" i="0">
                <a:solidFill>
                  <a:srgbClr val="C2571C"/>
                </a:solidFill>
                <a:latin typeface="Yu Gothic"/>
              </a:rPr>
              <a:t>切れ目のないサービス</a:t>
            </a:r>
          </a:p>
        </p:txBody>
      </p:sp>
      <p:sp>
        <p:nvSpPr>
          <p:cNvPr id="23" name="TextBox 22"/>
          <p:cNvSpPr txBox="1"/>
          <p:nvPr/>
        </p:nvSpPr>
        <p:spPr>
          <a:xfrm>
            <a:off x="576000" y="3492000"/>
            <a:ext cx="3383999" cy="792000"/>
          </a:xfrm>
          <a:prstGeom prst="rect">
            <a:avLst/>
          </a:prstGeom>
          <a:noFill/>
        </p:spPr>
        <p:txBody>
          <a:bodyPr wrap="square" lIns="36000" rIns="36000" tIns="18000" bIns="18000" anchor="t">
            <a:spAutoFit/>
          </a:bodyPr>
          <a:lstStyle/>
          <a:p>
            <a:pPr algn="l">
              <a:lnSpc>
                <a:spcPct val="130000"/>
              </a:lnSpc>
            </a:pPr>
            <a:r>
              <a:rPr sz="1000" b="0" i="0">
                <a:solidFill>
                  <a:srgbClr val="35302B"/>
                </a:solidFill>
                <a:latin typeface="Yu Gothic"/>
              </a:rPr>
              <a:t>本人の意向を尊重し、保健・医療・福祉の</a:t>
            </a:r>
          </a:p>
          <a:p>
            <a:pPr algn="l">
              <a:lnSpc>
                <a:spcPct val="130000"/>
              </a:lnSpc>
            </a:pPr>
            <a:r>
              <a:rPr sz="1000" b="0" i="0">
                <a:solidFill>
                  <a:srgbClr val="35302B"/>
                </a:solidFill>
                <a:latin typeface="Yu Gothic"/>
              </a:rPr>
              <a:t>サービスが切れ目なく提供される</a:t>
            </a:r>
          </a:p>
        </p:txBody>
      </p:sp>
      <p:sp>
        <p:nvSpPr>
          <p:cNvPr id="24" name="Rectangle 23"/>
          <p:cNvSpPr/>
          <p:nvPr/>
        </p:nvSpPr>
        <p:spPr>
          <a:xfrm>
            <a:off x="4229998" y="3024000"/>
            <a:ext cx="3671999" cy="1332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319998" y="3114000"/>
            <a:ext cx="360000" cy="360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Yu Gothic"/>
              </a:rPr>
              <a:t>5</a:t>
            </a:r>
          </a:p>
        </p:txBody>
      </p:sp>
      <p:sp>
        <p:nvSpPr>
          <p:cNvPr id="26" name="TextBox 25"/>
          <p:cNvSpPr txBox="1"/>
          <p:nvPr/>
        </p:nvSpPr>
        <p:spPr>
          <a:xfrm>
            <a:off x="4733997" y="3132000"/>
            <a:ext cx="3095999" cy="324000"/>
          </a:xfrm>
          <a:prstGeom prst="rect">
            <a:avLst/>
          </a:prstGeom>
          <a:noFill/>
        </p:spPr>
        <p:txBody>
          <a:bodyPr wrap="square" lIns="36000" rIns="36000" tIns="18000" bIns="18000" anchor="t">
            <a:spAutoFit/>
          </a:bodyPr>
          <a:lstStyle/>
          <a:p>
            <a:pPr algn="l"/>
            <a:r>
              <a:rPr sz="1200" b="1" i="0">
                <a:solidFill>
                  <a:srgbClr val="C2571C"/>
                </a:solidFill>
                <a:latin typeface="Yu Gothic"/>
              </a:rPr>
              <a:t>本人と家族への支援</a:t>
            </a:r>
          </a:p>
        </p:txBody>
      </p:sp>
      <p:sp>
        <p:nvSpPr>
          <p:cNvPr id="27" name="TextBox 26"/>
          <p:cNvSpPr txBox="1"/>
          <p:nvPr/>
        </p:nvSpPr>
        <p:spPr>
          <a:xfrm>
            <a:off x="4373998" y="3492000"/>
            <a:ext cx="3383999" cy="792000"/>
          </a:xfrm>
          <a:prstGeom prst="rect">
            <a:avLst/>
          </a:prstGeom>
          <a:noFill/>
        </p:spPr>
        <p:txBody>
          <a:bodyPr wrap="square" lIns="36000" rIns="36000" tIns="18000" bIns="18000" anchor="t">
            <a:spAutoFit/>
          </a:bodyPr>
          <a:lstStyle/>
          <a:p>
            <a:pPr algn="l">
              <a:lnSpc>
                <a:spcPct val="130000"/>
              </a:lnSpc>
            </a:pPr>
            <a:r>
              <a:rPr sz="1000" b="0" i="0">
                <a:solidFill>
                  <a:srgbClr val="35302B"/>
                </a:solidFill>
                <a:latin typeface="Yu Gothic"/>
              </a:rPr>
              <a:t>認知症の人と家族等が、地域で</a:t>
            </a:r>
          </a:p>
          <a:p>
            <a:pPr algn="l">
              <a:lnSpc>
                <a:spcPct val="130000"/>
              </a:lnSpc>
            </a:pPr>
            <a:r>
              <a:rPr sz="1000" b="0" i="0">
                <a:solidFill>
                  <a:srgbClr val="35302B"/>
                </a:solidFill>
                <a:latin typeface="Yu Gothic"/>
              </a:rPr>
              <a:t>安心して暮らせるよう支援する</a:t>
            </a:r>
          </a:p>
        </p:txBody>
      </p:sp>
      <p:sp>
        <p:nvSpPr>
          <p:cNvPr id="28" name="Rectangle 27"/>
          <p:cNvSpPr/>
          <p:nvPr/>
        </p:nvSpPr>
        <p:spPr>
          <a:xfrm>
            <a:off x="8027996" y="3024000"/>
            <a:ext cx="3671999" cy="1332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17996" y="3114000"/>
            <a:ext cx="360000" cy="360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Yu Gothic"/>
              </a:rPr>
              <a:t>6</a:t>
            </a:r>
          </a:p>
        </p:txBody>
      </p:sp>
      <p:sp>
        <p:nvSpPr>
          <p:cNvPr id="30" name="TextBox 29"/>
          <p:cNvSpPr txBox="1"/>
          <p:nvPr/>
        </p:nvSpPr>
        <p:spPr>
          <a:xfrm>
            <a:off x="8531995" y="3132000"/>
            <a:ext cx="3095999" cy="324000"/>
          </a:xfrm>
          <a:prstGeom prst="rect">
            <a:avLst/>
          </a:prstGeom>
          <a:noFill/>
        </p:spPr>
        <p:txBody>
          <a:bodyPr wrap="square" lIns="36000" rIns="36000" tIns="18000" bIns="18000" anchor="t">
            <a:spAutoFit/>
          </a:bodyPr>
          <a:lstStyle/>
          <a:p>
            <a:pPr algn="l"/>
            <a:r>
              <a:rPr sz="1200" b="1" i="0">
                <a:solidFill>
                  <a:srgbClr val="C2571C"/>
                </a:solidFill>
                <a:latin typeface="Yu Gothic"/>
              </a:rPr>
              <a:t>研究等の推進</a:t>
            </a:r>
          </a:p>
        </p:txBody>
      </p:sp>
      <p:sp>
        <p:nvSpPr>
          <p:cNvPr id="31" name="TextBox 30"/>
          <p:cNvSpPr txBox="1"/>
          <p:nvPr/>
        </p:nvSpPr>
        <p:spPr>
          <a:xfrm>
            <a:off x="8171996" y="3492000"/>
            <a:ext cx="3383999" cy="792000"/>
          </a:xfrm>
          <a:prstGeom prst="rect">
            <a:avLst/>
          </a:prstGeom>
          <a:noFill/>
        </p:spPr>
        <p:txBody>
          <a:bodyPr wrap="square" lIns="36000" rIns="36000" tIns="18000" bIns="18000" anchor="t">
            <a:spAutoFit/>
          </a:bodyPr>
          <a:lstStyle/>
          <a:p>
            <a:pPr algn="l">
              <a:lnSpc>
                <a:spcPct val="130000"/>
              </a:lnSpc>
            </a:pPr>
            <a:r>
              <a:rPr sz="1000" b="0" i="0">
                <a:solidFill>
                  <a:srgbClr val="35302B"/>
                </a:solidFill>
                <a:latin typeface="Yu Gothic"/>
              </a:rPr>
              <a:t>予防・診断・治療等の研究を推進し、</a:t>
            </a:r>
          </a:p>
          <a:p>
            <a:pPr algn="l">
              <a:lnSpc>
                <a:spcPct val="130000"/>
              </a:lnSpc>
            </a:pPr>
            <a:r>
              <a:rPr sz="1000" b="0" i="0">
                <a:solidFill>
                  <a:srgbClr val="35302B"/>
                </a:solidFill>
                <a:latin typeface="Yu Gothic"/>
              </a:rPr>
              <a:t>その成果を広く活用する</a:t>
            </a:r>
          </a:p>
        </p:txBody>
      </p:sp>
      <p:sp>
        <p:nvSpPr>
          <p:cNvPr id="32" name="Rectangle 31"/>
          <p:cNvSpPr/>
          <p:nvPr/>
        </p:nvSpPr>
        <p:spPr>
          <a:xfrm>
            <a:off x="4229998" y="4464000"/>
            <a:ext cx="3671999" cy="1332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319998" y="4554000"/>
            <a:ext cx="360000" cy="360000"/>
          </a:xfrm>
          <a:prstGeom prst="ellipse">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Yu Gothic"/>
              </a:rPr>
              <a:t>7</a:t>
            </a:r>
          </a:p>
        </p:txBody>
      </p:sp>
      <p:sp>
        <p:nvSpPr>
          <p:cNvPr id="34" name="TextBox 33"/>
          <p:cNvSpPr txBox="1"/>
          <p:nvPr/>
        </p:nvSpPr>
        <p:spPr>
          <a:xfrm>
            <a:off x="4733997" y="4572000"/>
            <a:ext cx="3095999" cy="324000"/>
          </a:xfrm>
          <a:prstGeom prst="rect">
            <a:avLst/>
          </a:prstGeom>
          <a:noFill/>
        </p:spPr>
        <p:txBody>
          <a:bodyPr wrap="square" lIns="36000" rIns="36000" tIns="18000" bIns="18000" anchor="t">
            <a:spAutoFit/>
          </a:bodyPr>
          <a:lstStyle/>
          <a:p>
            <a:pPr algn="l"/>
            <a:r>
              <a:rPr sz="1200" b="1" i="0">
                <a:solidFill>
                  <a:srgbClr val="C2571C"/>
                </a:solidFill>
                <a:latin typeface="Yu Gothic"/>
              </a:rPr>
              <a:t>分野を超えた総合的取組</a:t>
            </a:r>
          </a:p>
        </p:txBody>
      </p:sp>
      <p:sp>
        <p:nvSpPr>
          <p:cNvPr id="35" name="TextBox 34"/>
          <p:cNvSpPr txBox="1"/>
          <p:nvPr/>
        </p:nvSpPr>
        <p:spPr>
          <a:xfrm>
            <a:off x="4373998" y="4932000"/>
            <a:ext cx="3383999" cy="792000"/>
          </a:xfrm>
          <a:prstGeom prst="rect">
            <a:avLst/>
          </a:prstGeom>
          <a:noFill/>
        </p:spPr>
        <p:txBody>
          <a:bodyPr wrap="square" lIns="36000" rIns="36000" tIns="18000" bIns="18000" anchor="t">
            <a:spAutoFit/>
          </a:bodyPr>
          <a:lstStyle/>
          <a:p>
            <a:pPr algn="l">
              <a:lnSpc>
                <a:spcPct val="130000"/>
              </a:lnSpc>
            </a:pPr>
            <a:r>
              <a:rPr sz="1000" b="0" i="0">
                <a:solidFill>
                  <a:srgbClr val="35302B"/>
                </a:solidFill>
                <a:latin typeface="Yu Gothic"/>
              </a:rPr>
              <a:t>教育・地域づくり・雇用・保健・医療・</a:t>
            </a:r>
          </a:p>
          <a:p>
            <a:pPr algn="l">
              <a:lnSpc>
                <a:spcPct val="130000"/>
              </a:lnSpc>
            </a:pPr>
            <a:r>
              <a:rPr sz="1000" b="0" i="0">
                <a:solidFill>
                  <a:srgbClr val="35302B"/>
                </a:solidFill>
                <a:latin typeface="Yu Gothic"/>
              </a:rPr>
              <a:t>福祉等が連携した総合的な取組</a:t>
            </a:r>
          </a:p>
        </p:txBody>
      </p:sp>
      <p:sp>
        <p:nvSpPr>
          <p:cNvPr id="36" name="TextBox 35"/>
          <p:cNvSpPr txBox="1"/>
          <p:nvPr/>
        </p:nvSpPr>
        <p:spPr>
          <a:xfrm>
            <a:off x="432000" y="5940000"/>
            <a:ext cx="11328119" cy="360000"/>
          </a:xfrm>
          <a:prstGeom prst="rect">
            <a:avLst/>
          </a:prstGeom>
          <a:noFill/>
        </p:spPr>
        <p:txBody>
          <a:bodyPr wrap="square" lIns="36000" rIns="36000" tIns="18000" bIns="18000" anchor="t">
            <a:spAutoFit/>
          </a:bodyPr>
          <a:lstStyle/>
          <a:p>
            <a:pPr algn="l"/>
            <a:r>
              <a:rPr sz="1200" b="1" i="0">
                <a:solidFill>
                  <a:srgbClr val="3C7A4E"/>
                </a:solidFill>
                <a:latin typeface="Yu Gothic"/>
              </a:rPr>
              <a:t>▶ 共通して流れるのは「本人の意思の尊重」と「地域での共生」 ― 本日の研修の二本柱。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認知症基本法の理解</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「共生社会」とは何か</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7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基本法が掲げる「共生社会」</a:t>
            </a:r>
          </a:p>
        </p:txBody>
      </p:sp>
      <p:sp>
        <p:nvSpPr>
          <p:cNvPr id="10" name="Rectangle 9"/>
          <p:cNvSpPr/>
          <p:nvPr/>
        </p:nvSpPr>
        <p:spPr>
          <a:xfrm>
            <a:off x="432000" y="1908000"/>
            <a:ext cx="11304000" cy="61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300" b="0" i="0">
                <a:solidFill>
                  <a:srgbClr val="35302B"/>
                </a:solidFill>
                <a:latin typeface="Yu Gothic"/>
              </a:rPr>
              <a:t>認知症の人を含めた国民一人ひとりが、互いに人格と個性を尊重し合いながら</a:t>
            </a:r>
          </a:p>
          <a:p>
            <a:pPr algn="l"/>
            <a:r>
              <a:rPr sz="1300" b="0" i="0">
                <a:solidFill>
                  <a:srgbClr val="35302B"/>
                </a:solidFill>
                <a:latin typeface="Yu Gothic"/>
              </a:rPr>
              <a:t>共生する活力ある社会 ― 「認知症の人を支える社会」から一歩進んだ考え方。</a:t>
            </a:r>
          </a:p>
        </p:txBody>
      </p:sp>
      <p:sp>
        <p:nvSpPr>
          <p:cNvPr id="12" name="Rectangle 11"/>
          <p:cNvSpPr/>
          <p:nvPr/>
        </p:nvSpPr>
        <p:spPr>
          <a:xfrm>
            <a:off x="432000" y="2628000"/>
            <a:ext cx="5580000" cy="360000"/>
          </a:xfrm>
          <a:prstGeom prst="rect">
            <a:avLst/>
          </a:prstGeom>
          <a:solidFill>
            <a:srgbClr val="6B4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これまで(支える側 / 支えられる側)</a:t>
            </a:r>
          </a:p>
        </p:txBody>
      </p:sp>
      <p:sp>
        <p:nvSpPr>
          <p:cNvPr id="14" name="Rectangle 13"/>
          <p:cNvSpPr/>
          <p:nvPr/>
        </p:nvSpPr>
        <p:spPr>
          <a:xfrm>
            <a:off x="432000" y="2988000"/>
            <a:ext cx="5580000" cy="162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5302B"/>
                </a:solidFill>
                <a:latin typeface="Yu Gothic"/>
              </a:rPr>
              <a:t>■ 認知症の人 = ケアの「対象」</a:t>
            </a:r>
          </a:p>
          <a:p>
            <a:pPr algn="l"/>
            <a:r>
              <a:rPr sz="1200" b="0" i="0">
                <a:solidFill>
                  <a:srgbClr val="35302B"/>
                </a:solidFill>
                <a:latin typeface="Yu Gothic"/>
              </a:rPr>
              <a:t/>
            </a:r>
          </a:p>
          <a:p>
            <a:pPr algn="l"/>
            <a:r>
              <a:rPr sz="1200" b="0" i="0">
                <a:solidFill>
                  <a:srgbClr val="35302B"/>
                </a:solidFill>
                <a:latin typeface="Yu Gothic"/>
              </a:rPr>
              <a:t>■ 「できなくなったこと」に注目</a:t>
            </a:r>
          </a:p>
          <a:p>
            <a:pPr algn="l"/>
            <a:r>
              <a:rPr sz="1200" b="0" i="0">
                <a:solidFill>
                  <a:srgbClr val="35302B"/>
                </a:solidFill>
                <a:latin typeface="Yu Gothic"/>
              </a:rPr>
              <a:t/>
            </a:r>
          </a:p>
          <a:p>
            <a:pPr algn="l"/>
            <a:r>
              <a:rPr sz="1200" b="0" i="0">
                <a:solidFill>
                  <a:srgbClr val="35302B"/>
                </a:solidFill>
                <a:latin typeface="Yu Gothic"/>
              </a:rPr>
              <a:t>■ 周囲が「守る」「管理する」</a:t>
            </a:r>
          </a:p>
          <a:p>
            <a:pPr algn="l"/>
            <a:r>
              <a:rPr sz="1200" b="0" i="0">
                <a:solidFill>
                  <a:srgbClr val="35302B"/>
                </a:solidFill>
                <a:latin typeface="Yu Gothic"/>
              </a:rPr>
              <a:t/>
            </a:r>
          </a:p>
          <a:p>
            <a:pPr algn="l"/>
            <a:r>
              <a:rPr sz="1200" b="0" i="0">
                <a:solidFill>
                  <a:srgbClr val="35302B"/>
                </a:solidFill>
                <a:latin typeface="Yu Gothic"/>
              </a:rPr>
              <a:t>■ 本人不在で物事が決まりがち</a:t>
            </a:r>
          </a:p>
          <a:p>
            <a:pPr algn="l"/>
            <a:r>
              <a:rPr sz="1200" b="0" i="0">
                <a:solidFill>
                  <a:srgbClr val="35302B"/>
                </a:solidFill>
                <a:latin typeface="Yu Gothic"/>
              </a:rPr>
              <a:t/>
            </a:r>
          </a:p>
          <a:p>
            <a:pPr algn="l"/>
            <a:r>
              <a:rPr sz="1200" b="0" i="0">
                <a:solidFill>
                  <a:srgbClr val="35302B"/>
                </a:solidFill>
                <a:latin typeface="Yu Gothic"/>
              </a:rPr>
              <a:t>▶ 善意であっても、本人の力を奪うことに</a:t>
            </a:r>
          </a:p>
        </p:txBody>
      </p:sp>
      <p:sp>
        <p:nvSpPr>
          <p:cNvPr id="16" name="Rectangle 15"/>
          <p:cNvSpPr/>
          <p:nvPr/>
        </p:nvSpPr>
        <p:spPr>
          <a:xfrm>
            <a:off x="6300000" y="2628000"/>
            <a:ext cx="5400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これから(共に生きる)</a:t>
            </a:r>
          </a:p>
        </p:txBody>
      </p:sp>
      <p:sp>
        <p:nvSpPr>
          <p:cNvPr id="18" name="Rectangle 17"/>
          <p:cNvSpPr/>
          <p:nvPr/>
        </p:nvSpPr>
        <p:spPr>
          <a:xfrm>
            <a:off x="6300000" y="2988000"/>
            <a:ext cx="5400000" cy="1620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5302B"/>
                </a:solidFill>
                <a:latin typeface="Yu Gothic"/>
              </a:rPr>
              <a:t>■ 認知症の人 = 社会の対等な構成員</a:t>
            </a:r>
          </a:p>
          <a:p>
            <a:pPr algn="l"/>
            <a:r>
              <a:rPr sz="1200" b="0" i="0">
                <a:solidFill>
                  <a:srgbClr val="35302B"/>
                </a:solidFill>
                <a:latin typeface="Yu Gothic"/>
              </a:rPr>
              <a:t/>
            </a:r>
          </a:p>
          <a:p>
            <a:pPr algn="l"/>
            <a:r>
              <a:rPr sz="1200" b="0" i="0">
                <a:solidFill>
                  <a:srgbClr val="35302B"/>
                </a:solidFill>
                <a:latin typeface="Yu Gothic"/>
              </a:rPr>
              <a:t>■ 「できること」「強み」に注目</a:t>
            </a:r>
          </a:p>
          <a:p>
            <a:pPr algn="l"/>
            <a:r>
              <a:rPr sz="1200" b="0" i="0">
                <a:solidFill>
                  <a:srgbClr val="35302B"/>
                </a:solidFill>
                <a:latin typeface="Yu Gothic"/>
              </a:rPr>
              <a:t/>
            </a:r>
          </a:p>
          <a:p>
            <a:pPr algn="l"/>
            <a:r>
              <a:rPr sz="1200" b="0" i="0">
                <a:solidFill>
                  <a:srgbClr val="35302B"/>
                </a:solidFill>
                <a:latin typeface="Yu Gothic"/>
              </a:rPr>
              <a:t>■ 本人が「役割」と「出番」を持つ</a:t>
            </a:r>
          </a:p>
          <a:p>
            <a:pPr algn="l"/>
            <a:r>
              <a:rPr sz="1200" b="0" i="0">
                <a:solidFill>
                  <a:srgbClr val="35302B"/>
                </a:solidFill>
                <a:latin typeface="Yu Gothic"/>
              </a:rPr>
              <a:t/>
            </a:r>
          </a:p>
          <a:p>
            <a:pPr algn="l"/>
            <a:r>
              <a:rPr sz="1200" b="0" i="0">
                <a:solidFill>
                  <a:srgbClr val="35302B"/>
                </a:solidFill>
                <a:latin typeface="Yu Gothic"/>
              </a:rPr>
              <a:t>■ 本人の声を中心に物事が決まる</a:t>
            </a:r>
          </a:p>
          <a:p>
            <a:pPr algn="l"/>
            <a:r>
              <a:rPr sz="1200" b="0" i="0">
                <a:solidFill>
                  <a:srgbClr val="35302B"/>
                </a:solidFill>
                <a:latin typeface="Yu Gothic"/>
              </a:rPr>
              <a:t/>
            </a:r>
          </a:p>
          <a:p>
            <a:pPr algn="l"/>
            <a:r>
              <a:rPr sz="1200" b="0" i="0">
                <a:solidFill>
                  <a:srgbClr val="35302B"/>
                </a:solidFill>
                <a:latin typeface="Yu Gothic"/>
              </a:rPr>
              <a:t>▶ 本人の力を活かし、共に社会をつくる</a:t>
            </a:r>
          </a:p>
        </p:txBody>
      </p:sp>
      <p:sp>
        <p:nvSpPr>
          <p:cNvPr id="20" name="TextBox 19"/>
          <p:cNvSpPr txBox="1"/>
          <p:nvPr/>
        </p:nvSpPr>
        <p:spPr>
          <a:xfrm>
            <a:off x="432000" y="4788000"/>
            <a:ext cx="11328119" cy="720000"/>
          </a:xfrm>
          <a:prstGeom prst="rect">
            <a:avLst/>
          </a:prstGeom>
          <a:noFill/>
        </p:spPr>
        <p:txBody>
          <a:bodyPr wrap="square" lIns="36000" rIns="36000" tIns="18000" bIns="18000" anchor="t">
            <a:spAutoFit/>
          </a:bodyPr>
          <a:lstStyle/>
          <a:p>
            <a:pPr algn="l">
              <a:lnSpc>
                <a:spcPct val="140000"/>
              </a:lnSpc>
            </a:pPr>
            <a:r>
              <a:rPr sz="1300" b="1" i="0">
                <a:solidFill>
                  <a:srgbClr val="C2571C"/>
                </a:solidFill>
                <a:latin typeface="Yu Gothic"/>
              </a:rPr>
              <a:t>▶ 共生とは「認知症の人がいてもいい社会」ではなく「認知症の人と共につくる社会」。</a:t>
            </a:r>
          </a:p>
          <a:p>
            <a:pPr algn="l">
              <a:lnSpc>
                <a:spcPct val="140000"/>
              </a:lnSpc>
            </a:pPr>
            <a:r>
              <a:rPr sz="1300" b="1" i="0">
                <a:solidFill>
                  <a:srgbClr val="C2571C"/>
                </a:solidFill>
                <a:latin typeface="Yu Gothic"/>
              </a:rPr>
              <a:t>▶ ケアマネジメントも「本人のために」から「本人と共に」へ。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FFFFFF"/>
                </a:solidFill>
                <a:latin typeface="Yu Gothic"/>
              </a:rPr>
              <a:t>PART 2</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ケアマネジメントへの影響</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FAF1DA"/>
                </a:solidFill>
                <a:latin typeface="Yu Gothic"/>
              </a:rPr>
              <a:t>Impact on Care Management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ケアマネジメントへの影響</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認知症観の転換 ― ケアマネジメントが変わる</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9 / 32</a:t>
            </a:r>
          </a:p>
        </p:txBody>
      </p:sp>
      <p:sp>
        <p:nvSpPr>
          <p:cNvPr id="8" name="Rectangle 7"/>
          <p:cNvSpPr/>
          <p:nvPr/>
        </p:nvSpPr>
        <p:spPr>
          <a:xfrm>
            <a:off x="432000" y="1620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6000" y="1656000"/>
            <a:ext cx="277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観点</a:t>
            </a:r>
          </a:p>
        </p:txBody>
      </p:sp>
      <p:sp>
        <p:nvSpPr>
          <p:cNvPr id="10" name="TextBox 9"/>
          <p:cNvSpPr txBox="1"/>
          <p:nvPr/>
        </p:nvSpPr>
        <p:spPr>
          <a:xfrm>
            <a:off x="3366000" y="1656000"/>
            <a:ext cx="4104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これまでの傾向</a:t>
            </a:r>
          </a:p>
        </p:txBody>
      </p:sp>
      <p:sp>
        <p:nvSpPr>
          <p:cNvPr id="11" name="TextBox 10"/>
          <p:cNvSpPr txBox="1"/>
          <p:nvPr/>
        </p:nvSpPr>
        <p:spPr>
          <a:xfrm>
            <a:off x="7578000" y="1656000"/>
            <a:ext cx="4104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基本法が求める方向</a:t>
            </a:r>
          </a:p>
        </p:txBody>
      </p:sp>
      <p:sp>
        <p:nvSpPr>
          <p:cNvPr id="12" name="Rectangle 11"/>
          <p:cNvSpPr/>
          <p:nvPr/>
        </p:nvSpPr>
        <p:spPr>
          <a:xfrm>
            <a:off x="432000" y="1980000"/>
            <a:ext cx="11304000" cy="540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000" y="2034000"/>
            <a:ext cx="2772000" cy="432000"/>
          </a:xfrm>
          <a:prstGeom prst="rect">
            <a:avLst/>
          </a:prstGeom>
          <a:noFill/>
        </p:spPr>
        <p:txBody>
          <a:bodyPr wrap="square" lIns="36000" rIns="36000" tIns="18000" bIns="18000" anchor="ctr">
            <a:spAutoFit/>
          </a:bodyPr>
          <a:lstStyle/>
          <a:p>
            <a:pPr algn="ctr"/>
            <a:r>
              <a:rPr sz="1200" b="1" i="0">
                <a:solidFill>
                  <a:srgbClr val="C2571C"/>
                </a:solidFill>
                <a:latin typeface="Yu Gothic"/>
              </a:rPr>
              <a:t>主体は誰か</a:t>
            </a:r>
          </a:p>
        </p:txBody>
      </p:sp>
      <p:sp>
        <p:nvSpPr>
          <p:cNvPr id="14" name="TextBox 13"/>
          <p:cNvSpPr txBox="1"/>
          <p:nvPr/>
        </p:nvSpPr>
        <p:spPr>
          <a:xfrm>
            <a:off x="3366000" y="203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支援者・家族が決める</a:t>
            </a:r>
          </a:p>
        </p:txBody>
      </p:sp>
      <p:sp>
        <p:nvSpPr>
          <p:cNvPr id="15" name="TextBox 14"/>
          <p:cNvSpPr txBox="1"/>
          <p:nvPr/>
        </p:nvSpPr>
        <p:spPr>
          <a:xfrm>
            <a:off x="7578000" y="203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本人が決める(支援を受けて)</a:t>
            </a:r>
          </a:p>
        </p:txBody>
      </p:sp>
      <p:sp>
        <p:nvSpPr>
          <p:cNvPr id="16" name="Rectangle 15"/>
          <p:cNvSpPr/>
          <p:nvPr/>
        </p:nvSpPr>
        <p:spPr>
          <a:xfrm>
            <a:off x="432000" y="2520000"/>
            <a:ext cx="11304000" cy="540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000" y="2574000"/>
            <a:ext cx="2772000" cy="432000"/>
          </a:xfrm>
          <a:prstGeom prst="rect">
            <a:avLst/>
          </a:prstGeom>
          <a:noFill/>
        </p:spPr>
        <p:txBody>
          <a:bodyPr wrap="square" lIns="36000" rIns="36000" tIns="18000" bIns="18000" anchor="ctr">
            <a:spAutoFit/>
          </a:bodyPr>
          <a:lstStyle/>
          <a:p>
            <a:pPr algn="ctr"/>
            <a:r>
              <a:rPr sz="1200" b="1" i="0">
                <a:solidFill>
                  <a:srgbClr val="C2571C"/>
                </a:solidFill>
                <a:latin typeface="Yu Gothic"/>
              </a:rPr>
              <a:t>注目する点</a:t>
            </a:r>
          </a:p>
        </p:txBody>
      </p:sp>
      <p:sp>
        <p:nvSpPr>
          <p:cNvPr id="18" name="TextBox 17"/>
          <p:cNvSpPr txBox="1"/>
          <p:nvPr/>
        </p:nvSpPr>
        <p:spPr>
          <a:xfrm>
            <a:off x="3366000" y="257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できないこと・リスク</a:t>
            </a:r>
          </a:p>
        </p:txBody>
      </p:sp>
      <p:sp>
        <p:nvSpPr>
          <p:cNvPr id="19" name="TextBox 18"/>
          <p:cNvSpPr txBox="1"/>
          <p:nvPr/>
        </p:nvSpPr>
        <p:spPr>
          <a:xfrm>
            <a:off x="7578000" y="257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できること・強み・希望</a:t>
            </a:r>
          </a:p>
        </p:txBody>
      </p:sp>
      <p:sp>
        <p:nvSpPr>
          <p:cNvPr id="20" name="Rectangle 19"/>
          <p:cNvSpPr/>
          <p:nvPr/>
        </p:nvSpPr>
        <p:spPr>
          <a:xfrm>
            <a:off x="432000" y="3060000"/>
            <a:ext cx="11304000" cy="540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3114000"/>
            <a:ext cx="2772000" cy="432000"/>
          </a:xfrm>
          <a:prstGeom prst="rect">
            <a:avLst/>
          </a:prstGeom>
          <a:noFill/>
        </p:spPr>
        <p:txBody>
          <a:bodyPr wrap="square" lIns="36000" rIns="36000" tIns="18000" bIns="18000" anchor="ctr">
            <a:spAutoFit/>
          </a:bodyPr>
          <a:lstStyle/>
          <a:p>
            <a:pPr algn="ctr"/>
            <a:r>
              <a:rPr sz="1200" b="1" i="0">
                <a:solidFill>
                  <a:srgbClr val="C2571C"/>
                </a:solidFill>
                <a:latin typeface="Yu Gothic"/>
              </a:rPr>
              <a:t>アセスメント</a:t>
            </a:r>
          </a:p>
        </p:txBody>
      </p:sp>
      <p:sp>
        <p:nvSpPr>
          <p:cNvPr id="22" name="TextBox 21"/>
          <p:cNvSpPr txBox="1"/>
          <p:nvPr/>
        </p:nvSpPr>
        <p:spPr>
          <a:xfrm>
            <a:off x="3366000" y="311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心身機能・課題の把握中心</a:t>
            </a:r>
          </a:p>
        </p:txBody>
      </p:sp>
      <p:sp>
        <p:nvSpPr>
          <p:cNvPr id="23" name="TextBox 22"/>
          <p:cNvSpPr txBox="1"/>
          <p:nvPr/>
        </p:nvSpPr>
        <p:spPr>
          <a:xfrm>
            <a:off x="7578000" y="311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本人の思い・歴史・価値観も</a:t>
            </a:r>
          </a:p>
        </p:txBody>
      </p:sp>
      <p:sp>
        <p:nvSpPr>
          <p:cNvPr id="24" name="Rectangle 23"/>
          <p:cNvSpPr/>
          <p:nvPr/>
        </p:nvSpPr>
        <p:spPr>
          <a:xfrm>
            <a:off x="432000" y="3600000"/>
            <a:ext cx="11304000" cy="540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000" y="3654000"/>
            <a:ext cx="2772000" cy="432000"/>
          </a:xfrm>
          <a:prstGeom prst="rect">
            <a:avLst/>
          </a:prstGeom>
          <a:noFill/>
        </p:spPr>
        <p:txBody>
          <a:bodyPr wrap="square" lIns="36000" rIns="36000" tIns="18000" bIns="18000" anchor="ctr">
            <a:spAutoFit/>
          </a:bodyPr>
          <a:lstStyle/>
          <a:p>
            <a:pPr algn="ctr"/>
            <a:r>
              <a:rPr sz="1200" b="1" i="0">
                <a:solidFill>
                  <a:srgbClr val="C2571C"/>
                </a:solidFill>
                <a:latin typeface="Yu Gothic"/>
              </a:rPr>
              <a:t>目標設定</a:t>
            </a:r>
          </a:p>
        </p:txBody>
      </p:sp>
      <p:sp>
        <p:nvSpPr>
          <p:cNvPr id="26" name="TextBox 25"/>
          <p:cNvSpPr txBox="1"/>
          <p:nvPr/>
        </p:nvSpPr>
        <p:spPr>
          <a:xfrm>
            <a:off x="3366000" y="365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安全・現状維持が中心</a:t>
            </a:r>
          </a:p>
        </p:txBody>
      </p:sp>
      <p:sp>
        <p:nvSpPr>
          <p:cNvPr id="27" name="TextBox 26"/>
          <p:cNvSpPr txBox="1"/>
          <p:nvPr/>
        </p:nvSpPr>
        <p:spPr>
          <a:xfrm>
            <a:off x="7578000" y="365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本人が望む暮らし・役割・出番</a:t>
            </a:r>
          </a:p>
        </p:txBody>
      </p:sp>
      <p:sp>
        <p:nvSpPr>
          <p:cNvPr id="28" name="Rectangle 27"/>
          <p:cNvSpPr/>
          <p:nvPr/>
        </p:nvSpPr>
        <p:spPr>
          <a:xfrm>
            <a:off x="432000" y="4140000"/>
            <a:ext cx="11304000" cy="540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000" y="4194000"/>
            <a:ext cx="2772000" cy="432000"/>
          </a:xfrm>
          <a:prstGeom prst="rect">
            <a:avLst/>
          </a:prstGeom>
          <a:noFill/>
        </p:spPr>
        <p:txBody>
          <a:bodyPr wrap="square" lIns="36000" rIns="36000" tIns="18000" bIns="18000" anchor="ctr">
            <a:spAutoFit/>
          </a:bodyPr>
          <a:lstStyle/>
          <a:p>
            <a:pPr algn="ctr"/>
            <a:r>
              <a:rPr sz="1200" b="1" i="0">
                <a:solidFill>
                  <a:srgbClr val="C2571C"/>
                </a:solidFill>
                <a:latin typeface="Yu Gothic"/>
              </a:rPr>
              <a:t>家族の位置</a:t>
            </a:r>
          </a:p>
        </p:txBody>
      </p:sp>
      <p:sp>
        <p:nvSpPr>
          <p:cNvPr id="30" name="TextBox 29"/>
          <p:cNvSpPr txBox="1"/>
          <p:nvPr/>
        </p:nvSpPr>
        <p:spPr>
          <a:xfrm>
            <a:off x="3366000" y="419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「介護力」として捉える</a:t>
            </a:r>
          </a:p>
        </p:txBody>
      </p:sp>
      <p:sp>
        <p:nvSpPr>
          <p:cNvPr id="31" name="TextBox 30"/>
          <p:cNvSpPr txBox="1"/>
          <p:nvPr/>
        </p:nvSpPr>
        <p:spPr>
          <a:xfrm>
            <a:off x="7578000" y="419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家族も支援を受ける対象</a:t>
            </a:r>
          </a:p>
        </p:txBody>
      </p:sp>
      <p:sp>
        <p:nvSpPr>
          <p:cNvPr id="32" name="Rectangle 31"/>
          <p:cNvSpPr/>
          <p:nvPr/>
        </p:nvSpPr>
        <p:spPr>
          <a:xfrm>
            <a:off x="432000" y="4680000"/>
            <a:ext cx="11304000" cy="540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6000" y="4734000"/>
            <a:ext cx="2772000" cy="432000"/>
          </a:xfrm>
          <a:prstGeom prst="rect">
            <a:avLst/>
          </a:prstGeom>
          <a:noFill/>
        </p:spPr>
        <p:txBody>
          <a:bodyPr wrap="square" lIns="36000" rIns="36000" tIns="18000" bIns="18000" anchor="ctr">
            <a:spAutoFit/>
          </a:bodyPr>
          <a:lstStyle/>
          <a:p>
            <a:pPr algn="ctr"/>
            <a:r>
              <a:rPr sz="1200" b="1" i="0">
                <a:solidFill>
                  <a:srgbClr val="C2571C"/>
                </a:solidFill>
                <a:latin typeface="Yu Gothic"/>
              </a:rPr>
              <a:t>地域の役割</a:t>
            </a:r>
          </a:p>
        </p:txBody>
      </p:sp>
      <p:sp>
        <p:nvSpPr>
          <p:cNvPr id="34" name="TextBox 33"/>
          <p:cNvSpPr txBox="1"/>
          <p:nvPr/>
        </p:nvSpPr>
        <p:spPr>
          <a:xfrm>
            <a:off x="3366000" y="473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サービスの提供場所</a:t>
            </a:r>
          </a:p>
        </p:txBody>
      </p:sp>
      <p:sp>
        <p:nvSpPr>
          <p:cNvPr id="35" name="TextBox 34"/>
          <p:cNvSpPr txBox="1"/>
          <p:nvPr/>
        </p:nvSpPr>
        <p:spPr>
          <a:xfrm>
            <a:off x="7578000" y="4734000"/>
            <a:ext cx="4104000" cy="432000"/>
          </a:xfrm>
          <a:prstGeom prst="rect">
            <a:avLst/>
          </a:prstGeom>
          <a:noFill/>
        </p:spPr>
        <p:txBody>
          <a:bodyPr wrap="square" lIns="36000" rIns="36000" tIns="18000" bIns="18000" anchor="ctr">
            <a:spAutoFit/>
          </a:bodyPr>
          <a:lstStyle/>
          <a:p>
            <a:pPr algn="l"/>
            <a:r>
              <a:rPr sz="1200" b="0" i="0">
                <a:solidFill>
                  <a:srgbClr val="35302B"/>
                </a:solidFill>
                <a:latin typeface="Yu Gothic"/>
              </a:rPr>
              <a:t>共に生きる場・つながりの場</a:t>
            </a:r>
          </a:p>
        </p:txBody>
      </p:sp>
      <p:sp>
        <p:nvSpPr>
          <p:cNvPr id="36" name="Rectangle 35"/>
          <p:cNvSpPr/>
          <p:nvPr/>
        </p:nvSpPr>
        <p:spPr>
          <a:xfrm>
            <a:off x="432000" y="5148000"/>
            <a:ext cx="11304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4000" y="51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主任CMが意識したいこと</a:t>
            </a:r>
          </a:p>
        </p:txBody>
      </p:sp>
      <p:sp>
        <p:nvSpPr>
          <p:cNvPr id="38" name="Rectangle 37"/>
          <p:cNvSpPr/>
          <p:nvPr/>
        </p:nvSpPr>
        <p:spPr>
          <a:xfrm>
            <a:off x="432000" y="5508000"/>
            <a:ext cx="11304000" cy="612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0000" y="5544000"/>
            <a:ext cx="11088000" cy="576000"/>
          </a:xfrm>
          <a:prstGeom prst="rect">
            <a:avLst/>
          </a:prstGeom>
          <a:noFill/>
        </p:spPr>
        <p:txBody>
          <a:bodyPr wrap="square" lIns="36000" rIns="36000" tIns="18000" bIns="18000" anchor="t">
            <a:spAutoFit/>
          </a:bodyPr>
          <a:lstStyle/>
          <a:p>
            <a:pPr algn="l"/>
            <a:r>
              <a:rPr sz="1200" b="0" i="0">
                <a:solidFill>
                  <a:srgbClr val="35302B"/>
                </a:solidFill>
                <a:latin typeface="Yu Gothic"/>
              </a:rPr>
              <a:t>■ 「本人のため」と思った支援が、本人から決定権・役割・自信を奪っていないか</a:t>
            </a:r>
          </a:p>
          <a:p>
            <a:pPr algn="l"/>
            <a:r>
              <a:rPr sz="1200" b="0" i="0">
                <a:solidFill>
                  <a:srgbClr val="35302B"/>
                </a:solidFill>
                <a:latin typeface="Yu Gothic"/>
              </a:rPr>
              <a:t>■ アセスメント様式の「課題」欄だけでなく、「本人の願い・強み」を必ず聴き取り、書く</a:t>
            </a:r>
          </a:p>
          <a:p>
            <a:pPr algn="l"/>
            <a:r>
              <a:rPr sz="1200" b="0" i="0">
                <a:solidFill>
                  <a:srgbClr val="35302B"/>
                </a:solidFill>
                <a:latin typeface="Yu Gothic"/>
              </a:rPr>
              <a:t>■ ケアプランの主語を「本人」にする ― 「○○させる」でなく「○○したい/する」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ケアマネジメントへの影響</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本人を理解する ― パーソン・センタードな視点</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10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「認知症の人」ではなく「認知症とともに生きる、その人」</a:t>
            </a:r>
          </a:p>
        </p:txBody>
      </p:sp>
      <p:sp>
        <p:nvSpPr>
          <p:cNvPr id="10" name="Rectangle 9"/>
          <p:cNvSpPr/>
          <p:nvPr/>
        </p:nvSpPr>
        <p:spPr>
          <a:xfrm>
            <a:off x="432000" y="1908000"/>
            <a:ext cx="11304000" cy="467999"/>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35302B"/>
                </a:solidFill>
                <a:latin typeface="Yu Gothic"/>
              </a:rPr>
              <a:t>診断名や症状だけで人を見ない。その人の歴史・価値観・関係性・好み ―</a:t>
            </a:r>
          </a:p>
          <a:p>
            <a:pPr algn="l"/>
            <a:r>
              <a:rPr sz="1200" b="0" i="0">
                <a:solidFill>
                  <a:srgbClr val="35302B"/>
                </a:solidFill>
                <a:latin typeface="Yu Gothic"/>
              </a:rPr>
              <a:t>「その人らしさ」を理解することが、すべての支援の出発点になる。</a:t>
            </a:r>
          </a:p>
        </p:txBody>
      </p:sp>
      <p:sp>
        <p:nvSpPr>
          <p:cNvPr id="12" name="Rectangle 11"/>
          <p:cNvSpPr/>
          <p:nvPr/>
        </p:nvSpPr>
        <p:spPr>
          <a:xfrm>
            <a:off x="390059" y="2592000"/>
            <a:ext cx="2772000" cy="468000"/>
          </a:xfrm>
          <a:prstGeom prst="rect">
            <a:avLst/>
          </a:prstGeom>
          <a:solidFill>
            <a:srgbClr val="6B4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生活歴・人生史</a:t>
            </a:r>
          </a:p>
        </p:txBody>
      </p:sp>
      <p:sp>
        <p:nvSpPr>
          <p:cNvPr id="14" name="Rectangle 13"/>
          <p:cNvSpPr/>
          <p:nvPr/>
        </p:nvSpPr>
        <p:spPr>
          <a:xfrm>
            <a:off x="390059" y="3060000"/>
            <a:ext cx="2772000" cy="180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059" y="3168000"/>
            <a:ext cx="2556000" cy="1584000"/>
          </a:xfrm>
          <a:prstGeom prst="rect">
            <a:avLst/>
          </a:prstGeom>
          <a:noFill/>
        </p:spPr>
        <p:txBody>
          <a:bodyPr wrap="square" lIns="36000" rIns="36000" tIns="18000" bIns="18000" anchor="t">
            <a:spAutoFit/>
          </a:bodyPr>
          <a:lstStyle/>
          <a:p>
            <a:pPr algn="l">
              <a:lnSpc>
                <a:spcPct val="140000"/>
              </a:lnSpc>
            </a:pPr>
            <a:r>
              <a:rPr sz="1100" b="0" i="0">
                <a:solidFill>
                  <a:srgbClr val="35302B"/>
                </a:solidFill>
                <a:latin typeface="Yu Gothic"/>
              </a:rPr>
              <a:t>・どんな人生を歩んできたか</a:t>
            </a:r>
          </a:p>
          <a:p>
            <a:pPr algn="l">
              <a:lnSpc>
                <a:spcPct val="140000"/>
              </a:lnSpc>
            </a:pPr>
            <a:r>
              <a:rPr sz="1100" b="0" i="0">
                <a:solidFill>
                  <a:srgbClr val="35302B"/>
                </a:solidFill>
                <a:latin typeface="Yu Gothic"/>
              </a:rPr>
              <a:t>・仕事・役割・誇りにしてきたこと</a:t>
            </a:r>
          </a:p>
          <a:p>
            <a:pPr algn="l">
              <a:lnSpc>
                <a:spcPct val="140000"/>
              </a:lnSpc>
            </a:pPr>
            <a:r>
              <a:rPr sz="1100" b="0" i="0">
                <a:solidFill>
                  <a:srgbClr val="35302B"/>
                </a:solidFill>
                <a:latin typeface="Yu Gothic"/>
              </a:rPr>
              <a:t>・大切にしてきた習慣・場所</a:t>
            </a:r>
          </a:p>
        </p:txBody>
      </p:sp>
      <p:sp>
        <p:nvSpPr>
          <p:cNvPr id="16" name="Rectangle 15"/>
          <p:cNvSpPr/>
          <p:nvPr/>
        </p:nvSpPr>
        <p:spPr>
          <a:xfrm>
            <a:off x="3270059" y="2592000"/>
            <a:ext cx="2772000" cy="468000"/>
          </a:xfrm>
          <a:prstGeom prst="rect">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価値観・好み</a:t>
            </a:r>
          </a:p>
        </p:txBody>
      </p:sp>
      <p:sp>
        <p:nvSpPr>
          <p:cNvPr id="18" name="Rectangle 17"/>
          <p:cNvSpPr/>
          <p:nvPr/>
        </p:nvSpPr>
        <p:spPr>
          <a:xfrm>
            <a:off x="3270059" y="3060000"/>
            <a:ext cx="2772000" cy="180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78059" y="3168000"/>
            <a:ext cx="2556000" cy="1584000"/>
          </a:xfrm>
          <a:prstGeom prst="rect">
            <a:avLst/>
          </a:prstGeom>
          <a:noFill/>
        </p:spPr>
        <p:txBody>
          <a:bodyPr wrap="square" lIns="36000" rIns="36000" tIns="18000" bIns="18000" anchor="t">
            <a:spAutoFit/>
          </a:bodyPr>
          <a:lstStyle/>
          <a:p>
            <a:pPr algn="l">
              <a:lnSpc>
                <a:spcPct val="140000"/>
              </a:lnSpc>
            </a:pPr>
            <a:r>
              <a:rPr sz="1100" b="0" i="0">
                <a:solidFill>
                  <a:srgbClr val="35302B"/>
                </a:solidFill>
                <a:latin typeface="Yu Gothic"/>
              </a:rPr>
              <a:t>・何を大切にしているか</a:t>
            </a:r>
          </a:p>
          <a:p>
            <a:pPr algn="l">
              <a:lnSpc>
                <a:spcPct val="140000"/>
              </a:lnSpc>
            </a:pPr>
            <a:r>
              <a:rPr sz="1100" b="0" i="0">
                <a:solidFill>
                  <a:srgbClr val="35302B"/>
                </a:solidFill>
                <a:latin typeface="Yu Gothic"/>
              </a:rPr>
              <a:t>・好きなこと・苦手なこと</a:t>
            </a:r>
          </a:p>
          <a:p>
            <a:pPr algn="l">
              <a:lnSpc>
                <a:spcPct val="140000"/>
              </a:lnSpc>
            </a:pPr>
            <a:r>
              <a:rPr sz="1100" b="0" i="0">
                <a:solidFill>
                  <a:srgbClr val="35302B"/>
                </a:solidFill>
                <a:latin typeface="Yu Gothic"/>
              </a:rPr>
              <a:t>・譲れないこだわり</a:t>
            </a:r>
          </a:p>
        </p:txBody>
      </p:sp>
      <p:sp>
        <p:nvSpPr>
          <p:cNvPr id="20" name="Rectangle 19"/>
          <p:cNvSpPr/>
          <p:nvPr/>
        </p:nvSpPr>
        <p:spPr>
          <a:xfrm>
            <a:off x="6150059" y="2592000"/>
            <a:ext cx="2772000" cy="468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5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関係性</a:t>
            </a:r>
          </a:p>
        </p:txBody>
      </p:sp>
      <p:sp>
        <p:nvSpPr>
          <p:cNvPr id="22" name="Rectangle 21"/>
          <p:cNvSpPr/>
          <p:nvPr/>
        </p:nvSpPr>
        <p:spPr>
          <a:xfrm>
            <a:off x="6150059" y="3060000"/>
            <a:ext cx="2772000" cy="180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8059" y="3168000"/>
            <a:ext cx="2556000" cy="1584000"/>
          </a:xfrm>
          <a:prstGeom prst="rect">
            <a:avLst/>
          </a:prstGeom>
          <a:noFill/>
        </p:spPr>
        <p:txBody>
          <a:bodyPr wrap="square" lIns="36000" rIns="36000" tIns="18000" bIns="18000" anchor="t">
            <a:spAutoFit/>
          </a:bodyPr>
          <a:lstStyle/>
          <a:p>
            <a:pPr algn="l">
              <a:lnSpc>
                <a:spcPct val="140000"/>
              </a:lnSpc>
            </a:pPr>
            <a:r>
              <a:rPr sz="1100" b="0" i="0">
                <a:solidFill>
                  <a:srgbClr val="35302B"/>
                </a:solidFill>
                <a:latin typeface="Yu Gothic"/>
              </a:rPr>
              <a:t>・家族・友人・地域とのつながり</a:t>
            </a:r>
          </a:p>
          <a:p>
            <a:pPr algn="l">
              <a:lnSpc>
                <a:spcPct val="140000"/>
              </a:lnSpc>
            </a:pPr>
            <a:r>
              <a:rPr sz="1100" b="0" i="0">
                <a:solidFill>
                  <a:srgbClr val="35302B"/>
                </a:solidFill>
                <a:latin typeface="Yu Gothic"/>
              </a:rPr>
              <a:t>・支えとなる人は誰か</a:t>
            </a:r>
          </a:p>
          <a:p>
            <a:pPr algn="l">
              <a:lnSpc>
                <a:spcPct val="140000"/>
              </a:lnSpc>
            </a:pPr>
            <a:r>
              <a:rPr sz="1100" b="0" i="0">
                <a:solidFill>
                  <a:srgbClr val="35302B"/>
                </a:solidFill>
                <a:latin typeface="Yu Gothic"/>
              </a:rPr>
              <a:t>・本人が安心できる人・場</a:t>
            </a:r>
          </a:p>
        </p:txBody>
      </p:sp>
      <p:sp>
        <p:nvSpPr>
          <p:cNvPr id="24" name="Rectangle 23"/>
          <p:cNvSpPr/>
          <p:nvPr/>
        </p:nvSpPr>
        <p:spPr>
          <a:xfrm>
            <a:off x="9030059" y="2592000"/>
            <a:ext cx="2772000" cy="468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3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今の思い・希望</a:t>
            </a:r>
          </a:p>
        </p:txBody>
      </p:sp>
      <p:sp>
        <p:nvSpPr>
          <p:cNvPr id="26" name="Rectangle 25"/>
          <p:cNvSpPr/>
          <p:nvPr/>
        </p:nvSpPr>
        <p:spPr>
          <a:xfrm>
            <a:off x="9030059" y="3060000"/>
            <a:ext cx="2772000" cy="180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38059" y="3168000"/>
            <a:ext cx="2556000" cy="1584000"/>
          </a:xfrm>
          <a:prstGeom prst="rect">
            <a:avLst/>
          </a:prstGeom>
          <a:noFill/>
        </p:spPr>
        <p:txBody>
          <a:bodyPr wrap="square" lIns="36000" rIns="36000" tIns="18000" bIns="18000" anchor="t">
            <a:spAutoFit/>
          </a:bodyPr>
          <a:lstStyle/>
          <a:p>
            <a:pPr algn="l">
              <a:lnSpc>
                <a:spcPct val="140000"/>
              </a:lnSpc>
            </a:pPr>
            <a:r>
              <a:rPr sz="1100" b="0" i="0">
                <a:solidFill>
                  <a:srgbClr val="35302B"/>
                </a:solidFill>
                <a:latin typeface="Yu Gothic"/>
              </a:rPr>
              <a:t>・これからどう暮らしたいか</a:t>
            </a:r>
          </a:p>
          <a:p>
            <a:pPr algn="l">
              <a:lnSpc>
                <a:spcPct val="140000"/>
              </a:lnSpc>
            </a:pPr>
            <a:r>
              <a:rPr sz="1100" b="0" i="0">
                <a:solidFill>
                  <a:srgbClr val="35302B"/>
                </a:solidFill>
                <a:latin typeface="Yu Gothic"/>
              </a:rPr>
              <a:t>・不安に思っていること</a:t>
            </a:r>
          </a:p>
          <a:p>
            <a:pPr algn="l">
              <a:lnSpc>
                <a:spcPct val="140000"/>
              </a:lnSpc>
            </a:pPr>
            <a:r>
              <a:rPr sz="1100" b="0" i="0">
                <a:solidFill>
                  <a:srgbClr val="35302B"/>
                </a:solidFill>
                <a:latin typeface="Yu Gothic"/>
              </a:rPr>
              <a:t>・やってみたいこと・出番</a:t>
            </a:r>
          </a:p>
        </p:txBody>
      </p:sp>
      <p:sp>
        <p:nvSpPr>
          <p:cNvPr id="28" name="Rectangle 27"/>
          <p:cNvSpPr/>
          <p:nvPr/>
        </p:nvSpPr>
        <p:spPr>
          <a:xfrm>
            <a:off x="432000" y="5148000"/>
            <a:ext cx="11304000" cy="360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51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情報は「本人から」「継続的に」</a:t>
            </a:r>
          </a:p>
        </p:txBody>
      </p:sp>
      <p:sp>
        <p:nvSpPr>
          <p:cNvPr id="30" name="Rectangle 29"/>
          <p:cNvSpPr/>
          <p:nvPr/>
        </p:nvSpPr>
        <p:spPr>
          <a:xfrm>
            <a:off x="432000" y="5508000"/>
            <a:ext cx="11304000" cy="612000"/>
          </a:xfrm>
          <a:prstGeom prst="rect">
            <a:avLst/>
          </a:prstGeom>
          <a:solidFill>
            <a:srgbClr val="FA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5544000"/>
            <a:ext cx="11088000" cy="576000"/>
          </a:xfrm>
          <a:prstGeom prst="rect">
            <a:avLst/>
          </a:prstGeom>
          <a:noFill/>
        </p:spPr>
        <p:txBody>
          <a:bodyPr wrap="square" lIns="36000" rIns="36000" tIns="18000" bIns="18000" anchor="t">
            <a:spAutoFit/>
          </a:bodyPr>
          <a:lstStyle/>
          <a:p>
            <a:pPr algn="l"/>
            <a:r>
              <a:rPr sz="1200" b="0" i="0">
                <a:solidFill>
                  <a:srgbClr val="35302B"/>
                </a:solidFill>
                <a:latin typeface="Yu Gothic"/>
              </a:rPr>
              <a:t>■ 家族や記録からの情報も大切だが、まず「本人自身」に聴く ― 本人が一番の情報源</a:t>
            </a:r>
          </a:p>
          <a:p>
            <a:pPr algn="l"/>
            <a:r>
              <a:rPr sz="1200" b="0" i="0">
                <a:solidFill>
                  <a:srgbClr val="35302B"/>
                </a:solidFill>
                <a:latin typeface="Yu Gothic"/>
              </a:rPr>
              <a:t>■ 一度のアセスメントで終わらせない ― 関係を重ねる中で、少しずつ語られることがある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FFFFFF"/>
                </a:solidFill>
                <a:latin typeface="Yu Gothic"/>
              </a:rPr>
              <a:t>PART 3</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本人の意思決定支援</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FAF1DA"/>
                </a:solidFill>
                <a:latin typeface="Yu Gothic"/>
              </a:rPr>
              <a:t>Supporting Decision-Making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意思決定支援</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意思決定支援とは ― 「代行」ではなく「支援」</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12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意思決定支援とは</a:t>
            </a:r>
          </a:p>
        </p:txBody>
      </p:sp>
      <p:sp>
        <p:nvSpPr>
          <p:cNvPr id="10" name="Rectangle 9"/>
          <p:cNvSpPr/>
          <p:nvPr/>
        </p:nvSpPr>
        <p:spPr>
          <a:xfrm>
            <a:off x="432000" y="1908000"/>
            <a:ext cx="11304000" cy="72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684000"/>
          </a:xfrm>
          <a:prstGeom prst="rect">
            <a:avLst/>
          </a:prstGeom>
          <a:noFill/>
        </p:spPr>
        <p:txBody>
          <a:bodyPr wrap="square" lIns="36000" rIns="36000" tIns="18000" bIns="18000" anchor="t">
            <a:spAutoFit/>
          </a:bodyPr>
          <a:lstStyle/>
          <a:p>
            <a:pPr algn="l"/>
            <a:r>
              <a:rPr sz="1300" b="0" i="0">
                <a:solidFill>
                  <a:srgbClr val="35302B"/>
                </a:solidFill>
                <a:latin typeface="Yu Gothic"/>
              </a:rPr>
              <a:t>認知症等により意思決定が困難に見える人に対し、本人が自ら意思決定できるよう</a:t>
            </a:r>
          </a:p>
          <a:p>
            <a:pPr algn="l"/>
            <a:r>
              <a:rPr sz="1300" b="0" i="0">
                <a:solidFill>
                  <a:srgbClr val="35302B"/>
                </a:solidFill>
                <a:latin typeface="Yu Gothic"/>
              </a:rPr>
              <a:t>支援する一連の行為。厚労省「認知症の人の日常生活・社会生活における</a:t>
            </a:r>
          </a:p>
          <a:p>
            <a:pPr algn="l"/>
            <a:r>
              <a:rPr sz="1300" b="0" i="0">
                <a:solidFill>
                  <a:srgbClr val="35302B"/>
                </a:solidFill>
                <a:latin typeface="Yu Gothic"/>
              </a:rPr>
              <a:t>意思決定支援ガイドライン」が、その考え方と実践を示している。</a:t>
            </a:r>
          </a:p>
        </p:txBody>
      </p:sp>
      <p:sp>
        <p:nvSpPr>
          <p:cNvPr id="12" name="Rectangle 11"/>
          <p:cNvSpPr/>
          <p:nvPr/>
        </p:nvSpPr>
        <p:spPr>
          <a:xfrm>
            <a:off x="432000" y="2880000"/>
            <a:ext cx="5580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91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大前提となる考え方</a:t>
            </a:r>
          </a:p>
        </p:txBody>
      </p:sp>
      <p:sp>
        <p:nvSpPr>
          <p:cNvPr id="14" name="Rectangle 13"/>
          <p:cNvSpPr/>
          <p:nvPr/>
        </p:nvSpPr>
        <p:spPr>
          <a:xfrm>
            <a:off x="432000" y="3240000"/>
            <a:ext cx="5580000" cy="1440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276000"/>
            <a:ext cx="5364000" cy="1404000"/>
          </a:xfrm>
          <a:prstGeom prst="rect">
            <a:avLst/>
          </a:prstGeom>
          <a:noFill/>
        </p:spPr>
        <p:txBody>
          <a:bodyPr wrap="square" lIns="36000" rIns="36000" tIns="18000" bIns="18000" anchor="t">
            <a:spAutoFit/>
          </a:bodyPr>
          <a:lstStyle/>
          <a:p>
            <a:pPr algn="l"/>
            <a:r>
              <a:rPr sz="1200" b="0" i="0">
                <a:solidFill>
                  <a:srgbClr val="35302B"/>
                </a:solidFill>
                <a:latin typeface="Yu Gothic"/>
              </a:rPr>
              <a:t>■ 認知症があっても、本人には意思がある</a:t>
            </a:r>
          </a:p>
          <a:p>
            <a:pPr algn="l"/>
            <a:r>
              <a:rPr sz="1200" b="0" i="0">
                <a:solidFill>
                  <a:srgbClr val="35302B"/>
                </a:solidFill>
                <a:latin typeface="Yu Gothic"/>
              </a:rPr>
              <a:t/>
            </a:r>
          </a:p>
          <a:p>
            <a:pPr algn="l"/>
            <a:r>
              <a:rPr sz="1200" b="0" i="0">
                <a:solidFill>
                  <a:srgbClr val="35302B"/>
                </a:solidFill>
                <a:latin typeface="Yu Gothic"/>
              </a:rPr>
              <a:t>■ 「意思決定できない」と決めつけない</a:t>
            </a:r>
          </a:p>
          <a:p>
            <a:pPr algn="l"/>
            <a:r>
              <a:rPr sz="1200" b="0" i="0">
                <a:solidFill>
                  <a:srgbClr val="35302B"/>
                </a:solidFill>
                <a:latin typeface="Yu Gothic"/>
              </a:rPr>
              <a:t/>
            </a:r>
          </a:p>
          <a:p>
            <a:pPr algn="l"/>
            <a:r>
              <a:rPr sz="1200" b="0" i="0">
                <a:solidFill>
                  <a:srgbClr val="35302B"/>
                </a:solidFill>
                <a:latin typeface="Yu Gothic"/>
              </a:rPr>
              <a:t>■ 適切な支援があれば、多くの場面で</a:t>
            </a:r>
          </a:p>
          <a:p>
            <a:pPr algn="l"/>
            <a:r>
              <a:rPr sz="1200" b="0" i="0">
                <a:solidFill>
                  <a:srgbClr val="35302B"/>
                </a:solidFill>
                <a:latin typeface="Yu Gothic"/>
              </a:rPr>
              <a:t>   本人は自ら決められる</a:t>
            </a:r>
          </a:p>
          <a:p>
            <a:pPr algn="l"/>
            <a:r>
              <a:rPr sz="1200" b="0" i="0">
                <a:solidFill>
                  <a:srgbClr val="35302B"/>
                </a:solidFill>
                <a:latin typeface="Yu Gothic"/>
              </a:rPr>
              <a:t/>
            </a:r>
          </a:p>
          <a:p>
            <a:pPr algn="l"/>
            <a:r>
              <a:rPr sz="1200" b="0" i="0">
                <a:solidFill>
                  <a:srgbClr val="35302B"/>
                </a:solidFill>
                <a:latin typeface="Yu Gothic"/>
              </a:rPr>
              <a:t>■ 決めるのは本人、支えるのが支援者</a:t>
            </a:r>
          </a:p>
        </p:txBody>
      </p:sp>
      <p:sp>
        <p:nvSpPr>
          <p:cNvPr id="16" name="Rectangle 15"/>
          <p:cNvSpPr/>
          <p:nvPr/>
        </p:nvSpPr>
        <p:spPr>
          <a:xfrm>
            <a:off x="6300000" y="2880000"/>
            <a:ext cx="5400000" cy="360000"/>
          </a:xfrm>
          <a:prstGeom prst="rect">
            <a:avLst/>
          </a:prstGeom>
          <a:solidFill>
            <a:srgbClr val="6B4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91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「代行決定」との違い</a:t>
            </a:r>
          </a:p>
        </p:txBody>
      </p:sp>
      <p:sp>
        <p:nvSpPr>
          <p:cNvPr id="18" name="Rectangle 17"/>
          <p:cNvSpPr/>
          <p:nvPr/>
        </p:nvSpPr>
        <p:spPr>
          <a:xfrm>
            <a:off x="6300000" y="3240000"/>
            <a:ext cx="5400000" cy="144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276000"/>
            <a:ext cx="5184000" cy="1404000"/>
          </a:xfrm>
          <a:prstGeom prst="rect">
            <a:avLst/>
          </a:prstGeom>
          <a:noFill/>
        </p:spPr>
        <p:txBody>
          <a:bodyPr wrap="square" lIns="36000" rIns="36000" tIns="18000" bIns="18000" anchor="t">
            <a:spAutoFit/>
          </a:bodyPr>
          <a:lstStyle/>
          <a:p>
            <a:pPr algn="l"/>
            <a:r>
              <a:rPr sz="1200" b="0" i="0">
                <a:solidFill>
                  <a:srgbClr val="35302B"/>
                </a:solidFill>
                <a:latin typeface="Yu Gothic"/>
              </a:rPr>
              <a:t>■ 意思決定支援:本人が決められるよう支える</a:t>
            </a:r>
          </a:p>
          <a:p>
            <a:pPr algn="l"/>
            <a:r>
              <a:rPr sz="1200" b="0" i="0">
                <a:solidFill>
                  <a:srgbClr val="35302B"/>
                </a:solidFill>
                <a:latin typeface="Yu Gothic"/>
              </a:rPr>
              <a:t/>
            </a:r>
          </a:p>
          <a:p>
            <a:pPr algn="l"/>
            <a:r>
              <a:rPr sz="1200" b="0" i="0">
                <a:solidFill>
                  <a:srgbClr val="35302B"/>
                </a:solidFill>
                <a:latin typeface="Yu Gothic"/>
              </a:rPr>
              <a:t>■ 代行決定:本人に代わって他者が決める</a:t>
            </a:r>
          </a:p>
          <a:p>
            <a:pPr algn="l"/>
            <a:r>
              <a:rPr sz="1200" b="0" i="0">
                <a:solidFill>
                  <a:srgbClr val="35302B"/>
                </a:solidFill>
                <a:latin typeface="Yu Gothic"/>
              </a:rPr>
              <a:t/>
            </a:r>
          </a:p>
          <a:p>
            <a:pPr algn="l"/>
            <a:r>
              <a:rPr sz="1200" b="0" i="0">
                <a:solidFill>
                  <a:srgbClr val="35302B"/>
                </a:solidFill>
                <a:latin typeface="Yu Gothic"/>
              </a:rPr>
              <a:t>■ まず徹底して意思決定支援を尽くす</a:t>
            </a:r>
          </a:p>
          <a:p>
            <a:pPr algn="l"/>
            <a:r>
              <a:rPr sz="1200" b="0" i="0">
                <a:solidFill>
                  <a:srgbClr val="35302B"/>
                </a:solidFill>
                <a:latin typeface="Yu Gothic"/>
              </a:rPr>
              <a:t/>
            </a:r>
          </a:p>
          <a:p>
            <a:pPr algn="l"/>
            <a:r>
              <a:rPr sz="1200" b="0" i="0">
                <a:solidFill>
                  <a:srgbClr val="35302B"/>
                </a:solidFill>
                <a:latin typeface="Yu Gothic"/>
              </a:rPr>
              <a:t>▶ 代行決定は「最後の手段」。安易に</a:t>
            </a:r>
          </a:p>
          <a:p>
            <a:pPr algn="l"/>
            <a:r>
              <a:rPr sz="1200" b="0" i="0">
                <a:solidFill>
                  <a:srgbClr val="35302B"/>
                </a:solidFill>
                <a:latin typeface="Yu Gothic"/>
              </a:rPr>
              <a:t>   家族・支援者が決めてしまわない</a:t>
            </a:r>
          </a:p>
        </p:txBody>
      </p:sp>
      <p:sp>
        <p:nvSpPr>
          <p:cNvPr id="20" name="TextBox 19"/>
          <p:cNvSpPr txBox="1"/>
          <p:nvPr/>
        </p:nvSpPr>
        <p:spPr>
          <a:xfrm>
            <a:off x="432000" y="4860000"/>
            <a:ext cx="11328119" cy="540000"/>
          </a:xfrm>
          <a:prstGeom prst="rect">
            <a:avLst/>
          </a:prstGeom>
          <a:noFill/>
        </p:spPr>
        <p:txBody>
          <a:bodyPr wrap="square" lIns="36000" rIns="36000" tIns="18000" bIns="18000" anchor="t">
            <a:spAutoFit/>
          </a:bodyPr>
          <a:lstStyle/>
          <a:p>
            <a:pPr algn="l">
              <a:lnSpc>
                <a:spcPct val="140000"/>
              </a:lnSpc>
            </a:pPr>
            <a:r>
              <a:rPr sz="1300" b="1" i="0">
                <a:solidFill>
                  <a:srgbClr val="C2571C"/>
                </a:solidFill>
                <a:latin typeface="Yu Gothic"/>
              </a:rPr>
              <a:t>▶ 「どうせ分からない」「決められない」という思い込みが、本人から意思決定の機会を奪う。</a:t>
            </a:r>
          </a:p>
          <a:p>
            <a:pPr algn="l">
              <a:lnSpc>
                <a:spcPct val="140000"/>
              </a:lnSpc>
            </a:pPr>
            <a:r>
              <a:rPr sz="1300" b="1" i="0">
                <a:solidFill>
                  <a:srgbClr val="C2571C"/>
                </a:solidFill>
                <a:latin typeface="Yu Gothic"/>
              </a:rPr>
              <a:t>▶ 主任CMは、この思い込みに気づき、問い直す役割を持つ。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意思決定支援</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意思決定支援ガイドラインの基本原則</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13 / 32</a:t>
            </a:r>
          </a:p>
        </p:txBody>
      </p:sp>
      <p:sp>
        <p:nvSpPr>
          <p:cNvPr id="8" name="Rectangle 7"/>
          <p:cNvSpPr/>
          <p:nvPr/>
        </p:nvSpPr>
        <p:spPr>
          <a:xfrm>
            <a:off x="444061" y="1620000"/>
            <a:ext cx="3671999" cy="792000"/>
          </a:xfrm>
          <a:prstGeom prst="rect">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061" y="1692000"/>
            <a:ext cx="3527999" cy="251999"/>
          </a:xfrm>
          <a:prstGeom prst="rect">
            <a:avLst/>
          </a:prstGeom>
          <a:noFill/>
        </p:spPr>
        <p:txBody>
          <a:bodyPr wrap="square" lIns="36000" rIns="36000" tIns="18000" bIns="18000" anchor="t">
            <a:spAutoFit/>
          </a:bodyPr>
          <a:lstStyle/>
          <a:p>
            <a:pPr algn="ctr"/>
            <a:r>
              <a:rPr sz="1300" b="1" i="0">
                <a:solidFill>
                  <a:srgbClr val="FFFFFF"/>
                </a:solidFill>
                <a:latin typeface="Yu Gothic"/>
              </a:rPr>
              <a:t>原則1</a:t>
            </a:r>
          </a:p>
        </p:txBody>
      </p:sp>
      <p:sp>
        <p:nvSpPr>
          <p:cNvPr id="10" name="TextBox 9"/>
          <p:cNvSpPr txBox="1"/>
          <p:nvPr/>
        </p:nvSpPr>
        <p:spPr>
          <a:xfrm>
            <a:off x="516061" y="1926000"/>
            <a:ext cx="3527999" cy="432000"/>
          </a:xfrm>
          <a:prstGeom prst="rect">
            <a:avLst/>
          </a:prstGeom>
          <a:noFill/>
        </p:spPr>
        <p:txBody>
          <a:bodyPr wrap="square" lIns="36000" rIns="36000" tIns="18000" bIns="18000" anchor="ctr">
            <a:spAutoFit/>
          </a:bodyPr>
          <a:lstStyle/>
          <a:p>
            <a:pPr algn="ctr"/>
            <a:r>
              <a:rPr sz="1400" b="1" i="0">
                <a:solidFill>
                  <a:srgbClr val="FFFFFF"/>
                </a:solidFill>
                <a:latin typeface="Yu Gothic"/>
              </a:rPr>
              <a:t>本人の意思の尊重</a:t>
            </a:r>
          </a:p>
        </p:txBody>
      </p:sp>
      <p:sp>
        <p:nvSpPr>
          <p:cNvPr id="11" name="Rectangle 10"/>
          <p:cNvSpPr/>
          <p:nvPr/>
        </p:nvSpPr>
        <p:spPr>
          <a:xfrm>
            <a:off x="444061" y="2412000"/>
            <a:ext cx="3671999" cy="2628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8061" y="2556000"/>
            <a:ext cx="3383999" cy="2340000"/>
          </a:xfrm>
          <a:prstGeom prst="rect">
            <a:avLst/>
          </a:prstGeom>
          <a:noFill/>
        </p:spPr>
        <p:txBody>
          <a:bodyPr wrap="square" lIns="36000" rIns="36000" tIns="18000" bIns="18000" anchor="t">
            <a:spAutoFit/>
          </a:bodyPr>
          <a:lstStyle/>
          <a:p>
            <a:pPr algn="l">
              <a:lnSpc>
                <a:spcPct val="160000"/>
              </a:lnSpc>
            </a:pPr>
            <a:r>
              <a:rPr sz="1200" b="0" i="0">
                <a:solidFill>
                  <a:srgbClr val="35302B"/>
                </a:solidFill>
                <a:latin typeface="Yu Gothic"/>
              </a:rPr>
              <a:t>・本人の自己決定を尊重する</a:t>
            </a:r>
          </a:p>
          <a:p>
            <a:pPr algn="l">
              <a:lnSpc>
                <a:spcPct val="160000"/>
              </a:lnSpc>
            </a:pPr>
            <a:r>
              <a:rPr sz="1200" b="0" i="0">
                <a:solidFill>
                  <a:srgbClr val="35302B"/>
                </a:solidFill>
                <a:latin typeface="Yu Gothic"/>
              </a:rPr>
              <a:t>・本人が自ら意思決定できるよう支援</a:t>
            </a:r>
          </a:p>
          <a:p>
            <a:pPr algn="l">
              <a:lnSpc>
                <a:spcPct val="160000"/>
              </a:lnSpc>
            </a:pPr>
            <a:r>
              <a:rPr sz="1200" b="0" i="0">
                <a:solidFill>
                  <a:srgbClr val="35302B"/>
                </a:solidFill>
                <a:latin typeface="Yu Gothic"/>
              </a:rPr>
              <a:t>・決定を他者が安易に覆さない</a:t>
            </a:r>
          </a:p>
          <a:p>
            <a:pPr algn="l">
              <a:lnSpc>
                <a:spcPct val="160000"/>
              </a:lnSpc>
            </a:pPr>
            <a:r>
              <a:rPr sz="1200" b="0" i="0">
                <a:solidFill>
                  <a:srgbClr val="35302B"/>
                </a:solidFill>
                <a:latin typeface="Yu Gothic"/>
              </a:rPr>
              <a:t>・時間をかけ、本人のペースを大切に</a:t>
            </a:r>
          </a:p>
        </p:txBody>
      </p:sp>
      <p:sp>
        <p:nvSpPr>
          <p:cNvPr id="13" name="Rectangle 12"/>
          <p:cNvSpPr/>
          <p:nvPr/>
        </p:nvSpPr>
        <p:spPr>
          <a:xfrm>
            <a:off x="4260060" y="1620000"/>
            <a:ext cx="3671999" cy="792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2060" y="1692000"/>
            <a:ext cx="3527999" cy="251999"/>
          </a:xfrm>
          <a:prstGeom prst="rect">
            <a:avLst/>
          </a:prstGeom>
          <a:noFill/>
        </p:spPr>
        <p:txBody>
          <a:bodyPr wrap="square" lIns="36000" rIns="36000" tIns="18000" bIns="18000" anchor="t">
            <a:spAutoFit/>
          </a:bodyPr>
          <a:lstStyle/>
          <a:p>
            <a:pPr algn="ctr"/>
            <a:r>
              <a:rPr sz="1300" b="1" i="0">
                <a:solidFill>
                  <a:srgbClr val="FFFFFF"/>
                </a:solidFill>
                <a:latin typeface="Yu Gothic"/>
              </a:rPr>
              <a:t>原則2</a:t>
            </a:r>
          </a:p>
        </p:txBody>
      </p:sp>
      <p:sp>
        <p:nvSpPr>
          <p:cNvPr id="15" name="TextBox 14"/>
          <p:cNvSpPr txBox="1"/>
          <p:nvPr/>
        </p:nvSpPr>
        <p:spPr>
          <a:xfrm>
            <a:off x="4332060" y="1926000"/>
            <a:ext cx="3527999" cy="432000"/>
          </a:xfrm>
          <a:prstGeom prst="rect">
            <a:avLst/>
          </a:prstGeom>
          <a:noFill/>
        </p:spPr>
        <p:txBody>
          <a:bodyPr wrap="square" lIns="36000" rIns="36000" tIns="18000" bIns="18000" anchor="ctr">
            <a:spAutoFit/>
          </a:bodyPr>
          <a:lstStyle/>
          <a:p>
            <a:pPr algn="ctr"/>
            <a:r>
              <a:rPr sz="1400" b="1" i="0">
                <a:solidFill>
                  <a:srgbClr val="FFFFFF"/>
                </a:solidFill>
                <a:latin typeface="Yu Gothic"/>
              </a:rPr>
              <a:t>本人の意思決定能力への配慮</a:t>
            </a:r>
          </a:p>
        </p:txBody>
      </p:sp>
      <p:sp>
        <p:nvSpPr>
          <p:cNvPr id="16" name="Rectangle 15"/>
          <p:cNvSpPr/>
          <p:nvPr/>
        </p:nvSpPr>
        <p:spPr>
          <a:xfrm>
            <a:off x="4260060" y="2412000"/>
            <a:ext cx="3671999" cy="2628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4060" y="2556000"/>
            <a:ext cx="3383999" cy="2340000"/>
          </a:xfrm>
          <a:prstGeom prst="rect">
            <a:avLst/>
          </a:prstGeom>
          <a:noFill/>
        </p:spPr>
        <p:txBody>
          <a:bodyPr wrap="square" lIns="36000" rIns="36000" tIns="18000" bIns="18000" anchor="t">
            <a:spAutoFit/>
          </a:bodyPr>
          <a:lstStyle/>
          <a:p>
            <a:pPr algn="l">
              <a:lnSpc>
                <a:spcPct val="160000"/>
              </a:lnSpc>
            </a:pPr>
            <a:r>
              <a:rPr sz="1200" b="0" i="0">
                <a:solidFill>
                  <a:srgbClr val="35302B"/>
                </a:solidFill>
                <a:latin typeface="Yu Gothic"/>
              </a:rPr>
              <a:t>・能力は「ある/ない」の二択ではない</a:t>
            </a:r>
          </a:p>
          <a:p>
            <a:pPr algn="l">
              <a:lnSpc>
                <a:spcPct val="160000"/>
              </a:lnSpc>
            </a:pPr>
            <a:r>
              <a:rPr sz="1200" b="0" i="0">
                <a:solidFill>
                  <a:srgbClr val="35302B"/>
                </a:solidFill>
                <a:latin typeface="Yu Gothic"/>
              </a:rPr>
              <a:t>・説明の仕方・環境次第で発揮される</a:t>
            </a:r>
          </a:p>
          <a:p>
            <a:pPr algn="l">
              <a:lnSpc>
                <a:spcPct val="160000"/>
              </a:lnSpc>
            </a:pPr>
            <a:r>
              <a:rPr sz="1200" b="0" i="0">
                <a:solidFill>
                  <a:srgbClr val="35302B"/>
                </a:solidFill>
                <a:latin typeface="Yu Gothic"/>
              </a:rPr>
              <a:t>・能力を固定的に判断しない</a:t>
            </a:r>
          </a:p>
          <a:p>
            <a:pPr algn="l">
              <a:lnSpc>
                <a:spcPct val="160000"/>
              </a:lnSpc>
            </a:pPr>
            <a:r>
              <a:rPr sz="1200" b="0" i="0">
                <a:solidFill>
                  <a:srgbClr val="35302B"/>
                </a:solidFill>
                <a:latin typeface="Yu Gothic"/>
              </a:rPr>
              <a:t>・場面ごとに丁寧に見極める</a:t>
            </a:r>
          </a:p>
        </p:txBody>
      </p:sp>
      <p:sp>
        <p:nvSpPr>
          <p:cNvPr id="18" name="Rectangle 17"/>
          <p:cNvSpPr/>
          <p:nvPr/>
        </p:nvSpPr>
        <p:spPr>
          <a:xfrm>
            <a:off x="8076059" y="1620000"/>
            <a:ext cx="3671999" cy="792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48059" y="1692000"/>
            <a:ext cx="3527999" cy="251999"/>
          </a:xfrm>
          <a:prstGeom prst="rect">
            <a:avLst/>
          </a:prstGeom>
          <a:noFill/>
        </p:spPr>
        <p:txBody>
          <a:bodyPr wrap="square" lIns="36000" rIns="36000" tIns="18000" bIns="18000" anchor="t">
            <a:spAutoFit/>
          </a:bodyPr>
          <a:lstStyle/>
          <a:p>
            <a:pPr algn="ctr"/>
            <a:r>
              <a:rPr sz="1300" b="1" i="0">
                <a:solidFill>
                  <a:srgbClr val="FFFFFF"/>
                </a:solidFill>
                <a:latin typeface="Yu Gothic"/>
              </a:rPr>
              <a:t>原則3</a:t>
            </a:r>
          </a:p>
        </p:txBody>
      </p:sp>
      <p:sp>
        <p:nvSpPr>
          <p:cNvPr id="20" name="TextBox 19"/>
          <p:cNvSpPr txBox="1"/>
          <p:nvPr/>
        </p:nvSpPr>
        <p:spPr>
          <a:xfrm>
            <a:off x="8148059" y="1926000"/>
            <a:ext cx="3527999" cy="432000"/>
          </a:xfrm>
          <a:prstGeom prst="rect">
            <a:avLst/>
          </a:prstGeom>
          <a:noFill/>
        </p:spPr>
        <p:txBody>
          <a:bodyPr wrap="square" lIns="36000" rIns="36000" tIns="18000" bIns="18000" anchor="ctr">
            <a:spAutoFit/>
          </a:bodyPr>
          <a:lstStyle/>
          <a:p>
            <a:pPr algn="ctr"/>
            <a:r>
              <a:rPr sz="1400" b="1" i="0">
                <a:solidFill>
                  <a:srgbClr val="FFFFFF"/>
                </a:solidFill>
                <a:latin typeface="Yu Gothic"/>
              </a:rPr>
              <a:t>チームによる早期からの</a:t>
            </a:r>
          </a:p>
          <a:p>
            <a:pPr algn="ctr"/>
            <a:r>
              <a:rPr sz="1400" b="1" i="0">
                <a:solidFill>
                  <a:srgbClr val="FFFFFF"/>
                </a:solidFill>
                <a:latin typeface="Yu Gothic"/>
              </a:rPr>
              <a:t>継続的支援</a:t>
            </a:r>
          </a:p>
        </p:txBody>
      </p:sp>
      <p:sp>
        <p:nvSpPr>
          <p:cNvPr id="21" name="Rectangle 20"/>
          <p:cNvSpPr/>
          <p:nvPr/>
        </p:nvSpPr>
        <p:spPr>
          <a:xfrm>
            <a:off x="8076059" y="2412000"/>
            <a:ext cx="3671999" cy="2628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0059" y="2556000"/>
            <a:ext cx="3383999" cy="2340000"/>
          </a:xfrm>
          <a:prstGeom prst="rect">
            <a:avLst/>
          </a:prstGeom>
          <a:noFill/>
        </p:spPr>
        <p:txBody>
          <a:bodyPr wrap="square" lIns="36000" rIns="36000" tIns="18000" bIns="18000" anchor="t">
            <a:spAutoFit/>
          </a:bodyPr>
          <a:lstStyle/>
          <a:p>
            <a:pPr algn="l">
              <a:lnSpc>
                <a:spcPct val="160000"/>
              </a:lnSpc>
            </a:pPr>
            <a:r>
              <a:rPr sz="1200" b="0" i="0">
                <a:solidFill>
                  <a:srgbClr val="35302B"/>
                </a:solidFill>
                <a:latin typeface="Yu Gothic"/>
              </a:rPr>
              <a:t>・多職種・家族等のチームで支える</a:t>
            </a:r>
          </a:p>
          <a:p>
            <a:pPr algn="l">
              <a:lnSpc>
                <a:spcPct val="160000"/>
              </a:lnSpc>
            </a:pPr>
            <a:r>
              <a:rPr sz="1200" b="0" i="0">
                <a:solidFill>
                  <a:srgbClr val="35302B"/>
                </a:solidFill>
                <a:latin typeface="Yu Gothic"/>
              </a:rPr>
              <a:t>・診断後の早期から関わる</a:t>
            </a:r>
          </a:p>
          <a:p>
            <a:pPr algn="l">
              <a:lnSpc>
                <a:spcPct val="160000"/>
              </a:lnSpc>
            </a:pPr>
            <a:r>
              <a:rPr sz="1200" b="0" i="0">
                <a:solidFill>
                  <a:srgbClr val="35302B"/>
                </a:solidFill>
                <a:latin typeface="Yu Gothic"/>
              </a:rPr>
              <a:t>・本人の状態変化に応じて継続的に</a:t>
            </a:r>
          </a:p>
          <a:p>
            <a:pPr algn="l">
              <a:lnSpc>
                <a:spcPct val="160000"/>
              </a:lnSpc>
            </a:pPr>
            <a:r>
              <a:rPr sz="1200" b="0" i="0">
                <a:solidFill>
                  <a:srgbClr val="35302B"/>
                </a:solidFill>
                <a:latin typeface="Yu Gothic"/>
              </a:rPr>
              <a:t>・支援の経過を共有・記録する</a:t>
            </a:r>
          </a:p>
        </p:txBody>
      </p:sp>
      <p:sp>
        <p:nvSpPr>
          <p:cNvPr id="23" name="Rectangle 22"/>
          <p:cNvSpPr/>
          <p:nvPr/>
        </p:nvSpPr>
        <p:spPr>
          <a:xfrm>
            <a:off x="432000" y="5400000"/>
            <a:ext cx="11304000" cy="360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4000" y="543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意思決定能力の捉え方</a:t>
            </a:r>
          </a:p>
        </p:txBody>
      </p:sp>
      <p:sp>
        <p:nvSpPr>
          <p:cNvPr id="25" name="Rectangle 24"/>
          <p:cNvSpPr/>
          <p:nvPr/>
        </p:nvSpPr>
        <p:spPr>
          <a:xfrm>
            <a:off x="432000" y="5760000"/>
            <a:ext cx="11304000" cy="432000"/>
          </a:xfrm>
          <a:prstGeom prst="rect">
            <a:avLst/>
          </a:prstGeom>
          <a:solidFill>
            <a:srgbClr val="FA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0000" y="5796000"/>
            <a:ext cx="11088000" cy="396000"/>
          </a:xfrm>
          <a:prstGeom prst="rect">
            <a:avLst/>
          </a:prstGeom>
          <a:noFill/>
        </p:spPr>
        <p:txBody>
          <a:bodyPr wrap="square" lIns="36000" rIns="36000" tIns="18000" bIns="18000" anchor="t">
            <a:spAutoFit/>
          </a:bodyPr>
          <a:lstStyle/>
          <a:p>
            <a:pPr algn="l"/>
            <a:r>
              <a:rPr sz="1200" b="0" i="0">
                <a:solidFill>
                  <a:srgbClr val="35302B"/>
                </a:solidFill>
                <a:latin typeface="Yu Gothic"/>
              </a:rPr>
              <a:t>■ 「認知症だから決められない」ではない ― 説明をやさしく、選択肢を具体的に、環境を整えれば</a:t>
            </a:r>
          </a:p>
          <a:p>
            <a:pPr algn="l"/>
            <a:r>
              <a:rPr sz="1200" b="0" i="0">
                <a:solidFill>
                  <a:srgbClr val="35302B"/>
                </a:solidFill>
                <a:latin typeface="Yu Gothic"/>
              </a:rPr>
              <a:t>    決められることは多い ■ 「能力がない」のではなく「支援が足りていない」と考える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意思決定支援</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意思決定支援の3つのプロセス</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14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「決める」は一瞬ではなく、3つの段階の積み重ね</a:t>
            </a:r>
          </a:p>
        </p:txBody>
      </p:sp>
      <p:sp>
        <p:nvSpPr>
          <p:cNvPr id="10" name="Rectangle 9"/>
          <p:cNvSpPr/>
          <p:nvPr/>
        </p:nvSpPr>
        <p:spPr>
          <a:xfrm>
            <a:off x="432000" y="1908000"/>
            <a:ext cx="11304000" cy="36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324000"/>
          </a:xfrm>
          <a:prstGeom prst="rect">
            <a:avLst/>
          </a:prstGeom>
          <a:noFill/>
        </p:spPr>
        <p:txBody>
          <a:bodyPr wrap="square" lIns="36000" rIns="36000" tIns="18000" bIns="18000" anchor="t">
            <a:spAutoFit/>
          </a:bodyPr>
          <a:lstStyle/>
          <a:p>
            <a:pPr algn="l"/>
            <a:r>
              <a:rPr sz="1200" b="0" i="0">
                <a:solidFill>
                  <a:srgbClr val="35302B"/>
                </a:solidFill>
                <a:latin typeface="Yu Gothic"/>
              </a:rPr>
              <a:t>意思決定支援は「形成 → 表明 → 実現」の流れで本人を支えていく。</a:t>
            </a:r>
          </a:p>
        </p:txBody>
      </p:sp>
      <p:sp>
        <p:nvSpPr>
          <p:cNvPr id="12" name="Rectangle 11"/>
          <p:cNvSpPr/>
          <p:nvPr/>
        </p:nvSpPr>
        <p:spPr>
          <a:xfrm>
            <a:off x="444061" y="2412000"/>
            <a:ext cx="3671999" cy="720000"/>
          </a:xfrm>
          <a:prstGeom prst="rect">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061" y="2502000"/>
            <a:ext cx="3527999" cy="288000"/>
          </a:xfrm>
          <a:prstGeom prst="rect">
            <a:avLst/>
          </a:prstGeom>
          <a:noFill/>
        </p:spPr>
        <p:txBody>
          <a:bodyPr wrap="square" lIns="36000" rIns="36000" tIns="18000" bIns="18000" anchor="t">
            <a:spAutoFit/>
          </a:bodyPr>
          <a:lstStyle/>
          <a:p>
            <a:pPr algn="ctr"/>
            <a:r>
              <a:rPr sz="1400" b="1" i="0">
                <a:solidFill>
                  <a:srgbClr val="FFFFFF"/>
                </a:solidFill>
                <a:latin typeface="Yu Gothic"/>
              </a:rPr>
              <a:t>STEP 1  意思形成支援</a:t>
            </a:r>
          </a:p>
        </p:txBody>
      </p:sp>
      <p:sp>
        <p:nvSpPr>
          <p:cNvPr id="14" name="TextBox 13"/>
          <p:cNvSpPr txBox="1"/>
          <p:nvPr/>
        </p:nvSpPr>
        <p:spPr>
          <a:xfrm>
            <a:off x="516061" y="2790000"/>
            <a:ext cx="3527999" cy="288000"/>
          </a:xfrm>
          <a:prstGeom prst="rect">
            <a:avLst/>
          </a:prstGeom>
          <a:noFill/>
        </p:spPr>
        <p:txBody>
          <a:bodyPr wrap="square" lIns="36000" rIns="36000" tIns="18000" bIns="18000" anchor="t">
            <a:spAutoFit/>
          </a:bodyPr>
          <a:lstStyle/>
          <a:p>
            <a:pPr algn="ctr"/>
            <a:r>
              <a:rPr sz="1000" b="0" i="0">
                <a:solidFill>
                  <a:srgbClr val="FFFFFF"/>
                </a:solidFill>
                <a:latin typeface="Yu Gothic"/>
              </a:rPr>
              <a:t>本人が「考え、思いを持つ」のを支える</a:t>
            </a:r>
          </a:p>
        </p:txBody>
      </p:sp>
      <p:sp>
        <p:nvSpPr>
          <p:cNvPr id="15" name="Rectangle 14"/>
          <p:cNvSpPr/>
          <p:nvPr/>
        </p:nvSpPr>
        <p:spPr>
          <a:xfrm>
            <a:off x="444061" y="3132000"/>
            <a:ext cx="3671999" cy="234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8061" y="3239999"/>
            <a:ext cx="3383999" cy="2124000"/>
          </a:xfrm>
          <a:prstGeom prst="rect">
            <a:avLst/>
          </a:prstGeom>
          <a:noFill/>
        </p:spPr>
        <p:txBody>
          <a:bodyPr wrap="square" lIns="36000" rIns="36000" tIns="18000" bIns="18000" anchor="t">
            <a:spAutoFit/>
          </a:bodyPr>
          <a:lstStyle/>
          <a:p>
            <a:pPr algn="l">
              <a:lnSpc>
                <a:spcPct val="150000"/>
              </a:lnSpc>
            </a:pPr>
            <a:r>
              <a:rPr sz="1100" b="0" i="0">
                <a:solidFill>
                  <a:srgbClr val="35302B"/>
                </a:solidFill>
                <a:latin typeface="Yu Gothic"/>
              </a:rPr>
              <a:t>・分かりやすい情報提供</a:t>
            </a:r>
          </a:p>
          <a:p>
            <a:pPr algn="l">
              <a:lnSpc>
                <a:spcPct val="150000"/>
              </a:lnSpc>
            </a:pPr>
            <a:r>
              <a:rPr sz="1100" b="0" i="0">
                <a:solidFill>
                  <a:srgbClr val="35302B"/>
                </a:solidFill>
                <a:latin typeface="Yu Gothic"/>
              </a:rPr>
              <a:t>  (やさしい言葉・図・実物)</a:t>
            </a:r>
          </a:p>
          <a:p>
            <a:pPr algn="l">
              <a:lnSpc>
                <a:spcPct val="150000"/>
              </a:lnSpc>
            </a:pPr>
            <a:r>
              <a:rPr sz="1100" b="0" i="0">
                <a:solidFill>
                  <a:srgbClr val="35302B"/>
                </a:solidFill>
                <a:latin typeface="Yu Gothic"/>
              </a:rPr>
              <a:t>・選択肢を具体的に示す</a:t>
            </a:r>
          </a:p>
          <a:p>
            <a:pPr algn="l">
              <a:lnSpc>
                <a:spcPct val="150000"/>
              </a:lnSpc>
            </a:pPr>
            <a:r>
              <a:rPr sz="1100" b="0" i="0">
                <a:solidFill>
                  <a:srgbClr val="35302B"/>
                </a:solidFill>
                <a:latin typeface="Yu Gothic"/>
              </a:rPr>
              <a:t>・落ち着いた環境・十分な時間</a:t>
            </a:r>
          </a:p>
          <a:p>
            <a:pPr algn="l">
              <a:lnSpc>
                <a:spcPct val="150000"/>
              </a:lnSpc>
            </a:pPr>
            <a:r>
              <a:rPr sz="1100" b="0" i="0">
                <a:solidFill>
                  <a:srgbClr val="35302B"/>
                </a:solidFill>
                <a:latin typeface="Yu Gothic"/>
              </a:rPr>
              <a:t>・本人が信頼する人の同席</a:t>
            </a:r>
          </a:p>
        </p:txBody>
      </p:sp>
      <p:sp>
        <p:nvSpPr>
          <p:cNvPr id="17" name="Right Arrow 16"/>
          <p:cNvSpPr/>
          <p:nvPr/>
        </p:nvSpPr>
        <p:spPr>
          <a:xfrm>
            <a:off x="4123260" y="2592000"/>
            <a:ext cx="129600" cy="360000"/>
          </a:xfrm>
          <a:prstGeom prst="rightArrow">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60060" y="2412000"/>
            <a:ext cx="3671999" cy="72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32060" y="2502000"/>
            <a:ext cx="3527999" cy="288000"/>
          </a:xfrm>
          <a:prstGeom prst="rect">
            <a:avLst/>
          </a:prstGeom>
          <a:noFill/>
        </p:spPr>
        <p:txBody>
          <a:bodyPr wrap="square" lIns="36000" rIns="36000" tIns="18000" bIns="18000" anchor="t">
            <a:spAutoFit/>
          </a:bodyPr>
          <a:lstStyle/>
          <a:p>
            <a:pPr algn="ctr"/>
            <a:r>
              <a:rPr sz="1400" b="1" i="0">
                <a:solidFill>
                  <a:srgbClr val="FFFFFF"/>
                </a:solidFill>
                <a:latin typeface="Yu Gothic"/>
              </a:rPr>
              <a:t>STEP 2  意思表明支援</a:t>
            </a:r>
          </a:p>
        </p:txBody>
      </p:sp>
      <p:sp>
        <p:nvSpPr>
          <p:cNvPr id="20" name="TextBox 19"/>
          <p:cNvSpPr txBox="1"/>
          <p:nvPr/>
        </p:nvSpPr>
        <p:spPr>
          <a:xfrm>
            <a:off x="4332060" y="2790000"/>
            <a:ext cx="3527999" cy="288000"/>
          </a:xfrm>
          <a:prstGeom prst="rect">
            <a:avLst/>
          </a:prstGeom>
          <a:noFill/>
        </p:spPr>
        <p:txBody>
          <a:bodyPr wrap="square" lIns="36000" rIns="36000" tIns="18000" bIns="18000" anchor="t">
            <a:spAutoFit/>
          </a:bodyPr>
          <a:lstStyle/>
          <a:p>
            <a:pPr algn="ctr"/>
            <a:r>
              <a:rPr sz="1000" b="0" i="0">
                <a:solidFill>
                  <a:srgbClr val="FFFFFF"/>
                </a:solidFill>
                <a:latin typeface="Yu Gothic"/>
              </a:rPr>
              <a:t>本人が「思いを表す」のを支える</a:t>
            </a:r>
          </a:p>
        </p:txBody>
      </p:sp>
      <p:sp>
        <p:nvSpPr>
          <p:cNvPr id="21" name="Rectangle 20"/>
          <p:cNvSpPr/>
          <p:nvPr/>
        </p:nvSpPr>
        <p:spPr>
          <a:xfrm>
            <a:off x="4260060" y="3132000"/>
            <a:ext cx="3671999" cy="234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4060" y="3239999"/>
            <a:ext cx="3383999" cy="2124000"/>
          </a:xfrm>
          <a:prstGeom prst="rect">
            <a:avLst/>
          </a:prstGeom>
          <a:noFill/>
        </p:spPr>
        <p:txBody>
          <a:bodyPr wrap="square" lIns="36000" rIns="36000" tIns="18000" bIns="18000" anchor="t">
            <a:spAutoFit/>
          </a:bodyPr>
          <a:lstStyle/>
          <a:p>
            <a:pPr algn="l">
              <a:lnSpc>
                <a:spcPct val="150000"/>
              </a:lnSpc>
            </a:pPr>
            <a:r>
              <a:rPr sz="1100" b="0" i="0">
                <a:solidFill>
                  <a:srgbClr val="35302B"/>
                </a:solidFill>
                <a:latin typeface="Yu Gothic"/>
              </a:rPr>
              <a:t>・本人のペースを待つ</a:t>
            </a:r>
          </a:p>
          <a:p>
            <a:pPr algn="l">
              <a:lnSpc>
                <a:spcPct val="150000"/>
              </a:lnSpc>
            </a:pPr>
            <a:r>
              <a:rPr sz="1100" b="0" i="0">
                <a:solidFill>
                  <a:srgbClr val="35302B"/>
                </a:solidFill>
                <a:latin typeface="Yu Gothic"/>
              </a:rPr>
              <a:t>・言葉以外の表現も受けとめる</a:t>
            </a:r>
          </a:p>
          <a:p>
            <a:pPr algn="l">
              <a:lnSpc>
                <a:spcPct val="150000"/>
              </a:lnSpc>
            </a:pPr>
            <a:r>
              <a:rPr sz="1100" b="0" i="0">
                <a:solidFill>
                  <a:srgbClr val="35302B"/>
                </a:solidFill>
                <a:latin typeface="Yu Gothic"/>
              </a:rPr>
              <a:t>  (表情・態度・行動)</a:t>
            </a:r>
          </a:p>
          <a:p>
            <a:pPr algn="l">
              <a:lnSpc>
                <a:spcPct val="150000"/>
              </a:lnSpc>
            </a:pPr>
            <a:r>
              <a:rPr sz="1100" b="0" i="0">
                <a:solidFill>
                  <a:srgbClr val="35302B"/>
                </a:solidFill>
                <a:latin typeface="Yu Gothic"/>
              </a:rPr>
              <a:t>・誘導・急かしをしない</a:t>
            </a:r>
          </a:p>
          <a:p>
            <a:pPr algn="l">
              <a:lnSpc>
                <a:spcPct val="150000"/>
              </a:lnSpc>
            </a:pPr>
            <a:r>
              <a:rPr sz="1100" b="0" i="0">
                <a:solidFill>
                  <a:srgbClr val="35302B"/>
                </a:solidFill>
                <a:latin typeface="Yu Gothic"/>
              </a:rPr>
              <a:t>・複数回・場面を変えて確認</a:t>
            </a:r>
          </a:p>
        </p:txBody>
      </p:sp>
      <p:sp>
        <p:nvSpPr>
          <p:cNvPr id="23" name="Right Arrow 22"/>
          <p:cNvSpPr/>
          <p:nvPr/>
        </p:nvSpPr>
        <p:spPr>
          <a:xfrm>
            <a:off x="7939259" y="2592000"/>
            <a:ext cx="129600" cy="360000"/>
          </a:xfrm>
          <a:prstGeom prst="rightArrow">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6059" y="2412000"/>
            <a:ext cx="3671999" cy="72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48059" y="2502000"/>
            <a:ext cx="3527999" cy="288000"/>
          </a:xfrm>
          <a:prstGeom prst="rect">
            <a:avLst/>
          </a:prstGeom>
          <a:noFill/>
        </p:spPr>
        <p:txBody>
          <a:bodyPr wrap="square" lIns="36000" rIns="36000" tIns="18000" bIns="18000" anchor="t">
            <a:spAutoFit/>
          </a:bodyPr>
          <a:lstStyle/>
          <a:p>
            <a:pPr algn="ctr"/>
            <a:r>
              <a:rPr sz="1400" b="1" i="0">
                <a:solidFill>
                  <a:srgbClr val="FFFFFF"/>
                </a:solidFill>
                <a:latin typeface="Yu Gothic"/>
              </a:rPr>
              <a:t>STEP 3  意思実現支援</a:t>
            </a:r>
          </a:p>
        </p:txBody>
      </p:sp>
      <p:sp>
        <p:nvSpPr>
          <p:cNvPr id="26" name="TextBox 25"/>
          <p:cNvSpPr txBox="1"/>
          <p:nvPr/>
        </p:nvSpPr>
        <p:spPr>
          <a:xfrm>
            <a:off x="8148059" y="2790000"/>
            <a:ext cx="3527999" cy="288000"/>
          </a:xfrm>
          <a:prstGeom prst="rect">
            <a:avLst/>
          </a:prstGeom>
          <a:noFill/>
        </p:spPr>
        <p:txBody>
          <a:bodyPr wrap="square" lIns="36000" rIns="36000" tIns="18000" bIns="18000" anchor="t">
            <a:spAutoFit/>
          </a:bodyPr>
          <a:lstStyle/>
          <a:p>
            <a:pPr algn="ctr"/>
            <a:r>
              <a:rPr sz="1000" b="0" i="0">
                <a:solidFill>
                  <a:srgbClr val="FFFFFF"/>
                </a:solidFill>
                <a:latin typeface="Yu Gothic"/>
              </a:rPr>
              <a:t>本人の意思を「実現する」のを支える</a:t>
            </a:r>
          </a:p>
        </p:txBody>
      </p:sp>
      <p:sp>
        <p:nvSpPr>
          <p:cNvPr id="27" name="Rectangle 26"/>
          <p:cNvSpPr/>
          <p:nvPr/>
        </p:nvSpPr>
        <p:spPr>
          <a:xfrm>
            <a:off x="8076059" y="3132000"/>
            <a:ext cx="3671999" cy="234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0059" y="3239999"/>
            <a:ext cx="3383999" cy="2124000"/>
          </a:xfrm>
          <a:prstGeom prst="rect">
            <a:avLst/>
          </a:prstGeom>
          <a:noFill/>
        </p:spPr>
        <p:txBody>
          <a:bodyPr wrap="square" lIns="36000" rIns="36000" tIns="18000" bIns="18000" anchor="t">
            <a:spAutoFit/>
          </a:bodyPr>
          <a:lstStyle/>
          <a:p>
            <a:pPr algn="l">
              <a:lnSpc>
                <a:spcPct val="150000"/>
              </a:lnSpc>
            </a:pPr>
            <a:r>
              <a:rPr sz="1100" b="0" i="0">
                <a:solidFill>
                  <a:srgbClr val="35302B"/>
                </a:solidFill>
                <a:latin typeface="Yu Gothic"/>
              </a:rPr>
              <a:t>・本人の意思を生活・ケアに反映</a:t>
            </a:r>
          </a:p>
          <a:p>
            <a:pPr algn="l">
              <a:lnSpc>
                <a:spcPct val="150000"/>
              </a:lnSpc>
            </a:pPr>
            <a:r>
              <a:rPr sz="1100" b="0" i="0">
                <a:solidFill>
                  <a:srgbClr val="35302B"/>
                </a:solidFill>
                <a:latin typeface="Yu Gothic"/>
              </a:rPr>
              <a:t>・本人の能力を活かす</a:t>
            </a:r>
          </a:p>
          <a:p>
            <a:pPr algn="l">
              <a:lnSpc>
                <a:spcPct val="150000"/>
              </a:lnSpc>
            </a:pPr>
            <a:r>
              <a:rPr sz="1100" b="0" i="0">
                <a:solidFill>
                  <a:srgbClr val="35302B"/>
                </a:solidFill>
                <a:latin typeface="Yu Gothic"/>
              </a:rPr>
              <a:t>・チーム・社会資源で後押し</a:t>
            </a:r>
          </a:p>
          <a:p>
            <a:pPr algn="l">
              <a:lnSpc>
                <a:spcPct val="150000"/>
              </a:lnSpc>
            </a:pPr>
            <a:r>
              <a:rPr sz="1100" b="0" i="0">
                <a:solidFill>
                  <a:srgbClr val="35302B"/>
                </a:solidFill>
                <a:latin typeface="Yu Gothic"/>
              </a:rPr>
              <a:t>・実現後も振り返り、見直す</a:t>
            </a:r>
          </a:p>
        </p:txBody>
      </p:sp>
      <p:sp>
        <p:nvSpPr>
          <p:cNvPr id="29" name="TextBox 28"/>
          <p:cNvSpPr txBox="1"/>
          <p:nvPr/>
        </p:nvSpPr>
        <p:spPr>
          <a:xfrm>
            <a:off x="432000" y="5940000"/>
            <a:ext cx="11328119" cy="360000"/>
          </a:xfrm>
          <a:prstGeom prst="rect">
            <a:avLst/>
          </a:prstGeom>
          <a:noFill/>
        </p:spPr>
        <p:txBody>
          <a:bodyPr wrap="square" lIns="36000" rIns="36000" tIns="18000" bIns="18000" anchor="t">
            <a:spAutoFit/>
          </a:bodyPr>
          <a:lstStyle/>
          <a:p>
            <a:pPr algn="l"/>
            <a:r>
              <a:rPr sz="1200" b="1" i="0">
                <a:solidFill>
                  <a:srgbClr val="C2571C"/>
                </a:solidFill>
                <a:latin typeface="Yu Gothic"/>
              </a:rPr>
              <a:t>▶ どの段階でつまずいているかを見極め、その段階に合った支援を行う。</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意思決定支援</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意思決定支援の実践 ― してよいこと/いけないこと</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15 / 32</a:t>
            </a:r>
          </a:p>
        </p:txBody>
      </p:sp>
      <p:sp>
        <p:nvSpPr>
          <p:cNvPr id="8" name="Rectangle 7"/>
          <p:cNvSpPr/>
          <p:nvPr/>
        </p:nvSpPr>
        <p:spPr>
          <a:xfrm>
            <a:off x="432000" y="1620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6000" y="1656000"/>
            <a:ext cx="5544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意思決定を支える関わり</a:t>
            </a:r>
          </a:p>
        </p:txBody>
      </p:sp>
      <p:sp>
        <p:nvSpPr>
          <p:cNvPr id="10" name="TextBox 9"/>
          <p:cNvSpPr txBox="1"/>
          <p:nvPr/>
        </p:nvSpPr>
        <p:spPr>
          <a:xfrm>
            <a:off x="6138000" y="1656000"/>
            <a:ext cx="5544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意思決定を奪う関わり</a:t>
            </a:r>
          </a:p>
        </p:txBody>
      </p:sp>
      <p:sp>
        <p:nvSpPr>
          <p:cNvPr id="11" name="Rectangle 10"/>
          <p:cNvSpPr/>
          <p:nvPr/>
        </p:nvSpPr>
        <p:spPr>
          <a:xfrm>
            <a:off x="432000" y="1980000"/>
            <a:ext cx="11304000" cy="558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6000" y="2034000"/>
            <a:ext cx="5544000" cy="450000"/>
          </a:xfrm>
          <a:prstGeom prst="rect">
            <a:avLst/>
          </a:prstGeom>
          <a:noFill/>
        </p:spPr>
        <p:txBody>
          <a:bodyPr wrap="square" lIns="36000" rIns="36000" tIns="18000" bIns="18000" anchor="ctr">
            <a:spAutoFit/>
          </a:bodyPr>
          <a:lstStyle/>
          <a:p>
            <a:pPr algn="ctr"/>
            <a:r>
              <a:rPr sz="1200" b="0" i="0">
                <a:solidFill>
                  <a:srgbClr val="3C7A4E"/>
                </a:solidFill>
                <a:latin typeface="Yu Gothic"/>
              </a:rPr>
              <a:t>本人に直接、ゆっくり問いかける</a:t>
            </a:r>
          </a:p>
        </p:txBody>
      </p:sp>
      <p:sp>
        <p:nvSpPr>
          <p:cNvPr id="13" name="TextBox 12"/>
          <p:cNvSpPr txBox="1"/>
          <p:nvPr/>
        </p:nvSpPr>
        <p:spPr>
          <a:xfrm>
            <a:off x="6138000" y="2034000"/>
            <a:ext cx="5544000" cy="450000"/>
          </a:xfrm>
          <a:prstGeom prst="rect">
            <a:avLst/>
          </a:prstGeom>
          <a:noFill/>
        </p:spPr>
        <p:txBody>
          <a:bodyPr wrap="square" lIns="36000" rIns="36000" tIns="18000" bIns="18000" anchor="ctr">
            <a:spAutoFit/>
          </a:bodyPr>
          <a:lstStyle/>
          <a:p>
            <a:pPr algn="l"/>
            <a:r>
              <a:rPr sz="1200" b="0" i="0">
                <a:solidFill>
                  <a:srgbClr val="35302B"/>
                </a:solidFill>
                <a:latin typeface="Yu Gothic"/>
              </a:rPr>
              <a:t>本人を飛ばして家族にばかり聞く</a:t>
            </a:r>
          </a:p>
        </p:txBody>
      </p:sp>
      <p:sp>
        <p:nvSpPr>
          <p:cNvPr id="14" name="Rectangle 13"/>
          <p:cNvSpPr/>
          <p:nvPr/>
        </p:nvSpPr>
        <p:spPr>
          <a:xfrm>
            <a:off x="432000" y="2538000"/>
            <a:ext cx="11304000" cy="558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000" y="2592000"/>
            <a:ext cx="5544000" cy="450000"/>
          </a:xfrm>
          <a:prstGeom prst="rect">
            <a:avLst/>
          </a:prstGeom>
          <a:noFill/>
        </p:spPr>
        <p:txBody>
          <a:bodyPr wrap="square" lIns="36000" rIns="36000" tIns="18000" bIns="18000" anchor="ctr">
            <a:spAutoFit/>
          </a:bodyPr>
          <a:lstStyle/>
          <a:p>
            <a:pPr algn="ctr"/>
            <a:r>
              <a:rPr sz="1200" b="0" i="0">
                <a:solidFill>
                  <a:srgbClr val="3C7A4E"/>
                </a:solidFill>
                <a:latin typeface="Yu Gothic"/>
              </a:rPr>
              <a:t>「どちらがいいですか」と選択肢を示す</a:t>
            </a:r>
          </a:p>
        </p:txBody>
      </p:sp>
      <p:sp>
        <p:nvSpPr>
          <p:cNvPr id="16" name="TextBox 15"/>
          <p:cNvSpPr txBox="1"/>
          <p:nvPr/>
        </p:nvSpPr>
        <p:spPr>
          <a:xfrm>
            <a:off x="6138000" y="2592000"/>
            <a:ext cx="5544000" cy="450000"/>
          </a:xfrm>
          <a:prstGeom prst="rect">
            <a:avLst/>
          </a:prstGeom>
          <a:noFill/>
        </p:spPr>
        <p:txBody>
          <a:bodyPr wrap="square" lIns="36000" rIns="36000" tIns="18000" bIns="18000" anchor="ctr">
            <a:spAutoFit/>
          </a:bodyPr>
          <a:lstStyle/>
          <a:p>
            <a:pPr algn="l"/>
            <a:r>
              <a:rPr sz="1200" b="0" i="0">
                <a:solidFill>
                  <a:srgbClr val="35302B"/>
                </a:solidFill>
                <a:latin typeface="Yu Gothic"/>
              </a:rPr>
              <a:t>「これでいいですね?」と誘導する</a:t>
            </a:r>
          </a:p>
        </p:txBody>
      </p:sp>
      <p:sp>
        <p:nvSpPr>
          <p:cNvPr id="17" name="Rectangle 16"/>
          <p:cNvSpPr/>
          <p:nvPr/>
        </p:nvSpPr>
        <p:spPr>
          <a:xfrm>
            <a:off x="432000" y="3096000"/>
            <a:ext cx="11304000" cy="558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3150000"/>
            <a:ext cx="5544000" cy="450000"/>
          </a:xfrm>
          <a:prstGeom prst="rect">
            <a:avLst/>
          </a:prstGeom>
          <a:noFill/>
        </p:spPr>
        <p:txBody>
          <a:bodyPr wrap="square" lIns="36000" rIns="36000" tIns="18000" bIns="18000" anchor="ctr">
            <a:spAutoFit/>
          </a:bodyPr>
          <a:lstStyle/>
          <a:p>
            <a:pPr algn="ctr"/>
            <a:r>
              <a:rPr sz="1200" b="0" i="0">
                <a:solidFill>
                  <a:srgbClr val="3C7A4E"/>
                </a:solidFill>
                <a:latin typeface="Yu Gothic"/>
              </a:rPr>
              <a:t>実物・写真・図など見て分かる形で示す</a:t>
            </a:r>
          </a:p>
        </p:txBody>
      </p:sp>
      <p:sp>
        <p:nvSpPr>
          <p:cNvPr id="19" name="TextBox 18"/>
          <p:cNvSpPr txBox="1"/>
          <p:nvPr/>
        </p:nvSpPr>
        <p:spPr>
          <a:xfrm>
            <a:off x="6138000" y="3150000"/>
            <a:ext cx="5544000" cy="450000"/>
          </a:xfrm>
          <a:prstGeom prst="rect">
            <a:avLst/>
          </a:prstGeom>
          <a:noFill/>
        </p:spPr>
        <p:txBody>
          <a:bodyPr wrap="square" lIns="36000" rIns="36000" tIns="18000" bIns="18000" anchor="ctr">
            <a:spAutoFit/>
          </a:bodyPr>
          <a:lstStyle/>
          <a:p>
            <a:pPr algn="l"/>
            <a:r>
              <a:rPr sz="1200" b="0" i="0">
                <a:solidFill>
                  <a:srgbClr val="35302B"/>
                </a:solidFill>
                <a:latin typeface="Yu Gothic"/>
              </a:rPr>
              <a:t>口頭の説明だけで済ませる</a:t>
            </a:r>
          </a:p>
        </p:txBody>
      </p:sp>
      <p:sp>
        <p:nvSpPr>
          <p:cNvPr id="20" name="Rectangle 19"/>
          <p:cNvSpPr/>
          <p:nvPr/>
        </p:nvSpPr>
        <p:spPr>
          <a:xfrm>
            <a:off x="432000" y="3654000"/>
            <a:ext cx="11304000" cy="558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3708000"/>
            <a:ext cx="5544000" cy="450000"/>
          </a:xfrm>
          <a:prstGeom prst="rect">
            <a:avLst/>
          </a:prstGeom>
          <a:noFill/>
        </p:spPr>
        <p:txBody>
          <a:bodyPr wrap="square" lIns="36000" rIns="36000" tIns="18000" bIns="18000" anchor="ctr">
            <a:spAutoFit/>
          </a:bodyPr>
          <a:lstStyle/>
          <a:p>
            <a:pPr algn="ctr"/>
            <a:r>
              <a:rPr sz="1200" b="0" i="0">
                <a:solidFill>
                  <a:srgbClr val="3C7A4E"/>
                </a:solidFill>
                <a:latin typeface="Yu Gothic"/>
              </a:rPr>
              <a:t>本人のペースで、答えを待つ</a:t>
            </a:r>
          </a:p>
        </p:txBody>
      </p:sp>
      <p:sp>
        <p:nvSpPr>
          <p:cNvPr id="22" name="TextBox 21"/>
          <p:cNvSpPr txBox="1"/>
          <p:nvPr/>
        </p:nvSpPr>
        <p:spPr>
          <a:xfrm>
            <a:off x="6138000" y="3708000"/>
            <a:ext cx="5544000" cy="450000"/>
          </a:xfrm>
          <a:prstGeom prst="rect">
            <a:avLst/>
          </a:prstGeom>
          <a:noFill/>
        </p:spPr>
        <p:txBody>
          <a:bodyPr wrap="square" lIns="36000" rIns="36000" tIns="18000" bIns="18000" anchor="ctr">
            <a:spAutoFit/>
          </a:bodyPr>
          <a:lstStyle/>
          <a:p>
            <a:pPr algn="l"/>
            <a:r>
              <a:rPr sz="1200" b="0" i="0">
                <a:solidFill>
                  <a:srgbClr val="35302B"/>
                </a:solidFill>
                <a:latin typeface="Yu Gothic"/>
              </a:rPr>
              <a:t>急かす・沈黙を埋めてしまう</a:t>
            </a:r>
          </a:p>
        </p:txBody>
      </p:sp>
      <p:sp>
        <p:nvSpPr>
          <p:cNvPr id="23" name="Rectangle 22"/>
          <p:cNvSpPr/>
          <p:nvPr/>
        </p:nvSpPr>
        <p:spPr>
          <a:xfrm>
            <a:off x="432000" y="4212000"/>
            <a:ext cx="11304000" cy="558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6000" y="4266000"/>
            <a:ext cx="5544000" cy="450000"/>
          </a:xfrm>
          <a:prstGeom prst="rect">
            <a:avLst/>
          </a:prstGeom>
          <a:noFill/>
        </p:spPr>
        <p:txBody>
          <a:bodyPr wrap="square" lIns="36000" rIns="36000" tIns="18000" bIns="18000" anchor="ctr">
            <a:spAutoFit/>
          </a:bodyPr>
          <a:lstStyle/>
          <a:p>
            <a:pPr algn="ctr"/>
            <a:r>
              <a:rPr sz="1200" b="0" i="0">
                <a:solidFill>
                  <a:srgbClr val="3C7A4E"/>
                </a:solidFill>
                <a:latin typeface="Yu Gothic"/>
              </a:rPr>
              <a:t>表情・しぐさなど非言語のサインも読む</a:t>
            </a:r>
          </a:p>
        </p:txBody>
      </p:sp>
      <p:sp>
        <p:nvSpPr>
          <p:cNvPr id="25" name="TextBox 24"/>
          <p:cNvSpPr txBox="1"/>
          <p:nvPr/>
        </p:nvSpPr>
        <p:spPr>
          <a:xfrm>
            <a:off x="6138000" y="4266000"/>
            <a:ext cx="5544000" cy="450000"/>
          </a:xfrm>
          <a:prstGeom prst="rect">
            <a:avLst/>
          </a:prstGeom>
          <a:noFill/>
        </p:spPr>
        <p:txBody>
          <a:bodyPr wrap="square" lIns="36000" rIns="36000" tIns="18000" bIns="18000" anchor="ctr">
            <a:spAutoFit/>
          </a:bodyPr>
          <a:lstStyle/>
          <a:p>
            <a:pPr algn="l"/>
            <a:r>
              <a:rPr sz="1200" b="0" i="0">
                <a:solidFill>
                  <a:srgbClr val="35302B"/>
                </a:solidFill>
                <a:latin typeface="Yu Gothic"/>
              </a:rPr>
              <a:t>「言葉で言えない=意思なし」とみなす</a:t>
            </a:r>
          </a:p>
        </p:txBody>
      </p:sp>
      <p:sp>
        <p:nvSpPr>
          <p:cNvPr id="26" name="Rectangle 25"/>
          <p:cNvSpPr/>
          <p:nvPr/>
        </p:nvSpPr>
        <p:spPr>
          <a:xfrm>
            <a:off x="432000" y="4770000"/>
            <a:ext cx="11304000" cy="558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6000" y="4824000"/>
            <a:ext cx="5544000" cy="450000"/>
          </a:xfrm>
          <a:prstGeom prst="rect">
            <a:avLst/>
          </a:prstGeom>
          <a:noFill/>
        </p:spPr>
        <p:txBody>
          <a:bodyPr wrap="square" lIns="36000" rIns="36000" tIns="18000" bIns="18000" anchor="ctr">
            <a:spAutoFit/>
          </a:bodyPr>
          <a:lstStyle/>
          <a:p>
            <a:pPr algn="ctr"/>
            <a:r>
              <a:rPr sz="1200" b="0" i="0">
                <a:solidFill>
                  <a:srgbClr val="3C7A4E"/>
                </a:solidFill>
                <a:latin typeface="Yu Gothic"/>
              </a:rPr>
              <a:t>決めた後も「これでよかったか」と確認</a:t>
            </a:r>
          </a:p>
        </p:txBody>
      </p:sp>
      <p:sp>
        <p:nvSpPr>
          <p:cNvPr id="28" name="TextBox 27"/>
          <p:cNvSpPr txBox="1"/>
          <p:nvPr/>
        </p:nvSpPr>
        <p:spPr>
          <a:xfrm>
            <a:off x="6138000" y="4824000"/>
            <a:ext cx="5544000" cy="450000"/>
          </a:xfrm>
          <a:prstGeom prst="rect">
            <a:avLst/>
          </a:prstGeom>
          <a:noFill/>
        </p:spPr>
        <p:txBody>
          <a:bodyPr wrap="square" lIns="36000" rIns="36000" tIns="18000" bIns="18000" anchor="ctr">
            <a:spAutoFit/>
          </a:bodyPr>
          <a:lstStyle/>
          <a:p>
            <a:pPr algn="l"/>
            <a:r>
              <a:rPr sz="1200" b="0" i="0">
                <a:solidFill>
                  <a:srgbClr val="35302B"/>
                </a:solidFill>
                <a:latin typeface="Yu Gothic"/>
              </a:rPr>
              <a:t>一度決めたら見直さない</a:t>
            </a:r>
          </a:p>
        </p:txBody>
      </p:sp>
      <p:sp>
        <p:nvSpPr>
          <p:cNvPr id="29" name="Rectangle 28"/>
          <p:cNvSpPr/>
          <p:nvPr/>
        </p:nvSpPr>
        <p:spPr>
          <a:xfrm>
            <a:off x="432000" y="5220000"/>
            <a:ext cx="11304000" cy="360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4000" y="52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「本人の最善の利益」をめぐる注意</a:t>
            </a:r>
          </a:p>
        </p:txBody>
      </p:sp>
      <p:sp>
        <p:nvSpPr>
          <p:cNvPr id="31" name="Rectangle 30"/>
          <p:cNvSpPr/>
          <p:nvPr/>
        </p:nvSpPr>
        <p:spPr>
          <a:xfrm>
            <a:off x="432000" y="5580000"/>
            <a:ext cx="11304000" cy="540000"/>
          </a:xfrm>
          <a:prstGeom prst="rect">
            <a:avLst/>
          </a:prstGeom>
          <a:solidFill>
            <a:srgbClr val="FA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0000" y="5616000"/>
            <a:ext cx="11088000" cy="504000"/>
          </a:xfrm>
          <a:prstGeom prst="rect">
            <a:avLst/>
          </a:prstGeom>
          <a:noFill/>
        </p:spPr>
        <p:txBody>
          <a:bodyPr wrap="square" lIns="36000" rIns="36000" tIns="18000" bIns="18000" anchor="t">
            <a:spAutoFit/>
          </a:bodyPr>
          <a:lstStyle/>
          <a:p>
            <a:pPr algn="l"/>
            <a:r>
              <a:rPr sz="1200" b="0" i="0">
                <a:solidFill>
                  <a:srgbClr val="35302B"/>
                </a:solidFill>
                <a:latin typeface="Yu Gothic"/>
              </a:rPr>
              <a:t>■ 代行決定が避けられない場合も、まず「本人ならどう考えるか」(本人の推定意思)を最優先</a:t>
            </a:r>
          </a:p>
          <a:p>
            <a:pPr algn="l"/>
            <a:r>
              <a:rPr sz="1200" b="0" i="0">
                <a:solidFill>
                  <a:srgbClr val="35302B"/>
                </a:solidFill>
                <a:latin typeface="Yu Gothic"/>
              </a:rPr>
              <a:t>■ 支援者が考える『客観的な最善』を、本人の意思より優先させない ― 価値観は人それぞれ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意思決定支援</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日々の意思決定支援が、将来の備えにつながる</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16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「小さな意思決定」の積み重ねが土台になる</a:t>
            </a:r>
          </a:p>
        </p:txBody>
      </p:sp>
      <p:sp>
        <p:nvSpPr>
          <p:cNvPr id="10" name="Rectangle 9"/>
          <p:cNvSpPr/>
          <p:nvPr/>
        </p:nvSpPr>
        <p:spPr>
          <a:xfrm>
            <a:off x="432000" y="1908000"/>
            <a:ext cx="11304000" cy="61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200" b="0" i="0">
                <a:solidFill>
                  <a:srgbClr val="35302B"/>
                </a:solidFill>
                <a:latin typeface="Yu Gothic"/>
              </a:rPr>
              <a:t>今日着る服、昼食のメニュー、散歩に行くかどうか ― 日々の小さな選択を支えることが、</a:t>
            </a:r>
          </a:p>
          <a:p>
            <a:pPr algn="l"/>
            <a:r>
              <a:rPr sz="1200" b="0" i="0">
                <a:solidFill>
                  <a:srgbClr val="35302B"/>
                </a:solidFill>
                <a:latin typeface="Yu Gothic"/>
              </a:rPr>
              <a:t>やがて「これからの暮らし方」「医療・ケアの希望」といった大きな意思決定の支えになる。</a:t>
            </a:r>
          </a:p>
        </p:txBody>
      </p:sp>
      <p:sp>
        <p:nvSpPr>
          <p:cNvPr id="12" name="Rectangle 11"/>
          <p:cNvSpPr/>
          <p:nvPr/>
        </p:nvSpPr>
        <p:spPr>
          <a:xfrm>
            <a:off x="432000" y="2628000"/>
            <a:ext cx="5580000" cy="36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早期からの関わりが鍵</a:t>
            </a:r>
          </a:p>
        </p:txBody>
      </p:sp>
      <p:sp>
        <p:nvSpPr>
          <p:cNvPr id="14" name="Rectangle 13"/>
          <p:cNvSpPr/>
          <p:nvPr/>
        </p:nvSpPr>
        <p:spPr>
          <a:xfrm>
            <a:off x="432000" y="2988000"/>
            <a:ext cx="5580000" cy="162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5302B"/>
                </a:solidFill>
                <a:latin typeface="Yu Gothic"/>
              </a:rPr>
              <a:t>■ 診断後の早い段階から、本人の思いを聴く</a:t>
            </a:r>
          </a:p>
          <a:p>
            <a:pPr algn="l"/>
            <a:r>
              <a:rPr sz="1200" b="0" i="0">
                <a:solidFill>
                  <a:srgbClr val="35302B"/>
                </a:solidFill>
                <a:latin typeface="Yu Gothic"/>
              </a:rPr>
              <a:t/>
            </a:r>
          </a:p>
          <a:p>
            <a:pPr algn="l"/>
            <a:r>
              <a:rPr sz="1200" b="0" i="0">
                <a:solidFill>
                  <a:srgbClr val="35302B"/>
                </a:solidFill>
                <a:latin typeface="Yu Gothic"/>
              </a:rPr>
              <a:t>■ 言葉にできるうちに、価値観・希望を</a:t>
            </a:r>
          </a:p>
          <a:p>
            <a:pPr algn="l"/>
            <a:r>
              <a:rPr sz="1200" b="0" i="0">
                <a:solidFill>
                  <a:srgbClr val="35302B"/>
                </a:solidFill>
                <a:latin typeface="Yu Gothic"/>
              </a:rPr>
              <a:t>   共有しておく</a:t>
            </a:r>
          </a:p>
          <a:p>
            <a:pPr algn="l"/>
            <a:r>
              <a:rPr sz="1200" b="0" i="0">
                <a:solidFill>
                  <a:srgbClr val="35302B"/>
                </a:solidFill>
                <a:latin typeface="Yu Gothic"/>
              </a:rPr>
              <a:t/>
            </a:r>
          </a:p>
          <a:p>
            <a:pPr algn="l"/>
            <a:r>
              <a:rPr sz="1200" b="0" i="0">
                <a:solidFill>
                  <a:srgbClr val="35302B"/>
                </a:solidFill>
                <a:latin typeface="Yu Gothic"/>
              </a:rPr>
              <a:t>■ 「人生会議(ACP)」も、本人が主体的に</a:t>
            </a:r>
          </a:p>
          <a:p>
            <a:pPr algn="l"/>
            <a:r>
              <a:rPr sz="1200" b="0" i="0">
                <a:solidFill>
                  <a:srgbClr val="35302B"/>
                </a:solidFill>
                <a:latin typeface="Yu Gothic"/>
              </a:rPr>
              <a:t>   参加できる段階から始める</a:t>
            </a:r>
          </a:p>
          <a:p>
            <a:pPr algn="l"/>
            <a:r>
              <a:rPr sz="1200" b="0" i="0">
                <a:solidFill>
                  <a:srgbClr val="35302B"/>
                </a:solidFill>
                <a:latin typeface="Yu Gothic"/>
              </a:rPr>
              <a:t/>
            </a:r>
          </a:p>
          <a:p>
            <a:pPr algn="l"/>
            <a:r>
              <a:rPr sz="1200" b="0" i="0">
                <a:solidFill>
                  <a:srgbClr val="35302B"/>
                </a:solidFill>
                <a:latin typeface="Yu Gothic"/>
              </a:rPr>
              <a:t>■ 一度きりでなく、折に触れて対話を重ねる</a:t>
            </a:r>
          </a:p>
        </p:txBody>
      </p:sp>
      <p:sp>
        <p:nvSpPr>
          <p:cNvPr id="16" name="Rectangle 15"/>
          <p:cNvSpPr/>
          <p:nvPr/>
        </p:nvSpPr>
        <p:spPr>
          <a:xfrm>
            <a:off x="6300000" y="2628000"/>
            <a:ext cx="5400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CMが大切にしたい姿勢</a:t>
            </a:r>
          </a:p>
        </p:txBody>
      </p:sp>
      <p:sp>
        <p:nvSpPr>
          <p:cNvPr id="18" name="Rectangle 17"/>
          <p:cNvSpPr/>
          <p:nvPr/>
        </p:nvSpPr>
        <p:spPr>
          <a:xfrm>
            <a:off x="6300000" y="2988000"/>
            <a:ext cx="5400000" cy="1620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5302B"/>
                </a:solidFill>
                <a:latin typeface="Yu Gothic"/>
              </a:rPr>
              <a:t>■ 「決めさせる」のではなく「一緒に考える」</a:t>
            </a:r>
          </a:p>
          <a:p>
            <a:pPr algn="l"/>
            <a:r>
              <a:rPr sz="1200" b="0" i="0">
                <a:solidFill>
                  <a:srgbClr val="35302B"/>
                </a:solidFill>
                <a:latin typeface="Yu Gothic"/>
              </a:rPr>
              <a:t/>
            </a:r>
          </a:p>
          <a:p>
            <a:pPr algn="l"/>
            <a:r>
              <a:rPr sz="1200" b="0" i="0">
                <a:solidFill>
                  <a:srgbClr val="35302B"/>
                </a:solidFill>
                <a:latin typeface="Yu Gothic"/>
              </a:rPr>
              <a:t>■ 本人が語った言葉を、記録に残す</a:t>
            </a:r>
          </a:p>
          <a:p>
            <a:pPr algn="l"/>
            <a:r>
              <a:rPr sz="1200" b="0" i="0">
                <a:solidFill>
                  <a:srgbClr val="35302B"/>
                </a:solidFill>
                <a:latin typeface="Yu Gothic"/>
              </a:rPr>
              <a:t/>
            </a:r>
          </a:p>
          <a:p>
            <a:pPr algn="l"/>
            <a:r>
              <a:rPr sz="1200" b="0" i="0">
                <a:solidFill>
                  <a:srgbClr val="35302B"/>
                </a:solidFill>
                <a:latin typeface="Yu Gothic"/>
              </a:rPr>
              <a:t>■ 意思は変わってよい ― 変化を尊重する</a:t>
            </a:r>
          </a:p>
          <a:p>
            <a:pPr algn="l"/>
            <a:r>
              <a:rPr sz="1200" b="0" i="0">
                <a:solidFill>
                  <a:srgbClr val="35302B"/>
                </a:solidFill>
                <a:latin typeface="Yu Gothic"/>
              </a:rPr>
              <a:t/>
            </a:r>
          </a:p>
          <a:p>
            <a:pPr algn="l"/>
            <a:r>
              <a:rPr sz="1200" b="0" i="0">
                <a:solidFill>
                  <a:srgbClr val="35302B"/>
                </a:solidFill>
                <a:latin typeface="Yu Gothic"/>
              </a:rPr>
              <a:t>■ 本人の意思を、家族・多職種と共有し、</a:t>
            </a:r>
          </a:p>
          <a:p>
            <a:pPr algn="l"/>
            <a:r>
              <a:rPr sz="1200" b="0" i="0">
                <a:solidFill>
                  <a:srgbClr val="35302B"/>
                </a:solidFill>
                <a:latin typeface="Yu Gothic"/>
              </a:rPr>
              <a:t>   ケアプランに確実に反映する</a:t>
            </a:r>
          </a:p>
        </p:txBody>
      </p:sp>
      <p:sp>
        <p:nvSpPr>
          <p:cNvPr id="20" name="TextBox 19"/>
          <p:cNvSpPr txBox="1"/>
          <p:nvPr/>
        </p:nvSpPr>
        <p:spPr>
          <a:xfrm>
            <a:off x="432000" y="4788000"/>
            <a:ext cx="11328119" cy="432000"/>
          </a:xfrm>
          <a:prstGeom prst="rect">
            <a:avLst/>
          </a:prstGeom>
          <a:noFill/>
        </p:spPr>
        <p:txBody>
          <a:bodyPr wrap="square" lIns="36000" rIns="36000" tIns="18000" bIns="18000" anchor="t">
            <a:spAutoFit/>
          </a:bodyPr>
          <a:lstStyle/>
          <a:p>
            <a:pPr algn="l"/>
            <a:r>
              <a:rPr sz="1300" b="1" i="0">
                <a:solidFill>
                  <a:srgbClr val="C2571C"/>
                </a:solidFill>
                <a:latin typeface="Yu Gothic"/>
              </a:rPr>
              <a:t>▶ 意思決定支援は「特別な場面の技術」ではなく、日々の関わりそのもの。</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FFFFFF"/>
                </a:solidFill>
                <a:latin typeface="Yu Gothic"/>
              </a:rPr>
              <a:t>PART 4</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段階に応じた</a:t>
            </a:r>
          </a:p>
          <a:p>
            <a:pPr algn="ctr"/>
            <a:r>
              <a:rPr sz="3300" b="1" i="0">
                <a:solidFill>
                  <a:srgbClr val="FFFFFF"/>
                </a:solidFill>
                <a:latin typeface="Yu Gothic"/>
              </a:rPr>
              <a:t>認知症の人と家族への実践</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FAF1DA"/>
                </a:solidFill>
                <a:latin typeface="Yu Gothic"/>
              </a:rPr>
              <a:t>Practice Across the Stages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段階に応じた実践</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進行に応じた支援の視点</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18 / 32</a:t>
            </a:r>
          </a:p>
        </p:txBody>
      </p:sp>
      <p:sp>
        <p:nvSpPr>
          <p:cNvPr id="8" name="Rectangle 7"/>
          <p:cNvSpPr/>
          <p:nvPr/>
        </p:nvSpPr>
        <p:spPr>
          <a:xfrm>
            <a:off x="432000" y="1620000"/>
            <a:ext cx="11520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6000" y="1656000"/>
            <a:ext cx="223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段階</a:t>
            </a:r>
          </a:p>
        </p:txBody>
      </p:sp>
      <p:sp>
        <p:nvSpPr>
          <p:cNvPr id="10" name="TextBox 9"/>
          <p:cNvSpPr txBox="1"/>
          <p:nvPr/>
        </p:nvSpPr>
        <p:spPr>
          <a:xfrm>
            <a:off x="2826000" y="1656000"/>
            <a:ext cx="331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本人の状態(例)</a:t>
            </a:r>
          </a:p>
        </p:txBody>
      </p:sp>
      <p:sp>
        <p:nvSpPr>
          <p:cNvPr id="11" name="TextBox 10"/>
          <p:cNvSpPr txBox="1"/>
          <p:nvPr/>
        </p:nvSpPr>
        <p:spPr>
          <a:xfrm>
            <a:off x="6246000" y="1656000"/>
            <a:ext cx="291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本人への支援</a:t>
            </a:r>
          </a:p>
        </p:txBody>
      </p:sp>
      <p:sp>
        <p:nvSpPr>
          <p:cNvPr id="12" name="TextBox 11"/>
          <p:cNvSpPr txBox="1"/>
          <p:nvPr/>
        </p:nvSpPr>
        <p:spPr>
          <a:xfrm>
            <a:off x="9270000" y="1656000"/>
            <a:ext cx="2628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家族への支援</a:t>
            </a:r>
          </a:p>
        </p:txBody>
      </p:sp>
      <p:sp>
        <p:nvSpPr>
          <p:cNvPr id="13" name="Rectangle 12"/>
          <p:cNvSpPr/>
          <p:nvPr/>
        </p:nvSpPr>
        <p:spPr>
          <a:xfrm>
            <a:off x="432000" y="1980000"/>
            <a:ext cx="11520000" cy="864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6000" y="2034000"/>
            <a:ext cx="2232000" cy="756000"/>
          </a:xfrm>
          <a:prstGeom prst="rect">
            <a:avLst/>
          </a:prstGeom>
          <a:noFill/>
        </p:spPr>
        <p:txBody>
          <a:bodyPr wrap="square" lIns="36000" rIns="36000" tIns="18000" bIns="18000" anchor="ctr">
            <a:spAutoFit/>
          </a:bodyPr>
          <a:lstStyle/>
          <a:p>
            <a:pPr algn="ctr"/>
            <a:r>
              <a:rPr sz="1050" b="1" i="0">
                <a:solidFill>
                  <a:srgbClr val="C2571C"/>
                </a:solidFill>
                <a:latin typeface="Yu Gothic"/>
              </a:rPr>
              <a:t>診断前後</a:t>
            </a:r>
          </a:p>
          <a:p>
            <a:pPr algn="ctr"/>
            <a:r>
              <a:rPr sz="1050" b="1" i="0">
                <a:solidFill>
                  <a:srgbClr val="C2571C"/>
                </a:solidFill>
                <a:latin typeface="Yu Gothic"/>
              </a:rPr>
              <a:t>・初期</a:t>
            </a:r>
          </a:p>
        </p:txBody>
      </p:sp>
      <p:sp>
        <p:nvSpPr>
          <p:cNvPr id="15" name="TextBox 14"/>
          <p:cNvSpPr txBox="1"/>
          <p:nvPr/>
        </p:nvSpPr>
        <p:spPr>
          <a:xfrm>
            <a:off x="2826000" y="2034000"/>
            <a:ext cx="3312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不安・とまどい</a:t>
            </a:r>
          </a:p>
          <a:p>
            <a:pPr algn="l"/>
            <a:r>
              <a:rPr sz="1050" b="0" i="0">
                <a:solidFill>
                  <a:srgbClr val="35302B"/>
                </a:solidFill>
                <a:latin typeface="Yu Gothic"/>
              </a:rPr>
              <a:t>できることは多い</a:t>
            </a:r>
          </a:p>
        </p:txBody>
      </p:sp>
      <p:sp>
        <p:nvSpPr>
          <p:cNvPr id="16" name="TextBox 15"/>
          <p:cNvSpPr txBox="1"/>
          <p:nvPr/>
        </p:nvSpPr>
        <p:spPr>
          <a:xfrm>
            <a:off x="6246000" y="2034000"/>
            <a:ext cx="2916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診断後の空白を埋める</a:t>
            </a:r>
          </a:p>
          <a:p>
            <a:pPr algn="l"/>
            <a:r>
              <a:rPr sz="1050" b="0" i="0">
                <a:solidFill>
                  <a:srgbClr val="35302B"/>
                </a:solidFill>
                <a:latin typeface="Yu Gothic"/>
              </a:rPr>
              <a:t>本人の思いを聴く</a:t>
            </a:r>
          </a:p>
          <a:p>
            <a:pPr algn="l"/>
            <a:r>
              <a:rPr sz="1050" b="0" i="0">
                <a:solidFill>
                  <a:srgbClr val="35302B"/>
                </a:solidFill>
                <a:latin typeface="Yu Gothic"/>
              </a:rPr>
              <a:t>本人同士の出会いの場</a:t>
            </a:r>
          </a:p>
        </p:txBody>
      </p:sp>
      <p:sp>
        <p:nvSpPr>
          <p:cNvPr id="17" name="TextBox 16"/>
          <p:cNvSpPr txBox="1"/>
          <p:nvPr/>
        </p:nvSpPr>
        <p:spPr>
          <a:xfrm>
            <a:off x="9270000" y="2034000"/>
            <a:ext cx="2628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正しい知識</a:t>
            </a:r>
          </a:p>
          <a:p>
            <a:pPr algn="l"/>
            <a:r>
              <a:rPr sz="1050" b="0" i="0">
                <a:solidFill>
                  <a:srgbClr val="35302B"/>
                </a:solidFill>
                <a:latin typeface="Yu Gothic"/>
              </a:rPr>
              <a:t>受けとめの支援</a:t>
            </a:r>
          </a:p>
        </p:txBody>
      </p:sp>
      <p:sp>
        <p:nvSpPr>
          <p:cNvPr id="18" name="Rectangle 17"/>
          <p:cNvSpPr/>
          <p:nvPr/>
        </p:nvSpPr>
        <p:spPr>
          <a:xfrm>
            <a:off x="432000" y="2844000"/>
            <a:ext cx="11520000" cy="864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6000" y="2898000"/>
            <a:ext cx="2232000" cy="756000"/>
          </a:xfrm>
          <a:prstGeom prst="rect">
            <a:avLst/>
          </a:prstGeom>
          <a:noFill/>
        </p:spPr>
        <p:txBody>
          <a:bodyPr wrap="square" lIns="36000" rIns="36000" tIns="18000" bIns="18000" anchor="ctr">
            <a:spAutoFit/>
          </a:bodyPr>
          <a:lstStyle/>
          <a:p>
            <a:pPr algn="ctr"/>
            <a:r>
              <a:rPr sz="1050" b="1" i="0">
                <a:solidFill>
                  <a:srgbClr val="C2571C"/>
                </a:solidFill>
                <a:latin typeface="Yu Gothic"/>
              </a:rPr>
              <a:t>中期</a:t>
            </a:r>
          </a:p>
        </p:txBody>
      </p:sp>
      <p:sp>
        <p:nvSpPr>
          <p:cNvPr id="20" name="TextBox 19"/>
          <p:cNvSpPr txBox="1"/>
          <p:nvPr/>
        </p:nvSpPr>
        <p:spPr>
          <a:xfrm>
            <a:off x="2826000" y="2898000"/>
            <a:ext cx="3312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生活に支障</a:t>
            </a:r>
          </a:p>
          <a:p>
            <a:pPr algn="l"/>
            <a:r>
              <a:rPr sz="1050" b="0" i="0">
                <a:solidFill>
                  <a:srgbClr val="35302B"/>
                </a:solidFill>
                <a:latin typeface="Yu Gothic"/>
              </a:rPr>
              <a:t>BPSDが出ることも</a:t>
            </a:r>
          </a:p>
        </p:txBody>
      </p:sp>
      <p:sp>
        <p:nvSpPr>
          <p:cNvPr id="21" name="TextBox 20"/>
          <p:cNvSpPr txBox="1"/>
          <p:nvPr/>
        </p:nvSpPr>
        <p:spPr>
          <a:xfrm>
            <a:off x="6246000" y="2898000"/>
            <a:ext cx="2916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できることを活かす</a:t>
            </a:r>
          </a:p>
          <a:p>
            <a:pPr algn="l"/>
            <a:r>
              <a:rPr sz="1050" b="0" i="0">
                <a:solidFill>
                  <a:srgbClr val="35302B"/>
                </a:solidFill>
                <a:latin typeface="Yu Gothic"/>
              </a:rPr>
              <a:t>環境を整える</a:t>
            </a:r>
          </a:p>
          <a:p>
            <a:pPr algn="l"/>
            <a:r>
              <a:rPr sz="1050" b="0" i="0">
                <a:solidFill>
                  <a:srgbClr val="35302B"/>
                </a:solidFill>
                <a:latin typeface="Yu Gothic"/>
              </a:rPr>
              <a:t>役割・出番を保つ</a:t>
            </a:r>
          </a:p>
        </p:txBody>
      </p:sp>
      <p:sp>
        <p:nvSpPr>
          <p:cNvPr id="22" name="TextBox 21"/>
          <p:cNvSpPr txBox="1"/>
          <p:nvPr/>
        </p:nvSpPr>
        <p:spPr>
          <a:xfrm>
            <a:off x="9270000" y="2898000"/>
            <a:ext cx="2628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介護負担の軽減</a:t>
            </a:r>
          </a:p>
          <a:p>
            <a:pPr algn="l"/>
            <a:r>
              <a:rPr sz="1050" b="0" i="0">
                <a:solidFill>
                  <a:srgbClr val="35302B"/>
                </a:solidFill>
                <a:latin typeface="Yu Gothic"/>
              </a:rPr>
              <a:t>レスパイト</a:t>
            </a:r>
          </a:p>
        </p:txBody>
      </p:sp>
      <p:sp>
        <p:nvSpPr>
          <p:cNvPr id="23" name="Rectangle 22"/>
          <p:cNvSpPr/>
          <p:nvPr/>
        </p:nvSpPr>
        <p:spPr>
          <a:xfrm>
            <a:off x="432000" y="3708000"/>
            <a:ext cx="11520000" cy="864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6000" y="3762000"/>
            <a:ext cx="2232000" cy="756000"/>
          </a:xfrm>
          <a:prstGeom prst="rect">
            <a:avLst/>
          </a:prstGeom>
          <a:noFill/>
        </p:spPr>
        <p:txBody>
          <a:bodyPr wrap="square" lIns="36000" rIns="36000" tIns="18000" bIns="18000" anchor="ctr">
            <a:spAutoFit/>
          </a:bodyPr>
          <a:lstStyle/>
          <a:p>
            <a:pPr algn="ctr"/>
            <a:r>
              <a:rPr sz="1050" b="1" i="0">
                <a:solidFill>
                  <a:srgbClr val="C2571C"/>
                </a:solidFill>
                <a:latin typeface="Yu Gothic"/>
              </a:rPr>
              <a:t>重度</a:t>
            </a:r>
          </a:p>
        </p:txBody>
      </p:sp>
      <p:sp>
        <p:nvSpPr>
          <p:cNvPr id="25" name="TextBox 24"/>
          <p:cNvSpPr txBox="1"/>
          <p:nvPr/>
        </p:nvSpPr>
        <p:spPr>
          <a:xfrm>
            <a:off x="2826000" y="3762000"/>
            <a:ext cx="3312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コミュニケーション</a:t>
            </a:r>
          </a:p>
          <a:p>
            <a:pPr algn="l"/>
            <a:r>
              <a:rPr sz="1050" b="0" i="0">
                <a:solidFill>
                  <a:srgbClr val="35302B"/>
                </a:solidFill>
                <a:latin typeface="Yu Gothic"/>
              </a:rPr>
              <a:t>が難しくなる</a:t>
            </a:r>
          </a:p>
        </p:txBody>
      </p:sp>
      <p:sp>
        <p:nvSpPr>
          <p:cNvPr id="26" name="TextBox 25"/>
          <p:cNvSpPr txBox="1"/>
          <p:nvPr/>
        </p:nvSpPr>
        <p:spPr>
          <a:xfrm>
            <a:off x="6246000" y="3762000"/>
            <a:ext cx="2916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非言語のサインを読む</a:t>
            </a:r>
          </a:p>
          <a:p>
            <a:pPr algn="l"/>
            <a:r>
              <a:rPr sz="1050" b="0" i="0">
                <a:solidFill>
                  <a:srgbClr val="35302B"/>
                </a:solidFill>
                <a:latin typeface="Yu Gothic"/>
              </a:rPr>
              <a:t>快・不快を大切に</a:t>
            </a:r>
          </a:p>
          <a:p>
            <a:pPr algn="l"/>
            <a:r>
              <a:rPr sz="1050" b="0" i="0">
                <a:solidFill>
                  <a:srgbClr val="35302B"/>
                </a:solidFill>
                <a:latin typeface="Yu Gothic"/>
              </a:rPr>
              <a:t>尊厳あるケア</a:t>
            </a:r>
          </a:p>
        </p:txBody>
      </p:sp>
      <p:sp>
        <p:nvSpPr>
          <p:cNvPr id="27" name="TextBox 26"/>
          <p:cNvSpPr txBox="1"/>
          <p:nvPr/>
        </p:nvSpPr>
        <p:spPr>
          <a:xfrm>
            <a:off x="9270000" y="3762000"/>
            <a:ext cx="2628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看取りへの心構え</a:t>
            </a:r>
          </a:p>
          <a:p>
            <a:pPr algn="l"/>
            <a:r>
              <a:rPr sz="1050" b="0" i="0">
                <a:solidFill>
                  <a:srgbClr val="35302B"/>
                </a:solidFill>
                <a:latin typeface="Yu Gothic"/>
              </a:rPr>
              <a:t>意思決定の支え</a:t>
            </a:r>
          </a:p>
        </p:txBody>
      </p:sp>
      <p:sp>
        <p:nvSpPr>
          <p:cNvPr id="28" name="Rectangle 27"/>
          <p:cNvSpPr/>
          <p:nvPr/>
        </p:nvSpPr>
        <p:spPr>
          <a:xfrm>
            <a:off x="432000" y="4572000"/>
            <a:ext cx="11520000" cy="864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000" y="4626000"/>
            <a:ext cx="2232000" cy="756000"/>
          </a:xfrm>
          <a:prstGeom prst="rect">
            <a:avLst/>
          </a:prstGeom>
          <a:noFill/>
        </p:spPr>
        <p:txBody>
          <a:bodyPr wrap="square" lIns="36000" rIns="36000" tIns="18000" bIns="18000" anchor="ctr">
            <a:spAutoFit/>
          </a:bodyPr>
          <a:lstStyle/>
          <a:p>
            <a:pPr algn="ctr"/>
            <a:r>
              <a:rPr sz="1050" b="1" i="0">
                <a:solidFill>
                  <a:srgbClr val="C2571C"/>
                </a:solidFill>
                <a:latin typeface="Yu Gothic"/>
              </a:rPr>
              <a:t>人生の</a:t>
            </a:r>
          </a:p>
          <a:p>
            <a:pPr algn="ctr"/>
            <a:r>
              <a:rPr sz="1050" b="1" i="0">
                <a:solidFill>
                  <a:srgbClr val="C2571C"/>
                </a:solidFill>
                <a:latin typeface="Yu Gothic"/>
              </a:rPr>
              <a:t>最終段階</a:t>
            </a:r>
          </a:p>
        </p:txBody>
      </p:sp>
      <p:sp>
        <p:nvSpPr>
          <p:cNvPr id="30" name="TextBox 29"/>
          <p:cNvSpPr txBox="1"/>
          <p:nvPr/>
        </p:nvSpPr>
        <p:spPr>
          <a:xfrm>
            <a:off x="2826000" y="4626000"/>
            <a:ext cx="3312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全面的なケアが</a:t>
            </a:r>
          </a:p>
          <a:p>
            <a:pPr algn="l"/>
            <a:r>
              <a:rPr sz="1050" b="0" i="0">
                <a:solidFill>
                  <a:srgbClr val="35302B"/>
                </a:solidFill>
                <a:latin typeface="Yu Gothic"/>
              </a:rPr>
              <a:t>必要に</a:t>
            </a:r>
          </a:p>
        </p:txBody>
      </p:sp>
      <p:sp>
        <p:nvSpPr>
          <p:cNvPr id="31" name="TextBox 30"/>
          <p:cNvSpPr txBox="1"/>
          <p:nvPr/>
        </p:nvSpPr>
        <p:spPr>
          <a:xfrm>
            <a:off x="6246000" y="4626000"/>
            <a:ext cx="2916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本人の推定意思を尊重</a:t>
            </a:r>
          </a:p>
          <a:p>
            <a:pPr algn="l"/>
            <a:r>
              <a:rPr sz="1050" b="0" i="0">
                <a:solidFill>
                  <a:srgbClr val="35302B"/>
                </a:solidFill>
                <a:latin typeface="Yu Gothic"/>
              </a:rPr>
              <a:t>苦痛のない穏やかさ</a:t>
            </a:r>
          </a:p>
        </p:txBody>
      </p:sp>
      <p:sp>
        <p:nvSpPr>
          <p:cNvPr id="32" name="TextBox 31"/>
          <p:cNvSpPr txBox="1"/>
          <p:nvPr/>
        </p:nvSpPr>
        <p:spPr>
          <a:xfrm>
            <a:off x="9270000" y="4626000"/>
            <a:ext cx="2628000" cy="756000"/>
          </a:xfrm>
          <a:prstGeom prst="rect">
            <a:avLst/>
          </a:prstGeom>
          <a:noFill/>
        </p:spPr>
        <p:txBody>
          <a:bodyPr wrap="square" lIns="36000" rIns="36000" tIns="18000" bIns="18000" anchor="ctr">
            <a:spAutoFit/>
          </a:bodyPr>
          <a:lstStyle/>
          <a:p>
            <a:pPr algn="l"/>
            <a:r>
              <a:rPr sz="1050" b="0" i="0">
                <a:solidFill>
                  <a:srgbClr val="35302B"/>
                </a:solidFill>
                <a:latin typeface="Yu Gothic"/>
              </a:rPr>
              <a:t>グリーフケア</a:t>
            </a:r>
          </a:p>
          <a:p>
            <a:pPr algn="l"/>
            <a:r>
              <a:rPr sz="1050" b="0" i="0">
                <a:solidFill>
                  <a:srgbClr val="35302B"/>
                </a:solidFill>
                <a:latin typeface="Yu Gothic"/>
              </a:rPr>
              <a:t>振り返りの支援</a:t>
            </a:r>
          </a:p>
        </p:txBody>
      </p:sp>
      <p:sp>
        <p:nvSpPr>
          <p:cNvPr id="33" name="Rectangle 32"/>
          <p:cNvSpPr/>
          <p:nvPr/>
        </p:nvSpPr>
        <p:spPr>
          <a:xfrm>
            <a:off x="432000" y="5580000"/>
            <a:ext cx="11304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4000" y="561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段階で区切りすぎない</a:t>
            </a:r>
          </a:p>
        </p:txBody>
      </p:sp>
      <p:sp>
        <p:nvSpPr>
          <p:cNvPr id="35" name="Rectangle 34"/>
          <p:cNvSpPr/>
          <p:nvPr/>
        </p:nvSpPr>
        <p:spPr>
          <a:xfrm>
            <a:off x="432000" y="5940000"/>
            <a:ext cx="11304000" cy="432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0000" y="5976000"/>
            <a:ext cx="11088000" cy="396000"/>
          </a:xfrm>
          <a:prstGeom prst="rect">
            <a:avLst/>
          </a:prstGeom>
          <a:noFill/>
        </p:spPr>
        <p:txBody>
          <a:bodyPr wrap="square" lIns="36000" rIns="36000" tIns="18000" bIns="18000" anchor="t">
            <a:spAutoFit/>
          </a:bodyPr>
          <a:lstStyle/>
          <a:p>
            <a:pPr algn="l"/>
            <a:r>
              <a:rPr sz="1200" b="0" i="0">
                <a:solidFill>
                  <a:srgbClr val="35302B"/>
                </a:solidFill>
                <a:latin typeface="Yu Gothic"/>
              </a:rPr>
              <a:t>■ 進行の速さ・現れ方は人により大きく異なる ― 「段階」はあくまで支援を考える目安</a:t>
            </a:r>
          </a:p>
          <a:p>
            <a:pPr algn="l"/>
            <a:r>
              <a:rPr sz="1200" b="0" i="0">
                <a:solidFill>
                  <a:srgbClr val="35302B"/>
                </a:solidFill>
                <a:latin typeface="Yu Gothic"/>
              </a:rPr>
              <a:t>■ どの段階でも一貫するのは「本人の意思を中心に」「できることを活かす」という姿勢</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段階に応じた実践</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診断直後の支援 ―「空白の期間」をなくす</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19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「診断されたのに、つながる先がない」期間</a:t>
            </a:r>
          </a:p>
        </p:txBody>
      </p:sp>
      <p:sp>
        <p:nvSpPr>
          <p:cNvPr id="10" name="Rectangle 9"/>
          <p:cNvSpPr/>
          <p:nvPr/>
        </p:nvSpPr>
        <p:spPr>
          <a:xfrm>
            <a:off x="432000" y="1908000"/>
            <a:ext cx="11304000" cy="61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200" b="0" i="0">
                <a:solidFill>
                  <a:srgbClr val="35302B"/>
                </a:solidFill>
                <a:latin typeface="Yu Gothic"/>
              </a:rPr>
              <a:t>認知症と診断されても、介護保険サービスを使うほどではない時期がある。</a:t>
            </a:r>
          </a:p>
          <a:p>
            <a:pPr algn="l"/>
            <a:r>
              <a:rPr sz="1200" b="0" i="0">
                <a:solidFill>
                  <a:srgbClr val="35302B"/>
                </a:solidFill>
                <a:latin typeface="Yu Gothic"/>
              </a:rPr>
              <a:t>この「空白の期間」に本人・家族が孤立し、不安を抱え込んでしまうことが課題。</a:t>
            </a:r>
          </a:p>
        </p:txBody>
      </p:sp>
      <p:sp>
        <p:nvSpPr>
          <p:cNvPr id="12" name="Rectangle 11"/>
          <p:cNvSpPr/>
          <p:nvPr/>
        </p:nvSpPr>
        <p:spPr>
          <a:xfrm>
            <a:off x="432000" y="2628000"/>
            <a:ext cx="5580000" cy="360000"/>
          </a:xfrm>
          <a:prstGeom prst="rect">
            <a:avLst/>
          </a:prstGeom>
          <a:solidFill>
            <a:srgbClr val="6B4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診断直後の本人・家族の思い</a:t>
            </a:r>
          </a:p>
        </p:txBody>
      </p:sp>
      <p:sp>
        <p:nvSpPr>
          <p:cNvPr id="14" name="Rectangle 13"/>
          <p:cNvSpPr/>
          <p:nvPr/>
        </p:nvSpPr>
        <p:spPr>
          <a:xfrm>
            <a:off x="432000" y="2988000"/>
            <a:ext cx="5580000" cy="162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5302B"/>
                </a:solidFill>
                <a:latin typeface="Yu Gothic"/>
              </a:rPr>
              <a:t>■ 「これからどうなるのか」という不安</a:t>
            </a:r>
          </a:p>
          <a:p>
            <a:pPr algn="l"/>
            <a:r>
              <a:rPr sz="1200" b="0" i="0">
                <a:solidFill>
                  <a:srgbClr val="35302B"/>
                </a:solidFill>
                <a:latin typeface="Yu Gothic"/>
              </a:rPr>
              <a:t/>
            </a:r>
          </a:p>
          <a:p>
            <a:pPr algn="l"/>
            <a:r>
              <a:rPr sz="1200" b="0" i="0">
                <a:solidFill>
                  <a:srgbClr val="35302B"/>
                </a:solidFill>
                <a:latin typeface="Yu Gothic"/>
              </a:rPr>
              <a:t>■ 「人に知られたくない」という思い</a:t>
            </a:r>
          </a:p>
          <a:p>
            <a:pPr algn="l"/>
            <a:r>
              <a:rPr sz="1200" b="0" i="0">
                <a:solidFill>
                  <a:srgbClr val="35302B"/>
                </a:solidFill>
                <a:latin typeface="Yu Gothic"/>
              </a:rPr>
              <a:t/>
            </a:r>
          </a:p>
          <a:p>
            <a:pPr algn="l"/>
            <a:r>
              <a:rPr sz="1200" b="0" i="0">
                <a:solidFill>
                  <a:srgbClr val="35302B"/>
                </a:solidFill>
                <a:latin typeface="Yu Gothic"/>
              </a:rPr>
              <a:t>■ ショック・否認・落ち込み</a:t>
            </a:r>
          </a:p>
          <a:p>
            <a:pPr algn="l"/>
            <a:r>
              <a:rPr sz="1200" b="0" i="0">
                <a:solidFill>
                  <a:srgbClr val="35302B"/>
                </a:solidFill>
                <a:latin typeface="Yu Gothic"/>
              </a:rPr>
              <a:t/>
            </a:r>
          </a:p>
          <a:p>
            <a:pPr algn="l"/>
            <a:r>
              <a:rPr sz="1200" b="0" i="0">
                <a:solidFill>
                  <a:srgbClr val="35302B"/>
                </a:solidFill>
                <a:latin typeface="Yu Gothic"/>
              </a:rPr>
              <a:t>■ 何を相談していいか分からない</a:t>
            </a:r>
          </a:p>
          <a:p>
            <a:pPr algn="l"/>
            <a:r>
              <a:rPr sz="1200" b="0" i="0">
                <a:solidFill>
                  <a:srgbClr val="35302B"/>
                </a:solidFill>
                <a:latin typeface="Yu Gothic"/>
              </a:rPr>
              <a:t/>
            </a:r>
          </a:p>
          <a:p>
            <a:pPr algn="l"/>
            <a:r>
              <a:rPr sz="1200" b="0" i="0">
                <a:solidFill>
                  <a:srgbClr val="35302B"/>
                </a:solidFill>
                <a:latin typeface="Yu Gothic"/>
              </a:rPr>
              <a:t>■ 「もう何もできない」という思い込み</a:t>
            </a:r>
          </a:p>
        </p:txBody>
      </p:sp>
      <p:sp>
        <p:nvSpPr>
          <p:cNvPr id="16" name="Rectangle 15"/>
          <p:cNvSpPr/>
          <p:nvPr/>
        </p:nvSpPr>
        <p:spPr>
          <a:xfrm>
            <a:off x="6300000" y="2628000"/>
            <a:ext cx="5400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CM・支援者ができること</a:t>
            </a:r>
          </a:p>
        </p:txBody>
      </p:sp>
      <p:sp>
        <p:nvSpPr>
          <p:cNvPr id="18" name="Rectangle 17"/>
          <p:cNvSpPr/>
          <p:nvPr/>
        </p:nvSpPr>
        <p:spPr>
          <a:xfrm>
            <a:off x="6300000" y="2988000"/>
            <a:ext cx="5400000" cy="1620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5302B"/>
                </a:solidFill>
                <a:latin typeface="Yu Gothic"/>
              </a:rPr>
              <a:t>■ 早期からつながり、伴走する</a:t>
            </a:r>
          </a:p>
          <a:p>
            <a:pPr algn="l"/>
            <a:r>
              <a:rPr sz="1200" b="0" i="0">
                <a:solidFill>
                  <a:srgbClr val="35302B"/>
                </a:solidFill>
                <a:latin typeface="Yu Gothic"/>
              </a:rPr>
              <a:t/>
            </a:r>
          </a:p>
          <a:p>
            <a:pPr algn="l"/>
            <a:r>
              <a:rPr sz="1200" b="0" i="0">
                <a:solidFill>
                  <a:srgbClr val="35302B"/>
                </a:solidFill>
                <a:latin typeface="Yu Gothic"/>
              </a:rPr>
              <a:t>■ 正しい情報を、希望とともに伝える</a:t>
            </a:r>
          </a:p>
          <a:p>
            <a:pPr algn="l"/>
            <a:r>
              <a:rPr sz="1200" b="0" i="0">
                <a:solidFill>
                  <a:srgbClr val="35302B"/>
                </a:solidFill>
                <a:latin typeface="Yu Gothic"/>
              </a:rPr>
              <a:t/>
            </a:r>
          </a:p>
          <a:p>
            <a:pPr algn="l"/>
            <a:r>
              <a:rPr sz="1200" b="0" i="0">
                <a:solidFill>
                  <a:srgbClr val="35302B"/>
                </a:solidFill>
                <a:latin typeface="Yu Gothic"/>
              </a:rPr>
              <a:t>■ 「できること」に目を向けられるよう支える</a:t>
            </a:r>
          </a:p>
          <a:p>
            <a:pPr algn="l"/>
            <a:r>
              <a:rPr sz="1200" b="0" i="0">
                <a:solidFill>
                  <a:srgbClr val="35302B"/>
                </a:solidFill>
                <a:latin typeface="Yu Gothic"/>
              </a:rPr>
              <a:t/>
            </a:r>
          </a:p>
          <a:p>
            <a:pPr algn="l"/>
            <a:r>
              <a:rPr sz="1200" b="0" i="0">
                <a:solidFill>
                  <a:srgbClr val="35302B"/>
                </a:solidFill>
                <a:latin typeface="Yu Gothic"/>
              </a:rPr>
              <a:t>■ 認知症カフェ・本人ミーティング等</a:t>
            </a:r>
          </a:p>
          <a:p>
            <a:pPr algn="l"/>
            <a:r>
              <a:rPr sz="1200" b="0" i="0">
                <a:solidFill>
                  <a:srgbClr val="35302B"/>
                </a:solidFill>
                <a:latin typeface="Yu Gothic"/>
              </a:rPr>
              <a:t>   同じ立場の人との出会いにつなぐ</a:t>
            </a:r>
          </a:p>
          <a:p>
            <a:pPr algn="l"/>
            <a:r>
              <a:rPr sz="1200" b="0" i="0">
                <a:solidFill>
                  <a:srgbClr val="35302B"/>
                </a:solidFill>
                <a:latin typeface="Yu Gothic"/>
              </a:rPr>
              <a:t/>
            </a:r>
          </a:p>
          <a:p>
            <a:pPr algn="l"/>
            <a:r>
              <a:rPr sz="1200" b="0" i="0">
                <a:solidFill>
                  <a:srgbClr val="35302B"/>
                </a:solidFill>
                <a:latin typeface="Yu Gothic"/>
              </a:rPr>
              <a:t>■ 認知症地域支援推進員・包括と連携</a:t>
            </a:r>
          </a:p>
        </p:txBody>
      </p:sp>
      <p:sp>
        <p:nvSpPr>
          <p:cNvPr id="20" name="TextBox 19"/>
          <p:cNvSpPr txBox="1"/>
          <p:nvPr/>
        </p:nvSpPr>
        <p:spPr>
          <a:xfrm>
            <a:off x="432000" y="4788000"/>
            <a:ext cx="11328119" cy="540000"/>
          </a:xfrm>
          <a:prstGeom prst="rect">
            <a:avLst/>
          </a:prstGeom>
          <a:noFill/>
        </p:spPr>
        <p:txBody>
          <a:bodyPr wrap="square" lIns="36000" rIns="36000" tIns="18000" bIns="18000" anchor="t">
            <a:spAutoFit/>
          </a:bodyPr>
          <a:lstStyle/>
          <a:p>
            <a:pPr algn="l">
              <a:lnSpc>
                <a:spcPct val="140000"/>
              </a:lnSpc>
            </a:pPr>
            <a:r>
              <a:rPr sz="1300" b="1" i="0">
                <a:solidFill>
                  <a:srgbClr val="C2571C"/>
                </a:solidFill>
                <a:latin typeface="Yu Gothic"/>
              </a:rPr>
              <a:t>▶ 「サービスにつなぐ」だけが支援ではない。「人・場・情報につなぐ」ことが、</a:t>
            </a:r>
          </a:p>
          <a:p>
            <a:pPr algn="l">
              <a:lnSpc>
                <a:spcPct val="140000"/>
              </a:lnSpc>
            </a:pPr>
            <a:r>
              <a:rPr sz="1300" b="1" i="0">
                <a:solidFill>
                  <a:srgbClr val="C2571C"/>
                </a:solidFill>
                <a:latin typeface="Yu Gothic"/>
              </a:rPr>
              <a:t>▶ 診断直後の本人・家族には何より大切。</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段階に応じた実践</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BPSDの理解 ― 「困った行動」ではなく「サイン」</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20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BPSD(行動・心理症状)をどう捉えるか</a:t>
            </a:r>
          </a:p>
        </p:txBody>
      </p:sp>
      <p:sp>
        <p:nvSpPr>
          <p:cNvPr id="10" name="Rectangle 9"/>
          <p:cNvSpPr/>
          <p:nvPr/>
        </p:nvSpPr>
        <p:spPr>
          <a:xfrm>
            <a:off x="432000" y="1908000"/>
            <a:ext cx="11304000" cy="61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200" b="0" i="0">
                <a:solidFill>
                  <a:srgbClr val="35302B"/>
                </a:solidFill>
                <a:latin typeface="Yu Gothic"/>
              </a:rPr>
              <a:t>徘徊・興奮・不安・拒否などのBPSDは、「困らせる行動」ではなく、</a:t>
            </a:r>
          </a:p>
          <a:p>
            <a:pPr algn="l"/>
            <a:r>
              <a:rPr sz="1200" b="0" i="0">
                <a:solidFill>
                  <a:srgbClr val="35302B"/>
                </a:solidFill>
                <a:latin typeface="Yu Gothic"/>
              </a:rPr>
              <a:t>本人が何かを伝えようとしている「サイン」 ― その背景を読み解くことが支援の出発点。</a:t>
            </a:r>
          </a:p>
        </p:txBody>
      </p:sp>
      <p:sp>
        <p:nvSpPr>
          <p:cNvPr id="12" name="Rectangle 11"/>
          <p:cNvSpPr/>
          <p:nvPr/>
        </p:nvSpPr>
        <p:spPr>
          <a:xfrm>
            <a:off x="432000" y="2628000"/>
            <a:ext cx="5580000" cy="360000"/>
          </a:xfrm>
          <a:prstGeom prst="rect">
            <a:avLst/>
          </a:prstGeom>
          <a:solidFill>
            <a:srgbClr val="6B4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BPSDの背景にあるもの</a:t>
            </a:r>
          </a:p>
        </p:txBody>
      </p:sp>
      <p:sp>
        <p:nvSpPr>
          <p:cNvPr id="14" name="Rectangle 13"/>
          <p:cNvSpPr/>
          <p:nvPr/>
        </p:nvSpPr>
        <p:spPr>
          <a:xfrm>
            <a:off x="432000" y="2988000"/>
            <a:ext cx="5580000" cy="162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5302B"/>
                </a:solidFill>
                <a:latin typeface="Yu Gothic"/>
              </a:rPr>
              <a:t>■ 身体の不調(痛み・便秘・発熱・脱水)</a:t>
            </a:r>
          </a:p>
          <a:p>
            <a:pPr algn="l"/>
            <a:r>
              <a:rPr sz="1200" b="0" i="0">
                <a:solidFill>
                  <a:srgbClr val="35302B"/>
                </a:solidFill>
                <a:latin typeface="Yu Gothic"/>
              </a:rPr>
              <a:t/>
            </a:r>
          </a:p>
          <a:p>
            <a:pPr algn="l"/>
            <a:r>
              <a:rPr sz="1200" b="0" i="0">
                <a:solidFill>
                  <a:srgbClr val="35302B"/>
                </a:solidFill>
                <a:latin typeface="Yu Gothic"/>
              </a:rPr>
              <a:t>■ 不安・孤独・退屈・居場所のなさ</a:t>
            </a:r>
          </a:p>
          <a:p>
            <a:pPr algn="l"/>
            <a:r>
              <a:rPr sz="1200" b="0" i="0">
                <a:solidFill>
                  <a:srgbClr val="35302B"/>
                </a:solidFill>
                <a:latin typeface="Yu Gothic"/>
              </a:rPr>
              <a:t/>
            </a:r>
          </a:p>
          <a:p>
            <a:pPr algn="l"/>
            <a:r>
              <a:rPr sz="1200" b="0" i="0">
                <a:solidFill>
                  <a:srgbClr val="35302B"/>
                </a:solidFill>
                <a:latin typeface="Yu Gothic"/>
              </a:rPr>
              <a:t>■ 環境(騒音・まぶしさ・なじみのなさ)</a:t>
            </a:r>
          </a:p>
          <a:p>
            <a:pPr algn="l"/>
            <a:r>
              <a:rPr sz="1200" b="0" i="0">
                <a:solidFill>
                  <a:srgbClr val="35302B"/>
                </a:solidFill>
                <a:latin typeface="Yu Gothic"/>
              </a:rPr>
              <a:t/>
            </a:r>
          </a:p>
          <a:p>
            <a:pPr algn="l"/>
            <a:r>
              <a:rPr sz="1200" b="0" i="0">
                <a:solidFill>
                  <a:srgbClr val="35302B"/>
                </a:solidFill>
                <a:latin typeface="Yu Gothic"/>
              </a:rPr>
              <a:t>■ 関わり方(急かす・否定する・命令)</a:t>
            </a:r>
          </a:p>
          <a:p>
            <a:pPr algn="l"/>
            <a:r>
              <a:rPr sz="1200" b="0" i="0">
                <a:solidFill>
                  <a:srgbClr val="35302B"/>
                </a:solidFill>
                <a:latin typeface="Yu Gothic"/>
              </a:rPr>
              <a:t/>
            </a:r>
          </a:p>
          <a:p>
            <a:pPr algn="l"/>
            <a:r>
              <a:rPr sz="1200" b="0" i="0">
                <a:solidFill>
                  <a:srgbClr val="35302B"/>
                </a:solidFill>
                <a:latin typeface="Yu Gothic"/>
              </a:rPr>
              <a:t>■ 薬の影響</a:t>
            </a:r>
          </a:p>
        </p:txBody>
      </p:sp>
      <p:sp>
        <p:nvSpPr>
          <p:cNvPr id="16" name="Rectangle 15"/>
          <p:cNvSpPr/>
          <p:nvPr/>
        </p:nvSpPr>
        <p:spPr>
          <a:xfrm>
            <a:off x="6300000" y="2628000"/>
            <a:ext cx="5400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支援の考え方</a:t>
            </a:r>
          </a:p>
        </p:txBody>
      </p:sp>
      <p:sp>
        <p:nvSpPr>
          <p:cNvPr id="18" name="Rectangle 17"/>
          <p:cNvSpPr/>
          <p:nvPr/>
        </p:nvSpPr>
        <p:spPr>
          <a:xfrm>
            <a:off x="6300000" y="2988000"/>
            <a:ext cx="5400000" cy="1620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5302B"/>
                </a:solidFill>
                <a:latin typeface="Yu Gothic"/>
              </a:rPr>
              <a:t>■ 「症状を抑える」前に「理由を探す」</a:t>
            </a:r>
          </a:p>
          <a:p>
            <a:pPr algn="l"/>
            <a:r>
              <a:rPr sz="1200" b="0" i="0">
                <a:solidFill>
                  <a:srgbClr val="35302B"/>
                </a:solidFill>
                <a:latin typeface="Yu Gothic"/>
              </a:rPr>
              <a:t/>
            </a:r>
          </a:p>
          <a:p>
            <a:pPr algn="l"/>
            <a:r>
              <a:rPr sz="1200" b="0" i="0">
                <a:solidFill>
                  <a:srgbClr val="35302B"/>
                </a:solidFill>
                <a:latin typeface="Yu Gothic"/>
              </a:rPr>
              <a:t>■ 本人の立場で「なぜ?」を考える</a:t>
            </a:r>
          </a:p>
          <a:p>
            <a:pPr algn="l"/>
            <a:r>
              <a:rPr sz="1200" b="0" i="0">
                <a:solidFill>
                  <a:srgbClr val="35302B"/>
                </a:solidFill>
                <a:latin typeface="Yu Gothic"/>
              </a:rPr>
              <a:t/>
            </a:r>
          </a:p>
          <a:p>
            <a:pPr algn="l"/>
            <a:r>
              <a:rPr sz="1200" b="0" i="0">
                <a:solidFill>
                  <a:srgbClr val="35302B"/>
                </a:solidFill>
                <a:latin typeface="Yu Gothic"/>
              </a:rPr>
              <a:t>■ 背景(痛み・環境・関わり)に手を当てる</a:t>
            </a:r>
          </a:p>
          <a:p>
            <a:pPr algn="l"/>
            <a:r>
              <a:rPr sz="1200" b="0" i="0">
                <a:solidFill>
                  <a:srgbClr val="35302B"/>
                </a:solidFill>
                <a:latin typeface="Yu Gothic"/>
              </a:rPr>
              <a:t/>
            </a:r>
          </a:p>
          <a:p>
            <a:pPr algn="l"/>
            <a:r>
              <a:rPr sz="1200" b="0" i="0">
                <a:solidFill>
                  <a:srgbClr val="35302B"/>
                </a:solidFill>
                <a:latin typeface="Yu Gothic"/>
              </a:rPr>
              <a:t>■ 多職種で情報を持ち寄り検討する</a:t>
            </a:r>
          </a:p>
          <a:p>
            <a:pPr algn="l"/>
            <a:r>
              <a:rPr sz="1200" b="0" i="0">
                <a:solidFill>
                  <a:srgbClr val="35302B"/>
                </a:solidFill>
                <a:latin typeface="Yu Gothic"/>
              </a:rPr>
              <a:t/>
            </a:r>
          </a:p>
          <a:p>
            <a:pPr algn="l"/>
            <a:r>
              <a:rPr sz="1200" b="0" i="0">
                <a:solidFill>
                  <a:srgbClr val="35302B"/>
                </a:solidFill>
                <a:latin typeface="Yu Gothic"/>
              </a:rPr>
              <a:t>■ 薬は安易に頼らない(ドラッグロック)</a:t>
            </a:r>
          </a:p>
        </p:txBody>
      </p:sp>
      <p:sp>
        <p:nvSpPr>
          <p:cNvPr id="20" name="TextBox 19"/>
          <p:cNvSpPr txBox="1"/>
          <p:nvPr/>
        </p:nvSpPr>
        <p:spPr>
          <a:xfrm>
            <a:off x="432000" y="4788000"/>
            <a:ext cx="11328119" cy="432000"/>
          </a:xfrm>
          <a:prstGeom prst="rect">
            <a:avLst/>
          </a:prstGeom>
          <a:noFill/>
        </p:spPr>
        <p:txBody>
          <a:bodyPr wrap="square" lIns="36000" rIns="36000" tIns="18000" bIns="18000" anchor="t">
            <a:spAutoFit/>
          </a:bodyPr>
          <a:lstStyle/>
          <a:p>
            <a:pPr algn="l"/>
            <a:r>
              <a:rPr sz="1300" b="1" i="0">
                <a:solidFill>
                  <a:srgbClr val="C2571C"/>
                </a:solidFill>
                <a:latin typeface="Yu Gothic"/>
              </a:rPr>
              <a:t>▶ 第6弾で学んだ「行動の背景を考える」視点が、ここでも生きる。拘束・抑制は最後まで避ける。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段階に応じた実践</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家族への支援 ― 家族も「支えられる対象」</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21 / 32</a:t>
            </a:r>
          </a:p>
        </p:txBody>
      </p:sp>
      <p:sp>
        <p:nvSpPr>
          <p:cNvPr id="8" name="Rectangle 7"/>
          <p:cNvSpPr/>
          <p:nvPr/>
        </p:nvSpPr>
        <p:spPr>
          <a:xfrm>
            <a:off x="432000" y="1620000"/>
            <a:ext cx="5580000" cy="36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162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知識・情報の支援</a:t>
            </a:r>
          </a:p>
        </p:txBody>
      </p:sp>
      <p:sp>
        <p:nvSpPr>
          <p:cNvPr id="10" name="Rectangle 9"/>
          <p:cNvSpPr/>
          <p:nvPr/>
        </p:nvSpPr>
        <p:spPr>
          <a:xfrm>
            <a:off x="432000" y="1980000"/>
            <a:ext cx="5580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・認知症の正しい理解を伝える</a:t>
            </a:r>
          </a:p>
          <a:p>
            <a:pPr algn="l">
              <a:lnSpc>
                <a:spcPct val="140000"/>
              </a:lnSpc>
            </a:pPr>
            <a:r>
              <a:rPr sz="1200" b="0" i="0">
                <a:solidFill>
                  <a:srgbClr val="35302B"/>
                </a:solidFill>
                <a:latin typeface="Yu Gothic"/>
              </a:rPr>
              <a:t>・進行の見通し・関わり方のヒント</a:t>
            </a:r>
          </a:p>
          <a:p>
            <a:pPr algn="l">
              <a:lnSpc>
                <a:spcPct val="140000"/>
              </a:lnSpc>
            </a:pPr>
            <a:r>
              <a:rPr sz="1200" b="0" i="0">
                <a:solidFill>
                  <a:srgbClr val="35302B"/>
                </a:solidFill>
                <a:latin typeface="Yu Gothic"/>
              </a:rPr>
              <a:t>・使える制度・サービスの情報</a:t>
            </a:r>
          </a:p>
        </p:txBody>
      </p:sp>
      <p:sp>
        <p:nvSpPr>
          <p:cNvPr id="12" name="Rectangle 11"/>
          <p:cNvSpPr/>
          <p:nvPr/>
        </p:nvSpPr>
        <p:spPr>
          <a:xfrm>
            <a:off x="6156000" y="1620000"/>
            <a:ext cx="5580000" cy="360000"/>
          </a:xfrm>
          <a:prstGeom prst="rect">
            <a:avLst/>
          </a:prstGeom>
          <a:solidFill>
            <a:srgbClr val="6B4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000" y="162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感情面の支援</a:t>
            </a:r>
          </a:p>
        </p:txBody>
      </p:sp>
      <p:sp>
        <p:nvSpPr>
          <p:cNvPr id="14" name="Rectangle 13"/>
          <p:cNvSpPr/>
          <p:nvPr/>
        </p:nvSpPr>
        <p:spPr>
          <a:xfrm>
            <a:off x="6156000" y="1980000"/>
            <a:ext cx="5580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・とまどい・怒り・悲しみを受けとめる</a:t>
            </a:r>
          </a:p>
          <a:p>
            <a:pPr algn="l">
              <a:lnSpc>
                <a:spcPct val="140000"/>
              </a:lnSpc>
            </a:pPr>
            <a:r>
              <a:rPr sz="1200" b="0" i="0">
                <a:solidFill>
                  <a:srgbClr val="35302B"/>
                </a:solidFill>
                <a:latin typeface="Yu Gothic"/>
              </a:rPr>
              <a:t>・「介護のつらさ」を語れる場</a:t>
            </a:r>
          </a:p>
          <a:p>
            <a:pPr algn="l">
              <a:lnSpc>
                <a:spcPct val="140000"/>
              </a:lnSpc>
            </a:pPr>
            <a:r>
              <a:rPr sz="1200" b="0" i="0">
                <a:solidFill>
                  <a:srgbClr val="35302B"/>
                </a:solidFill>
                <a:latin typeface="Yu Gothic"/>
              </a:rPr>
              <a:t>・家族会・ピアサポートにつなぐ</a:t>
            </a:r>
          </a:p>
        </p:txBody>
      </p:sp>
      <p:sp>
        <p:nvSpPr>
          <p:cNvPr id="16" name="Rectangle 15"/>
          <p:cNvSpPr/>
          <p:nvPr/>
        </p:nvSpPr>
        <p:spPr>
          <a:xfrm>
            <a:off x="432000" y="3060000"/>
            <a:ext cx="5580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000" y="306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負担の軽減</a:t>
            </a:r>
          </a:p>
        </p:txBody>
      </p:sp>
      <p:sp>
        <p:nvSpPr>
          <p:cNvPr id="18" name="Rectangle 17"/>
          <p:cNvSpPr/>
          <p:nvPr/>
        </p:nvSpPr>
        <p:spPr>
          <a:xfrm>
            <a:off x="432000" y="3420000"/>
            <a:ext cx="5580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・レスパイト(通所・短期入所)</a:t>
            </a:r>
          </a:p>
          <a:p>
            <a:pPr algn="l">
              <a:lnSpc>
                <a:spcPct val="140000"/>
              </a:lnSpc>
            </a:pPr>
            <a:r>
              <a:rPr sz="1200" b="0" i="0">
                <a:solidFill>
                  <a:srgbClr val="35302B"/>
                </a:solidFill>
                <a:latin typeface="Yu Gothic"/>
              </a:rPr>
              <a:t>・介護負担の分散</a:t>
            </a:r>
          </a:p>
          <a:p>
            <a:pPr algn="l">
              <a:lnSpc>
                <a:spcPct val="140000"/>
              </a:lnSpc>
            </a:pPr>
            <a:r>
              <a:rPr sz="1200" b="0" i="0">
                <a:solidFill>
                  <a:srgbClr val="35302B"/>
                </a:solidFill>
                <a:latin typeface="Yu Gothic"/>
              </a:rPr>
              <a:t>・家族の生活・仕事との両立支援</a:t>
            </a:r>
          </a:p>
        </p:txBody>
      </p:sp>
      <p:sp>
        <p:nvSpPr>
          <p:cNvPr id="20" name="Rectangle 19"/>
          <p:cNvSpPr/>
          <p:nvPr/>
        </p:nvSpPr>
        <p:spPr>
          <a:xfrm>
            <a:off x="6156000" y="3060000"/>
            <a:ext cx="5580000" cy="360000"/>
          </a:xfrm>
          <a:prstGeom prst="rect">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000" y="306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多様な家族への配慮</a:t>
            </a:r>
          </a:p>
        </p:txBody>
      </p:sp>
      <p:sp>
        <p:nvSpPr>
          <p:cNvPr id="22" name="Rectangle 21"/>
          <p:cNvSpPr/>
          <p:nvPr/>
        </p:nvSpPr>
        <p:spPr>
          <a:xfrm>
            <a:off x="6156000" y="3420000"/>
            <a:ext cx="5580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・遠距離介護・独居高齢者を支える家族</a:t>
            </a:r>
          </a:p>
          <a:p>
            <a:pPr algn="l">
              <a:lnSpc>
                <a:spcPct val="140000"/>
              </a:lnSpc>
            </a:pPr>
            <a:r>
              <a:rPr sz="1200" b="0" i="0">
                <a:solidFill>
                  <a:srgbClr val="35302B"/>
                </a:solidFill>
                <a:latin typeface="Yu Gothic"/>
              </a:rPr>
              <a:t>・ヤングケアラー(子・孫世代)</a:t>
            </a:r>
          </a:p>
          <a:p>
            <a:pPr algn="l">
              <a:lnSpc>
                <a:spcPct val="140000"/>
              </a:lnSpc>
            </a:pPr>
            <a:r>
              <a:rPr sz="1200" b="0" i="0">
                <a:solidFill>
                  <a:srgbClr val="35302B"/>
                </a:solidFill>
                <a:latin typeface="Yu Gothic"/>
              </a:rPr>
              <a:t>・働きながら介護する世代</a:t>
            </a:r>
          </a:p>
        </p:txBody>
      </p:sp>
      <p:sp>
        <p:nvSpPr>
          <p:cNvPr id="24" name="Rectangle 23"/>
          <p:cNvSpPr/>
          <p:nvPr/>
        </p:nvSpPr>
        <p:spPr>
          <a:xfrm>
            <a:off x="432000" y="478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家族支援は「本人支援」でもある</a:t>
            </a:r>
          </a:p>
        </p:txBody>
      </p:sp>
      <p:sp>
        <p:nvSpPr>
          <p:cNvPr id="26" name="Rectangle 25"/>
          <p:cNvSpPr/>
          <p:nvPr/>
        </p:nvSpPr>
        <p:spPr>
          <a:xfrm>
            <a:off x="432000" y="5148000"/>
            <a:ext cx="11304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184000"/>
            <a:ext cx="11088000" cy="936000"/>
          </a:xfrm>
          <a:prstGeom prst="rect">
            <a:avLst/>
          </a:prstGeom>
          <a:noFill/>
        </p:spPr>
        <p:txBody>
          <a:bodyPr wrap="square" lIns="36000" rIns="36000" tIns="18000" bIns="18000" anchor="t">
            <a:spAutoFit/>
          </a:bodyPr>
          <a:lstStyle/>
          <a:p>
            <a:pPr algn="l"/>
            <a:r>
              <a:rPr sz="1300" b="0" i="0">
                <a:solidFill>
                  <a:srgbClr val="35302B"/>
                </a:solidFill>
                <a:latin typeface="Yu Gothic"/>
              </a:rPr>
              <a:t>■ 家族が安定して本人と向き合えることは、本人の暮らしの安定に直結する</a:t>
            </a:r>
          </a:p>
          <a:p>
            <a:pPr algn="l"/>
            <a:r>
              <a:rPr sz="1300" b="0" i="0">
                <a:solidFill>
                  <a:srgbClr val="35302B"/>
                </a:solidFill>
                <a:latin typeface="Yu Gothic"/>
              </a:rPr>
              <a:t>■ ただし「家族のため」が「本人の意思」を覆さないよう注意 ― 本人と家族、両方の声を聴く</a:t>
            </a:r>
          </a:p>
          <a:p>
            <a:pPr algn="l"/>
            <a:r>
              <a:rPr sz="1300" b="0" i="0">
                <a:solidFill>
                  <a:srgbClr val="35302B"/>
                </a:solidFill>
                <a:latin typeface="Yu Gothic"/>
              </a:rPr>
              <a:t>■ ヤングケアラーなど、見えにくい家族介護者の存在に気づき、教育・福祉と連携してつなぐ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段階に応じた実践</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若年性認知症 ― 現役世代ならではの課題</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22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65歳未満で発症する認知症</a:t>
            </a:r>
          </a:p>
        </p:txBody>
      </p:sp>
      <p:sp>
        <p:nvSpPr>
          <p:cNvPr id="10" name="Rectangle 9"/>
          <p:cNvSpPr/>
          <p:nvPr/>
        </p:nvSpPr>
        <p:spPr>
          <a:xfrm>
            <a:off x="432000" y="1908000"/>
            <a:ext cx="11304000" cy="467999"/>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35302B"/>
                </a:solidFill>
                <a:latin typeface="Yu Gothic"/>
              </a:rPr>
              <a:t>働き盛り・子育て世代での発症。高齢者の認知症とは異なる課題があり、</a:t>
            </a:r>
          </a:p>
          <a:p>
            <a:pPr algn="l"/>
            <a:r>
              <a:rPr sz="1200" b="0" i="0">
                <a:solidFill>
                  <a:srgbClr val="35302B"/>
                </a:solidFill>
                <a:latin typeface="Yu Gothic"/>
              </a:rPr>
              <a:t>介護保険だけでなく、就労・経済・家族など多面的な支援が必要になる。</a:t>
            </a:r>
          </a:p>
        </p:txBody>
      </p:sp>
      <p:sp>
        <p:nvSpPr>
          <p:cNvPr id="12" name="Rectangle 11"/>
          <p:cNvSpPr/>
          <p:nvPr/>
        </p:nvSpPr>
        <p:spPr>
          <a:xfrm>
            <a:off x="390059" y="2592000"/>
            <a:ext cx="2772000" cy="468000"/>
          </a:xfrm>
          <a:prstGeom prst="rect">
            <a:avLst/>
          </a:prstGeom>
          <a:solidFill>
            <a:srgbClr val="6B4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就労・経済</a:t>
            </a:r>
          </a:p>
        </p:txBody>
      </p:sp>
      <p:sp>
        <p:nvSpPr>
          <p:cNvPr id="14" name="Rectangle 13"/>
          <p:cNvSpPr/>
          <p:nvPr/>
        </p:nvSpPr>
        <p:spPr>
          <a:xfrm>
            <a:off x="390059" y="3060000"/>
            <a:ext cx="2772000" cy="180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059" y="3168000"/>
            <a:ext cx="2556000" cy="1584000"/>
          </a:xfrm>
          <a:prstGeom prst="rect">
            <a:avLst/>
          </a:prstGeom>
          <a:noFill/>
        </p:spPr>
        <p:txBody>
          <a:bodyPr wrap="square" lIns="36000" rIns="36000" tIns="18000" bIns="18000" anchor="t">
            <a:spAutoFit/>
          </a:bodyPr>
          <a:lstStyle/>
          <a:p>
            <a:pPr algn="l">
              <a:lnSpc>
                <a:spcPct val="140000"/>
              </a:lnSpc>
            </a:pPr>
            <a:r>
              <a:rPr sz="1100" b="0" i="0">
                <a:solidFill>
                  <a:srgbClr val="35302B"/>
                </a:solidFill>
                <a:latin typeface="Yu Gothic"/>
              </a:rPr>
              <a:t>・仕事の継続・退職の問題</a:t>
            </a:r>
          </a:p>
          <a:p>
            <a:pPr algn="l">
              <a:lnSpc>
                <a:spcPct val="140000"/>
              </a:lnSpc>
            </a:pPr>
            <a:r>
              <a:rPr sz="1100" b="0" i="0">
                <a:solidFill>
                  <a:srgbClr val="35302B"/>
                </a:solidFill>
                <a:latin typeface="Yu Gothic"/>
              </a:rPr>
              <a:t>・収入の減少・住宅ローン</a:t>
            </a:r>
          </a:p>
          <a:p>
            <a:pPr algn="l">
              <a:lnSpc>
                <a:spcPct val="140000"/>
              </a:lnSpc>
            </a:pPr>
            <a:r>
              <a:rPr sz="1100" b="0" i="0">
                <a:solidFill>
                  <a:srgbClr val="35302B"/>
                </a:solidFill>
                <a:latin typeface="Yu Gothic"/>
              </a:rPr>
              <a:t>・障害年金等の制度活用</a:t>
            </a:r>
          </a:p>
        </p:txBody>
      </p:sp>
      <p:sp>
        <p:nvSpPr>
          <p:cNvPr id="16" name="Rectangle 15"/>
          <p:cNvSpPr/>
          <p:nvPr/>
        </p:nvSpPr>
        <p:spPr>
          <a:xfrm>
            <a:off x="3270059" y="2592000"/>
            <a:ext cx="2772000" cy="468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家族・子ども</a:t>
            </a:r>
          </a:p>
        </p:txBody>
      </p:sp>
      <p:sp>
        <p:nvSpPr>
          <p:cNvPr id="18" name="Rectangle 17"/>
          <p:cNvSpPr/>
          <p:nvPr/>
        </p:nvSpPr>
        <p:spPr>
          <a:xfrm>
            <a:off x="3270059" y="3060000"/>
            <a:ext cx="2772000" cy="180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78059" y="3168000"/>
            <a:ext cx="2556000" cy="1584000"/>
          </a:xfrm>
          <a:prstGeom prst="rect">
            <a:avLst/>
          </a:prstGeom>
          <a:noFill/>
        </p:spPr>
        <p:txBody>
          <a:bodyPr wrap="square" lIns="36000" rIns="36000" tIns="18000" bIns="18000" anchor="t">
            <a:spAutoFit/>
          </a:bodyPr>
          <a:lstStyle/>
          <a:p>
            <a:pPr algn="l">
              <a:lnSpc>
                <a:spcPct val="140000"/>
              </a:lnSpc>
            </a:pPr>
            <a:r>
              <a:rPr sz="1100" b="0" i="0">
                <a:solidFill>
                  <a:srgbClr val="35302B"/>
                </a:solidFill>
                <a:latin typeface="Yu Gothic"/>
              </a:rPr>
              <a:t>・配偶者の就労と介護の両立</a:t>
            </a:r>
          </a:p>
          <a:p>
            <a:pPr algn="l">
              <a:lnSpc>
                <a:spcPct val="140000"/>
              </a:lnSpc>
            </a:pPr>
            <a:r>
              <a:rPr sz="1100" b="0" i="0">
                <a:solidFill>
                  <a:srgbClr val="35302B"/>
                </a:solidFill>
                <a:latin typeface="Yu Gothic"/>
              </a:rPr>
              <a:t>・子がヤングケアラーになりうる</a:t>
            </a:r>
          </a:p>
          <a:p>
            <a:pPr algn="l">
              <a:lnSpc>
                <a:spcPct val="140000"/>
              </a:lnSpc>
            </a:pPr>
            <a:r>
              <a:rPr sz="1100" b="0" i="0">
                <a:solidFill>
                  <a:srgbClr val="35302B"/>
                </a:solidFill>
                <a:latin typeface="Yu Gothic"/>
              </a:rPr>
              <a:t>・親世代の介護と重なることも</a:t>
            </a:r>
          </a:p>
        </p:txBody>
      </p:sp>
      <p:sp>
        <p:nvSpPr>
          <p:cNvPr id="20" name="Rectangle 19"/>
          <p:cNvSpPr/>
          <p:nvPr/>
        </p:nvSpPr>
        <p:spPr>
          <a:xfrm>
            <a:off x="6150059" y="2592000"/>
            <a:ext cx="2772000" cy="468000"/>
          </a:xfrm>
          <a:prstGeom prst="rect">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5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制度のはざま</a:t>
            </a:r>
          </a:p>
        </p:txBody>
      </p:sp>
      <p:sp>
        <p:nvSpPr>
          <p:cNvPr id="22" name="Rectangle 21"/>
          <p:cNvSpPr/>
          <p:nvPr/>
        </p:nvSpPr>
        <p:spPr>
          <a:xfrm>
            <a:off x="6150059" y="3060000"/>
            <a:ext cx="2772000" cy="180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8059" y="3168000"/>
            <a:ext cx="2556000" cy="1584000"/>
          </a:xfrm>
          <a:prstGeom prst="rect">
            <a:avLst/>
          </a:prstGeom>
          <a:noFill/>
        </p:spPr>
        <p:txBody>
          <a:bodyPr wrap="square" lIns="36000" rIns="36000" tIns="18000" bIns="18000" anchor="t">
            <a:spAutoFit/>
          </a:bodyPr>
          <a:lstStyle/>
          <a:p>
            <a:pPr algn="l">
              <a:lnSpc>
                <a:spcPct val="140000"/>
              </a:lnSpc>
            </a:pPr>
            <a:r>
              <a:rPr sz="1100" b="0" i="0">
                <a:solidFill>
                  <a:srgbClr val="35302B"/>
                </a:solidFill>
                <a:latin typeface="Yu Gothic"/>
              </a:rPr>
              <a:t>・介護保険サービスが</a:t>
            </a:r>
          </a:p>
          <a:p>
            <a:pPr algn="l">
              <a:lnSpc>
                <a:spcPct val="140000"/>
              </a:lnSpc>
            </a:pPr>
            <a:r>
              <a:rPr sz="1100" b="0" i="0">
                <a:solidFill>
                  <a:srgbClr val="35302B"/>
                </a:solidFill>
                <a:latin typeface="Yu Gothic"/>
              </a:rPr>
              <a:t>  年齢層に合わないことも</a:t>
            </a:r>
          </a:p>
          <a:p>
            <a:pPr algn="l">
              <a:lnSpc>
                <a:spcPct val="140000"/>
              </a:lnSpc>
            </a:pPr>
            <a:r>
              <a:rPr sz="1100" b="0" i="0">
                <a:solidFill>
                  <a:srgbClr val="35302B"/>
                </a:solidFill>
                <a:latin typeface="Yu Gothic"/>
              </a:rPr>
              <a:t>・障害福祉サービスの活用</a:t>
            </a:r>
          </a:p>
        </p:txBody>
      </p:sp>
      <p:sp>
        <p:nvSpPr>
          <p:cNvPr id="24" name="Rectangle 23"/>
          <p:cNvSpPr/>
          <p:nvPr/>
        </p:nvSpPr>
        <p:spPr>
          <a:xfrm>
            <a:off x="9030059" y="2592000"/>
            <a:ext cx="2772000" cy="468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3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本人の思い</a:t>
            </a:r>
          </a:p>
        </p:txBody>
      </p:sp>
      <p:sp>
        <p:nvSpPr>
          <p:cNvPr id="26" name="Rectangle 25"/>
          <p:cNvSpPr/>
          <p:nvPr/>
        </p:nvSpPr>
        <p:spPr>
          <a:xfrm>
            <a:off x="9030059" y="3060000"/>
            <a:ext cx="2772000" cy="180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38059" y="3168000"/>
            <a:ext cx="2556000" cy="1584000"/>
          </a:xfrm>
          <a:prstGeom prst="rect">
            <a:avLst/>
          </a:prstGeom>
          <a:noFill/>
        </p:spPr>
        <p:txBody>
          <a:bodyPr wrap="square" lIns="36000" rIns="36000" tIns="18000" bIns="18000" anchor="t">
            <a:spAutoFit/>
          </a:bodyPr>
          <a:lstStyle/>
          <a:p>
            <a:pPr algn="l">
              <a:lnSpc>
                <a:spcPct val="140000"/>
              </a:lnSpc>
            </a:pPr>
            <a:r>
              <a:rPr sz="1100" b="0" i="0">
                <a:solidFill>
                  <a:srgbClr val="35302B"/>
                </a:solidFill>
                <a:latin typeface="Yu Gothic"/>
              </a:rPr>
              <a:t>・「まだ働きたい」「役割を持ちたい」</a:t>
            </a:r>
          </a:p>
          <a:p>
            <a:pPr algn="l">
              <a:lnSpc>
                <a:spcPct val="140000"/>
              </a:lnSpc>
            </a:pPr>
            <a:r>
              <a:rPr sz="1100" b="0" i="0">
                <a:solidFill>
                  <a:srgbClr val="35302B"/>
                </a:solidFill>
                <a:latin typeface="Yu Gothic"/>
              </a:rPr>
              <a:t>・同世代との出会いの場が少ない</a:t>
            </a:r>
          </a:p>
          <a:p>
            <a:pPr algn="l">
              <a:lnSpc>
                <a:spcPct val="140000"/>
              </a:lnSpc>
            </a:pPr>
            <a:r>
              <a:rPr sz="1100" b="0" i="0">
                <a:solidFill>
                  <a:srgbClr val="35302B"/>
                </a:solidFill>
                <a:latin typeface="Yu Gothic"/>
              </a:rPr>
              <a:t>・社会参加・就労継続の支援</a:t>
            </a:r>
          </a:p>
        </p:txBody>
      </p:sp>
      <p:sp>
        <p:nvSpPr>
          <p:cNvPr id="28" name="Rectangle 27"/>
          <p:cNvSpPr/>
          <p:nvPr/>
        </p:nvSpPr>
        <p:spPr>
          <a:xfrm>
            <a:off x="432000" y="5148000"/>
            <a:ext cx="11304000" cy="360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51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つなぐ先を知っておく</a:t>
            </a:r>
          </a:p>
        </p:txBody>
      </p:sp>
      <p:sp>
        <p:nvSpPr>
          <p:cNvPr id="30" name="Rectangle 29"/>
          <p:cNvSpPr/>
          <p:nvPr/>
        </p:nvSpPr>
        <p:spPr>
          <a:xfrm>
            <a:off x="432000" y="5508000"/>
            <a:ext cx="11304000" cy="612000"/>
          </a:xfrm>
          <a:prstGeom prst="rect">
            <a:avLst/>
          </a:prstGeom>
          <a:solidFill>
            <a:srgbClr val="FA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5544000"/>
            <a:ext cx="11088000" cy="576000"/>
          </a:xfrm>
          <a:prstGeom prst="rect">
            <a:avLst/>
          </a:prstGeom>
          <a:noFill/>
        </p:spPr>
        <p:txBody>
          <a:bodyPr wrap="square" lIns="36000" rIns="36000" tIns="18000" bIns="18000" anchor="t">
            <a:spAutoFit/>
          </a:bodyPr>
          <a:lstStyle/>
          <a:p>
            <a:pPr algn="l"/>
            <a:r>
              <a:rPr sz="1200" b="0" i="0">
                <a:solidFill>
                  <a:srgbClr val="35302B"/>
                </a:solidFill>
                <a:latin typeface="Yu Gothic"/>
              </a:rPr>
              <a:t>■ 若年性認知症支援コーディネーター(都道府県に配置)が、就労・生活の相談に対応</a:t>
            </a:r>
          </a:p>
          <a:p>
            <a:pPr algn="l"/>
            <a:r>
              <a:rPr sz="1200" b="0" i="0">
                <a:solidFill>
                  <a:srgbClr val="35302B"/>
                </a:solidFill>
                <a:latin typeface="Yu Gothic"/>
              </a:rPr>
              <a:t>■ 介護・医療・障害福祉・就労支援・年金など、分野を超えた連携が不可欠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FFFFFF"/>
                </a:solidFill>
                <a:latin typeface="Yu Gothic"/>
              </a:rPr>
              <a:t>PART 5</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地域共生に向けた実践</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FAF1DA"/>
                </a:solidFill>
                <a:latin typeface="Yu Gothic"/>
              </a:rPr>
              <a:t>Practice for an Inclusive Community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地域共生に向けた実践</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本人の声を中心に ― 当事者発信とピアサポート</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24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「認知症の人について」から「認知症の人と共に」</a:t>
            </a:r>
          </a:p>
        </p:txBody>
      </p:sp>
      <p:sp>
        <p:nvSpPr>
          <p:cNvPr id="10" name="Rectangle 9"/>
          <p:cNvSpPr/>
          <p:nvPr/>
        </p:nvSpPr>
        <p:spPr>
          <a:xfrm>
            <a:off x="432000" y="1908000"/>
            <a:ext cx="11304000" cy="61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200" b="0" i="0">
                <a:solidFill>
                  <a:srgbClr val="35302B"/>
                </a:solidFill>
                <a:latin typeface="Yu Gothic"/>
              </a:rPr>
              <a:t>認知症の本人が自ら語り、発信し、施策づくりにも参画する動きが広がっている。</a:t>
            </a:r>
          </a:p>
          <a:p>
            <a:pPr algn="l"/>
            <a:r>
              <a:rPr sz="1200" b="0" i="0">
                <a:solidFill>
                  <a:srgbClr val="35302B"/>
                </a:solidFill>
                <a:latin typeface="Yu Gothic"/>
              </a:rPr>
              <a:t>支援者は「代弁する」のではなく、「本人が語れる場・機会」をつくり、支える。</a:t>
            </a:r>
          </a:p>
        </p:txBody>
      </p:sp>
      <p:sp>
        <p:nvSpPr>
          <p:cNvPr id="12" name="Rectangle 11"/>
          <p:cNvSpPr/>
          <p:nvPr/>
        </p:nvSpPr>
        <p:spPr>
          <a:xfrm>
            <a:off x="444061" y="2700000"/>
            <a:ext cx="3671999" cy="468000"/>
          </a:xfrm>
          <a:prstGeom prst="rect">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061" y="2700000"/>
            <a:ext cx="3671999" cy="468000"/>
          </a:xfrm>
          <a:prstGeom prst="rect">
            <a:avLst/>
          </a:prstGeom>
          <a:noFill/>
        </p:spPr>
        <p:txBody>
          <a:bodyPr wrap="square" lIns="36000" rIns="36000" tIns="18000" bIns="18000" anchor="ctr">
            <a:spAutoFit/>
          </a:bodyPr>
          <a:lstStyle/>
          <a:p>
            <a:pPr algn="ctr"/>
            <a:r>
              <a:rPr sz="1500" b="1" i="0">
                <a:solidFill>
                  <a:srgbClr val="FFFFFF"/>
                </a:solidFill>
                <a:latin typeface="Yu Gothic"/>
              </a:rPr>
              <a:t>本人ミーティング</a:t>
            </a:r>
          </a:p>
        </p:txBody>
      </p:sp>
      <p:sp>
        <p:nvSpPr>
          <p:cNvPr id="14" name="Rectangle 13"/>
          <p:cNvSpPr/>
          <p:nvPr/>
        </p:nvSpPr>
        <p:spPr>
          <a:xfrm>
            <a:off x="444061" y="3168000"/>
            <a:ext cx="3671999" cy="151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061" y="3276000"/>
            <a:ext cx="3383999" cy="1296000"/>
          </a:xfrm>
          <a:prstGeom prst="rect">
            <a:avLst/>
          </a:prstGeom>
          <a:noFill/>
        </p:spPr>
        <p:txBody>
          <a:bodyPr wrap="square" lIns="36000" rIns="36000" tIns="18000" bIns="18000" anchor="t">
            <a:spAutoFit/>
          </a:bodyPr>
          <a:lstStyle/>
          <a:p>
            <a:pPr algn="l">
              <a:lnSpc>
                <a:spcPct val="150000"/>
              </a:lnSpc>
            </a:pPr>
            <a:r>
              <a:rPr sz="1200" b="0" i="0">
                <a:solidFill>
                  <a:srgbClr val="35302B"/>
                </a:solidFill>
                <a:latin typeface="Yu Gothic"/>
              </a:rPr>
              <a:t>認知症の本人同士が集い、</a:t>
            </a:r>
          </a:p>
          <a:p>
            <a:pPr algn="l">
              <a:lnSpc>
                <a:spcPct val="150000"/>
              </a:lnSpc>
            </a:pPr>
            <a:r>
              <a:rPr sz="1200" b="0" i="0">
                <a:solidFill>
                  <a:srgbClr val="35302B"/>
                </a:solidFill>
                <a:latin typeface="Yu Gothic"/>
              </a:rPr>
              <a:t>思い・体験・希望を語り合う場。</a:t>
            </a:r>
          </a:p>
          <a:p>
            <a:pPr algn="l">
              <a:lnSpc>
                <a:spcPct val="150000"/>
              </a:lnSpc>
            </a:pPr>
            <a:r>
              <a:rPr sz="1200" b="0" i="0">
                <a:solidFill>
                  <a:srgbClr val="35302B"/>
                </a:solidFill>
                <a:latin typeface="Yu Gothic"/>
              </a:rPr>
              <a:t>本人にとっての安心と力の源に</a:t>
            </a:r>
          </a:p>
        </p:txBody>
      </p:sp>
      <p:sp>
        <p:nvSpPr>
          <p:cNvPr id="16" name="Rectangle 15"/>
          <p:cNvSpPr/>
          <p:nvPr/>
        </p:nvSpPr>
        <p:spPr>
          <a:xfrm>
            <a:off x="4260060" y="2700000"/>
            <a:ext cx="3671999" cy="468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60060" y="2700000"/>
            <a:ext cx="3671999" cy="468000"/>
          </a:xfrm>
          <a:prstGeom prst="rect">
            <a:avLst/>
          </a:prstGeom>
          <a:noFill/>
        </p:spPr>
        <p:txBody>
          <a:bodyPr wrap="square" lIns="36000" rIns="36000" tIns="18000" bIns="18000" anchor="ctr">
            <a:spAutoFit/>
          </a:bodyPr>
          <a:lstStyle/>
          <a:p>
            <a:pPr algn="ctr"/>
            <a:r>
              <a:rPr sz="1500" b="1" i="0">
                <a:solidFill>
                  <a:srgbClr val="FFFFFF"/>
                </a:solidFill>
                <a:latin typeface="Yu Gothic"/>
              </a:rPr>
              <a:t>ピアサポート</a:t>
            </a:r>
          </a:p>
        </p:txBody>
      </p:sp>
      <p:sp>
        <p:nvSpPr>
          <p:cNvPr id="18" name="Rectangle 17"/>
          <p:cNvSpPr/>
          <p:nvPr/>
        </p:nvSpPr>
        <p:spPr>
          <a:xfrm>
            <a:off x="4260060" y="3168000"/>
            <a:ext cx="3671999" cy="151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060" y="3276000"/>
            <a:ext cx="3383999" cy="1296000"/>
          </a:xfrm>
          <a:prstGeom prst="rect">
            <a:avLst/>
          </a:prstGeom>
          <a:noFill/>
        </p:spPr>
        <p:txBody>
          <a:bodyPr wrap="square" lIns="36000" rIns="36000" tIns="18000" bIns="18000" anchor="t">
            <a:spAutoFit/>
          </a:bodyPr>
          <a:lstStyle/>
          <a:p>
            <a:pPr algn="l">
              <a:lnSpc>
                <a:spcPct val="150000"/>
              </a:lnSpc>
            </a:pPr>
            <a:r>
              <a:rPr sz="1200" b="0" i="0">
                <a:solidFill>
                  <a:srgbClr val="35302B"/>
                </a:solidFill>
                <a:latin typeface="Yu Gothic"/>
              </a:rPr>
              <a:t>同じ立場の本人による支え合い。</a:t>
            </a:r>
          </a:p>
          <a:p>
            <a:pPr algn="l">
              <a:lnSpc>
                <a:spcPct val="150000"/>
              </a:lnSpc>
            </a:pPr>
            <a:r>
              <a:rPr sz="1200" b="0" i="0">
                <a:solidFill>
                  <a:srgbClr val="35302B"/>
                </a:solidFill>
                <a:latin typeface="Yu Gothic"/>
              </a:rPr>
              <a:t>診断直後の人に、先を歩む本人が</a:t>
            </a:r>
          </a:p>
          <a:p>
            <a:pPr algn="l">
              <a:lnSpc>
                <a:spcPct val="150000"/>
              </a:lnSpc>
            </a:pPr>
            <a:r>
              <a:rPr sz="1200" b="0" i="0">
                <a:solidFill>
                  <a:srgbClr val="35302B"/>
                </a:solidFill>
                <a:latin typeface="Yu Gothic"/>
              </a:rPr>
              <a:t>寄り添い、希望を伝える</a:t>
            </a:r>
          </a:p>
        </p:txBody>
      </p:sp>
      <p:sp>
        <p:nvSpPr>
          <p:cNvPr id="20" name="Rectangle 19"/>
          <p:cNvSpPr/>
          <p:nvPr/>
        </p:nvSpPr>
        <p:spPr>
          <a:xfrm>
            <a:off x="8076059" y="2700000"/>
            <a:ext cx="3671999" cy="468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6059" y="2700000"/>
            <a:ext cx="3671999" cy="468000"/>
          </a:xfrm>
          <a:prstGeom prst="rect">
            <a:avLst/>
          </a:prstGeom>
          <a:noFill/>
        </p:spPr>
        <p:txBody>
          <a:bodyPr wrap="square" lIns="36000" rIns="36000" tIns="18000" bIns="18000" anchor="ctr">
            <a:spAutoFit/>
          </a:bodyPr>
          <a:lstStyle/>
          <a:p>
            <a:pPr algn="ctr"/>
            <a:r>
              <a:rPr sz="1500" b="1" i="0">
                <a:solidFill>
                  <a:srgbClr val="FFFFFF"/>
                </a:solidFill>
                <a:latin typeface="Yu Gothic"/>
              </a:rPr>
              <a:t>本人の社会参画</a:t>
            </a:r>
          </a:p>
        </p:txBody>
      </p:sp>
      <p:sp>
        <p:nvSpPr>
          <p:cNvPr id="22" name="Rectangle 21"/>
          <p:cNvSpPr/>
          <p:nvPr/>
        </p:nvSpPr>
        <p:spPr>
          <a:xfrm>
            <a:off x="8076059" y="3168000"/>
            <a:ext cx="3671999" cy="151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059" y="3276000"/>
            <a:ext cx="3383999" cy="1296000"/>
          </a:xfrm>
          <a:prstGeom prst="rect">
            <a:avLst/>
          </a:prstGeom>
          <a:noFill/>
        </p:spPr>
        <p:txBody>
          <a:bodyPr wrap="square" lIns="36000" rIns="36000" tIns="18000" bIns="18000" anchor="t">
            <a:spAutoFit/>
          </a:bodyPr>
          <a:lstStyle/>
          <a:p>
            <a:pPr algn="l">
              <a:lnSpc>
                <a:spcPct val="150000"/>
              </a:lnSpc>
            </a:pPr>
            <a:r>
              <a:rPr sz="1200" b="0" i="0">
                <a:solidFill>
                  <a:srgbClr val="35302B"/>
                </a:solidFill>
                <a:latin typeface="Yu Gothic"/>
              </a:rPr>
              <a:t>施策づくり・地域づくりへの参画。</a:t>
            </a:r>
          </a:p>
          <a:p>
            <a:pPr algn="l">
              <a:lnSpc>
                <a:spcPct val="150000"/>
              </a:lnSpc>
            </a:pPr>
            <a:r>
              <a:rPr sz="1200" b="0" i="0">
                <a:solidFill>
                  <a:srgbClr val="35302B"/>
                </a:solidFill>
                <a:latin typeface="Yu Gothic"/>
              </a:rPr>
              <a:t>講演・発信など、本人が役割を</a:t>
            </a:r>
          </a:p>
          <a:p>
            <a:pPr algn="l">
              <a:lnSpc>
                <a:spcPct val="150000"/>
              </a:lnSpc>
            </a:pPr>
            <a:r>
              <a:rPr sz="1200" b="0" i="0">
                <a:solidFill>
                  <a:srgbClr val="35302B"/>
                </a:solidFill>
                <a:latin typeface="Yu Gothic"/>
              </a:rPr>
              <a:t>持って社会と関わる</a:t>
            </a:r>
          </a:p>
        </p:txBody>
      </p:sp>
      <p:sp>
        <p:nvSpPr>
          <p:cNvPr id="24" name="Rectangle 23"/>
          <p:cNvSpPr/>
          <p:nvPr/>
        </p:nvSpPr>
        <p:spPr>
          <a:xfrm>
            <a:off x="432000" y="5040000"/>
            <a:ext cx="11304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507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CMにできること</a:t>
            </a:r>
          </a:p>
        </p:txBody>
      </p:sp>
      <p:sp>
        <p:nvSpPr>
          <p:cNvPr id="26" name="Rectangle 25"/>
          <p:cNvSpPr/>
          <p:nvPr/>
        </p:nvSpPr>
        <p:spPr>
          <a:xfrm>
            <a:off x="432000" y="5400000"/>
            <a:ext cx="11304000" cy="720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436000"/>
            <a:ext cx="11088000" cy="684000"/>
          </a:xfrm>
          <a:prstGeom prst="rect">
            <a:avLst/>
          </a:prstGeom>
          <a:noFill/>
        </p:spPr>
        <p:txBody>
          <a:bodyPr wrap="square" lIns="36000" rIns="36000" tIns="18000" bIns="18000" anchor="t">
            <a:spAutoFit/>
          </a:bodyPr>
          <a:lstStyle/>
          <a:p>
            <a:pPr algn="l"/>
            <a:r>
              <a:rPr sz="1300" b="0" i="0">
                <a:solidFill>
                  <a:srgbClr val="35302B"/>
                </a:solidFill>
                <a:latin typeface="Yu Gothic"/>
              </a:rPr>
              <a:t>■ 「もう無理」と思い込む本人に、当事者発信の事例を伝え、出会いの場につなぐ</a:t>
            </a:r>
          </a:p>
          <a:p>
            <a:pPr algn="l"/>
            <a:r>
              <a:rPr sz="1300" b="0" i="0">
                <a:solidFill>
                  <a:srgbClr val="35302B"/>
                </a:solidFill>
                <a:latin typeface="Yu Gothic"/>
              </a:rPr>
              <a:t>■ ケアプランに「社会参加」「役割」「人とのつながり」を、本人の願いとして位置づける</a:t>
            </a:r>
          </a:p>
          <a:p>
            <a:pPr algn="l"/>
            <a:r>
              <a:rPr sz="1300" b="0" i="0">
                <a:solidFill>
                  <a:srgbClr val="35302B"/>
                </a:solidFill>
                <a:latin typeface="Yu Gothic"/>
              </a:rPr>
              <a:t>■ 本人の言葉を、支援チーム・地域に「翻訳」して届ける ― ただし代弁に終わらせない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地域共生に向けた実践</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認知症にかかわる地域資源を知る</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25 / 32</a:t>
            </a:r>
          </a:p>
        </p:txBody>
      </p:sp>
      <p:sp>
        <p:nvSpPr>
          <p:cNvPr id="8" name="Rectangle 7"/>
          <p:cNvSpPr/>
          <p:nvPr/>
        </p:nvSpPr>
        <p:spPr>
          <a:xfrm>
            <a:off x="432000" y="1620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6000" y="1656000"/>
            <a:ext cx="313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地域資源</a:t>
            </a:r>
          </a:p>
        </p:txBody>
      </p:sp>
      <p:sp>
        <p:nvSpPr>
          <p:cNvPr id="10" name="TextBox 9"/>
          <p:cNvSpPr txBox="1"/>
          <p:nvPr/>
        </p:nvSpPr>
        <p:spPr>
          <a:xfrm>
            <a:off x="3726000" y="1656000"/>
            <a:ext cx="439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役割・機能</a:t>
            </a:r>
          </a:p>
        </p:txBody>
      </p:sp>
      <p:sp>
        <p:nvSpPr>
          <p:cNvPr id="11" name="TextBox 10"/>
          <p:cNvSpPr txBox="1"/>
          <p:nvPr/>
        </p:nvSpPr>
        <p:spPr>
          <a:xfrm>
            <a:off x="8226000" y="1656000"/>
            <a:ext cx="345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CMの活用の仕方</a:t>
            </a:r>
          </a:p>
        </p:txBody>
      </p:sp>
      <p:sp>
        <p:nvSpPr>
          <p:cNvPr id="12" name="Rectangle 11"/>
          <p:cNvSpPr/>
          <p:nvPr/>
        </p:nvSpPr>
        <p:spPr>
          <a:xfrm>
            <a:off x="432000" y="1980000"/>
            <a:ext cx="11304000" cy="720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000" y="2034000"/>
            <a:ext cx="3132000" cy="612000"/>
          </a:xfrm>
          <a:prstGeom prst="rect">
            <a:avLst/>
          </a:prstGeom>
          <a:noFill/>
        </p:spPr>
        <p:txBody>
          <a:bodyPr wrap="square" lIns="36000" rIns="36000" tIns="18000" bIns="18000" anchor="ctr">
            <a:spAutoFit/>
          </a:bodyPr>
          <a:lstStyle/>
          <a:p>
            <a:pPr algn="ctr"/>
            <a:r>
              <a:rPr sz="1050" b="1" i="0">
                <a:solidFill>
                  <a:srgbClr val="C2571C"/>
                </a:solidFill>
                <a:latin typeface="Yu Gothic"/>
              </a:rPr>
              <a:t>認知症地域支援</a:t>
            </a:r>
          </a:p>
          <a:p>
            <a:pPr algn="ctr"/>
            <a:r>
              <a:rPr sz="1050" b="1" i="0">
                <a:solidFill>
                  <a:srgbClr val="C2571C"/>
                </a:solidFill>
                <a:latin typeface="Yu Gothic"/>
              </a:rPr>
              <a:t>推進員</a:t>
            </a:r>
          </a:p>
        </p:txBody>
      </p:sp>
      <p:sp>
        <p:nvSpPr>
          <p:cNvPr id="14" name="TextBox 13"/>
          <p:cNvSpPr txBox="1"/>
          <p:nvPr/>
        </p:nvSpPr>
        <p:spPr>
          <a:xfrm>
            <a:off x="3726000" y="2034000"/>
            <a:ext cx="4392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市町村に配置。医療・介護・地域の</a:t>
            </a:r>
          </a:p>
          <a:p>
            <a:pPr algn="l"/>
            <a:r>
              <a:rPr sz="1050" b="0" i="0">
                <a:solidFill>
                  <a:srgbClr val="35302B"/>
                </a:solidFill>
                <a:latin typeface="Yu Gothic"/>
              </a:rPr>
              <a:t>連携支援、本人・家族の相談</a:t>
            </a:r>
          </a:p>
        </p:txBody>
      </p:sp>
      <p:sp>
        <p:nvSpPr>
          <p:cNvPr id="15" name="TextBox 14"/>
          <p:cNvSpPr txBox="1"/>
          <p:nvPr/>
        </p:nvSpPr>
        <p:spPr>
          <a:xfrm>
            <a:off x="8226000" y="2034000"/>
            <a:ext cx="3456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困りごとの相談</a:t>
            </a:r>
          </a:p>
          <a:p>
            <a:pPr algn="l"/>
            <a:r>
              <a:rPr sz="1050" b="0" i="0">
                <a:solidFill>
                  <a:srgbClr val="35302B"/>
                </a:solidFill>
                <a:latin typeface="Yu Gothic"/>
              </a:rPr>
              <a:t>地域資源につなぐ</a:t>
            </a:r>
          </a:p>
        </p:txBody>
      </p:sp>
      <p:sp>
        <p:nvSpPr>
          <p:cNvPr id="16" name="Rectangle 15"/>
          <p:cNvSpPr/>
          <p:nvPr/>
        </p:nvSpPr>
        <p:spPr>
          <a:xfrm>
            <a:off x="432000" y="2700000"/>
            <a:ext cx="11304000" cy="720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000" y="2754000"/>
            <a:ext cx="3132000" cy="612000"/>
          </a:xfrm>
          <a:prstGeom prst="rect">
            <a:avLst/>
          </a:prstGeom>
          <a:noFill/>
        </p:spPr>
        <p:txBody>
          <a:bodyPr wrap="square" lIns="36000" rIns="36000" tIns="18000" bIns="18000" anchor="ctr">
            <a:spAutoFit/>
          </a:bodyPr>
          <a:lstStyle/>
          <a:p>
            <a:pPr algn="ctr"/>
            <a:r>
              <a:rPr sz="1050" b="1" i="0">
                <a:solidFill>
                  <a:srgbClr val="C2571C"/>
                </a:solidFill>
                <a:latin typeface="Yu Gothic"/>
              </a:rPr>
              <a:t>認知症初期</a:t>
            </a:r>
          </a:p>
          <a:p>
            <a:pPr algn="ctr"/>
            <a:r>
              <a:rPr sz="1050" b="1" i="0">
                <a:solidFill>
                  <a:srgbClr val="C2571C"/>
                </a:solidFill>
                <a:latin typeface="Yu Gothic"/>
              </a:rPr>
              <a:t>集中支援チーム</a:t>
            </a:r>
          </a:p>
        </p:txBody>
      </p:sp>
      <p:sp>
        <p:nvSpPr>
          <p:cNvPr id="18" name="TextBox 17"/>
          <p:cNvSpPr txBox="1"/>
          <p:nvPr/>
        </p:nvSpPr>
        <p:spPr>
          <a:xfrm>
            <a:off x="3726000" y="2754000"/>
            <a:ext cx="4392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複数専門職が、初期の段階で</a:t>
            </a:r>
          </a:p>
          <a:p>
            <a:pPr algn="l"/>
            <a:r>
              <a:rPr sz="1050" b="0" i="0">
                <a:solidFill>
                  <a:srgbClr val="35302B"/>
                </a:solidFill>
                <a:latin typeface="Yu Gothic"/>
              </a:rPr>
              <a:t>集中的に本人・家族を支援</a:t>
            </a:r>
          </a:p>
        </p:txBody>
      </p:sp>
      <p:sp>
        <p:nvSpPr>
          <p:cNvPr id="19" name="TextBox 18"/>
          <p:cNvSpPr txBox="1"/>
          <p:nvPr/>
        </p:nvSpPr>
        <p:spPr>
          <a:xfrm>
            <a:off x="8226000" y="2754000"/>
            <a:ext cx="3456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診断後の関わりに迷う</a:t>
            </a:r>
          </a:p>
          <a:p>
            <a:pPr algn="l"/>
            <a:r>
              <a:rPr sz="1050" b="0" i="0">
                <a:solidFill>
                  <a:srgbClr val="35302B"/>
                </a:solidFill>
                <a:latin typeface="Yu Gothic"/>
              </a:rPr>
              <a:t>ケースで連携</a:t>
            </a:r>
          </a:p>
        </p:txBody>
      </p:sp>
      <p:sp>
        <p:nvSpPr>
          <p:cNvPr id="20" name="Rectangle 19"/>
          <p:cNvSpPr/>
          <p:nvPr/>
        </p:nvSpPr>
        <p:spPr>
          <a:xfrm>
            <a:off x="432000" y="3420000"/>
            <a:ext cx="11304000" cy="720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3474000"/>
            <a:ext cx="3132000" cy="612000"/>
          </a:xfrm>
          <a:prstGeom prst="rect">
            <a:avLst/>
          </a:prstGeom>
          <a:noFill/>
        </p:spPr>
        <p:txBody>
          <a:bodyPr wrap="square" lIns="36000" rIns="36000" tIns="18000" bIns="18000" anchor="ctr">
            <a:spAutoFit/>
          </a:bodyPr>
          <a:lstStyle/>
          <a:p>
            <a:pPr algn="ctr"/>
            <a:r>
              <a:rPr sz="1050" b="1" i="0">
                <a:solidFill>
                  <a:srgbClr val="C2571C"/>
                </a:solidFill>
                <a:latin typeface="Yu Gothic"/>
              </a:rPr>
              <a:t>認知症カフェ</a:t>
            </a:r>
          </a:p>
          <a:p>
            <a:pPr algn="ctr"/>
            <a:r>
              <a:rPr sz="1050" b="1" i="0">
                <a:solidFill>
                  <a:srgbClr val="C2571C"/>
                </a:solidFill>
                <a:latin typeface="Yu Gothic"/>
              </a:rPr>
              <a:t>(オレンジカフェ)</a:t>
            </a:r>
          </a:p>
        </p:txBody>
      </p:sp>
      <p:sp>
        <p:nvSpPr>
          <p:cNvPr id="22" name="TextBox 21"/>
          <p:cNvSpPr txBox="1"/>
          <p:nvPr/>
        </p:nvSpPr>
        <p:spPr>
          <a:xfrm>
            <a:off x="3726000" y="3474000"/>
            <a:ext cx="4392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本人・家族・地域住民・専門職が</a:t>
            </a:r>
          </a:p>
          <a:p>
            <a:pPr algn="l"/>
            <a:r>
              <a:rPr sz="1050" b="0" i="0">
                <a:solidFill>
                  <a:srgbClr val="35302B"/>
                </a:solidFill>
                <a:latin typeface="Yu Gothic"/>
              </a:rPr>
              <a:t>集い、つながり・情報交換する場</a:t>
            </a:r>
          </a:p>
        </p:txBody>
      </p:sp>
      <p:sp>
        <p:nvSpPr>
          <p:cNvPr id="23" name="TextBox 22"/>
          <p:cNvSpPr txBox="1"/>
          <p:nvPr/>
        </p:nvSpPr>
        <p:spPr>
          <a:xfrm>
            <a:off x="8226000" y="3474000"/>
            <a:ext cx="3456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本人・家族の</a:t>
            </a:r>
          </a:p>
          <a:p>
            <a:pPr algn="l"/>
            <a:r>
              <a:rPr sz="1050" b="0" i="0">
                <a:solidFill>
                  <a:srgbClr val="35302B"/>
                </a:solidFill>
                <a:latin typeface="Yu Gothic"/>
              </a:rPr>
              <a:t>孤立を防ぐ場として</a:t>
            </a:r>
          </a:p>
        </p:txBody>
      </p:sp>
      <p:sp>
        <p:nvSpPr>
          <p:cNvPr id="24" name="Rectangle 23"/>
          <p:cNvSpPr/>
          <p:nvPr/>
        </p:nvSpPr>
        <p:spPr>
          <a:xfrm>
            <a:off x="432000" y="4140000"/>
            <a:ext cx="11304000" cy="720000"/>
          </a:xfrm>
          <a:prstGeom prst="rect">
            <a:avLst/>
          </a:prstGeom>
          <a:solidFill>
            <a:srgbClr val="FFFFF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000" y="4194000"/>
            <a:ext cx="3132000" cy="612000"/>
          </a:xfrm>
          <a:prstGeom prst="rect">
            <a:avLst/>
          </a:prstGeom>
          <a:noFill/>
        </p:spPr>
        <p:txBody>
          <a:bodyPr wrap="square" lIns="36000" rIns="36000" tIns="18000" bIns="18000" anchor="ctr">
            <a:spAutoFit/>
          </a:bodyPr>
          <a:lstStyle/>
          <a:p>
            <a:pPr algn="ctr"/>
            <a:r>
              <a:rPr sz="1050" b="1" i="0">
                <a:solidFill>
                  <a:srgbClr val="C2571C"/>
                </a:solidFill>
                <a:latin typeface="Yu Gothic"/>
              </a:rPr>
              <a:t>チームオレンジ</a:t>
            </a:r>
          </a:p>
        </p:txBody>
      </p:sp>
      <p:sp>
        <p:nvSpPr>
          <p:cNvPr id="26" name="TextBox 25"/>
          <p:cNvSpPr txBox="1"/>
          <p:nvPr/>
        </p:nvSpPr>
        <p:spPr>
          <a:xfrm>
            <a:off x="3726000" y="4194000"/>
            <a:ext cx="4392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認知症サポーター等が、本人・家族の</a:t>
            </a:r>
          </a:p>
          <a:p>
            <a:pPr algn="l"/>
            <a:r>
              <a:rPr sz="1050" b="0" i="0">
                <a:solidFill>
                  <a:srgbClr val="35302B"/>
                </a:solidFill>
                <a:latin typeface="Yu Gothic"/>
              </a:rPr>
              <a:t>ニーズに合わせて支援をつなぐ仕組み</a:t>
            </a:r>
          </a:p>
        </p:txBody>
      </p:sp>
      <p:sp>
        <p:nvSpPr>
          <p:cNvPr id="27" name="TextBox 26"/>
          <p:cNvSpPr txBox="1"/>
          <p:nvPr/>
        </p:nvSpPr>
        <p:spPr>
          <a:xfrm>
            <a:off x="8226000" y="4194000"/>
            <a:ext cx="3456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見守り・外出支援等</a:t>
            </a:r>
          </a:p>
          <a:p>
            <a:pPr algn="l"/>
            <a:r>
              <a:rPr sz="1050" b="0" i="0">
                <a:solidFill>
                  <a:srgbClr val="35302B"/>
                </a:solidFill>
                <a:latin typeface="Yu Gothic"/>
              </a:rPr>
              <a:t>生活の支え合いに</a:t>
            </a:r>
          </a:p>
        </p:txBody>
      </p:sp>
      <p:sp>
        <p:nvSpPr>
          <p:cNvPr id="28" name="Rectangle 27"/>
          <p:cNvSpPr/>
          <p:nvPr/>
        </p:nvSpPr>
        <p:spPr>
          <a:xfrm>
            <a:off x="432000" y="4860000"/>
            <a:ext cx="11304000" cy="720000"/>
          </a:xfrm>
          <a:prstGeom prst="rect">
            <a:avLst/>
          </a:prstGeom>
          <a:solidFill>
            <a:srgbClr val="F0E9DF"/>
          </a:solidFill>
          <a:ln>
            <a:solidFill>
              <a:srgbClr val="DDD6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000" y="4914000"/>
            <a:ext cx="3132000" cy="612000"/>
          </a:xfrm>
          <a:prstGeom prst="rect">
            <a:avLst/>
          </a:prstGeom>
          <a:noFill/>
        </p:spPr>
        <p:txBody>
          <a:bodyPr wrap="square" lIns="36000" rIns="36000" tIns="18000" bIns="18000" anchor="ctr">
            <a:spAutoFit/>
          </a:bodyPr>
          <a:lstStyle/>
          <a:p>
            <a:pPr algn="ctr"/>
            <a:r>
              <a:rPr sz="1050" b="1" i="0">
                <a:solidFill>
                  <a:srgbClr val="C2571C"/>
                </a:solidFill>
                <a:latin typeface="Yu Gothic"/>
              </a:rPr>
              <a:t>家族会・</a:t>
            </a:r>
          </a:p>
          <a:p>
            <a:pPr algn="ctr"/>
            <a:r>
              <a:rPr sz="1050" b="1" i="0">
                <a:solidFill>
                  <a:srgbClr val="C2571C"/>
                </a:solidFill>
                <a:latin typeface="Yu Gothic"/>
              </a:rPr>
              <a:t>ピアの集まり</a:t>
            </a:r>
          </a:p>
        </p:txBody>
      </p:sp>
      <p:sp>
        <p:nvSpPr>
          <p:cNvPr id="30" name="TextBox 29"/>
          <p:cNvSpPr txBox="1"/>
          <p:nvPr/>
        </p:nvSpPr>
        <p:spPr>
          <a:xfrm>
            <a:off x="3726000" y="4914000"/>
            <a:ext cx="4392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家族同士・本人同士が</a:t>
            </a:r>
          </a:p>
          <a:p>
            <a:pPr algn="l"/>
            <a:r>
              <a:rPr sz="1050" b="0" i="0">
                <a:solidFill>
                  <a:srgbClr val="35302B"/>
                </a:solidFill>
                <a:latin typeface="Yu Gothic"/>
              </a:rPr>
              <a:t>体験を分かち合い、支え合う</a:t>
            </a:r>
          </a:p>
        </p:txBody>
      </p:sp>
      <p:sp>
        <p:nvSpPr>
          <p:cNvPr id="31" name="TextBox 30"/>
          <p:cNvSpPr txBox="1"/>
          <p:nvPr/>
        </p:nvSpPr>
        <p:spPr>
          <a:xfrm>
            <a:off x="8226000" y="4914000"/>
            <a:ext cx="3456000" cy="612000"/>
          </a:xfrm>
          <a:prstGeom prst="rect">
            <a:avLst/>
          </a:prstGeom>
          <a:noFill/>
        </p:spPr>
        <p:txBody>
          <a:bodyPr wrap="square" lIns="36000" rIns="36000" tIns="18000" bIns="18000" anchor="ctr">
            <a:spAutoFit/>
          </a:bodyPr>
          <a:lstStyle/>
          <a:p>
            <a:pPr algn="l"/>
            <a:r>
              <a:rPr sz="1050" b="0" i="0">
                <a:solidFill>
                  <a:srgbClr val="35302B"/>
                </a:solidFill>
                <a:latin typeface="Yu Gothic"/>
              </a:rPr>
              <a:t>本人・家族を</a:t>
            </a:r>
          </a:p>
          <a:p>
            <a:pPr algn="l"/>
            <a:r>
              <a:rPr sz="1050" b="0" i="0">
                <a:solidFill>
                  <a:srgbClr val="35302B"/>
                </a:solidFill>
                <a:latin typeface="Yu Gothic"/>
              </a:rPr>
              <a:t>継続的な支えにつなぐ</a:t>
            </a:r>
          </a:p>
        </p:txBody>
      </p:sp>
      <p:sp>
        <p:nvSpPr>
          <p:cNvPr id="32" name="Rectangle 31"/>
          <p:cNvSpPr/>
          <p:nvPr/>
        </p:nvSpPr>
        <p:spPr>
          <a:xfrm>
            <a:off x="432000" y="5580000"/>
            <a:ext cx="11304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4000" y="561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「フォーマル」だけでなく「インフォーマル」も</a:t>
            </a:r>
          </a:p>
        </p:txBody>
      </p:sp>
      <p:sp>
        <p:nvSpPr>
          <p:cNvPr id="34" name="Rectangle 33"/>
          <p:cNvSpPr/>
          <p:nvPr/>
        </p:nvSpPr>
        <p:spPr>
          <a:xfrm>
            <a:off x="432000" y="5940000"/>
            <a:ext cx="11304000" cy="432000"/>
          </a:xfrm>
          <a:prstGeom prst="rect">
            <a:avLst/>
          </a:prstGeom>
          <a:solidFill>
            <a:srgbClr val="E4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0000" y="5976000"/>
            <a:ext cx="11088000" cy="396000"/>
          </a:xfrm>
          <a:prstGeom prst="rect">
            <a:avLst/>
          </a:prstGeom>
          <a:noFill/>
        </p:spPr>
        <p:txBody>
          <a:bodyPr wrap="square" lIns="36000" rIns="36000" tIns="18000" bIns="18000" anchor="t">
            <a:spAutoFit/>
          </a:bodyPr>
          <a:lstStyle/>
          <a:p>
            <a:pPr algn="l"/>
            <a:r>
              <a:rPr sz="1200" b="0" i="0">
                <a:solidFill>
                  <a:srgbClr val="35302B"/>
                </a:solidFill>
                <a:latin typeface="Yu Gothic"/>
              </a:rPr>
              <a:t>■ 介護保険サービス以外の、地域のつながり・居場所・支え合いを知り、つなぐのもCMの役割</a:t>
            </a:r>
          </a:p>
          <a:p>
            <a:pPr algn="l"/>
            <a:r>
              <a:rPr sz="1200" b="0" i="0">
                <a:solidFill>
                  <a:srgbClr val="35302B"/>
                </a:solidFill>
                <a:latin typeface="Yu Gothic"/>
              </a:rPr>
              <a:t>■ 主任CMは、地域ケア会議等を通じて、足りない資源を地域とともに育てる視点を持つ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地域共生に向けた実践</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権利擁護 ― 意思と暮らしを守るしくみ</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26 / 32</a:t>
            </a:r>
          </a:p>
        </p:txBody>
      </p:sp>
      <p:sp>
        <p:nvSpPr>
          <p:cNvPr id="8" name="Rectangle 7"/>
          <p:cNvSpPr/>
          <p:nvPr/>
        </p:nvSpPr>
        <p:spPr>
          <a:xfrm>
            <a:off x="432000" y="154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認知症の進行とともに高まる権利擁護のニーズ</a:t>
            </a:r>
          </a:p>
        </p:txBody>
      </p:sp>
      <p:sp>
        <p:nvSpPr>
          <p:cNvPr id="10" name="Rectangle 9"/>
          <p:cNvSpPr/>
          <p:nvPr/>
        </p:nvSpPr>
        <p:spPr>
          <a:xfrm>
            <a:off x="432000" y="1908000"/>
            <a:ext cx="11304000" cy="467999"/>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35302B"/>
                </a:solidFill>
                <a:latin typeface="Yu Gothic"/>
              </a:rPr>
              <a:t>判断能力が低下しても、本人の意思と財産・暮らしが守られるよう、</a:t>
            </a:r>
          </a:p>
          <a:p>
            <a:pPr algn="l"/>
            <a:r>
              <a:rPr sz="1200" b="0" i="0">
                <a:solidFill>
                  <a:srgbClr val="35302B"/>
                </a:solidFill>
                <a:latin typeface="Yu Gothic"/>
              </a:rPr>
              <a:t>制度を「本人の意思を実現する道具」として活用する。</a:t>
            </a:r>
          </a:p>
        </p:txBody>
      </p:sp>
      <p:sp>
        <p:nvSpPr>
          <p:cNvPr id="12" name="Rectangle 11"/>
          <p:cNvSpPr/>
          <p:nvPr/>
        </p:nvSpPr>
        <p:spPr>
          <a:xfrm>
            <a:off x="444061" y="2592000"/>
            <a:ext cx="3671999" cy="54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061" y="2592000"/>
            <a:ext cx="3671999" cy="540000"/>
          </a:xfrm>
          <a:prstGeom prst="rect">
            <a:avLst/>
          </a:prstGeom>
          <a:noFill/>
        </p:spPr>
        <p:txBody>
          <a:bodyPr wrap="square" lIns="36000" rIns="36000" tIns="18000" bIns="18000" anchor="ctr">
            <a:spAutoFit/>
          </a:bodyPr>
          <a:lstStyle/>
          <a:p>
            <a:pPr algn="ctr"/>
            <a:r>
              <a:rPr sz="1400" b="1" i="0">
                <a:solidFill>
                  <a:srgbClr val="FFFFFF"/>
                </a:solidFill>
                <a:latin typeface="Yu Gothic"/>
              </a:rPr>
              <a:t>成年後見制度</a:t>
            </a:r>
          </a:p>
        </p:txBody>
      </p:sp>
      <p:sp>
        <p:nvSpPr>
          <p:cNvPr id="14" name="Rectangle 13"/>
          <p:cNvSpPr/>
          <p:nvPr/>
        </p:nvSpPr>
        <p:spPr>
          <a:xfrm>
            <a:off x="444061" y="3132000"/>
            <a:ext cx="3671999" cy="198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061" y="3276000"/>
            <a:ext cx="3383999" cy="1692001"/>
          </a:xfrm>
          <a:prstGeom prst="rect">
            <a:avLst/>
          </a:prstGeom>
          <a:noFill/>
        </p:spPr>
        <p:txBody>
          <a:bodyPr wrap="square" lIns="36000" rIns="36000" tIns="18000" bIns="18000" anchor="t">
            <a:spAutoFit/>
          </a:bodyPr>
          <a:lstStyle/>
          <a:p>
            <a:pPr algn="l">
              <a:lnSpc>
                <a:spcPct val="150000"/>
              </a:lnSpc>
            </a:pPr>
            <a:r>
              <a:rPr sz="1100" b="0" i="0">
                <a:solidFill>
                  <a:srgbClr val="35302B"/>
                </a:solidFill>
                <a:latin typeface="Yu Gothic"/>
              </a:rPr>
              <a:t>・判断能力が不十分な人の</a:t>
            </a:r>
          </a:p>
          <a:p>
            <a:pPr algn="l">
              <a:lnSpc>
                <a:spcPct val="150000"/>
              </a:lnSpc>
            </a:pPr>
            <a:r>
              <a:rPr sz="1100" b="0" i="0">
                <a:solidFill>
                  <a:srgbClr val="35302B"/>
                </a:solidFill>
                <a:latin typeface="Yu Gothic"/>
              </a:rPr>
              <a:t>  財産管理・身上保護を支える</a:t>
            </a:r>
          </a:p>
          <a:p>
            <a:pPr algn="l">
              <a:lnSpc>
                <a:spcPct val="150000"/>
              </a:lnSpc>
            </a:pPr>
            <a:r>
              <a:rPr sz="1100" b="0" i="0">
                <a:solidFill>
                  <a:srgbClr val="35302B"/>
                </a:solidFill>
                <a:latin typeface="Yu Gothic"/>
              </a:rPr>
              <a:t>・本人の意思尊重が制度の基本</a:t>
            </a:r>
          </a:p>
          <a:p>
            <a:pPr algn="l">
              <a:lnSpc>
                <a:spcPct val="150000"/>
              </a:lnSpc>
            </a:pPr>
            <a:r>
              <a:rPr sz="1100" b="0" i="0">
                <a:solidFill>
                  <a:srgbClr val="35302B"/>
                </a:solidFill>
                <a:latin typeface="Yu Gothic"/>
              </a:rPr>
              <a:t>・市民後見人の活用も広がる</a:t>
            </a:r>
          </a:p>
        </p:txBody>
      </p:sp>
      <p:sp>
        <p:nvSpPr>
          <p:cNvPr id="16" name="Rectangle 15"/>
          <p:cNvSpPr/>
          <p:nvPr/>
        </p:nvSpPr>
        <p:spPr>
          <a:xfrm>
            <a:off x="4260060" y="2592000"/>
            <a:ext cx="3671999" cy="54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60060" y="2592000"/>
            <a:ext cx="3671999" cy="540000"/>
          </a:xfrm>
          <a:prstGeom prst="rect">
            <a:avLst/>
          </a:prstGeom>
          <a:noFill/>
        </p:spPr>
        <p:txBody>
          <a:bodyPr wrap="square" lIns="36000" rIns="36000" tIns="18000" bIns="18000" anchor="ctr">
            <a:spAutoFit/>
          </a:bodyPr>
          <a:lstStyle/>
          <a:p>
            <a:pPr algn="ctr"/>
            <a:r>
              <a:rPr sz="1400" b="1" i="0">
                <a:solidFill>
                  <a:srgbClr val="FFFFFF"/>
                </a:solidFill>
                <a:latin typeface="Yu Gothic"/>
              </a:rPr>
              <a:t>日常生活自立</a:t>
            </a:r>
          </a:p>
          <a:p>
            <a:pPr algn="ctr"/>
            <a:r>
              <a:rPr sz="1400" b="1" i="0">
                <a:solidFill>
                  <a:srgbClr val="FFFFFF"/>
                </a:solidFill>
                <a:latin typeface="Yu Gothic"/>
              </a:rPr>
              <a:t>支援事業</a:t>
            </a:r>
          </a:p>
        </p:txBody>
      </p:sp>
      <p:sp>
        <p:nvSpPr>
          <p:cNvPr id="18" name="Rectangle 17"/>
          <p:cNvSpPr/>
          <p:nvPr/>
        </p:nvSpPr>
        <p:spPr>
          <a:xfrm>
            <a:off x="4260060" y="3132000"/>
            <a:ext cx="3671999" cy="198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060" y="3276000"/>
            <a:ext cx="3383999" cy="1692001"/>
          </a:xfrm>
          <a:prstGeom prst="rect">
            <a:avLst/>
          </a:prstGeom>
          <a:noFill/>
        </p:spPr>
        <p:txBody>
          <a:bodyPr wrap="square" lIns="36000" rIns="36000" tIns="18000" bIns="18000" anchor="t">
            <a:spAutoFit/>
          </a:bodyPr>
          <a:lstStyle/>
          <a:p>
            <a:pPr algn="l">
              <a:lnSpc>
                <a:spcPct val="150000"/>
              </a:lnSpc>
            </a:pPr>
            <a:r>
              <a:rPr sz="1100" b="0" i="0">
                <a:solidFill>
                  <a:srgbClr val="35302B"/>
                </a:solidFill>
                <a:latin typeface="Yu Gothic"/>
              </a:rPr>
              <a:t>・福祉サービスの利用援助</a:t>
            </a:r>
          </a:p>
          <a:p>
            <a:pPr algn="l">
              <a:lnSpc>
                <a:spcPct val="150000"/>
              </a:lnSpc>
            </a:pPr>
            <a:r>
              <a:rPr sz="1100" b="0" i="0">
                <a:solidFill>
                  <a:srgbClr val="35302B"/>
                </a:solidFill>
                <a:latin typeface="Yu Gothic"/>
              </a:rPr>
              <a:t>・日常的な金銭管理の支援</a:t>
            </a:r>
          </a:p>
          <a:p>
            <a:pPr algn="l">
              <a:lnSpc>
                <a:spcPct val="150000"/>
              </a:lnSpc>
            </a:pPr>
            <a:r>
              <a:rPr sz="1100" b="0" i="0">
                <a:solidFill>
                  <a:srgbClr val="35302B"/>
                </a:solidFill>
                <a:latin typeface="Yu Gothic"/>
              </a:rPr>
              <a:t>・成年後見より軽度な段階で</a:t>
            </a:r>
          </a:p>
          <a:p>
            <a:pPr algn="l">
              <a:lnSpc>
                <a:spcPct val="150000"/>
              </a:lnSpc>
            </a:pPr>
            <a:r>
              <a:rPr sz="1100" b="0" i="0">
                <a:solidFill>
                  <a:srgbClr val="35302B"/>
                </a:solidFill>
                <a:latin typeface="Yu Gothic"/>
              </a:rPr>
              <a:t>  社会福祉協議会が実施</a:t>
            </a:r>
          </a:p>
        </p:txBody>
      </p:sp>
      <p:sp>
        <p:nvSpPr>
          <p:cNvPr id="20" name="Rectangle 19"/>
          <p:cNvSpPr/>
          <p:nvPr/>
        </p:nvSpPr>
        <p:spPr>
          <a:xfrm>
            <a:off x="8076059" y="2592000"/>
            <a:ext cx="3671999" cy="540000"/>
          </a:xfrm>
          <a:prstGeom prst="rect">
            <a:avLst/>
          </a:prstGeom>
          <a:solidFill>
            <a:srgbClr val="6B4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6059" y="2592000"/>
            <a:ext cx="3671999" cy="540000"/>
          </a:xfrm>
          <a:prstGeom prst="rect">
            <a:avLst/>
          </a:prstGeom>
          <a:noFill/>
        </p:spPr>
        <p:txBody>
          <a:bodyPr wrap="square" lIns="36000" rIns="36000" tIns="18000" bIns="18000" anchor="ctr">
            <a:spAutoFit/>
          </a:bodyPr>
          <a:lstStyle/>
          <a:p>
            <a:pPr algn="ctr"/>
            <a:r>
              <a:rPr sz="1400" b="1" i="0">
                <a:solidFill>
                  <a:srgbClr val="FFFFFF"/>
                </a:solidFill>
                <a:latin typeface="Yu Gothic"/>
              </a:rPr>
              <a:t>虐待防止・</a:t>
            </a:r>
          </a:p>
          <a:p>
            <a:pPr algn="ctr"/>
            <a:r>
              <a:rPr sz="1400" b="1" i="0">
                <a:solidFill>
                  <a:srgbClr val="FFFFFF"/>
                </a:solidFill>
                <a:latin typeface="Yu Gothic"/>
              </a:rPr>
              <a:t>消費者被害対策</a:t>
            </a:r>
          </a:p>
        </p:txBody>
      </p:sp>
      <p:sp>
        <p:nvSpPr>
          <p:cNvPr id="22" name="Rectangle 21"/>
          <p:cNvSpPr/>
          <p:nvPr/>
        </p:nvSpPr>
        <p:spPr>
          <a:xfrm>
            <a:off x="8076059" y="3132000"/>
            <a:ext cx="3671999" cy="1980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059" y="3276000"/>
            <a:ext cx="3383999" cy="1692001"/>
          </a:xfrm>
          <a:prstGeom prst="rect">
            <a:avLst/>
          </a:prstGeom>
          <a:noFill/>
        </p:spPr>
        <p:txBody>
          <a:bodyPr wrap="square" lIns="36000" rIns="36000" tIns="18000" bIns="18000" anchor="t">
            <a:spAutoFit/>
          </a:bodyPr>
          <a:lstStyle/>
          <a:p>
            <a:pPr algn="l">
              <a:lnSpc>
                <a:spcPct val="150000"/>
              </a:lnSpc>
            </a:pPr>
            <a:r>
              <a:rPr sz="1100" b="0" i="0">
                <a:solidFill>
                  <a:srgbClr val="35302B"/>
                </a:solidFill>
                <a:latin typeface="Yu Gothic"/>
              </a:rPr>
              <a:t>・高齢者虐待への気づきと対応</a:t>
            </a:r>
          </a:p>
          <a:p>
            <a:pPr algn="l">
              <a:lnSpc>
                <a:spcPct val="150000"/>
              </a:lnSpc>
            </a:pPr>
            <a:r>
              <a:rPr sz="1100" b="0" i="0">
                <a:solidFill>
                  <a:srgbClr val="35302B"/>
                </a:solidFill>
                <a:latin typeface="Yu Gothic"/>
              </a:rPr>
              <a:t>  (第6弾の学びと連動)</a:t>
            </a:r>
          </a:p>
          <a:p>
            <a:pPr algn="l">
              <a:lnSpc>
                <a:spcPct val="150000"/>
              </a:lnSpc>
            </a:pPr>
            <a:r>
              <a:rPr sz="1100" b="0" i="0">
                <a:solidFill>
                  <a:srgbClr val="35302B"/>
                </a:solidFill>
                <a:latin typeface="Yu Gothic"/>
              </a:rPr>
              <a:t>・悪質商法・特殊詐欺からの保護</a:t>
            </a:r>
          </a:p>
          <a:p>
            <a:pPr algn="l">
              <a:lnSpc>
                <a:spcPct val="150000"/>
              </a:lnSpc>
            </a:pPr>
            <a:r>
              <a:rPr sz="1100" b="0" i="0">
                <a:solidFill>
                  <a:srgbClr val="35302B"/>
                </a:solidFill>
                <a:latin typeface="Yu Gothic"/>
              </a:rPr>
              <a:t>・地域包括・行政と連携</a:t>
            </a:r>
          </a:p>
        </p:txBody>
      </p:sp>
      <p:sp>
        <p:nvSpPr>
          <p:cNvPr id="24" name="Rectangle 23"/>
          <p:cNvSpPr/>
          <p:nvPr/>
        </p:nvSpPr>
        <p:spPr>
          <a:xfrm>
            <a:off x="432000" y="5292000"/>
            <a:ext cx="11304000" cy="360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5328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権利擁護も「意思決定支援」が出発点</a:t>
            </a:r>
          </a:p>
        </p:txBody>
      </p:sp>
      <p:sp>
        <p:nvSpPr>
          <p:cNvPr id="26" name="Rectangle 25"/>
          <p:cNvSpPr/>
          <p:nvPr/>
        </p:nvSpPr>
        <p:spPr>
          <a:xfrm>
            <a:off x="432000" y="5652000"/>
            <a:ext cx="11304000" cy="467999"/>
          </a:xfrm>
          <a:prstGeom prst="rect">
            <a:avLst/>
          </a:prstGeom>
          <a:solidFill>
            <a:srgbClr val="FA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688000"/>
            <a:ext cx="11088000" cy="431999"/>
          </a:xfrm>
          <a:prstGeom prst="rect">
            <a:avLst/>
          </a:prstGeom>
          <a:noFill/>
        </p:spPr>
        <p:txBody>
          <a:bodyPr wrap="square" lIns="36000" rIns="36000" tIns="18000" bIns="18000" anchor="t">
            <a:spAutoFit/>
          </a:bodyPr>
          <a:lstStyle/>
          <a:p>
            <a:pPr algn="l"/>
            <a:r>
              <a:rPr sz="1200" b="0" i="0">
                <a:solidFill>
                  <a:srgbClr val="35302B"/>
                </a:solidFill>
                <a:latin typeface="Yu Gothic"/>
              </a:rPr>
              <a:t>■ 制度につなぐ前に、まず本人の意思決定支援を尽くす ■ 制度利用後も、本人の意思を中心に</a:t>
            </a:r>
          </a:p>
          <a:p>
            <a:pPr algn="l"/>
            <a:r>
              <a:rPr sz="1200" b="0" i="0">
                <a:solidFill>
                  <a:srgbClr val="35302B"/>
                </a:solidFill>
                <a:latin typeface="Yu Gothic"/>
              </a:rPr>
              <a:t>■ ニーズの早期発見はCMの役割 ― 「気づいたら、地域包括・行政につなぐ」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FFFFFF"/>
                </a:solidFill>
                <a:latin typeface="Yu Gothic"/>
              </a:rPr>
              <a:t>PART 6</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まとめ</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FAF1DA"/>
                </a:solidFill>
                <a:latin typeface="Yu Gothic"/>
              </a:rPr>
              <a:t>Wrap Up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Closing</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認知症ケアマネジメントにおける主任CMの役割</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28 / 32</a:t>
            </a:r>
          </a:p>
        </p:txBody>
      </p:sp>
      <p:sp>
        <p:nvSpPr>
          <p:cNvPr id="8" name="Rectangle 7"/>
          <p:cNvSpPr/>
          <p:nvPr/>
        </p:nvSpPr>
        <p:spPr>
          <a:xfrm>
            <a:off x="432000" y="1620000"/>
            <a:ext cx="5580000" cy="360000"/>
          </a:xfrm>
          <a:prstGeom prst="rect">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162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実践のモデルを示す</a:t>
            </a:r>
          </a:p>
        </p:txBody>
      </p:sp>
      <p:sp>
        <p:nvSpPr>
          <p:cNvPr id="10" name="Rectangle 9"/>
          <p:cNvSpPr/>
          <p:nvPr/>
        </p:nvSpPr>
        <p:spPr>
          <a:xfrm>
            <a:off x="432000" y="1980000"/>
            <a:ext cx="5580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・本人中心・意思決定支援の実践を、</a:t>
            </a:r>
          </a:p>
          <a:p>
            <a:pPr algn="l">
              <a:lnSpc>
                <a:spcPct val="140000"/>
              </a:lnSpc>
            </a:pPr>
            <a:r>
              <a:rPr sz="1200" b="0" i="0">
                <a:solidFill>
                  <a:srgbClr val="35302B"/>
                </a:solidFill>
                <a:latin typeface="Yu Gothic"/>
              </a:rPr>
              <a:t>  自ら体現して見せる</a:t>
            </a:r>
          </a:p>
          <a:p>
            <a:pPr algn="l">
              <a:lnSpc>
                <a:spcPct val="140000"/>
              </a:lnSpc>
            </a:pPr>
            <a:r>
              <a:rPr sz="1200" b="0" i="0">
                <a:solidFill>
                  <a:srgbClr val="35302B"/>
                </a:solidFill>
                <a:latin typeface="Yu Gothic"/>
              </a:rPr>
              <a:t>・後輩CMの同行・SVで伝える</a:t>
            </a:r>
          </a:p>
        </p:txBody>
      </p:sp>
      <p:sp>
        <p:nvSpPr>
          <p:cNvPr id="12" name="Rectangle 11"/>
          <p:cNvSpPr/>
          <p:nvPr/>
        </p:nvSpPr>
        <p:spPr>
          <a:xfrm>
            <a:off x="6156000" y="1620000"/>
            <a:ext cx="5580000" cy="360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000" y="162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事業所の文化を育てる</a:t>
            </a:r>
          </a:p>
        </p:txBody>
      </p:sp>
      <p:sp>
        <p:nvSpPr>
          <p:cNvPr id="14" name="Rectangle 13"/>
          <p:cNvSpPr/>
          <p:nvPr/>
        </p:nvSpPr>
        <p:spPr>
          <a:xfrm>
            <a:off x="6156000" y="1980000"/>
            <a:ext cx="5580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・「本人に聴く」を当たり前にする</a:t>
            </a:r>
          </a:p>
          <a:p>
            <a:pPr algn="l">
              <a:lnSpc>
                <a:spcPct val="140000"/>
              </a:lnSpc>
            </a:pPr>
            <a:r>
              <a:rPr sz="1200" b="0" i="0">
                <a:solidFill>
                  <a:srgbClr val="35302B"/>
                </a:solidFill>
                <a:latin typeface="Yu Gothic"/>
              </a:rPr>
              <a:t>・ケアプランの主語を本人にする</a:t>
            </a:r>
          </a:p>
          <a:p>
            <a:pPr algn="l">
              <a:lnSpc>
                <a:spcPct val="140000"/>
              </a:lnSpc>
            </a:pPr>
            <a:r>
              <a:rPr sz="1200" b="0" i="0">
                <a:solidFill>
                  <a:srgbClr val="35302B"/>
                </a:solidFill>
                <a:latin typeface="Yu Gothic"/>
              </a:rPr>
              <a:t>・事例検討で認知症観を問い直す</a:t>
            </a:r>
          </a:p>
        </p:txBody>
      </p:sp>
      <p:sp>
        <p:nvSpPr>
          <p:cNvPr id="16" name="Rectangle 15"/>
          <p:cNvSpPr/>
          <p:nvPr/>
        </p:nvSpPr>
        <p:spPr>
          <a:xfrm>
            <a:off x="432000" y="3060000"/>
            <a:ext cx="5580000" cy="36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000" y="306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地域とつなぐ</a:t>
            </a:r>
          </a:p>
        </p:txBody>
      </p:sp>
      <p:sp>
        <p:nvSpPr>
          <p:cNvPr id="18" name="Rectangle 17"/>
          <p:cNvSpPr/>
          <p:nvPr/>
        </p:nvSpPr>
        <p:spPr>
          <a:xfrm>
            <a:off x="432000" y="3420000"/>
            <a:ext cx="5580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・地域資源を把握し、つなぐ</a:t>
            </a:r>
          </a:p>
          <a:p>
            <a:pPr algn="l">
              <a:lnSpc>
                <a:spcPct val="140000"/>
              </a:lnSpc>
            </a:pPr>
            <a:r>
              <a:rPr sz="1200" b="0" i="0">
                <a:solidFill>
                  <a:srgbClr val="35302B"/>
                </a:solidFill>
                <a:latin typeface="Yu Gothic"/>
              </a:rPr>
              <a:t>・足りない資源を地域と育てる</a:t>
            </a:r>
          </a:p>
          <a:p>
            <a:pPr algn="l">
              <a:lnSpc>
                <a:spcPct val="140000"/>
              </a:lnSpc>
            </a:pPr>
            <a:r>
              <a:rPr sz="1200" b="0" i="0">
                <a:solidFill>
                  <a:srgbClr val="35302B"/>
                </a:solidFill>
                <a:latin typeface="Yu Gothic"/>
              </a:rPr>
              <a:t>・地域ケア会議で課題を発信</a:t>
            </a:r>
          </a:p>
        </p:txBody>
      </p:sp>
      <p:sp>
        <p:nvSpPr>
          <p:cNvPr id="20" name="Rectangle 19"/>
          <p:cNvSpPr/>
          <p:nvPr/>
        </p:nvSpPr>
        <p:spPr>
          <a:xfrm>
            <a:off x="6156000" y="3060000"/>
            <a:ext cx="5580000" cy="360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000" y="306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学び続け、発信する</a:t>
            </a:r>
          </a:p>
        </p:txBody>
      </p:sp>
      <p:sp>
        <p:nvSpPr>
          <p:cNvPr id="22" name="Rectangle 21"/>
          <p:cNvSpPr/>
          <p:nvPr/>
        </p:nvSpPr>
        <p:spPr>
          <a:xfrm>
            <a:off x="6156000" y="3420000"/>
            <a:ext cx="5580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・基本法・ガイドラインの理解を深める</a:t>
            </a:r>
          </a:p>
          <a:p>
            <a:pPr algn="l">
              <a:lnSpc>
                <a:spcPct val="140000"/>
              </a:lnSpc>
            </a:pPr>
            <a:r>
              <a:rPr sz="1200" b="0" i="0">
                <a:solidFill>
                  <a:srgbClr val="35302B"/>
                </a:solidFill>
                <a:latin typeface="Yu Gothic"/>
              </a:rPr>
              <a:t>・当事者の声に学ぶ</a:t>
            </a:r>
          </a:p>
          <a:p>
            <a:pPr algn="l">
              <a:lnSpc>
                <a:spcPct val="140000"/>
              </a:lnSpc>
            </a:pPr>
            <a:r>
              <a:rPr sz="1200" b="0" i="0">
                <a:solidFill>
                  <a:srgbClr val="35302B"/>
                </a:solidFill>
                <a:latin typeface="Yu Gothic"/>
              </a:rPr>
              <a:t>・共生社会づくりの担い手になる</a:t>
            </a:r>
          </a:p>
        </p:txBody>
      </p:sp>
      <p:sp>
        <p:nvSpPr>
          <p:cNvPr id="24" name="Rectangle 23"/>
          <p:cNvSpPr/>
          <p:nvPr/>
        </p:nvSpPr>
        <p:spPr>
          <a:xfrm>
            <a:off x="432000" y="4788000"/>
            <a:ext cx="11304000" cy="360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基本法の理念を、現場の実践に翻訳する</a:t>
            </a:r>
          </a:p>
        </p:txBody>
      </p:sp>
      <p:sp>
        <p:nvSpPr>
          <p:cNvPr id="26" name="Rectangle 25"/>
          <p:cNvSpPr/>
          <p:nvPr/>
        </p:nvSpPr>
        <p:spPr>
          <a:xfrm>
            <a:off x="432000" y="5148000"/>
            <a:ext cx="11304000" cy="97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184000"/>
            <a:ext cx="11088000" cy="936000"/>
          </a:xfrm>
          <a:prstGeom prst="rect">
            <a:avLst/>
          </a:prstGeom>
          <a:noFill/>
        </p:spPr>
        <p:txBody>
          <a:bodyPr wrap="square" lIns="36000" rIns="36000" tIns="18000" bIns="18000" anchor="t">
            <a:spAutoFit/>
          </a:bodyPr>
          <a:lstStyle/>
          <a:p>
            <a:pPr algn="l"/>
            <a:r>
              <a:rPr sz="1300" b="0" i="0">
                <a:solidFill>
                  <a:srgbClr val="35302B"/>
                </a:solidFill>
                <a:latin typeface="Yu Gothic"/>
              </a:rPr>
              <a:t>■ 「共生社会」「意思の尊重」という理念は、現場の一つひとつの関わりの中で実現される</a:t>
            </a:r>
          </a:p>
          <a:p>
            <a:pPr algn="l"/>
            <a:r>
              <a:rPr sz="1300" b="0" i="0">
                <a:solidFill>
                  <a:srgbClr val="35302B"/>
                </a:solidFill>
                <a:latin typeface="Yu Gothic"/>
              </a:rPr>
              <a:t>■ 主任CMは、理念と現場をつなぐ「翻訳者」 ― 抽象的な理念を、明日の実践に変える</a:t>
            </a:r>
          </a:p>
          <a:p>
            <a:pPr algn="l"/>
            <a:r>
              <a:rPr sz="1300" b="0" i="0">
                <a:solidFill>
                  <a:srgbClr val="35302B"/>
                </a:solidFill>
                <a:latin typeface="Yu Gothic"/>
              </a:rPr>
              <a:t>■ その積み重ねが、認知症になっても希望を持って暮らせる地域をつくっていく</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Closing</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明日からの 3 つのアクション</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29 / 32</a:t>
            </a:r>
          </a:p>
        </p:txBody>
      </p:sp>
      <p:sp>
        <p:nvSpPr>
          <p:cNvPr id="8" name="Rectangle 7"/>
          <p:cNvSpPr/>
          <p:nvPr/>
        </p:nvSpPr>
        <p:spPr>
          <a:xfrm>
            <a:off x="432000" y="1620000"/>
            <a:ext cx="1620000" cy="1332000"/>
          </a:xfrm>
          <a:prstGeom prst="rect">
            <a:avLst/>
          </a:prstGeom>
          <a:solidFill>
            <a:srgbClr val="D97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76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1</a:t>
            </a:r>
          </a:p>
        </p:txBody>
      </p:sp>
      <p:sp>
        <p:nvSpPr>
          <p:cNvPr id="10" name="TextBox 9"/>
          <p:cNvSpPr txBox="1"/>
          <p:nvPr/>
        </p:nvSpPr>
        <p:spPr>
          <a:xfrm>
            <a:off x="432000" y="216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1</a:t>
            </a:r>
          </a:p>
        </p:txBody>
      </p:sp>
      <p:sp>
        <p:nvSpPr>
          <p:cNvPr id="11" name="Rectangle 10"/>
          <p:cNvSpPr/>
          <p:nvPr/>
        </p:nvSpPr>
        <p:spPr>
          <a:xfrm>
            <a:off x="2052000" y="1620000"/>
            <a:ext cx="9708119" cy="133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60000" y="1728000"/>
            <a:ext cx="9492119" cy="360000"/>
          </a:xfrm>
          <a:prstGeom prst="rect">
            <a:avLst/>
          </a:prstGeom>
          <a:noFill/>
        </p:spPr>
        <p:txBody>
          <a:bodyPr wrap="square" lIns="36000" rIns="36000" tIns="18000" bIns="18000" anchor="t">
            <a:spAutoFit/>
          </a:bodyPr>
          <a:lstStyle/>
          <a:p>
            <a:pPr algn="l"/>
            <a:r>
              <a:rPr sz="1600" b="1" i="0">
                <a:solidFill>
                  <a:srgbClr val="C2571C"/>
                </a:solidFill>
                <a:latin typeface="Yu Gothic"/>
              </a:rPr>
              <a:t>ケアプランの「主語」を点検する</a:t>
            </a:r>
          </a:p>
        </p:txBody>
      </p:sp>
      <p:sp>
        <p:nvSpPr>
          <p:cNvPr id="13" name="TextBox 12"/>
          <p:cNvSpPr txBox="1"/>
          <p:nvPr/>
        </p:nvSpPr>
        <p:spPr>
          <a:xfrm>
            <a:off x="2160000" y="212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・担当ケースのケアプランを見直し、主語が「本人」になっているか確認する</a:t>
            </a:r>
          </a:p>
          <a:p>
            <a:pPr algn="l">
              <a:lnSpc>
                <a:spcPct val="140000"/>
              </a:lnSpc>
            </a:pPr>
            <a:r>
              <a:rPr sz="1200" b="0" i="0">
                <a:solidFill>
                  <a:srgbClr val="35302B"/>
                </a:solidFill>
                <a:latin typeface="Yu Gothic"/>
              </a:rPr>
              <a:t>・「させる」「させられる」表現を、本人の願い・意思の言葉に書き換える</a:t>
            </a:r>
          </a:p>
        </p:txBody>
      </p:sp>
      <p:sp>
        <p:nvSpPr>
          <p:cNvPr id="14" name="Rectangle 13"/>
          <p:cNvSpPr/>
          <p:nvPr/>
        </p:nvSpPr>
        <p:spPr>
          <a:xfrm>
            <a:off x="432000" y="3060000"/>
            <a:ext cx="1620000" cy="1332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000" y="320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2</a:t>
            </a:r>
          </a:p>
        </p:txBody>
      </p:sp>
      <p:sp>
        <p:nvSpPr>
          <p:cNvPr id="16" name="TextBox 15"/>
          <p:cNvSpPr txBox="1"/>
          <p:nvPr/>
        </p:nvSpPr>
        <p:spPr>
          <a:xfrm>
            <a:off x="432000" y="360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2</a:t>
            </a:r>
          </a:p>
        </p:txBody>
      </p:sp>
      <p:sp>
        <p:nvSpPr>
          <p:cNvPr id="17" name="Rectangle 16"/>
          <p:cNvSpPr/>
          <p:nvPr/>
        </p:nvSpPr>
        <p:spPr>
          <a:xfrm>
            <a:off x="2052000" y="3060000"/>
            <a:ext cx="9708119" cy="133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0" y="3168000"/>
            <a:ext cx="9492119" cy="360000"/>
          </a:xfrm>
          <a:prstGeom prst="rect">
            <a:avLst/>
          </a:prstGeom>
          <a:noFill/>
        </p:spPr>
        <p:txBody>
          <a:bodyPr wrap="square" lIns="36000" rIns="36000" tIns="18000" bIns="18000" anchor="t">
            <a:spAutoFit/>
          </a:bodyPr>
          <a:lstStyle/>
          <a:p>
            <a:pPr algn="l"/>
            <a:r>
              <a:rPr sz="1600" b="1" i="0">
                <a:solidFill>
                  <a:srgbClr val="C2571C"/>
                </a:solidFill>
                <a:latin typeface="Yu Gothic"/>
              </a:rPr>
              <a:t>「本人に直接聴く」を意識する</a:t>
            </a:r>
          </a:p>
        </p:txBody>
      </p:sp>
      <p:sp>
        <p:nvSpPr>
          <p:cNvPr id="19" name="TextBox 18"/>
          <p:cNvSpPr txBox="1"/>
          <p:nvPr/>
        </p:nvSpPr>
        <p:spPr>
          <a:xfrm>
            <a:off x="2160000" y="356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・次の訪問・面談で、家族を介さず本人自身に問いかける場面を意識的につくる</a:t>
            </a:r>
          </a:p>
          <a:p>
            <a:pPr algn="l">
              <a:lnSpc>
                <a:spcPct val="140000"/>
              </a:lnSpc>
            </a:pPr>
            <a:r>
              <a:rPr sz="1200" b="0" i="0">
                <a:solidFill>
                  <a:srgbClr val="35302B"/>
                </a:solidFill>
                <a:latin typeface="Yu Gothic"/>
              </a:rPr>
              <a:t>・選択肢を具体的に示し、本人のペースで答えを待つ</a:t>
            </a:r>
          </a:p>
        </p:txBody>
      </p:sp>
      <p:sp>
        <p:nvSpPr>
          <p:cNvPr id="20" name="Rectangle 19"/>
          <p:cNvSpPr/>
          <p:nvPr/>
        </p:nvSpPr>
        <p:spPr>
          <a:xfrm>
            <a:off x="432000" y="4500000"/>
            <a:ext cx="1620000" cy="1332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000" y="464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3</a:t>
            </a:r>
          </a:p>
        </p:txBody>
      </p:sp>
      <p:sp>
        <p:nvSpPr>
          <p:cNvPr id="22" name="TextBox 21"/>
          <p:cNvSpPr txBox="1"/>
          <p:nvPr/>
        </p:nvSpPr>
        <p:spPr>
          <a:xfrm>
            <a:off x="432000" y="504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3</a:t>
            </a:r>
          </a:p>
        </p:txBody>
      </p:sp>
      <p:sp>
        <p:nvSpPr>
          <p:cNvPr id="23" name="Rectangle 22"/>
          <p:cNvSpPr/>
          <p:nvPr/>
        </p:nvSpPr>
        <p:spPr>
          <a:xfrm>
            <a:off x="2052000" y="4500000"/>
            <a:ext cx="9708119" cy="1332000"/>
          </a:xfrm>
          <a:prstGeom prst="rect">
            <a:avLst/>
          </a:prstGeom>
          <a:solidFill>
            <a:srgbClr val="F0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0000" y="4608000"/>
            <a:ext cx="9492119" cy="360000"/>
          </a:xfrm>
          <a:prstGeom prst="rect">
            <a:avLst/>
          </a:prstGeom>
          <a:noFill/>
        </p:spPr>
        <p:txBody>
          <a:bodyPr wrap="square" lIns="36000" rIns="36000" tIns="18000" bIns="18000" anchor="t">
            <a:spAutoFit/>
          </a:bodyPr>
          <a:lstStyle/>
          <a:p>
            <a:pPr algn="l"/>
            <a:r>
              <a:rPr sz="1600" b="1" i="0">
                <a:solidFill>
                  <a:srgbClr val="C2571C"/>
                </a:solidFill>
                <a:latin typeface="Yu Gothic"/>
              </a:rPr>
              <a:t>地域資源を1つ、訪ねてみる</a:t>
            </a:r>
          </a:p>
        </p:txBody>
      </p:sp>
      <p:sp>
        <p:nvSpPr>
          <p:cNvPr id="25" name="TextBox 24"/>
          <p:cNvSpPr txBox="1"/>
          <p:nvPr/>
        </p:nvSpPr>
        <p:spPr>
          <a:xfrm>
            <a:off x="2160000" y="500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35302B"/>
                </a:solidFill>
                <a:latin typeface="Yu Gothic"/>
              </a:rPr>
              <a:t>・担当圏域の認知症カフェ・本人ミーティング等を調べ、一度足を運ぶ</a:t>
            </a:r>
          </a:p>
          <a:p>
            <a:pPr algn="l">
              <a:lnSpc>
                <a:spcPct val="140000"/>
              </a:lnSpc>
            </a:pPr>
            <a:r>
              <a:rPr sz="1200" b="0" i="0">
                <a:solidFill>
                  <a:srgbClr val="35302B"/>
                </a:solidFill>
                <a:latin typeface="Yu Gothic"/>
              </a:rPr>
              <a:t>・認知症地域支援推進員と顔をつなぎ、つなぎ先を増やす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20000"/>
            <a:ext cx="12192119" cy="360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0"/>
            <a:ext cx="10752119" cy="360000"/>
          </a:xfrm>
          <a:prstGeom prst="rect">
            <a:avLst/>
          </a:prstGeom>
          <a:noFill/>
        </p:spPr>
        <p:txBody>
          <a:bodyPr wrap="square" lIns="36000" rIns="36000" tIns="18000" bIns="18000" anchor="t">
            <a:spAutoFit/>
          </a:bodyPr>
          <a:lstStyle/>
          <a:p>
            <a:pPr algn="ctr"/>
            <a:r>
              <a:rPr sz="1400" b="1" i="0">
                <a:solidFill>
                  <a:srgbClr val="FAF1DA"/>
                </a:solidFill>
                <a:latin typeface="Yu Gothic"/>
              </a:rPr>
              <a:t>Closing Message</a:t>
            </a:r>
          </a:p>
        </p:txBody>
      </p:sp>
      <p:sp>
        <p:nvSpPr>
          <p:cNvPr id="5" name="TextBox 4"/>
          <p:cNvSpPr txBox="1"/>
          <p:nvPr/>
        </p:nvSpPr>
        <p:spPr>
          <a:xfrm>
            <a:off x="720000" y="2880000"/>
            <a:ext cx="10752119" cy="1080000"/>
          </a:xfrm>
          <a:prstGeom prst="rect">
            <a:avLst/>
          </a:prstGeom>
          <a:noFill/>
        </p:spPr>
        <p:txBody>
          <a:bodyPr wrap="square" lIns="36000" rIns="36000" tIns="18000" bIns="18000" anchor="t">
            <a:spAutoFit/>
          </a:bodyPr>
          <a:lstStyle/>
          <a:p>
            <a:pPr algn="ctr">
              <a:lnSpc>
                <a:spcPct val="140000"/>
              </a:lnSpc>
            </a:pPr>
            <a:r>
              <a:rPr sz="2500" b="1" i="0">
                <a:solidFill>
                  <a:srgbClr val="FFFFFF"/>
                </a:solidFill>
                <a:latin typeface="Yu Gothic"/>
              </a:rPr>
              <a:t>認知症になっても、その人の人生は</a:t>
            </a:r>
          </a:p>
          <a:p>
            <a:pPr algn="ctr">
              <a:lnSpc>
                <a:spcPct val="140000"/>
              </a:lnSpc>
            </a:pPr>
            <a:r>
              <a:rPr sz="2500" b="1" i="0">
                <a:solidFill>
                  <a:srgbClr val="FFFFFF"/>
                </a:solidFill>
                <a:latin typeface="Yu Gothic"/>
              </a:rPr>
              <a:t>続いていく ― 主役は、いつも本人。</a:t>
            </a:r>
          </a:p>
        </p:txBody>
      </p:sp>
      <p:sp>
        <p:nvSpPr>
          <p:cNvPr id="6" name="TextBox 5"/>
          <p:cNvSpPr txBox="1"/>
          <p:nvPr/>
        </p:nvSpPr>
        <p:spPr>
          <a:xfrm>
            <a:off x="1080000" y="4500000"/>
            <a:ext cx="10032119" cy="1080000"/>
          </a:xfrm>
          <a:prstGeom prst="rect">
            <a:avLst/>
          </a:prstGeom>
          <a:noFill/>
        </p:spPr>
        <p:txBody>
          <a:bodyPr wrap="square" lIns="36000" rIns="36000" tIns="18000" bIns="18000" anchor="t">
            <a:spAutoFit/>
          </a:bodyPr>
          <a:lstStyle/>
          <a:p>
            <a:pPr algn="ctr">
              <a:lnSpc>
                <a:spcPct val="160000"/>
              </a:lnSpc>
            </a:pPr>
            <a:r>
              <a:rPr sz="1400" b="0" i="0">
                <a:solidFill>
                  <a:srgbClr val="F6F1EB"/>
                </a:solidFill>
                <a:latin typeface="Yu Gothic"/>
              </a:rPr>
              <a:t>「どうせ分からない」ではなく「どう伝えれば分かり合えるか」。</a:t>
            </a:r>
          </a:p>
          <a:p>
            <a:pPr algn="ctr">
              <a:lnSpc>
                <a:spcPct val="160000"/>
              </a:lnSpc>
            </a:pPr>
            <a:r>
              <a:rPr sz="1400" b="0" i="0">
                <a:solidFill>
                  <a:srgbClr val="F6F1EB"/>
                </a:solidFill>
                <a:latin typeface="Yu Gothic"/>
              </a:rPr>
              <a:t>「何ができないか」ではなく「何を一緒にできるか」。</a:t>
            </a:r>
          </a:p>
          <a:p>
            <a:pPr algn="ctr">
              <a:lnSpc>
                <a:spcPct val="160000"/>
              </a:lnSpc>
            </a:pPr>
            <a:r>
              <a:rPr sz="1400" b="0" i="0">
                <a:solidFill>
                  <a:srgbClr val="F6F1EB"/>
                </a:solidFill>
                <a:latin typeface="Yu Gothic"/>
              </a:rPr>
              <a:t>その問いの立て方を変えることが、共生社会への確かな一歩になります。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Reference</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C2571C"/>
                </a:solidFill>
                <a:latin typeface="Yu Gothic"/>
              </a:rPr>
              <a:t>参考資料 ・ 情報源</a:t>
            </a:r>
          </a:p>
        </p:txBody>
      </p:sp>
      <p:sp>
        <p:nvSpPr>
          <p:cNvPr id="5" name="Rectangle 4"/>
          <p:cNvSpPr/>
          <p:nvPr/>
        </p:nvSpPr>
        <p:spPr>
          <a:xfrm>
            <a:off x="288000" y="1152000"/>
            <a:ext cx="900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E4A46E"/>
                </a:solidFill>
                <a:latin typeface="Yu Gothic"/>
              </a:rPr>
              <a:t>主任CM研修 / 認知症基本法施行後のケアマネジメント</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E4A46E"/>
                </a:solidFill>
                <a:latin typeface="Yu Gothic"/>
              </a:rPr>
              <a:t>31 / 32</a:t>
            </a:r>
          </a:p>
        </p:txBody>
      </p:sp>
      <p:sp>
        <p:nvSpPr>
          <p:cNvPr id="8" name="TextBox 7"/>
          <p:cNvSpPr txBox="1"/>
          <p:nvPr/>
        </p:nvSpPr>
        <p:spPr>
          <a:xfrm>
            <a:off x="720000" y="1620000"/>
            <a:ext cx="10752119" cy="360000"/>
          </a:xfrm>
          <a:prstGeom prst="rect">
            <a:avLst/>
          </a:prstGeom>
          <a:noFill/>
        </p:spPr>
        <p:txBody>
          <a:bodyPr wrap="square" lIns="36000" rIns="36000" tIns="18000" bIns="18000" anchor="t">
            <a:spAutoFit/>
          </a:bodyPr>
          <a:lstStyle/>
          <a:p>
            <a:pPr algn="l"/>
            <a:r>
              <a:rPr sz="1300" b="0" i="0">
                <a:solidFill>
                  <a:srgbClr val="35302B"/>
                </a:solidFill>
                <a:latin typeface="Yu Gothic"/>
              </a:rPr>
              <a:t>■ 共生社会の実現を推進するための認知症基本法(令和6年1月施行)</a:t>
            </a:r>
          </a:p>
        </p:txBody>
      </p:sp>
      <p:sp>
        <p:nvSpPr>
          <p:cNvPr id="9" name="TextBox 8"/>
          <p:cNvSpPr txBox="1"/>
          <p:nvPr/>
        </p:nvSpPr>
        <p:spPr>
          <a:xfrm>
            <a:off x="720000" y="2070000"/>
            <a:ext cx="10752119" cy="360000"/>
          </a:xfrm>
          <a:prstGeom prst="rect">
            <a:avLst/>
          </a:prstGeom>
          <a:noFill/>
        </p:spPr>
        <p:txBody>
          <a:bodyPr wrap="square" lIns="36000" rIns="36000" tIns="18000" bIns="18000" anchor="t">
            <a:spAutoFit/>
          </a:bodyPr>
          <a:lstStyle/>
          <a:p>
            <a:pPr algn="l"/>
            <a:r>
              <a:rPr sz="1300" b="0" i="0">
                <a:solidFill>
                  <a:srgbClr val="35302B"/>
                </a:solidFill>
                <a:latin typeface="Yu Gothic"/>
              </a:rPr>
              <a:t>■ 認知症施策推進基本計画(政府)/ 各都道府県・市町村の認知症施策推進計画</a:t>
            </a:r>
          </a:p>
        </p:txBody>
      </p:sp>
      <p:sp>
        <p:nvSpPr>
          <p:cNvPr id="10" name="TextBox 9"/>
          <p:cNvSpPr txBox="1"/>
          <p:nvPr/>
        </p:nvSpPr>
        <p:spPr>
          <a:xfrm>
            <a:off x="720000" y="2520000"/>
            <a:ext cx="10752119" cy="360000"/>
          </a:xfrm>
          <a:prstGeom prst="rect">
            <a:avLst/>
          </a:prstGeom>
          <a:noFill/>
        </p:spPr>
        <p:txBody>
          <a:bodyPr wrap="square" lIns="36000" rIns="36000" tIns="18000" bIns="18000" anchor="t">
            <a:spAutoFit/>
          </a:bodyPr>
          <a:lstStyle/>
          <a:p>
            <a:pPr algn="l"/>
            <a:r>
              <a:rPr sz="1300" b="0" i="0">
                <a:solidFill>
                  <a:srgbClr val="35302B"/>
                </a:solidFill>
                <a:latin typeface="Yu Gothic"/>
              </a:rPr>
              <a:t>■ 厚生労働省「認知症の人の日常生活・社会生活における意思決定支援ガイドライン」</a:t>
            </a:r>
          </a:p>
        </p:txBody>
      </p:sp>
      <p:sp>
        <p:nvSpPr>
          <p:cNvPr id="11" name="TextBox 10"/>
          <p:cNvSpPr txBox="1"/>
          <p:nvPr/>
        </p:nvSpPr>
        <p:spPr>
          <a:xfrm>
            <a:off x="720000" y="2970000"/>
            <a:ext cx="10752119" cy="360000"/>
          </a:xfrm>
          <a:prstGeom prst="rect">
            <a:avLst/>
          </a:prstGeom>
          <a:noFill/>
        </p:spPr>
        <p:txBody>
          <a:bodyPr wrap="square" lIns="36000" rIns="36000" tIns="18000" bIns="18000" anchor="t">
            <a:spAutoFit/>
          </a:bodyPr>
          <a:lstStyle/>
          <a:p>
            <a:pPr algn="l"/>
            <a:r>
              <a:rPr sz="1300" b="0" i="0">
                <a:solidFill>
                  <a:srgbClr val="35302B"/>
                </a:solidFill>
                <a:latin typeface="Yu Gothic"/>
              </a:rPr>
              <a:t>■ 厚生労働省「人生の最終段階における医療・ケアの決定プロセスに関するガイドライン」</a:t>
            </a:r>
          </a:p>
        </p:txBody>
      </p:sp>
      <p:sp>
        <p:nvSpPr>
          <p:cNvPr id="12" name="TextBox 11"/>
          <p:cNvSpPr txBox="1"/>
          <p:nvPr/>
        </p:nvSpPr>
        <p:spPr>
          <a:xfrm>
            <a:off x="720000" y="3420000"/>
            <a:ext cx="10752119" cy="360000"/>
          </a:xfrm>
          <a:prstGeom prst="rect">
            <a:avLst/>
          </a:prstGeom>
          <a:noFill/>
        </p:spPr>
        <p:txBody>
          <a:bodyPr wrap="square" lIns="36000" rIns="36000" tIns="18000" bIns="18000" anchor="t">
            <a:spAutoFit/>
          </a:bodyPr>
          <a:lstStyle/>
          <a:p>
            <a:pPr algn="l"/>
            <a:r>
              <a:rPr sz="1300" b="0" i="0">
                <a:solidFill>
                  <a:srgbClr val="35302B"/>
                </a:solidFill>
                <a:latin typeface="Yu Gothic"/>
              </a:rPr>
              <a:t>■ 認知症の本人・家族による発信、本人ミーティング・家族会等の活動</a:t>
            </a:r>
          </a:p>
        </p:txBody>
      </p:sp>
      <p:sp>
        <p:nvSpPr>
          <p:cNvPr id="13" name="TextBox 12"/>
          <p:cNvSpPr txBox="1"/>
          <p:nvPr/>
        </p:nvSpPr>
        <p:spPr>
          <a:xfrm>
            <a:off x="720000" y="3870000"/>
            <a:ext cx="10752119" cy="360000"/>
          </a:xfrm>
          <a:prstGeom prst="rect">
            <a:avLst/>
          </a:prstGeom>
          <a:noFill/>
        </p:spPr>
        <p:txBody>
          <a:bodyPr wrap="square" lIns="36000" rIns="36000" tIns="18000" bIns="18000" anchor="t">
            <a:spAutoFit/>
          </a:bodyPr>
          <a:lstStyle/>
          <a:p>
            <a:pPr algn="l"/>
            <a:r>
              <a:rPr sz="1300" b="0" i="0">
                <a:solidFill>
                  <a:srgbClr val="35302B"/>
                </a:solidFill>
                <a:latin typeface="Yu Gothic"/>
              </a:rPr>
              <a:t>■ 認知症地域支援推進員・認知症初期集中支援チーム等の地域資源情報</a:t>
            </a:r>
          </a:p>
        </p:txBody>
      </p:sp>
      <p:sp>
        <p:nvSpPr>
          <p:cNvPr id="14" name="TextBox 13"/>
          <p:cNvSpPr txBox="1"/>
          <p:nvPr/>
        </p:nvSpPr>
        <p:spPr>
          <a:xfrm>
            <a:off x="720000" y="4320000"/>
            <a:ext cx="10752119" cy="360000"/>
          </a:xfrm>
          <a:prstGeom prst="rect">
            <a:avLst/>
          </a:prstGeom>
          <a:noFill/>
        </p:spPr>
        <p:txBody>
          <a:bodyPr wrap="square" lIns="36000" rIns="36000" tIns="18000" bIns="18000" anchor="t">
            <a:spAutoFit/>
          </a:bodyPr>
          <a:lstStyle/>
          <a:p>
            <a:pPr algn="l"/>
            <a:r>
              <a:rPr sz="1300" b="0" i="0">
                <a:solidFill>
                  <a:srgbClr val="35302B"/>
                </a:solidFill>
                <a:latin typeface="Yu Gothic"/>
              </a:rPr>
              <a:t>■ 日本介護支援専門員協会等による認知症ケアマネジメント関連の研修資料</a:t>
            </a:r>
          </a:p>
        </p:txBody>
      </p:sp>
      <p:sp>
        <p:nvSpPr>
          <p:cNvPr id="15" name="Rectangle 14"/>
          <p:cNvSpPr/>
          <p:nvPr/>
        </p:nvSpPr>
        <p:spPr>
          <a:xfrm>
            <a:off x="432000" y="4788000"/>
            <a:ext cx="11304000" cy="360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学び続けるために</a:t>
            </a:r>
          </a:p>
        </p:txBody>
      </p:sp>
      <p:sp>
        <p:nvSpPr>
          <p:cNvPr id="17" name="Rectangle 16"/>
          <p:cNvSpPr/>
          <p:nvPr/>
        </p:nvSpPr>
        <p:spPr>
          <a:xfrm>
            <a:off x="432000" y="5148000"/>
            <a:ext cx="11304000" cy="972000"/>
          </a:xfrm>
          <a:prstGeom prst="rect">
            <a:avLst/>
          </a:prstGeom>
          <a:solidFill>
            <a:srgbClr val="FA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0000" y="5184000"/>
            <a:ext cx="11088000" cy="936000"/>
          </a:xfrm>
          <a:prstGeom prst="rect">
            <a:avLst/>
          </a:prstGeom>
          <a:noFill/>
        </p:spPr>
        <p:txBody>
          <a:bodyPr wrap="square" lIns="36000" rIns="36000" tIns="18000" bIns="18000" anchor="t">
            <a:spAutoFit/>
          </a:bodyPr>
          <a:lstStyle/>
          <a:p>
            <a:pPr algn="l"/>
            <a:r>
              <a:rPr sz="1200" b="0" i="0">
                <a:solidFill>
                  <a:srgbClr val="35302B"/>
                </a:solidFill>
                <a:latin typeface="Yu Gothic"/>
              </a:rPr>
              <a:t>■ 基本計画・自治体施策は更新されます。最新の法令・計画・ガイドラインをご確認ください</a:t>
            </a:r>
          </a:p>
          <a:p>
            <a:pPr algn="l"/>
            <a:r>
              <a:rPr sz="1200" b="0" i="0">
                <a:solidFill>
                  <a:srgbClr val="35302B"/>
                </a:solidFill>
                <a:latin typeface="Yu Gothic"/>
              </a:rPr>
              <a:t>■ 何より大切な学びの源は「認知症の本人の声」 ― 当事者の発信に直接ふれる機会を持つこと</a:t>
            </a:r>
          </a:p>
          <a:p>
            <a:pPr algn="l"/>
            <a:r>
              <a:rPr sz="1200" b="0" i="0">
                <a:solidFill>
                  <a:srgbClr val="35302B"/>
                </a:solidFill>
                <a:latin typeface="Yu Gothic"/>
              </a:rPr>
              <a:t>■ 本資料は 2026年5月時点の一般的な情報を基に構成しています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C25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60000" y="2700000"/>
            <a:ext cx="4248000" cy="43200"/>
          </a:xfrm>
          <a:prstGeom prst="rect">
            <a:avLst/>
          </a:prstGeom>
          <a:solidFill>
            <a:srgbClr val="3C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808000"/>
            <a:ext cx="10752119" cy="720000"/>
          </a:xfrm>
          <a:prstGeom prst="rect">
            <a:avLst/>
          </a:prstGeom>
          <a:noFill/>
        </p:spPr>
        <p:txBody>
          <a:bodyPr wrap="square" lIns="36000" rIns="36000" tIns="18000" bIns="18000" anchor="t">
            <a:spAutoFit/>
          </a:bodyPr>
          <a:lstStyle/>
          <a:p>
            <a:pPr algn="ctr"/>
            <a:r>
              <a:rPr sz="3000" b="1" i="0">
                <a:solidFill>
                  <a:srgbClr val="FFFFFF"/>
                </a:solidFill>
                <a:latin typeface="Yu Gothic"/>
              </a:rPr>
              <a:t>ご清聴ありがとうございました</a:t>
            </a:r>
          </a:p>
        </p:txBody>
      </p:sp>
      <p:sp>
        <p:nvSpPr>
          <p:cNvPr id="5" name="TextBox 4"/>
          <p:cNvSpPr txBox="1"/>
          <p:nvPr/>
        </p:nvSpPr>
        <p:spPr>
          <a:xfrm>
            <a:off x="720000" y="3960000"/>
            <a:ext cx="10752119" cy="540000"/>
          </a:xfrm>
          <a:prstGeom prst="rect">
            <a:avLst/>
          </a:prstGeom>
          <a:noFill/>
        </p:spPr>
        <p:txBody>
          <a:bodyPr wrap="square" lIns="36000" rIns="36000" tIns="18000" bIns="18000" anchor="t">
            <a:spAutoFit/>
          </a:bodyPr>
          <a:lstStyle/>
          <a:p>
            <a:pPr algn="ctr"/>
            <a:r>
              <a:rPr sz="1800" b="0" i="0">
                <a:solidFill>
                  <a:srgbClr val="FAF1DA"/>
                </a:solidFill>
                <a:latin typeface="Yu Gothic"/>
              </a:rPr>
              <a:t>質疑応答 ・ 意見交換</a:t>
            </a:r>
          </a:p>
        </p:txBody>
      </p:sp>
      <p:sp>
        <p:nvSpPr>
          <p:cNvPr id="6" name="TextBox 5"/>
          <p:cNvSpPr txBox="1"/>
          <p:nvPr/>
        </p:nvSpPr>
        <p:spPr>
          <a:xfrm>
            <a:off x="720000" y="4680000"/>
            <a:ext cx="10752119" cy="540000"/>
          </a:xfrm>
          <a:prstGeom prst="rect">
            <a:avLst/>
          </a:prstGeom>
          <a:noFill/>
        </p:spPr>
        <p:txBody>
          <a:bodyPr wrap="square" lIns="36000" rIns="36000" tIns="18000" bIns="18000" anchor="t">
            <a:spAutoFit/>
          </a:bodyPr>
          <a:lstStyle/>
          <a:p>
            <a:pPr algn="ctr"/>
            <a:r>
              <a:rPr sz="1400" b="0" i="0">
                <a:solidFill>
                  <a:srgbClr val="F6F1EB"/>
                </a:solidFill>
                <a:latin typeface="Yu Gothic"/>
              </a:rPr>
              <a:t>本人の意思を中心に置く実践を、事業所・地域に広げていきましょう。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