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Lst>
  <p:sldSz cx="1219211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6858000"/>
          </a:xfrm>
          <a:prstGeom prst="rect">
            <a:avLst/>
          </a:prstGeom>
          <a:solidFill>
            <a:srgbClr val="2947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880000"/>
            <a:ext cx="12192119" cy="54000"/>
          </a:xfrm>
          <a:prstGeom prst="rect">
            <a:avLst/>
          </a:prstGeom>
          <a:solidFill>
            <a:srgbClr val="B377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4428000"/>
            <a:ext cx="12192119" cy="18000"/>
          </a:xfrm>
          <a:prstGeom prst="rect">
            <a:avLst/>
          </a:prstGeom>
          <a:solidFill>
            <a:srgbClr val="6E8C7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20000" y="1440000"/>
            <a:ext cx="10752119" cy="360000"/>
          </a:xfrm>
          <a:prstGeom prst="rect">
            <a:avLst/>
          </a:prstGeom>
          <a:noFill/>
        </p:spPr>
        <p:txBody>
          <a:bodyPr wrap="square" lIns="36000" rIns="36000" tIns="18000" bIns="18000" anchor="t">
            <a:spAutoFit/>
          </a:bodyPr>
          <a:lstStyle/>
          <a:p>
            <a:pPr algn="ctr"/>
            <a:r>
              <a:rPr sz="1800" b="1" i="0">
                <a:solidFill>
                  <a:srgbClr val="B37739"/>
                </a:solidFill>
                <a:latin typeface="Yu Gothic"/>
              </a:rPr>
              <a:t>主任介護支援専門員 研修会</a:t>
            </a:r>
          </a:p>
        </p:txBody>
      </p:sp>
      <p:sp>
        <p:nvSpPr>
          <p:cNvPr id="6" name="TextBox 5"/>
          <p:cNvSpPr txBox="1"/>
          <p:nvPr/>
        </p:nvSpPr>
        <p:spPr>
          <a:xfrm>
            <a:off x="360000" y="1944000"/>
            <a:ext cx="11472119" cy="900000"/>
          </a:xfrm>
          <a:prstGeom prst="rect">
            <a:avLst/>
          </a:prstGeom>
          <a:noFill/>
        </p:spPr>
        <p:txBody>
          <a:bodyPr wrap="square" lIns="36000" rIns="36000" tIns="18000" bIns="18000" anchor="t">
            <a:spAutoFit/>
          </a:bodyPr>
          <a:lstStyle/>
          <a:p>
            <a:pPr algn="ctr">
              <a:lnSpc>
                <a:spcPct val="125000"/>
              </a:lnSpc>
            </a:pPr>
            <a:r>
              <a:rPr sz="3000" b="1" i="0">
                <a:solidFill>
                  <a:srgbClr val="FFFFFF"/>
                </a:solidFill>
                <a:latin typeface="Yu Gothic"/>
              </a:rPr>
              <a:t>法定研修制度改正への対応と</a:t>
            </a:r>
          </a:p>
          <a:p>
            <a:pPr algn="ctr">
              <a:lnSpc>
                <a:spcPct val="125000"/>
              </a:lnSpc>
            </a:pPr>
            <a:r>
              <a:rPr sz="3000" b="1" i="0">
                <a:solidFill>
                  <a:srgbClr val="FFFFFF"/>
                </a:solidFill>
                <a:latin typeface="Yu Gothic"/>
              </a:rPr>
              <a:t>主任ケアマネ更新研修の戦略</a:t>
            </a:r>
          </a:p>
        </p:txBody>
      </p:sp>
      <p:sp>
        <p:nvSpPr>
          <p:cNvPr id="7" name="TextBox 6"/>
          <p:cNvSpPr txBox="1"/>
          <p:nvPr/>
        </p:nvSpPr>
        <p:spPr>
          <a:xfrm>
            <a:off x="540000" y="3491999"/>
            <a:ext cx="11112119" cy="720000"/>
          </a:xfrm>
          <a:prstGeom prst="rect">
            <a:avLst/>
          </a:prstGeom>
          <a:noFill/>
        </p:spPr>
        <p:txBody>
          <a:bodyPr wrap="square" lIns="36000" rIns="36000" tIns="18000" bIns="18000" anchor="t">
            <a:spAutoFit/>
          </a:bodyPr>
          <a:lstStyle/>
          <a:p>
            <a:pPr algn="ctr"/>
            <a:r>
              <a:rPr sz="1600" b="0" i="0">
                <a:solidFill>
                  <a:srgbClr val="FFFFFF"/>
                </a:solidFill>
                <a:latin typeface="Yu Gothic"/>
              </a:rPr>
              <a:t>ー 研修体系の見直しを踏まえた、計画的な人材育成 ー</a:t>
            </a:r>
          </a:p>
        </p:txBody>
      </p:sp>
      <p:sp>
        <p:nvSpPr>
          <p:cNvPr id="8" name="TextBox 7"/>
          <p:cNvSpPr txBox="1"/>
          <p:nvPr/>
        </p:nvSpPr>
        <p:spPr>
          <a:xfrm>
            <a:off x="540000" y="4680000"/>
            <a:ext cx="11112119" cy="720000"/>
          </a:xfrm>
          <a:prstGeom prst="rect">
            <a:avLst/>
          </a:prstGeom>
          <a:noFill/>
        </p:spPr>
        <p:txBody>
          <a:bodyPr wrap="square" lIns="36000" rIns="36000" tIns="18000" bIns="18000" anchor="t">
            <a:spAutoFit/>
          </a:bodyPr>
          <a:lstStyle/>
          <a:p>
            <a:pPr algn="ctr">
              <a:lnSpc>
                <a:spcPct val="150000"/>
              </a:lnSpc>
            </a:pPr>
            <a:r>
              <a:rPr sz="1400" b="0" i="0">
                <a:solidFill>
                  <a:srgbClr val="FAF1DA"/>
                </a:solidFill>
                <a:latin typeface="Yu Gothic"/>
              </a:rPr>
              <a:t>■ CM法定研修体系の全体像と、制度改正の動向</a:t>
            </a:r>
          </a:p>
          <a:p>
            <a:pPr algn="ctr">
              <a:lnSpc>
                <a:spcPct val="150000"/>
              </a:lnSpc>
            </a:pPr>
            <a:r>
              <a:rPr sz="1400" b="0" i="0">
                <a:solidFill>
                  <a:srgbClr val="FAF1DA"/>
                </a:solidFill>
                <a:latin typeface="Yu Gothic"/>
              </a:rPr>
              <a:t>■ 主任ケアマネ更新研修を「逃さない」戦略</a:t>
            </a:r>
          </a:p>
          <a:p>
            <a:pPr algn="ctr">
              <a:lnSpc>
                <a:spcPct val="150000"/>
              </a:lnSpc>
            </a:pPr>
            <a:r>
              <a:rPr sz="1400" b="0" i="0">
                <a:solidFill>
                  <a:srgbClr val="FAF1DA"/>
                </a:solidFill>
                <a:latin typeface="Yu Gothic"/>
              </a:rPr>
              <a:t>■ 事業所内での計画的な研修管理・人材育成</a:t>
            </a:r>
          </a:p>
        </p:txBody>
      </p:sp>
      <p:sp>
        <p:nvSpPr>
          <p:cNvPr id="9" name="TextBox 8"/>
          <p:cNvSpPr txBox="1"/>
          <p:nvPr/>
        </p:nvSpPr>
        <p:spPr>
          <a:xfrm>
            <a:off x="720000" y="5868000"/>
            <a:ext cx="10752119" cy="360000"/>
          </a:xfrm>
          <a:prstGeom prst="rect">
            <a:avLst/>
          </a:prstGeom>
          <a:noFill/>
        </p:spPr>
        <p:txBody>
          <a:bodyPr wrap="square" lIns="36000" rIns="36000" tIns="18000" bIns="18000" anchor="t">
            <a:spAutoFit/>
          </a:bodyPr>
          <a:lstStyle/>
          <a:p>
            <a:pPr algn="ctr"/>
            <a:r>
              <a:rPr sz="1400" b="0" i="0">
                <a:solidFill>
                  <a:srgbClr val="D5DBD6"/>
                </a:solidFill>
                <a:latin typeface="Yu Gothic"/>
              </a:rPr>
              <a:t>主任ケアマネジャーの会  主催  ・  研修時間 90 分</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576000"/>
          </a:xfrm>
          <a:prstGeom prst="rect">
            <a:avLst/>
          </a:prstGeom>
          <a:solidFill>
            <a:srgbClr val="2947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88000" y="90000"/>
            <a:ext cx="7920000" cy="216000"/>
          </a:xfrm>
          <a:prstGeom prst="rect">
            <a:avLst/>
          </a:prstGeom>
          <a:noFill/>
        </p:spPr>
        <p:txBody>
          <a:bodyPr wrap="square" lIns="36000" rIns="36000" tIns="18000" bIns="18000" anchor="t">
            <a:spAutoFit/>
          </a:bodyPr>
          <a:lstStyle/>
          <a:p>
            <a:pPr algn="l"/>
            <a:r>
              <a:rPr sz="1100" b="1" i="0">
                <a:solidFill>
                  <a:srgbClr val="FFFFFF"/>
                </a:solidFill>
                <a:latin typeface="Yu Gothic"/>
              </a:rPr>
              <a:t>Introduction</a:t>
            </a:r>
          </a:p>
        </p:txBody>
      </p:sp>
      <p:sp>
        <p:nvSpPr>
          <p:cNvPr id="4" name="TextBox 3"/>
          <p:cNvSpPr txBox="1"/>
          <p:nvPr/>
        </p:nvSpPr>
        <p:spPr>
          <a:xfrm>
            <a:off x="288000" y="684000"/>
            <a:ext cx="11616119" cy="468000"/>
          </a:xfrm>
          <a:prstGeom prst="rect">
            <a:avLst/>
          </a:prstGeom>
          <a:noFill/>
        </p:spPr>
        <p:txBody>
          <a:bodyPr wrap="square" lIns="36000" rIns="36000" tIns="18000" bIns="18000" anchor="t">
            <a:spAutoFit/>
          </a:bodyPr>
          <a:lstStyle/>
          <a:p>
            <a:pPr algn="l"/>
            <a:r>
              <a:rPr sz="2300" b="1" i="0">
                <a:solidFill>
                  <a:srgbClr val="294737"/>
                </a:solidFill>
                <a:latin typeface="Yu Gothic"/>
              </a:rPr>
              <a:t>本日の研修目標</a:t>
            </a:r>
          </a:p>
        </p:txBody>
      </p:sp>
      <p:sp>
        <p:nvSpPr>
          <p:cNvPr id="5" name="Rectangle 4"/>
          <p:cNvSpPr/>
          <p:nvPr/>
        </p:nvSpPr>
        <p:spPr>
          <a:xfrm>
            <a:off x="288000" y="1152000"/>
            <a:ext cx="900000" cy="43200"/>
          </a:xfrm>
          <a:prstGeom prst="rect">
            <a:avLst/>
          </a:prstGeom>
          <a:solidFill>
            <a:srgbClr val="B377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88000" y="6570000"/>
            <a:ext cx="9720000" cy="180000"/>
          </a:xfrm>
          <a:prstGeom prst="rect">
            <a:avLst/>
          </a:prstGeom>
          <a:noFill/>
        </p:spPr>
        <p:txBody>
          <a:bodyPr wrap="square" lIns="36000" rIns="36000" tIns="18000" bIns="18000" anchor="t">
            <a:spAutoFit/>
          </a:bodyPr>
          <a:lstStyle/>
          <a:p>
            <a:pPr algn="l"/>
            <a:r>
              <a:rPr sz="900" b="0" i="0">
                <a:solidFill>
                  <a:srgbClr val="6E8C7C"/>
                </a:solidFill>
                <a:latin typeface="Yu Gothic"/>
              </a:rPr>
              <a:t>主任CM研修 / 法定研修制度改正への対応と主任CM更新研修の戦略  ※研修制度は最新情報をご確認ください</a:t>
            </a:r>
          </a:p>
        </p:txBody>
      </p:sp>
      <p:sp>
        <p:nvSpPr>
          <p:cNvPr id="7" name="TextBox 6"/>
          <p:cNvSpPr txBox="1"/>
          <p:nvPr/>
        </p:nvSpPr>
        <p:spPr>
          <a:xfrm>
            <a:off x="11112119" y="6570000"/>
            <a:ext cx="792000" cy="180000"/>
          </a:xfrm>
          <a:prstGeom prst="rect">
            <a:avLst/>
          </a:prstGeom>
          <a:noFill/>
        </p:spPr>
        <p:txBody>
          <a:bodyPr wrap="square" lIns="36000" rIns="36000" tIns="18000" bIns="18000" anchor="t">
            <a:spAutoFit/>
          </a:bodyPr>
          <a:lstStyle/>
          <a:p>
            <a:pPr algn="r"/>
            <a:r>
              <a:rPr sz="900" b="0" i="0">
                <a:solidFill>
                  <a:srgbClr val="6E8C7C"/>
                </a:solidFill>
                <a:latin typeface="Yu Gothic"/>
              </a:rPr>
              <a:t>2 / 27</a:t>
            </a:r>
          </a:p>
        </p:txBody>
      </p:sp>
      <p:sp>
        <p:nvSpPr>
          <p:cNvPr id="8" name="Rectangle 7"/>
          <p:cNvSpPr/>
          <p:nvPr/>
        </p:nvSpPr>
        <p:spPr>
          <a:xfrm>
            <a:off x="432000" y="1620000"/>
            <a:ext cx="180000" cy="540000"/>
          </a:xfrm>
          <a:prstGeom prst="rect">
            <a:avLst/>
          </a:prstGeom>
          <a:solidFill>
            <a:srgbClr val="B377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20000" y="1674000"/>
            <a:ext cx="10932119" cy="432000"/>
          </a:xfrm>
          <a:prstGeom prst="rect">
            <a:avLst/>
          </a:prstGeom>
          <a:noFill/>
        </p:spPr>
        <p:txBody>
          <a:bodyPr wrap="square" lIns="36000" rIns="36000" tIns="18000" bIns="18000" anchor="ctr">
            <a:spAutoFit/>
          </a:bodyPr>
          <a:lstStyle/>
          <a:p>
            <a:pPr algn="l">
              <a:lnSpc>
                <a:spcPct val="130000"/>
              </a:lnSpc>
            </a:pPr>
            <a:r>
              <a:rPr sz="1500" b="0" i="0">
                <a:solidFill>
                  <a:srgbClr val="2E3330"/>
                </a:solidFill>
                <a:latin typeface="Yu Gothic"/>
              </a:rPr>
              <a:t>介護支援専門員の法定研修体系の全体像を、改めて整理する</a:t>
            </a:r>
          </a:p>
        </p:txBody>
      </p:sp>
      <p:sp>
        <p:nvSpPr>
          <p:cNvPr id="10" name="Rectangle 9"/>
          <p:cNvSpPr/>
          <p:nvPr/>
        </p:nvSpPr>
        <p:spPr>
          <a:xfrm>
            <a:off x="432000" y="2268000"/>
            <a:ext cx="180000" cy="540000"/>
          </a:xfrm>
          <a:prstGeom prst="rect">
            <a:avLst/>
          </a:prstGeom>
          <a:solidFill>
            <a:srgbClr val="B377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20000" y="2322000"/>
            <a:ext cx="10932119" cy="432000"/>
          </a:xfrm>
          <a:prstGeom prst="rect">
            <a:avLst/>
          </a:prstGeom>
          <a:noFill/>
        </p:spPr>
        <p:txBody>
          <a:bodyPr wrap="square" lIns="36000" rIns="36000" tIns="18000" bIns="18000" anchor="ctr">
            <a:spAutoFit/>
          </a:bodyPr>
          <a:lstStyle/>
          <a:p>
            <a:pPr algn="l">
              <a:lnSpc>
                <a:spcPct val="130000"/>
              </a:lnSpc>
            </a:pPr>
            <a:r>
              <a:rPr sz="1500" b="0" i="0">
                <a:solidFill>
                  <a:srgbClr val="2E3330"/>
                </a:solidFill>
                <a:latin typeface="Yu Gothic"/>
              </a:rPr>
              <a:t>研修制度の見直し・改正の動向と、注視すべき論点を理解する</a:t>
            </a:r>
          </a:p>
        </p:txBody>
      </p:sp>
      <p:sp>
        <p:nvSpPr>
          <p:cNvPr id="12" name="Rectangle 11"/>
          <p:cNvSpPr/>
          <p:nvPr/>
        </p:nvSpPr>
        <p:spPr>
          <a:xfrm>
            <a:off x="432000" y="2916000"/>
            <a:ext cx="180000" cy="540000"/>
          </a:xfrm>
          <a:prstGeom prst="rect">
            <a:avLst/>
          </a:prstGeom>
          <a:solidFill>
            <a:srgbClr val="B377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20000" y="2970000"/>
            <a:ext cx="10932119" cy="432000"/>
          </a:xfrm>
          <a:prstGeom prst="rect">
            <a:avLst/>
          </a:prstGeom>
          <a:noFill/>
        </p:spPr>
        <p:txBody>
          <a:bodyPr wrap="square" lIns="36000" rIns="36000" tIns="18000" bIns="18000" anchor="ctr">
            <a:spAutoFit/>
          </a:bodyPr>
          <a:lstStyle/>
          <a:p>
            <a:pPr algn="l">
              <a:lnSpc>
                <a:spcPct val="130000"/>
              </a:lnSpc>
            </a:pPr>
            <a:r>
              <a:rPr sz="1500" b="0" i="0">
                <a:solidFill>
                  <a:srgbClr val="2E3330"/>
                </a:solidFill>
                <a:latin typeface="Yu Gothic"/>
              </a:rPr>
              <a:t>主任ケアマネ更新研修の位置づけと、「更新を逃す」リスクを把握する</a:t>
            </a:r>
          </a:p>
        </p:txBody>
      </p:sp>
      <p:sp>
        <p:nvSpPr>
          <p:cNvPr id="14" name="Rectangle 13"/>
          <p:cNvSpPr/>
          <p:nvPr/>
        </p:nvSpPr>
        <p:spPr>
          <a:xfrm>
            <a:off x="432000" y="3564000"/>
            <a:ext cx="180000" cy="540000"/>
          </a:xfrm>
          <a:prstGeom prst="rect">
            <a:avLst/>
          </a:prstGeom>
          <a:solidFill>
            <a:srgbClr val="B377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20000" y="3618000"/>
            <a:ext cx="10932119" cy="432000"/>
          </a:xfrm>
          <a:prstGeom prst="rect">
            <a:avLst/>
          </a:prstGeom>
          <a:noFill/>
        </p:spPr>
        <p:txBody>
          <a:bodyPr wrap="square" lIns="36000" rIns="36000" tIns="18000" bIns="18000" anchor="ctr">
            <a:spAutoFit/>
          </a:bodyPr>
          <a:lstStyle/>
          <a:p>
            <a:pPr algn="l">
              <a:lnSpc>
                <a:spcPct val="130000"/>
              </a:lnSpc>
            </a:pPr>
            <a:r>
              <a:rPr sz="1500" b="0" i="0">
                <a:solidFill>
                  <a:srgbClr val="2E3330"/>
                </a:solidFill>
                <a:latin typeface="Yu Gothic"/>
              </a:rPr>
              <a:t>更新研修を計画的に受講するための「逆算の戦略」を持ち帰る</a:t>
            </a:r>
          </a:p>
        </p:txBody>
      </p:sp>
      <p:sp>
        <p:nvSpPr>
          <p:cNvPr id="16" name="Rectangle 15"/>
          <p:cNvSpPr/>
          <p:nvPr/>
        </p:nvSpPr>
        <p:spPr>
          <a:xfrm>
            <a:off x="432000" y="4212000"/>
            <a:ext cx="180000" cy="540000"/>
          </a:xfrm>
          <a:prstGeom prst="rect">
            <a:avLst/>
          </a:prstGeom>
          <a:solidFill>
            <a:srgbClr val="B377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20000" y="4266000"/>
            <a:ext cx="10932119" cy="432000"/>
          </a:xfrm>
          <a:prstGeom prst="rect">
            <a:avLst/>
          </a:prstGeom>
          <a:noFill/>
        </p:spPr>
        <p:txBody>
          <a:bodyPr wrap="square" lIns="36000" rIns="36000" tIns="18000" bIns="18000" anchor="ctr">
            <a:spAutoFit/>
          </a:bodyPr>
          <a:lstStyle/>
          <a:p>
            <a:pPr algn="l">
              <a:lnSpc>
                <a:spcPct val="130000"/>
              </a:lnSpc>
            </a:pPr>
            <a:r>
              <a:rPr sz="1500" b="0" i="0">
                <a:solidFill>
                  <a:srgbClr val="2E3330"/>
                </a:solidFill>
                <a:latin typeface="Yu Gothic"/>
              </a:rPr>
              <a:t>事業所内で研修受講を管理し、人材育成計画に組み込む方法を学ぶ</a:t>
            </a:r>
          </a:p>
        </p:txBody>
      </p:sp>
      <p:sp>
        <p:nvSpPr>
          <p:cNvPr id="18" name="Rectangle 17"/>
          <p:cNvSpPr/>
          <p:nvPr/>
        </p:nvSpPr>
        <p:spPr>
          <a:xfrm>
            <a:off x="432000" y="4860000"/>
            <a:ext cx="180000" cy="540000"/>
          </a:xfrm>
          <a:prstGeom prst="rect">
            <a:avLst/>
          </a:prstGeom>
          <a:solidFill>
            <a:srgbClr val="B377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20000" y="4914000"/>
            <a:ext cx="10932119" cy="432000"/>
          </a:xfrm>
          <a:prstGeom prst="rect">
            <a:avLst/>
          </a:prstGeom>
          <a:noFill/>
        </p:spPr>
        <p:txBody>
          <a:bodyPr wrap="square" lIns="36000" rIns="36000" tIns="18000" bIns="18000" anchor="ctr">
            <a:spAutoFit/>
          </a:bodyPr>
          <a:lstStyle/>
          <a:p>
            <a:pPr algn="l">
              <a:lnSpc>
                <a:spcPct val="130000"/>
              </a:lnSpc>
            </a:pPr>
            <a:r>
              <a:rPr sz="1500" b="0" i="0">
                <a:solidFill>
                  <a:srgbClr val="2E3330"/>
                </a:solidFill>
                <a:latin typeface="Yu Gothic"/>
              </a:rPr>
              <a:t>研修を「受けっぱなし」にせず、事業所に還元する仕組みを考える</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576000"/>
          </a:xfrm>
          <a:prstGeom prst="rect">
            <a:avLst/>
          </a:prstGeom>
          <a:solidFill>
            <a:srgbClr val="2947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88000" y="90000"/>
            <a:ext cx="7920000" cy="216000"/>
          </a:xfrm>
          <a:prstGeom prst="rect">
            <a:avLst/>
          </a:prstGeom>
          <a:noFill/>
        </p:spPr>
        <p:txBody>
          <a:bodyPr wrap="square" lIns="36000" rIns="36000" tIns="18000" bIns="18000" anchor="t">
            <a:spAutoFit/>
          </a:bodyPr>
          <a:lstStyle/>
          <a:p>
            <a:pPr algn="l"/>
            <a:r>
              <a:rPr sz="1100" b="1" i="0">
                <a:solidFill>
                  <a:srgbClr val="FFFFFF"/>
                </a:solidFill>
                <a:latin typeface="Yu Gothic"/>
              </a:rPr>
              <a:t>Agenda</a:t>
            </a:r>
          </a:p>
        </p:txBody>
      </p:sp>
      <p:sp>
        <p:nvSpPr>
          <p:cNvPr id="4" name="TextBox 3"/>
          <p:cNvSpPr txBox="1"/>
          <p:nvPr/>
        </p:nvSpPr>
        <p:spPr>
          <a:xfrm>
            <a:off x="288000" y="684000"/>
            <a:ext cx="11616119" cy="468000"/>
          </a:xfrm>
          <a:prstGeom prst="rect">
            <a:avLst/>
          </a:prstGeom>
          <a:noFill/>
        </p:spPr>
        <p:txBody>
          <a:bodyPr wrap="square" lIns="36000" rIns="36000" tIns="18000" bIns="18000" anchor="t">
            <a:spAutoFit/>
          </a:bodyPr>
          <a:lstStyle/>
          <a:p>
            <a:pPr algn="l"/>
            <a:r>
              <a:rPr sz="2300" b="1" i="0">
                <a:solidFill>
                  <a:srgbClr val="294737"/>
                </a:solidFill>
                <a:latin typeface="Yu Gothic"/>
              </a:rPr>
              <a:t>本日の流れ(90分)</a:t>
            </a:r>
          </a:p>
        </p:txBody>
      </p:sp>
      <p:sp>
        <p:nvSpPr>
          <p:cNvPr id="5" name="Rectangle 4"/>
          <p:cNvSpPr/>
          <p:nvPr/>
        </p:nvSpPr>
        <p:spPr>
          <a:xfrm>
            <a:off x="288000" y="1152000"/>
            <a:ext cx="900000" cy="43200"/>
          </a:xfrm>
          <a:prstGeom prst="rect">
            <a:avLst/>
          </a:prstGeom>
          <a:solidFill>
            <a:srgbClr val="B377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88000" y="6570000"/>
            <a:ext cx="9720000" cy="180000"/>
          </a:xfrm>
          <a:prstGeom prst="rect">
            <a:avLst/>
          </a:prstGeom>
          <a:noFill/>
        </p:spPr>
        <p:txBody>
          <a:bodyPr wrap="square" lIns="36000" rIns="36000" tIns="18000" bIns="18000" anchor="t">
            <a:spAutoFit/>
          </a:bodyPr>
          <a:lstStyle/>
          <a:p>
            <a:pPr algn="l"/>
            <a:r>
              <a:rPr sz="900" b="0" i="0">
                <a:solidFill>
                  <a:srgbClr val="6E8C7C"/>
                </a:solidFill>
                <a:latin typeface="Yu Gothic"/>
              </a:rPr>
              <a:t>主任CM研修 / 法定研修制度改正への対応と主任CM更新研修の戦略  ※研修制度は最新情報をご確認ください</a:t>
            </a:r>
          </a:p>
        </p:txBody>
      </p:sp>
      <p:sp>
        <p:nvSpPr>
          <p:cNvPr id="7" name="TextBox 6"/>
          <p:cNvSpPr txBox="1"/>
          <p:nvPr/>
        </p:nvSpPr>
        <p:spPr>
          <a:xfrm>
            <a:off x="11112119" y="6570000"/>
            <a:ext cx="792000" cy="180000"/>
          </a:xfrm>
          <a:prstGeom prst="rect">
            <a:avLst/>
          </a:prstGeom>
          <a:noFill/>
        </p:spPr>
        <p:txBody>
          <a:bodyPr wrap="square" lIns="36000" rIns="36000" tIns="18000" bIns="18000" anchor="t">
            <a:spAutoFit/>
          </a:bodyPr>
          <a:lstStyle/>
          <a:p>
            <a:pPr algn="r"/>
            <a:r>
              <a:rPr sz="900" b="0" i="0">
                <a:solidFill>
                  <a:srgbClr val="6E8C7C"/>
                </a:solidFill>
                <a:latin typeface="Yu Gothic"/>
              </a:rPr>
              <a:t>3 / 27</a:t>
            </a:r>
          </a:p>
        </p:txBody>
      </p:sp>
      <p:sp>
        <p:nvSpPr>
          <p:cNvPr id="8" name="Oval 7"/>
          <p:cNvSpPr/>
          <p:nvPr/>
        </p:nvSpPr>
        <p:spPr>
          <a:xfrm>
            <a:off x="540000" y="1692000"/>
            <a:ext cx="468000" cy="468000"/>
          </a:xfrm>
          <a:prstGeom prst="ellipse">
            <a:avLst/>
          </a:prstGeom>
          <a:solidFill>
            <a:srgbClr val="406350"/>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500" b="1">
                <a:solidFill>
                  <a:srgbClr val="FFFFFF"/>
                </a:solidFill>
                <a:latin typeface="Yu Gothic"/>
              </a:rPr>
              <a:t>1</a:t>
            </a:r>
          </a:p>
        </p:txBody>
      </p:sp>
      <p:sp>
        <p:nvSpPr>
          <p:cNvPr id="9" name="TextBox 8"/>
          <p:cNvSpPr txBox="1"/>
          <p:nvPr/>
        </p:nvSpPr>
        <p:spPr>
          <a:xfrm>
            <a:off x="1188000" y="1746000"/>
            <a:ext cx="7920000" cy="360000"/>
          </a:xfrm>
          <a:prstGeom prst="rect">
            <a:avLst/>
          </a:prstGeom>
          <a:noFill/>
        </p:spPr>
        <p:txBody>
          <a:bodyPr wrap="square" lIns="36000" rIns="36000" tIns="18000" bIns="18000" anchor="t">
            <a:spAutoFit/>
          </a:bodyPr>
          <a:lstStyle/>
          <a:p>
            <a:pPr algn="l"/>
            <a:r>
              <a:rPr sz="1700" b="1" i="0">
                <a:solidFill>
                  <a:srgbClr val="294737"/>
                </a:solidFill>
                <a:latin typeface="Yu Gothic"/>
              </a:rPr>
              <a:t>CM法定研修体系の全体像</a:t>
            </a:r>
          </a:p>
        </p:txBody>
      </p:sp>
      <p:sp>
        <p:nvSpPr>
          <p:cNvPr id="10" name="TextBox 9"/>
          <p:cNvSpPr txBox="1"/>
          <p:nvPr/>
        </p:nvSpPr>
        <p:spPr>
          <a:xfrm>
            <a:off x="10752119" y="1764000"/>
            <a:ext cx="1080000" cy="360000"/>
          </a:xfrm>
          <a:prstGeom prst="rect">
            <a:avLst/>
          </a:prstGeom>
          <a:noFill/>
        </p:spPr>
        <p:txBody>
          <a:bodyPr wrap="square" lIns="36000" rIns="36000" tIns="18000" bIns="18000" anchor="t">
            <a:spAutoFit/>
          </a:bodyPr>
          <a:lstStyle/>
          <a:p>
            <a:pPr algn="r"/>
            <a:r>
              <a:rPr sz="1400" b="1" i="0">
                <a:solidFill>
                  <a:srgbClr val="B37739"/>
                </a:solidFill>
                <a:latin typeface="Yu Gothic"/>
              </a:rPr>
              <a:t>10分</a:t>
            </a:r>
          </a:p>
        </p:txBody>
      </p:sp>
      <p:sp>
        <p:nvSpPr>
          <p:cNvPr id="11" name="Oval 10"/>
          <p:cNvSpPr/>
          <p:nvPr/>
        </p:nvSpPr>
        <p:spPr>
          <a:xfrm>
            <a:off x="540000" y="2358000"/>
            <a:ext cx="468000" cy="468000"/>
          </a:xfrm>
          <a:prstGeom prst="ellipse">
            <a:avLst/>
          </a:prstGeom>
          <a:solidFill>
            <a:srgbClr val="406350"/>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500" b="1">
                <a:solidFill>
                  <a:srgbClr val="FFFFFF"/>
                </a:solidFill>
                <a:latin typeface="Yu Gothic"/>
              </a:rPr>
              <a:t>2</a:t>
            </a:r>
          </a:p>
        </p:txBody>
      </p:sp>
      <p:sp>
        <p:nvSpPr>
          <p:cNvPr id="12" name="TextBox 11"/>
          <p:cNvSpPr txBox="1"/>
          <p:nvPr/>
        </p:nvSpPr>
        <p:spPr>
          <a:xfrm>
            <a:off x="1188000" y="2412000"/>
            <a:ext cx="7920000" cy="360000"/>
          </a:xfrm>
          <a:prstGeom prst="rect">
            <a:avLst/>
          </a:prstGeom>
          <a:noFill/>
        </p:spPr>
        <p:txBody>
          <a:bodyPr wrap="square" lIns="36000" rIns="36000" tIns="18000" bIns="18000" anchor="t">
            <a:spAutoFit/>
          </a:bodyPr>
          <a:lstStyle/>
          <a:p>
            <a:pPr algn="l"/>
            <a:r>
              <a:rPr sz="1700" b="1" i="0">
                <a:solidFill>
                  <a:srgbClr val="294737"/>
                </a:solidFill>
                <a:latin typeface="Yu Gothic"/>
              </a:rPr>
              <a:t>研修制度改正の動向 ― 何が論点か</a:t>
            </a:r>
          </a:p>
        </p:txBody>
      </p:sp>
      <p:sp>
        <p:nvSpPr>
          <p:cNvPr id="13" name="TextBox 12"/>
          <p:cNvSpPr txBox="1"/>
          <p:nvPr/>
        </p:nvSpPr>
        <p:spPr>
          <a:xfrm>
            <a:off x="10752119" y="2430000"/>
            <a:ext cx="1080000" cy="360000"/>
          </a:xfrm>
          <a:prstGeom prst="rect">
            <a:avLst/>
          </a:prstGeom>
          <a:noFill/>
        </p:spPr>
        <p:txBody>
          <a:bodyPr wrap="square" lIns="36000" rIns="36000" tIns="18000" bIns="18000" anchor="t">
            <a:spAutoFit/>
          </a:bodyPr>
          <a:lstStyle/>
          <a:p>
            <a:pPr algn="r"/>
            <a:r>
              <a:rPr sz="1400" b="1" i="0">
                <a:solidFill>
                  <a:srgbClr val="B37739"/>
                </a:solidFill>
                <a:latin typeface="Yu Gothic"/>
              </a:rPr>
              <a:t>15分</a:t>
            </a:r>
          </a:p>
        </p:txBody>
      </p:sp>
      <p:sp>
        <p:nvSpPr>
          <p:cNvPr id="14" name="Oval 13"/>
          <p:cNvSpPr/>
          <p:nvPr/>
        </p:nvSpPr>
        <p:spPr>
          <a:xfrm>
            <a:off x="540000" y="3024000"/>
            <a:ext cx="468000" cy="468000"/>
          </a:xfrm>
          <a:prstGeom prst="ellipse">
            <a:avLst/>
          </a:prstGeom>
          <a:solidFill>
            <a:srgbClr val="406350"/>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500" b="1">
                <a:solidFill>
                  <a:srgbClr val="FFFFFF"/>
                </a:solidFill>
                <a:latin typeface="Yu Gothic"/>
              </a:rPr>
              <a:t>3</a:t>
            </a:r>
          </a:p>
        </p:txBody>
      </p:sp>
      <p:sp>
        <p:nvSpPr>
          <p:cNvPr id="15" name="TextBox 14"/>
          <p:cNvSpPr txBox="1"/>
          <p:nvPr/>
        </p:nvSpPr>
        <p:spPr>
          <a:xfrm>
            <a:off x="1188000" y="3078000"/>
            <a:ext cx="7920000" cy="360000"/>
          </a:xfrm>
          <a:prstGeom prst="rect">
            <a:avLst/>
          </a:prstGeom>
          <a:noFill/>
        </p:spPr>
        <p:txBody>
          <a:bodyPr wrap="square" lIns="36000" rIns="36000" tIns="18000" bIns="18000" anchor="t">
            <a:spAutoFit/>
          </a:bodyPr>
          <a:lstStyle/>
          <a:p>
            <a:pPr algn="l"/>
            <a:r>
              <a:rPr sz="1700" b="1" i="0">
                <a:solidFill>
                  <a:srgbClr val="294737"/>
                </a:solidFill>
                <a:latin typeface="Yu Gothic"/>
              </a:rPr>
              <a:t>主任ケアマネ更新研修の戦略</a:t>
            </a:r>
          </a:p>
        </p:txBody>
      </p:sp>
      <p:sp>
        <p:nvSpPr>
          <p:cNvPr id="16" name="TextBox 15"/>
          <p:cNvSpPr txBox="1"/>
          <p:nvPr/>
        </p:nvSpPr>
        <p:spPr>
          <a:xfrm>
            <a:off x="10752119" y="3096000"/>
            <a:ext cx="1080000" cy="360000"/>
          </a:xfrm>
          <a:prstGeom prst="rect">
            <a:avLst/>
          </a:prstGeom>
          <a:noFill/>
        </p:spPr>
        <p:txBody>
          <a:bodyPr wrap="square" lIns="36000" rIns="36000" tIns="18000" bIns="18000" anchor="t">
            <a:spAutoFit/>
          </a:bodyPr>
          <a:lstStyle/>
          <a:p>
            <a:pPr algn="r"/>
            <a:r>
              <a:rPr sz="1400" b="1" i="0">
                <a:solidFill>
                  <a:srgbClr val="B37739"/>
                </a:solidFill>
                <a:latin typeface="Yu Gothic"/>
              </a:rPr>
              <a:t>20分</a:t>
            </a:r>
          </a:p>
        </p:txBody>
      </p:sp>
      <p:sp>
        <p:nvSpPr>
          <p:cNvPr id="17" name="Oval 16"/>
          <p:cNvSpPr/>
          <p:nvPr/>
        </p:nvSpPr>
        <p:spPr>
          <a:xfrm>
            <a:off x="540000" y="3690000"/>
            <a:ext cx="468000" cy="468000"/>
          </a:xfrm>
          <a:prstGeom prst="ellipse">
            <a:avLst/>
          </a:prstGeom>
          <a:solidFill>
            <a:srgbClr val="406350"/>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500" b="1">
                <a:solidFill>
                  <a:srgbClr val="FFFFFF"/>
                </a:solidFill>
                <a:latin typeface="Yu Gothic"/>
              </a:rPr>
              <a:t>4</a:t>
            </a:r>
          </a:p>
        </p:txBody>
      </p:sp>
      <p:sp>
        <p:nvSpPr>
          <p:cNvPr id="18" name="TextBox 17"/>
          <p:cNvSpPr txBox="1"/>
          <p:nvPr/>
        </p:nvSpPr>
        <p:spPr>
          <a:xfrm>
            <a:off x="1188000" y="3744000"/>
            <a:ext cx="7920000" cy="360000"/>
          </a:xfrm>
          <a:prstGeom prst="rect">
            <a:avLst/>
          </a:prstGeom>
          <a:noFill/>
        </p:spPr>
        <p:txBody>
          <a:bodyPr wrap="square" lIns="36000" rIns="36000" tIns="18000" bIns="18000" anchor="t">
            <a:spAutoFit/>
          </a:bodyPr>
          <a:lstStyle/>
          <a:p>
            <a:pPr algn="l"/>
            <a:r>
              <a:rPr sz="1700" b="1" i="0">
                <a:solidFill>
                  <a:srgbClr val="294737"/>
                </a:solidFill>
                <a:latin typeface="Yu Gothic"/>
              </a:rPr>
              <a:t>事業所内での計画的な人材育成</a:t>
            </a:r>
          </a:p>
        </p:txBody>
      </p:sp>
      <p:sp>
        <p:nvSpPr>
          <p:cNvPr id="19" name="TextBox 18"/>
          <p:cNvSpPr txBox="1"/>
          <p:nvPr/>
        </p:nvSpPr>
        <p:spPr>
          <a:xfrm>
            <a:off x="10752119" y="3762000"/>
            <a:ext cx="1080000" cy="360000"/>
          </a:xfrm>
          <a:prstGeom prst="rect">
            <a:avLst/>
          </a:prstGeom>
          <a:noFill/>
        </p:spPr>
        <p:txBody>
          <a:bodyPr wrap="square" lIns="36000" rIns="36000" tIns="18000" bIns="18000" anchor="t">
            <a:spAutoFit/>
          </a:bodyPr>
          <a:lstStyle/>
          <a:p>
            <a:pPr algn="r"/>
            <a:r>
              <a:rPr sz="1400" b="1" i="0">
                <a:solidFill>
                  <a:srgbClr val="B37739"/>
                </a:solidFill>
                <a:latin typeface="Yu Gothic"/>
              </a:rPr>
              <a:t>20分</a:t>
            </a:r>
          </a:p>
        </p:txBody>
      </p:sp>
      <p:sp>
        <p:nvSpPr>
          <p:cNvPr id="20" name="Oval 19"/>
          <p:cNvSpPr/>
          <p:nvPr/>
        </p:nvSpPr>
        <p:spPr>
          <a:xfrm>
            <a:off x="540000" y="4356000"/>
            <a:ext cx="468000" cy="468000"/>
          </a:xfrm>
          <a:prstGeom prst="ellipse">
            <a:avLst/>
          </a:prstGeom>
          <a:solidFill>
            <a:srgbClr val="406350"/>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500" b="1">
                <a:solidFill>
                  <a:srgbClr val="FFFFFF"/>
                </a:solidFill>
                <a:latin typeface="Yu Gothic"/>
              </a:rPr>
              <a:t>5</a:t>
            </a:r>
          </a:p>
        </p:txBody>
      </p:sp>
      <p:sp>
        <p:nvSpPr>
          <p:cNvPr id="21" name="TextBox 20"/>
          <p:cNvSpPr txBox="1"/>
          <p:nvPr/>
        </p:nvSpPr>
        <p:spPr>
          <a:xfrm>
            <a:off x="1188000" y="4410000"/>
            <a:ext cx="7920000" cy="360000"/>
          </a:xfrm>
          <a:prstGeom prst="rect">
            <a:avLst/>
          </a:prstGeom>
          <a:noFill/>
        </p:spPr>
        <p:txBody>
          <a:bodyPr wrap="square" lIns="36000" rIns="36000" tIns="18000" bIns="18000" anchor="t">
            <a:spAutoFit/>
          </a:bodyPr>
          <a:lstStyle/>
          <a:p>
            <a:pPr algn="l"/>
            <a:r>
              <a:rPr sz="1700" b="1" i="0">
                <a:solidFill>
                  <a:srgbClr val="294737"/>
                </a:solidFill>
                <a:latin typeface="Yu Gothic"/>
              </a:rPr>
              <a:t>研修を「活かす」 ― 学びの還元</a:t>
            </a:r>
          </a:p>
        </p:txBody>
      </p:sp>
      <p:sp>
        <p:nvSpPr>
          <p:cNvPr id="22" name="TextBox 21"/>
          <p:cNvSpPr txBox="1"/>
          <p:nvPr/>
        </p:nvSpPr>
        <p:spPr>
          <a:xfrm>
            <a:off x="10752119" y="4428000"/>
            <a:ext cx="1080000" cy="360000"/>
          </a:xfrm>
          <a:prstGeom prst="rect">
            <a:avLst/>
          </a:prstGeom>
          <a:noFill/>
        </p:spPr>
        <p:txBody>
          <a:bodyPr wrap="square" lIns="36000" rIns="36000" tIns="18000" bIns="18000" anchor="t">
            <a:spAutoFit/>
          </a:bodyPr>
          <a:lstStyle/>
          <a:p>
            <a:pPr algn="r"/>
            <a:r>
              <a:rPr sz="1400" b="1" i="0">
                <a:solidFill>
                  <a:srgbClr val="B37739"/>
                </a:solidFill>
                <a:latin typeface="Yu Gothic"/>
              </a:rPr>
              <a:t>15分</a:t>
            </a:r>
          </a:p>
        </p:txBody>
      </p:sp>
      <p:sp>
        <p:nvSpPr>
          <p:cNvPr id="23" name="Oval 22"/>
          <p:cNvSpPr/>
          <p:nvPr/>
        </p:nvSpPr>
        <p:spPr>
          <a:xfrm>
            <a:off x="540000" y="5022000"/>
            <a:ext cx="468000" cy="468000"/>
          </a:xfrm>
          <a:prstGeom prst="ellipse">
            <a:avLst/>
          </a:prstGeom>
          <a:solidFill>
            <a:srgbClr val="406350"/>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500" b="1">
                <a:solidFill>
                  <a:srgbClr val="FFFFFF"/>
                </a:solidFill>
                <a:latin typeface="Yu Gothic"/>
              </a:rPr>
              <a:t>6</a:t>
            </a:r>
          </a:p>
        </p:txBody>
      </p:sp>
      <p:sp>
        <p:nvSpPr>
          <p:cNvPr id="24" name="TextBox 23"/>
          <p:cNvSpPr txBox="1"/>
          <p:nvPr/>
        </p:nvSpPr>
        <p:spPr>
          <a:xfrm>
            <a:off x="1188000" y="5076000"/>
            <a:ext cx="7920000" cy="360000"/>
          </a:xfrm>
          <a:prstGeom prst="rect">
            <a:avLst/>
          </a:prstGeom>
          <a:noFill/>
        </p:spPr>
        <p:txBody>
          <a:bodyPr wrap="square" lIns="36000" rIns="36000" tIns="18000" bIns="18000" anchor="t">
            <a:spAutoFit/>
          </a:bodyPr>
          <a:lstStyle/>
          <a:p>
            <a:pPr algn="l"/>
            <a:r>
              <a:rPr sz="1700" b="1" i="0">
                <a:solidFill>
                  <a:srgbClr val="294737"/>
                </a:solidFill>
                <a:latin typeface="Yu Gothic"/>
              </a:rPr>
              <a:t>まとめ ― 主任CMが持ち帰るもの</a:t>
            </a:r>
          </a:p>
        </p:txBody>
      </p:sp>
      <p:sp>
        <p:nvSpPr>
          <p:cNvPr id="25" name="TextBox 24"/>
          <p:cNvSpPr txBox="1"/>
          <p:nvPr/>
        </p:nvSpPr>
        <p:spPr>
          <a:xfrm>
            <a:off x="10752119" y="5094000"/>
            <a:ext cx="1080000" cy="360000"/>
          </a:xfrm>
          <a:prstGeom prst="rect">
            <a:avLst/>
          </a:prstGeom>
          <a:noFill/>
        </p:spPr>
        <p:txBody>
          <a:bodyPr wrap="square" lIns="36000" rIns="36000" tIns="18000" bIns="18000" anchor="t">
            <a:spAutoFit/>
          </a:bodyPr>
          <a:lstStyle/>
          <a:p>
            <a:pPr algn="r"/>
            <a:r>
              <a:rPr sz="1400" b="1" i="0">
                <a:solidFill>
                  <a:srgbClr val="B37739"/>
                </a:solidFill>
                <a:latin typeface="Yu Gothic"/>
              </a:rPr>
              <a:t>10分</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6858000"/>
          </a:xfrm>
          <a:prstGeom prst="rect">
            <a:avLst/>
          </a:prstGeom>
          <a:solidFill>
            <a:srgbClr val="2947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060000"/>
            <a:ext cx="12192119" cy="36000"/>
          </a:xfrm>
          <a:prstGeom prst="rect">
            <a:avLst/>
          </a:prstGeom>
          <a:solidFill>
            <a:srgbClr val="B377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20000" y="2340000"/>
            <a:ext cx="10752119" cy="540000"/>
          </a:xfrm>
          <a:prstGeom prst="rect">
            <a:avLst/>
          </a:prstGeom>
          <a:noFill/>
        </p:spPr>
        <p:txBody>
          <a:bodyPr wrap="square" lIns="36000" rIns="36000" tIns="18000" bIns="18000" anchor="t">
            <a:spAutoFit/>
          </a:bodyPr>
          <a:lstStyle/>
          <a:p>
            <a:pPr algn="ctr"/>
            <a:r>
              <a:rPr sz="2200" b="1" i="0">
                <a:solidFill>
                  <a:srgbClr val="B37739"/>
                </a:solidFill>
                <a:latin typeface="Yu Gothic"/>
              </a:rPr>
              <a:t>PART 1</a:t>
            </a:r>
          </a:p>
        </p:txBody>
      </p:sp>
      <p:sp>
        <p:nvSpPr>
          <p:cNvPr id="5" name="TextBox 4"/>
          <p:cNvSpPr txBox="1"/>
          <p:nvPr/>
        </p:nvSpPr>
        <p:spPr>
          <a:xfrm>
            <a:off x="360000" y="3420000"/>
            <a:ext cx="11472119" cy="720000"/>
          </a:xfrm>
          <a:prstGeom prst="rect">
            <a:avLst/>
          </a:prstGeom>
          <a:noFill/>
        </p:spPr>
        <p:txBody>
          <a:bodyPr wrap="square" lIns="36000" rIns="36000" tIns="18000" bIns="18000" anchor="t">
            <a:spAutoFit/>
          </a:bodyPr>
          <a:lstStyle/>
          <a:p>
            <a:pPr algn="ctr"/>
            <a:r>
              <a:rPr sz="3300" b="1" i="0">
                <a:solidFill>
                  <a:srgbClr val="FFFFFF"/>
                </a:solidFill>
                <a:latin typeface="Yu Gothic"/>
              </a:rPr>
              <a:t>CM法定研修体系の全体像</a:t>
            </a:r>
          </a:p>
        </p:txBody>
      </p:sp>
      <p:sp>
        <p:nvSpPr>
          <p:cNvPr id="6" name="TextBox 5"/>
          <p:cNvSpPr txBox="1"/>
          <p:nvPr/>
        </p:nvSpPr>
        <p:spPr>
          <a:xfrm>
            <a:off x="360000" y="4680000"/>
            <a:ext cx="11472119" cy="360000"/>
          </a:xfrm>
          <a:prstGeom prst="rect">
            <a:avLst/>
          </a:prstGeom>
          <a:noFill/>
        </p:spPr>
        <p:txBody>
          <a:bodyPr wrap="square" lIns="36000" rIns="36000" tIns="18000" bIns="18000" anchor="t">
            <a:spAutoFit/>
          </a:bodyPr>
          <a:lstStyle/>
          <a:p>
            <a:pPr algn="ctr"/>
            <a:r>
              <a:rPr sz="1400" b="0" i="0">
                <a:solidFill>
                  <a:srgbClr val="D5DBD6"/>
                </a:solidFill>
                <a:latin typeface="Yu Gothic"/>
              </a:rPr>
              <a:t>The Statutory Training System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576000"/>
          </a:xfrm>
          <a:prstGeom prst="rect">
            <a:avLst/>
          </a:prstGeom>
          <a:solidFill>
            <a:srgbClr val="2947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88000" y="90000"/>
            <a:ext cx="7920000" cy="216000"/>
          </a:xfrm>
          <a:prstGeom prst="rect">
            <a:avLst/>
          </a:prstGeom>
          <a:noFill/>
        </p:spPr>
        <p:txBody>
          <a:bodyPr wrap="square" lIns="36000" rIns="36000" tIns="18000" bIns="18000" anchor="t">
            <a:spAutoFit/>
          </a:bodyPr>
          <a:lstStyle/>
          <a:p>
            <a:pPr algn="l"/>
            <a:r>
              <a:rPr sz="1100" b="1" i="0">
                <a:solidFill>
                  <a:srgbClr val="FFFFFF"/>
                </a:solidFill>
                <a:latin typeface="Yu Gothic"/>
              </a:rPr>
              <a:t>1. 法定研修体系の全体像</a:t>
            </a:r>
          </a:p>
        </p:txBody>
      </p:sp>
      <p:sp>
        <p:nvSpPr>
          <p:cNvPr id="4" name="TextBox 3"/>
          <p:cNvSpPr txBox="1"/>
          <p:nvPr/>
        </p:nvSpPr>
        <p:spPr>
          <a:xfrm>
            <a:off x="288000" y="684000"/>
            <a:ext cx="11616119" cy="468000"/>
          </a:xfrm>
          <a:prstGeom prst="rect">
            <a:avLst/>
          </a:prstGeom>
          <a:noFill/>
        </p:spPr>
        <p:txBody>
          <a:bodyPr wrap="square" lIns="36000" rIns="36000" tIns="18000" bIns="18000" anchor="t">
            <a:spAutoFit/>
          </a:bodyPr>
          <a:lstStyle/>
          <a:p>
            <a:pPr algn="l"/>
            <a:r>
              <a:rPr sz="2300" b="1" i="0">
                <a:solidFill>
                  <a:srgbClr val="294737"/>
                </a:solidFill>
                <a:latin typeface="Yu Gothic"/>
              </a:rPr>
              <a:t>介護支援専門員の法定研修体系マップ</a:t>
            </a:r>
          </a:p>
        </p:txBody>
      </p:sp>
      <p:sp>
        <p:nvSpPr>
          <p:cNvPr id="5" name="Rectangle 4"/>
          <p:cNvSpPr/>
          <p:nvPr/>
        </p:nvSpPr>
        <p:spPr>
          <a:xfrm>
            <a:off x="288000" y="1152000"/>
            <a:ext cx="900000" cy="43200"/>
          </a:xfrm>
          <a:prstGeom prst="rect">
            <a:avLst/>
          </a:prstGeom>
          <a:solidFill>
            <a:srgbClr val="B377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88000" y="6570000"/>
            <a:ext cx="9720000" cy="180000"/>
          </a:xfrm>
          <a:prstGeom prst="rect">
            <a:avLst/>
          </a:prstGeom>
          <a:noFill/>
        </p:spPr>
        <p:txBody>
          <a:bodyPr wrap="square" lIns="36000" rIns="36000" tIns="18000" bIns="18000" anchor="t">
            <a:spAutoFit/>
          </a:bodyPr>
          <a:lstStyle/>
          <a:p>
            <a:pPr algn="l"/>
            <a:r>
              <a:rPr sz="900" b="0" i="0">
                <a:solidFill>
                  <a:srgbClr val="6E8C7C"/>
                </a:solidFill>
                <a:latin typeface="Yu Gothic"/>
              </a:rPr>
              <a:t>主任CM研修 / 法定研修制度改正への対応と主任CM更新研修の戦略  ※研修制度は最新情報をご確認ください</a:t>
            </a:r>
          </a:p>
        </p:txBody>
      </p:sp>
      <p:sp>
        <p:nvSpPr>
          <p:cNvPr id="7" name="TextBox 6"/>
          <p:cNvSpPr txBox="1"/>
          <p:nvPr/>
        </p:nvSpPr>
        <p:spPr>
          <a:xfrm>
            <a:off x="11112119" y="6570000"/>
            <a:ext cx="792000" cy="180000"/>
          </a:xfrm>
          <a:prstGeom prst="rect">
            <a:avLst/>
          </a:prstGeom>
          <a:noFill/>
        </p:spPr>
        <p:txBody>
          <a:bodyPr wrap="square" lIns="36000" rIns="36000" tIns="18000" bIns="18000" anchor="t">
            <a:spAutoFit/>
          </a:bodyPr>
          <a:lstStyle/>
          <a:p>
            <a:pPr algn="r"/>
            <a:r>
              <a:rPr sz="900" b="0" i="0">
                <a:solidFill>
                  <a:srgbClr val="6E8C7C"/>
                </a:solidFill>
                <a:latin typeface="Yu Gothic"/>
              </a:rPr>
              <a:t>5 / 27</a:t>
            </a:r>
          </a:p>
        </p:txBody>
      </p:sp>
      <p:sp>
        <p:nvSpPr>
          <p:cNvPr id="8" name="Rectangle 7"/>
          <p:cNvSpPr/>
          <p:nvPr/>
        </p:nvSpPr>
        <p:spPr>
          <a:xfrm>
            <a:off x="432000" y="1548000"/>
            <a:ext cx="11304000" cy="360000"/>
          </a:xfrm>
          <a:prstGeom prst="rect">
            <a:avLst/>
          </a:prstGeom>
          <a:solidFill>
            <a:srgbClr val="2947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4000" y="1584000"/>
            <a:ext cx="11160000" cy="288000"/>
          </a:xfrm>
          <a:prstGeom prst="rect">
            <a:avLst/>
          </a:prstGeom>
          <a:noFill/>
        </p:spPr>
        <p:txBody>
          <a:bodyPr wrap="square" lIns="36000" rIns="36000" tIns="18000" bIns="18000" anchor="ctr">
            <a:spAutoFit/>
          </a:bodyPr>
          <a:lstStyle/>
          <a:p>
            <a:pPr algn="l"/>
            <a:r>
              <a:rPr sz="1400" b="1" i="0">
                <a:solidFill>
                  <a:srgbClr val="FFFFFF"/>
                </a:solidFill>
                <a:latin typeface="Yu Gothic"/>
              </a:rPr>
              <a:t>資格取得から、主任CM、その更新まで ― 研修は続いていく</a:t>
            </a:r>
          </a:p>
        </p:txBody>
      </p:sp>
      <p:sp>
        <p:nvSpPr>
          <p:cNvPr id="10" name="Rectangle 9"/>
          <p:cNvSpPr/>
          <p:nvPr/>
        </p:nvSpPr>
        <p:spPr>
          <a:xfrm>
            <a:off x="432000" y="1908000"/>
            <a:ext cx="11304000" cy="360000"/>
          </a:xfrm>
          <a:prstGeom prst="rect">
            <a:avLst/>
          </a:prstGeom>
          <a:solidFill>
            <a:srgbClr val="E7EC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0000" y="1944000"/>
            <a:ext cx="11088000" cy="324000"/>
          </a:xfrm>
          <a:prstGeom prst="rect">
            <a:avLst/>
          </a:prstGeom>
          <a:noFill/>
        </p:spPr>
        <p:txBody>
          <a:bodyPr wrap="square" lIns="36000" rIns="36000" tIns="18000" bIns="18000" anchor="t">
            <a:spAutoFit/>
          </a:bodyPr>
          <a:lstStyle/>
          <a:p>
            <a:pPr algn="l"/>
            <a:r>
              <a:rPr sz="1200" b="0" i="0">
                <a:solidFill>
                  <a:srgbClr val="2E3330"/>
                </a:solidFill>
                <a:latin typeface="Yu Gothic"/>
              </a:rPr>
              <a:t>CMの研修は「一度受けて終わり」ではなく、資格の取得・更新と結びついた継続的なもの。</a:t>
            </a:r>
          </a:p>
        </p:txBody>
      </p:sp>
      <p:sp>
        <p:nvSpPr>
          <p:cNvPr id="12" name="Rectangle 11"/>
          <p:cNvSpPr/>
          <p:nvPr/>
        </p:nvSpPr>
        <p:spPr>
          <a:xfrm>
            <a:off x="426059" y="2520000"/>
            <a:ext cx="2592000" cy="1080000"/>
          </a:xfrm>
          <a:prstGeom prst="rect">
            <a:avLst/>
          </a:prstGeom>
          <a:solidFill>
            <a:srgbClr val="4063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98059" y="2664000"/>
            <a:ext cx="2448000" cy="540000"/>
          </a:xfrm>
          <a:prstGeom prst="rect">
            <a:avLst/>
          </a:prstGeom>
          <a:noFill/>
        </p:spPr>
        <p:txBody>
          <a:bodyPr wrap="square" lIns="36000" rIns="36000" tIns="18000" bIns="18000" anchor="t">
            <a:spAutoFit/>
          </a:bodyPr>
          <a:lstStyle/>
          <a:p>
            <a:pPr algn="ctr"/>
            <a:r>
              <a:rPr sz="1500" b="1" i="0">
                <a:solidFill>
                  <a:srgbClr val="FFFFFF"/>
                </a:solidFill>
                <a:latin typeface="Yu Gothic"/>
              </a:rPr>
              <a:t>実務研修</a:t>
            </a:r>
          </a:p>
        </p:txBody>
      </p:sp>
      <p:sp>
        <p:nvSpPr>
          <p:cNvPr id="14" name="TextBox 13"/>
          <p:cNvSpPr txBox="1"/>
          <p:nvPr/>
        </p:nvSpPr>
        <p:spPr>
          <a:xfrm>
            <a:off x="498059" y="3204000"/>
            <a:ext cx="2448000" cy="288000"/>
          </a:xfrm>
          <a:prstGeom prst="rect">
            <a:avLst/>
          </a:prstGeom>
          <a:noFill/>
        </p:spPr>
        <p:txBody>
          <a:bodyPr wrap="square" lIns="36000" rIns="36000" tIns="18000" bIns="18000" anchor="t">
            <a:spAutoFit/>
          </a:bodyPr>
          <a:lstStyle/>
          <a:p>
            <a:pPr algn="ctr"/>
            <a:r>
              <a:rPr sz="1100" b="0" i="0">
                <a:solidFill>
                  <a:srgbClr val="FFFFFF"/>
                </a:solidFill>
                <a:latin typeface="Yu Gothic"/>
              </a:rPr>
              <a:t>資格取得時</a:t>
            </a:r>
          </a:p>
        </p:txBody>
      </p:sp>
      <p:sp>
        <p:nvSpPr>
          <p:cNvPr id="15" name="Right Arrow 14"/>
          <p:cNvSpPr/>
          <p:nvPr/>
        </p:nvSpPr>
        <p:spPr>
          <a:xfrm>
            <a:off x="3054059" y="2880000"/>
            <a:ext cx="252000" cy="360000"/>
          </a:xfrm>
          <a:prstGeom prst="rightArrow">
            <a:avLst/>
          </a:prstGeom>
          <a:solidFill>
            <a:srgbClr val="B377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342059" y="2520000"/>
            <a:ext cx="2592000" cy="1080000"/>
          </a:xfrm>
          <a:prstGeom prst="rect">
            <a:avLst/>
          </a:prstGeom>
          <a:solidFill>
            <a:srgbClr val="2C6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414059" y="2664000"/>
            <a:ext cx="2448000" cy="540000"/>
          </a:xfrm>
          <a:prstGeom prst="rect">
            <a:avLst/>
          </a:prstGeom>
          <a:noFill/>
        </p:spPr>
        <p:txBody>
          <a:bodyPr wrap="square" lIns="36000" rIns="36000" tIns="18000" bIns="18000" anchor="t">
            <a:spAutoFit/>
          </a:bodyPr>
          <a:lstStyle/>
          <a:p>
            <a:pPr algn="ctr"/>
            <a:r>
              <a:rPr sz="1500" b="1" i="0">
                <a:solidFill>
                  <a:srgbClr val="FFFFFF"/>
                </a:solidFill>
                <a:latin typeface="Yu Gothic"/>
              </a:rPr>
              <a:t>専門研修</a:t>
            </a:r>
          </a:p>
          <a:p>
            <a:pPr algn="ctr"/>
            <a:r>
              <a:rPr sz="1500" b="1" i="0">
                <a:solidFill>
                  <a:srgbClr val="FFFFFF"/>
                </a:solidFill>
                <a:latin typeface="Yu Gothic"/>
              </a:rPr>
              <a:t>Ⅰ・Ⅱ</a:t>
            </a:r>
          </a:p>
        </p:txBody>
      </p:sp>
      <p:sp>
        <p:nvSpPr>
          <p:cNvPr id="18" name="TextBox 17"/>
          <p:cNvSpPr txBox="1"/>
          <p:nvPr/>
        </p:nvSpPr>
        <p:spPr>
          <a:xfrm>
            <a:off x="3414059" y="3204000"/>
            <a:ext cx="2448000" cy="288000"/>
          </a:xfrm>
          <a:prstGeom prst="rect">
            <a:avLst/>
          </a:prstGeom>
          <a:noFill/>
        </p:spPr>
        <p:txBody>
          <a:bodyPr wrap="square" lIns="36000" rIns="36000" tIns="18000" bIns="18000" anchor="t">
            <a:spAutoFit/>
          </a:bodyPr>
          <a:lstStyle/>
          <a:p>
            <a:pPr algn="ctr"/>
            <a:r>
              <a:rPr sz="1100" b="0" i="0">
                <a:solidFill>
                  <a:srgbClr val="FFFFFF"/>
                </a:solidFill>
                <a:latin typeface="Yu Gothic"/>
              </a:rPr>
              <a:t>更新に必要</a:t>
            </a:r>
          </a:p>
        </p:txBody>
      </p:sp>
      <p:sp>
        <p:nvSpPr>
          <p:cNvPr id="19" name="Right Arrow 18"/>
          <p:cNvSpPr/>
          <p:nvPr/>
        </p:nvSpPr>
        <p:spPr>
          <a:xfrm>
            <a:off x="5970059" y="2880000"/>
            <a:ext cx="252000" cy="360000"/>
          </a:xfrm>
          <a:prstGeom prst="rightArrow">
            <a:avLst/>
          </a:prstGeom>
          <a:solidFill>
            <a:srgbClr val="B377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58059" y="2520000"/>
            <a:ext cx="2592000" cy="1080000"/>
          </a:xfrm>
          <a:prstGeom prst="rect">
            <a:avLst/>
          </a:prstGeom>
          <a:solidFill>
            <a:srgbClr val="B377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30059" y="2664000"/>
            <a:ext cx="2448000" cy="540000"/>
          </a:xfrm>
          <a:prstGeom prst="rect">
            <a:avLst/>
          </a:prstGeom>
          <a:noFill/>
        </p:spPr>
        <p:txBody>
          <a:bodyPr wrap="square" lIns="36000" rIns="36000" tIns="18000" bIns="18000" anchor="t">
            <a:spAutoFit/>
          </a:bodyPr>
          <a:lstStyle/>
          <a:p>
            <a:pPr algn="ctr"/>
            <a:r>
              <a:rPr sz="1500" b="1" i="0">
                <a:solidFill>
                  <a:srgbClr val="FFFFFF"/>
                </a:solidFill>
                <a:latin typeface="Yu Gothic"/>
              </a:rPr>
              <a:t>主任CM</a:t>
            </a:r>
          </a:p>
          <a:p>
            <a:pPr algn="ctr"/>
            <a:r>
              <a:rPr sz="1500" b="1" i="0">
                <a:solidFill>
                  <a:srgbClr val="FFFFFF"/>
                </a:solidFill>
                <a:latin typeface="Yu Gothic"/>
              </a:rPr>
              <a:t>研修</a:t>
            </a:r>
          </a:p>
        </p:txBody>
      </p:sp>
      <p:sp>
        <p:nvSpPr>
          <p:cNvPr id="22" name="TextBox 21"/>
          <p:cNvSpPr txBox="1"/>
          <p:nvPr/>
        </p:nvSpPr>
        <p:spPr>
          <a:xfrm>
            <a:off x="6330059" y="3204000"/>
            <a:ext cx="2448000" cy="288000"/>
          </a:xfrm>
          <a:prstGeom prst="rect">
            <a:avLst/>
          </a:prstGeom>
          <a:noFill/>
        </p:spPr>
        <p:txBody>
          <a:bodyPr wrap="square" lIns="36000" rIns="36000" tIns="18000" bIns="18000" anchor="t">
            <a:spAutoFit/>
          </a:bodyPr>
          <a:lstStyle/>
          <a:p>
            <a:pPr algn="ctr"/>
            <a:r>
              <a:rPr sz="1100" b="0" i="0">
                <a:solidFill>
                  <a:srgbClr val="FFFFFF"/>
                </a:solidFill>
                <a:latin typeface="Yu Gothic"/>
              </a:rPr>
              <a:t>主任になる</a:t>
            </a:r>
          </a:p>
        </p:txBody>
      </p:sp>
      <p:sp>
        <p:nvSpPr>
          <p:cNvPr id="23" name="Right Arrow 22"/>
          <p:cNvSpPr/>
          <p:nvPr/>
        </p:nvSpPr>
        <p:spPr>
          <a:xfrm>
            <a:off x="8886059" y="2880000"/>
            <a:ext cx="252000" cy="360000"/>
          </a:xfrm>
          <a:prstGeom prst="rightArrow">
            <a:avLst/>
          </a:prstGeom>
          <a:solidFill>
            <a:srgbClr val="B377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9174059" y="2520000"/>
            <a:ext cx="2592000" cy="1080000"/>
          </a:xfrm>
          <a:prstGeom prst="rect">
            <a:avLst/>
          </a:prstGeom>
          <a:solidFill>
            <a:srgbClr val="4453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246059" y="2664000"/>
            <a:ext cx="2448000" cy="540000"/>
          </a:xfrm>
          <a:prstGeom prst="rect">
            <a:avLst/>
          </a:prstGeom>
          <a:noFill/>
        </p:spPr>
        <p:txBody>
          <a:bodyPr wrap="square" lIns="36000" rIns="36000" tIns="18000" bIns="18000" anchor="t">
            <a:spAutoFit/>
          </a:bodyPr>
          <a:lstStyle/>
          <a:p>
            <a:pPr algn="ctr"/>
            <a:r>
              <a:rPr sz="1500" b="1" i="0">
                <a:solidFill>
                  <a:srgbClr val="FFFFFF"/>
                </a:solidFill>
                <a:latin typeface="Yu Gothic"/>
              </a:rPr>
              <a:t>主任CM</a:t>
            </a:r>
          </a:p>
          <a:p>
            <a:pPr algn="ctr"/>
            <a:r>
              <a:rPr sz="1500" b="1" i="0">
                <a:solidFill>
                  <a:srgbClr val="FFFFFF"/>
                </a:solidFill>
                <a:latin typeface="Yu Gothic"/>
              </a:rPr>
              <a:t>更新研修</a:t>
            </a:r>
          </a:p>
        </p:txBody>
      </p:sp>
      <p:sp>
        <p:nvSpPr>
          <p:cNvPr id="26" name="TextBox 25"/>
          <p:cNvSpPr txBox="1"/>
          <p:nvPr/>
        </p:nvSpPr>
        <p:spPr>
          <a:xfrm>
            <a:off x="9246059" y="3204000"/>
            <a:ext cx="2448000" cy="288000"/>
          </a:xfrm>
          <a:prstGeom prst="rect">
            <a:avLst/>
          </a:prstGeom>
          <a:noFill/>
        </p:spPr>
        <p:txBody>
          <a:bodyPr wrap="square" lIns="36000" rIns="36000" tIns="18000" bIns="18000" anchor="t">
            <a:spAutoFit/>
          </a:bodyPr>
          <a:lstStyle/>
          <a:p>
            <a:pPr algn="ctr"/>
            <a:r>
              <a:rPr sz="1100" b="0" i="0">
                <a:solidFill>
                  <a:srgbClr val="FFFFFF"/>
                </a:solidFill>
                <a:latin typeface="Yu Gothic"/>
              </a:rPr>
              <a:t>主任を続ける</a:t>
            </a:r>
          </a:p>
        </p:txBody>
      </p:sp>
      <p:sp>
        <p:nvSpPr>
          <p:cNvPr id="27" name="Rectangle 26"/>
          <p:cNvSpPr/>
          <p:nvPr/>
        </p:nvSpPr>
        <p:spPr>
          <a:xfrm>
            <a:off x="432000" y="4140000"/>
            <a:ext cx="11304000" cy="360000"/>
          </a:xfrm>
          <a:prstGeom prst="rect">
            <a:avLst/>
          </a:prstGeom>
          <a:solidFill>
            <a:srgbClr val="2947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04000" y="4176000"/>
            <a:ext cx="11160000" cy="288000"/>
          </a:xfrm>
          <a:prstGeom prst="rect">
            <a:avLst/>
          </a:prstGeom>
          <a:noFill/>
        </p:spPr>
        <p:txBody>
          <a:bodyPr wrap="square" lIns="36000" rIns="36000" tIns="18000" bIns="18000" anchor="ctr">
            <a:spAutoFit/>
          </a:bodyPr>
          <a:lstStyle/>
          <a:p>
            <a:pPr algn="l"/>
            <a:r>
              <a:rPr sz="1400" b="1" i="0">
                <a:solidFill>
                  <a:srgbClr val="FFFFFF"/>
                </a:solidFill>
                <a:latin typeface="Yu Gothic"/>
              </a:rPr>
              <a:t>押さえておきたい基本構造</a:t>
            </a:r>
          </a:p>
        </p:txBody>
      </p:sp>
      <p:sp>
        <p:nvSpPr>
          <p:cNvPr id="29" name="Rectangle 28"/>
          <p:cNvSpPr/>
          <p:nvPr/>
        </p:nvSpPr>
        <p:spPr>
          <a:xfrm>
            <a:off x="432000" y="4500000"/>
            <a:ext cx="11304000" cy="1620000"/>
          </a:xfrm>
          <a:prstGeom prst="rect">
            <a:avLst/>
          </a:prstGeom>
          <a:solidFill>
            <a:srgbClr val="E7EC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40000" y="4536000"/>
            <a:ext cx="11088000" cy="1584000"/>
          </a:xfrm>
          <a:prstGeom prst="rect">
            <a:avLst/>
          </a:prstGeom>
          <a:noFill/>
        </p:spPr>
        <p:txBody>
          <a:bodyPr wrap="square" lIns="36000" rIns="36000" tIns="18000" bIns="18000" anchor="t">
            <a:spAutoFit/>
          </a:bodyPr>
          <a:lstStyle/>
          <a:p>
            <a:pPr algn="l"/>
            <a:r>
              <a:rPr sz="1300" b="0" i="0">
                <a:solidFill>
                  <a:srgbClr val="2E3330"/>
                </a:solidFill>
                <a:latin typeface="Yu Gothic"/>
              </a:rPr>
              <a:t>■ 介護支援専門員証は 5年ごとに更新 ― 更新には所定の研修(専門研修等)の修了が必要</a:t>
            </a:r>
          </a:p>
          <a:p>
            <a:pPr algn="l"/>
            <a:r>
              <a:rPr sz="1300" b="0" i="0">
                <a:solidFill>
                  <a:srgbClr val="2E3330"/>
                </a:solidFill>
                <a:latin typeface="Yu Gothic"/>
              </a:rPr>
              <a:t/>
            </a:r>
          </a:p>
          <a:p>
            <a:pPr algn="l"/>
            <a:r>
              <a:rPr sz="1300" b="0" i="0">
                <a:solidFill>
                  <a:srgbClr val="2E3330"/>
                </a:solidFill>
                <a:latin typeface="Yu Gothic"/>
              </a:rPr>
              <a:t>■ 主任介護支援専門員も、5年ごとに 主任介護支援専門員更新研修 を受ける必要がある</a:t>
            </a:r>
          </a:p>
          <a:p>
            <a:pPr algn="l"/>
            <a:r>
              <a:rPr sz="1300" b="0" i="0">
                <a:solidFill>
                  <a:srgbClr val="2E3330"/>
                </a:solidFill>
                <a:latin typeface="Yu Gothic"/>
              </a:rPr>
              <a:t/>
            </a:r>
          </a:p>
          <a:p>
            <a:pPr algn="l"/>
            <a:r>
              <a:rPr sz="1300" b="0" i="0">
                <a:solidFill>
                  <a:srgbClr val="2E3330"/>
                </a:solidFill>
                <a:latin typeface="Yu Gothic"/>
              </a:rPr>
              <a:t>■ 実務未経験・ブランクのある人向けに、再研修・更新研修(実務未経験者向け)もある</a:t>
            </a:r>
          </a:p>
          <a:p>
            <a:pPr algn="l"/>
            <a:r>
              <a:rPr sz="1300" b="0" i="0">
                <a:solidFill>
                  <a:srgbClr val="2E3330"/>
                </a:solidFill>
                <a:latin typeface="Yu Gothic"/>
              </a:rPr>
              <a:t/>
            </a:r>
          </a:p>
          <a:p>
            <a:pPr algn="l"/>
            <a:r>
              <a:rPr sz="1300" b="0" i="0">
                <a:solidFill>
                  <a:srgbClr val="2E3330"/>
                </a:solidFill>
                <a:latin typeface="Yu Gothic"/>
              </a:rPr>
              <a:t>■ 研修の名称・時間数・要件の詳細や運用は 都道府県により異なる ― 必ず自県の情報を確認</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576000"/>
          </a:xfrm>
          <a:prstGeom prst="rect">
            <a:avLst/>
          </a:prstGeom>
          <a:solidFill>
            <a:srgbClr val="2947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88000" y="90000"/>
            <a:ext cx="7920000" cy="216000"/>
          </a:xfrm>
          <a:prstGeom prst="rect">
            <a:avLst/>
          </a:prstGeom>
          <a:noFill/>
        </p:spPr>
        <p:txBody>
          <a:bodyPr wrap="square" lIns="36000" rIns="36000" tIns="18000" bIns="18000" anchor="t">
            <a:spAutoFit/>
          </a:bodyPr>
          <a:lstStyle/>
          <a:p>
            <a:pPr algn="l"/>
            <a:r>
              <a:rPr sz="1100" b="1" i="0">
                <a:solidFill>
                  <a:srgbClr val="FFFFFF"/>
                </a:solidFill>
                <a:latin typeface="Yu Gothic"/>
              </a:rPr>
              <a:t>1. 法定研修体系の全体像</a:t>
            </a:r>
          </a:p>
        </p:txBody>
      </p:sp>
      <p:sp>
        <p:nvSpPr>
          <p:cNvPr id="4" name="TextBox 3"/>
          <p:cNvSpPr txBox="1"/>
          <p:nvPr/>
        </p:nvSpPr>
        <p:spPr>
          <a:xfrm>
            <a:off x="288000" y="684000"/>
            <a:ext cx="11616119" cy="468000"/>
          </a:xfrm>
          <a:prstGeom prst="rect">
            <a:avLst/>
          </a:prstGeom>
          <a:noFill/>
        </p:spPr>
        <p:txBody>
          <a:bodyPr wrap="square" lIns="36000" rIns="36000" tIns="18000" bIns="18000" anchor="t">
            <a:spAutoFit/>
          </a:bodyPr>
          <a:lstStyle/>
          <a:p>
            <a:pPr algn="l"/>
            <a:r>
              <a:rPr sz="2300" b="1" i="0">
                <a:solidFill>
                  <a:srgbClr val="294737"/>
                </a:solidFill>
                <a:latin typeface="Yu Gothic"/>
              </a:rPr>
              <a:t>なぜ法定研修があるのか ― その意味</a:t>
            </a:r>
          </a:p>
        </p:txBody>
      </p:sp>
      <p:sp>
        <p:nvSpPr>
          <p:cNvPr id="5" name="Rectangle 4"/>
          <p:cNvSpPr/>
          <p:nvPr/>
        </p:nvSpPr>
        <p:spPr>
          <a:xfrm>
            <a:off x="288000" y="1152000"/>
            <a:ext cx="900000" cy="43200"/>
          </a:xfrm>
          <a:prstGeom prst="rect">
            <a:avLst/>
          </a:prstGeom>
          <a:solidFill>
            <a:srgbClr val="B377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88000" y="6570000"/>
            <a:ext cx="9720000" cy="180000"/>
          </a:xfrm>
          <a:prstGeom prst="rect">
            <a:avLst/>
          </a:prstGeom>
          <a:noFill/>
        </p:spPr>
        <p:txBody>
          <a:bodyPr wrap="square" lIns="36000" rIns="36000" tIns="18000" bIns="18000" anchor="t">
            <a:spAutoFit/>
          </a:bodyPr>
          <a:lstStyle/>
          <a:p>
            <a:pPr algn="l"/>
            <a:r>
              <a:rPr sz="900" b="0" i="0">
                <a:solidFill>
                  <a:srgbClr val="6E8C7C"/>
                </a:solidFill>
                <a:latin typeface="Yu Gothic"/>
              </a:rPr>
              <a:t>主任CM研修 / 法定研修制度改正への対応と主任CM更新研修の戦略  ※研修制度は最新情報をご確認ください</a:t>
            </a:r>
          </a:p>
        </p:txBody>
      </p:sp>
      <p:sp>
        <p:nvSpPr>
          <p:cNvPr id="7" name="TextBox 6"/>
          <p:cNvSpPr txBox="1"/>
          <p:nvPr/>
        </p:nvSpPr>
        <p:spPr>
          <a:xfrm>
            <a:off x="11112119" y="6570000"/>
            <a:ext cx="792000" cy="180000"/>
          </a:xfrm>
          <a:prstGeom prst="rect">
            <a:avLst/>
          </a:prstGeom>
          <a:noFill/>
        </p:spPr>
        <p:txBody>
          <a:bodyPr wrap="square" lIns="36000" rIns="36000" tIns="18000" bIns="18000" anchor="t">
            <a:spAutoFit/>
          </a:bodyPr>
          <a:lstStyle/>
          <a:p>
            <a:pPr algn="r"/>
            <a:r>
              <a:rPr sz="900" b="0" i="0">
                <a:solidFill>
                  <a:srgbClr val="6E8C7C"/>
                </a:solidFill>
                <a:latin typeface="Yu Gothic"/>
              </a:rPr>
              <a:t>6 / 27</a:t>
            </a:r>
          </a:p>
        </p:txBody>
      </p:sp>
      <p:sp>
        <p:nvSpPr>
          <p:cNvPr id="8" name="Rectangle 7"/>
          <p:cNvSpPr/>
          <p:nvPr/>
        </p:nvSpPr>
        <p:spPr>
          <a:xfrm>
            <a:off x="432000" y="1620000"/>
            <a:ext cx="5580000" cy="360000"/>
          </a:xfrm>
          <a:prstGeom prst="rect">
            <a:avLst/>
          </a:prstGeom>
          <a:solidFill>
            <a:srgbClr val="4063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4000" y="1656000"/>
            <a:ext cx="5436000" cy="288000"/>
          </a:xfrm>
          <a:prstGeom prst="rect">
            <a:avLst/>
          </a:prstGeom>
          <a:noFill/>
        </p:spPr>
        <p:txBody>
          <a:bodyPr wrap="square" lIns="36000" rIns="36000" tIns="18000" bIns="18000" anchor="ctr">
            <a:spAutoFit/>
          </a:bodyPr>
          <a:lstStyle/>
          <a:p>
            <a:pPr algn="l"/>
            <a:r>
              <a:rPr sz="1400" b="1" i="0">
                <a:solidFill>
                  <a:srgbClr val="FFFFFF"/>
                </a:solidFill>
                <a:latin typeface="Yu Gothic"/>
              </a:rPr>
              <a:t>法定研修の役割</a:t>
            </a:r>
          </a:p>
        </p:txBody>
      </p:sp>
      <p:sp>
        <p:nvSpPr>
          <p:cNvPr id="10" name="Rectangle 9"/>
          <p:cNvSpPr/>
          <p:nvPr/>
        </p:nvSpPr>
        <p:spPr>
          <a:xfrm>
            <a:off x="432000" y="1980000"/>
            <a:ext cx="5580000" cy="1800000"/>
          </a:xfrm>
          <a:prstGeom prst="rect">
            <a:avLst/>
          </a:prstGeom>
          <a:solidFill>
            <a:srgbClr val="E7EC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0000" y="2016000"/>
            <a:ext cx="5364000" cy="1764000"/>
          </a:xfrm>
          <a:prstGeom prst="rect">
            <a:avLst/>
          </a:prstGeom>
          <a:noFill/>
        </p:spPr>
        <p:txBody>
          <a:bodyPr wrap="square" lIns="36000" rIns="36000" tIns="18000" bIns="18000" anchor="t">
            <a:spAutoFit/>
          </a:bodyPr>
          <a:lstStyle/>
          <a:p>
            <a:pPr algn="l"/>
            <a:r>
              <a:rPr sz="1300" b="0" i="0">
                <a:solidFill>
                  <a:srgbClr val="2E3330"/>
                </a:solidFill>
                <a:latin typeface="Yu Gothic"/>
              </a:rPr>
              <a:t>■ ケアマネジメントの質を、全国で一定に保つ</a:t>
            </a:r>
          </a:p>
          <a:p>
            <a:pPr algn="l"/>
            <a:r>
              <a:rPr sz="1300" b="0" i="0">
                <a:solidFill>
                  <a:srgbClr val="2E3330"/>
                </a:solidFill>
                <a:latin typeface="Yu Gothic"/>
              </a:rPr>
              <a:t/>
            </a:r>
          </a:p>
          <a:p>
            <a:pPr algn="l"/>
            <a:r>
              <a:rPr sz="1300" b="0" i="0">
                <a:solidFill>
                  <a:srgbClr val="2E3330"/>
                </a:solidFill>
                <a:latin typeface="Yu Gothic"/>
              </a:rPr>
              <a:t>■ 制度改正・最新の知見を確実に届ける</a:t>
            </a:r>
          </a:p>
          <a:p>
            <a:pPr algn="l"/>
            <a:r>
              <a:rPr sz="1300" b="0" i="0">
                <a:solidFill>
                  <a:srgbClr val="2E3330"/>
                </a:solidFill>
                <a:latin typeface="Yu Gothic"/>
              </a:rPr>
              <a:t/>
            </a:r>
          </a:p>
          <a:p>
            <a:pPr algn="l"/>
            <a:r>
              <a:rPr sz="1300" b="0" i="0">
                <a:solidFill>
                  <a:srgbClr val="2E3330"/>
                </a:solidFill>
                <a:latin typeface="Yu Gothic"/>
              </a:rPr>
              <a:t>■ 専門職としての継続的な学びを担保する</a:t>
            </a:r>
          </a:p>
          <a:p>
            <a:pPr algn="l"/>
            <a:r>
              <a:rPr sz="1300" b="0" i="0">
                <a:solidFill>
                  <a:srgbClr val="2E3330"/>
                </a:solidFill>
                <a:latin typeface="Yu Gothic"/>
              </a:rPr>
              <a:t/>
            </a:r>
          </a:p>
          <a:p>
            <a:pPr algn="l"/>
            <a:r>
              <a:rPr sz="1300" b="0" i="0">
                <a:solidFill>
                  <a:srgbClr val="2E3330"/>
                </a:solidFill>
                <a:latin typeface="Yu Gothic"/>
              </a:rPr>
              <a:t>■ 資格・更新と結びつけ、受講を確実に</a:t>
            </a:r>
          </a:p>
          <a:p>
            <a:pPr algn="l"/>
            <a:r>
              <a:rPr sz="1300" b="0" i="0">
                <a:solidFill>
                  <a:srgbClr val="2E3330"/>
                </a:solidFill>
                <a:latin typeface="Yu Gothic"/>
              </a:rPr>
              <a:t/>
            </a:r>
          </a:p>
          <a:p>
            <a:pPr algn="l"/>
            <a:r>
              <a:rPr sz="1300" b="0" i="0">
                <a:solidFill>
                  <a:srgbClr val="2E3330"/>
                </a:solidFill>
                <a:latin typeface="Yu Gothic"/>
              </a:rPr>
              <a:t>■ 主任CMなど、段階的な力量形成を支える</a:t>
            </a:r>
          </a:p>
        </p:txBody>
      </p:sp>
      <p:sp>
        <p:nvSpPr>
          <p:cNvPr id="12" name="Rectangle 11"/>
          <p:cNvSpPr/>
          <p:nvPr/>
        </p:nvSpPr>
        <p:spPr>
          <a:xfrm>
            <a:off x="6300000" y="1620000"/>
            <a:ext cx="5400000" cy="360000"/>
          </a:xfrm>
          <a:prstGeom prst="rect">
            <a:avLst/>
          </a:prstGeom>
          <a:solidFill>
            <a:srgbClr val="B244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72000" y="1656000"/>
            <a:ext cx="5256000" cy="288000"/>
          </a:xfrm>
          <a:prstGeom prst="rect">
            <a:avLst/>
          </a:prstGeom>
          <a:noFill/>
        </p:spPr>
        <p:txBody>
          <a:bodyPr wrap="square" lIns="36000" rIns="36000" tIns="18000" bIns="18000" anchor="ctr">
            <a:spAutoFit/>
          </a:bodyPr>
          <a:lstStyle/>
          <a:p>
            <a:pPr algn="l"/>
            <a:r>
              <a:rPr sz="1400" b="1" i="0">
                <a:solidFill>
                  <a:srgbClr val="FFFFFF"/>
                </a:solidFill>
                <a:latin typeface="Yu Gothic"/>
              </a:rPr>
              <a:t>一方で指摘される課題</a:t>
            </a:r>
          </a:p>
        </p:txBody>
      </p:sp>
      <p:sp>
        <p:nvSpPr>
          <p:cNvPr id="14" name="Rectangle 13"/>
          <p:cNvSpPr/>
          <p:nvPr/>
        </p:nvSpPr>
        <p:spPr>
          <a:xfrm>
            <a:off x="6300000" y="1980000"/>
            <a:ext cx="5400000" cy="1800000"/>
          </a:xfrm>
          <a:prstGeom prst="rect">
            <a:avLst/>
          </a:prstGeom>
          <a:solidFill>
            <a:srgbClr val="F8E6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8000" y="2016000"/>
            <a:ext cx="5184000" cy="1764000"/>
          </a:xfrm>
          <a:prstGeom prst="rect">
            <a:avLst/>
          </a:prstGeom>
          <a:noFill/>
        </p:spPr>
        <p:txBody>
          <a:bodyPr wrap="square" lIns="36000" rIns="36000" tIns="18000" bIns="18000" anchor="t">
            <a:spAutoFit/>
          </a:bodyPr>
          <a:lstStyle/>
          <a:p>
            <a:pPr algn="l"/>
            <a:r>
              <a:rPr sz="1300" b="0" i="0">
                <a:solidFill>
                  <a:srgbClr val="2E3330"/>
                </a:solidFill>
                <a:latin typeface="Yu Gothic"/>
              </a:rPr>
              <a:t>■ 研修時間が長く、負担が大きい</a:t>
            </a:r>
          </a:p>
          <a:p>
            <a:pPr algn="l"/>
            <a:r>
              <a:rPr sz="1300" b="0" i="0">
                <a:solidFill>
                  <a:srgbClr val="2E3330"/>
                </a:solidFill>
                <a:latin typeface="Yu Gothic"/>
              </a:rPr>
              <a:t/>
            </a:r>
          </a:p>
          <a:p>
            <a:pPr algn="l"/>
            <a:r>
              <a:rPr sz="1300" b="0" i="0">
                <a:solidFill>
                  <a:srgbClr val="2E3330"/>
                </a:solidFill>
                <a:latin typeface="Yu Gothic"/>
              </a:rPr>
              <a:t>■ 業務を離れて受講する間の体制確保</a:t>
            </a:r>
          </a:p>
          <a:p>
            <a:pPr algn="l"/>
            <a:r>
              <a:rPr sz="1300" b="0" i="0">
                <a:solidFill>
                  <a:srgbClr val="2E3330"/>
                </a:solidFill>
                <a:latin typeface="Yu Gothic"/>
              </a:rPr>
              <a:t/>
            </a:r>
          </a:p>
          <a:p>
            <a:pPr algn="l"/>
            <a:r>
              <a:rPr sz="1300" b="0" i="0">
                <a:solidFill>
                  <a:srgbClr val="2E3330"/>
                </a:solidFill>
                <a:latin typeface="Yu Gothic"/>
              </a:rPr>
              <a:t>■ 受講費用・移動の負担</a:t>
            </a:r>
          </a:p>
          <a:p>
            <a:pPr algn="l"/>
            <a:r>
              <a:rPr sz="1300" b="0" i="0">
                <a:solidFill>
                  <a:srgbClr val="2E3330"/>
                </a:solidFill>
                <a:latin typeface="Yu Gothic"/>
              </a:rPr>
              <a:t/>
            </a:r>
          </a:p>
          <a:p>
            <a:pPr algn="l"/>
            <a:r>
              <a:rPr sz="1300" b="0" i="0">
                <a:solidFill>
                  <a:srgbClr val="2E3330"/>
                </a:solidFill>
                <a:latin typeface="Yu Gothic"/>
              </a:rPr>
              <a:t>■ 内容の重複感・「やらされ感」</a:t>
            </a:r>
          </a:p>
          <a:p>
            <a:pPr algn="l"/>
            <a:r>
              <a:rPr sz="1300" b="0" i="0">
                <a:solidFill>
                  <a:srgbClr val="2E3330"/>
                </a:solidFill>
                <a:latin typeface="Yu Gothic"/>
              </a:rPr>
              <a:t/>
            </a:r>
          </a:p>
          <a:p>
            <a:pPr algn="l"/>
            <a:r>
              <a:rPr sz="1300" b="0" i="0">
                <a:solidFill>
                  <a:srgbClr val="2E3330"/>
                </a:solidFill>
                <a:latin typeface="Yu Gothic"/>
              </a:rPr>
              <a:t>▶ これらが、制度見直しの背景になっている</a:t>
            </a:r>
          </a:p>
        </p:txBody>
      </p:sp>
      <p:sp>
        <p:nvSpPr>
          <p:cNvPr id="16" name="Rectangle 15"/>
          <p:cNvSpPr/>
          <p:nvPr/>
        </p:nvSpPr>
        <p:spPr>
          <a:xfrm>
            <a:off x="432000" y="3960000"/>
            <a:ext cx="11304000" cy="360000"/>
          </a:xfrm>
          <a:prstGeom prst="rect">
            <a:avLst/>
          </a:prstGeom>
          <a:solidFill>
            <a:srgbClr val="2947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4000" y="3996000"/>
            <a:ext cx="11160000" cy="288000"/>
          </a:xfrm>
          <a:prstGeom prst="rect">
            <a:avLst/>
          </a:prstGeom>
          <a:noFill/>
        </p:spPr>
        <p:txBody>
          <a:bodyPr wrap="square" lIns="36000" rIns="36000" tIns="18000" bIns="18000" anchor="ctr">
            <a:spAutoFit/>
          </a:bodyPr>
          <a:lstStyle/>
          <a:p>
            <a:pPr algn="l"/>
            <a:r>
              <a:rPr sz="1400" b="1" i="0">
                <a:solidFill>
                  <a:srgbClr val="FFFFFF"/>
                </a:solidFill>
                <a:latin typeface="Yu Gothic"/>
              </a:rPr>
              <a:t>主任CMとしての捉え方</a:t>
            </a:r>
          </a:p>
        </p:txBody>
      </p:sp>
      <p:sp>
        <p:nvSpPr>
          <p:cNvPr id="18" name="Rectangle 17"/>
          <p:cNvSpPr/>
          <p:nvPr/>
        </p:nvSpPr>
        <p:spPr>
          <a:xfrm>
            <a:off x="432000" y="4320000"/>
            <a:ext cx="11304000" cy="1800000"/>
          </a:xfrm>
          <a:prstGeom prst="rect">
            <a:avLst/>
          </a:prstGeom>
          <a:solidFill>
            <a:srgbClr val="E7EC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0000" y="4356000"/>
            <a:ext cx="11088000" cy="1764000"/>
          </a:xfrm>
          <a:prstGeom prst="rect">
            <a:avLst/>
          </a:prstGeom>
          <a:noFill/>
        </p:spPr>
        <p:txBody>
          <a:bodyPr wrap="square" lIns="36000" rIns="36000" tIns="18000" bIns="18000" anchor="t">
            <a:spAutoFit/>
          </a:bodyPr>
          <a:lstStyle/>
          <a:p>
            <a:pPr algn="l"/>
            <a:r>
              <a:rPr sz="1300" b="0" i="0">
                <a:solidFill>
                  <a:srgbClr val="2E3330"/>
                </a:solidFill>
                <a:latin typeface="Yu Gothic"/>
              </a:rPr>
              <a:t>■ 法定研修を「やらされる負担」と見るか、「質を支えるしくみ」と見るかで、関わり方が変わる</a:t>
            </a:r>
          </a:p>
          <a:p>
            <a:pPr algn="l"/>
            <a:r>
              <a:rPr sz="1300" b="0" i="0">
                <a:solidFill>
                  <a:srgbClr val="2E3330"/>
                </a:solidFill>
                <a:latin typeface="Yu Gothic"/>
              </a:rPr>
              <a:t/>
            </a:r>
          </a:p>
          <a:p>
            <a:pPr algn="l"/>
            <a:r>
              <a:rPr sz="1300" b="0" i="0">
                <a:solidFill>
                  <a:srgbClr val="2E3330"/>
                </a:solidFill>
                <a:latin typeface="Yu Gothic"/>
              </a:rPr>
              <a:t>■ 制度への不満を言うだけでなく、「どうすれば学びを実りあるものにできるか」を考える</a:t>
            </a:r>
          </a:p>
          <a:p>
            <a:pPr algn="l"/>
            <a:r>
              <a:rPr sz="1300" b="0" i="0">
                <a:solidFill>
                  <a:srgbClr val="2E3330"/>
                </a:solidFill>
                <a:latin typeface="Yu Gothic"/>
              </a:rPr>
              <a:t/>
            </a:r>
          </a:p>
          <a:p>
            <a:pPr algn="l"/>
            <a:r>
              <a:rPr sz="1300" b="0" i="0">
                <a:solidFill>
                  <a:srgbClr val="2E3330"/>
                </a:solidFill>
                <a:latin typeface="Yu Gothic"/>
              </a:rPr>
              <a:t>■ 主任CMは、後輩が研修を前向きに受けられるよう、意味づけを支える立場にある</a:t>
            </a:r>
          </a:p>
          <a:p>
            <a:pPr algn="l"/>
            <a:r>
              <a:rPr sz="1300" b="0" i="0">
                <a:solidFill>
                  <a:srgbClr val="2E3330"/>
                </a:solidFill>
                <a:latin typeface="Yu Gothic"/>
              </a:rPr>
              <a:t/>
            </a:r>
          </a:p>
          <a:p>
            <a:pPr algn="l"/>
            <a:r>
              <a:rPr sz="1300" b="0" i="0">
                <a:solidFill>
                  <a:srgbClr val="2E3330"/>
                </a:solidFill>
                <a:latin typeface="Yu Gothic"/>
              </a:rPr>
              <a:t>■ 同時に、現場の負担の実態を、職能団体等を通じて制度に伝えていく役割も持つ</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6858000"/>
          </a:xfrm>
          <a:prstGeom prst="rect">
            <a:avLst/>
          </a:prstGeom>
          <a:solidFill>
            <a:srgbClr val="2947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060000"/>
            <a:ext cx="12192119" cy="36000"/>
          </a:xfrm>
          <a:prstGeom prst="rect">
            <a:avLst/>
          </a:prstGeom>
          <a:solidFill>
            <a:srgbClr val="B377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20000" y="2340000"/>
            <a:ext cx="10752119" cy="540000"/>
          </a:xfrm>
          <a:prstGeom prst="rect">
            <a:avLst/>
          </a:prstGeom>
          <a:noFill/>
        </p:spPr>
        <p:txBody>
          <a:bodyPr wrap="square" lIns="36000" rIns="36000" tIns="18000" bIns="18000" anchor="t">
            <a:spAutoFit/>
          </a:bodyPr>
          <a:lstStyle/>
          <a:p>
            <a:pPr algn="ctr"/>
            <a:r>
              <a:rPr sz="2200" b="1" i="0">
                <a:solidFill>
                  <a:srgbClr val="B37739"/>
                </a:solidFill>
                <a:latin typeface="Yu Gothic"/>
              </a:rPr>
              <a:t>PART 2</a:t>
            </a:r>
          </a:p>
        </p:txBody>
      </p:sp>
      <p:sp>
        <p:nvSpPr>
          <p:cNvPr id="5" name="TextBox 4"/>
          <p:cNvSpPr txBox="1"/>
          <p:nvPr/>
        </p:nvSpPr>
        <p:spPr>
          <a:xfrm>
            <a:off x="360000" y="3420000"/>
            <a:ext cx="11472119" cy="720000"/>
          </a:xfrm>
          <a:prstGeom prst="rect">
            <a:avLst/>
          </a:prstGeom>
          <a:noFill/>
        </p:spPr>
        <p:txBody>
          <a:bodyPr wrap="square" lIns="36000" rIns="36000" tIns="18000" bIns="18000" anchor="t">
            <a:spAutoFit/>
          </a:bodyPr>
          <a:lstStyle/>
          <a:p>
            <a:pPr algn="ctr"/>
            <a:r>
              <a:rPr sz="3300" b="1" i="0">
                <a:solidFill>
                  <a:srgbClr val="FFFFFF"/>
                </a:solidFill>
                <a:latin typeface="Yu Gothic"/>
              </a:rPr>
              <a:t>研修制度改正の動向</a:t>
            </a:r>
          </a:p>
        </p:txBody>
      </p:sp>
      <p:sp>
        <p:nvSpPr>
          <p:cNvPr id="6" name="TextBox 5"/>
          <p:cNvSpPr txBox="1"/>
          <p:nvPr/>
        </p:nvSpPr>
        <p:spPr>
          <a:xfrm>
            <a:off x="360000" y="4680000"/>
            <a:ext cx="11472119" cy="360000"/>
          </a:xfrm>
          <a:prstGeom prst="rect">
            <a:avLst/>
          </a:prstGeom>
          <a:noFill/>
        </p:spPr>
        <p:txBody>
          <a:bodyPr wrap="square" lIns="36000" rIns="36000" tIns="18000" bIns="18000" anchor="t">
            <a:spAutoFit/>
          </a:bodyPr>
          <a:lstStyle/>
          <a:p>
            <a:pPr algn="ctr"/>
            <a:r>
              <a:rPr sz="1400" b="0" i="0">
                <a:solidFill>
                  <a:srgbClr val="D5DBD6"/>
                </a:solidFill>
                <a:latin typeface="Yu Gothic"/>
              </a:rPr>
              <a:t>Trends in Training System Reform</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576000"/>
          </a:xfrm>
          <a:prstGeom prst="rect">
            <a:avLst/>
          </a:prstGeom>
          <a:solidFill>
            <a:srgbClr val="2947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88000" y="90000"/>
            <a:ext cx="7920000" cy="216000"/>
          </a:xfrm>
          <a:prstGeom prst="rect">
            <a:avLst/>
          </a:prstGeom>
          <a:noFill/>
        </p:spPr>
        <p:txBody>
          <a:bodyPr wrap="square" lIns="36000" rIns="36000" tIns="18000" bIns="18000" anchor="t">
            <a:spAutoFit/>
          </a:bodyPr>
          <a:lstStyle/>
          <a:p>
            <a:pPr algn="l"/>
            <a:r>
              <a:rPr sz="1100" b="1" i="0">
                <a:solidFill>
                  <a:srgbClr val="FFFFFF"/>
                </a:solidFill>
                <a:latin typeface="Yu Gothic"/>
              </a:rPr>
              <a:t>2. 研修制度改正の動向</a:t>
            </a:r>
          </a:p>
        </p:txBody>
      </p:sp>
      <p:sp>
        <p:nvSpPr>
          <p:cNvPr id="4" name="TextBox 3"/>
          <p:cNvSpPr txBox="1"/>
          <p:nvPr/>
        </p:nvSpPr>
        <p:spPr>
          <a:xfrm>
            <a:off x="288000" y="684000"/>
            <a:ext cx="11616119" cy="468000"/>
          </a:xfrm>
          <a:prstGeom prst="rect">
            <a:avLst/>
          </a:prstGeom>
          <a:noFill/>
        </p:spPr>
        <p:txBody>
          <a:bodyPr wrap="square" lIns="36000" rIns="36000" tIns="18000" bIns="18000" anchor="t">
            <a:spAutoFit/>
          </a:bodyPr>
          <a:lstStyle/>
          <a:p>
            <a:pPr algn="l"/>
            <a:r>
              <a:rPr sz="2300" b="1" i="0">
                <a:solidFill>
                  <a:srgbClr val="294737"/>
                </a:solidFill>
                <a:latin typeface="Yu Gothic"/>
              </a:rPr>
              <a:t>なぜ研修体系が見直されているのか</a:t>
            </a:r>
          </a:p>
        </p:txBody>
      </p:sp>
      <p:sp>
        <p:nvSpPr>
          <p:cNvPr id="5" name="Rectangle 4"/>
          <p:cNvSpPr/>
          <p:nvPr/>
        </p:nvSpPr>
        <p:spPr>
          <a:xfrm>
            <a:off x="288000" y="1152000"/>
            <a:ext cx="900000" cy="43200"/>
          </a:xfrm>
          <a:prstGeom prst="rect">
            <a:avLst/>
          </a:prstGeom>
          <a:solidFill>
            <a:srgbClr val="B377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88000" y="6570000"/>
            <a:ext cx="9720000" cy="180000"/>
          </a:xfrm>
          <a:prstGeom prst="rect">
            <a:avLst/>
          </a:prstGeom>
          <a:noFill/>
        </p:spPr>
        <p:txBody>
          <a:bodyPr wrap="square" lIns="36000" rIns="36000" tIns="18000" bIns="18000" anchor="t">
            <a:spAutoFit/>
          </a:bodyPr>
          <a:lstStyle/>
          <a:p>
            <a:pPr algn="l"/>
            <a:r>
              <a:rPr sz="900" b="0" i="0">
                <a:solidFill>
                  <a:srgbClr val="6E8C7C"/>
                </a:solidFill>
                <a:latin typeface="Yu Gothic"/>
              </a:rPr>
              <a:t>主任CM研修 / 法定研修制度改正への対応と主任CM更新研修の戦略  ※研修制度は最新情報をご確認ください</a:t>
            </a:r>
          </a:p>
        </p:txBody>
      </p:sp>
      <p:sp>
        <p:nvSpPr>
          <p:cNvPr id="7" name="TextBox 6"/>
          <p:cNvSpPr txBox="1"/>
          <p:nvPr/>
        </p:nvSpPr>
        <p:spPr>
          <a:xfrm>
            <a:off x="11112119" y="6570000"/>
            <a:ext cx="792000" cy="180000"/>
          </a:xfrm>
          <a:prstGeom prst="rect">
            <a:avLst/>
          </a:prstGeom>
          <a:noFill/>
        </p:spPr>
        <p:txBody>
          <a:bodyPr wrap="square" lIns="36000" rIns="36000" tIns="18000" bIns="18000" anchor="t">
            <a:spAutoFit/>
          </a:bodyPr>
          <a:lstStyle/>
          <a:p>
            <a:pPr algn="r"/>
            <a:r>
              <a:rPr sz="900" b="0" i="0">
                <a:solidFill>
                  <a:srgbClr val="6E8C7C"/>
                </a:solidFill>
                <a:latin typeface="Yu Gothic"/>
              </a:rPr>
              <a:t>8 / 27</a:t>
            </a:r>
          </a:p>
        </p:txBody>
      </p:sp>
      <p:sp>
        <p:nvSpPr>
          <p:cNvPr id="8" name="Rectangle 7"/>
          <p:cNvSpPr/>
          <p:nvPr/>
        </p:nvSpPr>
        <p:spPr>
          <a:xfrm>
            <a:off x="432000" y="1548000"/>
            <a:ext cx="11304000" cy="360000"/>
          </a:xfrm>
          <a:prstGeom prst="rect">
            <a:avLst/>
          </a:prstGeom>
          <a:solidFill>
            <a:srgbClr val="2947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4000" y="1584000"/>
            <a:ext cx="11160000" cy="288000"/>
          </a:xfrm>
          <a:prstGeom prst="rect">
            <a:avLst/>
          </a:prstGeom>
          <a:noFill/>
        </p:spPr>
        <p:txBody>
          <a:bodyPr wrap="square" lIns="36000" rIns="36000" tIns="18000" bIns="18000" anchor="ctr">
            <a:spAutoFit/>
          </a:bodyPr>
          <a:lstStyle/>
          <a:p>
            <a:pPr algn="l"/>
            <a:r>
              <a:rPr sz="1400" b="1" i="0">
                <a:solidFill>
                  <a:srgbClr val="FFFFFF"/>
                </a:solidFill>
                <a:latin typeface="Yu Gothic"/>
              </a:rPr>
              <a:t>研修体系の見直しが議論されている</a:t>
            </a:r>
          </a:p>
        </p:txBody>
      </p:sp>
      <p:sp>
        <p:nvSpPr>
          <p:cNvPr id="10" name="Rectangle 9"/>
          <p:cNvSpPr/>
          <p:nvPr/>
        </p:nvSpPr>
        <p:spPr>
          <a:xfrm>
            <a:off x="432000" y="1908000"/>
            <a:ext cx="11304000" cy="467999"/>
          </a:xfrm>
          <a:prstGeom prst="rect">
            <a:avLst/>
          </a:prstGeom>
          <a:solidFill>
            <a:srgbClr val="E7EC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0000" y="1944000"/>
            <a:ext cx="11088000" cy="431999"/>
          </a:xfrm>
          <a:prstGeom prst="rect">
            <a:avLst/>
          </a:prstGeom>
          <a:noFill/>
        </p:spPr>
        <p:txBody>
          <a:bodyPr wrap="square" lIns="36000" rIns="36000" tIns="18000" bIns="18000" anchor="t">
            <a:spAutoFit/>
          </a:bodyPr>
          <a:lstStyle/>
          <a:p>
            <a:pPr algn="l"/>
            <a:r>
              <a:rPr sz="1200" b="0" i="0">
                <a:solidFill>
                  <a:srgbClr val="2E3330"/>
                </a:solidFill>
                <a:latin typeface="Yu Gothic"/>
              </a:rPr>
              <a:t>国において、介護支援専門員の法定研修のあり方について見直しの議論が進められている。</a:t>
            </a:r>
          </a:p>
          <a:p>
            <a:pPr algn="l"/>
            <a:r>
              <a:rPr sz="1200" b="0" i="0">
                <a:solidFill>
                  <a:srgbClr val="2E3330"/>
                </a:solidFill>
                <a:latin typeface="Yu Gothic"/>
              </a:rPr>
              <a:t>その背景には、現場が抱える複数の課題がある。</a:t>
            </a:r>
          </a:p>
        </p:txBody>
      </p:sp>
      <p:sp>
        <p:nvSpPr>
          <p:cNvPr id="12" name="Rectangle 11"/>
          <p:cNvSpPr/>
          <p:nvPr/>
        </p:nvSpPr>
        <p:spPr>
          <a:xfrm>
            <a:off x="390059" y="2592000"/>
            <a:ext cx="2772000" cy="468000"/>
          </a:xfrm>
          <a:prstGeom prst="rect">
            <a:avLst/>
          </a:prstGeom>
          <a:solidFill>
            <a:srgbClr val="B244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90059" y="2592000"/>
            <a:ext cx="2772000" cy="468000"/>
          </a:xfrm>
          <a:prstGeom prst="rect">
            <a:avLst/>
          </a:prstGeom>
          <a:noFill/>
        </p:spPr>
        <p:txBody>
          <a:bodyPr wrap="square" lIns="36000" rIns="36000" tIns="18000" bIns="18000" anchor="ctr">
            <a:spAutoFit/>
          </a:bodyPr>
          <a:lstStyle/>
          <a:p>
            <a:pPr algn="ctr"/>
            <a:r>
              <a:rPr sz="1400" b="1" i="0">
                <a:solidFill>
                  <a:srgbClr val="FFFFFF"/>
                </a:solidFill>
                <a:latin typeface="Yu Gothic"/>
              </a:rPr>
              <a:t>研修負担の重さ</a:t>
            </a:r>
          </a:p>
        </p:txBody>
      </p:sp>
      <p:sp>
        <p:nvSpPr>
          <p:cNvPr id="14" name="Rectangle 13"/>
          <p:cNvSpPr/>
          <p:nvPr/>
        </p:nvSpPr>
        <p:spPr>
          <a:xfrm>
            <a:off x="390059" y="3060000"/>
            <a:ext cx="2772000" cy="1620000"/>
          </a:xfrm>
          <a:prstGeom prst="rect">
            <a:avLst/>
          </a:prstGeom>
          <a:solidFill>
            <a:srgbClr val="E7EC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98059" y="3168000"/>
            <a:ext cx="2556000" cy="1404000"/>
          </a:xfrm>
          <a:prstGeom prst="rect">
            <a:avLst/>
          </a:prstGeom>
          <a:noFill/>
        </p:spPr>
        <p:txBody>
          <a:bodyPr wrap="square" lIns="36000" rIns="36000" tIns="18000" bIns="18000" anchor="t">
            <a:spAutoFit/>
          </a:bodyPr>
          <a:lstStyle/>
          <a:p>
            <a:pPr algn="l">
              <a:lnSpc>
                <a:spcPct val="140000"/>
              </a:lnSpc>
            </a:pPr>
            <a:r>
              <a:rPr sz="1100" b="0" i="0">
                <a:solidFill>
                  <a:srgbClr val="2E3330"/>
                </a:solidFill>
                <a:latin typeface="Yu Gothic"/>
              </a:rPr>
              <a:t>・研修時間が長い</a:t>
            </a:r>
          </a:p>
          <a:p>
            <a:pPr algn="l">
              <a:lnSpc>
                <a:spcPct val="140000"/>
              </a:lnSpc>
            </a:pPr>
            <a:r>
              <a:rPr sz="1100" b="0" i="0">
                <a:solidFill>
                  <a:srgbClr val="2E3330"/>
                </a:solidFill>
                <a:latin typeface="Yu Gothic"/>
              </a:rPr>
              <a:t>・受講中の業務代替が困難</a:t>
            </a:r>
          </a:p>
          <a:p>
            <a:pPr algn="l">
              <a:lnSpc>
                <a:spcPct val="140000"/>
              </a:lnSpc>
            </a:pPr>
            <a:r>
              <a:rPr sz="1100" b="0" i="0">
                <a:solidFill>
                  <a:srgbClr val="2E3330"/>
                </a:solidFill>
                <a:latin typeface="Yu Gothic"/>
              </a:rPr>
              <a:t>・費用・移動の負担</a:t>
            </a:r>
          </a:p>
        </p:txBody>
      </p:sp>
      <p:sp>
        <p:nvSpPr>
          <p:cNvPr id="16" name="Rectangle 15"/>
          <p:cNvSpPr/>
          <p:nvPr/>
        </p:nvSpPr>
        <p:spPr>
          <a:xfrm>
            <a:off x="3270059" y="2592000"/>
            <a:ext cx="2772000" cy="468000"/>
          </a:xfrm>
          <a:prstGeom prst="rect">
            <a:avLst/>
          </a:prstGeom>
          <a:solidFill>
            <a:srgbClr val="B377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270059" y="2592000"/>
            <a:ext cx="2772000" cy="468000"/>
          </a:xfrm>
          <a:prstGeom prst="rect">
            <a:avLst/>
          </a:prstGeom>
          <a:noFill/>
        </p:spPr>
        <p:txBody>
          <a:bodyPr wrap="square" lIns="36000" rIns="36000" tIns="18000" bIns="18000" anchor="ctr">
            <a:spAutoFit/>
          </a:bodyPr>
          <a:lstStyle/>
          <a:p>
            <a:pPr algn="ctr"/>
            <a:r>
              <a:rPr sz="1400" b="1" i="0">
                <a:solidFill>
                  <a:srgbClr val="FFFFFF"/>
                </a:solidFill>
                <a:latin typeface="Yu Gothic"/>
              </a:rPr>
              <a:t>ケアマネ不足</a:t>
            </a:r>
          </a:p>
        </p:txBody>
      </p:sp>
      <p:sp>
        <p:nvSpPr>
          <p:cNvPr id="18" name="Rectangle 17"/>
          <p:cNvSpPr/>
          <p:nvPr/>
        </p:nvSpPr>
        <p:spPr>
          <a:xfrm>
            <a:off x="3270059" y="3060000"/>
            <a:ext cx="2772000" cy="1620000"/>
          </a:xfrm>
          <a:prstGeom prst="rect">
            <a:avLst/>
          </a:prstGeom>
          <a:solidFill>
            <a:srgbClr val="E7EC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378059" y="3168000"/>
            <a:ext cx="2556000" cy="1404000"/>
          </a:xfrm>
          <a:prstGeom prst="rect">
            <a:avLst/>
          </a:prstGeom>
          <a:noFill/>
        </p:spPr>
        <p:txBody>
          <a:bodyPr wrap="square" lIns="36000" rIns="36000" tIns="18000" bIns="18000" anchor="t">
            <a:spAutoFit/>
          </a:bodyPr>
          <a:lstStyle/>
          <a:p>
            <a:pPr algn="l">
              <a:lnSpc>
                <a:spcPct val="140000"/>
              </a:lnSpc>
            </a:pPr>
            <a:r>
              <a:rPr sz="1100" b="0" i="0">
                <a:solidFill>
                  <a:srgbClr val="2E3330"/>
                </a:solidFill>
                <a:latin typeface="Yu Gothic"/>
              </a:rPr>
              <a:t>・有資格者の減少・高齢化</a:t>
            </a:r>
          </a:p>
          <a:p>
            <a:pPr algn="l">
              <a:lnSpc>
                <a:spcPct val="140000"/>
              </a:lnSpc>
            </a:pPr>
            <a:r>
              <a:rPr sz="1100" b="0" i="0">
                <a:solidFill>
                  <a:srgbClr val="2E3330"/>
                </a:solidFill>
                <a:latin typeface="Yu Gothic"/>
              </a:rPr>
              <a:t>・受験者数の減少傾向</a:t>
            </a:r>
          </a:p>
          <a:p>
            <a:pPr algn="l">
              <a:lnSpc>
                <a:spcPct val="140000"/>
              </a:lnSpc>
            </a:pPr>
            <a:r>
              <a:rPr sz="1100" b="0" i="0">
                <a:solidFill>
                  <a:srgbClr val="2E3330"/>
                </a:solidFill>
                <a:latin typeface="Yu Gothic"/>
              </a:rPr>
              <a:t>・人材確保が急務</a:t>
            </a:r>
          </a:p>
        </p:txBody>
      </p:sp>
      <p:sp>
        <p:nvSpPr>
          <p:cNvPr id="20" name="Rectangle 19"/>
          <p:cNvSpPr/>
          <p:nvPr/>
        </p:nvSpPr>
        <p:spPr>
          <a:xfrm>
            <a:off x="6150059" y="2592000"/>
            <a:ext cx="2772000" cy="468000"/>
          </a:xfrm>
          <a:prstGeom prst="rect">
            <a:avLst/>
          </a:prstGeom>
          <a:solidFill>
            <a:srgbClr val="4453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150059" y="2592000"/>
            <a:ext cx="2772000" cy="468000"/>
          </a:xfrm>
          <a:prstGeom prst="rect">
            <a:avLst/>
          </a:prstGeom>
          <a:noFill/>
        </p:spPr>
        <p:txBody>
          <a:bodyPr wrap="square" lIns="36000" rIns="36000" tIns="18000" bIns="18000" anchor="ctr">
            <a:spAutoFit/>
          </a:bodyPr>
          <a:lstStyle/>
          <a:p>
            <a:pPr algn="ctr"/>
            <a:r>
              <a:rPr sz="1400" b="1" i="0">
                <a:solidFill>
                  <a:srgbClr val="FFFFFF"/>
                </a:solidFill>
                <a:latin typeface="Yu Gothic"/>
              </a:rPr>
              <a:t>内容への課題</a:t>
            </a:r>
          </a:p>
        </p:txBody>
      </p:sp>
      <p:sp>
        <p:nvSpPr>
          <p:cNvPr id="22" name="Rectangle 21"/>
          <p:cNvSpPr/>
          <p:nvPr/>
        </p:nvSpPr>
        <p:spPr>
          <a:xfrm>
            <a:off x="6150059" y="3060000"/>
            <a:ext cx="2772000" cy="1620000"/>
          </a:xfrm>
          <a:prstGeom prst="rect">
            <a:avLst/>
          </a:prstGeom>
          <a:solidFill>
            <a:srgbClr val="E7EC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258059" y="3168000"/>
            <a:ext cx="2556000" cy="1404000"/>
          </a:xfrm>
          <a:prstGeom prst="rect">
            <a:avLst/>
          </a:prstGeom>
          <a:noFill/>
        </p:spPr>
        <p:txBody>
          <a:bodyPr wrap="square" lIns="36000" rIns="36000" tIns="18000" bIns="18000" anchor="t">
            <a:spAutoFit/>
          </a:bodyPr>
          <a:lstStyle/>
          <a:p>
            <a:pPr algn="l">
              <a:lnSpc>
                <a:spcPct val="140000"/>
              </a:lnSpc>
            </a:pPr>
            <a:r>
              <a:rPr sz="1100" b="0" i="0">
                <a:solidFill>
                  <a:srgbClr val="2E3330"/>
                </a:solidFill>
                <a:latin typeface="Yu Gothic"/>
              </a:rPr>
              <a:t>・科目間・段階間の重複感</a:t>
            </a:r>
          </a:p>
          <a:p>
            <a:pPr algn="l">
              <a:lnSpc>
                <a:spcPct val="140000"/>
              </a:lnSpc>
            </a:pPr>
            <a:r>
              <a:rPr sz="1100" b="0" i="0">
                <a:solidFill>
                  <a:srgbClr val="2E3330"/>
                </a:solidFill>
                <a:latin typeface="Yu Gothic"/>
              </a:rPr>
              <a:t>・実務との結びつきの弱さ</a:t>
            </a:r>
          </a:p>
          <a:p>
            <a:pPr algn="l">
              <a:lnSpc>
                <a:spcPct val="140000"/>
              </a:lnSpc>
            </a:pPr>
            <a:r>
              <a:rPr sz="1100" b="0" i="0">
                <a:solidFill>
                  <a:srgbClr val="2E3330"/>
                </a:solidFill>
                <a:latin typeface="Yu Gothic"/>
              </a:rPr>
              <a:t>・「学びの実感」が薄い場合</a:t>
            </a:r>
          </a:p>
        </p:txBody>
      </p:sp>
      <p:sp>
        <p:nvSpPr>
          <p:cNvPr id="24" name="Rectangle 23"/>
          <p:cNvSpPr/>
          <p:nvPr/>
        </p:nvSpPr>
        <p:spPr>
          <a:xfrm>
            <a:off x="9030059" y="2592000"/>
            <a:ext cx="2772000" cy="468000"/>
          </a:xfrm>
          <a:prstGeom prst="rect">
            <a:avLst/>
          </a:prstGeom>
          <a:solidFill>
            <a:srgbClr val="2C6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030059" y="2592000"/>
            <a:ext cx="2772000" cy="468000"/>
          </a:xfrm>
          <a:prstGeom prst="rect">
            <a:avLst/>
          </a:prstGeom>
          <a:noFill/>
        </p:spPr>
        <p:txBody>
          <a:bodyPr wrap="square" lIns="36000" rIns="36000" tIns="18000" bIns="18000" anchor="ctr">
            <a:spAutoFit/>
          </a:bodyPr>
          <a:lstStyle/>
          <a:p>
            <a:pPr algn="ctr"/>
            <a:r>
              <a:rPr sz="1400" b="1" i="0">
                <a:solidFill>
                  <a:srgbClr val="FFFFFF"/>
                </a:solidFill>
                <a:latin typeface="Yu Gothic"/>
              </a:rPr>
              <a:t>学び方の変化</a:t>
            </a:r>
          </a:p>
        </p:txBody>
      </p:sp>
      <p:sp>
        <p:nvSpPr>
          <p:cNvPr id="26" name="Rectangle 25"/>
          <p:cNvSpPr/>
          <p:nvPr/>
        </p:nvSpPr>
        <p:spPr>
          <a:xfrm>
            <a:off x="9030059" y="3060000"/>
            <a:ext cx="2772000" cy="1620000"/>
          </a:xfrm>
          <a:prstGeom prst="rect">
            <a:avLst/>
          </a:prstGeom>
          <a:solidFill>
            <a:srgbClr val="E7EC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38059" y="3168000"/>
            <a:ext cx="2556000" cy="1404000"/>
          </a:xfrm>
          <a:prstGeom prst="rect">
            <a:avLst/>
          </a:prstGeom>
          <a:noFill/>
        </p:spPr>
        <p:txBody>
          <a:bodyPr wrap="square" lIns="36000" rIns="36000" tIns="18000" bIns="18000" anchor="t">
            <a:spAutoFit/>
          </a:bodyPr>
          <a:lstStyle/>
          <a:p>
            <a:pPr algn="l">
              <a:lnSpc>
                <a:spcPct val="140000"/>
              </a:lnSpc>
            </a:pPr>
            <a:r>
              <a:rPr sz="1100" b="0" i="0">
                <a:solidFill>
                  <a:srgbClr val="2E3330"/>
                </a:solidFill>
                <a:latin typeface="Yu Gothic"/>
              </a:rPr>
              <a:t>・オンライン研修の活用</a:t>
            </a:r>
          </a:p>
          <a:p>
            <a:pPr algn="l">
              <a:lnSpc>
                <a:spcPct val="140000"/>
              </a:lnSpc>
            </a:pPr>
            <a:r>
              <a:rPr sz="1100" b="0" i="0">
                <a:solidFill>
                  <a:srgbClr val="2E3330"/>
                </a:solidFill>
                <a:latin typeface="Yu Gothic"/>
              </a:rPr>
              <a:t>・ICTを前提とした見直し</a:t>
            </a:r>
          </a:p>
          <a:p>
            <a:pPr algn="l">
              <a:lnSpc>
                <a:spcPct val="140000"/>
              </a:lnSpc>
            </a:pPr>
            <a:r>
              <a:rPr sz="1100" b="0" i="0">
                <a:solidFill>
                  <a:srgbClr val="2E3330"/>
                </a:solidFill>
                <a:latin typeface="Yu Gothic"/>
              </a:rPr>
              <a:t>・柔軟な受講方法の要請</a:t>
            </a:r>
          </a:p>
        </p:txBody>
      </p:sp>
      <p:sp>
        <p:nvSpPr>
          <p:cNvPr id="28" name="Rectangle 27"/>
          <p:cNvSpPr/>
          <p:nvPr/>
        </p:nvSpPr>
        <p:spPr>
          <a:xfrm>
            <a:off x="432000" y="5040000"/>
            <a:ext cx="11304000" cy="360000"/>
          </a:xfrm>
          <a:prstGeom prst="rect">
            <a:avLst/>
          </a:prstGeom>
          <a:solidFill>
            <a:srgbClr val="B377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04000" y="5076000"/>
            <a:ext cx="11160000" cy="288000"/>
          </a:xfrm>
          <a:prstGeom prst="rect">
            <a:avLst/>
          </a:prstGeom>
          <a:noFill/>
        </p:spPr>
        <p:txBody>
          <a:bodyPr wrap="square" lIns="36000" rIns="36000" tIns="18000" bIns="18000" anchor="ctr">
            <a:spAutoFit/>
          </a:bodyPr>
          <a:lstStyle/>
          <a:p>
            <a:pPr algn="l"/>
            <a:r>
              <a:rPr sz="1400" b="1" i="0">
                <a:solidFill>
                  <a:srgbClr val="FFFFFF"/>
                </a:solidFill>
                <a:latin typeface="Yu Gothic"/>
              </a:rPr>
              <a:t>見直しの方向性(議論されている論点)</a:t>
            </a:r>
          </a:p>
        </p:txBody>
      </p:sp>
      <p:sp>
        <p:nvSpPr>
          <p:cNvPr id="30" name="Rectangle 29"/>
          <p:cNvSpPr/>
          <p:nvPr/>
        </p:nvSpPr>
        <p:spPr>
          <a:xfrm>
            <a:off x="432000" y="5400000"/>
            <a:ext cx="11304000" cy="720000"/>
          </a:xfrm>
          <a:prstGeom prst="rect">
            <a:avLst/>
          </a:prstGeom>
          <a:solidFill>
            <a:srgbClr val="F7EC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40000" y="5436000"/>
            <a:ext cx="11088000" cy="684000"/>
          </a:xfrm>
          <a:prstGeom prst="rect">
            <a:avLst/>
          </a:prstGeom>
          <a:noFill/>
        </p:spPr>
        <p:txBody>
          <a:bodyPr wrap="square" lIns="36000" rIns="36000" tIns="18000" bIns="18000" anchor="t">
            <a:spAutoFit/>
          </a:bodyPr>
          <a:lstStyle/>
          <a:p>
            <a:pPr algn="l"/>
            <a:r>
              <a:rPr sz="1200" b="0" i="0">
                <a:solidFill>
                  <a:srgbClr val="2E3330"/>
                </a:solidFill>
                <a:latin typeface="Yu Gothic"/>
              </a:rPr>
              <a:t>■ 研修の負担軽減・効率化(時間数・受講方法の見直し)</a:t>
            </a:r>
          </a:p>
          <a:p>
            <a:pPr algn="l"/>
            <a:r>
              <a:rPr sz="1200" b="0" i="0">
                <a:solidFill>
                  <a:srgbClr val="2E3330"/>
                </a:solidFill>
                <a:latin typeface="Yu Gothic"/>
              </a:rPr>
              <a:t>■ オンライン・ICTの活用 ■ 科目内容の整理・実務に即した見直し</a:t>
            </a:r>
          </a:p>
          <a:p>
            <a:pPr algn="l"/>
            <a:r>
              <a:rPr sz="1200" b="0" i="0">
                <a:solidFill>
                  <a:srgbClr val="2E3330"/>
                </a:solidFill>
                <a:latin typeface="Yu Gothic"/>
              </a:rPr>
              <a:t>▶ ただし、具体的な改正内容・施行時期は流動的 ― 最新の国・都道府県の情報を必ず確認</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576000"/>
          </a:xfrm>
          <a:prstGeom prst="rect">
            <a:avLst/>
          </a:prstGeom>
          <a:solidFill>
            <a:srgbClr val="2947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88000" y="90000"/>
            <a:ext cx="7920000" cy="216000"/>
          </a:xfrm>
          <a:prstGeom prst="rect">
            <a:avLst/>
          </a:prstGeom>
          <a:noFill/>
        </p:spPr>
        <p:txBody>
          <a:bodyPr wrap="square" lIns="36000" rIns="36000" tIns="18000" bIns="18000" anchor="t">
            <a:spAutoFit/>
          </a:bodyPr>
          <a:lstStyle/>
          <a:p>
            <a:pPr algn="l"/>
            <a:r>
              <a:rPr sz="1100" b="1" i="0">
                <a:solidFill>
                  <a:srgbClr val="FFFFFF"/>
                </a:solidFill>
                <a:latin typeface="Yu Gothic"/>
              </a:rPr>
              <a:t>2. 研修制度改正の動向</a:t>
            </a:r>
          </a:p>
        </p:txBody>
      </p:sp>
      <p:sp>
        <p:nvSpPr>
          <p:cNvPr id="4" name="TextBox 3"/>
          <p:cNvSpPr txBox="1"/>
          <p:nvPr/>
        </p:nvSpPr>
        <p:spPr>
          <a:xfrm>
            <a:off x="288000" y="684000"/>
            <a:ext cx="11616119" cy="468000"/>
          </a:xfrm>
          <a:prstGeom prst="rect">
            <a:avLst/>
          </a:prstGeom>
          <a:noFill/>
        </p:spPr>
        <p:txBody>
          <a:bodyPr wrap="square" lIns="36000" rIns="36000" tIns="18000" bIns="18000" anchor="t">
            <a:spAutoFit/>
          </a:bodyPr>
          <a:lstStyle/>
          <a:p>
            <a:pPr algn="l"/>
            <a:r>
              <a:rPr sz="2300" b="1" i="0">
                <a:solidFill>
                  <a:srgbClr val="294737"/>
                </a:solidFill>
                <a:latin typeface="Yu Gothic"/>
              </a:rPr>
              <a:t>主任CMとして注視すべきこと</a:t>
            </a:r>
          </a:p>
        </p:txBody>
      </p:sp>
      <p:sp>
        <p:nvSpPr>
          <p:cNvPr id="5" name="Rectangle 4"/>
          <p:cNvSpPr/>
          <p:nvPr/>
        </p:nvSpPr>
        <p:spPr>
          <a:xfrm>
            <a:off x="288000" y="1152000"/>
            <a:ext cx="900000" cy="43200"/>
          </a:xfrm>
          <a:prstGeom prst="rect">
            <a:avLst/>
          </a:prstGeom>
          <a:solidFill>
            <a:srgbClr val="B377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88000" y="6570000"/>
            <a:ext cx="9720000" cy="180000"/>
          </a:xfrm>
          <a:prstGeom prst="rect">
            <a:avLst/>
          </a:prstGeom>
          <a:noFill/>
        </p:spPr>
        <p:txBody>
          <a:bodyPr wrap="square" lIns="36000" rIns="36000" tIns="18000" bIns="18000" anchor="t">
            <a:spAutoFit/>
          </a:bodyPr>
          <a:lstStyle/>
          <a:p>
            <a:pPr algn="l"/>
            <a:r>
              <a:rPr sz="900" b="0" i="0">
                <a:solidFill>
                  <a:srgbClr val="6E8C7C"/>
                </a:solidFill>
                <a:latin typeface="Yu Gothic"/>
              </a:rPr>
              <a:t>主任CM研修 / 法定研修制度改正への対応と主任CM更新研修の戦略  ※研修制度は最新情報をご確認ください</a:t>
            </a:r>
          </a:p>
        </p:txBody>
      </p:sp>
      <p:sp>
        <p:nvSpPr>
          <p:cNvPr id="7" name="TextBox 6"/>
          <p:cNvSpPr txBox="1"/>
          <p:nvPr/>
        </p:nvSpPr>
        <p:spPr>
          <a:xfrm>
            <a:off x="11112119" y="6570000"/>
            <a:ext cx="792000" cy="180000"/>
          </a:xfrm>
          <a:prstGeom prst="rect">
            <a:avLst/>
          </a:prstGeom>
          <a:noFill/>
        </p:spPr>
        <p:txBody>
          <a:bodyPr wrap="square" lIns="36000" rIns="36000" tIns="18000" bIns="18000" anchor="t">
            <a:spAutoFit/>
          </a:bodyPr>
          <a:lstStyle/>
          <a:p>
            <a:pPr algn="r"/>
            <a:r>
              <a:rPr sz="900" b="0" i="0">
                <a:solidFill>
                  <a:srgbClr val="6E8C7C"/>
                </a:solidFill>
                <a:latin typeface="Yu Gothic"/>
              </a:rPr>
              <a:t>9 / 27</a:t>
            </a:r>
          </a:p>
        </p:txBody>
      </p:sp>
      <p:sp>
        <p:nvSpPr>
          <p:cNvPr id="8" name="Rectangle 7"/>
          <p:cNvSpPr/>
          <p:nvPr/>
        </p:nvSpPr>
        <p:spPr>
          <a:xfrm>
            <a:off x="432000" y="1620000"/>
            <a:ext cx="11304000" cy="360000"/>
          </a:xfrm>
          <a:prstGeom prst="rect">
            <a:avLst/>
          </a:prstGeom>
          <a:solidFill>
            <a:srgbClr val="2947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86000" y="1656000"/>
            <a:ext cx="3492000" cy="288000"/>
          </a:xfrm>
          <a:prstGeom prst="rect">
            <a:avLst/>
          </a:prstGeom>
          <a:noFill/>
        </p:spPr>
        <p:txBody>
          <a:bodyPr wrap="square" lIns="36000" rIns="36000" tIns="18000" bIns="18000" anchor="ctr">
            <a:spAutoFit/>
          </a:bodyPr>
          <a:lstStyle/>
          <a:p>
            <a:pPr algn="ctr"/>
            <a:r>
              <a:rPr sz="1200" b="1" i="0">
                <a:solidFill>
                  <a:srgbClr val="FFFFFF"/>
                </a:solidFill>
                <a:latin typeface="Yu Gothic"/>
              </a:rPr>
              <a:t>注視するポイント</a:t>
            </a:r>
          </a:p>
        </p:txBody>
      </p:sp>
      <p:sp>
        <p:nvSpPr>
          <p:cNvPr id="10" name="TextBox 9"/>
          <p:cNvSpPr txBox="1"/>
          <p:nvPr/>
        </p:nvSpPr>
        <p:spPr>
          <a:xfrm>
            <a:off x="4086000" y="1656000"/>
            <a:ext cx="4212000" cy="288000"/>
          </a:xfrm>
          <a:prstGeom prst="rect">
            <a:avLst/>
          </a:prstGeom>
          <a:noFill/>
        </p:spPr>
        <p:txBody>
          <a:bodyPr wrap="square" lIns="36000" rIns="36000" tIns="18000" bIns="18000" anchor="ctr">
            <a:spAutoFit/>
          </a:bodyPr>
          <a:lstStyle/>
          <a:p>
            <a:pPr algn="ctr"/>
            <a:r>
              <a:rPr sz="1200" b="1" i="0">
                <a:solidFill>
                  <a:srgbClr val="FFFFFF"/>
                </a:solidFill>
                <a:latin typeface="Yu Gothic"/>
              </a:rPr>
              <a:t>なぜ重要か</a:t>
            </a:r>
          </a:p>
        </p:txBody>
      </p:sp>
      <p:sp>
        <p:nvSpPr>
          <p:cNvPr id="11" name="TextBox 10"/>
          <p:cNvSpPr txBox="1"/>
          <p:nvPr/>
        </p:nvSpPr>
        <p:spPr>
          <a:xfrm>
            <a:off x="8406000" y="1656000"/>
            <a:ext cx="3276000" cy="288000"/>
          </a:xfrm>
          <a:prstGeom prst="rect">
            <a:avLst/>
          </a:prstGeom>
          <a:noFill/>
        </p:spPr>
        <p:txBody>
          <a:bodyPr wrap="square" lIns="36000" rIns="36000" tIns="18000" bIns="18000" anchor="ctr">
            <a:spAutoFit/>
          </a:bodyPr>
          <a:lstStyle/>
          <a:p>
            <a:pPr algn="ctr"/>
            <a:r>
              <a:rPr sz="1200" b="1" i="0">
                <a:solidFill>
                  <a:srgbClr val="FFFFFF"/>
                </a:solidFill>
                <a:latin typeface="Yu Gothic"/>
              </a:rPr>
              <a:t>確認の仕方</a:t>
            </a:r>
          </a:p>
        </p:txBody>
      </p:sp>
      <p:sp>
        <p:nvSpPr>
          <p:cNvPr id="12" name="Rectangle 11"/>
          <p:cNvSpPr/>
          <p:nvPr/>
        </p:nvSpPr>
        <p:spPr>
          <a:xfrm>
            <a:off x="432000" y="1980000"/>
            <a:ext cx="11304000" cy="720000"/>
          </a:xfrm>
          <a:prstGeom prst="rect">
            <a:avLst/>
          </a:prstGeom>
          <a:solidFill>
            <a:srgbClr val="E7ECE8"/>
          </a:solidFill>
          <a:ln>
            <a:solidFill>
              <a:srgbClr val="D5DB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6000" y="2034000"/>
            <a:ext cx="3492000" cy="612000"/>
          </a:xfrm>
          <a:prstGeom prst="rect">
            <a:avLst/>
          </a:prstGeom>
          <a:noFill/>
        </p:spPr>
        <p:txBody>
          <a:bodyPr wrap="square" lIns="36000" rIns="36000" tIns="18000" bIns="18000" anchor="ctr">
            <a:spAutoFit/>
          </a:bodyPr>
          <a:lstStyle/>
          <a:p>
            <a:pPr algn="ctr"/>
            <a:r>
              <a:rPr sz="1100" b="1" i="0">
                <a:solidFill>
                  <a:srgbClr val="294737"/>
                </a:solidFill>
                <a:latin typeface="Yu Gothic"/>
              </a:rPr>
              <a:t>研修時間・</a:t>
            </a:r>
          </a:p>
          <a:p>
            <a:pPr algn="ctr"/>
            <a:r>
              <a:rPr sz="1100" b="1" i="0">
                <a:solidFill>
                  <a:srgbClr val="294737"/>
                </a:solidFill>
                <a:latin typeface="Yu Gothic"/>
              </a:rPr>
              <a:t>カリキュラムの変更</a:t>
            </a:r>
          </a:p>
        </p:txBody>
      </p:sp>
      <p:sp>
        <p:nvSpPr>
          <p:cNvPr id="14" name="TextBox 13"/>
          <p:cNvSpPr txBox="1"/>
          <p:nvPr/>
        </p:nvSpPr>
        <p:spPr>
          <a:xfrm>
            <a:off x="4086000" y="2034000"/>
            <a:ext cx="4212000" cy="612000"/>
          </a:xfrm>
          <a:prstGeom prst="rect">
            <a:avLst/>
          </a:prstGeom>
          <a:noFill/>
        </p:spPr>
        <p:txBody>
          <a:bodyPr wrap="square" lIns="36000" rIns="36000" tIns="18000" bIns="18000" anchor="ctr">
            <a:spAutoFit/>
          </a:bodyPr>
          <a:lstStyle/>
          <a:p>
            <a:pPr algn="l"/>
            <a:r>
              <a:rPr sz="1100" b="0" i="0">
                <a:solidFill>
                  <a:srgbClr val="2E3330"/>
                </a:solidFill>
                <a:latin typeface="Yu Gothic"/>
              </a:rPr>
              <a:t>受講計画・業務調整に</a:t>
            </a:r>
          </a:p>
          <a:p>
            <a:pPr algn="l"/>
            <a:r>
              <a:rPr sz="1100" b="0" i="0">
                <a:solidFill>
                  <a:srgbClr val="2E3330"/>
                </a:solidFill>
                <a:latin typeface="Yu Gothic"/>
              </a:rPr>
              <a:t>直接影響する</a:t>
            </a:r>
          </a:p>
        </p:txBody>
      </p:sp>
      <p:sp>
        <p:nvSpPr>
          <p:cNvPr id="15" name="TextBox 14"/>
          <p:cNvSpPr txBox="1"/>
          <p:nvPr/>
        </p:nvSpPr>
        <p:spPr>
          <a:xfrm>
            <a:off x="8406000" y="2034000"/>
            <a:ext cx="3276000" cy="612000"/>
          </a:xfrm>
          <a:prstGeom prst="rect">
            <a:avLst/>
          </a:prstGeom>
          <a:noFill/>
        </p:spPr>
        <p:txBody>
          <a:bodyPr wrap="square" lIns="36000" rIns="36000" tIns="18000" bIns="18000" anchor="ctr">
            <a:spAutoFit/>
          </a:bodyPr>
          <a:lstStyle/>
          <a:p>
            <a:pPr algn="l"/>
            <a:r>
              <a:rPr sz="1100" b="0" i="0">
                <a:solidFill>
                  <a:srgbClr val="2E3330"/>
                </a:solidFill>
                <a:latin typeface="Yu Gothic"/>
              </a:rPr>
              <a:t>都道府県・実施機関の</a:t>
            </a:r>
          </a:p>
          <a:p>
            <a:pPr algn="l"/>
            <a:r>
              <a:rPr sz="1100" b="0" i="0">
                <a:solidFill>
                  <a:srgbClr val="2E3330"/>
                </a:solidFill>
                <a:latin typeface="Yu Gothic"/>
              </a:rPr>
              <a:t>案内を定期的に確認</a:t>
            </a:r>
          </a:p>
        </p:txBody>
      </p:sp>
      <p:sp>
        <p:nvSpPr>
          <p:cNvPr id="16" name="Rectangle 15"/>
          <p:cNvSpPr/>
          <p:nvPr/>
        </p:nvSpPr>
        <p:spPr>
          <a:xfrm>
            <a:off x="432000" y="2700000"/>
            <a:ext cx="11304000" cy="720000"/>
          </a:xfrm>
          <a:prstGeom prst="rect">
            <a:avLst/>
          </a:prstGeom>
          <a:solidFill>
            <a:srgbClr val="FFFFFF"/>
          </a:solidFill>
          <a:ln>
            <a:solidFill>
              <a:srgbClr val="D5DB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86000" y="2754000"/>
            <a:ext cx="3492000" cy="612000"/>
          </a:xfrm>
          <a:prstGeom prst="rect">
            <a:avLst/>
          </a:prstGeom>
          <a:noFill/>
        </p:spPr>
        <p:txBody>
          <a:bodyPr wrap="square" lIns="36000" rIns="36000" tIns="18000" bIns="18000" anchor="ctr">
            <a:spAutoFit/>
          </a:bodyPr>
          <a:lstStyle/>
          <a:p>
            <a:pPr algn="ctr"/>
            <a:r>
              <a:rPr sz="1100" b="1" i="0">
                <a:solidFill>
                  <a:srgbClr val="294737"/>
                </a:solidFill>
                <a:latin typeface="Yu Gothic"/>
              </a:rPr>
              <a:t>受講方法</a:t>
            </a:r>
          </a:p>
          <a:p>
            <a:pPr algn="ctr"/>
            <a:r>
              <a:rPr sz="1100" b="1" i="0">
                <a:solidFill>
                  <a:srgbClr val="294737"/>
                </a:solidFill>
                <a:latin typeface="Yu Gothic"/>
              </a:rPr>
              <a:t>(オンライン等)</a:t>
            </a:r>
          </a:p>
        </p:txBody>
      </p:sp>
      <p:sp>
        <p:nvSpPr>
          <p:cNvPr id="18" name="TextBox 17"/>
          <p:cNvSpPr txBox="1"/>
          <p:nvPr/>
        </p:nvSpPr>
        <p:spPr>
          <a:xfrm>
            <a:off x="4086000" y="2754000"/>
            <a:ext cx="4212000" cy="612000"/>
          </a:xfrm>
          <a:prstGeom prst="rect">
            <a:avLst/>
          </a:prstGeom>
          <a:noFill/>
        </p:spPr>
        <p:txBody>
          <a:bodyPr wrap="square" lIns="36000" rIns="36000" tIns="18000" bIns="18000" anchor="ctr">
            <a:spAutoFit/>
          </a:bodyPr>
          <a:lstStyle/>
          <a:p>
            <a:pPr algn="l"/>
            <a:r>
              <a:rPr sz="1100" b="0" i="0">
                <a:solidFill>
                  <a:srgbClr val="2E3330"/>
                </a:solidFill>
                <a:latin typeface="Yu Gothic"/>
              </a:rPr>
              <a:t>受講のしやすさ・</a:t>
            </a:r>
          </a:p>
          <a:p>
            <a:pPr algn="l"/>
            <a:r>
              <a:rPr sz="1100" b="0" i="0">
                <a:solidFill>
                  <a:srgbClr val="2E3330"/>
                </a:solidFill>
                <a:latin typeface="Yu Gothic"/>
              </a:rPr>
              <a:t>業務との両立に関わる</a:t>
            </a:r>
          </a:p>
        </p:txBody>
      </p:sp>
      <p:sp>
        <p:nvSpPr>
          <p:cNvPr id="19" name="TextBox 18"/>
          <p:cNvSpPr txBox="1"/>
          <p:nvPr/>
        </p:nvSpPr>
        <p:spPr>
          <a:xfrm>
            <a:off x="8406000" y="2754000"/>
            <a:ext cx="3276000" cy="612000"/>
          </a:xfrm>
          <a:prstGeom prst="rect">
            <a:avLst/>
          </a:prstGeom>
          <a:noFill/>
        </p:spPr>
        <p:txBody>
          <a:bodyPr wrap="square" lIns="36000" rIns="36000" tIns="18000" bIns="18000" anchor="ctr">
            <a:spAutoFit/>
          </a:bodyPr>
          <a:lstStyle/>
          <a:p>
            <a:pPr algn="l"/>
            <a:r>
              <a:rPr sz="1100" b="0" i="0">
                <a:solidFill>
                  <a:srgbClr val="2E3330"/>
                </a:solidFill>
                <a:latin typeface="Yu Gothic"/>
              </a:rPr>
              <a:t>実施要綱・募集要項を</a:t>
            </a:r>
          </a:p>
          <a:p>
            <a:pPr algn="l"/>
            <a:r>
              <a:rPr sz="1100" b="0" i="0">
                <a:solidFill>
                  <a:srgbClr val="2E3330"/>
                </a:solidFill>
                <a:latin typeface="Yu Gothic"/>
              </a:rPr>
              <a:t>毎年チェック</a:t>
            </a:r>
          </a:p>
        </p:txBody>
      </p:sp>
      <p:sp>
        <p:nvSpPr>
          <p:cNvPr id="20" name="Rectangle 19"/>
          <p:cNvSpPr/>
          <p:nvPr/>
        </p:nvSpPr>
        <p:spPr>
          <a:xfrm>
            <a:off x="432000" y="3420000"/>
            <a:ext cx="11304000" cy="720000"/>
          </a:xfrm>
          <a:prstGeom prst="rect">
            <a:avLst/>
          </a:prstGeom>
          <a:solidFill>
            <a:srgbClr val="E7ECE8"/>
          </a:solidFill>
          <a:ln>
            <a:solidFill>
              <a:srgbClr val="D5DB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86000" y="3474000"/>
            <a:ext cx="3492000" cy="612000"/>
          </a:xfrm>
          <a:prstGeom prst="rect">
            <a:avLst/>
          </a:prstGeom>
          <a:noFill/>
        </p:spPr>
        <p:txBody>
          <a:bodyPr wrap="square" lIns="36000" rIns="36000" tIns="18000" bIns="18000" anchor="ctr">
            <a:spAutoFit/>
          </a:bodyPr>
          <a:lstStyle/>
          <a:p>
            <a:pPr algn="ctr"/>
            <a:r>
              <a:rPr sz="1100" b="1" i="0">
                <a:solidFill>
                  <a:srgbClr val="294737"/>
                </a:solidFill>
                <a:latin typeface="Yu Gothic"/>
              </a:rPr>
              <a:t>更新の要件・</a:t>
            </a:r>
          </a:p>
          <a:p>
            <a:pPr algn="ctr"/>
            <a:r>
              <a:rPr sz="1100" b="1" i="0">
                <a:solidFill>
                  <a:srgbClr val="294737"/>
                </a:solidFill>
                <a:latin typeface="Yu Gothic"/>
              </a:rPr>
              <a:t>経過措置</a:t>
            </a:r>
          </a:p>
        </p:txBody>
      </p:sp>
      <p:sp>
        <p:nvSpPr>
          <p:cNvPr id="22" name="TextBox 21"/>
          <p:cNvSpPr txBox="1"/>
          <p:nvPr/>
        </p:nvSpPr>
        <p:spPr>
          <a:xfrm>
            <a:off x="4086000" y="3474000"/>
            <a:ext cx="4212000" cy="612000"/>
          </a:xfrm>
          <a:prstGeom prst="rect">
            <a:avLst/>
          </a:prstGeom>
          <a:noFill/>
        </p:spPr>
        <p:txBody>
          <a:bodyPr wrap="square" lIns="36000" rIns="36000" tIns="18000" bIns="18000" anchor="ctr">
            <a:spAutoFit/>
          </a:bodyPr>
          <a:lstStyle/>
          <a:p>
            <a:pPr algn="l"/>
            <a:r>
              <a:rPr sz="1100" b="0" i="0">
                <a:solidFill>
                  <a:srgbClr val="2E3330"/>
                </a:solidFill>
                <a:latin typeface="Yu Gothic"/>
              </a:rPr>
              <a:t>「更新を逃す」リスクに</a:t>
            </a:r>
          </a:p>
          <a:p>
            <a:pPr algn="l"/>
            <a:r>
              <a:rPr sz="1100" b="0" i="0">
                <a:solidFill>
                  <a:srgbClr val="2E3330"/>
                </a:solidFill>
                <a:latin typeface="Yu Gothic"/>
              </a:rPr>
              <a:t>直結する</a:t>
            </a:r>
          </a:p>
        </p:txBody>
      </p:sp>
      <p:sp>
        <p:nvSpPr>
          <p:cNvPr id="23" name="TextBox 22"/>
          <p:cNvSpPr txBox="1"/>
          <p:nvPr/>
        </p:nvSpPr>
        <p:spPr>
          <a:xfrm>
            <a:off x="8406000" y="3474000"/>
            <a:ext cx="3276000" cy="612000"/>
          </a:xfrm>
          <a:prstGeom prst="rect">
            <a:avLst/>
          </a:prstGeom>
          <a:noFill/>
        </p:spPr>
        <p:txBody>
          <a:bodyPr wrap="square" lIns="36000" rIns="36000" tIns="18000" bIns="18000" anchor="ctr">
            <a:spAutoFit/>
          </a:bodyPr>
          <a:lstStyle/>
          <a:p>
            <a:pPr algn="l"/>
            <a:r>
              <a:rPr sz="1100" b="0" i="0">
                <a:solidFill>
                  <a:srgbClr val="2E3330"/>
                </a:solidFill>
                <a:latin typeface="Yu Gothic"/>
              </a:rPr>
              <a:t>自分・職員の更新時期と</a:t>
            </a:r>
          </a:p>
          <a:p>
            <a:pPr algn="l"/>
            <a:r>
              <a:rPr sz="1100" b="0" i="0">
                <a:solidFill>
                  <a:srgbClr val="2E3330"/>
                </a:solidFill>
                <a:latin typeface="Yu Gothic"/>
              </a:rPr>
              <a:t>あわせて確認</a:t>
            </a:r>
          </a:p>
        </p:txBody>
      </p:sp>
      <p:sp>
        <p:nvSpPr>
          <p:cNvPr id="24" name="Rectangle 23"/>
          <p:cNvSpPr/>
          <p:nvPr/>
        </p:nvSpPr>
        <p:spPr>
          <a:xfrm>
            <a:off x="432000" y="4140000"/>
            <a:ext cx="11304000" cy="720000"/>
          </a:xfrm>
          <a:prstGeom prst="rect">
            <a:avLst/>
          </a:prstGeom>
          <a:solidFill>
            <a:srgbClr val="FFFFFF"/>
          </a:solidFill>
          <a:ln>
            <a:solidFill>
              <a:srgbClr val="D5DB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86000" y="4194000"/>
            <a:ext cx="3492000" cy="612000"/>
          </a:xfrm>
          <a:prstGeom prst="rect">
            <a:avLst/>
          </a:prstGeom>
          <a:noFill/>
        </p:spPr>
        <p:txBody>
          <a:bodyPr wrap="square" lIns="36000" rIns="36000" tIns="18000" bIns="18000" anchor="ctr">
            <a:spAutoFit/>
          </a:bodyPr>
          <a:lstStyle/>
          <a:p>
            <a:pPr algn="ctr"/>
            <a:r>
              <a:rPr sz="1100" b="1" i="0">
                <a:solidFill>
                  <a:srgbClr val="294737"/>
                </a:solidFill>
                <a:latin typeface="Yu Gothic"/>
              </a:rPr>
              <a:t>施行時期・</a:t>
            </a:r>
          </a:p>
          <a:p>
            <a:pPr algn="ctr"/>
            <a:r>
              <a:rPr sz="1100" b="1" i="0">
                <a:solidFill>
                  <a:srgbClr val="294737"/>
                </a:solidFill>
                <a:latin typeface="Yu Gothic"/>
              </a:rPr>
              <a:t>移行措置</a:t>
            </a:r>
          </a:p>
        </p:txBody>
      </p:sp>
      <p:sp>
        <p:nvSpPr>
          <p:cNvPr id="26" name="TextBox 25"/>
          <p:cNvSpPr txBox="1"/>
          <p:nvPr/>
        </p:nvSpPr>
        <p:spPr>
          <a:xfrm>
            <a:off x="4086000" y="4194000"/>
            <a:ext cx="4212000" cy="612000"/>
          </a:xfrm>
          <a:prstGeom prst="rect">
            <a:avLst/>
          </a:prstGeom>
          <a:noFill/>
        </p:spPr>
        <p:txBody>
          <a:bodyPr wrap="square" lIns="36000" rIns="36000" tIns="18000" bIns="18000" anchor="ctr">
            <a:spAutoFit/>
          </a:bodyPr>
          <a:lstStyle/>
          <a:p>
            <a:pPr algn="l"/>
            <a:r>
              <a:rPr sz="1100" b="0" i="0">
                <a:solidFill>
                  <a:srgbClr val="2E3330"/>
                </a:solidFill>
                <a:latin typeface="Yu Gothic"/>
              </a:rPr>
              <a:t>「いつから変わるか」で</a:t>
            </a:r>
          </a:p>
          <a:p>
            <a:pPr algn="l"/>
            <a:r>
              <a:rPr sz="1100" b="0" i="0">
                <a:solidFill>
                  <a:srgbClr val="2E3330"/>
                </a:solidFill>
                <a:latin typeface="Yu Gothic"/>
              </a:rPr>
              <a:t>計画が変わる</a:t>
            </a:r>
          </a:p>
        </p:txBody>
      </p:sp>
      <p:sp>
        <p:nvSpPr>
          <p:cNvPr id="27" name="TextBox 26"/>
          <p:cNvSpPr txBox="1"/>
          <p:nvPr/>
        </p:nvSpPr>
        <p:spPr>
          <a:xfrm>
            <a:off x="8406000" y="4194000"/>
            <a:ext cx="3276000" cy="612000"/>
          </a:xfrm>
          <a:prstGeom prst="rect">
            <a:avLst/>
          </a:prstGeom>
          <a:noFill/>
        </p:spPr>
        <p:txBody>
          <a:bodyPr wrap="square" lIns="36000" rIns="36000" tIns="18000" bIns="18000" anchor="ctr">
            <a:spAutoFit/>
          </a:bodyPr>
          <a:lstStyle/>
          <a:p>
            <a:pPr algn="l"/>
            <a:r>
              <a:rPr sz="1100" b="0" i="0">
                <a:solidFill>
                  <a:srgbClr val="2E3330"/>
                </a:solidFill>
                <a:latin typeface="Yu Gothic"/>
              </a:rPr>
              <a:t>国・職能団体の</a:t>
            </a:r>
          </a:p>
          <a:p>
            <a:pPr algn="l"/>
            <a:r>
              <a:rPr sz="1100" b="0" i="0">
                <a:solidFill>
                  <a:srgbClr val="2E3330"/>
                </a:solidFill>
                <a:latin typeface="Yu Gothic"/>
              </a:rPr>
              <a:t>発信を追う</a:t>
            </a:r>
          </a:p>
        </p:txBody>
      </p:sp>
      <p:sp>
        <p:nvSpPr>
          <p:cNvPr id="28" name="Rectangle 27"/>
          <p:cNvSpPr/>
          <p:nvPr/>
        </p:nvSpPr>
        <p:spPr>
          <a:xfrm>
            <a:off x="432000" y="4860000"/>
            <a:ext cx="11304000" cy="360000"/>
          </a:xfrm>
          <a:prstGeom prst="rect">
            <a:avLst/>
          </a:prstGeom>
          <a:solidFill>
            <a:srgbClr val="2947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04000" y="4896000"/>
            <a:ext cx="11160000" cy="288000"/>
          </a:xfrm>
          <a:prstGeom prst="rect">
            <a:avLst/>
          </a:prstGeom>
          <a:noFill/>
        </p:spPr>
        <p:txBody>
          <a:bodyPr wrap="square" lIns="36000" rIns="36000" tIns="18000" bIns="18000" anchor="ctr">
            <a:spAutoFit/>
          </a:bodyPr>
          <a:lstStyle/>
          <a:p>
            <a:pPr algn="l"/>
            <a:r>
              <a:rPr sz="1400" b="1" i="0">
                <a:solidFill>
                  <a:srgbClr val="FFFFFF"/>
                </a:solidFill>
                <a:latin typeface="Yu Gothic"/>
              </a:rPr>
              <a:t>情報源を「複数」持つ</a:t>
            </a:r>
          </a:p>
        </p:txBody>
      </p:sp>
      <p:sp>
        <p:nvSpPr>
          <p:cNvPr id="30" name="Rectangle 29"/>
          <p:cNvSpPr/>
          <p:nvPr/>
        </p:nvSpPr>
        <p:spPr>
          <a:xfrm>
            <a:off x="432000" y="5220000"/>
            <a:ext cx="11304000" cy="972000"/>
          </a:xfrm>
          <a:prstGeom prst="rect">
            <a:avLst/>
          </a:prstGeom>
          <a:solidFill>
            <a:srgbClr val="E7EC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40000" y="5256000"/>
            <a:ext cx="11088000" cy="936000"/>
          </a:xfrm>
          <a:prstGeom prst="rect">
            <a:avLst/>
          </a:prstGeom>
          <a:noFill/>
        </p:spPr>
        <p:txBody>
          <a:bodyPr wrap="square" lIns="36000" rIns="36000" tIns="18000" bIns="18000" anchor="t">
            <a:spAutoFit/>
          </a:bodyPr>
          <a:lstStyle/>
          <a:p>
            <a:pPr algn="l"/>
            <a:r>
              <a:rPr sz="1300" b="0" i="0">
                <a:solidFill>
                  <a:srgbClr val="2E3330"/>
                </a:solidFill>
                <a:latin typeface="Yu Gothic"/>
              </a:rPr>
              <a:t>■ 都道府県(研修の実施主体)の案内 ― 受講の実務情報はここが基本</a:t>
            </a:r>
          </a:p>
          <a:p>
            <a:pPr algn="l"/>
            <a:r>
              <a:rPr sz="1300" b="0" i="0">
                <a:solidFill>
                  <a:srgbClr val="2E3330"/>
                </a:solidFill>
                <a:latin typeface="Yu Gothic"/>
              </a:rPr>
              <a:t>■ 厚生労働省の検討会・通知 ― 制度改正の方向性</a:t>
            </a:r>
          </a:p>
          <a:p>
            <a:pPr algn="l"/>
            <a:r>
              <a:rPr sz="1300" b="0" i="0">
                <a:solidFill>
                  <a:srgbClr val="2E3330"/>
                </a:solidFill>
                <a:latin typeface="Yu Gothic"/>
              </a:rPr>
              <a:t>■ 職能団体(日本介護支援専門員協会等)の発信 ― 現場目線の解説・動向</a:t>
            </a:r>
          </a:p>
          <a:p>
            <a:pPr algn="l"/>
            <a:r>
              <a:rPr sz="1300" b="0" i="0">
                <a:solidFill>
                  <a:srgbClr val="2E3330"/>
                </a:solidFill>
                <a:latin typeface="Yu Gothic"/>
              </a:rPr>
              <a:t>▶ 主任CMは「最新の確かな情報源」を複数持ち、事業所内に正確に伝える役割を持つ</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6858000"/>
          </a:xfrm>
          <a:prstGeom prst="rect">
            <a:avLst/>
          </a:prstGeom>
          <a:solidFill>
            <a:srgbClr val="2947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060000"/>
            <a:ext cx="12192119" cy="36000"/>
          </a:xfrm>
          <a:prstGeom prst="rect">
            <a:avLst/>
          </a:prstGeom>
          <a:solidFill>
            <a:srgbClr val="B377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20000" y="2340000"/>
            <a:ext cx="10752119" cy="540000"/>
          </a:xfrm>
          <a:prstGeom prst="rect">
            <a:avLst/>
          </a:prstGeom>
          <a:noFill/>
        </p:spPr>
        <p:txBody>
          <a:bodyPr wrap="square" lIns="36000" rIns="36000" tIns="18000" bIns="18000" anchor="t">
            <a:spAutoFit/>
          </a:bodyPr>
          <a:lstStyle/>
          <a:p>
            <a:pPr algn="ctr"/>
            <a:r>
              <a:rPr sz="2200" b="1" i="0">
                <a:solidFill>
                  <a:srgbClr val="B37739"/>
                </a:solidFill>
                <a:latin typeface="Yu Gothic"/>
              </a:rPr>
              <a:t>PART 3</a:t>
            </a:r>
          </a:p>
        </p:txBody>
      </p:sp>
      <p:sp>
        <p:nvSpPr>
          <p:cNvPr id="5" name="TextBox 4"/>
          <p:cNvSpPr txBox="1"/>
          <p:nvPr/>
        </p:nvSpPr>
        <p:spPr>
          <a:xfrm>
            <a:off x="360000" y="3420000"/>
            <a:ext cx="11472119" cy="720000"/>
          </a:xfrm>
          <a:prstGeom prst="rect">
            <a:avLst/>
          </a:prstGeom>
          <a:noFill/>
        </p:spPr>
        <p:txBody>
          <a:bodyPr wrap="square" lIns="36000" rIns="36000" tIns="18000" bIns="18000" anchor="t">
            <a:spAutoFit/>
          </a:bodyPr>
          <a:lstStyle/>
          <a:p>
            <a:pPr algn="ctr"/>
            <a:r>
              <a:rPr sz="3300" b="1" i="0">
                <a:solidFill>
                  <a:srgbClr val="FFFFFF"/>
                </a:solidFill>
                <a:latin typeface="Yu Gothic"/>
              </a:rPr>
              <a:t>主任ケアマネ</a:t>
            </a:r>
          </a:p>
          <a:p>
            <a:pPr algn="ctr"/>
            <a:r>
              <a:rPr sz="3300" b="1" i="0">
                <a:solidFill>
                  <a:srgbClr val="FFFFFF"/>
                </a:solidFill>
                <a:latin typeface="Yu Gothic"/>
              </a:rPr>
              <a:t>更新研修の戦略</a:t>
            </a:r>
          </a:p>
        </p:txBody>
      </p:sp>
      <p:sp>
        <p:nvSpPr>
          <p:cNvPr id="6" name="TextBox 5"/>
          <p:cNvSpPr txBox="1"/>
          <p:nvPr/>
        </p:nvSpPr>
        <p:spPr>
          <a:xfrm>
            <a:off x="360000" y="4680000"/>
            <a:ext cx="11472119" cy="360000"/>
          </a:xfrm>
          <a:prstGeom prst="rect">
            <a:avLst/>
          </a:prstGeom>
          <a:noFill/>
        </p:spPr>
        <p:txBody>
          <a:bodyPr wrap="square" lIns="36000" rIns="36000" tIns="18000" bIns="18000" anchor="t">
            <a:spAutoFit/>
          </a:bodyPr>
          <a:lstStyle/>
          <a:p>
            <a:pPr algn="ctr"/>
            <a:r>
              <a:rPr sz="1400" b="0" i="0">
                <a:solidFill>
                  <a:srgbClr val="D5DBD6"/>
                </a:solidFill>
                <a:latin typeface="Yu Gothic"/>
              </a:rPr>
              <a:t>Strategy for Chief CM Renewal Training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576000"/>
          </a:xfrm>
          <a:prstGeom prst="rect">
            <a:avLst/>
          </a:prstGeom>
          <a:solidFill>
            <a:srgbClr val="2947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88000" y="90000"/>
            <a:ext cx="7920000" cy="216000"/>
          </a:xfrm>
          <a:prstGeom prst="rect">
            <a:avLst/>
          </a:prstGeom>
          <a:noFill/>
        </p:spPr>
        <p:txBody>
          <a:bodyPr wrap="square" lIns="36000" rIns="36000" tIns="18000" bIns="18000" anchor="t">
            <a:spAutoFit/>
          </a:bodyPr>
          <a:lstStyle/>
          <a:p>
            <a:pPr algn="l"/>
            <a:r>
              <a:rPr sz="1100" b="1" i="0">
                <a:solidFill>
                  <a:srgbClr val="FFFFFF"/>
                </a:solidFill>
                <a:latin typeface="Yu Gothic"/>
              </a:rPr>
              <a:t>3. 更新研修の戦略</a:t>
            </a:r>
          </a:p>
        </p:txBody>
      </p:sp>
      <p:sp>
        <p:nvSpPr>
          <p:cNvPr id="4" name="TextBox 3"/>
          <p:cNvSpPr txBox="1"/>
          <p:nvPr/>
        </p:nvSpPr>
        <p:spPr>
          <a:xfrm>
            <a:off x="288000" y="684000"/>
            <a:ext cx="11616119" cy="468000"/>
          </a:xfrm>
          <a:prstGeom prst="rect">
            <a:avLst/>
          </a:prstGeom>
          <a:noFill/>
        </p:spPr>
        <p:txBody>
          <a:bodyPr wrap="square" lIns="36000" rIns="36000" tIns="18000" bIns="18000" anchor="t">
            <a:spAutoFit/>
          </a:bodyPr>
          <a:lstStyle/>
          <a:p>
            <a:pPr algn="l"/>
            <a:r>
              <a:rPr sz="2300" b="1" i="0">
                <a:solidFill>
                  <a:srgbClr val="294737"/>
                </a:solidFill>
                <a:latin typeface="Yu Gothic"/>
              </a:rPr>
              <a:t>主任CM研修・更新研修の位置づけ</a:t>
            </a:r>
          </a:p>
        </p:txBody>
      </p:sp>
      <p:sp>
        <p:nvSpPr>
          <p:cNvPr id="5" name="Rectangle 4"/>
          <p:cNvSpPr/>
          <p:nvPr/>
        </p:nvSpPr>
        <p:spPr>
          <a:xfrm>
            <a:off x="288000" y="1152000"/>
            <a:ext cx="900000" cy="43200"/>
          </a:xfrm>
          <a:prstGeom prst="rect">
            <a:avLst/>
          </a:prstGeom>
          <a:solidFill>
            <a:srgbClr val="B377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88000" y="6570000"/>
            <a:ext cx="9720000" cy="180000"/>
          </a:xfrm>
          <a:prstGeom prst="rect">
            <a:avLst/>
          </a:prstGeom>
          <a:noFill/>
        </p:spPr>
        <p:txBody>
          <a:bodyPr wrap="square" lIns="36000" rIns="36000" tIns="18000" bIns="18000" anchor="t">
            <a:spAutoFit/>
          </a:bodyPr>
          <a:lstStyle/>
          <a:p>
            <a:pPr algn="l"/>
            <a:r>
              <a:rPr sz="900" b="0" i="0">
                <a:solidFill>
                  <a:srgbClr val="6E8C7C"/>
                </a:solidFill>
                <a:latin typeface="Yu Gothic"/>
              </a:rPr>
              <a:t>主任CM研修 / 法定研修制度改正への対応と主任CM更新研修の戦略  ※研修制度は最新情報をご確認ください</a:t>
            </a:r>
          </a:p>
        </p:txBody>
      </p:sp>
      <p:sp>
        <p:nvSpPr>
          <p:cNvPr id="7" name="TextBox 6"/>
          <p:cNvSpPr txBox="1"/>
          <p:nvPr/>
        </p:nvSpPr>
        <p:spPr>
          <a:xfrm>
            <a:off x="11112119" y="6570000"/>
            <a:ext cx="792000" cy="180000"/>
          </a:xfrm>
          <a:prstGeom prst="rect">
            <a:avLst/>
          </a:prstGeom>
          <a:noFill/>
        </p:spPr>
        <p:txBody>
          <a:bodyPr wrap="square" lIns="36000" rIns="36000" tIns="18000" bIns="18000" anchor="t">
            <a:spAutoFit/>
          </a:bodyPr>
          <a:lstStyle/>
          <a:p>
            <a:pPr algn="r"/>
            <a:r>
              <a:rPr sz="900" b="0" i="0">
                <a:solidFill>
                  <a:srgbClr val="6E8C7C"/>
                </a:solidFill>
                <a:latin typeface="Yu Gothic"/>
              </a:rPr>
              <a:t>11 / 27</a:t>
            </a:r>
          </a:p>
        </p:txBody>
      </p:sp>
      <p:sp>
        <p:nvSpPr>
          <p:cNvPr id="8" name="Rectangle 7"/>
          <p:cNvSpPr/>
          <p:nvPr/>
        </p:nvSpPr>
        <p:spPr>
          <a:xfrm>
            <a:off x="432000" y="1548000"/>
            <a:ext cx="5580000" cy="360000"/>
          </a:xfrm>
          <a:prstGeom prst="rect">
            <a:avLst/>
          </a:prstGeom>
          <a:solidFill>
            <a:srgbClr val="4063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4000" y="1584000"/>
            <a:ext cx="5436000" cy="288000"/>
          </a:xfrm>
          <a:prstGeom prst="rect">
            <a:avLst/>
          </a:prstGeom>
          <a:noFill/>
        </p:spPr>
        <p:txBody>
          <a:bodyPr wrap="square" lIns="36000" rIns="36000" tIns="18000" bIns="18000" anchor="ctr">
            <a:spAutoFit/>
          </a:bodyPr>
          <a:lstStyle/>
          <a:p>
            <a:pPr algn="l"/>
            <a:r>
              <a:rPr sz="1400" b="1" i="0">
                <a:solidFill>
                  <a:srgbClr val="FFFFFF"/>
                </a:solidFill>
                <a:latin typeface="Yu Gothic"/>
              </a:rPr>
              <a:t>主任介護支援専門員研修</a:t>
            </a:r>
          </a:p>
        </p:txBody>
      </p:sp>
      <p:sp>
        <p:nvSpPr>
          <p:cNvPr id="10" name="Rectangle 9"/>
          <p:cNvSpPr/>
          <p:nvPr/>
        </p:nvSpPr>
        <p:spPr>
          <a:xfrm>
            <a:off x="432000" y="1908000"/>
            <a:ext cx="5580000" cy="1908000"/>
          </a:xfrm>
          <a:prstGeom prst="rect">
            <a:avLst/>
          </a:prstGeom>
          <a:solidFill>
            <a:srgbClr val="E7EC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0000" y="1944000"/>
            <a:ext cx="5364000" cy="1872000"/>
          </a:xfrm>
          <a:prstGeom prst="rect">
            <a:avLst/>
          </a:prstGeom>
          <a:noFill/>
        </p:spPr>
        <p:txBody>
          <a:bodyPr wrap="square" lIns="36000" rIns="36000" tIns="18000" bIns="18000" anchor="t">
            <a:spAutoFit/>
          </a:bodyPr>
          <a:lstStyle/>
          <a:p>
            <a:pPr algn="l"/>
            <a:r>
              <a:rPr sz="1200" b="0" i="0">
                <a:solidFill>
                  <a:srgbClr val="2E3330"/>
                </a:solidFill>
                <a:latin typeface="Yu Gothic"/>
              </a:rPr>
              <a:t>■ 主任CMとなるための研修</a:t>
            </a:r>
          </a:p>
          <a:p>
            <a:pPr algn="l"/>
            <a:r>
              <a:rPr sz="1200" b="0" i="0">
                <a:solidFill>
                  <a:srgbClr val="2E3330"/>
                </a:solidFill>
                <a:latin typeface="Yu Gothic"/>
              </a:rPr>
              <a:t/>
            </a:r>
          </a:p>
          <a:p>
            <a:pPr algn="l"/>
            <a:r>
              <a:rPr sz="1200" b="0" i="0">
                <a:solidFill>
                  <a:srgbClr val="2E3330"/>
                </a:solidFill>
                <a:latin typeface="Yu Gothic"/>
              </a:rPr>
              <a:t>■ 一定の実務経験等の受講要件がある</a:t>
            </a:r>
          </a:p>
          <a:p>
            <a:pPr algn="l"/>
            <a:r>
              <a:rPr sz="1200" b="0" i="0">
                <a:solidFill>
                  <a:srgbClr val="2E3330"/>
                </a:solidFill>
                <a:latin typeface="Yu Gothic"/>
              </a:rPr>
              <a:t/>
            </a:r>
          </a:p>
          <a:p>
            <a:pPr algn="l"/>
            <a:r>
              <a:rPr sz="1200" b="0" i="0">
                <a:solidFill>
                  <a:srgbClr val="2E3330"/>
                </a:solidFill>
                <a:latin typeface="Yu Gothic"/>
              </a:rPr>
              <a:t>■ ケアマネジメントの指導・人材育成・</a:t>
            </a:r>
          </a:p>
          <a:p>
            <a:pPr algn="l"/>
            <a:r>
              <a:rPr sz="1200" b="0" i="0">
                <a:solidFill>
                  <a:srgbClr val="2E3330"/>
                </a:solidFill>
                <a:latin typeface="Yu Gothic"/>
              </a:rPr>
              <a:t>   地域づくり等を学ぶ</a:t>
            </a:r>
          </a:p>
          <a:p>
            <a:pPr algn="l"/>
            <a:r>
              <a:rPr sz="1200" b="0" i="0">
                <a:solidFill>
                  <a:srgbClr val="2E3330"/>
                </a:solidFill>
                <a:latin typeface="Yu Gothic"/>
              </a:rPr>
              <a:t/>
            </a:r>
          </a:p>
          <a:p>
            <a:pPr algn="l"/>
            <a:r>
              <a:rPr sz="1200" b="0" i="0">
                <a:solidFill>
                  <a:srgbClr val="2E3330"/>
                </a:solidFill>
                <a:latin typeface="Yu Gothic"/>
              </a:rPr>
              <a:t>■ 修了が、主任CMとしての出発点</a:t>
            </a:r>
          </a:p>
          <a:p>
            <a:pPr algn="l"/>
            <a:r>
              <a:rPr sz="1200" b="0" i="0">
                <a:solidFill>
                  <a:srgbClr val="2E3330"/>
                </a:solidFill>
                <a:latin typeface="Yu Gothic"/>
              </a:rPr>
              <a:t/>
            </a:r>
          </a:p>
          <a:p>
            <a:pPr algn="l"/>
            <a:r>
              <a:rPr sz="1200" b="0" i="0">
                <a:solidFill>
                  <a:srgbClr val="2E3330"/>
                </a:solidFill>
                <a:latin typeface="Yu Gothic"/>
              </a:rPr>
              <a:t>▶ 受講要件は都道府県により設定</a:t>
            </a:r>
          </a:p>
        </p:txBody>
      </p:sp>
      <p:sp>
        <p:nvSpPr>
          <p:cNvPr id="12" name="Rectangle 11"/>
          <p:cNvSpPr/>
          <p:nvPr/>
        </p:nvSpPr>
        <p:spPr>
          <a:xfrm>
            <a:off x="6300000" y="1548000"/>
            <a:ext cx="5400000" cy="360000"/>
          </a:xfrm>
          <a:prstGeom prst="rect">
            <a:avLst/>
          </a:prstGeom>
          <a:solidFill>
            <a:srgbClr val="B377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72000" y="1584000"/>
            <a:ext cx="5256000" cy="288000"/>
          </a:xfrm>
          <a:prstGeom prst="rect">
            <a:avLst/>
          </a:prstGeom>
          <a:noFill/>
        </p:spPr>
        <p:txBody>
          <a:bodyPr wrap="square" lIns="36000" rIns="36000" tIns="18000" bIns="18000" anchor="ctr">
            <a:spAutoFit/>
          </a:bodyPr>
          <a:lstStyle/>
          <a:p>
            <a:pPr algn="l"/>
            <a:r>
              <a:rPr sz="1400" b="1" i="0">
                <a:solidFill>
                  <a:srgbClr val="FFFFFF"/>
                </a:solidFill>
                <a:latin typeface="Yu Gothic"/>
              </a:rPr>
              <a:t>主任介護支援専門員更新研修</a:t>
            </a:r>
          </a:p>
        </p:txBody>
      </p:sp>
      <p:sp>
        <p:nvSpPr>
          <p:cNvPr id="14" name="Rectangle 13"/>
          <p:cNvSpPr/>
          <p:nvPr/>
        </p:nvSpPr>
        <p:spPr>
          <a:xfrm>
            <a:off x="6300000" y="1908000"/>
            <a:ext cx="5400000" cy="1908000"/>
          </a:xfrm>
          <a:prstGeom prst="rect">
            <a:avLst/>
          </a:prstGeom>
          <a:solidFill>
            <a:srgbClr val="F7EC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8000" y="1944000"/>
            <a:ext cx="5184000" cy="1872000"/>
          </a:xfrm>
          <a:prstGeom prst="rect">
            <a:avLst/>
          </a:prstGeom>
          <a:noFill/>
        </p:spPr>
        <p:txBody>
          <a:bodyPr wrap="square" lIns="36000" rIns="36000" tIns="18000" bIns="18000" anchor="t">
            <a:spAutoFit/>
          </a:bodyPr>
          <a:lstStyle/>
          <a:p>
            <a:pPr algn="l"/>
            <a:r>
              <a:rPr sz="1200" b="0" i="0">
                <a:solidFill>
                  <a:srgbClr val="2E3330"/>
                </a:solidFill>
                <a:latin typeface="Yu Gothic"/>
              </a:rPr>
              <a:t>■ 主任CMの資格的な立場を維持するための研修</a:t>
            </a:r>
          </a:p>
          <a:p>
            <a:pPr algn="l"/>
            <a:r>
              <a:rPr sz="1200" b="0" i="0">
                <a:solidFill>
                  <a:srgbClr val="2E3330"/>
                </a:solidFill>
                <a:latin typeface="Yu Gothic"/>
              </a:rPr>
              <a:t/>
            </a:r>
          </a:p>
          <a:p>
            <a:pPr algn="l"/>
            <a:r>
              <a:rPr sz="1200" b="0" i="0">
                <a:solidFill>
                  <a:srgbClr val="2E3330"/>
                </a:solidFill>
                <a:latin typeface="Yu Gothic"/>
              </a:rPr>
              <a:t>■ おおむね5年ごとに受講が必要</a:t>
            </a:r>
          </a:p>
          <a:p>
            <a:pPr algn="l"/>
            <a:r>
              <a:rPr sz="1200" b="0" i="0">
                <a:solidFill>
                  <a:srgbClr val="2E3330"/>
                </a:solidFill>
                <a:latin typeface="Yu Gothic"/>
              </a:rPr>
              <a:t/>
            </a:r>
          </a:p>
          <a:p>
            <a:pPr algn="l"/>
            <a:r>
              <a:rPr sz="1200" b="0" i="0">
                <a:solidFill>
                  <a:srgbClr val="2E3330"/>
                </a:solidFill>
                <a:latin typeface="Yu Gothic"/>
              </a:rPr>
              <a:t>■ 受講要件・実務要件が定められている</a:t>
            </a:r>
          </a:p>
          <a:p>
            <a:pPr algn="l"/>
            <a:r>
              <a:rPr sz="1200" b="0" i="0">
                <a:solidFill>
                  <a:srgbClr val="2E3330"/>
                </a:solidFill>
                <a:latin typeface="Yu Gothic"/>
              </a:rPr>
              <a:t/>
            </a:r>
          </a:p>
          <a:p>
            <a:pPr algn="l"/>
            <a:r>
              <a:rPr sz="1200" b="0" i="0">
                <a:solidFill>
                  <a:srgbClr val="2E3330"/>
                </a:solidFill>
                <a:latin typeface="Yu Gothic"/>
              </a:rPr>
              <a:t>■ 修了しないと、主任CMとしての</a:t>
            </a:r>
          </a:p>
          <a:p>
            <a:pPr algn="l"/>
            <a:r>
              <a:rPr sz="1200" b="0" i="0">
                <a:solidFill>
                  <a:srgbClr val="2E3330"/>
                </a:solidFill>
                <a:latin typeface="Yu Gothic"/>
              </a:rPr>
              <a:t>   位置づけを維持できないことがある</a:t>
            </a:r>
          </a:p>
        </p:txBody>
      </p:sp>
      <p:sp>
        <p:nvSpPr>
          <p:cNvPr id="16" name="Rectangle 15"/>
          <p:cNvSpPr/>
          <p:nvPr/>
        </p:nvSpPr>
        <p:spPr>
          <a:xfrm>
            <a:off x="432000" y="3960000"/>
            <a:ext cx="11304000" cy="360000"/>
          </a:xfrm>
          <a:prstGeom prst="rect">
            <a:avLst/>
          </a:prstGeom>
          <a:solidFill>
            <a:srgbClr val="2947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4000" y="3996000"/>
            <a:ext cx="11160000" cy="288000"/>
          </a:xfrm>
          <a:prstGeom prst="rect">
            <a:avLst/>
          </a:prstGeom>
          <a:noFill/>
        </p:spPr>
        <p:txBody>
          <a:bodyPr wrap="square" lIns="36000" rIns="36000" tIns="18000" bIns="18000" anchor="ctr">
            <a:spAutoFit/>
          </a:bodyPr>
          <a:lstStyle/>
          <a:p>
            <a:pPr algn="l"/>
            <a:r>
              <a:rPr sz="1400" b="1" i="0">
                <a:solidFill>
                  <a:srgbClr val="FFFFFF"/>
                </a:solidFill>
                <a:latin typeface="Yu Gothic"/>
              </a:rPr>
              <a:t>なぜ「戦略」が必要なのか</a:t>
            </a:r>
          </a:p>
        </p:txBody>
      </p:sp>
      <p:sp>
        <p:nvSpPr>
          <p:cNvPr id="18" name="Rectangle 17"/>
          <p:cNvSpPr/>
          <p:nvPr/>
        </p:nvSpPr>
        <p:spPr>
          <a:xfrm>
            <a:off x="432000" y="4320000"/>
            <a:ext cx="11304000" cy="1800000"/>
          </a:xfrm>
          <a:prstGeom prst="rect">
            <a:avLst/>
          </a:prstGeom>
          <a:solidFill>
            <a:srgbClr val="E7EC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0000" y="4356000"/>
            <a:ext cx="11088000" cy="1764000"/>
          </a:xfrm>
          <a:prstGeom prst="rect">
            <a:avLst/>
          </a:prstGeom>
          <a:noFill/>
        </p:spPr>
        <p:txBody>
          <a:bodyPr wrap="square" lIns="36000" rIns="36000" tIns="18000" bIns="18000" anchor="t">
            <a:spAutoFit/>
          </a:bodyPr>
          <a:lstStyle/>
          <a:p>
            <a:pPr algn="l"/>
            <a:r>
              <a:rPr sz="1300" b="0" i="0">
                <a:solidFill>
                  <a:srgbClr val="2E3330"/>
                </a:solidFill>
                <a:latin typeface="Yu Gothic"/>
              </a:rPr>
              <a:t>■ 主任CM更新研修は、受講時期・要件が決まっており、「うっかり」では済まされない</a:t>
            </a:r>
          </a:p>
          <a:p>
            <a:pPr algn="l"/>
            <a:r>
              <a:rPr sz="1300" b="0" i="0">
                <a:solidFill>
                  <a:srgbClr val="2E3330"/>
                </a:solidFill>
                <a:latin typeface="Yu Gothic"/>
              </a:rPr>
              <a:t/>
            </a:r>
          </a:p>
          <a:p>
            <a:pPr algn="l"/>
            <a:r>
              <a:rPr sz="1300" b="0" i="0">
                <a:solidFill>
                  <a:srgbClr val="2E3330"/>
                </a:solidFill>
                <a:latin typeface="Yu Gothic"/>
              </a:rPr>
              <a:t>■ 居宅介護支援事業所の管理者要件として主任CMが求められる ― 更新を逃すと事業所運営に影響</a:t>
            </a:r>
          </a:p>
          <a:p>
            <a:pPr algn="l"/>
            <a:r>
              <a:rPr sz="1300" b="0" i="0">
                <a:solidFill>
                  <a:srgbClr val="2E3330"/>
                </a:solidFill>
                <a:latin typeface="Yu Gothic"/>
              </a:rPr>
              <a:t/>
            </a:r>
          </a:p>
          <a:p>
            <a:pPr algn="l"/>
            <a:r>
              <a:rPr sz="1300" b="0" i="0">
                <a:solidFill>
                  <a:srgbClr val="2E3330"/>
                </a:solidFill>
                <a:latin typeface="Yu Gothic"/>
              </a:rPr>
              <a:t>■ 研修は数日間にわたり、業務を離れる ― 計画なしでは「受けたくても受けられない」</a:t>
            </a:r>
          </a:p>
          <a:p>
            <a:pPr algn="l"/>
            <a:r>
              <a:rPr sz="1300" b="0" i="0">
                <a:solidFill>
                  <a:srgbClr val="2E3330"/>
                </a:solidFill>
                <a:latin typeface="Yu Gothic"/>
              </a:rPr>
              <a:t/>
            </a:r>
          </a:p>
          <a:p>
            <a:pPr algn="l"/>
            <a:r>
              <a:rPr sz="1300" b="0" i="0">
                <a:solidFill>
                  <a:srgbClr val="2E3330"/>
                </a:solidFill>
                <a:latin typeface="Yu Gothic"/>
              </a:rPr>
              <a:t>■ だからこそ「いつ・誰が・どう受けるか」を逆算して計画する戦略が要る</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576000"/>
          </a:xfrm>
          <a:prstGeom prst="rect">
            <a:avLst/>
          </a:prstGeom>
          <a:solidFill>
            <a:srgbClr val="2947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88000" y="90000"/>
            <a:ext cx="7920000" cy="216000"/>
          </a:xfrm>
          <a:prstGeom prst="rect">
            <a:avLst/>
          </a:prstGeom>
          <a:noFill/>
        </p:spPr>
        <p:txBody>
          <a:bodyPr wrap="square" lIns="36000" rIns="36000" tIns="18000" bIns="18000" anchor="t">
            <a:spAutoFit/>
          </a:bodyPr>
          <a:lstStyle/>
          <a:p>
            <a:pPr algn="l"/>
            <a:r>
              <a:rPr sz="1100" b="1" i="0">
                <a:solidFill>
                  <a:srgbClr val="FFFFFF"/>
                </a:solidFill>
                <a:latin typeface="Yu Gothic"/>
              </a:rPr>
              <a:t>3. 更新研修の戦略</a:t>
            </a:r>
          </a:p>
        </p:txBody>
      </p:sp>
      <p:sp>
        <p:nvSpPr>
          <p:cNvPr id="4" name="TextBox 3"/>
          <p:cNvSpPr txBox="1"/>
          <p:nvPr/>
        </p:nvSpPr>
        <p:spPr>
          <a:xfrm>
            <a:off x="288000" y="684000"/>
            <a:ext cx="11616119" cy="468000"/>
          </a:xfrm>
          <a:prstGeom prst="rect">
            <a:avLst/>
          </a:prstGeom>
          <a:noFill/>
        </p:spPr>
        <p:txBody>
          <a:bodyPr wrap="square" lIns="36000" rIns="36000" tIns="18000" bIns="18000" anchor="t">
            <a:spAutoFit/>
          </a:bodyPr>
          <a:lstStyle/>
          <a:p>
            <a:pPr algn="l"/>
            <a:r>
              <a:rPr sz="2300" b="1" i="0">
                <a:solidFill>
                  <a:srgbClr val="294737"/>
                </a:solidFill>
                <a:latin typeface="Yu Gothic"/>
              </a:rPr>
              <a:t>「更新を逃す」と何が起きるか</a:t>
            </a:r>
          </a:p>
        </p:txBody>
      </p:sp>
      <p:sp>
        <p:nvSpPr>
          <p:cNvPr id="5" name="Rectangle 4"/>
          <p:cNvSpPr/>
          <p:nvPr/>
        </p:nvSpPr>
        <p:spPr>
          <a:xfrm>
            <a:off x="288000" y="1152000"/>
            <a:ext cx="900000" cy="43200"/>
          </a:xfrm>
          <a:prstGeom prst="rect">
            <a:avLst/>
          </a:prstGeom>
          <a:solidFill>
            <a:srgbClr val="B377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88000" y="6570000"/>
            <a:ext cx="9720000" cy="180000"/>
          </a:xfrm>
          <a:prstGeom prst="rect">
            <a:avLst/>
          </a:prstGeom>
          <a:noFill/>
        </p:spPr>
        <p:txBody>
          <a:bodyPr wrap="square" lIns="36000" rIns="36000" tIns="18000" bIns="18000" anchor="t">
            <a:spAutoFit/>
          </a:bodyPr>
          <a:lstStyle/>
          <a:p>
            <a:pPr algn="l"/>
            <a:r>
              <a:rPr sz="900" b="0" i="0">
                <a:solidFill>
                  <a:srgbClr val="6E8C7C"/>
                </a:solidFill>
                <a:latin typeface="Yu Gothic"/>
              </a:rPr>
              <a:t>主任CM研修 / 法定研修制度改正への対応と主任CM更新研修の戦略  ※研修制度は最新情報をご確認ください</a:t>
            </a:r>
          </a:p>
        </p:txBody>
      </p:sp>
      <p:sp>
        <p:nvSpPr>
          <p:cNvPr id="7" name="TextBox 6"/>
          <p:cNvSpPr txBox="1"/>
          <p:nvPr/>
        </p:nvSpPr>
        <p:spPr>
          <a:xfrm>
            <a:off x="11112119" y="6570000"/>
            <a:ext cx="792000" cy="180000"/>
          </a:xfrm>
          <a:prstGeom prst="rect">
            <a:avLst/>
          </a:prstGeom>
          <a:noFill/>
        </p:spPr>
        <p:txBody>
          <a:bodyPr wrap="square" lIns="36000" rIns="36000" tIns="18000" bIns="18000" anchor="t">
            <a:spAutoFit/>
          </a:bodyPr>
          <a:lstStyle/>
          <a:p>
            <a:pPr algn="r"/>
            <a:r>
              <a:rPr sz="900" b="0" i="0">
                <a:solidFill>
                  <a:srgbClr val="6E8C7C"/>
                </a:solidFill>
                <a:latin typeface="Yu Gothic"/>
              </a:rPr>
              <a:t>12 / 27</a:t>
            </a:r>
          </a:p>
        </p:txBody>
      </p:sp>
      <p:sp>
        <p:nvSpPr>
          <p:cNvPr id="8" name="Rectangle 7"/>
          <p:cNvSpPr/>
          <p:nvPr/>
        </p:nvSpPr>
        <p:spPr>
          <a:xfrm>
            <a:off x="432000" y="1548000"/>
            <a:ext cx="11304000" cy="360000"/>
          </a:xfrm>
          <a:prstGeom prst="rect">
            <a:avLst/>
          </a:prstGeom>
          <a:solidFill>
            <a:srgbClr val="2947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4000" y="1584000"/>
            <a:ext cx="11160000" cy="288000"/>
          </a:xfrm>
          <a:prstGeom prst="rect">
            <a:avLst/>
          </a:prstGeom>
          <a:noFill/>
        </p:spPr>
        <p:txBody>
          <a:bodyPr wrap="square" lIns="36000" rIns="36000" tIns="18000" bIns="18000" anchor="ctr">
            <a:spAutoFit/>
          </a:bodyPr>
          <a:lstStyle/>
          <a:p>
            <a:pPr algn="l"/>
            <a:r>
              <a:rPr sz="1400" b="1" i="0">
                <a:solidFill>
                  <a:srgbClr val="FFFFFF"/>
                </a:solidFill>
                <a:latin typeface="Yu Gothic"/>
              </a:rPr>
              <a:t>更新は「個人の問題」では済まない</a:t>
            </a:r>
          </a:p>
        </p:txBody>
      </p:sp>
      <p:sp>
        <p:nvSpPr>
          <p:cNvPr id="10" name="Rectangle 9"/>
          <p:cNvSpPr/>
          <p:nvPr/>
        </p:nvSpPr>
        <p:spPr>
          <a:xfrm>
            <a:off x="432000" y="1908000"/>
            <a:ext cx="11304000" cy="467999"/>
          </a:xfrm>
          <a:prstGeom prst="rect">
            <a:avLst/>
          </a:prstGeom>
          <a:solidFill>
            <a:srgbClr val="E7EC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0000" y="1944000"/>
            <a:ext cx="11088000" cy="431999"/>
          </a:xfrm>
          <a:prstGeom prst="rect">
            <a:avLst/>
          </a:prstGeom>
          <a:noFill/>
        </p:spPr>
        <p:txBody>
          <a:bodyPr wrap="square" lIns="36000" rIns="36000" tIns="18000" bIns="18000" anchor="t">
            <a:spAutoFit/>
          </a:bodyPr>
          <a:lstStyle/>
          <a:p>
            <a:pPr algn="l"/>
            <a:r>
              <a:rPr sz="1200" b="0" i="0">
                <a:solidFill>
                  <a:srgbClr val="2E3330"/>
                </a:solidFill>
                <a:latin typeface="Yu Gothic"/>
              </a:rPr>
              <a:t>更新研修を受け損ねることは、本人だけでなく、事業所の運営にも影響しうる。</a:t>
            </a:r>
          </a:p>
          <a:p>
            <a:pPr algn="l"/>
            <a:r>
              <a:rPr sz="1200" b="0" i="0">
                <a:solidFill>
                  <a:srgbClr val="2E3330"/>
                </a:solidFill>
                <a:latin typeface="Yu Gothic"/>
              </a:rPr>
              <a:t>「気づいたら期限が過ぎていた」を、組織として防ぐ必要がある。</a:t>
            </a:r>
          </a:p>
        </p:txBody>
      </p:sp>
      <p:sp>
        <p:nvSpPr>
          <p:cNvPr id="12" name="Rectangle 11"/>
          <p:cNvSpPr/>
          <p:nvPr/>
        </p:nvSpPr>
        <p:spPr>
          <a:xfrm>
            <a:off x="444061" y="2592000"/>
            <a:ext cx="3671999" cy="468000"/>
          </a:xfrm>
          <a:prstGeom prst="rect">
            <a:avLst/>
          </a:prstGeom>
          <a:solidFill>
            <a:srgbClr val="4453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4061" y="2592000"/>
            <a:ext cx="3671999" cy="468000"/>
          </a:xfrm>
          <a:prstGeom prst="rect">
            <a:avLst/>
          </a:prstGeom>
          <a:noFill/>
        </p:spPr>
        <p:txBody>
          <a:bodyPr wrap="square" lIns="36000" rIns="36000" tIns="18000" bIns="18000" anchor="ctr">
            <a:spAutoFit/>
          </a:bodyPr>
          <a:lstStyle/>
          <a:p>
            <a:pPr algn="ctr"/>
            <a:r>
              <a:rPr sz="1500" b="1" i="0">
                <a:solidFill>
                  <a:srgbClr val="FFFFFF"/>
                </a:solidFill>
                <a:latin typeface="Yu Gothic"/>
              </a:rPr>
              <a:t>本人への影響</a:t>
            </a:r>
          </a:p>
        </p:txBody>
      </p:sp>
      <p:sp>
        <p:nvSpPr>
          <p:cNvPr id="14" name="Rectangle 13"/>
          <p:cNvSpPr/>
          <p:nvPr/>
        </p:nvSpPr>
        <p:spPr>
          <a:xfrm>
            <a:off x="444061" y="3060000"/>
            <a:ext cx="3671999" cy="1512000"/>
          </a:xfrm>
          <a:prstGeom prst="rect">
            <a:avLst/>
          </a:prstGeom>
          <a:solidFill>
            <a:srgbClr val="E7EC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88061" y="3204000"/>
            <a:ext cx="3383999" cy="1224000"/>
          </a:xfrm>
          <a:prstGeom prst="rect">
            <a:avLst/>
          </a:prstGeom>
          <a:noFill/>
        </p:spPr>
        <p:txBody>
          <a:bodyPr wrap="square" lIns="36000" rIns="36000" tIns="18000" bIns="18000" anchor="t">
            <a:spAutoFit/>
          </a:bodyPr>
          <a:lstStyle/>
          <a:p>
            <a:pPr algn="l">
              <a:lnSpc>
                <a:spcPct val="150000"/>
              </a:lnSpc>
            </a:pPr>
            <a:r>
              <a:rPr sz="1200" b="0" i="0">
                <a:solidFill>
                  <a:srgbClr val="2E3330"/>
                </a:solidFill>
                <a:latin typeface="Yu Gothic"/>
              </a:rPr>
              <a:t>・主任CMとしての立場の</a:t>
            </a:r>
          </a:p>
          <a:p>
            <a:pPr algn="l">
              <a:lnSpc>
                <a:spcPct val="150000"/>
              </a:lnSpc>
            </a:pPr>
            <a:r>
              <a:rPr sz="1200" b="0" i="0">
                <a:solidFill>
                  <a:srgbClr val="2E3330"/>
                </a:solidFill>
                <a:latin typeface="Yu Gothic"/>
              </a:rPr>
              <a:t>  維持に影響</a:t>
            </a:r>
          </a:p>
          <a:p>
            <a:pPr algn="l">
              <a:lnSpc>
                <a:spcPct val="150000"/>
              </a:lnSpc>
            </a:pPr>
            <a:r>
              <a:rPr sz="1200" b="0" i="0">
                <a:solidFill>
                  <a:srgbClr val="2E3330"/>
                </a:solidFill>
                <a:latin typeface="Yu Gothic"/>
              </a:rPr>
              <a:t>・再度の研修受講等が</a:t>
            </a:r>
          </a:p>
          <a:p>
            <a:pPr algn="l">
              <a:lnSpc>
                <a:spcPct val="150000"/>
              </a:lnSpc>
            </a:pPr>
            <a:r>
              <a:rPr sz="1200" b="0" i="0">
                <a:solidFill>
                  <a:srgbClr val="2E3330"/>
                </a:solidFill>
                <a:latin typeface="Yu Gothic"/>
              </a:rPr>
              <a:t>  必要になりうる</a:t>
            </a:r>
          </a:p>
        </p:txBody>
      </p:sp>
      <p:sp>
        <p:nvSpPr>
          <p:cNvPr id="16" name="Rectangle 15"/>
          <p:cNvSpPr/>
          <p:nvPr/>
        </p:nvSpPr>
        <p:spPr>
          <a:xfrm>
            <a:off x="4260060" y="2592000"/>
            <a:ext cx="3671999" cy="468000"/>
          </a:xfrm>
          <a:prstGeom prst="rect">
            <a:avLst/>
          </a:prstGeom>
          <a:solidFill>
            <a:srgbClr val="B244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260060" y="2592000"/>
            <a:ext cx="3671999" cy="468000"/>
          </a:xfrm>
          <a:prstGeom prst="rect">
            <a:avLst/>
          </a:prstGeom>
          <a:noFill/>
        </p:spPr>
        <p:txBody>
          <a:bodyPr wrap="square" lIns="36000" rIns="36000" tIns="18000" bIns="18000" anchor="ctr">
            <a:spAutoFit/>
          </a:bodyPr>
          <a:lstStyle/>
          <a:p>
            <a:pPr algn="ctr"/>
            <a:r>
              <a:rPr sz="1500" b="1" i="0">
                <a:solidFill>
                  <a:srgbClr val="FFFFFF"/>
                </a:solidFill>
                <a:latin typeface="Yu Gothic"/>
              </a:rPr>
              <a:t>事業所への影響</a:t>
            </a:r>
          </a:p>
        </p:txBody>
      </p:sp>
      <p:sp>
        <p:nvSpPr>
          <p:cNvPr id="18" name="Rectangle 17"/>
          <p:cNvSpPr/>
          <p:nvPr/>
        </p:nvSpPr>
        <p:spPr>
          <a:xfrm>
            <a:off x="4260060" y="3060000"/>
            <a:ext cx="3671999" cy="1512000"/>
          </a:xfrm>
          <a:prstGeom prst="rect">
            <a:avLst/>
          </a:prstGeom>
          <a:solidFill>
            <a:srgbClr val="E7EC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404060" y="3204000"/>
            <a:ext cx="3383999" cy="1224000"/>
          </a:xfrm>
          <a:prstGeom prst="rect">
            <a:avLst/>
          </a:prstGeom>
          <a:noFill/>
        </p:spPr>
        <p:txBody>
          <a:bodyPr wrap="square" lIns="36000" rIns="36000" tIns="18000" bIns="18000" anchor="t">
            <a:spAutoFit/>
          </a:bodyPr>
          <a:lstStyle/>
          <a:p>
            <a:pPr algn="l">
              <a:lnSpc>
                <a:spcPct val="150000"/>
              </a:lnSpc>
            </a:pPr>
            <a:r>
              <a:rPr sz="1200" b="0" i="0">
                <a:solidFill>
                  <a:srgbClr val="2E3330"/>
                </a:solidFill>
                <a:latin typeface="Yu Gothic"/>
              </a:rPr>
              <a:t>・管理者要件を満たせなく</a:t>
            </a:r>
          </a:p>
          <a:p>
            <a:pPr algn="l">
              <a:lnSpc>
                <a:spcPct val="150000"/>
              </a:lnSpc>
            </a:pPr>
            <a:r>
              <a:rPr sz="1200" b="0" i="0">
                <a:solidFill>
                  <a:srgbClr val="2E3330"/>
                </a:solidFill>
                <a:latin typeface="Yu Gothic"/>
              </a:rPr>
              <a:t>  なるおそれ</a:t>
            </a:r>
          </a:p>
          <a:p>
            <a:pPr algn="l">
              <a:lnSpc>
                <a:spcPct val="150000"/>
              </a:lnSpc>
            </a:pPr>
            <a:r>
              <a:rPr sz="1200" b="0" i="0">
                <a:solidFill>
                  <a:srgbClr val="2E3330"/>
                </a:solidFill>
                <a:latin typeface="Yu Gothic"/>
              </a:rPr>
              <a:t>・特定事業所加算の要件</a:t>
            </a:r>
          </a:p>
          <a:p>
            <a:pPr algn="l">
              <a:lnSpc>
                <a:spcPct val="150000"/>
              </a:lnSpc>
            </a:pPr>
            <a:r>
              <a:rPr sz="1200" b="0" i="0">
                <a:solidFill>
                  <a:srgbClr val="2E3330"/>
                </a:solidFill>
                <a:latin typeface="Yu Gothic"/>
              </a:rPr>
              <a:t>  にも関わる</a:t>
            </a:r>
          </a:p>
        </p:txBody>
      </p:sp>
      <p:sp>
        <p:nvSpPr>
          <p:cNvPr id="20" name="Rectangle 19"/>
          <p:cNvSpPr/>
          <p:nvPr/>
        </p:nvSpPr>
        <p:spPr>
          <a:xfrm>
            <a:off x="8076059" y="2592000"/>
            <a:ext cx="3671999" cy="468000"/>
          </a:xfrm>
          <a:prstGeom prst="rect">
            <a:avLst/>
          </a:prstGeom>
          <a:solidFill>
            <a:srgbClr val="B377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076059" y="2592000"/>
            <a:ext cx="3671999" cy="468000"/>
          </a:xfrm>
          <a:prstGeom prst="rect">
            <a:avLst/>
          </a:prstGeom>
          <a:noFill/>
        </p:spPr>
        <p:txBody>
          <a:bodyPr wrap="square" lIns="36000" rIns="36000" tIns="18000" bIns="18000" anchor="ctr">
            <a:spAutoFit/>
          </a:bodyPr>
          <a:lstStyle/>
          <a:p>
            <a:pPr algn="ctr"/>
            <a:r>
              <a:rPr sz="1500" b="1" i="0">
                <a:solidFill>
                  <a:srgbClr val="FFFFFF"/>
                </a:solidFill>
                <a:latin typeface="Yu Gothic"/>
              </a:rPr>
              <a:t>利用者・地域への影響</a:t>
            </a:r>
          </a:p>
        </p:txBody>
      </p:sp>
      <p:sp>
        <p:nvSpPr>
          <p:cNvPr id="22" name="Rectangle 21"/>
          <p:cNvSpPr/>
          <p:nvPr/>
        </p:nvSpPr>
        <p:spPr>
          <a:xfrm>
            <a:off x="8076059" y="3060000"/>
            <a:ext cx="3671999" cy="1512000"/>
          </a:xfrm>
          <a:prstGeom prst="rect">
            <a:avLst/>
          </a:prstGeom>
          <a:solidFill>
            <a:srgbClr val="E7EC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0059" y="3204000"/>
            <a:ext cx="3383999" cy="1224000"/>
          </a:xfrm>
          <a:prstGeom prst="rect">
            <a:avLst/>
          </a:prstGeom>
          <a:noFill/>
        </p:spPr>
        <p:txBody>
          <a:bodyPr wrap="square" lIns="36000" rIns="36000" tIns="18000" bIns="18000" anchor="t">
            <a:spAutoFit/>
          </a:bodyPr>
          <a:lstStyle/>
          <a:p>
            <a:pPr algn="l">
              <a:lnSpc>
                <a:spcPct val="150000"/>
              </a:lnSpc>
            </a:pPr>
            <a:r>
              <a:rPr sz="1200" b="0" i="0">
                <a:solidFill>
                  <a:srgbClr val="2E3330"/>
                </a:solidFill>
                <a:latin typeface="Yu Gothic"/>
              </a:rPr>
              <a:t>・指導・育成体制の弱体化</a:t>
            </a:r>
          </a:p>
          <a:p>
            <a:pPr algn="l">
              <a:lnSpc>
                <a:spcPct val="150000"/>
              </a:lnSpc>
            </a:pPr>
            <a:r>
              <a:rPr sz="1200" b="0" i="0">
                <a:solidFill>
                  <a:srgbClr val="2E3330"/>
                </a:solidFill>
                <a:latin typeface="Yu Gothic"/>
              </a:rPr>
              <a:t>・地域での主任CMの</a:t>
            </a:r>
          </a:p>
          <a:p>
            <a:pPr algn="l">
              <a:lnSpc>
                <a:spcPct val="150000"/>
              </a:lnSpc>
            </a:pPr>
            <a:r>
              <a:rPr sz="1200" b="0" i="0">
                <a:solidFill>
                  <a:srgbClr val="2E3330"/>
                </a:solidFill>
                <a:latin typeface="Yu Gothic"/>
              </a:rPr>
              <a:t>  役割が果たせなくなる</a:t>
            </a:r>
          </a:p>
        </p:txBody>
      </p:sp>
      <p:sp>
        <p:nvSpPr>
          <p:cNvPr id="24" name="Rectangle 23"/>
          <p:cNvSpPr/>
          <p:nvPr/>
        </p:nvSpPr>
        <p:spPr>
          <a:xfrm>
            <a:off x="432000" y="5040000"/>
            <a:ext cx="11304000" cy="360000"/>
          </a:xfrm>
          <a:prstGeom prst="rect">
            <a:avLst/>
          </a:prstGeom>
          <a:solidFill>
            <a:srgbClr val="B377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04000" y="5076000"/>
            <a:ext cx="11160000" cy="288000"/>
          </a:xfrm>
          <a:prstGeom prst="rect">
            <a:avLst/>
          </a:prstGeom>
          <a:noFill/>
        </p:spPr>
        <p:txBody>
          <a:bodyPr wrap="square" lIns="36000" rIns="36000" tIns="18000" bIns="18000" anchor="ctr">
            <a:spAutoFit/>
          </a:bodyPr>
          <a:lstStyle/>
          <a:p>
            <a:pPr algn="l"/>
            <a:r>
              <a:rPr sz="1400" b="1" i="0">
                <a:solidFill>
                  <a:srgbClr val="FFFFFF"/>
                </a:solidFill>
                <a:latin typeface="Yu Gothic"/>
              </a:rPr>
              <a:t>重要 ― 要件・経過措置は必ず確認を</a:t>
            </a:r>
          </a:p>
        </p:txBody>
      </p:sp>
      <p:sp>
        <p:nvSpPr>
          <p:cNvPr id="26" name="Rectangle 25"/>
          <p:cNvSpPr/>
          <p:nvPr/>
        </p:nvSpPr>
        <p:spPr>
          <a:xfrm>
            <a:off x="432000" y="5400000"/>
            <a:ext cx="11304000" cy="720000"/>
          </a:xfrm>
          <a:prstGeom prst="rect">
            <a:avLst/>
          </a:prstGeom>
          <a:solidFill>
            <a:srgbClr val="F7EC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40000" y="5436000"/>
            <a:ext cx="11088000" cy="684000"/>
          </a:xfrm>
          <a:prstGeom prst="rect">
            <a:avLst/>
          </a:prstGeom>
          <a:noFill/>
        </p:spPr>
        <p:txBody>
          <a:bodyPr wrap="square" lIns="36000" rIns="36000" tIns="18000" bIns="18000" anchor="t">
            <a:spAutoFit/>
          </a:bodyPr>
          <a:lstStyle/>
          <a:p>
            <a:pPr algn="l"/>
            <a:r>
              <a:rPr sz="1200" b="0" i="0">
                <a:solidFill>
                  <a:srgbClr val="2E3330"/>
                </a:solidFill>
                <a:latin typeface="Yu Gothic"/>
              </a:rPr>
              <a:t>■ 管理者要件としての主任CMの扱いや、更新研修の要件・経過措置は、制度改正で変わりうる</a:t>
            </a:r>
          </a:p>
          <a:p>
            <a:pPr algn="l"/>
            <a:r>
              <a:rPr sz="1200" b="0" i="0">
                <a:solidFill>
                  <a:srgbClr val="2E3330"/>
                </a:solidFill>
                <a:latin typeface="Yu Gothic"/>
              </a:rPr>
              <a:t>■ 「いつまでに・何を満たす必要があるか」は、都道府県・国の最新情報で必ず確認すること</a:t>
            </a:r>
          </a:p>
          <a:p>
            <a:pPr algn="l"/>
            <a:r>
              <a:rPr sz="1200" b="0" i="0">
                <a:solidFill>
                  <a:srgbClr val="2E3330"/>
                </a:solidFill>
                <a:latin typeface="Yu Gothic"/>
              </a:rPr>
              <a:t>■ 本資料の記載は一般的な整理 ― 個別の判断は、必ず一次情報にあたる</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576000"/>
          </a:xfrm>
          <a:prstGeom prst="rect">
            <a:avLst/>
          </a:prstGeom>
          <a:solidFill>
            <a:srgbClr val="2947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88000" y="90000"/>
            <a:ext cx="7920000" cy="216000"/>
          </a:xfrm>
          <a:prstGeom prst="rect">
            <a:avLst/>
          </a:prstGeom>
          <a:noFill/>
        </p:spPr>
        <p:txBody>
          <a:bodyPr wrap="square" lIns="36000" rIns="36000" tIns="18000" bIns="18000" anchor="t">
            <a:spAutoFit/>
          </a:bodyPr>
          <a:lstStyle/>
          <a:p>
            <a:pPr algn="l"/>
            <a:r>
              <a:rPr sz="1100" b="1" i="0">
                <a:solidFill>
                  <a:srgbClr val="FFFFFF"/>
                </a:solidFill>
                <a:latin typeface="Yu Gothic"/>
              </a:rPr>
              <a:t>3. 更新研修の戦略</a:t>
            </a:r>
          </a:p>
        </p:txBody>
      </p:sp>
      <p:sp>
        <p:nvSpPr>
          <p:cNvPr id="4" name="TextBox 3"/>
          <p:cNvSpPr txBox="1"/>
          <p:nvPr/>
        </p:nvSpPr>
        <p:spPr>
          <a:xfrm>
            <a:off x="288000" y="684000"/>
            <a:ext cx="11616119" cy="468000"/>
          </a:xfrm>
          <a:prstGeom prst="rect">
            <a:avLst/>
          </a:prstGeom>
          <a:noFill/>
        </p:spPr>
        <p:txBody>
          <a:bodyPr wrap="square" lIns="36000" rIns="36000" tIns="18000" bIns="18000" anchor="t">
            <a:spAutoFit/>
          </a:bodyPr>
          <a:lstStyle/>
          <a:p>
            <a:pPr algn="l"/>
            <a:r>
              <a:rPr sz="2300" b="1" i="0">
                <a:solidFill>
                  <a:srgbClr val="294737"/>
                </a:solidFill>
                <a:latin typeface="Yu Gothic"/>
              </a:rPr>
              <a:t>「逆算」で計画する ― 更新研修受講のロードマップ</a:t>
            </a:r>
          </a:p>
        </p:txBody>
      </p:sp>
      <p:sp>
        <p:nvSpPr>
          <p:cNvPr id="5" name="Rectangle 4"/>
          <p:cNvSpPr/>
          <p:nvPr/>
        </p:nvSpPr>
        <p:spPr>
          <a:xfrm>
            <a:off x="288000" y="1152000"/>
            <a:ext cx="900000" cy="43200"/>
          </a:xfrm>
          <a:prstGeom prst="rect">
            <a:avLst/>
          </a:prstGeom>
          <a:solidFill>
            <a:srgbClr val="B377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88000" y="6570000"/>
            <a:ext cx="9720000" cy="180000"/>
          </a:xfrm>
          <a:prstGeom prst="rect">
            <a:avLst/>
          </a:prstGeom>
          <a:noFill/>
        </p:spPr>
        <p:txBody>
          <a:bodyPr wrap="square" lIns="36000" rIns="36000" tIns="18000" bIns="18000" anchor="t">
            <a:spAutoFit/>
          </a:bodyPr>
          <a:lstStyle/>
          <a:p>
            <a:pPr algn="l"/>
            <a:r>
              <a:rPr sz="900" b="0" i="0">
                <a:solidFill>
                  <a:srgbClr val="6E8C7C"/>
                </a:solidFill>
                <a:latin typeface="Yu Gothic"/>
              </a:rPr>
              <a:t>主任CM研修 / 法定研修制度改正への対応と主任CM更新研修の戦略  ※研修制度は最新情報をご確認ください</a:t>
            </a:r>
          </a:p>
        </p:txBody>
      </p:sp>
      <p:sp>
        <p:nvSpPr>
          <p:cNvPr id="7" name="TextBox 6"/>
          <p:cNvSpPr txBox="1"/>
          <p:nvPr/>
        </p:nvSpPr>
        <p:spPr>
          <a:xfrm>
            <a:off x="11112119" y="6570000"/>
            <a:ext cx="792000" cy="180000"/>
          </a:xfrm>
          <a:prstGeom prst="rect">
            <a:avLst/>
          </a:prstGeom>
          <a:noFill/>
        </p:spPr>
        <p:txBody>
          <a:bodyPr wrap="square" lIns="36000" rIns="36000" tIns="18000" bIns="18000" anchor="t">
            <a:spAutoFit/>
          </a:bodyPr>
          <a:lstStyle/>
          <a:p>
            <a:pPr algn="r"/>
            <a:r>
              <a:rPr sz="900" b="0" i="0">
                <a:solidFill>
                  <a:srgbClr val="6E8C7C"/>
                </a:solidFill>
                <a:latin typeface="Yu Gothic"/>
              </a:rPr>
              <a:t>13 / 27</a:t>
            </a:r>
          </a:p>
        </p:txBody>
      </p:sp>
      <p:sp>
        <p:nvSpPr>
          <p:cNvPr id="8" name="Oval 7"/>
          <p:cNvSpPr/>
          <p:nvPr/>
        </p:nvSpPr>
        <p:spPr>
          <a:xfrm>
            <a:off x="540000" y="1728000"/>
            <a:ext cx="432000" cy="432000"/>
          </a:xfrm>
          <a:prstGeom prst="ellipse">
            <a:avLst/>
          </a:prstGeom>
          <a:solidFill>
            <a:srgbClr val="406350"/>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500" b="1">
                <a:solidFill>
                  <a:srgbClr val="FFFFFF"/>
                </a:solidFill>
                <a:latin typeface="Yu Gothic"/>
              </a:rPr>
              <a:t>1</a:t>
            </a:r>
          </a:p>
        </p:txBody>
      </p:sp>
      <p:sp>
        <p:nvSpPr>
          <p:cNvPr id="9" name="Rectangle 8"/>
          <p:cNvSpPr/>
          <p:nvPr/>
        </p:nvSpPr>
        <p:spPr>
          <a:xfrm>
            <a:off x="1152000" y="1584000"/>
            <a:ext cx="2340000" cy="792000"/>
          </a:xfrm>
          <a:prstGeom prst="rect">
            <a:avLst/>
          </a:prstGeom>
          <a:solidFill>
            <a:srgbClr val="4063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88000" y="1584000"/>
            <a:ext cx="2268000" cy="792000"/>
          </a:xfrm>
          <a:prstGeom prst="rect">
            <a:avLst/>
          </a:prstGeom>
          <a:noFill/>
        </p:spPr>
        <p:txBody>
          <a:bodyPr wrap="square" lIns="36000" rIns="36000" tIns="18000" bIns="18000" anchor="ctr">
            <a:spAutoFit/>
          </a:bodyPr>
          <a:lstStyle/>
          <a:p>
            <a:pPr algn="ctr"/>
            <a:r>
              <a:rPr sz="1300" b="1" i="0">
                <a:solidFill>
                  <a:srgbClr val="FFFFFF"/>
                </a:solidFill>
                <a:latin typeface="Yu Gothic"/>
              </a:rPr>
              <a:t>更新期限を</a:t>
            </a:r>
          </a:p>
          <a:p>
            <a:pPr algn="ctr"/>
            <a:r>
              <a:rPr sz="1300" b="1" i="0">
                <a:solidFill>
                  <a:srgbClr val="FFFFFF"/>
                </a:solidFill>
                <a:latin typeface="Yu Gothic"/>
              </a:rPr>
              <a:t>確認する</a:t>
            </a:r>
          </a:p>
        </p:txBody>
      </p:sp>
      <p:sp>
        <p:nvSpPr>
          <p:cNvPr id="11" name="Rectangle 10"/>
          <p:cNvSpPr/>
          <p:nvPr/>
        </p:nvSpPr>
        <p:spPr>
          <a:xfrm>
            <a:off x="3491999" y="1584000"/>
            <a:ext cx="8268119" cy="792000"/>
          </a:xfrm>
          <a:prstGeom prst="rect">
            <a:avLst/>
          </a:prstGeom>
          <a:solidFill>
            <a:srgbClr val="E7EC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36000" y="1656000"/>
            <a:ext cx="8052119" cy="684000"/>
          </a:xfrm>
          <a:prstGeom prst="rect">
            <a:avLst/>
          </a:prstGeom>
          <a:noFill/>
        </p:spPr>
        <p:txBody>
          <a:bodyPr wrap="square" lIns="36000" rIns="36000" tIns="18000" bIns="18000" anchor="ctr">
            <a:spAutoFit/>
          </a:bodyPr>
          <a:lstStyle/>
          <a:p>
            <a:pPr algn="l">
              <a:lnSpc>
                <a:spcPct val="135000"/>
              </a:lnSpc>
            </a:pPr>
            <a:r>
              <a:rPr sz="1150" b="0" i="0">
                <a:solidFill>
                  <a:srgbClr val="2E3330"/>
                </a:solidFill>
                <a:latin typeface="Yu Gothic"/>
              </a:rPr>
              <a:t>・自分・職員それぞれの主任CM更新の</a:t>
            </a:r>
          </a:p>
          <a:p>
            <a:pPr algn="l">
              <a:lnSpc>
                <a:spcPct val="135000"/>
              </a:lnSpc>
            </a:pPr>
            <a:r>
              <a:rPr sz="1150" b="0" i="0">
                <a:solidFill>
                  <a:srgbClr val="2E3330"/>
                </a:solidFill>
                <a:latin typeface="Yu Gothic"/>
              </a:rPr>
              <a:t>  期限を正確に把握する</a:t>
            </a:r>
          </a:p>
          <a:p>
            <a:pPr algn="l">
              <a:lnSpc>
                <a:spcPct val="135000"/>
              </a:lnSpc>
            </a:pPr>
            <a:r>
              <a:rPr sz="1150" b="0" i="0">
                <a:solidFill>
                  <a:srgbClr val="2E3330"/>
                </a:solidFill>
                <a:latin typeface="Yu Gothic"/>
              </a:rPr>
              <a:t>・介護支援専門員証の更新時期も併せて</a:t>
            </a:r>
          </a:p>
        </p:txBody>
      </p:sp>
      <p:sp>
        <p:nvSpPr>
          <p:cNvPr id="13" name="Oval 12"/>
          <p:cNvSpPr/>
          <p:nvPr/>
        </p:nvSpPr>
        <p:spPr>
          <a:xfrm>
            <a:off x="540000" y="2610000"/>
            <a:ext cx="432000" cy="432000"/>
          </a:xfrm>
          <a:prstGeom prst="ellipse">
            <a:avLst/>
          </a:prstGeom>
          <a:solidFill>
            <a:srgbClr val="B37739"/>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500" b="1">
                <a:solidFill>
                  <a:srgbClr val="FFFFFF"/>
                </a:solidFill>
                <a:latin typeface="Yu Gothic"/>
              </a:rPr>
              <a:t>2</a:t>
            </a:r>
          </a:p>
        </p:txBody>
      </p:sp>
      <p:sp>
        <p:nvSpPr>
          <p:cNvPr id="14" name="Rectangle 13"/>
          <p:cNvSpPr/>
          <p:nvPr/>
        </p:nvSpPr>
        <p:spPr>
          <a:xfrm>
            <a:off x="1152000" y="2466000"/>
            <a:ext cx="2340000" cy="792000"/>
          </a:xfrm>
          <a:prstGeom prst="rect">
            <a:avLst/>
          </a:prstGeom>
          <a:solidFill>
            <a:srgbClr val="B377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188000" y="2466000"/>
            <a:ext cx="2268000" cy="792000"/>
          </a:xfrm>
          <a:prstGeom prst="rect">
            <a:avLst/>
          </a:prstGeom>
          <a:noFill/>
        </p:spPr>
        <p:txBody>
          <a:bodyPr wrap="square" lIns="36000" rIns="36000" tIns="18000" bIns="18000" anchor="ctr">
            <a:spAutoFit/>
          </a:bodyPr>
          <a:lstStyle/>
          <a:p>
            <a:pPr algn="ctr"/>
            <a:r>
              <a:rPr sz="1300" b="1" i="0">
                <a:solidFill>
                  <a:srgbClr val="FFFFFF"/>
                </a:solidFill>
                <a:latin typeface="Yu Gothic"/>
              </a:rPr>
              <a:t>受講要件を</a:t>
            </a:r>
          </a:p>
          <a:p>
            <a:pPr algn="ctr"/>
            <a:r>
              <a:rPr sz="1300" b="1" i="0">
                <a:solidFill>
                  <a:srgbClr val="FFFFFF"/>
                </a:solidFill>
                <a:latin typeface="Yu Gothic"/>
              </a:rPr>
              <a:t>満たすか確認</a:t>
            </a:r>
          </a:p>
        </p:txBody>
      </p:sp>
      <p:sp>
        <p:nvSpPr>
          <p:cNvPr id="16" name="Rectangle 15"/>
          <p:cNvSpPr/>
          <p:nvPr/>
        </p:nvSpPr>
        <p:spPr>
          <a:xfrm>
            <a:off x="3491999" y="2466000"/>
            <a:ext cx="8268119" cy="792000"/>
          </a:xfrm>
          <a:prstGeom prst="rect">
            <a:avLst/>
          </a:prstGeom>
          <a:solidFill>
            <a:srgbClr val="E7EC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36000" y="2538000"/>
            <a:ext cx="8052119" cy="684000"/>
          </a:xfrm>
          <a:prstGeom prst="rect">
            <a:avLst/>
          </a:prstGeom>
          <a:noFill/>
        </p:spPr>
        <p:txBody>
          <a:bodyPr wrap="square" lIns="36000" rIns="36000" tIns="18000" bIns="18000" anchor="ctr">
            <a:spAutoFit/>
          </a:bodyPr>
          <a:lstStyle/>
          <a:p>
            <a:pPr algn="l">
              <a:lnSpc>
                <a:spcPct val="135000"/>
              </a:lnSpc>
            </a:pPr>
            <a:r>
              <a:rPr sz="1150" b="0" i="0">
                <a:solidFill>
                  <a:srgbClr val="2E3330"/>
                </a:solidFill>
                <a:latin typeface="Yu Gothic"/>
              </a:rPr>
              <a:t>・実務要件等を満たしているか確認</a:t>
            </a:r>
          </a:p>
          <a:p>
            <a:pPr algn="l">
              <a:lnSpc>
                <a:spcPct val="135000"/>
              </a:lnSpc>
            </a:pPr>
            <a:r>
              <a:rPr sz="1150" b="0" i="0">
                <a:solidFill>
                  <a:srgbClr val="2E3330"/>
                </a:solidFill>
                <a:latin typeface="Yu Gothic"/>
              </a:rPr>
              <a:t>・足りない場合は早めに手を打つ</a:t>
            </a:r>
          </a:p>
          <a:p>
            <a:pPr algn="l">
              <a:lnSpc>
                <a:spcPct val="135000"/>
              </a:lnSpc>
            </a:pPr>
            <a:r>
              <a:rPr sz="1150" b="0" i="0">
                <a:solidFill>
                  <a:srgbClr val="2E3330"/>
                </a:solidFill>
                <a:latin typeface="Yu Gothic"/>
              </a:rPr>
              <a:t>・都道府県の要件を確認</a:t>
            </a:r>
          </a:p>
        </p:txBody>
      </p:sp>
      <p:sp>
        <p:nvSpPr>
          <p:cNvPr id="18" name="Oval 17"/>
          <p:cNvSpPr/>
          <p:nvPr/>
        </p:nvSpPr>
        <p:spPr>
          <a:xfrm>
            <a:off x="540000" y="3492000"/>
            <a:ext cx="432000" cy="432000"/>
          </a:xfrm>
          <a:prstGeom prst="ellipse">
            <a:avLst/>
          </a:prstGeom>
          <a:solidFill>
            <a:srgbClr val="2C6E73"/>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500" b="1">
                <a:solidFill>
                  <a:srgbClr val="FFFFFF"/>
                </a:solidFill>
                <a:latin typeface="Yu Gothic"/>
              </a:rPr>
              <a:t>3</a:t>
            </a:r>
          </a:p>
        </p:txBody>
      </p:sp>
      <p:sp>
        <p:nvSpPr>
          <p:cNvPr id="19" name="Rectangle 18"/>
          <p:cNvSpPr/>
          <p:nvPr/>
        </p:nvSpPr>
        <p:spPr>
          <a:xfrm>
            <a:off x="1152000" y="3348000"/>
            <a:ext cx="2340000" cy="792000"/>
          </a:xfrm>
          <a:prstGeom prst="rect">
            <a:avLst/>
          </a:prstGeom>
          <a:solidFill>
            <a:srgbClr val="2C6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188000" y="3348000"/>
            <a:ext cx="2268000" cy="792000"/>
          </a:xfrm>
          <a:prstGeom prst="rect">
            <a:avLst/>
          </a:prstGeom>
          <a:noFill/>
        </p:spPr>
        <p:txBody>
          <a:bodyPr wrap="square" lIns="36000" rIns="36000" tIns="18000" bIns="18000" anchor="ctr">
            <a:spAutoFit/>
          </a:bodyPr>
          <a:lstStyle/>
          <a:p>
            <a:pPr algn="ctr"/>
            <a:r>
              <a:rPr sz="1300" b="1" i="0">
                <a:solidFill>
                  <a:srgbClr val="FFFFFF"/>
                </a:solidFill>
                <a:latin typeface="Yu Gothic"/>
              </a:rPr>
              <a:t>受講時期を</a:t>
            </a:r>
          </a:p>
          <a:p>
            <a:pPr algn="ctr"/>
            <a:r>
              <a:rPr sz="1300" b="1" i="0">
                <a:solidFill>
                  <a:srgbClr val="FFFFFF"/>
                </a:solidFill>
                <a:latin typeface="Yu Gothic"/>
              </a:rPr>
              <a:t>決め、申し込む</a:t>
            </a:r>
          </a:p>
        </p:txBody>
      </p:sp>
      <p:sp>
        <p:nvSpPr>
          <p:cNvPr id="21" name="Rectangle 20"/>
          <p:cNvSpPr/>
          <p:nvPr/>
        </p:nvSpPr>
        <p:spPr>
          <a:xfrm>
            <a:off x="3491999" y="3348000"/>
            <a:ext cx="8268119" cy="792000"/>
          </a:xfrm>
          <a:prstGeom prst="rect">
            <a:avLst/>
          </a:prstGeom>
          <a:solidFill>
            <a:srgbClr val="E7EC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36000" y="3420000"/>
            <a:ext cx="8052119" cy="684000"/>
          </a:xfrm>
          <a:prstGeom prst="rect">
            <a:avLst/>
          </a:prstGeom>
          <a:noFill/>
        </p:spPr>
        <p:txBody>
          <a:bodyPr wrap="square" lIns="36000" rIns="36000" tIns="18000" bIns="18000" anchor="ctr">
            <a:spAutoFit/>
          </a:bodyPr>
          <a:lstStyle/>
          <a:p>
            <a:pPr algn="l">
              <a:lnSpc>
                <a:spcPct val="135000"/>
              </a:lnSpc>
            </a:pPr>
            <a:r>
              <a:rPr sz="1150" b="0" i="0">
                <a:solidFill>
                  <a:srgbClr val="2E3330"/>
                </a:solidFill>
                <a:latin typeface="Yu Gothic"/>
              </a:rPr>
              <a:t>・募集時期・定員を踏まえ、いつの回で</a:t>
            </a:r>
          </a:p>
          <a:p>
            <a:pPr algn="l">
              <a:lnSpc>
                <a:spcPct val="135000"/>
              </a:lnSpc>
            </a:pPr>
            <a:r>
              <a:rPr sz="1150" b="0" i="0">
                <a:solidFill>
                  <a:srgbClr val="2E3330"/>
                </a:solidFill>
                <a:latin typeface="Yu Gothic"/>
              </a:rPr>
              <a:t>  受けるかを決める</a:t>
            </a:r>
          </a:p>
          <a:p>
            <a:pPr algn="l">
              <a:lnSpc>
                <a:spcPct val="135000"/>
              </a:lnSpc>
            </a:pPr>
            <a:r>
              <a:rPr sz="1150" b="0" i="0">
                <a:solidFill>
                  <a:srgbClr val="2E3330"/>
                </a:solidFill>
                <a:latin typeface="Yu Gothic"/>
              </a:rPr>
              <a:t>・「期限ぎりぎり」を狙わない</a:t>
            </a:r>
          </a:p>
        </p:txBody>
      </p:sp>
      <p:sp>
        <p:nvSpPr>
          <p:cNvPr id="23" name="Oval 22"/>
          <p:cNvSpPr/>
          <p:nvPr/>
        </p:nvSpPr>
        <p:spPr>
          <a:xfrm>
            <a:off x="540000" y="4374000"/>
            <a:ext cx="432000" cy="432000"/>
          </a:xfrm>
          <a:prstGeom prst="ellipse">
            <a:avLst/>
          </a:prstGeom>
          <a:solidFill>
            <a:srgbClr val="445360"/>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500" b="1">
                <a:solidFill>
                  <a:srgbClr val="FFFFFF"/>
                </a:solidFill>
                <a:latin typeface="Yu Gothic"/>
              </a:rPr>
              <a:t>4</a:t>
            </a:r>
          </a:p>
        </p:txBody>
      </p:sp>
      <p:sp>
        <p:nvSpPr>
          <p:cNvPr id="24" name="Rectangle 23"/>
          <p:cNvSpPr/>
          <p:nvPr/>
        </p:nvSpPr>
        <p:spPr>
          <a:xfrm>
            <a:off x="1152000" y="4230000"/>
            <a:ext cx="2340000" cy="792000"/>
          </a:xfrm>
          <a:prstGeom prst="rect">
            <a:avLst/>
          </a:prstGeom>
          <a:solidFill>
            <a:srgbClr val="4453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188000" y="4230000"/>
            <a:ext cx="2268000" cy="792000"/>
          </a:xfrm>
          <a:prstGeom prst="rect">
            <a:avLst/>
          </a:prstGeom>
          <a:noFill/>
        </p:spPr>
        <p:txBody>
          <a:bodyPr wrap="square" lIns="36000" rIns="36000" tIns="18000" bIns="18000" anchor="ctr">
            <a:spAutoFit/>
          </a:bodyPr>
          <a:lstStyle/>
          <a:p>
            <a:pPr algn="ctr"/>
            <a:r>
              <a:rPr sz="1300" b="1" i="0">
                <a:solidFill>
                  <a:srgbClr val="FFFFFF"/>
                </a:solidFill>
                <a:latin typeface="Yu Gothic"/>
              </a:rPr>
              <a:t>業務体制を</a:t>
            </a:r>
          </a:p>
          <a:p>
            <a:pPr algn="ctr"/>
            <a:r>
              <a:rPr sz="1300" b="1" i="0">
                <a:solidFill>
                  <a:srgbClr val="FFFFFF"/>
                </a:solidFill>
                <a:latin typeface="Yu Gothic"/>
              </a:rPr>
              <a:t>整える</a:t>
            </a:r>
          </a:p>
        </p:txBody>
      </p:sp>
      <p:sp>
        <p:nvSpPr>
          <p:cNvPr id="26" name="Rectangle 25"/>
          <p:cNvSpPr/>
          <p:nvPr/>
        </p:nvSpPr>
        <p:spPr>
          <a:xfrm>
            <a:off x="3491999" y="4230000"/>
            <a:ext cx="8268119" cy="792000"/>
          </a:xfrm>
          <a:prstGeom prst="rect">
            <a:avLst/>
          </a:prstGeom>
          <a:solidFill>
            <a:srgbClr val="E7EC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636000" y="4302000"/>
            <a:ext cx="8052119" cy="684000"/>
          </a:xfrm>
          <a:prstGeom prst="rect">
            <a:avLst/>
          </a:prstGeom>
          <a:noFill/>
        </p:spPr>
        <p:txBody>
          <a:bodyPr wrap="square" lIns="36000" rIns="36000" tIns="18000" bIns="18000" anchor="ctr">
            <a:spAutoFit/>
          </a:bodyPr>
          <a:lstStyle/>
          <a:p>
            <a:pPr algn="l">
              <a:lnSpc>
                <a:spcPct val="135000"/>
              </a:lnSpc>
            </a:pPr>
            <a:r>
              <a:rPr sz="1150" b="0" i="0">
                <a:solidFill>
                  <a:srgbClr val="2E3330"/>
                </a:solidFill>
                <a:latin typeface="Yu Gothic"/>
              </a:rPr>
              <a:t>・受講中の担当業務の代替を準備</a:t>
            </a:r>
          </a:p>
          <a:p>
            <a:pPr algn="l">
              <a:lnSpc>
                <a:spcPct val="135000"/>
              </a:lnSpc>
            </a:pPr>
            <a:r>
              <a:rPr sz="1150" b="0" i="0">
                <a:solidFill>
                  <a:srgbClr val="2E3330"/>
                </a:solidFill>
                <a:latin typeface="Yu Gothic"/>
              </a:rPr>
              <a:t>・チームで分担、利用者への説明</a:t>
            </a:r>
          </a:p>
          <a:p>
            <a:pPr algn="l">
              <a:lnSpc>
                <a:spcPct val="135000"/>
              </a:lnSpc>
            </a:pPr>
            <a:r>
              <a:rPr sz="1150" b="0" i="0">
                <a:solidFill>
                  <a:srgbClr val="2E3330"/>
                </a:solidFill>
                <a:latin typeface="Yu Gothic"/>
              </a:rPr>
              <a:t>・受講後の振り返りまで計画に含める</a:t>
            </a:r>
          </a:p>
        </p:txBody>
      </p:sp>
      <p:sp>
        <p:nvSpPr>
          <p:cNvPr id="28" name="Rectangle 27"/>
          <p:cNvSpPr/>
          <p:nvPr/>
        </p:nvSpPr>
        <p:spPr>
          <a:xfrm>
            <a:off x="432000" y="5256000"/>
            <a:ext cx="11304000" cy="360000"/>
          </a:xfrm>
          <a:prstGeom prst="rect">
            <a:avLst/>
          </a:prstGeom>
          <a:solidFill>
            <a:srgbClr val="2947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04000" y="5292000"/>
            <a:ext cx="11160000" cy="288000"/>
          </a:xfrm>
          <a:prstGeom prst="rect">
            <a:avLst/>
          </a:prstGeom>
          <a:noFill/>
        </p:spPr>
        <p:txBody>
          <a:bodyPr wrap="square" lIns="36000" rIns="36000" tIns="18000" bIns="18000" anchor="ctr">
            <a:spAutoFit/>
          </a:bodyPr>
          <a:lstStyle/>
          <a:p>
            <a:pPr algn="l"/>
            <a:r>
              <a:rPr sz="1400" b="1" i="0">
                <a:solidFill>
                  <a:srgbClr val="FFFFFF"/>
                </a:solidFill>
                <a:latin typeface="Yu Gothic"/>
              </a:rPr>
              <a:t>「ぎりぎり」を狙わないこと</a:t>
            </a:r>
          </a:p>
        </p:txBody>
      </p:sp>
      <p:sp>
        <p:nvSpPr>
          <p:cNvPr id="30" name="Rectangle 29"/>
          <p:cNvSpPr/>
          <p:nvPr/>
        </p:nvSpPr>
        <p:spPr>
          <a:xfrm>
            <a:off x="432000" y="5616000"/>
            <a:ext cx="11304000" cy="540000"/>
          </a:xfrm>
          <a:prstGeom prst="rect">
            <a:avLst/>
          </a:prstGeom>
          <a:solidFill>
            <a:srgbClr val="E7EC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40000" y="5652000"/>
            <a:ext cx="11088000" cy="504000"/>
          </a:xfrm>
          <a:prstGeom prst="rect">
            <a:avLst/>
          </a:prstGeom>
          <a:noFill/>
        </p:spPr>
        <p:txBody>
          <a:bodyPr wrap="square" lIns="36000" rIns="36000" tIns="18000" bIns="18000" anchor="t">
            <a:spAutoFit/>
          </a:bodyPr>
          <a:lstStyle/>
          <a:p>
            <a:pPr algn="l"/>
            <a:r>
              <a:rPr sz="1200" b="0" i="0">
                <a:solidFill>
                  <a:srgbClr val="2E3330"/>
                </a:solidFill>
                <a:latin typeface="Yu Gothic"/>
              </a:rPr>
              <a:t>■ 募集時期・定員・地域開催の有無により、希望の回で受けられないこともある</a:t>
            </a:r>
          </a:p>
          <a:p>
            <a:pPr algn="l"/>
            <a:r>
              <a:rPr sz="1200" b="0" i="0">
                <a:solidFill>
                  <a:srgbClr val="2E3330"/>
                </a:solidFill>
                <a:latin typeface="Yu Gothic"/>
              </a:rPr>
              <a:t>■ 期限の1年以上前から動き出す ― 「受けられる回」に余裕を持って受講するのが鉄則</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576000"/>
          </a:xfrm>
          <a:prstGeom prst="rect">
            <a:avLst/>
          </a:prstGeom>
          <a:solidFill>
            <a:srgbClr val="2947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88000" y="90000"/>
            <a:ext cx="7920000" cy="216000"/>
          </a:xfrm>
          <a:prstGeom prst="rect">
            <a:avLst/>
          </a:prstGeom>
          <a:noFill/>
        </p:spPr>
        <p:txBody>
          <a:bodyPr wrap="square" lIns="36000" rIns="36000" tIns="18000" bIns="18000" anchor="t">
            <a:spAutoFit/>
          </a:bodyPr>
          <a:lstStyle/>
          <a:p>
            <a:pPr algn="l"/>
            <a:r>
              <a:rPr sz="1100" b="1" i="0">
                <a:solidFill>
                  <a:srgbClr val="FFFFFF"/>
                </a:solidFill>
                <a:latin typeface="Yu Gothic"/>
              </a:rPr>
              <a:t>3. 更新研修の戦略</a:t>
            </a:r>
          </a:p>
        </p:txBody>
      </p:sp>
      <p:sp>
        <p:nvSpPr>
          <p:cNvPr id="4" name="TextBox 3"/>
          <p:cNvSpPr txBox="1"/>
          <p:nvPr/>
        </p:nvSpPr>
        <p:spPr>
          <a:xfrm>
            <a:off x="288000" y="684000"/>
            <a:ext cx="11616119" cy="468000"/>
          </a:xfrm>
          <a:prstGeom prst="rect">
            <a:avLst/>
          </a:prstGeom>
          <a:noFill/>
        </p:spPr>
        <p:txBody>
          <a:bodyPr wrap="square" lIns="36000" rIns="36000" tIns="18000" bIns="18000" anchor="t">
            <a:spAutoFit/>
          </a:bodyPr>
          <a:lstStyle/>
          <a:p>
            <a:pPr algn="l"/>
            <a:r>
              <a:rPr sz="2300" b="1" i="0">
                <a:solidFill>
                  <a:srgbClr val="294737"/>
                </a:solidFill>
                <a:latin typeface="Yu Gothic"/>
              </a:rPr>
              <a:t>受講中の業務をどう回すか</a:t>
            </a:r>
          </a:p>
        </p:txBody>
      </p:sp>
      <p:sp>
        <p:nvSpPr>
          <p:cNvPr id="5" name="Rectangle 4"/>
          <p:cNvSpPr/>
          <p:nvPr/>
        </p:nvSpPr>
        <p:spPr>
          <a:xfrm>
            <a:off x="288000" y="1152000"/>
            <a:ext cx="900000" cy="43200"/>
          </a:xfrm>
          <a:prstGeom prst="rect">
            <a:avLst/>
          </a:prstGeom>
          <a:solidFill>
            <a:srgbClr val="B377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88000" y="6570000"/>
            <a:ext cx="9720000" cy="180000"/>
          </a:xfrm>
          <a:prstGeom prst="rect">
            <a:avLst/>
          </a:prstGeom>
          <a:noFill/>
        </p:spPr>
        <p:txBody>
          <a:bodyPr wrap="square" lIns="36000" rIns="36000" tIns="18000" bIns="18000" anchor="t">
            <a:spAutoFit/>
          </a:bodyPr>
          <a:lstStyle/>
          <a:p>
            <a:pPr algn="l"/>
            <a:r>
              <a:rPr sz="900" b="0" i="0">
                <a:solidFill>
                  <a:srgbClr val="6E8C7C"/>
                </a:solidFill>
                <a:latin typeface="Yu Gothic"/>
              </a:rPr>
              <a:t>主任CM研修 / 法定研修制度改正への対応と主任CM更新研修の戦略  ※研修制度は最新情報をご確認ください</a:t>
            </a:r>
          </a:p>
        </p:txBody>
      </p:sp>
      <p:sp>
        <p:nvSpPr>
          <p:cNvPr id="7" name="TextBox 6"/>
          <p:cNvSpPr txBox="1"/>
          <p:nvPr/>
        </p:nvSpPr>
        <p:spPr>
          <a:xfrm>
            <a:off x="11112119" y="6570000"/>
            <a:ext cx="792000" cy="180000"/>
          </a:xfrm>
          <a:prstGeom prst="rect">
            <a:avLst/>
          </a:prstGeom>
          <a:noFill/>
        </p:spPr>
        <p:txBody>
          <a:bodyPr wrap="square" lIns="36000" rIns="36000" tIns="18000" bIns="18000" anchor="t">
            <a:spAutoFit/>
          </a:bodyPr>
          <a:lstStyle/>
          <a:p>
            <a:pPr algn="r"/>
            <a:r>
              <a:rPr sz="900" b="0" i="0">
                <a:solidFill>
                  <a:srgbClr val="6E8C7C"/>
                </a:solidFill>
                <a:latin typeface="Yu Gothic"/>
              </a:rPr>
              <a:t>14 / 27</a:t>
            </a:r>
          </a:p>
        </p:txBody>
      </p:sp>
      <p:sp>
        <p:nvSpPr>
          <p:cNvPr id="8" name="Rectangle 7"/>
          <p:cNvSpPr/>
          <p:nvPr/>
        </p:nvSpPr>
        <p:spPr>
          <a:xfrm>
            <a:off x="432000" y="1548000"/>
            <a:ext cx="11304000" cy="360000"/>
          </a:xfrm>
          <a:prstGeom prst="rect">
            <a:avLst/>
          </a:prstGeom>
          <a:solidFill>
            <a:srgbClr val="2947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4000" y="1584000"/>
            <a:ext cx="11160000" cy="288000"/>
          </a:xfrm>
          <a:prstGeom prst="rect">
            <a:avLst/>
          </a:prstGeom>
          <a:noFill/>
        </p:spPr>
        <p:txBody>
          <a:bodyPr wrap="square" lIns="36000" rIns="36000" tIns="18000" bIns="18000" anchor="ctr">
            <a:spAutoFit/>
          </a:bodyPr>
          <a:lstStyle/>
          <a:p>
            <a:pPr algn="l"/>
            <a:r>
              <a:rPr sz="1400" b="1" i="0">
                <a:solidFill>
                  <a:srgbClr val="FFFFFF"/>
                </a:solidFill>
                <a:latin typeface="Yu Gothic"/>
              </a:rPr>
              <a:t>「研修に行けない」最大の理由は、業務がまわらないこと</a:t>
            </a:r>
          </a:p>
        </p:txBody>
      </p:sp>
      <p:sp>
        <p:nvSpPr>
          <p:cNvPr id="10" name="Rectangle 9"/>
          <p:cNvSpPr/>
          <p:nvPr/>
        </p:nvSpPr>
        <p:spPr>
          <a:xfrm>
            <a:off x="432000" y="1908000"/>
            <a:ext cx="11304000" cy="467999"/>
          </a:xfrm>
          <a:prstGeom prst="rect">
            <a:avLst/>
          </a:prstGeom>
          <a:solidFill>
            <a:srgbClr val="E7EC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0000" y="1944000"/>
            <a:ext cx="11088000" cy="431999"/>
          </a:xfrm>
          <a:prstGeom prst="rect">
            <a:avLst/>
          </a:prstGeom>
          <a:noFill/>
        </p:spPr>
        <p:txBody>
          <a:bodyPr wrap="square" lIns="36000" rIns="36000" tIns="18000" bIns="18000" anchor="t">
            <a:spAutoFit/>
          </a:bodyPr>
          <a:lstStyle/>
          <a:p>
            <a:pPr algn="l"/>
            <a:r>
              <a:rPr sz="1200" b="0" i="0">
                <a:solidFill>
                  <a:srgbClr val="2E3330"/>
                </a:solidFill>
                <a:latin typeface="Yu Gothic"/>
              </a:rPr>
              <a:t>研修の数日間、担当CMが不在になる ― この体制を、事前に組織として準備しておく。</a:t>
            </a:r>
          </a:p>
        </p:txBody>
      </p:sp>
      <p:sp>
        <p:nvSpPr>
          <p:cNvPr id="12" name="Rectangle 11"/>
          <p:cNvSpPr/>
          <p:nvPr/>
        </p:nvSpPr>
        <p:spPr>
          <a:xfrm>
            <a:off x="432000" y="2628000"/>
            <a:ext cx="5580000" cy="360000"/>
          </a:xfrm>
          <a:prstGeom prst="rect">
            <a:avLst/>
          </a:prstGeom>
          <a:solidFill>
            <a:srgbClr val="4063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4000" y="2664000"/>
            <a:ext cx="5436000" cy="288000"/>
          </a:xfrm>
          <a:prstGeom prst="rect">
            <a:avLst/>
          </a:prstGeom>
          <a:noFill/>
        </p:spPr>
        <p:txBody>
          <a:bodyPr wrap="square" lIns="36000" rIns="36000" tIns="18000" bIns="18000" anchor="ctr">
            <a:spAutoFit/>
          </a:bodyPr>
          <a:lstStyle/>
          <a:p>
            <a:pPr algn="l"/>
            <a:r>
              <a:rPr sz="1400" b="1" i="0">
                <a:solidFill>
                  <a:srgbClr val="FFFFFF"/>
                </a:solidFill>
                <a:latin typeface="Yu Gothic"/>
              </a:rPr>
              <a:t>事前に準備すること</a:t>
            </a:r>
          </a:p>
        </p:txBody>
      </p:sp>
      <p:sp>
        <p:nvSpPr>
          <p:cNvPr id="14" name="Rectangle 13"/>
          <p:cNvSpPr/>
          <p:nvPr/>
        </p:nvSpPr>
        <p:spPr>
          <a:xfrm>
            <a:off x="432000" y="2988000"/>
            <a:ext cx="5580000" cy="1620000"/>
          </a:xfrm>
          <a:prstGeom prst="rect">
            <a:avLst/>
          </a:prstGeom>
          <a:solidFill>
            <a:srgbClr val="E7EC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0000" y="3024000"/>
            <a:ext cx="5364000" cy="1584000"/>
          </a:xfrm>
          <a:prstGeom prst="rect">
            <a:avLst/>
          </a:prstGeom>
          <a:noFill/>
        </p:spPr>
        <p:txBody>
          <a:bodyPr wrap="square" lIns="36000" rIns="36000" tIns="18000" bIns="18000" anchor="t">
            <a:spAutoFit/>
          </a:bodyPr>
          <a:lstStyle/>
          <a:p>
            <a:pPr algn="l"/>
            <a:r>
              <a:rPr sz="1200" b="0" i="0">
                <a:solidFill>
                  <a:srgbClr val="2E3330"/>
                </a:solidFill>
                <a:latin typeface="Yu Gothic"/>
              </a:rPr>
              <a:t>■ 受講日程を早めに共有し、予定を空ける</a:t>
            </a:r>
          </a:p>
          <a:p>
            <a:pPr algn="l"/>
            <a:r>
              <a:rPr sz="1200" b="0" i="0">
                <a:solidFill>
                  <a:srgbClr val="2E3330"/>
                </a:solidFill>
                <a:latin typeface="Yu Gothic"/>
              </a:rPr>
              <a:t/>
            </a:r>
          </a:p>
          <a:p>
            <a:pPr algn="l"/>
            <a:r>
              <a:rPr sz="1200" b="0" i="0">
                <a:solidFill>
                  <a:srgbClr val="2E3330"/>
                </a:solidFill>
                <a:latin typeface="Yu Gothic"/>
              </a:rPr>
              <a:t>■ 担当ケースの引き継ぎ・代替担当の決定</a:t>
            </a:r>
          </a:p>
          <a:p>
            <a:pPr algn="l"/>
            <a:r>
              <a:rPr sz="1200" b="0" i="0">
                <a:solidFill>
                  <a:srgbClr val="2E3330"/>
                </a:solidFill>
                <a:latin typeface="Yu Gothic"/>
              </a:rPr>
              <a:t/>
            </a:r>
          </a:p>
          <a:p>
            <a:pPr algn="l"/>
            <a:r>
              <a:rPr sz="1200" b="0" i="0">
                <a:solidFill>
                  <a:srgbClr val="2E3330"/>
                </a:solidFill>
                <a:latin typeface="Yu Gothic"/>
              </a:rPr>
              <a:t>■ 緊急時の連絡・対応体制を決める</a:t>
            </a:r>
          </a:p>
          <a:p>
            <a:pPr algn="l"/>
            <a:r>
              <a:rPr sz="1200" b="0" i="0">
                <a:solidFill>
                  <a:srgbClr val="2E3330"/>
                </a:solidFill>
                <a:latin typeface="Yu Gothic"/>
              </a:rPr>
              <a:t/>
            </a:r>
          </a:p>
          <a:p>
            <a:pPr algn="l"/>
            <a:r>
              <a:rPr sz="1200" b="0" i="0">
                <a:solidFill>
                  <a:srgbClr val="2E3330"/>
                </a:solidFill>
                <a:latin typeface="Yu Gothic"/>
              </a:rPr>
              <a:t>■ 利用者・家族への事前の説明</a:t>
            </a:r>
          </a:p>
          <a:p>
            <a:pPr algn="l"/>
            <a:r>
              <a:rPr sz="1200" b="0" i="0">
                <a:solidFill>
                  <a:srgbClr val="2E3330"/>
                </a:solidFill>
                <a:latin typeface="Yu Gothic"/>
              </a:rPr>
              <a:t/>
            </a:r>
          </a:p>
          <a:p>
            <a:pPr algn="l"/>
            <a:r>
              <a:rPr sz="1200" b="0" i="0">
                <a:solidFill>
                  <a:srgbClr val="2E3330"/>
                </a:solidFill>
                <a:latin typeface="Yu Gothic"/>
              </a:rPr>
              <a:t>■ 訪問・モニタリング等の日程調整</a:t>
            </a:r>
          </a:p>
        </p:txBody>
      </p:sp>
      <p:sp>
        <p:nvSpPr>
          <p:cNvPr id="16" name="Rectangle 15"/>
          <p:cNvSpPr/>
          <p:nvPr/>
        </p:nvSpPr>
        <p:spPr>
          <a:xfrm>
            <a:off x="6300000" y="2628000"/>
            <a:ext cx="5400000" cy="360000"/>
          </a:xfrm>
          <a:prstGeom prst="rect">
            <a:avLst/>
          </a:prstGeom>
          <a:solidFill>
            <a:srgbClr val="2C6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72000" y="2664000"/>
            <a:ext cx="5256000" cy="288000"/>
          </a:xfrm>
          <a:prstGeom prst="rect">
            <a:avLst/>
          </a:prstGeom>
          <a:noFill/>
        </p:spPr>
        <p:txBody>
          <a:bodyPr wrap="square" lIns="36000" rIns="36000" tIns="18000" bIns="18000" anchor="ctr">
            <a:spAutoFit/>
          </a:bodyPr>
          <a:lstStyle/>
          <a:p>
            <a:pPr algn="l"/>
            <a:r>
              <a:rPr sz="1400" b="1" i="0">
                <a:solidFill>
                  <a:srgbClr val="FFFFFF"/>
                </a:solidFill>
                <a:latin typeface="Yu Gothic"/>
              </a:rPr>
              <a:t>組織で支える発想</a:t>
            </a:r>
          </a:p>
        </p:txBody>
      </p:sp>
      <p:sp>
        <p:nvSpPr>
          <p:cNvPr id="18" name="Rectangle 17"/>
          <p:cNvSpPr/>
          <p:nvPr/>
        </p:nvSpPr>
        <p:spPr>
          <a:xfrm>
            <a:off x="6300000" y="2988000"/>
            <a:ext cx="5400000" cy="1620000"/>
          </a:xfrm>
          <a:prstGeom prst="rect">
            <a:avLst/>
          </a:prstGeom>
          <a:solidFill>
            <a:srgbClr val="DFEA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8000" y="3024000"/>
            <a:ext cx="5184000" cy="1584000"/>
          </a:xfrm>
          <a:prstGeom prst="rect">
            <a:avLst/>
          </a:prstGeom>
          <a:noFill/>
        </p:spPr>
        <p:txBody>
          <a:bodyPr wrap="square" lIns="36000" rIns="36000" tIns="18000" bIns="18000" anchor="t">
            <a:spAutoFit/>
          </a:bodyPr>
          <a:lstStyle/>
          <a:p>
            <a:pPr algn="l"/>
            <a:r>
              <a:rPr sz="1200" b="0" i="0">
                <a:solidFill>
                  <a:srgbClr val="2E3330"/>
                </a:solidFill>
                <a:latin typeface="Yu Gothic"/>
              </a:rPr>
              <a:t>■ 「個人の都合」でなく「事業所の予定」に</a:t>
            </a:r>
          </a:p>
          <a:p>
            <a:pPr algn="l"/>
            <a:r>
              <a:rPr sz="1200" b="0" i="0">
                <a:solidFill>
                  <a:srgbClr val="2E3330"/>
                </a:solidFill>
                <a:latin typeface="Yu Gothic"/>
              </a:rPr>
              <a:t/>
            </a:r>
          </a:p>
          <a:p>
            <a:pPr algn="l"/>
            <a:r>
              <a:rPr sz="1200" b="0" i="0">
                <a:solidFill>
                  <a:srgbClr val="2E3330"/>
                </a:solidFill>
                <a:latin typeface="Yu Gothic"/>
              </a:rPr>
              <a:t>■ 研修受講を、業務計画に正式に組み込む</a:t>
            </a:r>
          </a:p>
          <a:p>
            <a:pPr algn="l"/>
            <a:r>
              <a:rPr sz="1200" b="0" i="0">
                <a:solidFill>
                  <a:srgbClr val="2E3330"/>
                </a:solidFill>
                <a:latin typeface="Yu Gothic"/>
              </a:rPr>
              <a:t/>
            </a:r>
          </a:p>
          <a:p>
            <a:pPr algn="l"/>
            <a:r>
              <a:rPr sz="1200" b="0" i="0">
                <a:solidFill>
                  <a:srgbClr val="2E3330"/>
                </a:solidFill>
                <a:latin typeface="Yu Gothic"/>
              </a:rPr>
              <a:t>■ 互いの研修を、チームで支え合う文化</a:t>
            </a:r>
          </a:p>
          <a:p>
            <a:pPr algn="l"/>
            <a:r>
              <a:rPr sz="1200" b="0" i="0">
                <a:solidFill>
                  <a:srgbClr val="2E3330"/>
                </a:solidFill>
                <a:latin typeface="Yu Gothic"/>
              </a:rPr>
              <a:t/>
            </a:r>
          </a:p>
          <a:p>
            <a:pPr algn="l"/>
            <a:r>
              <a:rPr sz="1200" b="0" i="0">
                <a:solidFill>
                  <a:srgbClr val="2E3330"/>
                </a:solidFill>
                <a:latin typeface="Yu Gothic"/>
              </a:rPr>
              <a:t>■ 1人に研修が重ならないよう年間で調整</a:t>
            </a:r>
          </a:p>
          <a:p>
            <a:pPr algn="l"/>
            <a:r>
              <a:rPr sz="1200" b="0" i="0">
                <a:solidFill>
                  <a:srgbClr val="2E3330"/>
                </a:solidFill>
                <a:latin typeface="Yu Gothic"/>
              </a:rPr>
              <a:t/>
            </a:r>
          </a:p>
          <a:p>
            <a:pPr algn="l"/>
            <a:r>
              <a:rPr sz="1200" b="0" i="0">
                <a:solidFill>
                  <a:srgbClr val="2E3330"/>
                </a:solidFill>
                <a:latin typeface="Yu Gothic"/>
              </a:rPr>
              <a:t>■ 主任CMが、この調整の旗振り役に</a:t>
            </a:r>
          </a:p>
        </p:txBody>
      </p:sp>
      <p:sp>
        <p:nvSpPr>
          <p:cNvPr id="20" name="TextBox 19"/>
          <p:cNvSpPr txBox="1"/>
          <p:nvPr/>
        </p:nvSpPr>
        <p:spPr>
          <a:xfrm>
            <a:off x="432000" y="4788000"/>
            <a:ext cx="11328119" cy="432000"/>
          </a:xfrm>
          <a:prstGeom prst="rect">
            <a:avLst/>
          </a:prstGeom>
          <a:noFill/>
        </p:spPr>
        <p:txBody>
          <a:bodyPr wrap="square" lIns="36000" rIns="36000" tIns="18000" bIns="18000" anchor="t">
            <a:spAutoFit/>
          </a:bodyPr>
          <a:lstStyle/>
          <a:p>
            <a:pPr algn="l"/>
            <a:r>
              <a:rPr sz="1300" b="1" i="0">
                <a:solidFill>
                  <a:srgbClr val="294737"/>
                </a:solidFill>
                <a:latin typeface="Yu Gothic"/>
              </a:rPr>
              <a:t>▶ 「研修に行ける事業所」は、計画的に体制を整えている事業所。偶然ではなく仕組み。</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6858000"/>
          </a:xfrm>
          <a:prstGeom prst="rect">
            <a:avLst/>
          </a:prstGeom>
          <a:solidFill>
            <a:srgbClr val="2947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060000"/>
            <a:ext cx="12192119" cy="36000"/>
          </a:xfrm>
          <a:prstGeom prst="rect">
            <a:avLst/>
          </a:prstGeom>
          <a:solidFill>
            <a:srgbClr val="B377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20000" y="2340000"/>
            <a:ext cx="10752119" cy="540000"/>
          </a:xfrm>
          <a:prstGeom prst="rect">
            <a:avLst/>
          </a:prstGeom>
          <a:noFill/>
        </p:spPr>
        <p:txBody>
          <a:bodyPr wrap="square" lIns="36000" rIns="36000" tIns="18000" bIns="18000" anchor="t">
            <a:spAutoFit/>
          </a:bodyPr>
          <a:lstStyle/>
          <a:p>
            <a:pPr algn="ctr"/>
            <a:r>
              <a:rPr sz="2200" b="1" i="0">
                <a:solidFill>
                  <a:srgbClr val="B37739"/>
                </a:solidFill>
                <a:latin typeface="Yu Gothic"/>
              </a:rPr>
              <a:t>PART 4</a:t>
            </a:r>
          </a:p>
        </p:txBody>
      </p:sp>
      <p:sp>
        <p:nvSpPr>
          <p:cNvPr id="5" name="TextBox 4"/>
          <p:cNvSpPr txBox="1"/>
          <p:nvPr/>
        </p:nvSpPr>
        <p:spPr>
          <a:xfrm>
            <a:off x="360000" y="3420000"/>
            <a:ext cx="11472119" cy="720000"/>
          </a:xfrm>
          <a:prstGeom prst="rect">
            <a:avLst/>
          </a:prstGeom>
          <a:noFill/>
        </p:spPr>
        <p:txBody>
          <a:bodyPr wrap="square" lIns="36000" rIns="36000" tIns="18000" bIns="18000" anchor="t">
            <a:spAutoFit/>
          </a:bodyPr>
          <a:lstStyle/>
          <a:p>
            <a:pPr algn="ctr"/>
            <a:r>
              <a:rPr sz="3300" b="1" i="0">
                <a:solidFill>
                  <a:srgbClr val="FFFFFF"/>
                </a:solidFill>
                <a:latin typeface="Yu Gothic"/>
              </a:rPr>
              <a:t>事業所内での</a:t>
            </a:r>
          </a:p>
          <a:p>
            <a:pPr algn="ctr"/>
            <a:r>
              <a:rPr sz="3300" b="1" i="0">
                <a:solidFill>
                  <a:srgbClr val="FFFFFF"/>
                </a:solidFill>
                <a:latin typeface="Yu Gothic"/>
              </a:rPr>
              <a:t>計画的な人材育成</a:t>
            </a:r>
          </a:p>
        </p:txBody>
      </p:sp>
      <p:sp>
        <p:nvSpPr>
          <p:cNvPr id="6" name="TextBox 5"/>
          <p:cNvSpPr txBox="1"/>
          <p:nvPr/>
        </p:nvSpPr>
        <p:spPr>
          <a:xfrm>
            <a:off x="360000" y="4680000"/>
            <a:ext cx="11472119" cy="360000"/>
          </a:xfrm>
          <a:prstGeom prst="rect">
            <a:avLst/>
          </a:prstGeom>
          <a:noFill/>
        </p:spPr>
        <p:txBody>
          <a:bodyPr wrap="square" lIns="36000" rIns="36000" tIns="18000" bIns="18000" anchor="t">
            <a:spAutoFit/>
          </a:bodyPr>
          <a:lstStyle/>
          <a:p>
            <a:pPr algn="ctr"/>
            <a:r>
              <a:rPr sz="1400" b="0" i="0">
                <a:solidFill>
                  <a:srgbClr val="D5DBD6"/>
                </a:solidFill>
                <a:latin typeface="Yu Gothic"/>
              </a:rPr>
              <a:t>Systematic Workforce Development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576000"/>
          </a:xfrm>
          <a:prstGeom prst="rect">
            <a:avLst/>
          </a:prstGeom>
          <a:solidFill>
            <a:srgbClr val="2947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88000" y="90000"/>
            <a:ext cx="7920000" cy="216000"/>
          </a:xfrm>
          <a:prstGeom prst="rect">
            <a:avLst/>
          </a:prstGeom>
          <a:noFill/>
        </p:spPr>
        <p:txBody>
          <a:bodyPr wrap="square" lIns="36000" rIns="36000" tIns="18000" bIns="18000" anchor="t">
            <a:spAutoFit/>
          </a:bodyPr>
          <a:lstStyle/>
          <a:p>
            <a:pPr algn="l"/>
            <a:r>
              <a:rPr sz="1100" b="1" i="0">
                <a:solidFill>
                  <a:srgbClr val="FFFFFF"/>
                </a:solidFill>
                <a:latin typeface="Yu Gothic"/>
              </a:rPr>
              <a:t>4. 計画的な人材育成</a:t>
            </a:r>
          </a:p>
        </p:txBody>
      </p:sp>
      <p:sp>
        <p:nvSpPr>
          <p:cNvPr id="4" name="TextBox 3"/>
          <p:cNvSpPr txBox="1"/>
          <p:nvPr/>
        </p:nvSpPr>
        <p:spPr>
          <a:xfrm>
            <a:off x="288000" y="684000"/>
            <a:ext cx="11616119" cy="468000"/>
          </a:xfrm>
          <a:prstGeom prst="rect">
            <a:avLst/>
          </a:prstGeom>
          <a:noFill/>
        </p:spPr>
        <p:txBody>
          <a:bodyPr wrap="square" lIns="36000" rIns="36000" tIns="18000" bIns="18000" anchor="t">
            <a:spAutoFit/>
          </a:bodyPr>
          <a:lstStyle/>
          <a:p>
            <a:pPr algn="l"/>
            <a:r>
              <a:rPr sz="2300" b="1" i="0">
                <a:solidFill>
                  <a:srgbClr val="294737"/>
                </a:solidFill>
                <a:latin typeface="Yu Gothic"/>
              </a:rPr>
              <a:t>研修受講を「管理」する ― 一覧化のすすめ</a:t>
            </a:r>
          </a:p>
        </p:txBody>
      </p:sp>
      <p:sp>
        <p:nvSpPr>
          <p:cNvPr id="5" name="Rectangle 4"/>
          <p:cNvSpPr/>
          <p:nvPr/>
        </p:nvSpPr>
        <p:spPr>
          <a:xfrm>
            <a:off x="288000" y="1152000"/>
            <a:ext cx="900000" cy="43200"/>
          </a:xfrm>
          <a:prstGeom prst="rect">
            <a:avLst/>
          </a:prstGeom>
          <a:solidFill>
            <a:srgbClr val="B377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88000" y="6570000"/>
            <a:ext cx="9720000" cy="180000"/>
          </a:xfrm>
          <a:prstGeom prst="rect">
            <a:avLst/>
          </a:prstGeom>
          <a:noFill/>
        </p:spPr>
        <p:txBody>
          <a:bodyPr wrap="square" lIns="36000" rIns="36000" tIns="18000" bIns="18000" anchor="t">
            <a:spAutoFit/>
          </a:bodyPr>
          <a:lstStyle/>
          <a:p>
            <a:pPr algn="l"/>
            <a:r>
              <a:rPr sz="900" b="0" i="0">
                <a:solidFill>
                  <a:srgbClr val="6E8C7C"/>
                </a:solidFill>
                <a:latin typeface="Yu Gothic"/>
              </a:rPr>
              <a:t>主任CM研修 / 法定研修制度改正への対応と主任CM更新研修の戦略  ※研修制度は最新情報をご確認ください</a:t>
            </a:r>
          </a:p>
        </p:txBody>
      </p:sp>
      <p:sp>
        <p:nvSpPr>
          <p:cNvPr id="7" name="TextBox 6"/>
          <p:cNvSpPr txBox="1"/>
          <p:nvPr/>
        </p:nvSpPr>
        <p:spPr>
          <a:xfrm>
            <a:off x="11112119" y="6570000"/>
            <a:ext cx="792000" cy="180000"/>
          </a:xfrm>
          <a:prstGeom prst="rect">
            <a:avLst/>
          </a:prstGeom>
          <a:noFill/>
        </p:spPr>
        <p:txBody>
          <a:bodyPr wrap="square" lIns="36000" rIns="36000" tIns="18000" bIns="18000" anchor="t">
            <a:spAutoFit/>
          </a:bodyPr>
          <a:lstStyle/>
          <a:p>
            <a:pPr algn="r"/>
            <a:r>
              <a:rPr sz="900" b="0" i="0">
                <a:solidFill>
                  <a:srgbClr val="6E8C7C"/>
                </a:solidFill>
                <a:latin typeface="Yu Gothic"/>
              </a:rPr>
              <a:t>16 / 27</a:t>
            </a:r>
          </a:p>
        </p:txBody>
      </p:sp>
      <p:sp>
        <p:nvSpPr>
          <p:cNvPr id="8" name="Rectangle 7"/>
          <p:cNvSpPr/>
          <p:nvPr/>
        </p:nvSpPr>
        <p:spPr>
          <a:xfrm>
            <a:off x="432000" y="1548000"/>
            <a:ext cx="11304000" cy="360000"/>
          </a:xfrm>
          <a:prstGeom prst="rect">
            <a:avLst/>
          </a:prstGeom>
          <a:solidFill>
            <a:srgbClr val="2947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4000" y="1584000"/>
            <a:ext cx="11160000" cy="288000"/>
          </a:xfrm>
          <a:prstGeom prst="rect">
            <a:avLst/>
          </a:prstGeom>
          <a:noFill/>
        </p:spPr>
        <p:txBody>
          <a:bodyPr wrap="square" lIns="36000" rIns="36000" tIns="18000" bIns="18000" anchor="ctr">
            <a:spAutoFit/>
          </a:bodyPr>
          <a:lstStyle/>
          <a:p>
            <a:pPr algn="l"/>
            <a:r>
              <a:rPr sz="1400" b="1" i="0">
                <a:solidFill>
                  <a:srgbClr val="FFFFFF"/>
                </a:solidFill>
                <a:latin typeface="Yu Gothic"/>
              </a:rPr>
              <a:t>「誰が・いつ・何を」を、見える化する</a:t>
            </a:r>
          </a:p>
        </p:txBody>
      </p:sp>
      <p:sp>
        <p:nvSpPr>
          <p:cNvPr id="10" name="Rectangle 9"/>
          <p:cNvSpPr/>
          <p:nvPr/>
        </p:nvSpPr>
        <p:spPr>
          <a:xfrm>
            <a:off x="432000" y="1908000"/>
            <a:ext cx="11304000" cy="467999"/>
          </a:xfrm>
          <a:prstGeom prst="rect">
            <a:avLst/>
          </a:prstGeom>
          <a:solidFill>
            <a:srgbClr val="E7EC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0000" y="1944000"/>
            <a:ext cx="11088000" cy="431999"/>
          </a:xfrm>
          <a:prstGeom prst="rect">
            <a:avLst/>
          </a:prstGeom>
          <a:noFill/>
        </p:spPr>
        <p:txBody>
          <a:bodyPr wrap="square" lIns="36000" rIns="36000" tIns="18000" bIns="18000" anchor="t">
            <a:spAutoFit/>
          </a:bodyPr>
          <a:lstStyle/>
          <a:p>
            <a:pPr algn="l"/>
            <a:r>
              <a:rPr sz="1200" b="0" i="0">
                <a:solidFill>
                  <a:srgbClr val="2E3330"/>
                </a:solidFill>
                <a:latin typeface="Yu Gothic"/>
              </a:rPr>
              <a:t>職員一人ひとりの資格・研修の状況を一覧にしておくことが、計画的な育成の出発点。</a:t>
            </a:r>
          </a:p>
          <a:p>
            <a:pPr algn="l"/>
            <a:r>
              <a:rPr sz="1200" b="0" i="0">
                <a:solidFill>
                  <a:srgbClr val="2E3330"/>
                </a:solidFill>
                <a:latin typeface="Yu Gothic"/>
              </a:rPr>
              <a:t>頭の中・個人任せにせず、事業所として把握・管理する。</a:t>
            </a:r>
          </a:p>
        </p:txBody>
      </p:sp>
      <p:sp>
        <p:nvSpPr>
          <p:cNvPr id="12" name="Rectangle 11"/>
          <p:cNvSpPr/>
          <p:nvPr/>
        </p:nvSpPr>
        <p:spPr>
          <a:xfrm>
            <a:off x="612000" y="2628000"/>
            <a:ext cx="11304000" cy="360000"/>
          </a:xfrm>
          <a:prstGeom prst="rect">
            <a:avLst/>
          </a:prstGeom>
          <a:solidFill>
            <a:srgbClr val="2947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6000" y="2664000"/>
            <a:ext cx="2052000" cy="288000"/>
          </a:xfrm>
          <a:prstGeom prst="rect">
            <a:avLst/>
          </a:prstGeom>
          <a:noFill/>
        </p:spPr>
        <p:txBody>
          <a:bodyPr wrap="square" lIns="36000" rIns="36000" tIns="18000" bIns="18000" anchor="ctr">
            <a:spAutoFit/>
          </a:bodyPr>
          <a:lstStyle/>
          <a:p>
            <a:pPr algn="ctr"/>
            <a:r>
              <a:rPr sz="1200" b="1" i="0">
                <a:solidFill>
                  <a:srgbClr val="FFFFFF"/>
                </a:solidFill>
                <a:latin typeface="Yu Gothic"/>
              </a:rPr>
              <a:t>職員</a:t>
            </a:r>
          </a:p>
        </p:txBody>
      </p:sp>
      <p:sp>
        <p:nvSpPr>
          <p:cNvPr id="14" name="TextBox 13"/>
          <p:cNvSpPr txBox="1"/>
          <p:nvPr/>
        </p:nvSpPr>
        <p:spPr>
          <a:xfrm>
            <a:off x="2826000" y="2664000"/>
            <a:ext cx="2340000" cy="288000"/>
          </a:xfrm>
          <a:prstGeom prst="rect">
            <a:avLst/>
          </a:prstGeom>
          <a:noFill/>
        </p:spPr>
        <p:txBody>
          <a:bodyPr wrap="square" lIns="36000" rIns="36000" tIns="18000" bIns="18000" anchor="ctr">
            <a:spAutoFit/>
          </a:bodyPr>
          <a:lstStyle/>
          <a:p>
            <a:pPr algn="ctr"/>
            <a:r>
              <a:rPr sz="1200" b="1" i="0">
                <a:solidFill>
                  <a:srgbClr val="FFFFFF"/>
                </a:solidFill>
                <a:latin typeface="Yu Gothic"/>
              </a:rPr>
              <a:t>資格・研修状況</a:t>
            </a:r>
          </a:p>
        </p:txBody>
      </p:sp>
      <p:sp>
        <p:nvSpPr>
          <p:cNvPr id="15" name="TextBox 14"/>
          <p:cNvSpPr txBox="1"/>
          <p:nvPr/>
        </p:nvSpPr>
        <p:spPr>
          <a:xfrm>
            <a:off x="5274000" y="2664000"/>
            <a:ext cx="2340000" cy="288000"/>
          </a:xfrm>
          <a:prstGeom prst="rect">
            <a:avLst/>
          </a:prstGeom>
          <a:noFill/>
        </p:spPr>
        <p:txBody>
          <a:bodyPr wrap="square" lIns="36000" rIns="36000" tIns="18000" bIns="18000" anchor="ctr">
            <a:spAutoFit/>
          </a:bodyPr>
          <a:lstStyle/>
          <a:p>
            <a:pPr algn="ctr"/>
            <a:r>
              <a:rPr sz="1200" b="1" i="0">
                <a:solidFill>
                  <a:srgbClr val="FFFFFF"/>
                </a:solidFill>
                <a:latin typeface="Yu Gothic"/>
              </a:rPr>
              <a:t>次の更新・研修</a:t>
            </a:r>
          </a:p>
        </p:txBody>
      </p:sp>
      <p:sp>
        <p:nvSpPr>
          <p:cNvPr id="16" name="TextBox 15"/>
          <p:cNvSpPr txBox="1"/>
          <p:nvPr/>
        </p:nvSpPr>
        <p:spPr>
          <a:xfrm>
            <a:off x="7722000" y="2664000"/>
            <a:ext cx="2196000" cy="288000"/>
          </a:xfrm>
          <a:prstGeom prst="rect">
            <a:avLst/>
          </a:prstGeom>
          <a:noFill/>
        </p:spPr>
        <p:txBody>
          <a:bodyPr wrap="square" lIns="36000" rIns="36000" tIns="18000" bIns="18000" anchor="ctr">
            <a:spAutoFit/>
          </a:bodyPr>
          <a:lstStyle/>
          <a:p>
            <a:pPr algn="ctr"/>
            <a:r>
              <a:rPr sz="1200" b="1" i="0">
                <a:solidFill>
                  <a:srgbClr val="FFFFFF"/>
                </a:solidFill>
                <a:latin typeface="Yu Gothic"/>
              </a:rPr>
              <a:t>受講予定</a:t>
            </a:r>
          </a:p>
        </p:txBody>
      </p:sp>
      <p:sp>
        <p:nvSpPr>
          <p:cNvPr id="17" name="TextBox 16"/>
          <p:cNvSpPr txBox="1"/>
          <p:nvPr/>
        </p:nvSpPr>
        <p:spPr>
          <a:xfrm>
            <a:off x="10026000" y="2664000"/>
            <a:ext cx="1836000" cy="288000"/>
          </a:xfrm>
          <a:prstGeom prst="rect">
            <a:avLst/>
          </a:prstGeom>
          <a:noFill/>
        </p:spPr>
        <p:txBody>
          <a:bodyPr wrap="square" lIns="36000" rIns="36000" tIns="18000" bIns="18000" anchor="ctr">
            <a:spAutoFit/>
          </a:bodyPr>
          <a:lstStyle/>
          <a:p>
            <a:pPr algn="ctr"/>
            <a:r>
              <a:rPr sz="1200" b="1" i="0">
                <a:solidFill>
                  <a:srgbClr val="FFFFFF"/>
                </a:solidFill>
                <a:latin typeface="Yu Gothic"/>
              </a:rPr>
              <a:t>受講要件</a:t>
            </a:r>
          </a:p>
        </p:txBody>
      </p:sp>
      <p:sp>
        <p:nvSpPr>
          <p:cNvPr id="18" name="Rectangle 17"/>
          <p:cNvSpPr/>
          <p:nvPr/>
        </p:nvSpPr>
        <p:spPr>
          <a:xfrm>
            <a:off x="612000" y="2988000"/>
            <a:ext cx="11304000" cy="540000"/>
          </a:xfrm>
          <a:prstGeom prst="rect">
            <a:avLst/>
          </a:prstGeom>
          <a:solidFill>
            <a:srgbClr val="E7ECE8"/>
          </a:solidFill>
          <a:ln>
            <a:solidFill>
              <a:srgbClr val="D5DB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66000" y="3042000"/>
            <a:ext cx="2052000" cy="432000"/>
          </a:xfrm>
          <a:prstGeom prst="rect">
            <a:avLst/>
          </a:prstGeom>
          <a:noFill/>
        </p:spPr>
        <p:txBody>
          <a:bodyPr wrap="square" lIns="36000" rIns="36000" tIns="18000" bIns="18000" anchor="ctr">
            <a:spAutoFit/>
          </a:bodyPr>
          <a:lstStyle/>
          <a:p>
            <a:pPr algn="ctr"/>
            <a:r>
              <a:rPr sz="1100" b="1" i="0">
                <a:solidFill>
                  <a:srgbClr val="294737"/>
                </a:solidFill>
                <a:latin typeface="Yu Gothic"/>
              </a:rPr>
              <a:t>A(主任CM)</a:t>
            </a:r>
          </a:p>
        </p:txBody>
      </p:sp>
      <p:sp>
        <p:nvSpPr>
          <p:cNvPr id="20" name="TextBox 19"/>
          <p:cNvSpPr txBox="1"/>
          <p:nvPr/>
        </p:nvSpPr>
        <p:spPr>
          <a:xfrm>
            <a:off x="2826000" y="3042000"/>
            <a:ext cx="2340000" cy="432000"/>
          </a:xfrm>
          <a:prstGeom prst="rect">
            <a:avLst/>
          </a:prstGeom>
          <a:noFill/>
        </p:spPr>
        <p:txBody>
          <a:bodyPr wrap="square" lIns="36000" rIns="36000" tIns="18000" bIns="18000" anchor="ctr">
            <a:spAutoFit/>
          </a:bodyPr>
          <a:lstStyle/>
          <a:p>
            <a:pPr algn="l"/>
            <a:r>
              <a:rPr sz="1100" b="0" i="0">
                <a:solidFill>
                  <a:srgbClr val="2E3330"/>
                </a:solidFill>
                <a:latin typeface="Yu Gothic"/>
              </a:rPr>
              <a:t>主任CM</a:t>
            </a:r>
          </a:p>
        </p:txBody>
      </p:sp>
      <p:sp>
        <p:nvSpPr>
          <p:cNvPr id="21" name="TextBox 20"/>
          <p:cNvSpPr txBox="1"/>
          <p:nvPr/>
        </p:nvSpPr>
        <p:spPr>
          <a:xfrm>
            <a:off x="5274000" y="3042000"/>
            <a:ext cx="2340000" cy="432000"/>
          </a:xfrm>
          <a:prstGeom prst="rect">
            <a:avLst/>
          </a:prstGeom>
          <a:noFill/>
        </p:spPr>
        <p:txBody>
          <a:bodyPr wrap="square" lIns="36000" rIns="36000" tIns="18000" bIns="18000" anchor="ctr">
            <a:spAutoFit/>
          </a:bodyPr>
          <a:lstStyle/>
          <a:p>
            <a:pPr algn="l"/>
            <a:r>
              <a:rPr sz="1100" b="0" i="0">
                <a:solidFill>
                  <a:srgbClr val="2E3330"/>
                </a:solidFill>
                <a:latin typeface="Yu Gothic"/>
              </a:rPr>
              <a:t>主任CM更新研修</a:t>
            </a:r>
          </a:p>
        </p:txBody>
      </p:sp>
      <p:sp>
        <p:nvSpPr>
          <p:cNvPr id="22" name="TextBox 21"/>
          <p:cNvSpPr txBox="1"/>
          <p:nvPr/>
        </p:nvSpPr>
        <p:spPr>
          <a:xfrm>
            <a:off x="7722000" y="3042000"/>
            <a:ext cx="2196000" cy="432000"/>
          </a:xfrm>
          <a:prstGeom prst="rect">
            <a:avLst/>
          </a:prstGeom>
          <a:noFill/>
        </p:spPr>
        <p:txBody>
          <a:bodyPr wrap="square" lIns="36000" rIns="36000" tIns="18000" bIns="18000" anchor="ctr">
            <a:spAutoFit/>
          </a:bodyPr>
          <a:lstStyle/>
          <a:p>
            <a:pPr algn="l"/>
            <a:r>
              <a:rPr sz="1100" b="0" i="0">
                <a:solidFill>
                  <a:srgbClr val="2E3330"/>
                </a:solidFill>
                <a:latin typeface="Yu Gothic"/>
              </a:rPr>
              <a:t>○年度予定</a:t>
            </a:r>
          </a:p>
        </p:txBody>
      </p:sp>
      <p:sp>
        <p:nvSpPr>
          <p:cNvPr id="23" name="TextBox 22"/>
          <p:cNvSpPr txBox="1"/>
          <p:nvPr/>
        </p:nvSpPr>
        <p:spPr>
          <a:xfrm>
            <a:off x="10026000" y="3042000"/>
            <a:ext cx="1836000" cy="432000"/>
          </a:xfrm>
          <a:prstGeom prst="rect">
            <a:avLst/>
          </a:prstGeom>
          <a:noFill/>
        </p:spPr>
        <p:txBody>
          <a:bodyPr wrap="square" lIns="36000" rIns="36000" tIns="18000" bIns="18000" anchor="ctr">
            <a:spAutoFit/>
          </a:bodyPr>
          <a:lstStyle/>
          <a:p>
            <a:pPr algn="l"/>
            <a:r>
              <a:rPr sz="1100" b="0" i="0">
                <a:solidFill>
                  <a:srgbClr val="2E3330"/>
                </a:solidFill>
                <a:latin typeface="Yu Gothic"/>
              </a:rPr>
              <a:t>要件確認済</a:t>
            </a:r>
          </a:p>
        </p:txBody>
      </p:sp>
      <p:sp>
        <p:nvSpPr>
          <p:cNvPr id="24" name="Rectangle 23"/>
          <p:cNvSpPr/>
          <p:nvPr/>
        </p:nvSpPr>
        <p:spPr>
          <a:xfrm>
            <a:off x="612000" y="3528000"/>
            <a:ext cx="11304000" cy="540000"/>
          </a:xfrm>
          <a:prstGeom prst="rect">
            <a:avLst/>
          </a:prstGeom>
          <a:solidFill>
            <a:srgbClr val="FFFFFF"/>
          </a:solidFill>
          <a:ln>
            <a:solidFill>
              <a:srgbClr val="D5DB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66000" y="3582000"/>
            <a:ext cx="2052000" cy="432000"/>
          </a:xfrm>
          <a:prstGeom prst="rect">
            <a:avLst/>
          </a:prstGeom>
          <a:noFill/>
        </p:spPr>
        <p:txBody>
          <a:bodyPr wrap="square" lIns="36000" rIns="36000" tIns="18000" bIns="18000" anchor="ctr">
            <a:spAutoFit/>
          </a:bodyPr>
          <a:lstStyle/>
          <a:p>
            <a:pPr algn="ctr"/>
            <a:r>
              <a:rPr sz="1100" b="1" i="0">
                <a:solidFill>
                  <a:srgbClr val="294737"/>
                </a:solidFill>
                <a:latin typeface="Yu Gothic"/>
              </a:rPr>
              <a:t>B(CM)</a:t>
            </a:r>
          </a:p>
        </p:txBody>
      </p:sp>
      <p:sp>
        <p:nvSpPr>
          <p:cNvPr id="26" name="TextBox 25"/>
          <p:cNvSpPr txBox="1"/>
          <p:nvPr/>
        </p:nvSpPr>
        <p:spPr>
          <a:xfrm>
            <a:off x="2826000" y="3582000"/>
            <a:ext cx="2340000" cy="432000"/>
          </a:xfrm>
          <a:prstGeom prst="rect">
            <a:avLst/>
          </a:prstGeom>
          <a:noFill/>
        </p:spPr>
        <p:txBody>
          <a:bodyPr wrap="square" lIns="36000" rIns="36000" tIns="18000" bIns="18000" anchor="ctr">
            <a:spAutoFit/>
          </a:bodyPr>
          <a:lstStyle/>
          <a:p>
            <a:pPr algn="l"/>
            <a:r>
              <a:rPr sz="1100" b="0" i="0">
                <a:solidFill>
                  <a:srgbClr val="2E3330"/>
                </a:solidFill>
                <a:latin typeface="Yu Gothic"/>
              </a:rPr>
              <a:t>専門研修Ⅱ修了</a:t>
            </a:r>
          </a:p>
        </p:txBody>
      </p:sp>
      <p:sp>
        <p:nvSpPr>
          <p:cNvPr id="27" name="TextBox 26"/>
          <p:cNvSpPr txBox="1"/>
          <p:nvPr/>
        </p:nvSpPr>
        <p:spPr>
          <a:xfrm>
            <a:off x="5274000" y="3582000"/>
            <a:ext cx="2340000" cy="432000"/>
          </a:xfrm>
          <a:prstGeom prst="rect">
            <a:avLst/>
          </a:prstGeom>
          <a:noFill/>
        </p:spPr>
        <p:txBody>
          <a:bodyPr wrap="square" lIns="36000" rIns="36000" tIns="18000" bIns="18000" anchor="ctr">
            <a:spAutoFit/>
          </a:bodyPr>
          <a:lstStyle/>
          <a:p>
            <a:pPr algn="l"/>
            <a:r>
              <a:rPr sz="1100" b="0" i="0">
                <a:solidFill>
                  <a:srgbClr val="2E3330"/>
                </a:solidFill>
                <a:latin typeface="Yu Gothic"/>
              </a:rPr>
              <a:t>CM証 更新</a:t>
            </a:r>
          </a:p>
        </p:txBody>
      </p:sp>
      <p:sp>
        <p:nvSpPr>
          <p:cNvPr id="28" name="TextBox 27"/>
          <p:cNvSpPr txBox="1"/>
          <p:nvPr/>
        </p:nvSpPr>
        <p:spPr>
          <a:xfrm>
            <a:off x="7722000" y="3582000"/>
            <a:ext cx="2196000" cy="432000"/>
          </a:xfrm>
          <a:prstGeom prst="rect">
            <a:avLst/>
          </a:prstGeom>
          <a:noFill/>
        </p:spPr>
        <p:txBody>
          <a:bodyPr wrap="square" lIns="36000" rIns="36000" tIns="18000" bIns="18000" anchor="ctr">
            <a:spAutoFit/>
          </a:bodyPr>
          <a:lstStyle/>
          <a:p>
            <a:pPr algn="l"/>
            <a:r>
              <a:rPr sz="1100" b="0" i="0">
                <a:solidFill>
                  <a:srgbClr val="2E3330"/>
                </a:solidFill>
                <a:latin typeface="Yu Gothic"/>
              </a:rPr>
              <a:t>○年度</a:t>
            </a:r>
          </a:p>
        </p:txBody>
      </p:sp>
      <p:sp>
        <p:nvSpPr>
          <p:cNvPr id="29" name="TextBox 28"/>
          <p:cNvSpPr txBox="1"/>
          <p:nvPr/>
        </p:nvSpPr>
        <p:spPr>
          <a:xfrm>
            <a:off x="10026000" y="3582000"/>
            <a:ext cx="1836000" cy="432000"/>
          </a:xfrm>
          <a:prstGeom prst="rect">
            <a:avLst/>
          </a:prstGeom>
          <a:noFill/>
        </p:spPr>
        <p:txBody>
          <a:bodyPr wrap="square" lIns="36000" rIns="36000" tIns="18000" bIns="18000" anchor="ctr">
            <a:spAutoFit/>
          </a:bodyPr>
          <a:lstStyle/>
          <a:p>
            <a:pPr algn="l"/>
            <a:r>
              <a:rPr sz="1100" b="0" i="0">
                <a:solidFill>
                  <a:srgbClr val="2E3330"/>
                </a:solidFill>
                <a:latin typeface="Yu Gothic"/>
              </a:rPr>
              <a:t>—</a:t>
            </a:r>
          </a:p>
        </p:txBody>
      </p:sp>
      <p:sp>
        <p:nvSpPr>
          <p:cNvPr id="30" name="Rectangle 29"/>
          <p:cNvSpPr/>
          <p:nvPr/>
        </p:nvSpPr>
        <p:spPr>
          <a:xfrm>
            <a:off x="612000" y="4068000"/>
            <a:ext cx="11304000" cy="540000"/>
          </a:xfrm>
          <a:prstGeom prst="rect">
            <a:avLst/>
          </a:prstGeom>
          <a:solidFill>
            <a:srgbClr val="E7ECE8"/>
          </a:solidFill>
          <a:ln>
            <a:solidFill>
              <a:srgbClr val="D5DB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66000" y="4122000"/>
            <a:ext cx="2052000" cy="432000"/>
          </a:xfrm>
          <a:prstGeom prst="rect">
            <a:avLst/>
          </a:prstGeom>
          <a:noFill/>
        </p:spPr>
        <p:txBody>
          <a:bodyPr wrap="square" lIns="36000" rIns="36000" tIns="18000" bIns="18000" anchor="ctr">
            <a:spAutoFit/>
          </a:bodyPr>
          <a:lstStyle/>
          <a:p>
            <a:pPr algn="ctr"/>
            <a:r>
              <a:rPr sz="1100" b="1" i="0">
                <a:solidFill>
                  <a:srgbClr val="294737"/>
                </a:solidFill>
                <a:latin typeface="Yu Gothic"/>
              </a:rPr>
              <a:t>C(CM)</a:t>
            </a:r>
          </a:p>
        </p:txBody>
      </p:sp>
      <p:sp>
        <p:nvSpPr>
          <p:cNvPr id="32" name="TextBox 31"/>
          <p:cNvSpPr txBox="1"/>
          <p:nvPr/>
        </p:nvSpPr>
        <p:spPr>
          <a:xfrm>
            <a:off x="2826000" y="4122000"/>
            <a:ext cx="2340000" cy="432000"/>
          </a:xfrm>
          <a:prstGeom prst="rect">
            <a:avLst/>
          </a:prstGeom>
          <a:noFill/>
        </p:spPr>
        <p:txBody>
          <a:bodyPr wrap="square" lIns="36000" rIns="36000" tIns="18000" bIns="18000" anchor="ctr">
            <a:spAutoFit/>
          </a:bodyPr>
          <a:lstStyle/>
          <a:p>
            <a:pPr algn="l"/>
            <a:r>
              <a:rPr sz="1100" b="0" i="0">
                <a:solidFill>
                  <a:srgbClr val="2E3330"/>
                </a:solidFill>
                <a:latin typeface="Yu Gothic"/>
              </a:rPr>
              <a:t>専門研修Ⅰ修了</a:t>
            </a:r>
          </a:p>
        </p:txBody>
      </p:sp>
      <p:sp>
        <p:nvSpPr>
          <p:cNvPr id="33" name="TextBox 32"/>
          <p:cNvSpPr txBox="1"/>
          <p:nvPr/>
        </p:nvSpPr>
        <p:spPr>
          <a:xfrm>
            <a:off x="5274000" y="4122000"/>
            <a:ext cx="2340000" cy="432000"/>
          </a:xfrm>
          <a:prstGeom prst="rect">
            <a:avLst/>
          </a:prstGeom>
          <a:noFill/>
        </p:spPr>
        <p:txBody>
          <a:bodyPr wrap="square" lIns="36000" rIns="36000" tIns="18000" bIns="18000" anchor="ctr">
            <a:spAutoFit/>
          </a:bodyPr>
          <a:lstStyle/>
          <a:p>
            <a:pPr algn="l"/>
            <a:r>
              <a:rPr sz="1100" b="0" i="0">
                <a:solidFill>
                  <a:srgbClr val="2E3330"/>
                </a:solidFill>
                <a:latin typeface="Yu Gothic"/>
              </a:rPr>
              <a:t>専門研修Ⅱ</a:t>
            </a:r>
          </a:p>
        </p:txBody>
      </p:sp>
      <p:sp>
        <p:nvSpPr>
          <p:cNvPr id="34" name="TextBox 33"/>
          <p:cNvSpPr txBox="1"/>
          <p:nvPr/>
        </p:nvSpPr>
        <p:spPr>
          <a:xfrm>
            <a:off x="7722000" y="4122000"/>
            <a:ext cx="2196000" cy="432000"/>
          </a:xfrm>
          <a:prstGeom prst="rect">
            <a:avLst/>
          </a:prstGeom>
          <a:noFill/>
        </p:spPr>
        <p:txBody>
          <a:bodyPr wrap="square" lIns="36000" rIns="36000" tIns="18000" bIns="18000" anchor="ctr">
            <a:spAutoFit/>
          </a:bodyPr>
          <a:lstStyle/>
          <a:p>
            <a:pPr algn="l"/>
            <a:r>
              <a:rPr sz="1100" b="0" i="0">
                <a:solidFill>
                  <a:srgbClr val="2E3330"/>
                </a:solidFill>
                <a:latin typeface="Yu Gothic"/>
              </a:rPr>
              <a:t>次年度</a:t>
            </a:r>
          </a:p>
        </p:txBody>
      </p:sp>
      <p:sp>
        <p:nvSpPr>
          <p:cNvPr id="35" name="TextBox 34"/>
          <p:cNvSpPr txBox="1"/>
          <p:nvPr/>
        </p:nvSpPr>
        <p:spPr>
          <a:xfrm>
            <a:off x="10026000" y="4122000"/>
            <a:ext cx="1836000" cy="432000"/>
          </a:xfrm>
          <a:prstGeom prst="rect">
            <a:avLst/>
          </a:prstGeom>
          <a:noFill/>
        </p:spPr>
        <p:txBody>
          <a:bodyPr wrap="square" lIns="36000" rIns="36000" tIns="18000" bIns="18000" anchor="ctr">
            <a:spAutoFit/>
          </a:bodyPr>
          <a:lstStyle/>
          <a:p>
            <a:pPr algn="l"/>
            <a:r>
              <a:rPr sz="1100" b="0" i="0">
                <a:solidFill>
                  <a:srgbClr val="2E3330"/>
                </a:solidFill>
                <a:latin typeface="Yu Gothic"/>
              </a:rPr>
              <a:t>—</a:t>
            </a:r>
          </a:p>
        </p:txBody>
      </p:sp>
      <p:sp>
        <p:nvSpPr>
          <p:cNvPr id="36" name="Rectangle 35"/>
          <p:cNvSpPr/>
          <p:nvPr/>
        </p:nvSpPr>
        <p:spPr>
          <a:xfrm>
            <a:off x="612000" y="4608000"/>
            <a:ext cx="11304000" cy="540000"/>
          </a:xfrm>
          <a:prstGeom prst="rect">
            <a:avLst/>
          </a:prstGeom>
          <a:solidFill>
            <a:srgbClr val="FFFFFF"/>
          </a:solidFill>
          <a:ln>
            <a:solidFill>
              <a:srgbClr val="D5DB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66000" y="4662000"/>
            <a:ext cx="2052000" cy="432000"/>
          </a:xfrm>
          <a:prstGeom prst="rect">
            <a:avLst/>
          </a:prstGeom>
          <a:noFill/>
        </p:spPr>
        <p:txBody>
          <a:bodyPr wrap="square" lIns="36000" rIns="36000" tIns="18000" bIns="18000" anchor="ctr">
            <a:spAutoFit/>
          </a:bodyPr>
          <a:lstStyle/>
          <a:p>
            <a:pPr algn="ctr"/>
            <a:r>
              <a:rPr sz="1100" b="1" i="0">
                <a:solidFill>
                  <a:srgbClr val="294737"/>
                </a:solidFill>
                <a:latin typeface="Yu Gothic"/>
              </a:rPr>
              <a:t>D(CM)</a:t>
            </a:r>
          </a:p>
        </p:txBody>
      </p:sp>
      <p:sp>
        <p:nvSpPr>
          <p:cNvPr id="38" name="TextBox 37"/>
          <p:cNvSpPr txBox="1"/>
          <p:nvPr/>
        </p:nvSpPr>
        <p:spPr>
          <a:xfrm>
            <a:off x="2826000" y="4662000"/>
            <a:ext cx="2340000" cy="432000"/>
          </a:xfrm>
          <a:prstGeom prst="rect">
            <a:avLst/>
          </a:prstGeom>
          <a:noFill/>
        </p:spPr>
        <p:txBody>
          <a:bodyPr wrap="square" lIns="36000" rIns="36000" tIns="18000" bIns="18000" anchor="ctr">
            <a:spAutoFit/>
          </a:bodyPr>
          <a:lstStyle/>
          <a:p>
            <a:pPr algn="l"/>
            <a:r>
              <a:rPr sz="1100" b="0" i="0">
                <a:solidFill>
                  <a:srgbClr val="2E3330"/>
                </a:solidFill>
                <a:latin typeface="Yu Gothic"/>
              </a:rPr>
              <a:t>実務研修修了</a:t>
            </a:r>
          </a:p>
        </p:txBody>
      </p:sp>
      <p:sp>
        <p:nvSpPr>
          <p:cNvPr id="39" name="TextBox 38"/>
          <p:cNvSpPr txBox="1"/>
          <p:nvPr/>
        </p:nvSpPr>
        <p:spPr>
          <a:xfrm>
            <a:off x="5274000" y="4662000"/>
            <a:ext cx="2340000" cy="432000"/>
          </a:xfrm>
          <a:prstGeom prst="rect">
            <a:avLst/>
          </a:prstGeom>
          <a:noFill/>
        </p:spPr>
        <p:txBody>
          <a:bodyPr wrap="square" lIns="36000" rIns="36000" tIns="18000" bIns="18000" anchor="ctr">
            <a:spAutoFit/>
          </a:bodyPr>
          <a:lstStyle/>
          <a:p>
            <a:pPr algn="l"/>
            <a:r>
              <a:rPr sz="1100" b="0" i="0">
                <a:solidFill>
                  <a:srgbClr val="2E3330"/>
                </a:solidFill>
                <a:latin typeface="Yu Gothic"/>
              </a:rPr>
              <a:t>専門研修Ⅰ</a:t>
            </a:r>
          </a:p>
        </p:txBody>
      </p:sp>
      <p:sp>
        <p:nvSpPr>
          <p:cNvPr id="40" name="TextBox 39"/>
          <p:cNvSpPr txBox="1"/>
          <p:nvPr/>
        </p:nvSpPr>
        <p:spPr>
          <a:xfrm>
            <a:off x="7722000" y="4662000"/>
            <a:ext cx="2196000" cy="432000"/>
          </a:xfrm>
          <a:prstGeom prst="rect">
            <a:avLst/>
          </a:prstGeom>
          <a:noFill/>
        </p:spPr>
        <p:txBody>
          <a:bodyPr wrap="square" lIns="36000" rIns="36000" tIns="18000" bIns="18000" anchor="ctr">
            <a:spAutoFit/>
          </a:bodyPr>
          <a:lstStyle/>
          <a:p>
            <a:pPr algn="l"/>
            <a:r>
              <a:rPr sz="1100" b="0" i="0">
                <a:solidFill>
                  <a:srgbClr val="2E3330"/>
                </a:solidFill>
                <a:latin typeface="Yu Gothic"/>
              </a:rPr>
              <a:t>○年度</a:t>
            </a:r>
          </a:p>
        </p:txBody>
      </p:sp>
      <p:sp>
        <p:nvSpPr>
          <p:cNvPr id="41" name="TextBox 40"/>
          <p:cNvSpPr txBox="1"/>
          <p:nvPr/>
        </p:nvSpPr>
        <p:spPr>
          <a:xfrm>
            <a:off x="10026000" y="4662000"/>
            <a:ext cx="1836000" cy="432000"/>
          </a:xfrm>
          <a:prstGeom prst="rect">
            <a:avLst/>
          </a:prstGeom>
          <a:noFill/>
        </p:spPr>
        <p:txBody>
          <a:bodyPr wrap="square" lIns="36000" rIns="36000" tIns="18000" bIns="18000" anchor="ctr">
            <a:spAutoFit/>
          </a:bodyPr>
          <a:lstStyle/>
          <a:p>
            <a:pPr algn="l"/>
            <a:r>
              <a:rPr sz="1100" b="0" i="0">
                <a:solidFill>
                  <a:srgbClr val="2E3330"/>
                </a:solidFill>
                <a:latin typeface="Yu Gothic"/>
              </a:rPr>
              <a:t>実務経験を確認</a:t>
            </a:r>
          </a:p>
        </p:txBody>
      </p:sp>
      <p:sp>
        <p:nvSpPr>
          <p:cNvPr id="42" name="Rectangle 41"/>
          <p:cNvSpPr/>
          <p:nvPr/>
        </p:nvSpPr>
        <p:spPr>
          <a:xfrm>
            <a:off x="432000" y="5220000"/>
            <a:ext cx="11304000" cy="360000"/>
          </a:xfrm>
          <a:prstGeom prst="rect">
            <a:avLst/>
          </a:prstGeom>
          <a:solidFill>
            <a:srgbClr val="B377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04000" y="5256000"/>
            <a:ext cx="11160000" cy="288000"/>
          </a:xfrm>
          <a:prstGeom prst="rect">
            <a:avLst/>
          </a:prstGeom>
          <a:noFill/>
        </p:spPr>
        <p:txBody>
          <a:bodyPr wrap="square" lIns="36000" rIns="36000" tIns="18000" bIns="18000" anchor="ctr">
            <a:spAutoFit/>
          </a:bodyPr>
          <a:lstStyle/>
          <a:p>
            <a:pPr algn="l"/>
            <a:r>
              <a:rPr sz="1400" b="1" i="0">
                <a:solidFill>
                  <a:srgbClr val="FFFFFF"/>
                </a:solidFill>
                <a:latin typeface="Yu Gothic"/>
              </a:rPr>
              <a:t>受講管理表のポイント</a:t>
            </a:r>
          </a:p>
        </p:txBody>
      </p:sp>
      <p:sp>
        <p:nvSpPr>
          <p:cNvPr id="44" name="Rectangle 43"/>
          <p:cNvSpPr/>
          <p:nvPr/>
        </p:nvSpPr>
        <p:spPr>
          <a:xfrm>
            <a:off x="432000" y="5580000"/>
            <a:ext cx="11304000" cy="540000"/>
          </a:xfrm>
          <a:prstGeom prst="rect">
            <a:avLst/>
          </a:prstGeom>
          <a:solidFill>
            <a:srgbClr val="F7EC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40000" y="5616000"/>
            <a:ext cx="11088000" cy="504000"/>
          </a:xfrm>
          <a:prstGeom prst="rect">
            <a:avLst/>
          </a:prstGeom>
          <a:noFill/>
        </p:spPr>
        <p:txBody>
          <a:bodyPr wrap="square" lIns="36000" rIns="36000" tIns="18000" bIns="18000" anchor="t">
            <a:spAutoFit/>
          </a:bodyPr>
          <a:lstStyle/>
          <a:p>
            <a:pPr algn="l"/>
            <a:r>
              <a:rPr sz="1200" b="0" i="0">
                <a:solidFill>
                  <a:srgbClr val="2E3330"/>
                </a:solidFill>
                <a:latin typeface="Yu Gothic"/>
              </a:rPr>
              <a:t>■ 資格・研修の修了状況、次の更新・研修の時期、受講要件を一覧に(様式は簡単なもので可)</a:t>
            </a:r>
          </a:p>
          <a:p>
            <a:pPr algn="l"/>
            <a:r>
              <a:rPr sz="1200" b="0" i="0">
                <a:solidFill>
                  <a:srgbClr val="2E3330"/>
                </a:solidFill>
                <a:latin typeface="Yu Gothic"/>
              </a:rPr>
              <a:t>■ 年度初めに全員分を点検・更新 ― 「気づいたら期限切れ」を組織として防ぐ</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576000"/>
          </a:xfrm>
          <a:prstGeom prst="rect">
            <a:avLst/>
          </a:prstGeom>
          <a:solidFill>
            <a:srgbClr val="2947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88000" y="90000"/>
            <a:ext cx="7920000" cy="216000"/>
          </a:xfrm>
          <a:prstGeom prst="rect">
            <a:avLst/>
          </a:prstGeom>
          <a:noFill/>
        </p:spPr>
        <p:txBody>
          <a:bodyPr wrap="square" lIns="36000" rIns="36000" tIns="18000" bIns="18000" anchor="t">
            <a:spAutoFit/>
          </a:bodyPr>
          <a:lstStyle/>
          <a:p>
            <a:pPr algn="l"/>
            <a:r>
              <a:rPr sz="1100" b="1" i="0">
                <a:solidFill>
                  <a:srgbClr val="FFFFFF"/>
                </a:solidFill>
                <a:latin typeface="Yu Gothic"/>
              </a:rPr>
              <a:t>4. 計画的な人材育成</a:t>
            </a:r>
          </a:p>
        </p:txBody>
      </p:sp>
      <p:sp>
        <p:nvSpPr>
          <p:cNvPr id="4" name="TextBox 3"/>
          <p:cNvSpPr txBox="1"/>
          <p:nvPr/>
        </p:nvSpPr>
        <p:spPr>
          <a:xfrm>
            <a:off x="288000" y="684000"/>
            <a:ext cx="11616119" cy="468000"/>
          </a:xfrm>
          <a:prstGeom prst="rect">
            <a:avLst/>
          </a:prstGeom>
          <a:noFill/>
        </p:spPr>
        <p:txBody>
          <a:bodyPr wrap="square" lIns="36000" rIns="36000" tIns="18000" bIns="18000" anchor="t">
            <a:spAutoFit/>
          </a:bodyPr>
          <a:lstStyle/>
          <a:p>
            <a:pPr algn="l"/>
            <a:r>
              <a:rPr sz="2300" b="1" i="0">
                <a:solidFill>
                  <a:srgbClr val="294737"/>
                </a:solidFill>
                <a:latin typeface="Yu Gothic"/>
              </a:rPr>
              <a:t>法定研修を「人材育成計画」に組み込む</a:t>
            </a:r>
          </a:p>
        </p:txBody>
      </p:sp>
      <p:sp>
        <p:nvSpPr>
          <p:cNvPr id="5" name="Rectangle 4"/>
          <p:cNvSpPr/>
          <p:nvPr/>
        </p:nvSpPr>
        <p:spPr>
          <a:xfrm>
            <a:off x="288000" y="1152000"/>
            <a:ext cx="900000" cy="43200"/>
          </a:xfrm>
          <a:prstGeom prst="rect">
            <a:avLst/>
          </a:prstGeom>
          <a:solidFill>
            <a:srgbClr val="B377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88000" y="6570000"/>
            <a:ext cx="9720000" cy="180000"/>
          </a:xfrm>
          <a:prstGeom prst="rect">
            <a:avLst/>
          </a:prstGeom>
          <a:noFill/>
        </p:spPr>
        <p:txBody>
          <a:bodyPr wrap="square" lIns="36000" rIns="36000" tIns="18000" bIns="18000" anchor="t">
            <a:spAutoFit/>
          </a:bodyPr>
          <a:lstStyle/>
          <a:p>
            <a:pPr algn="l"/>
            <a:r>
              <a:rPr sz="900" b="0" i="0">
                <a:solidFill>
                  <a:srgbClr val="6E8C7C"/>
                </a:solidFill>
                <a:latin typeface="Yu Gothic"/>
              </a:rPr>
              <a:t>主任CM研修 / 法定研修制度改正への対応と主任CM更新研修の戦略  ※研修制度は最新情報をご確認ください</a:t>
            </a:r>
          </a:p>
        </p:txBody>
      </p:sp>
      <p:sp>
        <p:nvSpPr>
          <p:cNvPr id="7" name="TextBox 6"/>
          <p:cNvSpPr txBox="1"/>
          <p:nvPr/>
        </p:nvSpPr>
        <p:spPr>
          <a:xfrm>
            <a:off x="11112119" y="6570000"/>
            <a:ext cx="792000" cy="180000"/>
          </a:xfrm>
          <a:prstGeom prst="rect">
            <a:avLst/>
          </a:prstGeom>
          <a:noFill/>
        </p:spPr>
        <p:txBody>
          <a:bodyPr wrap="square" lIns="36000" rIns="36000" tIns="18000" bIns="18000" anchor="t">
            <a:spAutoFit/>
          </a:bodyPr>
          <a:lstStyle/>
          <a:p>
            <a:pPr algn="r"/>
            <a:r>
              <a:rPr sz="900" b="0" i="0">
                <a:solidFill>
                  <a:srgbClr val="6E8C7C"/>
                </a:solidFill>
                <a:latin typeface="Yu Gothic"/>
              </a:rPr>
              <a:t>17 / 27</a:t>
            </a:r>
          </a:p>
        </p:txBody>
      </p:sp>
      <p:sp>
        <p:nvSpPr>
          <p:cNvPr id="8" name="Rectangle 7"/>
          <p:cNvSpPr/>
          <p:nvPr/>
        </p:nvSpPr>
        <p:spPr>
          <a:xfrm>
            <a:off x="432000" y="1548000"/>
            <a:ext cx="11304000" cy="360000"/>
          </a:xfrm>
          <a:prstGeom prst="rect">
            <a:avLst/>
          </a:prstGeom>
          <a:solidFill>
            <a:srgbClr val="2947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4000" y="1584000"/>
            <a:ext cx="11160000" cy="288000"/>
          </a:xfrm>
          <a:prstGeom prst="rect">
            <a:avLst/>
          </a:prstGeom>
          <a:noFill/>
        </p:spPr>
        <p:txBody>
          <a:bodyPr wrap="square" lIns="36000" rIns="36000" tIns="18000" bIns="18000" anchor="ctr">
            <a:spAutoFit/>
          </a:bodyPr>
          <a:lstStyle/>
          <a:p>
            <a:pPr algn="l"/>
            <a:r>
              <a:rPr sz="1400" b="1" i="0">
                <a:solidFill>
                  <a:srgbClr val="FFFFFF"/>
                </a:solidFill>
                <a:latin typeface="Yu Gothic"/>
              </a:rPr>
              <a:t>法定研修は、人材育成計画の「背骨」</a:t>
            </a:r>
          </a:p>
        </p:txBody>
      </p:sp>
      <p:sp>
        <p:nvSpPr>
          <p:cNvPr id="10" name="Rectangle 9"/>
          <p:cNvSpPr/>
          <p:nvPr/>
        </p:nvSpPr>
        <p:spPr>
          <a:xfrm>
            <a:off x="432000" y="1908000"/>
            <a:ext cx="11304000" cy="467999"/>
          </a:xfrm>
          <a:prstGeom prst="rect">
            <a:avLst/>
          </a:prstGeom>
          <a:solidFill>
            <a:srgbClr val="E7EC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0000" y="1944000"/>
            <a:ext cx="11088000" cy="431999"/>
          </a:xfrm>
          <a:prstGeom prst="rect">
            <a:avLst/>
          </a:prstGeom>
          <a:noFill/>
        </p:spPr>
        <p:txBody>
          <a:bodyPr wrap="square" lIns="36000" rIns="36000" tIns="18000" bIns="18000" anchor="t">
            <a:spAutoFit/>
          </a:bodyPr>
          <a:lstStyle/>
          <a:p>
            <a:pPr algn="l"/>
            <a:r>
              <a:rPr sz="1200" b="0" i="0">
                <a:solidFill>
                  <a:srgbClr val="2E3330"/>
                </a:solidFill>
                <a:latin typeface="Yu Gothic"/>
              </a:rPr>
              <a:t>法定研修の受講時期は決まっている ― だからこそ、それを軸に</a:t>
            </a:r>
          </a:p>
          <a:p>
            <a:pPr algn="l"/>
            <a:r>
              <a:rPr sz="1200" b="0" i="0">
                <a:solidFill>
                  <a:srgbClr val="2E3330"/>
                </a:solidFill>
                <a:latin typeface="Yu Gothic"/>
              </a:rPr>
              <a:t>事業所の人材育成計画を組み立てると、計画が現実的で続けやすくなる。</a:t>
            </a:r>
          </a:p>
        </p:txBody>
      </p:sp>
      <p:sp>
        <p:nvSpPr>
          <p:cNvPr id="12" name="Rectangle 11"/>
          <p:cNvSpPr/>
          <p:nvPr/>
        </p:nvSpPr>
        <p:spPr>
          <a:xfrm>
            <a:off x="432000" y="2628000"/>
            <a:ext cx="5580000" cy="360000"/>
          </a:xfrm>
          <a:prstGeom prst="rect">
            <a:avLst/>
          </a:prstGeom>
          <a:solidFill>
            <a:srgbClr val="4063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4000" y="2664000"/>
            <a:ext cx="5436000" cy="288000"/>
          </a:xfrm>
          <a:prstGeom prst="rect">
            <a:avLst/>
          </a:prstGeom>
          <a:noFill/>
        </p:spPr>
        <p:txBody>
          <a:bodyPr wrap="square" lIns="36000" rIns="36000" tIns="18000" bIns="18000" anchor="ctr">
            <a:spAutoFit/>
          </a:bodyPr>
          <a:lstStyle/>
          <a:p>
            <a:pPr algn="l"/>
            <a:r>
              <a:rPr sz="1400" b="1" i="0">
                <a:solidFill>
                  <a:srgbClr val="FFFFFF"/>
                </a:solidFill>
                <a:latin typeface="Yu Gothic"/>
              </a:rPr>
              <a:t>育成計画に盛り込む要素</a:t>
            </a:r>
          </a:p>
        </p:txBody>
      </p:sp>
      <p:sp>
        <p:nvSpPr>
          <p:cNvPr id="14" name="Rectangle 13"/>
          <p:cNvSpPr/>
          <p:nvPr/>
        </p:nvSpPr>
        <p:spPr>
          <a:xfrm>
            <a:off x="432000" y="2988000"/>
            <a:ext cx="5580000" cy="1620000"/>
          </a:xfrm>
          <a:prstGeom prst="rect">
            <a:avLst/>
          </a:prstGeom>
          <a:solidFill>
            <a:srgbClr val="E7EC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0000" y="3024000"/>
            <a:ext cx="5364000" cy="1584000"/>
          </a:xfrm>
          <a:prstGeom prst="rect">
            <a:avLst/>
          </a:prstGeom>
          <a:noFill/>
        </p:spPr>
        <p:txBody>
          <a:bodyPr wrap="square" lIns="36000" rIns="36000" tIns="18000" bIns="18000" anchor="t">
            <a:spAutoFit/>
          </a:bodyPr>
          <a:lstStyle/>
          <a:p>
            <a:pPr algn="l"/>
            <a:r>
              <a:rPr sz="1200" b="0" i="0">
                <a:solidFill>
                  <a:srgbClr val="2E3330"/>
                </a:solidFill>
                <a:latin typeface="Yu Gothic"/>
              </a:rPr>
              <a:t>■ 各職員の法定研修の受講予定</a:t>
            </a:r>
          </a:p>
          <a:p>
            <a:pPr algn="l"/>
            <a:r>
              <a:rPr sz="1200" b="0" i="0">
                <a:solidFill>
                  <a:srgbClr val="2E3330"/>
                </a:solidFill>
                <a:latin typeface="Yu Gothic"/>
              </a:rPr>
              <a:t/>
            </a:r>
          </a:p>
          <a:p>
            <a:pPr algn="l"/>
            <a:r>
              <a:rPr sz="1200" b="0" i="0">
                <a:solidFill>
                  <a:srgbClr val="2E3330"/>
                </a:solidFill>
                <a:latin typeface="Yu Gothic"/>
              </a:rPr>
              <a:t>■ 主任CMをめざす職員の育成ステップ</a:t>
            </a:r>
          </a:p>
          <a:p>
            <a:pPr algn="l"/>
            <a:r>
              <a:rPr sz="1200" b="0" i="0">
                <a:solidFill>
                  <a:srgbClr val="2E3330"/>
                </a:solidFill>
                <a:latin typeface="Yu Gothic"/>
              </a:rPr>
              <a:t/>
            </a:r>
          </a:p>
          <a:p>
            <a:pPr algn="l"/>
            <a:r>
              <a:rPr sz="1200" b="0" i="0">
                <a:solidFill>
                  <a:srgbClr val="2E3330"/>
                </a:solidFill>
                <a:latin typeface="Yu Gothic"/>
              </a:rPr>
              <a:t>■ 事業所内研修・OJTの年間計画</a:t>
            </a:r>
          </a:p>
          <a:p>
            <a:pPr algn="l"/>
            <a:r>
              <a:rPr sz="1200" b="0" i="0">
                <a:solidFill>
                  <a:srgbClr val="2E3330"/>
                </a:solidFill>
                <a:latin typeface="Yu Gothic"/>
              </a:rPr>
              <a:t/>
            </a:r>
          </a:p>
          <a:p>
            <a:pPr algn="l"/>
            <a:r>
              <a:rPr sz="1200" b="0" i="0">
                <a:solidFill>
                  <a:srgbClr val="2E3330"/>
                </a:solidFill>
                <a:latin typeface="Yu Gothic"/>
              </a:rPr>
              <a:t>■ 外部研修・自己研鑽の機会</a:t>
            </a:r>
          </a:p>
          <a:p>
            <a:pPr algn="l"/>
            <a:r>
              <a:rPr sz="1200" b="0" i="0">
                <a:solidFill>
                  <a:srgbClr val="2E3330"/>
                </a:solidFill>
                <a:latin typeface="Yu Gothic"/>
              </a:rPr>
              <a:t/>
            </a:r>
          </a:p>
          <a:p>
            <a:pPr algn="l"/>
            <a:r>
              <a:rPr sz="1200" b="0" i="0">
                <a:solidFill>
                  <a:srgbClr val="2E3330"/>
                </a:solidFill>
                <a:latin typeface="Yu Gothic"/>
              </a:rPr>
              <a:t>■ 研修費用・受講中の体制の見込み</a:t>
            </a:r>
          </a:p>
        </p:txBody>
      </p:sp>
      <p:sp>
        <p:nvSpPr>
          <p:cNvPr id="16" name="Rectangle 15"/>
          <p:cNvSpPr/>
          <p:nvPr/>
        </p:nvSpPr>
        <p:spPr>
          <a:xfrm>
            <a:off x="6300000" y="2628000"/>
            <a:ext cx="5400000" cy="360000"/>
          </a:xfrm>
          <a:prstGeom prst="rect">
            <a:avLst/>
          </a:prstGeom>
          <a:solidFill>
            <a:srgbClr val="B377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72000" y="2664000"/>
            <a:ext cx="5256000" cy="288000"/>
          </a:xfrm>
          <a:prstGeom prst="rect">
            <a:avLst/>
          </a:prstGeom>
          <a:noFill/>
        </p:spPr>
        <p:txBody>
          <a:bodyPr wrap="square" lIns="36000" rIns="36000" tIns="18000" bIns="18000" anchor="ctr">
            <a:spAutoFit/>
          </a:bodyPr>
          <a:lstStyle/>
          <a:p>
            <a:pPr algn="l"/>
            <a:r>
              <a:rPr sz="1400" b="1" i="0">
                <a:solidFill>
                  <a:srgbClr val="FFFFFF"/>
                </a:solidFill>
                <a:latin typeface="Yu Gothic"/>
              </a:rPr>
              <a:t>「次の主任CM」を計画的に育てる</a:t>
            </a:r>
          </a:p>
        </p:txBody>
      </p:sp>
      <p:sp>
        <p:nvSpPr>
          <p:cNvPr id="18" name="Rectangle 17"/>
          <p:cNvSpPr/>
          <p:nvPr/>
        </p:nvSpPr>
        <p:spPr>
          <a:xfrm>
            <a:off x="6300000" y="2988000"/>
            <a:ext cx="5400000" cy="1620000"/>
          </a:xfrm>
          <a:prstGeom prst="rect">
            <a:avLst/>
          </a:prstGeom>
          <a:solidFill>
            <a:srgbClr val="F7EC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8000" y="3024000"/>
            <a:ext cx="5184000" cy="1584000"/>
          </a:xfrm>
          <a:prstGeom prst="rect">
            <a:avLst/>
          </a:prstGeom>
          <a:noFill/>
        </p:spPr>
        <p:txBody>
          <a:bodyPr wrap="square" lIns="36000" rIns="36000" tIns="18000" bIns="18000" anchor="t">
            <a:spAutoFit/>
          </a:bodyPr>
          <a:lstStyle/>
          <a:p>
            <a:pPr algn="l"/>
            <a:r>
              <a:rPr sz="1200" b="0" i="0">
                <a:solidFill>
                  <a:srgbClr val="2E3330"/>
                </a:solidFill>
                <a:latin typeface="Yu Gothic"/>
              </a:rPr>
              <a:t>■ 主任研修の受講要件(実務経験等)を</a:t>
            </a:r>
          </a:p>
          <a:p>
            <a:pPr algn="l"/>
            <a:r>
              <a:rPr sz="1200" b="0" i="0">
                <a:solidFill>
                  <a:srgbClr val="2E3330"/>
                </a:solidFill>
                <a:latin typeface="Yu Gothic"/>
              </a:rPr>
              <a:t>   逆算し、対象者を早期に見極める</a:t>
            </a:r>
          </a:p>
          <a:p>
            <a:pPr algn="l"/>
            <a:r>
              <a:rPr sz="1200" b="0" i="0">
                <a:solidFill>
                  <a:srgbClr val="2E3330"/>
                </a:solidFill>
                <a:latin typeface="Yu Gothic"/>
              </a:rPr>
              <a:t/>
            </a:r>
          </a:p>
          <a:p>
            <a:pPr algn="l"/>
            <a:r>
              <a:rPr sz="1200" b="0" i="0">
                <a:solidFill>
                  <a:srgbClr val="2E3330"/>
                </a:solidFill>
                <a:latin typeface="Yu Gothic"/>
              </a:rPr>
              <a:t>■ 要件を満たせるよう、経験の機会を配分</a:t>
            </a:r>
          </a:p>
          <a:p>
            <a:pPr algn="l"/>
            <a:r>
              <a:rPr sz="1200" b="0" i="0">
                <a:solidFill>
                  <a:srgbClr val="2E3330"/>
                </a:solidFill>
                <a:latin typeface="Yu Gothic"/>
              </a:rPr>
              <a:t/>
            </a:r>
          </a:p>
          <a:p>
            <a:pPr algn="l"/>
            <a:r>
              <a:rPr sz="1200" b="0" i="0">
                <a:solidFill>
                  <a:srgbClr val="2E3330"/>
                </a:solidFill>
                <a:latin typeface="Yu Gothic"/>
              </a:rPr>
              <a:t>■ 主任研修の前から、指導・育成の経験を</a:t>
            </a:r>
          </a:p>
          <a:p>
            <a:pPr algn="l"/>
            <a:r>
              <a:rPr sz="1200" b="0" i="0">
                <a:solidFill>
                  <a:srgbClr val="2E3330"/>
                </a:solidFill>
                <a:latin typeface="Yu Gothic"/>
              </a:rPr>
              <a:t/>
            </a:r>
          </a:p>
          <a:p>
            <a:pPr algn="l"/>
            <a:r>
              <a:rPr sz="1200" b="0" i="0">
                <a:solidFill>
                  <a:srgbClr val="2E3330"/>
                </a:solidFill>
                <a:latin typeface="Yu Gothic"/>
              </a:rPr>
              <a:t>■ 主任CMの「複数配置」「後継」を見据える</a:t>
            </a:r>
          </a:p>
        </p:txBody>
      </p:sp>
      <p:sp>
        <p:nvSpPr>
          <p:cNvPr id="20" name="TextBox 19"/>
          <p:cNvSpPr txBox="1"/>
          <p:nvPr/>
        </p:nvSpPr>
        <p:spPr>
          <a:xfrm>
            <a:off x="432000" y="4788000"/>
            <a:ext cx="11328119" cy="540000"/>
          </a:xfrm>
          <a:prstGeom prst="rect">
            <a:avLst/>
          </a:prstGeom>
          <a:noFill/>
        </p:spPr>
        <p:txBody>
          <a:bodyPr wrap="square" lIns="36000" rIns="36000" tIns="18000" bIns="18000" anchor="t">
            <a:spAutoFit/>
          </a:bodyPr>
          <a:lstStyle/>
          <a:p>
            <a:pPr algn="l">
              <a:lnSpc>
                <a:spcPct val="140000"/>
              </a:lnSpc>
            </a:pPr>
            <a:r>
              <a:rPr sz="1300" b="1" i="0">
                <a:solidFill>
                  <a:srgbClr val="294737"/>
                </a:solidFill>
                <a:latin typeface="Yu Gothic"/>
              </a:rPr>
              <a:t>▶ 人材育成計画は「立派な書類」より「毎年見直し、実際に使われる計画」であることが大切。</a:t>
            </a:r>
          </a:p>
          <a:p>
            <a:pPr algn="l">
              <a:lnSpc>
                <a:spcPct val="140000"/>
              </a:lnSpc>
            </a:pPr>
            <a:r>
              <a:rPr sz="1300" b="1" i="0">
                <a:solidFill>
                  <a:srgbClr val="294737"/>
                </a:solidFill>
                <a:latin typeface="Yu Gothic"/>
              </a:rPr>
              <a:t>▶ 法定研修の予定を軸にすれば、絵に描いた餅になりにくい。</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576000"/>
          </a:xfrm>
          <a:prstGeom prst="rect">
            <a:avLst/>
          </a:prstGeom>
          <a:solidFill>
            <a:srgbClr val="2947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88000" y="90000"/>
            <a:ext cx="7920000" cy="216000"/>
          </a:xfrm>
          <a:prstGeom prst="rect">
            <a:avLst/>
          </a:prstGeom>
          <a:noFill/>
        </p:spPr>
        <p:txBody>
          <a:bodyPr wrap="square" lIns="36000" rIns="36000" tIns="18000" bIns="18000" anchor="t">
            <a:spAutoFit/>
          </a:bodyPr>
          <a:lstStyle/>
          <a:p>
            <a:pPr algn="l"/>
            <a:r>
              <a:rPr sz="1100" b="1" i="0">
                <a:solidFill>
                  <a:srgbClr val="FFFFFF"/>
                </a:solidFill>
                <a:latin typeface="Yu Gothic"/>
              </a:rPr>
              <a:t>4. 計画的な人材育成</a:t>
            </a:r>
          </a:p>
        </p:txBody>
      </p:sp>
      <p:sp>
        <p:nvSpPr>
          <p:cNvPr id="4" name="TextBox 3"/>
          <p:cNvSpPr txBox="1"/>
          <p:nvPr/>
        </p:nvSpPr>
        <p:spPr>
          <a:xfrm>
            <a:off x="288000" y="684000"/>
            <a:ext cx="11616119" cy="468000"/>
          </a:xfrm>
          <a:prstGeom prst="rect">
            <a:avLst/>
          </a:prstGeom>
          <a:noFill/>
        </p:spPr>
        <p:txBody>
          <a:bodyPr wrap="square" lIns="36000" rIns="36000" tIns="18000" bIns="18000" anchor="t">
            <a:spAutoFit/>
          </a:bodyPr>
          <a:lstStyle/>
          <a:p>
            <a:pPr algn="l"/>
            <a:r>
              <a:rPr sz="2300" b="1" i="0">
                <a:solidFill>
                  <a:srgbClr val="294737"/>
                </a:solidFill>
                <a:latin typeface="Yu Gothic"/>
              </a:rPr>
              <a:t>研修の「費用」と「時間」をどう確保するか</a:t>
            </a:r>
          </a:p>
        </p:txBody>
      </p:sp>
      <p:sp>
        <p:nvSpPr>
          <p:cNvPr id="5" name="Rectangle 4"/>
          <p:cNvSpPr/>
          <p:nvPr/>
        </p:nvSpPr>
        <p:spPr>
          <a:xfrm>
            <a:off x="288000" y="1152000"/>
            <a:ext cx="900000" cy="43200"/>
          </a:xfrm>
          <a:prstGeom prst="rect">
            <a:avLst/>
          </a:prstGeom>
          <a:solidFill>
            <a:srgbClr val="B377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88000" y="6570000"/>
            <a:ext cx="9720000" cy="180000"/>
          </a:xfrm>
          <a:prstGeom prst="rect">
            <a:avLst/>
          </a:prstGeom>
          <a:noFill/>
        </p:spPr>
        <p:txBody>
          <a:bodyPr wrap="square" lIns="36000" rIns="36000" tIns="18000" bIns="18000" anchor="t">
            <a:spAutoFit/>
          </a:bodyPr>
          <a:lstStyle/>
          <a:p>
            <a:pPr algn="l"/>
            <a:r>
              <a:rPr sz="900" b="0" i="0">
                <a:solidFill>
                  <a:srgbClr val="6E8C7C"/>
                </a:solidFill>
                <a:latin typeface="Yu Gothic"/>
              </a:rPr>
              <a:t>主任CM研修 / 法定研修制度改正への対応と主任CM更新研修の戦略  ※研修制度は最新情報をご確認ください</a:t>
            </a:r>
          </a:p>
        </p:txBody>
      </p:sp>
      <p:sp>
        <p:nvSpPr>
          <p:cNvPr id="7" name="TextBox 6"/>
          <p:cNvSpPr txBox="1"/>
          <p:nvPr/>
        </p:nvSpPr>
        <p:spPr>
          <a:xfrm>
            <a:off x="11112119" y="6570000"/>
            <a:ext cx="792000" cy="180000"/>
          </a:xfrm>
          <a:prstGeom prst="rect">
            <a:avLst/>
          </a:prstGeom>
          <a:noFill/>
        </p:spPr>
        <p:txBody>
          <a:bodyPr wrap="square" lIns="36000" rIns="36000" tIns="18000" bIns="18000" anchor="t">
            <a:spAutoFit/>
          </a:bodyPr>
          <a:lstStyle/>
          <a:p>
            <a:pPr algn="r"/>
            <a:r>
              <a:rPr sz="900" b="0" i="0">
                <a:solidFill>
                  <a:srgbClr val="6E8C7C"/>
                </a:solidFill>
                <a:latin typeface="Yu Gothic"/>
              </a:rPr>
              <a:t>18 / 27</a:t>
            </a:r>
          </a:p>
        </p:txBody>
      </p:sp>
      <p:sp>
        <p:nvSpPr>
          <p:cNvPr id="8" name="Rectangle 7"/>
          <p:cNvSpPr/>
          <p:nvPr/>
        </p:nvSpPr>
        <p:spPr>
          <a:xfrm>
            <a:off x="432000" y="1620000"/>
            <a:ext cx="5580000" cy="360000"/>
          </a:xfrm>
          <a:prstGeom prst="rect">
            <a:avLst/>
          </a:prstGeom>
          <a:solidFill>
            <a:srgbClr val="4063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4000" y="1656000"/>
            <a:ext cx="5436000" cy="288000"/>
          </a:xfrm>
          <a:prstGeom prst="rect">
            <a:avLst/>
          </a:prstGeom>
          <a:noFill/>
        </p:spPr>
        <p:txBody>
          <a:bodyPr wrap="square" lIns="36000" rIns="36000" tIns="18000" bIns="18000" anchor="ctr">
            <a:spAutoFit/>
          </a:bodyPr>
          <a:lstStyle/>
          <a:p>
            <a:pPr algn="l"/>
            <a:r>
              <a:rPr sz="1400" b="1" i="0">
                <a:solidFill>
                  <a:srgbClr val="FFFFFF"/>
                </a:solidFill>
                <a:latin typeface="Yu Gothic"/>
              </a:rPr>
              <a:t>費用の確保</a:t>
            </a:r>
          </a:p>
        </p:txBody>
      </p:sp>
      <p:sp>
        <p:nvSpPr>
          <p:cNvPr id="10" name="Rectangle 9"/>
          <p:cNvSpPr/>
          <p:nvPr/>
        </p:nvSpPr>
        <p:spPr>
          <a:xfrm>
            <a:off x="432000" y="1980000"/>
            <a:ext cx="5580000" cy="1800000"/>
          </a:xfrm>
          <a:prstGeom prst="rect">
            <a:avLst/>
          </a:prstGeom>
          <a:solidFill>
            <a:srgbClr val="E7EC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0000" y="2016000"/>
            <a:ext cx="5364000" cy="1764000"/>
          </a:xfrm>
          <a:prstGeom prst="rect">
            <a:avLst/>
          </a:prstGeom>
          <a:noFill/>
        </p:spPr>
        <p:txBody>
          <a:bodyPr wrap="square" lIns="36000" rIns="36000" tIns="18000" bIns="18000" anchor="t">
            <a:spAutoFit/>
          </a:bodyPr>
          <a:lstStyle/>
          <a:p>
            <a:pPr algn="l"/>
            <a:r>
              <a:rPr sz="1200" b="0" i="0">
                <a:solidFill>
                  <a:srgbClr val="2E3330"/>
                </a:solidFill>
                <a:latin typeface="Yu Gothic"/>
              </a:rPr>
              <a:t>■ 受講料・テキスト代・交通費等を把握</a:t>
            </a:r>
          </a:p>
          <a:p>
            <a:pPr algn="l"/>
            <a:r>
              <a:rPr sz="1200" b="0" i="0">
                <a:solidFill>
                  <a:srgbClr val="2E3330"/>
                </a:solidFill>
                <a:latin typeface="Yu Gothic"/>
              </a:rPr>
              <a:t/>
            </a:r>
          </a:p>
          <a:p>
            <a:pPr algn="l"/>
            <a:r>
              <a:rPr sz="1200" b="0" i="0">
                <a:solidFill>
                  <a:srgbClr val="2E3330"/>
                </a:solidFill>
                <a:latin typeface="Yu Gothic"/>
              </a:rPr>
              <a:t>■ 年間の研修費用を予算に組み込む</a:t>
            </a:r>
          </a:p>
          <a:p>
            <a:pPr algn="l"/>
            <a:r>
              <a:rPr sz="1200" b="0" i="0">
                <a:solidFill>
                  <a:srgbClr val="2E3330"/>
                </a:solidFill>
                <a:latin typeface="Yu Gothic"/>
              </a:rPr>
              <a:t/>
            </a:r>
          </a:p>
          <a:p>
            <a:pPr algn="l"/>
            <a:r>
              <a:rPr sz="1200" b="0" i="0">
                <a:solidFill>
                  <a:srgbClr val="2E3330"/>
                </a:solidFill>
                <a:latin typeface="Yu Gothic"/>
              </a:rPr>
              <a:t>■ 「誰が負担するか」を明確にする</a:t>
            </a:r>
          </a:p>
          <a:p>
            <a:pPr algn="l"/>
            <a:r>
              <a:rPr sz="1200" b="0" i="0">
                <a:solidFill>
                  <a:srgbClr val="2E3330"/>
                </a:solidFill>
                <a:latin typeface="Yu Gothic"/>
              </a:rPr>
              <a:t>   (事業所負担/個人負担/折半 等)</a:t>
            </a:r>
          </a:p>
          <a:p>
            <a:pPr algn="l"/>
            <a:r>
              <a:rPr sz="1200" b="0" i="0">
                <a:solidFill>
                  <a:srgbClr val="2E3330"/>
                </a:solidFill>
                <a:latin typeface="Yu Gothic"/>
              </a:rPr>
              <a:t/>
            </a:r>
          </a:p>
          <a:p>
            <a:pPr algn="l"/>
            <a:r>
              <a:rPr sz="1200" b="0" i="0">
                <a:solidFill>
                  <a:srgbClr val="2E3330"/>
                </a:solidFill>
                <a:latin typeface="Yu Gothic"/>
              </a:rPr>
              <a:t>■ 活用できる助成・支援制度がないか確認</a:t>
            </a:r>
          </a:p>
          <a:p>
            <a:pPr algn="l"/>
            <a:r>
              <a:rPr sz="1200" b="0" i="0">
                <a:solidFill>
                  <a:srgbClr val="2E3330"/>
                </a:solidFill>
                <a:latin typeface="Yu Gothic"/>
              </a:rPr>
              <a:t/>
            </a:r>
          </a:p>
          <a:p>
            <a:pPr algn="l"/>
            <a:r>
              <a:rPr sz="1200" b="0" i="0">
                <a:solidFill>
                  <a:srgbClr val="2E3330"/>
                </a:solidFill>
                <a:latin typeface="Yu Gothic"/>
              </a:rPr>
              <a:t>■ 費用負担のルールを文書化しておく</a:t>
            </a:r>
          </a:p>
        </p:txBody>
      </p:sp>
      <p:sp>
        <p:nvSpPr>
          <p:cNvPr id="12" name="Rectangle 11"/>
          <p:cNvSpPr/>
          <p:nvPr/>
        </p:nvSpPr>
        <p:spPr>
          <a:xfrm>
            <a:off x="6300000" y="1620000"/>
            <a:ext cx="5400000" cy="360000"/>
          </a:xfrm>
          <a:prstGeom prst="rect">
            <a:avLst/>
          </a:prstGeom>
          <a:solidFill>
            <a:srgbClr val="2C6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72000" y="1656000"/>
            <a:ext cx="5256000" cy="288000"/>
          </a:xfrm>
          <a:prstGeom prst="rect">
            <a:avLst/>
          </a:prstGeom>
          <a:noFill/>
        </p:spPr>
        <p:txBody>
          <a:bodyPr wrap="square" lIns="36000" rIns="36000" tIns="18000" bIns="18000" anchor="ctr">
            <a:spAutoFit/>
          </a:bodyPr>
          <a:lstStyle/>
          <a:p>
            <a:pPr algn="l"/>
            <a:r>
              <a:rPr sz="1400" b="1" i="0">
                <a:solidFill>
                  <a:srgbClr val="FFFFFF"/>
                </a:solidFill>
                <a:latin typeface="Yu Gothic"/>
              </a:rPr>
              <a:t>時間の確保</a:t>
            </a:r>
          </a:p>
        </p:txBody>
      </p:sp>
      <p:sp>
        <p:nvSpPr>
          <p:cNvPr id="14" name="Rectangle 13"/>
          <p:cNvSpPr/>
          <p:nvPr/>
        </p:nvSpPr>
        <p:spPr>
          <a:xfrm>
            <a:off x="6300000" y="1980000"/>
            <a:ext cx="5400000" cy="1800000"/>
          </a:xfrm>
          <a:prstGeom prst="rect">
            <a:avLst/>
          </a:prstGeom>
          <a:solidFill>
            <a:srgbClr val="DFEA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8000" y="2016000"/>
            <a:ext cx="5184000" cy="1764000"/>
          </a:xfrm>
          <a:prstGeom prst="rect">
            <a:avLst/>
          </a:prstGeom>
          <a:noFill/>
        </p:spPr>
        <p:txBody>
          <a:bodyPr wrap="square" lIns="36000" rIns="36000" tIns="18000" bIns="18000" anchor="t">
            <a:spAutoFit/>
          </a:bodyPr>
          <a:lstStyle/>
          <a:p>
            <a:pPr algn="l"/>
            <a:r>
              <a:rPr sz="1200" b="0" i="0">
                <a:solidFill>
                  <a:srgbClr val="2E3330"/>
                </a:solidFill>
                <a:latin typeface="Yu Gothic"/>
              </a:rPr>
              <a:t>■ 研修日を「業務予定」として確保する</a:t>
            </a:r>
          </a:p>
          <a:p>
            <a:pPr algn="l"/>
            <a:r>
              <a:rPr sz="1200" b="0" i="0">
                <a:solidFill>
                  <a:srgbClr val="2E3330"/>
                </a:solidFill>
                <a:latin typeface="Yu Gothic"/>
              </a:rPr>
              <a:t/>
            </a:r>
          </a:p>
          <a:p>
            <a:pPr algn="l"/>
            <a:r>
              <a:rPr sz="1200" b="0" i="0">
                <a:solidFill>
                  <a:srgbClr val="2E3330"/>
                </a:solidFill>
                <a:latin typeface="Yu Gothic"/>
              </a:rPr>
              <a:t>■ 受講中の業務代替を組織で準備</a:t>
            </a:r>
          </a:p>
          <a:p>
            <a:pPr algn="l"/>
            <a:r>
              <a:rPr sz="1200" b="0" i="0">
                <a:solidFill>
                  <a:srgbClr val="2E3330"/>
                </a:solidFill>
                <a:latin typeface="Yu Gothic"/>
              </a:rPr>
              <a:t/>
            </a:r>
          </a:p>
          <a:p>
            <a:pPr algn="l"/>
            <a:r>
              <a:rPr sz="1200" b="0" i="0">
                <a:solidFill>
                  <a:srgbClr val="2E3330"/>
                </a:solidFill>
                <a:latin typeface="Yu Gothic"/>
              </a:rPr>
              <a:t>■ 年間で受講が重ならないよう調整</a:t>
            </a:r>
          </a:p>
          <a:p>
            <a:pPr algn="l"/>
            <a:r>
              <a:rPr sz="1200" b="0" i="0">
                <a:solidFill>
                  <a:srgbClr val="2E3330"/>
                </a:solidFill>
                <a:latin typeface="Yu Gothic"/>
              </a:rPr>
              <a:t/>
            </a:r>
          </a:p>
          <a:p>
            <a:pPr algn="l"/>
            <a:r>
              <a:rPr sz="1200" b="0" i="0">
                <a:solidFill>
                  <a:srgbClr val="2E3330"/>
                </a:solidFill>
                <a:latin typeface="Yu Gothic"/>
              </a:rPr>
              <a:t>■ オンライン研修等、柔軟な受講方法も活用</a:t>
            </a:r>
          </a:p>
          <a:p>
            <a:pPr algn="l"/>
            <a:r>
              <a:rPr sz="1200" b="0" i="0">
                <a:solidFill>
                  <a:srgbClr val="2E3330"/>
                </a:solidFill>
                <a:latin typeface="Yu Gothic"/>
              </a:rPr>
              <a:t/>
            </a:r>
          </a:p>
          <a:p>
            <a:pPr algn="l"/>
            <a:r>
              <a:rPr sz="1200" b="0" i="0">
                <a:solidFill>
                  <a:srgbClr val="2E3330"/>
                </a:solidFill>
                <a:latin typeface="Yu Gothic"/>
              </a:rPr>
              <a:t>■ 「行きたくても行けない」をなくす</a:t>
            </a:r>
          </a:p>
        </p:txBody>
      </p:sp>
      <p:sp>
        <p:nvSpPr>
          <p:cNvPr id="16" name="Rectangle 15"/>
          <p:cNvSpPr/>
          <p:nvPr/>
        </p:nvSpPr>
        <p:spPr>
          <a:xfrm>
            <a:off x="432000" y="3960000"/>
            <a:ext cx="11304000" cy="360000"/>
          </a:xfrm>
          <a:prstGeom prst="rect">
            <a:avLst/>
          </a:prstGeom>
          <a:solidFill>
            <a:srgbClr val="2947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4000" y="3996000"/>
            <a:ext cx="11160000" cy="288000"/>
          </a:xfrm>
          <a:prstGeom prst="rect">
            <a:avLst/>
          </a:prstGeom>
          <a:noFill/>
        </p:spPr>
        <p:txBody>
          <a:bodyPr wrap="square" lIns="36000" rIns="36000" tIns="18000" bIns="18000" anchor="ctr">
            <a:spAutoFit/>
          </a:bodyPr>
          <a:lstStyle/>
          <a:p>
            <a:pPr algn="l"/>
            <a:r>
              <a:rPr sz="1400" b="1" i="0">
                <a:solidFill>
                  <a:srgbClr val="FFFFFF"/>
                </a:solidFill>
                <a:latin typeface="Yu Gothic"/>
              </a:rPr>
              <a:t>「研修に投資する」という経営判断</a:t>
            </a:r>
          </a:p>
        </p:txBody>
      </p:sp>
      <p:sp>
        <p:nvSpPr>
          <p:cNvPr id="18" name="Rectangle 17"/>
          <p:cNvSpPr/>
          <p:nvPr/>
        </p:nvSpPr>
        <p:spPr>
          <a:xfrm>
            <a:off x="432000" y="4320000"/>
            <a:ext cx="11304000" cy="1800000"/>
          </a:xfrm>
          <a:prstGeom prst="rect">
            <a:avLst/>
          </a:prstGeom>
          <a:solidFill>
            <a:srgbClr val="E7EC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0000" y="4356000"/>
            <a:ext cx="11088000" cy="1764000"/>
          </a:xfrm>
          <a:prstGeom prst="rect">
            <a:avLst/>
          </a:prstGeom>
          <a:noFill/>
        </p:spPr>
        <p:txBody>
          <a:bodyPr wrap="square" lIns="36000" rIns="36000" tIns="18000" bIns="18000" anchor="t">
            <a:spAutoFit/>
          </a:bodyPr>
          <a:lstStyle/>
          <a:p>
            <a:pPr algn="l"/>
            <a:r>
              <a:rPr sz="1300" b="0" i="0">
                <a:solidFill>
                  <a:srgbClr val="2E3330"/>
                </a:solidFill>
                <a:latin typeface="Yu Gothic"/>
              </a:rPr>
              <a:t>■ 研修の費用・時間は「コスト」ではなく、人材と事業所の質への「投資」</a:t>
            </a:r>
          </a:p>
          <a:p>
            <a:pPr algn="l"/>
            <a:r>
              <a:rPr sz="1300" b="0" i="0">
                <a:solidFill>
                  <a:srgbClr val="2E3330"/>
                </a:solidFill>
                <a:latin typeface="Yu Gothic"/>
              </a:rPr>
              <a:t/>
            </a:r>
          </a:p>
          <a:p>
            <a:pPr algn="l"/>
            <a:r>
              <a:rPr sz="1300" b="0" i="0">
                <a:solidFill>
                  <a:srgbClr val="2E3330"/>
                </a:solidFill>
                <a:latin typeface="Yu Gothic"/>
              </a:rPr>
              <a:t>■ 研修を受けやすい事業所は、職員の定着・採用の面でも強みになる</a:t>
            </a:r>
          </a:p>
          <a:p>
            <a:pPr algn="l"/>
            <a:r>
              <a:rPr sz="1300" b="0" i="0">
                <a:solidFill>
                  <a:srgbClr val="2E3330"/>
                </a:solidFill>
                <a:latin typeface="Yu Gothic"/>
              </a:rPr>
              <a:t/>
            </a:r>
          </a:p>
          <a:p>
            <a:pPr algn="l"/>
            <a:r>
              <a:rPr sz="1300" b="0" i="0">
                <a:solidFill>
                  <a:srgbClr val="2E3330"/>
                </a:solidFill>
                <a:latin typeface="Yu Gothic"/>
              </a:rPr>
              <a:t>■ 主任CMは、研修の意義を管理者・経営層に伝え、必要な資源の確保を後押しする</a:t>
            </a:r>
          </a:p>
          <a:p>
            <a:pPr algn="l"/>
            <a:r>
              <a:rPr sz="1300" b="0" i="0">
                <a:solidFill>
                  <a:srgbClr val="2E3330"/>
                </a:solidFill>
                <a:latin typeface="Yu Gothic"/>
              </a:rPr>
              <a:t/>
            </a:r>
          </a:p>
          <a:p>
            <a:pPr algn="l"/>
            <a:r>
              <a:rPr sz="1300" b="0" i="0">
                <a:solidFill>
                  <a:srgbClr val="2E3330"/>
                </a:solidFill>
                <a:latin typeface="Yu Gothic"/>
              </a:rPr>
              <a:t>■ 「育てる事業所」であることが、これからの人材獲得競争での生き残りにつながる</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6858000"/>
          </a:xfrm>
          <a:prstGeom prst="rect">
            <a:avLst/>
          </a:prstGeom>
          <a:solidFill>
            <a:srgbClr val="2947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060000"/>
            <a:ext cx="12192119" cy="36000"/>
          </a:xfrm>
          <a:prstGeom prst="rect">
            <a:avLst/>
          </a:prstGeom>
          <a:solidFill>
            <a:srgbClr val="B377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20000" y="2340000"/>
            <a:ext cx="10752119" cy="540000"/>
          </a:xfrm>
          <a:prstGeom prst="rect">
            <a:avLst/>
          </a:prstGeom>
          <a:noFill/>
        </p:spPr>
        <p:txBody>
          <a:bodyPr wrap="square" lIns="36000" rIns="36000" tIns="18000" bIns="18000" anchor="t">
            <a:spAutoFit/>
          </a:bodyPr>
          <a:lstStyle/>
          <a:p>
            <a:pPr algn="ctr"/>
            <a:r>
              <a:rPr sz="2200" b="1" i="0">
                <a:solidFill>
                  <a:srgbClr val="B37739"/>
                </a:solidFill>
                <a:latin typeface="Yu Gothic"/>
              </a:rPr>
              <a:t>PART 5</a:t>
            </a:r>
          </a:p>
        </p:txBody>
      </p:sp>
      <p:sp>
        <p:nvSpPr>
          <p:cNvPr id="5" name="TextBox 4"/>
          <p:cNvSpPr txBox="1"/>
          <p:nvPr/>
        </p:nvSpPr>
        <p:spPr>
          <a:xfrm>
            <a:off x="360000" y="3420000"/>
            <a:ext cx="11472119" cy="720000"/>
          </a:xfrm>
          <a:prstGeom prst="rect">
            <a:avLst/>
          </a:prstGeom>
          <a:noFill/>
        </p:spPr>
        <p:txBody>
          <a:bodyPr wrap="square" lIns="36000" rIns="36000" tIns="18000" bIns="18000" anchor="t">
            <a:spAutoFit/>
          </a:bodyPr>
          <a:lstStyle/>
          <a:p>
            <a:pPr algn="ctr"/>
            <a:r>
              <a:rPr sz="3300" b="1" i="0">
                <a:solidFill>
                  <a:srgbClr val="FFFFFF"/>
                </a:solidFill>
                <a:latin typeface="Yu Gothic"/>
              </a:rPr>
              <a:t>研修を「活かす」</a:t>
            </a:r>
          </a:p>
        </p:txBody>
      </p:sp>
      <p:sp>
        <p:nvSpPr>
          <p:cNvPr id="6" name="TextBox 5"/>
          <p:cNvSpPr txBox="1"/>
          <p:nvPr/>
        </p:nvSpPr>
        <p:spPr>
          <a:xfrm>
            <a:off x="360000" y="4680000"/>
            <a:ext cx="11472119" cy="360000"/>
          </a:xfrm>
          <a:prstGeom prst="rect">
            <a:avLst/>
          </a:prstGeom>
          <a:noFill/>
        </p:spPr>
        <p:txBody>
          <a:bodyPr wrap="square" lIns="36000" rIns="36000" tIns="18000" bIns="18000" anchor="t">
            <a:spAutoFit/>
          </a:bodyPr>
          <a:lstStyle/>
          <a:p>
            <a:pPr algn="ctr"/>
            <a:r>
              <a:rPr sz="1400" b="0" i="0">
                <a:solidFill>
                  <a:srgbClr val="D5DBD6"/>
                </a:solidFill>
                <a:latin typeface="Yu Gothic"/>
              </a:rPr>
              <a:t>Making Training Count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576000"/>
          </a:xfrm>
          <a:prstGeom prst="rect">
            <a:avLst/>
          </a:prstGeom>
          <a:solidFill>
            <a:srgbClr val="2947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88000" y="90000"/>
            <a:ext cx="7920000" cy="216000"/>
          </a:xfrm>
          <a:prstGeom prst="rect">
            <a:avLst/>
          </a:prstGeom>
          <a:noFill/>
        </p:spPr>
        <p:txBody>
          <a:bodyPr wrap="square" lIns="36000" rIns="36000" tIns="18000" bIns="18000" anchor="t">
            <a:spAutoFit/>
          </a:bodyPr>
          <a:lstStyle/>
          <a:p>
            <a:pPr algn="l"/>
            <a:r>
              <a:rPr sz="1100" b="1" i="0">
                <a:solidFill>
                  <a:srgbClr val="FFFFFF"/>
                </a:solidFill>
                <a:latin typeface="Yu Gothic"/>
              </a:rPr>
              <a:t>5. 研修を活かす</a:t>
            </a:r>
          </a:p>
        </p:txBody>
      </p:sp>
      <p:sp>
        <p:nvSpPr>
          <p:cNvPr id="4" name="TextBox 3"/>
          <p:cNvSpPr txBox="1"/>
          <p:nvPr/>
        </p:nvSpPr>
        <p:spPr>
          <a:xfrm>
            <a:off x="288000" y="684000"/>
            <a:ext cx="11616119" cy="468000"/>
          </a:xfrm>
          <a:prstGeom prst="rect">
            <a:avLst/>
          </a:prstGeom>
          <a:noFill/>
        </p:spPr>
        <p:txBody>
          <a:bodyPr wrap="square" lIns="36000" rIns="36000" tIns="18000" bIns="18000" anchor="t">
            <a:spAutoFit/>
          </a:bodyPr>
          <a:lstStyle/>
          <a:p>
            <a:pPr algn="l"/>
            <a:r>
              <a:rPr sz="2300" b="1" i="0">
                <a:solidFill>
                  <a:srgbClr val="294737"/>
                </a:solidFill>
                <a:latin typeface="Yu Gothic"/>
              </a:rPr>
              <a:t>「受けっぱなし」にしない ― 学びを定着させる</a:t>
            </a:r>
          </a:p>
        </p:txBody>
      </p:sp>
      <p:sp>
        <p:nvSpPr>
          <p:cNvPr id="5" name="Rectangle 4"/>
          <p:cNvSpPr/>
          <p:nvPr/>
        </p:nvSpPr>
        <p:spPr>
          <a:xfrm>
            <a:off x="288000" y="1152000"/>
            <a:ext cx="900000" cy="43200"/>
          </a:xfrm>
          <a:prstGeom prst="rect">
            <a:avLst/>
          </a:prstGeom>
          <a:solidFill>
            <a:srgbClr val="B377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88000" y="6570000"/>
            <a:ext cx="9720000" cy="180000"/>
          </a:xfrm>
          <a:prstGeom prst="rect">
            <a:avLst/>
          </a:prstGeom>
          <a:noFill/>
        </p:spPr>
        <p:txBody>
          <a:bodyPr wrap="square" lIns="36000" rIns="36000" tIns="18000" bIns="18000" anchor="t">
            <a:spAutoFit/>
          </a:bodyPr>
          <a:lstStyle/>
          <a:p>
            <a:pPr algn="l"/>
            <a:r>
              <a:rPr sz="900" b="0" i="0">
                <a:solidFill>
                  <a:srgbClr val="6E8C7C"/>
                </a:solidFill>
                <a:latin typeface="Yu Gothic"/>
              </a:rPr>
              <a:t>主任CM研修 / 法定研修制度改正への対応と主任CM更新研修の戦略  ※研修制度は最新情報をご確認ください</a:t>
            </a:r>
          </a:p>
        </p:txBody>
      </p:sp>
      <p:sp>
        <p:nvSpPr>
          <p:cNvPr id="7" name="TextBox 6"/>
          <p:cNvSpPr txBox="1"/>
          <p:nvPr/>
        </p:nvSpPr>
        <p:spPr>
          <a:xfrm>
            <a:off x="11112119" y="6570000"/>
            <a:ext cx="792000" cy="180000"/>
          </a:xfrm>
          <a:prstGeom prst="rect">
            <a:avLst/>
          </a:prstGeom>
          <a:noFill/>
        </p:spPr>
        <p:txBody>
          <a:bodyPr wrap="square" lIns="36000" rIns="36000" tIns="18000" bIns="18000" anchor="t">
            <a:spAutoFit/>
          </a:bodyPr>
          <a:lstStyle/>
          <a:p>
            <a:pPr algn="r"/>
            <a:r>
              <a:rPr sz="900" b="0" i="0">
                <a:solidFill>
                  <a:srgbClr val="6E8C7C"/>
                </a:solidFill>
                <a:latin typeface="Yu Gothic"/>
              </a:rPr>
              <a:t>20 / 27</a:t>
            </a:r>
          </a:p>
        </p:txBody>
      </p:sp>
      <p:sp>
        <p:nvSpPr>
          <p:cNvPr id="8" name="Rectangle 7"/>
          <p:cNvSpPr/>
          <p:nvPr/>
        </p:nvSpPr>
        <p:spPr>
          <a:xfrm>
            <a:off x="432000" y="1548000"/>
            <a:ext cx="11304000" cy="360000"/>
          </a:xfrm>
          <a:prstGeom prst="rect">
            <a:avLst/>
          </a:prstGeom>
          <a:solidFill>
            <a:srgbClr val="2947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4000" y="1584000"/>
            <a:ext cx="11160000" cy="288000"/>
          </a:xfrm>
          <a:prstGeom prst="rect">
            <a:avLst/>
          </a:prstGeom>
          <a:noFill/>
        </p:spPr>
        <p:txBody>
          <a:bodyPr wrap="square" lIns="36000" rIns="36000" tIns="18000" bIns="18000" anchor="ctr">
            <a:spAutoFit/>
          </a:bodyPr>
          <a:lstStyle/>
          <a:p>
            <a:pPr algn="l"/>
            <a:r>
              <a:rPr sz="1400" b="1" i="0">
                <a:solidFill>
                  <a:srgbClr val="FFFFFF"/>
                </a:solidFill>
                <a:latin typeface="Yu Gothic"/>
              </a:rPr>
              <a:t>研修の価値は「受けた後」に決まる</a:t>
            </a:r>
          </a:p>
        </p:txBody>
      </p:sp>
      <p:sp>
        <p:nvSpPr>
          <p:cNvPr id="10" name="Rectangle 9"/>
          <p:cNvSpPr/>
          <p:nvPr/>
        </p:nvSpPr>
        <p:spPr>
          <a:xfrm>
            <a:off x="432000" y="1908000"/>
            <a:ext cx="11304000" cy="467999"/>
          </a:xfrm>
          <a:prstGeom prst="rect">
            <a:avLst/>
          </a:prstGeom>
          <a:solidFill>
            <a:srgbClr val="E7EC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0000" y="1944000"/>
            <a:ext cx="11088000" cy="431999"/>
          </a:xfrm>
          <a:prstGeom prst="rect">
            <a:avLst/>
          </a:prstGeom>
          <a:noFill/>
        </p:spPr>
        <p:txBody>
          <a:bodyPr wrap="square" lIns="36000" rIns="36000" tIns="18000" bIns="18000" anchor="t">
            <a:spAutoFit/>
          </a:bodyPr>
          <a:lstStyle/>
          <a:p>
            <a:pPr algn="l"/>
            <a:r>
              <a:rPr sz="1200" b="0" i="0">
                <a:solidFill>
                  <a:srgbClr val="2E3330"/>
                </a:solidFill>
                <a:latin typeface="Yu Gothic"/>
              </a:rPr>
              <a:t>時間と費用をかけて受けた研修も、職場に持ち帰って活かされなければ、</a:t>
            </a:r>
          </a:p>
          <a:p>
            <a:pPr algn="l"/>
            <a:r>
              <a:rPr sz="1200" b="0" i="0">
                <a:solidFill>
                  <a:srgbClr val="2E3330"/>
                </a:solidFill>
                <a:latin typeface="Yu Gothic"/>
              </a:rPr>
              <a:t>「修了証」が残るだけ。学びを定着させ、還元する仕組みが要る。</a:t>
            </a:r>
          </a:p>
        </p:txBody>
      </p:sp>
      <p:sp>
        <p:nvSpPr>
          <p:cNvPr id="12" name="Rectangle 11"/>
          <p:cNvSpPr/>
          <p:nvPr/>
        </p:nvSpPr>
        <p:spPr>
          <a:xfrm>
            <a:off x="432000" y="2628000"/>
            <a:ext cx="11304000" cy="360000"/>
          </a:xfrm>
          <a:prstGeom prst="rect">
            <a:avLst/>
          </a:prstGeom>
          <a:solidFill>
            <a:srgbClr val="2947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6000" y="2664000"/>
            <a:ext cx="5544000" cy="288000"/>
          </a:xfrm>
          <a:prstGeom prst="rect">
            <a:avLst/>
          </a:prstGeom>
          <a:noFill/>
        </p:spPr>
        <p:txBody>
          <a:bodyPr wrap="square" lIns="36000" rIns="36000" tIns="18000" bIns="18000" anchor="ctr">
            <a:spAutoFit/>
          </a:bodyPr>
          <a:lstStyle/>
          <a:p>
            <a:pPr algn="ctr"/>
            <a:r>
              <a:rPr sz="1200" b="1" i="0">
                <a:solidFill>
                  <a:srgbClr val="FFFFFF"/>
                </a:solidFill>
                <a:latin typeface="Yu Gothic"/>
              </a:rPr>
              <a:t>受けっぱなしの研修</a:t>
            </a:r>
          </a:p>
        </p:txBody>
      </p:sp>
      <p:sp>
        <p:nvSpPr>
          <p:cNvPr id="14" name="TextBox 13"/>
          <p:cNvSpPr txBox="1"/>
          <p:nvPr/>
        </p:nvSpPr>
        <p:spPr>
          <a:xfrm>
            <a:off x="6138000" y="2664000"/>
            <a:ext cx="5544000" cy="288000"/>
          </a:xfrm>
          <a:prstGeom prst="rect">
            <a:avLst/>
          </a:prstGeom>
          <a:noFill/>
        </p:spPr>
        <p:txBody>
          <a:bodyPr wrap="square" lIns="36000" rIns="36000" tIns="18000" bIns="18000" anchor="ctr">
            <a:spAutoFit/>
          </a:bodyPr>
          <a:lstStyle/>
          <a:p>
            <a:pPr algn="ctr"/>
            <a:r>
              <a:rPr sz="1200" b="1" i="0">
                <a:solidFill>
                  <a:srgbClr val="FFFFFF"/>
                </a:solidFill>
                <a:latin typeface="Yu Gothic"/>
              </a:rPr>
              <a:t>活かされる研修</a:t>
            </a:r>
          </a:p>
        </p:txBody>
      </p:sp>
      <p:sp>
        <p:nvSpPr>
          <p:cNvPr id="15" name="Rectangle 14"/>
          <p:cNvSpPr/>
          <p:nvPr/>
        </p:nvSpPr>
        <p:spPr>
          <a:xfrm>
            <a:off x="432000" y="2988000"/>
            <a:ext cx="11304000" cy="540000"/>
          </a:xfrm>
          <a:prstGeom prst="rect">
            <a:avLst/>
          </a:prstGeom>
          <a:solidFill>
            <a:srgbClr val="E7ECE8"/>
          </a:solidFill>
          <a:ln>
            <a:solidFill>
              <a:srgbClr val="D5DB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86000" y="3042000"/>
            <a:ext cx="5544000" cy="432000"/>
          </a:xfrm>
          <a:prstGeom prst="rect">
            <a:avLst/>
          </a:prstGeom>
          <a:noFill/>
        </p:spPr>
        <p:txBody>
          <a:bodyPr wrap="square" lIns="36000" rIns="36000" tIns="18000" bIns="18000" anchor="ctr">
            <a:spAutoFit/>
          </a:bodyPr>
          <a:lstStyle/>
          <a:p>
            <a:pPr algn="ctr"/>
            <a:r>
              <a:rPr sz="1200" b="0" i="0">
                <a:solidFill>
                  <a:srgbClr val="B24439"/>
                </a:solidFill>
                <a:latin typeface="Yu Gothic"/>
              </a:rPr>
              <a:t>修了したら、それで終わり</a:t>
            </a:r>
          </a:p>
        </p:txBody>
      </p:sp>
      <p:sp>
        <p:nvSpPr>
          <p:cNvPr id="17" name="TextBox 16"/>
          <p:cNvSpPr txBox="1"/>
          <p:nvPr/>
        </p:nvSpPr>
        <p:spPr>
          <a:xfrm>
            <a:off x="6138000" y="3042000"/>
            <a:ext cx="5544000" cy="432000"/>
          </a:xfrm>
          <a:prstGeom prst="rect">
            <a:avLst/>
          </a:prstGeom>
          <a:noFill/>
        </p:spPr>
        <p:txBody>
          <a:bodyPr wrap="square" lIns="36000" rIns="36000" tIns="18000" bIns="18000" anchor="ctr">
            <a:spAutoFit/>
          </a:bodyPr>
          <a:lstStyle/>
          <a:p>
            <a:pPr algn="l"/>
            <a:r>
              <a:rPr sz="1200" b="0" i="0">
                <a:solidFill>
                  <a:srgbClr val="2E3330"/>
                </a:solidFill>
                <a:latin typeface="Yu Gothic"/>
              </a:rPr>
              <a:t>受講後に学びを振り返り、言葉にする</a:t>
            </a:r>
          </a:p>
        </p:txBody>
      </p:sp>
      <p:sp>
        <p:nvSpPr>
          <p:cNvPr id="18" name="Rectangle 17"/>
          <p:cNvSpPr/>
          <p:nvPr/>
        </p:nvSpPr>
        <p:spPr>
          <a:xfrm>
            <a:off x="432000" y="3528000"/>
            <a:ext cx="11304000" cy="540000"/>
          </a:xfrm>
          <a:prstGeom prst="rect">
            <a:avLst/>
          </a:prstGeom>
          <a:solidFill>
            <a:srgbClr val="FFFFFF"/>
          </a:solidFill>
          <a:ln>
            <a:solidFill>
              <a:srgbClr val="D5DB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86000" y="3582000"/>
            <a:ext cx="5544000" cy="432000"/>
          </a:xfrm>
          <a:prstGeom prst="rect">
            <a:avLst/>
          </a:prstGeom>
          <a:noFill/>
        </p:spPr>
        <p:txBody>
          <a:bodyPr wrap="square" lIns="36000" rIns="36000" tIns="18000" bIns="18000" anchor="ctr">
            <a:spAutoFit/>
          </a:bodyPr>
          <a:lstStyle/>
          <a:p>
            <a:pPr algn="ctr"/>
            <a:r>
              <a:rPr sz="1200" b="0" i="0">
                <a:solidFill>
                  <a:srgbClr val="B24439"/>
                </a:solidFill>
                <a:latin typeface="Yu Gothic"/>
              </a:rPr>
              <a:t>資料がファイルにしまわれるだけ</a:t>
            </a:r>
          </a:p>
        </p:txBody>
      </p:sp>
      <p:sp>
        <p:nvSpPr>
          <p:cNvPr id="20" name="TextBox 19"/>
          <p:cNvSpPr txBox="1"/>
          <p:nvPr/>
        </p:nvSpPr>
        <p:spPr>
          <a:xfrm>
            <a:off x="6138000" y="3582000"/>
            <a:ext cx="5544000" cy="432000"/>
          </a:xfrm>
          <a:prstGeom prst="rect">
            <a:avLst/>
          </a:prstGeom>
          <a:noFill/>
        </p:spPr>
        <p:txBody>
          <a:bodyPr wrap="square" lIns="36000" rIns="36000" tIns="18000" bIns="18000" anchor="ctr">
            <a:spAutoFit/>
          </a:bodyPr>
          <a:lstStyle/>
          <a:p>
            <a:pPr algn="l"/>
            <a:r>
              <a:rPr sz="1200" b="0" i="0">
                <a:solidFill>
                  <a:srgbClr val="2E3330"/>
                </a:solidFill>
                <a:latin typeface="Yu Gothic"/>
              </a:rPr>
              <a:t>学びを事業所内で共有する場がある</a:t>
            </a:r>
          </a:p>
        </p:txBody>
      </p:sp>
      <p:sp>
        <p:nvSpPr>
          <p:cNvPr id="21" name="Rectangle 20"/>
          <p:cNvSpPr/>
          <p:nvPr/>
        </p:nvSpPr>
        <p:spPr>
          <a:xfrm>
            <a:off x="432000" y="4068000"/>
            <a:ext cx="11304000" cy="540000"/>
          </a:xfrm>
          <a:prstGeom prst="rect">
            <a:avLst/>
          </a:prstGeom>
          <a:solidFill>
            <a:srgbClr val="E7ECE8"/>
          </a:solidFill>
          <a:ln>
            <a:solidFill>
              <a:srgbClr val="D5DB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86000" y="4122000"/>
            <a:ext cx="5544000" cy="432000"/>
          </a:xfrm>
          <a:prstGeom prst="rect">
            <a:avLst/>
          </a:prstGeom>
          <a:noFill/>
        </p:spPr>
        <p:txBody>
          <a:bodyPr wrap="square" lIns="36000" rIns="36000" tIns="18000" bIns="18000" anchor="ctr">
            <a:spAutoFit/>
          </a:bodyPr>
          <a:lstStyle/>
          <a:p>
            <a:pPr algn="ctr"/>
            <a:r>
              <a:rPr sz="1200" b="0" i="0">
                <a:solidFill>
                  <a:srgbClr val="B24439"/>
                </a:solidFill>
                <a:latin typeface="Yu Gothic"/>
              </a:rPr>
              <a:t>本人だけの学びにとどまる</a:t>
            </a:r>
          </a:p>
        </p:txBody>
      </p:sp>
      <p:sp>
        <p:nvSpPr>
          <p:cNvPr id="23" name="TextBox 22"/>
          <p:cNvSpPr txBox="1"/>
          <p:nvPr/>
        </p:nvSpPr>
        <p:spPr>
          <a:xfrm>
            <a:off x="6138000" y="4122000"/>
            <a:ext cx="5544000" cy="432000"/>
          </a:xfrm>
          <a:prstGeom prst="rect">
            <a:avLst/>
          </a:prstGeom>
          <a:noFill/>
        </p:spPr>
        <p:txBody>
          <a:bodyPr wrap="square" lIns="36000" rIns="36000" tIns="18000" bIns="18000" anchor="ctr">
            <a:spAutoFit/>
          </a:bodyPr>
          <a:lstStyle/>
          <a:p>
            <a:pPr algn="l"/>
            <a:r>
              <a:rPr sz="1200" b="0" i="0">
                <a:solidFill>
                  <a:srgbClr val="2E3330"/>
                </a:solidFill>
                <a:latin typeface="Yu Gothic"/>
              </a:rPr>
              <a:t>学びがチーム・他の職員に広がる</a:t>
            </a:r>
          </a:p>
        </p:txBody>
      </p:sp>
      <p:sp>
        <p:nvSpPr>
          <p:cNvPr id="24" name="Rectangle 23"/>
          <p:cNvSpPr/>
          <p:nvPr/>
        </p:nvSpPr>
        <p:spPr>
          <a:xfrm>
            <a:off x="432000" y="4608000"/>
            <a:ext cx="11304000" cy="540000"/>
          </a:xfrm>
          <a:prstGeom prst="rect">
            <a:avLst/>
          </a:prstGeom>
          <a:solidFill>
            <a:srgbClr val="FFFFFF"/>
          </a:solidFill>
          <a:ln>
            <a:solidFill>
              <a:srgbClr val="D5DB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86000" y="4662000"/>
            <a:ext cx="5544000" cy="432000"/>
          </a:xfrm>
          <a:prstGeom prst="rect">
            <a:avLst/>
          </a:prstGeom>
          <a:noFill/>
        </p:spPr>
        <p:txBody>
          <a:bodyPr wrap="square" lIns="36000" rIns="36000" tIns="18000" bIns="18000" anchor="ctr">
            <a:spAutoFit/>
          </a:bodyPr>
          <a:lstStyle/>
          <a:p>
            <a:pPr algn="ctr"/>
            <a:r>
              <a:rPr sz="1200" b="0" i="0">
                <a:solidFill>
                  <a:srgbClr val="B24439"/>
                </a:solidFill>
                <a:latin typeface="Yu Gothic"/>
              </a:rPr>
              <a:t>日々の実務と結びつかない</a:t>
            </a:r>
          </a:p>
        </p:txBody>
      </p:sp>
      <p:sp>
        <p:nvSpPr>
          <p:cNvPr id="26" name="TextBox 25"/>
          <p:cNvSpPr txBox="1"/>
          <p:nvPr/>
        </p:nvSpPr>
        <p:spPr>
          <a:xfrm>
            <a:off x="6138000" y="4662000"/>
            <a:ext cx="5544000" cy="432000"/>
          </a:xfrm>
          <a:prstGeom prst="rect">
            <a:avLst/>
          </a:prstGeom>
          <a:noFill/>
        </p:spPr>
        <p:txBody>
          <a:bodyPr wrap="square" lIns="36000" rIns="36000" tIns="18000" bIns="18000" anchor="ctr">
            <a:spAutoFit/>
          </a:bodyPr>
          <a:lstStyle/>
          <a:p>
            <a:pPr algn="l"/>
            <a:r>
              <a:rPr sz="1200" b="0" i="0">
                <a:solidFill>
                  <a:srgbClr val="2E3330"/>
                </a:solidFill>
                <a:latin typeface="Yu Gothic"/>
              </a:rPr>
              <a:t>学びを具体的な実践・改善につなげる</a:t>
            </a:r>
          </a:p>
        </p:txBody>
      </p:sp>
      <p:sp>
        <p:nvSpPr>
          <p:cNvPr id="27" name="Rectangle 26"/>
          <p:cNvSpPr/>
          <p:nvPr/>
        </p:nvSpPr>
        <p:spPr>
          <a:xfrm>
            <a:off x="432000" y="5148000"/>
            <a:ext cx="11304000" cy="540000"/>
          </a:xfrm>
          <a:prstGeom prst="rect">
            <a:avLst/>
          </a:prstGeom>
          <a:solidFill>
            <a:srgbClr val="E7ECE8"/>
          </a:solidFill>
          <a:ln>
            <a:solidFill>
              <a:srgbClr val="D5DB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86000" y="5202000"/>
            <a:ext cx="5544000" cy="432000"/>
          </a:xfrm>
          <a:prstGeom prst="rect">
            <a:avLst/>
          </a:prstGeom>
          <a:noFill/>
        </p:spPr>
        <p:txBody>
          <a:bodyPr wrap="square" lIns="36000" rIns="36000" tIns="18000" bIns="18000" anchor="ctr">
            <a:spAutoFit/>
          </a:bodyPr>
          <a:lstStyle/>
          <a:p>
            <a:pPr algn="ctr"/>
            <a:r>
              <a:rPr sz="1200" b="0" i="0">
                <a:solidFill>
                  <a:srgbClr val="B24439"/>
                </a:solidFill>
                <a:latin typeface="Yu Gothic"/>
              </a:rPr>
              <a:t>「行ってきました」報告で完了</a:t>
            </a:r>
          </a:p>
        </p:txBody>
      </p:sp>
      <p:sp>
        <p:nvSpPr>
          <p:cNvPr id="29" name="TextBox 28"/>
          <p:cNvSpPr txBox="1"/>
          <p:nvPr/>
        </p:nvSpPr>
        <p:spPr>
          <a:xfrm>
            <a:off x="6138000" y="5202000"/>
            <a:ext cx="5544000" cy="432000"/>
          </a:xfrm>
          <a:prstGeom prst="rect">
            <a:avLst/>
          </a:prstGeom>
          <a:noFill/>
        </p:spPr>
        <p:txBody>
          <a:bodyPr wrap="square" lIns="36000" rIns="36000" tIns="18000" bIns="18000" anchor="ctr">
            <a:spAutoFit/>
          </a:bodyPr>
          <a:lstStyle/>
          <a:p>
            <a:pPr algn="l"/>
            <a:r>
              <a:rPr sz="1200" b="0" i="0">
                <a:solidFill>
                  <a:srgbClr val="2E3330"/>
                </a:solidFill>
                <a:latin typeface="Yu Gothic"/>
              </a:rPr>
              <a:t>「何を実務に活かすか」まで確認する</a:t>
            </a:r>
          </a:p>
        </p:txBody>
      </p:sp>
      <p:sp>
        <p:nvSpPr>
          <p:cNvPr id="30" name="TextBox 29"/>
          <p:cNvSpPr txBox="1"/>
          <p:nvPr/>
        </p:nvSpPr>
        <p:spPr>
          <a:xfrm>
            <a:off x="432000" y="5508000"/>
            <a:ext cx="11328119" cy="540000"/>
          </a:xfrm>
          <a:prstGeom prst="rect">
            <a:avLst/>
          </a:prstGeom>
          <a:noFill/>
        </p:spPr>
        <p:txBody>
          <a:bodyPr wrap="square" lIns="36000" rIns="36000" tIns="18000" bIns="18000" anchor="t">
            <a:spAutoFit/>
          </a:bodyPr>
          <a:lstStyle/>
          <a:p>
            <a:pPr algn="l">
              <a:lnSpc>
                <a:spcPct val="140000"/>
              </a:lnSpc>
            </a:pPr>
            <a:r>
              <a:rPr sz="1300" b="1" i="0">
                <a:solidFill>
                  <a:srgbClr val="294737"/>
                </a:solidFill>
                <a:latin typeface="Yu Gothic"/>
              </a:rPr>
              <a:t>▶ 「研修に行かせる」だけでなく「研修を活かす場をつくる」までが、育成のマネジメント。</a:t>
            </a:r>
          </a:p>
          <a:p>
            <a:pPr algn="l">
              <a:lnSpc>
                <a:spcPct val="140000"/>
              </a:lnSpc>
            </a:pPr>
            <a:r>
              <a:rPr sz="1300" b="1" i="0">
                <a:solidFill>
                  <a:srgbClr val="294737"/>
                </a:solidFill>
                <a:latin typeface="Yu Gothic"/>
              </a:rPr>
              <a:t>▶ ここを担うのが主任CMの役割。</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576000"/>
          </a:xfrm>
          <a:prstGeom prst="rect">
            <a:avLst/>
          </a:prstGeom>
          <a:solidFill>
            <a:srgbClr val="2947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88000" y="90000"/>
            <a:ext cx="7920000" cy="216000"/>
          </a:xfrm>
          <a:prstGeom prst="rect">
            <a:avLst/>
          </a:prstGeom>
          <a:noFill/>
        </p:spPr>
        <p:txBody>
          <a:bodyPr wrap="square" lIns="36000" rIns="36000" tIns="18000" bIns="18000" anchor="t">
            <a:spAutoFit/>
          </a:bodyPr>
          <a:lstStyle/>
          <a:p>
            <a:pPr algn="l"/>
            <a:r>
              <a:rPr sz="1100" b="1" i="0">
                <a:solidFill>
                  <a:srgbClr val="FFFFFF"/>
                </a:solidFill>
                <a:latin typeface="Yu Gothic"/>
              </a:rPr>
              <a:t>5. 研修を活かす</a:t>
            </a:r>
          </a:p>
        </p:txBody>
      </p:sp>
      <p:sp>
        <p:nvSpPr>
          <p:cNvPr id="4" name="TextBox 3"/>
          <p:cNvSpPr txBox="1"/>
          <p:nvPr/>
        </p:nvSpPr>
        <p:spPr>
          <a:xfrm>
            <a:off x="288000" y="684000"/>
            <a:ext cx="11616119" cy="468000"/>
          </a:xfrm>
          <a:prstGeom prst="rect">
            <a:avLst/>
          </a:prstGeom>
          <a:noFill/>
        </p:spPr>
        <p:txBody>
          <a:bodyPr wrap="square" lIns="36000" rIns="36000" tIns="18000" bIns="18000" anchor="t">
            <a:spAutoFit/>
          </a:bodyPr>
          <a:lstStyle/>
          <a:p>
            <a:pPr algn="l"/>
            <a:r>
              <a:rPr sz="2300" b="1" i="0">
                <a:solidFill>
                  <a:srgbClr val="294737"/>
                </a:solidFill>
                <a:latin typeface="Yu Gothic"/>
              </a:rPr>
              <a:t>学びを事業所に還元する仕組み</a:t>
            </a:r>
          </a:p>
        </p:txBody>
      </p:sp>
      <p:sp>
        <p:nvSpPr>
          <p:cNvPr id="5" name="Rectangle 4"/>
          <p:cNvSpPr/>
          <p:nvPr/>
        </p:nvSpPr>
        <p:spPr>
          <a:xfrm>
            <a:off x="288000" y="1152000"/>
            <a:ext cx="900000" cy="43200"/>
          </a:xfrm>
          <a:prstGeom prst="rect">
            <a:avLst/>
          </a:prstGeom>
          <a:solidFill>
            <a:srgbClr val="B377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88000" y="6570000"/>
            <a:ext cx="9720000" cy="180000"/>
          </a:xfrm>
          <a:prstGeom prst="rect">
            <a:avLst/>
          </a:prstGeom>
          <a:noFill/>
        </p:spPr>
        <p:txBody>
          <a:bodyPr wrap="square" lIns="36000" rIns="36000" tIns="18000" bIns="18000" anchor="t">
            <a:spAutoFit/>
          </a:bodyPr>
          <a:lstStyle/>
          <a:p>
            <a:pPr algn="l"/>
            <a:r>
              <a:rPr sz="900" b="0" i="0">
                <a:solidFill>
                  <a:srgbClr val="6E8C7C"/>
                </a:solidFill>
                <a:latin typeface="Yu Gothic"/>
              </a:rPr>
              <a:t>主任CM研修 / 法定研修制度改正への対応と主任CM更新研修の戦略  ※研修制度は最新情報をご確認ください</a:t>
            </a:r>
          </a:p>
        </p:txBody>
      </p:sp>
      <p:sp>
        <p:nvSpPr>
          <p:cNvPr id="7" name="TextBox 6"/>
          <p:cNvSpPr txBox="1"/>
          <p:nvPr/>
        </p:nvSpPr>
        <p:spPr>
          <a:xfrm>
            <a:off x="11112119" y="6570000"/>
            <a:ext cx="792000" cy="180000"/>
          </a:xfrm>
          <a:prstGeom prst="rect">
            <a:avLst/>
          </a:prstGeom>
          <a:noFill/>
        </p:spPr>
        <p:txBody>
          <a:bodyPr wrap="square" lIns="36000" rIns="36000" tIns="18000" bIns="18000" anchor="t">
            <a:spAutoFit/>
          </a:bodyPr>
          <a:lstStyle/>
          <a:p>
            <a:pPr algn="r"/>
            <a:r>
              <a:rPr sz="900" b="0" i="0">
                <a:solidFill>
                  <a:srgbClr val="6E8C7C"/>
                </a:solidFill>
                <a:latin typeface="Yu Gothic"/>
              </a:rPr>
              <a:t>21 / 27</a:t>
            </a:r>
          </a:p>
        </p:txBody>
      </p:sp>
      <p:sp>
        <p:nvSpPr>
          <p:cNvPr id="8" name="Rectangle 7"/>
          <p:cNvSpPr/>
          <p:nvPr/>
        </p:nvSpPr>
        <p:spPr>
          <a:xfrm>
            <a:off x="432000" y="1620000"/>
            <a:ext cx="5580000" cy="360000"/>
          </a:xfrm>
          <a:prstGeom prst="rect">
            <a:avLst/>
          </a:prstGeom>
          <a:solidFill>
            <a:srgbClr val="4063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12000" y="1620000"/>
            <a:ext cx="5220000" cy="360000"/>
          </a:xfrm>
          <a:prstGeom prst="rect">
            <a:avLst/>
          </a:prstGeom>
          <a:noFill/>
        </p:spPr>
        <p:txBody>
          <a:bodyPr wrap="square" lIns="36000" rIns="36000" tIns="18000" bIns="18000" anchor="ctr">
            <a:spAutoFit/>
          </a:bodyPr>
          <a:lstStyle/>
          <a:p>
            <a:pPr algn="l"/>
            <a:r>
              <a:rPr sz="1400" b="1" i="0">
                <a:solidFill>
                  <a:srgbClr val="FFFFFF"/>
                </a:solidFill>
                <a:latin typeface="Yu Gothic"/>
              </a:rPr>
              <a:t>報告・共有の場</a:t>
            </a:r>
          </a:p>
        </p:txBody>
      </p:sp>
      <p:sp>
        <p:nvSpPr>
          <p:cNvPr id="10" name="Rectangle 9"/>
          <p:cNvSpPr/>
          <p:nvPr/>
        </p:nvSpPr>
        <p:spPr>
          <a:xfrm>
            <a:off x="432000" y="1980000"/>
            <a:ext cx="5580000" cy="972000"/>
          </a:xfrm>
          <a:prstGeom prst="rect">
            <a:avLst/>
          </a:prstGeom>
          <a:solidFill>
            <a:srgbClr val="E7EC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12000" y="2052000"/>
            <a:ext cx="5220000" cy="828001"/>
          </a:xfrm>
          <a:prstGeom prst="rect">
            <a:avLst/>
          </a:prstGeom>
          <a:noFill/>
        </p:spPr>
        <p:txBody>
          <a:bodyPr wrap="square" lIns="36000" rIns="36000" tIns="18000" bIns="18000" anchor="t">
            <a:spAutoFit/>
          </a:bodyPr>
          <a:lstStyle/>
          <a:p>
            <a:pPr algn="l">
              <a:lnSpc>
                <a:spcPct val="140000"/>
              </a:lnSpc>
            </a:pPr>
            <a:r>
              <a:rPr sz="1200" b="0" i="0">
                <a:solidFill>
                  <a:srgbClr val="2E3330"/>
                </a:solidFill>
                <a:latin typeface="Yu Gothic"/>
              </a:rPr>
              <a:t>・研修内容を朝礼・会議で共有</a:t>
            </a:r>
          </a:p>
          <a:p>
            <a:pPr algn="l">
              <a:lnSpc>
                <a:spcPct val="140000"/>
              </a:lnSpc>
            </a:pPr>
            <a:r>
              <a:rPr sz="1200" b="0" i="0">
                <a:solidFill>
                  <a:srgbClr val="2E3330"/>
                </a:solidFill>
                <a:latin typeface="Yu Gothic"/>
              </a:rPr>
              <a:t>・「持ち帰った1つ」を必ず話す</a:t>
            </a:r>
          </a:p>
          <a:p>
            <a:pPr algn="l">
              <a:lnSpc>
                <a:spcPct val="140000"/>
              </a:lnSpc>
            </a:pPr>
            <a:r>
              <a:rPr sz="1200" b="0" i="0">
                <a:solidFill>
                  <a:srgbClr val="2E3330"/>
                </a:solidFill>
                <a:latin typeface="Yu Gothic"/>
              </a:rPr>
              <a:t>・資料を共有フォルダに整理</a:t>
            </a:r>
          </a:p>
        </p:txBody>
      </p:sp>
      <p:sp>
        <p:nvSpPr>
          <p:cNvPr id="12" name="Rectangle 11"/>
          <p:cNvSpPr/>
          <p:nvPr/>
        </p:nvSpPr>
        <p:spPr>
          <a:xfrm>
            <a:off x="6156000" y="1620000"/>
            <a:ext cx="5580000" cy="360000"/>
          </a:xfrm>
          <a:prstGeom prst="rect">
            <a:avLst/>
          </a:prstGeom>
          <a:solidFill>
            <a:srgbClr val="2C6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36000" y="1620000"/>
            <a:ext cx="5220000" cy="360000"/>
          </a:xfrm>
          <a:prstGeom prst="rect">
            <a:avLst/>
          </a:prstGeom>
          <a:noFill/>
        </p:spPr>
        <p:txBody>
          <a:bodyPr wrap="square" lIns="36000" rIns="36000" tIns="18000" bIns="18000" anchor="ctr">
            <a:spAutoFit/>
          </a:bodyPr>
          <a:lstStyle/>
          <a:p>
            <a:pPr algn="l"/>
            <a:r>
              <a:rPr sz="1400" b="1" i="0">
                <a:solidFill>
                  <a:srgbClr val="FFFFFF"/>
                </a:solidFill>
                <a:latin typeface="Yu Gothic"/>
              </a:rPr>
              <a:t>事例検討との連動</a:t>
            </a:r>
          </a:p>
        </p:txBody>
      </p:sp>
      <p:sp>
        <p:nvSpPr>
          <p:cNvPr id="14" name="Rectangle 13"/>
          <p:cNvSpPr/>
          <p:nvPr/>
        </p:nvSpPr>
        <p:spPr>
          <a:xfrm>
            <a:off x="6156000" y="1980000"/>
            <a:ext cx="5580000" cy="972000"/>
          </a:xfrm>
          <a:prstGeom prst="rect">
            <a:avLst/>
          </a:prstGeom>
          <a:solidFill>
            <a:srgbClr val="E7EC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36000" y="2052000"/>
            <a:ext cx="5220000" cy="828001"/>
          </a:xfrm>
          <a:prstGeom prst="rect">
            <a:avLst/>
          </a:prstGeom>
          <a:noFill/>
        </p:spPr>
        <p:txBody>
          <a:bodyPr wrap="square" lIns="36000" rIns="36000" tIns="18000" bIns="18000" anchor="t">
            <a:spAutoFit/>
          </a:bodyPr>
          <a:lstStyle/>
          <a:p>
            <a:pPr algn="l">
              <a:lnSpc>
                <a:spcPct val="140000"/>
              </a:lnSpc>
            </a:pPr>
            <a:r>
              <a:rPr sz="1200" b="0" i="0">
                <a:solidFill>
                  <a:srgbClr val="2E3330"/>
                </a:solidFill>
                <a:latin typeface="Yu Gothic"/>
              </a:rPr>
              <a:t>・研修で学んだ視点を事例検討に活かす</a:t>
            </a:r>
          </a:p>
          <a:p>
            <a:pPr algn="l">
              <a:lnSpc>
                <a:spcPct val="140000"/>
              </a:lnSpc>
            </a:pPr>
            <a:r>
              <a:rPr sz="1200" b="0" i="0">
                <a:solidFill>
                  <a:srgbClr val="2E3330"/>
                </a:solidFill>
                <a:latin typeface="Yu Gothic"/>
              </a:rPr>
              <a:t>・「研修で学んだ○○で考えると」</a:t>
            </a:r>
          </a:p>
          <a:p>
            <a:pPr algn="l">
              <a:lnSpc>
                <a:spcPct val="140000"/>
              </a:lnSpc>
            </a:pPr>
            <a:r>
              <a:rPr sz="1200" b="0" i="0">
                <a:solidFill>
                  <a:srgbClr val="2E3330"/>
                </a:solidFill>
                <a:latin typeface="Yu Gothic"/>
              </a:rPr>
              <a:t>・学びを実際のケースで試す</a:t>
            </a:r>
          </a:p>
        </p:txBody>
      </p:sp>
      <p:sp>
        <p:nvSpPr>
          <p:cNvPr id="16" name="Rectangle 15"/>
          <p:cNvSpPr/>
          <p:nvPr/>
        </p:nvSpPr>
        <p:spPr>
          <a:xfrm>
            <a:off x="432000" y="3060000"/>
            <a:ext cx="5580000" cy="360000"/>
          </a:xfrm>
          <a:prstGeom prst="rect">
            <a:avLst/>
          </a:prstGeom>
          <a:solidFill>
            <a:srgbClr val="B377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12000" y="3060000"/>
            <a:ext cx="5220000" cy="360000"/>
          </a:xfrm>
          <a:prstGeom prst="rect">
            <a:avLst/>
          </a:prstGeom>
          <a:noFill/>
        </p:spPr>
        <p:txBody>
          <a:bodyPr wrap="square" lIns="36000" rIns="36000" tIns="18000" bIns="18000" anchor="ctr">
            <a:spAutoFit/>
          </a:bodyPr>
          <a:lstStyle/>
          <a:p>
            <a:pPr algn="l"/>
            <a:r>
              <a:rPr sz="1400" b="1" i="0">
                <a:solidFill>
                  <a:srgbClr val="FFFFFF"/>
                </a:solidFill>
                <a:latin typeface="Yu Gothic"/>
              </a:rPr>
              <a:t>OJT・SVとの連動</a:t>
            </a:r>
          </a:p>
        </p:txBody>
      </p:sp>
      <p:sp>
        <p:nvSpPr>
          <p:cNvPr id="18" name="Rectangle 17"/>
          <p:cNvSpPr/>
          <p:nvPr/>
        </p:nvSpPr>
        <p:spPr>
          <a:xfrm>
            <a:off x="432000" y="3420000"/>
            <a:ext cx="5580000" cy="972000"/>
          </a:xfrm>
          <a:prstGeom prst="rect">
            <a:avLst/>
          </a:prstGeom>
          <a:solidFill>
            <a:srgbClr val="E7EC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12000" y="3492000"/>
            <a:ext cx="5220000" cy="828001"/>
          </a:xfrm>
          <a:prstGeom prst="rect">
            <a:avLst/>
          </a:prstGeom>
          <a:noFill/>
        </p:spPr>
        <p:txBody>
          <a:bodyPr wrap="square" lIns="36000" rIns="36000" tIns="18000" bIns="18000" anchor="t">
            <a:spAutoFit/>
          </a:bodyPr>
          <a:lstStyle/>
          <a:p>
            <a:pPr algn="l">
              <a:lnSpc>
                <a:spcPct val="140000"/>
              </a:lnSpc>
            </a:pPr>
            <a:r>
              <a:rPr sz="1200" b="0" i="0">
                <a:solidFill>
                  <a:srgbClr val="2E3330"/>
                </a:solidFill>
                <a:latin typeface="Yu Gothic"/>
              </a:rPr>
              <a:t>・研修の学びを後輩指導に活かす</a:t>
            </a:r>
          </a:p>
          <a:p>
            <a:pPr algn="l">
              <a:lnSpc>
                <a:spcPct val="140000"/>
              </a:lnSpc>
            </a:pPr>
            <a:r>
              <a:rPr sz="1200" b="0" i="0">
                <a:solidFill>
                  <a:srgbClr val="2E3330"/>
                </a:solidFill>
                <a:latin typeface="Yu Gothic"/>
              </a:rPr>
              <a:t>・同行訪問で実践に落とし込む</a:t>
            </a:r>
          </a:p>
          <a:p>
            <a:pPr algn="l">
              <a:lnSpc>
                <a:spcPct val="140000"/>
              </a:lnSpc>
            </a:pPr>
            <a:r>
              <a:rPr sz="1200" b="0" i="0">
                <a:solidFill>
                  <a:srgbClr val="2E3330"/>
                </a:solidFill>
                <a:latin typeface="Yu Gothic"/>
              </a:rPr>
              <a:t>・スーパービジョンの中で振り返る</a:t>
            </a:r>
          </a:p>
        </p:txBody>
      </p:sp>
      <p:sp>
        <p:nvSpPr>
          <p:cNvPr id="20" name="Rectangle 19"/>
          <p:cNvSpPr/>
          <p:nvPr/>
        </p:nvSpPr>
        <p:spPr>
          <a:xfrm>
            <a:off x="6156000" y="3060000"/>
            <a:ext cx="5580000" cy="360000"/>
          </a:xfrm>
          <a:prstGeom prst="rect">
            <a:avLst/>
          </a:prstGeom>
          <a:solidFill>
            <a:srgbClr val="4453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36000" y="3060000"/>
            <a:ext cx="5220000" cy="360000"/>
          </a:xfrm>
          <a:prstGeom prst="rect">
            <a:avLst/>
          </a:prstGeom>
          <a:noFill/>
        </p:spPr>
        <p:txBody>
          <a:bodyPr wrap="square" lIns="36000" rIns="36000" tIns="18000" bIns="18000" anchor="ctr">
            <a:spAutoFit/>
          </a:bodyPr>
          <a:lstStyle/>
          <a:p>
            <a:pPr algn="l"/>
            <a:r>
              <a:rPr sz="1400" b="1" i="0">
                <a:solidFill>
                  <a:srgbClr val="FFFFFF"/>
                </a:solidFill>
                <a:latin typeface="Yu Gothic"/>
              </a:rPr>
              <a:t>実践・改善への反映</a:t>
            </a:r>
          </a:p>
        </p:txBody>
      </p:sp>
      <p:sp>
        <p:nvSpPr>
          <p:cNvPr id="22" name="Rectangle 21"/>
          <p:cNvSpPr/>
          <p:nvPr/>
        </p:nvSpPr>
        <p:spPr>
          <a:xfrm>
            <a:off x="6156000" y="3420000"/>
            <a:ext cx="5580000" cy="972000"/>
          </a:xfrm>
          <a:prstGeom prst="rect">
            <a:avLst/>
          </a:prstGeom>
          <a:solidFill>
            <a:srgbClr val="E7EC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36000" y="3492000"/>
            <a:ext cx="5220000" cy="828001"/>
          </a:xfrm>
          <a:prstGeom prst="rect">
            <a:avLst/>
          </a:prstGeom>
          <a:noFill/>
        </p:spPr>
        <p:txBody>
          <a:bodyPr wrap="square" lIns="36000" rIns="36000" tIns="18000" bIns="18000" anchor="t">
            <a:spAutoFit/>
          </a:bodyPr>
          <a:lstStyle/>
          <a:p>
            <a:pPr algn="l">
              <a:lnSpc>
                <a:spcPct val="140000"/>
              </a:lnSpc>
            </a:pPr>
            <a:r>
              <a:rPr sz="1200" b="0" i="0">
                <a:solidFill>
                  <a:srgbClr val="2E3330"/>
                </a:solidFill>
                <a:latin typeface="Yu Gothic"/>
              </a:rPr>
              <a:t>・学びを業務の見直しにつなげる</a:t>
            </a:r>
          </a:p>
          <a:p>
            <a:pPr algn="l">
              <a:lnSpc>
                <a:spcPct val="140000"/>
              </a:lnSpc>
            </a:pPr>
            <a:r>
              <a:rPr sz="1200" b="0" i="0">
                <a:solidFill>
                  <a:srgbClr val="2E3330"/>
                </a:solidFill>
                <a:latin typeface="Yu Gothic"/>
              </a:rPr>
              <a:t>・「1つ変えてみる」を促す</a:t>
            </a:r>
          </a:p>
          <a:p>
            <a:pPr algn="l">
              <a:lnSpc>
                <a:spcPct val="140000"/>
              </a:lnSpc>
            </a:pPr>
            <a:r>
              <a:rPr sz="1200" b="0" i="0">
                <a:solidFill>
                  <a:srgbClr val="2E3330"/>
                </a:solidFill>
                <a:latin typeface="Yu Gothic"/>
              </a:rPr>
              <a:t>・後日、変化を振り返る</a:t>
            </a:r>
          </a:p>
        </p:txBody>
      </p:sp>
      <p:sp>
        <p:nvSpPr>
          <p:cNvPr id="24" name="Rectangle 23"/>
          <p:cNvSpPr/>
          <p:nvPr/>
        </p:nvSpPr>
        <p:spPr>
          <a:xfrm>
            <a:off x="432000" y="4788000"/>
            <a:ext cx="11304000" cy="360000"/>
          </a:xfrm>
          <a:prstGeom prst="rect">
            <a:avLst/>
          </a:prstGeom>
          <a:solidFill>
            <a:srgbClr val="2947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04000" y="4824000"/>
            <a:ext cx="11160000" cy="288000"/>
          </a:xfrm>
          <a:prstGeom prst="rect">
            <a:avLst/>
          </a:prstGeom>
          <a:noFill/>
        </p:spPr>
        <p:txBody>
          <a:bodyPr wrap="square" lIns="36000" rIns="36000" tIns="18000" bIns="18000" anchor="ctr">
            <a:spAutoFit/>
          </a:bodyPr>
          <a:lstStyle/>
          <a:p>
            <a:pPr algn="l"/>
            <a:r>
              <a:rPr sz="1400" b="1" i="0">
                <a:solidFill>
                  <a:srgbClr val="FFFFFF"/>
                </a:solidFill>
                <a:latin typeface="Yu Gothic"/>
              </a:rPr>
              <a:t>法定研修と事業所内研修(OJT)をつなぐ</a:t>
            </a:r>
          </a:p>
        </p:txBody>
      </p:sp>
      <p:sp>
        <p:nvSpPr>
          <p:cNvPr id="26" name="Rectangle 25"/>
          <p:cNvSpPr/>
          <p:nvPr/>
        </p:nvSpPr>
        <p:spPr>
          <a:xfrm>
            <a:off x="432000" y="5148000"/>
            <a:ext cx="11304000" cy="972000"/>
          </a:xfrm>
          <a:prstGeom prst="rect">
            <a:avLst/>
          </a:prstGeom>
          <a:solidFill>
            <a:srgbClr val="E7EC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40000" y="5184000"/>
            <a:ext cx="11088000" cy="936000"/>
          </a:xfrm>
          <a:prstGeom prst="rect">
            <a:avLst/>
          </a:prstGeom>
          <a:noFill/>
        </p:spPr>
        <p:txBody>
          <a:bodyPr wrap="square" lIns="36000" rIns="36000" tIns="18000" bIns="18000" anchor="t">
            <a:spAutoFit/>
          </a:bodyPr>
          <a:lstStyle/>
          <a:p>
            <a:pPr algn="l"/>
            <a:r>
              <a:rPr sz="1300" b="0" i="0">
                <a:solidFill>
                  <a:srgbClr val="2E3330"/>
                </a:solidFill>
                <a:latin typeface="Yu Gothic"/>
              </a:rPr>
              <a:t>■ 法定研修(外部)で得た「考え方・知識」を、事業所内研修・OJT(内部)で「実践」に変える</a:t>
            </a:r>
          </a:p>
          <a:p>
            <a:pPr algn="l"/>
            <a:r>
              <a:rPr sz="1300" b="0" i="0">
                <a:solidFill>
                  <a:srgbClr val="2E3330"/>
                </a:solidFill>
                <a:latin typeface="Yu Gothic"/>
              </a:rPr>
              <a:t>■ 法定研修だけ、事業所内研修だけ、では育たない ― 両輪で回す</a:t>
            </a:r>
          </a:p>
          <a:p>
            <a:pPr algn="l"/>
            <a:r>
              <a:rPr sz="1300" b="0" i="0">
                <a:solidFill>
                  <a:srgbClr val="2E3330"/>
                </a:solidFill>
                <a:latin typeface="Yu Gothic"/>
              </a:rPr>
              <a:t>■ 主任CMは、外部の学びと日々の実務を結びつける「橋渡し役」</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6858000"/>
          </a:xfrm>
          <a:prstGeom prst="rect">
            <a:avLst/>
          </a:prstGeom>
          <a:solidFill>
            <a:srgbClr val="2947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060000"/>
            <a:ext cx="12192119" cy="36000"/>
          </a:xfrm>
          <a:prstGeom prst="rect">
            <a:avLst/>
          </a:prstGeom>
          <a:solidFill>
            <a:srgbClr val="B377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20000" y="2340000"/>
            <a:ext cx="10752119" cy="540000"/>
          </a:xfrm>
          <a:prstGeom prst="rect">
            <a:avLst/>
          </a:prstGeom>
          <a:noFill/>
        </p:spPr>
        <p:txBody>
          <a:bodyPr wrap="square" lIns="36000" rIns="36000" tIns="18000" bIns="18000" anchor="t">
            <a:spAutoFit/>
          </a:bodyPr>
          <a:lstStyle/>
          <a:p>
            <a:pPr algn="ctr"/>
            <a:r>
              <a:rPr sz="2200" b="1" i="0">
                <a:solidFill>
                  <a:srgbClr val="B37739"/>
                </a:solidFill>
                <a:latin typeface="Yu Gothic"/>
              </a:rPr>
              <a:t>PART 6</a:t>
            </a:r>
          </a:p>
        </p:txBody>
      </p:sp>
      <p:sp>
        <p:nvSpPr>
          <p:cNvPr id="5" name="TextBox 4"/>
          <p:cNvSpPr txBox="1"/>
          <p:nvPr/>
        </p:nvSpPr>
        <p:spPr>
          <a:xfrm>
            <a:off x="360000" y="3420000"/>
            <a:ext cx="11472119" cy="720000"/>
          </a:xfrm>
          <a:prstGeom prst="rect">
            <a:avLst/>
          </a:prstGeom>
          <a:noFill/>
        </p:spPr>
        <p:txBody>
          <a:bodyPr wrap="square" lIns="36000" rIns="36000" tIns="18000" bIns="18000" anchor="t">
            <a:spAutoFit/>
          </a:bodyPr>
          <a:lstStyle/>
          <a:p>
            <a:pPr algn="ctr"/>
            <a:r>
              <a:rPr sz="3300" b="1" i="0">
                <a:solidFill>
                  <a:srgbClr val="FFFFFF"/>
                </a:solidFill>
                <a:latin typeface="Yu Gothic"/>
              </a:rPr>
              <a:t>まとめ</a:t>
            </a:r>
          </a:p>
        </p:txBody>
      </p:sp>
      <p:sp>
        <p:nvSpPr>
          <p:cNvPr id="6" name="TextBox 5"/>
          <p:cNvSpPr txBox="1"/>
          <p:nvPr/>
        </p:nvSpPr>
        <p:spPr>
          <a:xfrm>
            <a:off x="360000" y="4680000"/>
            <a:ext cx="11472119" cy="360000"/>
          </a:xfrm>
          <a:prstGeom prst="rect">
            <a:avLst/>
          </a:prstGeom>
          <a:noFill/>
        </p:spPr>
        <p:txBody>
          <a:bodyPr wrap="square" lIns="36000" rIns="36000" tIns="18000" bIns="18000" anchor="t">
            <a:spAutoFit/>
          </a:bodyPr>
          <a:lstStyle/>
          <a:p>
            <a:pPr algn="ctr"/>
            <a:r>
              <a:rPr sz="1400" b="0" i="0">
                <a:solidFill>
                  <a:srgbClr val="D5DBD6"/>
                </a:solidFill>
                <a:latin typeface="Yu Gothic"/>
              </a:rPr>
              <a:t>Wrap Up</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576000"/>
          </a:xfrm>
          <a:prstGeom prst="rect">
            <a:avLst/>
          </a:prstGeom>
          <a:solidFill>
            <a:srgbClr val="2947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88000" y="90000"/>
            <a:ext cx="7920000" cy="216000"/>
          </a:xfrm>
          <a:prstGeom prst="rect">
            <a:avLst/>
          </a:prstGeom>
          <a:noFill/>
        </p:spPr>
        <p:txBody>
          <a:bodyPr wrap="square" lIns="36000" rIns="36000" tIns="18000" bIns="18000" anchor="t">
            <a:spAutoFit/>
          </a:bodyPr>
          <a:lstStyle/>
          <a:p>
            <a:pPr algn="l"/>
            <a:r>
              <a:rPr sz="1100" b="1" i="0">
                <a:solidFill>
                  <a:srgbClr val="FFFFFF"/>
                </a:solidFill>
                <a:latin typeface="Yu Gothic"/>
              </a:rPr>
              <a:t>Closing</a:t>
            </a:r>
          </a:p>
        </p:txBody>
      </p:sp>
      <p:sp>
        <p:nvSpPr>
          <p:cNvPr id="4" name="TextBox 3"/>
          <p:cNvSpPr txBox="1"/>
          <p:nvPr/>
        </p:nvSpPr>
        <p:spPr>
          <a:xfrm>
            <a:off x="288000" y="684000"/>
            <a:ext cx="11616119" cy="468000"/>
          </a:xfrm>
          <a:prstGeom prst="rect">
            <a:avLst/>
          </a:prstGeom>
          <a:noFill/>
        </p:spPr>
        <p:txBody>
          <a:bodyPr wrap="square" lIns="36000" rIns="36000" tIns="18000" bIns="18000" anchor="t">
            <a:spAutoFit/>
          </a:bodyPr>
          <a:lstStyle/>
          <a:p>
            <a:pPr algn="l"/>
            <a:r>
              <a:rPr sz="2300" b="1" i="0">
                <a:solidFill>
                  <a:srgbClr val="294737"/>
                </a:solidFill>
                <a:latin typeface="Yu Gothic"/>
              </a:rPr>
              <a:t>研修・人材育成における主任CMの役割</a:t>
            </a:r>
          </a:p>
        </p:txBody>
      </p:sp>
      <p:sp>
        <p:nvSpPr>
          <p:cNvPr id="5" name="Rectangle 4"/>
          <p:cNvSpPr/>
          <p:nvPr/>
        </p:nvSpPr>
        <p:spPr>
          <a:xfrm>
            <a:off x="288000" y="1152000"/>
            <a:ext cx="900000" cy="43200"/>
          </a:xfrm>
          <a:prstGeom prst="rect">
            <a:avLst/>
          </a:prstGeom>
          <a:solidFill>
            <a:srgbClr val="B377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88000" y="6570000"/>
            <a:ext cx="9720000" cy="180000"/>
          </a:xfrm>
          <a:prstGeom prst="rect">
            <a:avLst/>
          </a:prstGeom>
          <a:noFill/>
        </p:spPr>
        <p:txBody>
          <a:bodyPr wrap="square" lIns="36000" rIns="36000" tIns="18000" bIns="18000" anchor="t">
            <a:spAutoFit/>
          </a:bodyPr>
          <a:lstStyle/>
          <a:p>
            <a:pPr algn="l"/>
            <a:r>
              <a:rPr sz="900" b="0" i="0">
                <a:solidFill>
                  <a:srgbClr val="6E8C7C"/>
                </a:solidFill>
                <a:latin typeface="Yu Gothic"/>
              </a:rPr>
              <a:t>主任CM研修 / 法定研修制度改正への対応と主任CM更新研修の戦略  ※研修制度は最新情報をご確認ください</a:t>
            </a:r>
          </a:p>
        </p:txBody>
      </p:sp>
      <p:sp>
        <p:nvSpPr>
          <p:cNvPr id="7" name="TextBox 6"/>
          <p:cNvSpPr txBox="1"/>
          <p:nvPr/>
        </p:nvSpPr>
        <p:spPr>
          <a:xfrm>
            <a:off x="11112119" y="6570000"/>
            <a:ext cx="792000" cy="180000"/>
          </a:xfrm>
          <a:prstGeom prst="rect">
            <a:avLst/>
          </a:prstGeom>
          <a:noFill/>
        </p:spPr>
        <p:txBody>
          <a:bodyPr wrap="square" lIns="36000" rIns="36000" tIns="18000" bIns="18000" anchor="t">
            <a:spAutoFit/>
          </a:bodyPr>
          <a:lstStyle/>
          <a:p>
            <a:pPr algn="r"/>
            <a:r>
              <a:rPr sz="900" b="0" i="0">
                <a:solidFill>
                  <a:srgbClr val="6E8C7C"/>
                </a:solidFill>
                <a:latin typeface="Yu Gothic"/>
              </a:rPr>
              <a:t>23 / 27</a:t>
            </a:r>
          </a:p>
        </p:txBody>
      </p:sp>
      <p:sp>
        <p:nvSpPr>
          <p:cNvPr id="8" name="Rectangle 7"/>
          <p:cNvSpPr/>
          <p:nvPr/>
        </p:nvSpPr>
        <p:spPr>
          <a:xfrm>
            <a:off x="432000" y="1620000"/>
            <a:ext cx="5580000" cy="360000"/>
          </a:xfrm>
          <a:prstGeom prst="rect">
            <a:avLst/>
          </a:prstGeom>
          <a:solidFill>
            <a:srgbClr val="4063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12000" y="1620000"/>
            <a:ext cx="5220000" cy="360000"/>
          </a:xfrm>
          <a:prstGeom prst="rect">
            <a:avLst/>
          </a:prstGeom>
          <a:noFill/>
        </p:spPr>
        <p:txBody>
          <a:bodyPr wrap="square" lIns="36000" rIns="36000" tIns="18000" bIns="18000" anchor="ctr">
            <a:spAutoFit/>
          </a:bodyPr>
          <a:lstStyle/>
          <a:p>
            <a:pPr algn="l"/>
            <a:r>
              <a:rPr sz="1500" b="1" i="0">
                <a:solidFill>
                  <a:srgbClr val="FFFFFF"/>
                </a:solidFill>
                <a:latin typeface="Yu Gothic"/>
              </a:rPr>
              <a:t>情報を捉える</a:t>
            </a:r>
          </a:p>
        </p:txBody>
      </p:sp>
      <p:sp>
        <p:nvSpPr>
          <p:cNvPr id="10" name="Rectangle 9"/>
          <p:cNvSpPr/>
          <p:nvPr/>
        </p:nvSpPr>
        <p:spPr>
          <a:xfrm>
            <a:off x="432000" y="1980000"/>
            <a:ext cx="5580000" cy="972000"/>
          </a:xfrm>
          <a:prstGeom prst="rect">
            <a:avLst/>
          </a:prstGeom>
          <a:solidFill>
            <a:srgbClr val="E7EC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12000" y="2052000"/>
            <a:ext cx="5220000" cy="828001"/>
          </a:xfrm>
          <a:prstGeom prst="rect">
            <a:avLst/>
          </a:prstGeom>
          <a:noFill/>
        </p:spPr>
        <p:txBody>
          <a:bodyPr wrap="square" lIns="36000" rIns="36000" tIns="18000" bIns="18000" anchor="t">
            <a:spAutoFit/>
          </a:bodyPr>
          <a:lstStyle/>
          <a:p>
            <a:pPr algn="l">
              <a:lnSpc>
                <a:spcPct val="140000"/>
              </a:lnSpc>
            </a:pPr>
            <a:r>
              <a:rPr sz="1200" b="0" i="0">
                <a:solidFill>
                  <a:srgbClr val="2E3330"/>
                </a:solidFill>
                <a:latin typeface="Yu Gothic"/>
              </a:rPr>
              <a:t>・研修制度改正の動向を注視する</a:t>
            </a:r>
          </a:p>
          <a:p>
            <a:pPr algn="l">
              <a:lnSpc>
                <a:spcPct val="140000"/>
              </a:lnSpc>
            </a:pPr>
            <a:r>
              <a:rPr sz="1200" b="0" i="0">
                <a:solidFill>
                  <a:srgbClr val="2E3330"/>
                </a:solidFill>
                <a:latin typeface="Yu Gothic"/>
              </a:rPr>
              <a:t>・複数の確かな情報源を持つ</a:t>
            </a:r>
          </a:p>
          <a:p>
            <a:pPr algn="l">
              <a:lnSpc>
                <a:spcPct val="140000"/>
              </a:lnSpc>
            </a:pPr>
            <a:r>
              <a:rPr sz="1200" b="0" i="0">
                <a:solidFill>
                  <a:srgbClr val="2E3330"/>
                </a:solidFill>
                <a:latin typeface="Yu Gothic"/>
              </a:rPr>
              <a:t>・変化を事業所に正確に伝える</a:t>
            </a:r>
          </a:p>
        </p:txBody>
      </p:sp>
      <p:sp>
        <p:nvSpPr>
          <p:cNvPr id="12" name="Rectangle 11"/>
          <p:cNvSpPr/>
          <p:nvPr/>
        </p:nvSpPr>
        <p:spPr>
          <a:xfrm>
            <a:off x="6156000" y="1620000"/>
            <a:ext cx="5580000" cy="360000"/>
          </a:xfrm>
          <a:prstGeom prst="rect">
            <a:avLst/>
          </a:prstGeom>
          <a:solidFill>
            <a:srgbClr val="B377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36000" y="1620000"/>
            <a:ext cx="5220000" cy="360000"/>
          </a:xfrm>
          <a:prstGeom prst="rect">
            <a:avLst/>
          </a:prstGeom>
          <a:noFill/>
        </p:spPr>
        <p:txBody>
          <a:bodyPr wrap="square" lIns="36000" rIns="36000" tIns="18000" bIns="18000" anchor="ctr">
            <a:spAutoFit/>
          </a:bodyPr>
          <a:lstStyle/>
          <a:p>
            <a:pPr algn="l"/>
            <a:r>
              <a:rPr sz="1500" b="1" i="0">
                <a:solidFill>
                  <a:srgbClr val="FFFFFF"/>
                </a:solidFill>
                <a:latin typeface="Yu Gothic"/>
              </a:rPr>
              <a:t>計画をつくる</a:t>
            </a:r>
          </a:p>
        </p:txBody>
      </p:sp>
      <p:sp>
        <p:nvSpPr>
          <p:cNvPr id="14" name="Rectangle 13"/>
          <p:cNvSpPr/>
          <p:nvPr/>
        </p:nvSpPr>
        <p:spPr>
          <a:xfrm>
            <a:off x="6156000" y="1980000"/>
            <a:ext cx="5580000" cy="972000"/>
          </a:xfrm>
          <a:prstGeom prst="rect">
            <a:avLst/>
          </a:prstGeom>
          <a:solidFill>
            <a:srgbClr val="E7EC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36000" y="2052000"/>
            <a:ext cx="5220000" cy="828001"/>
          </a:xfrm>
          <a:prstGeom prst="rect">
            <a:avLst/>
          </a:prstGeom>
          <a:noFill/>
        </p:spPr>
        <p:txBody>
          <a:bodyPr wrap="square" lIns="36000" rIns="36000" tIns="18000" bIns="18000" anchor="t">
            <a:spAutoFit/>
          </a:bodyPr>
          <a:lstStyle/>
          <a:p>
            <a:pPr algn="l">
              <a:lnSpc>
                <a:spcPct val="140000"/>
              </a:lnSpc>
            </a:pPr>
            <a:r>
              <a:rPr sz="1200" b="0" i="0">
                <a:solidFill>
                  <a:srgbClr val="2E3330"/>
                </a:solidFill>
                <a:latin typeface="Yu Gothic"/>
              </a:rPr>
              <a:t>・職員の研修受講を一覧で管理</a:t>
            </a:r>
          </a:p>
          <a:p>
            <a:pPr algn="l">
              <a:lnSpc>
                <a:spcPct val="140000"/>
              </a:lnSpc>
            </a:pPr>
            <a:r>
              <a:rPr sz="1200" b="0" i="0">
                <a:solidFill>
                  <a:srgbClr val="2E3330"/>
                </a:solidFill>
                <a:latin typeface="Yu Gothic"/>
              </a:rPr>
              <a:t>・人材育成計画に組み込む</a:t>
            </a:r>
          </a:p>
          <a:p>
            <a:pPr algn="l">
              <a:lnSpc>
                <a:spcPct val="140000"/>
              </a:lnSpc>
            </a:pPr>
            <a:r>
              <a:rPr sz="1200" b="0" i="0">
                <a:solidFill>
                  <a:srgbClr val="2E3330"/>
                </a:solidFill>
                <a:latin typeface="Yu Gothic"/>
              </a:rPr>
              <a:t>・「次の主任CM」を計画的に育てる</a:t>
            </a:r>
          </a:p>
        </p:txBody>
      </p:sp>
      <p:sp>
        <p:nvSpPr>
          <p:cNvPr id="16" name="Rectangle 15"/>
          <p:cNvSpPr/>
          <p:nvPr/>
        </p:nvSpPr>
        <p:spPr>
          <a:xfrm>
            <a:off x="432000" y="3060000"/>
            <a:ext cx="5580000" cy="360000"/>
          </a:xfrm>
          <a:prstGeom prst="rect">
            <a:avLst/>
          </a:prstGeom>
          <a:solidFill>
            <a:srgbClr val="2C6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12000" y="3060000"/>
            <a:ext cx="5220000" cy="360000"/>
          </a:xfrm>
          <a:prstGeom prst="rect">
            <a:avLst/>
          </a:prstGeom>
          <a:noFill/>
        </p:spPr>
        <p:txBody>
          <a:bodyPr wrap="square" lIns="36000" rIns="36000" tIns="18000" bIns="18000" anchor="ctr">
            <a:spAutoFit/>
          </a:bodyPr>
          <a:lstStyle/>
          <a:p>
            <a:pPr algn="l"/>
            <a:r>
              <a:rPr sz="1500" b="1" i="0">
                <a:solidFill>
                  <a:srgbClr val="FFFFFF"/>
                </a:solidFill>
                <a:latin typeface="Yu Gothic"/>
              </a:rPr>
              <a:t>体制を整える</a:t>
            </a:r>
          </a:p>
        </p:txBody>
      </p:sp>
      <p:sp>
        <p:nvSpPr>
          <p:cNvPr id="18" name="Rectangle 17"/>
          <p:cNvSpPr/>
          <p:nvPr/>
        </p:nvSpPr>
        <p:spPr>
          <a:xfrm>
            <a:off x="432000" y="3420000"/>
            <a:ext cx="5580000" cy="972000"/>
          </a:xfrm>
          <a:prstGeom prst="rect">
            <a:avLst/>
          </a:prstGeom>
          <a:solidFill>
            <a:srgbClr val="E7EC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12000" y="3492000"/>
            <a:ext cx="5220000" cy="828001"/>
          </a:xfrm>
          <a:prstGeom prst="rect">
            <a:avLst/>
          </a:prstGeom>
          <a:noFill/>
        </p:spPr>
        <p:txBody>
          <a:bodyPr wrap="square" lIns="36000" rIns="36000" tIns="18000" bIns="18000" anchor="t">
            <a:spAutoFit/>
          </a:bodyPr>
          <a:lstStyle/>
          <a:p>
            <a:pPr algn="l">
              <a:lnSpc>
                <a:spcPct val="140000"/>
              </a:lnSpc>
            </a:pPr>
            <a:r>
              <a:rPr sz="1200" b="0" i="0">
                <a:solidFill>
                  <a:srgbClr val="2E3330"/>
                </a:solidFill>
                <a:latin typeface="Yu Gothic"/>
              </a:rPr>
              <a:t>・受講中の業務体制を準備する</a:t>
            </a:r>
          </a:p>
          <a:p>
            <a:pPr algn="l">
              <a:lnSpc>
                <a:spcPct val="140000"/>
              </a:lnSpc>
            </a:pPr>
            <a:r>
              <a:rPr sz="1200" b="0" i="0">
                <a:solidFill>
                  <a:srgbClr val="2E3330"/>
                </a:solidFill>
                <a:latin typeface="Yu Gothic"/>
              </a:rPr>
              <a:t>・費用・時間の確保を後押しする</a:t>
            </a:r>
          </a:p>
          <a:p>
            <a:pPr algn="l">
              <a:lnSpc>
                <a:spcPct val="140000"/>
              </a:lnSpc>
            </a:pPr>
            <a:r>
              <a:rPr sz="1200" b="0" i="0">
                <a:solidFill>
                  <a:srgbClr val="2E3330"/>
                </a:solidFill>
                <a:latin typeface="Yu Gothic"/>
              </a:rPr>
              <a:t>・研修を受けやすい職場にする</a:t>
            </a:r>
          </a:p>
        </p:txBody>
      </p:sp>
      <p:sp>
        <p:nvSpPr>
          <p:cNvPr id="20" name="Rectangle 19"/>
          <p:cNvSpPr/>
          <p:nvPr/>
        </p:nvSpPr>
        <p:spPr>
          <a:xfrm>
            <a:off x="6156000" y="3060000"/>
            <a:ext cx="5580000" cy="360000"/>
          </a:xfrm>
          <a:prstGeom prst="rect">
            <a:avLst/>
          </a:prstGeom>
          <a:solidFill>
            <a:srgbClr val="4453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36000" y="3060000"/>
            <a:ext cx="5220000" cy="360000"/>
          </a:xfrm>
          <a:prstGeom prst="rect">
            <a:avLst/>
          </a:prstGeom>
          <a:noFill/>
        </p:spPr>
        <p:txBody>
          <a:bodyPr wrap="square" lIns="36000" rIns="36000" tIns="18000" bIns="18000" anchor="ctr">
            <a:spAutoFit/>
          </a:bodyPr>
          <a:lstStyle/>
          <a:p>
            <a:pPr algn="l"/>
            <a:r>
              <a:rPr sz="1500" b="1" i="0">
                <a:solidFill>
                  <a:srgbClr val="FFFFFF"/>
                </a:solidFill>
                <a:latin typeface="Yu Gothic"/>
              </a:rPr>
              <a:t>学びを活かす</a:t>
            </a:r>
          </a:p>
        </p:txBody>
      </p:sp>
      <p:sp>
        <p:nvSpPr>
          <p:cNvPr id="22" name="Rectangle 21"/>
          <p:cNvSpPr/>
          <p:nvPr/>
        </p:nvSpPr>
        <p:spPr>
          <a:xfrm>
            <a:off x="6156000" y="3420000"/>
            <a:ext cx="5580000" cy="972000"/>
          </a:xfrm>
          <a:prstGeom prst="rect">
            <a:avLst/>
          </a:prstGeom>
          <a:solidFill>
            <a:srgbClr val="E7EC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36000" y="3492000"/>
            <a:ext cx="5220000" cy="828001"/>
          </a:xfrm>
          <a:prstGeom prst="rect">
            <a:avLst/>
          </a:prstGeom>
          <a:noFill/>
        </p:spPr>
        <p:txBody>
          <a:bodyPr wrap="square" lIns="36000" rIns="36000" tIns="18000" bIns="18000" anchor="t">
            <a:spAutoFit/>
          </a:bodyPr>
          <a:lstStyle/>
          <a:p>
            <a:pPr algn="l">
              <a:lnSpc>
                <a:spcPct val="140000"/>
              </a:lnSpc>
            </a:pPr>
            <a:r>
              <a:rPr sz="1200" b="0" i="0">
                <a:solidFill>
                  <a:srgbClr val="2E3330"/>
                </a:solidFill>
                <a:latin typeface="Yu Gothic"/>
              </a:rPr>
              <a:t>・「受けっぱなし」にしない</a:t>
            </a:r>
          </a:p>
          <a:p>
            <a:pPr algn="l">
              <a:lnSpc>
                <a:spcPct val="140000"/>
              </a:lnSpc>
            </a:pPr>
            <a:r>
              <a:rPr sz="1200" b="0" i="0">
                <a:solidFill>
                  <a:srgbClr val="2E3330"/>
                </a:solidFill>
                <a:latin typeface="Yu Gothic"/>
              </a:rPr>
              <a:t>・学びを共有・実践につなげる</a:t>
            </a:r>
          </a:p>
          <a:p>
            <a:pPr algn="l">
              <a:lnSpc>
                <a:spcPct val="140000"/>
              </a:lnSpc>
            </a:pPr>
            <a:r>
              <a:rPr sz="1200" b="0" i="0">
                <a:solidFill>
                  <a:srgbClr val="2E3330"/>
                </a:solidFill>
                <a:latin typeface="Yu Gothic"/>
              </a:rPr>
              <a:t>・法定研修とOJTを橋渡しする</a:t>
            </a:r>
          </a:p>
        </p:txBody>
      </p:sp>
      <p:sp>
        <p:nvSpPr>
          <p:cNvPr id="24" name="Rectangle 23"/>
          <p:cNvSpPr/>
          <p:nvPr/>
        </p:nvSpPr>
        <p:spPr>
          <a:xfrm>
            <a:off x="432000" y="4788000"/>
            <a:ext cx="11304000" cy="360000"/>
          </a:xfrm>
          <a:prstGeom prst="rect">
            <a:avLst/>
          </a:prstGeom>
          <a:solidFill>
            <a:srgbClr val="2947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04000" y="4824000"/>
            <a:ext cx="11160000" cy="288000"/>
          </a:xfrm>
          <a:prstGeom prst="rect">
            <a:avLst/>
          </a:prstGeom>
          <a:noFill/>
        </p:spPr>
        <p:txBody>
          <a:bodyPr wrap="square" lIns="36000" rIns="36000" tIns="18000" bIns="18000" anchor="ctr">
            <a:spAutoFit/>
          </a:bodyPr>
          <a:lstStyle/>
          <a:p>
            <a:pPr algn="l"/>
            <a:r>
              <a:rPr sz="1400" b="1" i="0">
                <a:solidFill>
                  <a:srgbClr val="FFFFFF"/>
                </a:solidFill>
                <a:latin typeface="Yu Gothic"/>
              </a:rPr>
              <a:t>「研修を受ける人」から「育成を設計する人」へ</a:t>
            </a:r>
          </a:p>
        </p:txBody>
      </p:sp>
      <p:sp>
        <p:nvSpPr>
          <p:cNvPr id="26" name="Rectangle 25"/>
          <p:cNvSpPr/>
          <p:nvPr/>
        </p:nvSpPr>
        <p:spPr>
          <a:xfrm>
            <a:off x="432000" y="5148000"/>
            <a:ext cx="11304000" cy="972000"/>
          </a:xfrm>
          <a:prstGeom prst="rect">
            <a:avLst/>
          </a:prstGeom>
          <a:solidFill>
            <a:srgbClr val="E7EC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40000" y="5184000"/>
            <a:ext cx="11088000" cy="936000"/>
          </a:xfrm>
          <a:prstGeom prst="rect">
            <a:avLst/>
          </a:prstGeom>
          <a:noFill/>
        </p:spPr>
        <p:txBody>
          <a:bodyPr wrap="square" lIns="36000" rIns="36000" tIns="18000" bIns="18000" anchor="t">
            <a:spAutoFit/>
          </a:bodyPr>
          <a:lstStyle/>
          <a:p>
            <a:pPr algn="l"/>
            <a:r>
              <a:rPr sz="1300" b="0" i="0">
                <a:solidFill>
                  <a:srgbClr val="2E3330"/>
                </a:solidFill>
                <a:latin typeface="Yu Gothic"/>
              </a:rPr>
              <a:t>■ 主任CM自身も研修を受け続ける一人 ― だが、それだけにとどまらない</a:t>
            </a:r>
          </a:p>
          <a:p>
            <a:pPr algn="l"/>
            <a:r>
              <a:rPr sz="1300" b="0" i="0">
                <a:solidFill>
                  <a:srgbClr val="2E3330"/>
                </a:solidFill>
                <a:latin typeface="Yu Gothic"/>
              </a:rPr>
              <a:t>■ 事業所全体の研修・育成を「設計し、まわす」のが主任CMの役割</a:t>
            </a:r>
          </a:p>
          <a:p>
            <a:pPr algn="l"/>
            <a:r>
              <a:rPr sz="1300" b="0" i="0">
                <a:solidFill>
                  <a:srgbClr val="2E3330"/>
                </a:solidFill>
                <a:latin typeface="Yu Gothic"/>
              </a:rPr>
              <a:t>■ 計画的な人材育成こそ、ケアの質と、事業所の持続性を支える土台になる</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576000"/>
          </a:xfrm>
          <a:prstGeom prst="rect">
            <a:avLst/>
          </a:prstGeom>
          <a:solidFill>
            <a:srgbClr val="2947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88000" y="90000"/>
            <a:ext cx="7920000" cy="216000"/>
          </a:xfrm>
          <a:prstGeom prst="rect">
            <a:avLst/>
          </a:prstGeom>
          <a:noFill/>
        </p:spPr>
        <p:txBody>
          <a:bodyPr wrap="square" lIns="36000" rIns="36000" tIns="18000" bIns="18000" anchor="t">
            <a:spAutoFit/>
          </a:bodyPr>
          <a:lstStyle/>
          <a:p>
            <a:pPr algn="l"/>
            <a:r>
              <a:rPr sz="1100" b="1" i="0">
                <a:solidFill>
                  <a:srgbClr val="FFFFFF"/>
                </a:solidFill>
                <a:latin typeface="Yu Gothic"/>
              </a:rPr>
              <a:t>Closing</a:t>
            </a:r>
          </a:p>
        </p:txBody>
      </p:sp>
      <p:sp>
        <p:nvSpPr>
          <p:cNvPr id="4" name="TextBox 3"/>
          <p:cNvSpPr txBox="1"/>
          <p:nvPr/>
        </p:nvSpPr>
        <p:spPr>
          <a:xfrm>
            <a:off x="288000" y="684000"/>
            <a:ext cx="11616119" cy="468000"/>
          </a:xfrm>
          <a:prstGeom prst="rect">
            <a:avLst/>
          </a:prstGeom>
          <a:noFill/>
        </p:spPr>
        <p:txBody>
          <a:bodyPr wrap="square" lIns="36000" rIns="36000" tIns="18000" bIns="18000" anchor="t">
            <a:spAutoFit/>
          </a:bodyPr>
          <a:lstStyle/>
          <a:p>
            <a:pPr algn="l"/>
            <a:r>
              <a:rPr sz="2300" b="1" i="0">
                <a:solidFill>
                  <a:srgbClr val="294737"/>
                </a:solidFill>
                <a:latin typeface="Yu Gothic"/>
              </a:rPr>
              <a:t>明日からの 3 つのアクション</a:t>
            </a:r>
          </a:p>
        </p:txBody>
      </p:sp>
      <p:sp>
        <p:nvSpPr>
          <p:cNvPr id="5" name="Rectangle 4"/>
          <p:cNvSpPr/>
          <p:nvPr/>
        </p:nvSpPr>
        <p:spPr>
          <a:xfrm>
            <a:off x="288000" y="1152000"/>
            <a:ext cx="900000" cy="43200"/>
          </a:xfrm>
          <a:prstGeom prst="rect">
            <a:avLst/>
          </a:prstGeom>
          <a:solidFill>
            <a:srgbClr val="B377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88000" y="6570000"/>
            <a:ext cx="9720000" cy="180000"/>
          </a:xfrm>
          <a:prstGeom prst="rect">
            <a:avLst/>
          </a:prstGeom>
          <a:noFill/>
        </p:spPr>
        <p:txBody>
          <a:bodyPr wrap="square" lIns="36000" rIns="36000" tIns="18000" bIns="18000" anchor="t">
            <a:spAutoFit/>
          </a:bodyPr>
          <a:lstStyle/>
          <a:p>
            <a:pPr algn="l"/>
            <a:r>
              <a:rPr sz="900" b="0" i="0">
                <a:solidFill>
                  <a:srgbClr val="6E8C7C"/>
                </a:solidFill>
                <a:latin typeface="Yu Gothic"/>
              </a:rPr>
              <a:t>主任CM研修 / 法定研修制度改正への対応と主任CM更新研修の戦略  ※研修制度は最新情報をご確認ください</a:t>
            </a:r>
          </a:p>
        </p:txBody>
      </p:sp>
      <p:sp>
        <p:nvSpPr>
          <p:cNvPr id="7" name="TextBox 6"/>
          <p:cNvSpPr txBox="1"/>
          <p:nvPr/>
        </p:nvSpPr>
        <p:spPr>
          <a:xfrm>
            <a:off x="11112119" y="6570000"/>
            <a:ext cx="792000" cy="180000"/>
          </a:xfrm>
          <a:prstGeom prst="rect">
            <a:avLst/>
          </a:prstGeom>
          <a:noFill/>
        </p:spPr>
        <p:txBody>
          <a:bodyPr wrap="square" lIns="36000" rIns="36000" tIns="18000" bIns="18000" anchor="t">
            <a:spAutoFit/>
          </a:bodyPr>
          <a:lstStyle/>
          <a:p>
            <a:pPr algn="r"/>
            <a:r>
              <a:rPr sz="900" b="0" i="0">
                <a:solidFill>
                  <a:srgbClr val="6E8C7C"/>
                </a:solidFill>
                <a:latin typeface="Yu Gothic"/>
              </a:rPr>
              <a:t>24 / 27</a:t>
            </a:r>
          </a:p>
        </p:txBody>
      </p:sp>
      <p:sp>
        <p:nvSpPr>
          <p:cNvPr id="8" name="Rectangle 7"/>
          <p:cNvSpPr/>
          <p:nvPr/>
        </p:nvSpPr>
        <p:spPr>
          <a:xfrm>
            <a:off x="432000" y="1620000"/>
            <a:ext cx="1620000" cy="1332000"/>
          </a:xfrm>
          <a:prstGeom prst="rect">
            <a:avLst/>
          </a:prstGeom>
          <a:solidFill>
            <a:srgbClr val="4063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32000" y="1764000"/>
            <a:ext cx="1620000" cy="360000"/>
          </a:xfrm>
          <a:prstGeom prst="rect">
            <a:avLst/>
          </a:prstGeom>
          <a:noFill/>
        </p:spPr>
        <p:txBody>
          <a:bodyPr wrap="square" lIns="36000" rIns="36000" tIns="18000" bIns="18000" anchor="t">
            <a:spAutoFit/>
          </a:bodyPr>
          <a:lstStyle/>
          <a:p>
            <a:pPr algn="ctr"/>
            <a:r>
              <a:rPr sz="1400" b="1" i="0">
                <a:solidFill>
                  <a:srgbClr val="FFFFFF"/>
                </a:solidFill>
                <a:latin typeface="Yu Gothic"/>
              </a:rPr>
              <a:t>Action 1</a:t>
            </a:r>
          </a:p>
        </p:txBody>
      </p:sp>
      <p:sp>
        <p:nvSpPr>
          <p:cNvPr id="10" name="TextBox 9"/>
          <p:cNvSpPr txBox="1"/>
          <p:nvPr/>
        </p:nvSpPr>
        <p:spPr>
          <a:xfrm>
            <a:off x="432000" y="2160000"/>
            <a:ext cx="1620000" cy="648000"/>
          </a:xfrm>
          <a:prstGeom prst="rect">
            <a:avLst/>
          </a:prstGeom>
          <a:noFill/>
        </p:spPr>
        <p:txBody>
          <a:bodyPr wrap="square" lIns="36000" rIns="36000" tIns="18000" bIns="18000" anchor="ctr">
            <a:spAutoFit/>
          </a:bodyPr>
          <a:lstStyle/>
          <a:p>
            <a:pPr algn="ctr"/>
            <a:r>
              <a:rPr sz="2400" b="1" i="0">
                <a:solidFill>
                  <a:srgbClr val="FFFFFF"/>
                </a:solidFill>
                <a:latin typeface="Yu Gothic"/>
              </a:rPr>
              <a:t>1</a:t>
            </a:r>
          </a:p>
        </p:txBody>
      </p:sp>
      <p:sp>
        <p:nvSpPr>
          <p:cNvPr id="11" name="Rectangle 10"/>
          <p:cNvSpPr/>
          <p:nvPr/>
        </p:nvSpPr>
        <p:spPr>
          <a:xfrm>
            <a:off x="2052000" y="1620000"/>
            <a:ext cx="9708119" cy="1332000"/>
          </a:xfrm>
          <a:prstGeom prst="rect">
            <a:avLst/>
          </a:prstGeom>
          <a:solidFill>
            <a:srgbClr val="E7EC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160000" y="1728000"/>
            <a:ext cx="9492119" cy="360000"/>
          </a:xfrm>
          <a:prstGeom prst="rect">
            <a:avLst/>
          </a:prstGeom>
          <a:noFill/>
        </p:spPr>
        <p:txBody>
          <a:bodyPr wrap="square" lIns="36000" rIns="36000" tIns="18000" bIns="18000" anchor="t">
            <a:spAutoFit/>
          </a:bodyPr>
          <a:lstStyle/>
          <a:p>
            <a:pPr algn="l"/>
            <a:r>
              <a:rPr sz="1600" b="1" i="0">
                <a:solidFill>
                  <a:srgbClr val="294737"/>
                </a:solidFill>
                <a:latin typeface="Yu Gothic"/>
              </a:rPr>
              <a:t>自分と職員の「更新期限」を確認する</a:t>
            </a:r>
          </a:p>
        </p:txBody>
      </p:sp>
      <p:sp>
        <p:nvSpPr>
          <p:cNvPr id="13" name="TextBox 12"/>
          <p:cNvSpPr txBox="1"/>
          <p:nvPr/>
        </p:nvSpPr>
        <p:spPr>
          <a:xfrm>
            <a:off x="2160000" y="2123999"/>
            <a:ext cx="9492119" cy="792000"/>
          </a:xfrm>
          <a:prstGeom prst="rect">
            <a:avLst/>
          </a:prstGeom>
          <a:noFill/>
        </p:spPr>
        <p:txBody>
          <a:bodyPr wrap="square" lIns="36000" rIns="36000" tIns="18000" bIns="18000" anchor="t">
            <a:spAutoFit/>
          </a:bodyPr>
          <a:lstStyle/>
          <a:p>
            <a:pPr algn="l">
              <a:lnSpc>
                <a:spcPct val="140000"/>
              </a:lnSpc>
            </a:pPr>
            <a:r>
              <a:rPr sz="1200" b="0" i="0">
                <a:solidFill>
                  <a:srgbClr val="2E3330"/>
                </a:solidFill>
                <a:latin typeface="Yu Gothic"/>
              </a:rPr>
              <a:t>・主任CM更新研修・介護支援専門員証の更新時期を、全員分洗い出す</a:t>
            </a:r>
          </a:p>
          <a:p>
            <a:pPr algn="l">
              <a:lnSpc>
                <a:spcPct val="140000"/>
              </a:lnSpc>
            </a:pPr>
            <a:r>
              <a:rPr sz="1200" b="0" i="0">
                <a:solidFill>
                  <a:srgbClr val="2E3330"/>
                </a:solidFill>
                <a:latin typeface="Yu Gothic"/>
              </a:rPr>
              <a:t>・受講要件を満たしているかも併せて確認する</a:t>
            </a:r>
          </a:p>
        </p:txBody>
      </p:sp>
      <p:sp>
        <p:nvSpPr>
          <p:cNvPr id="14" name="Rectangle 13"/>
          <p:cNvSpPr/>
          <p:nvPr/>
        </p:nvSpPr>
        <p:spPr>
          <a:xfrm>
            <a:off x="432000" y="3060000"/>
            <a:ext cx="1620000" cy="1332000"/>
          </a:xfrm>
          <a:prstGeom prst="rect">
            <a:avLst/>
          </a:prstGeom>
          <a:solidFill>
            <a:srgbClr val="B377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32000" y="3204000"/>
            <a:ext cx="1620000" cy="360000"/>
          </a:xfrm>
          <a:prstGeom prst="rect">
            <a:avLst/>
          </a:prstGeom>
          <a:noFill/>
        </p:spPr>
        <p:txBody>
          <a:bodyPr wrap="square" lIns="36000" rIns="36000" tIns="18000" bIns="18000" anchor="t">
            <a:spAutoFit/>
          </a:bodyPr>
          <a:lstStyle/>
          <a:p>
            <a:pPr algn="ctr"/>
            <a:r>
              <a:rPr sz="1400" b="1" i="0">
                <a:solidFill>
                  <a:srgbClr val="FFFFFF"/>
                </a:solidFill>
                <a:latin typeface="Yu Gothic"/>
              </a:rPr>
              <a:t>Action 2</a:t>
            </a:r>
          </a:p>
        </p:txBody>
      </p:sp>
      <p:sp>
        <p:nvSpPr>
          <p:cNvPr id="16" name="TextBox 15"/>
          <p:cNvSpPr txBox="1"/>
          <p:nvPr/>
        </p:nvSpPr>
        <p:spPr>
          <a:xfrm>
            <a:off x="432000" y="3600000"/>
            <a:ext cx="1620000" cy="648000"/>
          </a:xfrm>
          <a:prstGeom prst="rect">
            <a:avLst/>
          </a:prstGeom>
          <a:noFill/>
        </p:spPr>
        <p:txBody>
          <a:bodyPr wrap="square" lIns="36000" rIns="36000" tIns="18000" bIns="18000" anchor="ctr">
            <a:spAutoFit/>
          </a:bodyPr>
          <a:lstStyle/>
          <a:p>
            <a:pPr algn="ctr"/>
            <a:r>
              <a:rPr sz="2400" b="1" i="0">
                <a:solidFill>
                  <a:srgbClr val="FFFFFF"/>
                </a:solidFill>
                <a:latin typeface="Yu Gothic"/>
              </a:rPr>
              <a:t>2</a:t>
            </a:r>
          </a:p>
        </p:txBody>
      </p:sp>
      <p:sp>
        <p:nvSpPr>
          <p:cNvPr id="17" name="Rectangle 16"/>
          <p:cNvSpPr/>
          <p:nvPr/>
        </p:nvSpPr>
        <p:spPr>
          <a:xfrm>
            <a:off x="2052000" y="3060000"/>
            <a:ext cx="9708119" cy="1332000"/>
          </a:xfrm>
          <a:prstGeom prst="rect">
            <a:avLst/>
          </a:prstGeom>
          <a:solidFill>
            <a:srgbClr val="E7EC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160000" y="3168000"/>
            <a:ext cx="9492119" cy="360000"/>
          </a:xfrm>
          <a:prstGeom prst="rect">
            <a:avLst/>
          </a:prstGeom>
          <a:noFill/>
        </p:spPr>
        <p:txBody>
          <a:bodyPr wrap="square" lIns="36000" rIns="36000" tIns="18000" bIns="18000" anchor="t">
            <a:spAutoFit/>
          </a:bodyPr>
          <a:lstStyle/>
          <a:p>
            <a:pPr algn="l"/>
            <a:r>
              <a:rPr sz="1600" b="1" i="0">
                <a:solidFill>
                  <a:srgbClr val="294737"/>
                </a:solidFill>
                <a:latin typeface="Yu Gothic"/>
              </a:rPr>
              <a:t>研修受講管理表をつくる/見直す</a:t>
            </a:r>
          </a:p>
        </p:txBody>
      </p:sp>
      <p:sp>
        <p:nvSpPr>
          <p:cNvPr id="19" name="TextBox 18"/>
          <p:cNvSpPr txBox="1"/>
          <p:nvPr/>
        </p:nvSpPr>
        <p:spPr>
          <a:xfrm>
            <a:off x="2160000" y="3563999"/>
            <a:ext cx="9492119" cy="792000"/>
          </a:xfrm>
          <a:prstGeom prst="rect">
            <a:avLst/>
          </a:prstGeom>
          <a:noFill/>
        </p:spPr>
        <p:txBody>
          <a:bodyPr wrap="square" lIns="36000" rIns="36000" tIns="18000" bIns="18000" anchor="t">
            <a:spAutoFit/>
          </a:bodyPr>
          <a:lstStyle/>
          <a:p>
            <a:pPr algn="l">
              <a:lnSpc>
                <a:spcPct val="140000"/>
              </a:lnSpc>
            </a:pPr>
            <a:r>
              <a:rPr sz="1200" b="0" i="0">
                <a:solidFill>
                  <a:srgbClr val="2E3330"/>
                </a:solidFill>
                <a:latin typeface="Yu Gothic"/>
              </a:rPr>
              <a:t>・「誰が・いつ・何の研修を」受けるかを一覧化する</a:t>
            </a:r>
          </a:p>
          <a:p>
            <a:pPr algn="l">
              <a:lnSpc>
                <a:spcPct val="140000"/>
              </a:lnSpc>
            </a:pPr>
            <a:r>
              <a:rPr sz="1200" b="0" i="0">
                <a:solidFill>
                  <a:srgbClr val="2E3330"/>
                </a:solidFill>
                <a:latin typeface="Yu Gothic"/>
              </a:rPr>
              <a:t>・年度初めに点検する習慣を、事業所のルールにする</a:t>
            </a:r>
          </a:p>
        </p:txBody>
      </p:sp>
      <p:sp>
        <p:nvSpPr>
          <p:cNvPr id="20" name="Rectangle 19"/>
          <p:cNvSpPr/>
          <p:nvPr/>
        </p:nvSpPr>
        <p:spPr>
          <a:xfrm>
            <a:off x="432000" y="4500000"/>
            <a:ext cx="1620000" cy="1332000"/>
          </a:xfrm>
          <a:prstGeom prst="rect">
            <a:avLst/>
          </a:prstGeom>
          <a:solidFill>
            <a:srgbClr val="2C6E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32000" y="4644000"/>
            <a:ext cx="1620000" cy="360000"/>
          </a:xfrm>
          <a:prstGeom prst="rect">
            <a:avLst/>
          </a:prstGeom>
          <a:noFill/>
        </p:spPr>
        <p:txBody>
          <a:bodyPr wrap="square" lIns="36000" rIns="36000" tIns="18000" bIns="18000" anchor="t">
            <a:spAutoFit/>
          </a:bodyPr>
          <a:lstStyle/>
          <a:p>
            <a:pPr algn="ctr"/>
            <a:r>
              <a:rPr sz="1400" b="1" i="0">
                <a:solidFill>
                  <a:srgbClr val="FFFFFF"/>
                </a:solidFill>
                <a:latin typeface="Yu Gothic"/>
              </a:rPr>
              <a:t>Action 3</a:t>
            </a:r>
          </a:p>
        </p:txBody>
      </p:sp>
      <p:sp>
        <p:nvSpPr>
          <p:cNvPr id="22" name="TextBox 21"/>
          <p:cNvSpPr txBox="1"/>
          <p:nvPr/>
        </p:nvSpPr>
        <p:spPr>
          <a:xfrm>
            <a:off x="432000" y="5040000"/>
            <a:ext cx="1620000" cy="648000"/>
          </a:xfrm>
          <a:prstGeom prst="rect">
            <a:avLst/>
          </a:prstGeom>
          <a:noFill/>
        </p:spPr>
        <p:txBody>
          <a:bodyPr wrap="square" lIns="36000" rIns="36000" tIns="18000" bIns="18000" anchor="ctr">
            <a:spAutoFit/>
          </a:bodyPr>
          <a:lstStyle/>
          <a:p>
            <a:pPr algn="ctr"/>
            <a:r>
              <a:rPr sz="2400" b="1" i="0">
                <a:solidFill>
                  <a:srgbClr val="FFFFFF"/>
                </a:solidFill>
                <a:latin typeface="Yu Gothic"/>
              </a:rPr>
              <a:t>3</a:t>
            </a:r>
          </a:p>
        </p:txBody>
      </p:sp>
      <p:sp>
        <p:nvSpPr>
          <p:cNvPr id="23" name="Rectangle 22"/>
          <p:cNvSpPr/>
          <p:nvPr/>
        </p:nvSpPr>
        <p:spPr>
          <a:xfrm>
            <a:off x="2052000" y="4500000"/>
            <a:ext cx="9708119" cy="1332000"/>
          </a:xfrm>
          <a:prstGeom prst="rect">
            <a:avLst/>
          </a:prstGeom>
          <a:solidFill>
            <a:srgbClr val="E7EC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160000" y="4608000"/>
            <a:ext cx="9492119" cy="360000"/>
          </a:xfrm>
          <a:prstGeom prst="rect">
            <a:avLst/>
          </a:prstGeom>
          <a:noFill/>
        </p:spPr>
        <p:txBody>
          <a:bodyPr wrap="square" lIns="36000" rIns="36000" tIns="18000" bIns="18000" anchor="t">
            <a:spAutoFit/>
          </a:bodyPr>
          <a:lstStyle/>
          <a:p>
            <a:pPr algn="l"/>
            <a:r>
              <a:rPr sz="1600" b="1" i="0">
                <a:solidFill>
                  <a:srgbClr val="294737"/>
                </a:solidFill>
                <a:latin typeface="Yu Gothic"/>
              </a:rPr>
              <a:t>次の研修の「学びの還元」を設計する</a:t>
            </a:r>
          </a:p>
        </p:txBody>
      </p:sp>
      <p:sp>
        <p:nvSpPr>
          <p:cNvPr id="25" name="TextBox 24"/>
          <p:cNvSpPr txBox="1"/>
          <p:nvPr/>
        </p:nvSpPr>
        <p:spPr>
          <a:xfrm>
            <a:off x="2160000" y="5003999"/>
            <a:ext cx="9492119" cy="792000"/>
          </a:xfrm>
          <a:prstGeom prst="rect">
            <a:avLst/>
          </a:prstGeom>
          <a:noFill/>
        </p:spPr>
        <p:txBody>
          <a:bodyPr wrap="square" lIns="36000" rIns="36000" tIns="18000" bIns="18000" anchor="t">
            <a:spAutoFit/>
          </a:bodyPr>
          <a:lstStyle/>
          <a:p>
            <a:pPr algn="l">
              <a:lnSpc>
                <a:spcPct val="140000"/>
              </a:lnSpc>
            </a:pPr>
            <a:r>
              <a:rPr sz="1200" b="0" i="0">
                <a:solidFill>
                  <a:srgbClr val="2E3330"/>
                </a:solidFill>
                <a:latin typeface="Yu Gothic"/>
              </a:rPr>
              <a:t>・次に職員が研修に行くとき、受講後に学びを共有する場をあらかじめ決めておく</a:t>
            </a:r>
          </a:p>
          <a:p>
            <a:pPr algn="l">
              <a:lnSpc>
                <a:spcPct val="140000"/>
              </a:lnSpc>
            </a:pPr>
            <a:r>
              <a:rPr sz="1200" b="0" i="0">
                <a:solidFill>
                  <a:srgbClr val="2E3330"/>
                </a:solidFill>
                <a:latin typeface="Yu Gothic"/>
              </a:rPr>
              <a:t>・「持ち帰った1つを実務でどう活かすか」まで確認する</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6858000"/>
          </a:xfrm>
          <a:prstGeom prst="rect">
            <a:avLst/>
          </a:prstGeom>
          <a:solidFill>
            <a:srgbClr val="2947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520000"/>
            <a:ext cx="12192119" cy="36000"/>
          </a:xfrm>
          <a:prstGeom prst="rect">
            <a:avLst/>
          </a:prstGeom>
          <a:solidFill>
            <a:srgbClr val="B377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20000" y="1080000"/>
            <a:ext cx="10752119" cy="360000"/>
          </a:xfrm>
          <a:prstGeom prst="rect">
            <a:avLst/>
          </a:prstGeom>
          <a:noFill/>
        </p:spPr>
        <p:txBody>
          <a:bodyPr wrap="square" lIns="36000" rIns="36000" tIns="18000" bIns="18000" anchor="t">
            <a:spAutoFit/>
          </a:bodyPr>
          <a:lstStyle/>
          <a:p>
            <a:pPr algn="ctr"/>
            <a:r>
              <a:rPr sz="1400" b="1" i="0">
                <a:solidFill>
                  <a:srgbClr val="B37739"/>
                </a:solidFill>
                <a:latin typeface="Yu Gothic"/>
              </a:rPr>
              <a:t>Closing Message</a:t>
            </a:r>
          </a:p>
        </p:txBody>
      </p:sp>
      <p:sp>
        <p:nvSpPr>
          <p:cNvPr id="5" name="TextBox 4"/>
          <p:cNvSpPr txBox="1"/>
          <p:nvPr/>
        </p:nvSpPr>
        <p:spPr>
          <a:xfrm>
            <a:off x="720000" y="2880000"/>
            <a:ext cx="10752119" cy="1080000"/>
          </a:xfrm>
          <a:prstGeom prst="rect">
            <a:avLst/>
          </a:prstGeom>
          <a:noFill/>
        </p:spPr>
        <p:txBody>
          <a:bodyPr wrap="square" lIns="36000" rIns="36000" tIns="18000" bIns="18000" anchor="t">
            <a:spAutoFit/>
          </a:bodyPr>
          <a:lstStyle/>
          <a:p>
            <a:pPr algn="ctr">
              <a:lnSpc>
                <a:spcPct val="140000"/>
              </a:lnSpc>
            </a:pPr>
            <a:r>
              <a:rPr sz="2600" b="1" i="0">
                <a:solidFill>
                  <a:srgbClr val="FFFFFF"/>
                </a:solidFill>
                <a:latin typeface="Yu Gothic"/>
              </a:rPr>
              <a:t>研修は「義務」ではなく、</a:t>
            </a:r>
          </a:p>
          <a:p>
            <a:pPr algn="ctr">
              <a:lnSpc>
                <a:spcPct val="140000"/>
              </a:lnSpc>
            </a:pPr>
            <a:r>
              <a:rPr sz="2600" b="1" i="0">
                <a:solidFill>
                  <a:srgbClr val="FFFFFF"/>
                </a:solidFill>
                <a:latin typeface="Yu Gothic"/>
              </a:rPr>
              <a:t>人と事業所の未来への投資。</a:t>
            </a:r>
          </a:p>
        </p:txBody>
      </p:sp>
      <p:sp>
        <p:nvSpPr>
          <p:cNvPr id="6" name="TextBox 5"/>
          <p:cNvSpPr txBox="1"/>
          <p:nvPr/>
        </p:nvSpPr>
        <p:spPr>
          <a:xfrm>
            <a:off x="1080000" y="4500000"/>
            <a:ext cx="10032119" cy="1080000"/>
          </a:xfrm>
          <a:prstGeom prst="rect">
            <a:avLst/>
          </a:prstGeom>
          <a:noFill/>
        </p:spPr>
        <p:txBody>
          <a:bodyPr wrap="square" lIns="36000" rIns="36000" tIns="18000" bIns="18000" anchor="t">
            <a:spAutoFit/>
          </a:bodyPr>
          <a:lstStyle/>
          <a:p>
            <a:pPr algn="ctr">
              <a:lnSpc>
                <a:spcPct val="160000"/>
              </a:lnSpc>
            </a:pPr>
            <a:r>
              <a:rPr sz="1400" b="0" i="0">
                <a:solidFill>
                  <a:srgbClr val="D5DBD6"/>
                </a:solidFill>
                <a:latin typeface="Yu Gothic"/>
              </a:rPr>
              <a:t>制度は変わり続け、研修の負担に追われる日々かもしれません。</a:t>
            </a:r>
          </a:p>
          <a:p>
            <a:pPr algn="ctr">
              <a:lnSpc>
                <a:spcPct val="160000"/>
              </a:lnSpc>
            </a:pPr>
            <a:r>
              <a:rPr sz="1400" b="0" i="0">
                <a:solidFill>
                  <a:srgbClr val="D5DBD6"/>
                </a:solidFill>
                <a:latin typeface="Yu Gothic"/>
              </a:rPr>
              <a:t>それでも、計画的に学びを設計し、一人ひとりの成長を支えること。</a:t>
            </a:r>
          </a:p>
          <a:p>
            <a:pPr algn="ctr">
              <a:lnSpc>
                <a:spcPct val="160000"/>
              </a:lnSpc>
            </a:pPr>
            <a:r>
              <a:rPr sz="1400" b="0" i="0">
                <a:solidFill>
                  <a:srgbClr val="D5DBD6"/>
                </a:solidFill>
                <a:latin typeface="Yu Gothic"/>
              </a:rPr>
              <a:t>その積み重ねが、ケアの質と、あなたの事業所の明日を確かに支えます。</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576000"/>
          </a:xfrm>
          <a:prstGeom prst="rect">
            <a:avLst/>
          </a:prstGeom>
          <a:solidFill>
            <a:srgbClr val="2947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88000" y="90000"/>
            <a:ext cx="7920000" cy="216000"/>
          </a:xfrm>
          <a:prstGeom prst="rect">
            <a:avLst/>
          </a:prstGeom>
          <a:noFill/>
        </p:spPr>
        <p:txBody>
          <a:bodyPr wrap="square" lIns="36000" rIns="36000" tIns="18000" bIns="18000" anchor="t">
            <a:spAutoFit/>
          </a:bodyPr>
          <a:lstStyle/>
          <a:p>
            <a:pPr algn="l"/>
            <a:r>
              <a:rPr sz="1100" b="1" i="0">
                <a:solidFill>
                  <a:srgbClr val="FFFFFF"/>
                </a:solidFill>
                <a:latin typeface="Yu Gothic"/>
              </a:rPr>
              <a:t>Reference</a:t>
            </a:r>
          </a:p>
        </p:txBody>
      </p:sp>
      <p:sp>
        <p:nvSpPr>
          <p:cNvPr id="4" name="TextBox 3"/>
          <p:cNvSpPr txBox="1"/>
          <p:nvPr/>
        </p:nvSpPr>
        <p:spPr>
          <a:xfrm>
            <a:off x="288000" y="684000"/>
            <a:ext cx="11616119" cy="468000"/>
          </a:xfrm>
          <a:prstGeom prst="rect">
            <a:avLst/>
          </a:prstGeom>
          <a:noFill/>
        </p:spPr>
        <p:txBody>
          <a:bodyPr wrap="square" lIns="36000" rIns="36000" tIns="18000" bIns="18000" anchor="t">
            <a:spAutoFit/>
          </a:bodyPr>
          <a:lstStyle/>
          <a:p>
            <a:pPr algn="l"/>
            <a:r>
              <a:rPr sz="2300" b="1" i="0">
                <a:solidFill>
                  <a:srgbClr val="294737"/>
                </a:solidFill>
                <a:latin typeface="Yu Gothic"/>
              </a:rPr>
              <a:t>参考資料 ・ 情報源</a:t>
            </a:r>
          </a:p>
        </p:txBody>
      </p:sp>
      <p:sp>
        <p:nvSpPr>
          <p:cNvPr id="5" name="Rectangle 4"/>
          <p:cNvSpPr/>
          <p:nvPr/>
        </p:nvSpPr>
        <p:spPr>
          <a:xfrm>
            <a:off x="288000" y="1152000"/>
            <a:ext cx="900000" cy="43200"/>
          </a:xfrm>
          <a:prstGeom prst="rect">
            <a:avLst/>
          </a:prstGeom>
          <a:solidFill>
            <a:srgbClr val="B377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88000" y="6570000"/>
            <a:ext cx="9720000" cy="180000"/>
          </a:xfrm>
          <a:prstGeom prst="rect">
            <a:avLst/>
          </a:prstGeom>
          <a:noFill/>
        </p:spPr>
        <p:txBody>
          <a:bodyPr wrap="square" lIns="36000" rIns="36000" tIns="18000" bIns="18000" anchor="t">
            <a:spAutoFit/>
          </a:bodyPr>
          <a:lstStyle/>
          <a:p>
            <a:pPr algn="l"/>
            <a:r>
              <a:rPr sz="900" b="0" i="0">
                <a:solidFill>
                  <a:srgbClr val="6E8C7C"/>
                </a:solidFill>
                <a:latin typeface="Yu Gothic"/>
              </a:rPr>
              <a:t>主任CM研修 / 法定研修制度改正への対応と主任CM更新研修の戦略  ※研修制度は最新情報をご確認ください</a:t>
            </a:r>
          </a:p>
        </p:txBody>
      </p:sp>
      <p:sp>
        <p:nvSpPr>
          <p:cNvPr id="7" name="TextBox 6"/>
          <p:cNvSpPr txBox="1"/>
          <p:nvPr/>
        </p:nvSpPr>
        <p:spPr>
          <a:xfrm>
            <a:off x="11112119" y="6570000"/>
            <a:ext cx="792000" cy="180000"/>
          </a:xfrm>
          <a:prstGeom prst="rect">
            <a:avLst/>
          </a:prstGeom>
          <a:noFill/>
        </p:spPr>
        <p:txBody>
          <a:bodyPr wrap="square" lIns="36000" rIns="36000" tIns="18000" bIns="18000" anchor="t">
            <a:spAutoFit/>
          </a:bodyPr>
          <a:lstStyle/>
          <a:p>
            <a:pPr algn="r"/>
            <a:r>
              <a:rPr sz="900" b="0" i="0">
                <a:solidFill>
                  <a:srgbClr val="6E8C7C"/>
                </a:solidFill>
                <a:latin typeface="Yu Gothic"/>
              </a:rPr>
              <a:t>26 / 27</a:t>
            </a:r>
          </a:p>
        </p:txBody>
      </p:sp>
      <p:sp>
        <p:nvSpPr>
          <p:cNvPr id="8" name="TextBox 7"/>
          <p:cNvSpPr txBox="1"/>
          <p:nvPr/>
        </p:nvSpPr>
        <p:spPr>
          <a:xfrm>
            <a:off x="720000" y="1620000"/>
            <a:ext cx="10752119" cy="360000"/>
          </a:xfrm>
          <a:prstGeom prst="rect">
            <a:avLst/>
          </a:prstGeom>
          <a:noFill/>
        </p:spPr>
        <p:txBody>
          <a:bodyPr wrap="square" lIns="36000" rIns="36000" tIns="18000" bIns="18000" anchor="t">
            <a:spAutoFit/>
          </a:bodyPr>
          <a:lstStyle/>
          <a:p>
            <a:pPr algn="l"/>
            <a:r>
              <a:rPr sz="1300" b="0" i="0">
                <a:solidFill>
                  <a:srgbClr val="2E3330"/>
                </a:solidFill>
                <a:latin typeface="Yu Gothic"/>
              </a:rPr>
              <a:t>■ 厚生労働省「介護支援専門員(ケアマネジャー)」関連 ― 研修制度・検討会資料</a:t>
            </a:r>
          </a:p>
        </p:txBody>
      </p:sp>
      <p:sp>
        <p:nvSpPr>
          <p:cNvPr id="9" name="TextBox 8"/>
          <p:cNvSpPr txBox="1"/>
          <p:nvPr/>
        </p:nvSpPr>
        <p:spPr>
          <a:xfrm>
            <a:off x="720000" y="2088000"/>
            <a:ext cx="10752119" cy="360000"/>
          </a:xfrm>
          <a:prstGeom prst="rect">
            <a:avLst/>
          </a:prstGeom>
          <a:noFill/>
        </p:spPr>
        <p:txBody>
          <a:bodyPr wrap="square" lIns="36000" rIns="36000" tIns="18000" bIns="18000" anchor="t">
            <a:spAutoFit/>
          </a:bodyPr>
          <a:lstStyle/>
          <a:p>
            <a:pPr algn="l"/>
            <a:r>
              <a:rPr sz="1300" b="0" i="0">
                <a:solidFill>
                  <a:srgbClr val="2E3330"/>
                </a:solidFill>
                <a:latin typeface="Yu Gothic"/>
              </a:rPr>
              <a:t>■ 各都道府県「介護支援専門員研修」実施要綱・募集要項(研修の実務情報)</a:t>
            </a:r>
          </a:p>
        </p:txBody>
      </p:sp>
      <p:sp>
        <p:nvSpPr>
          <p:cNvPr id="10" name="TextBox 9"/>
          <p:cNvSpPr txBox="1"/>
          <p:nvPr/>
        </p:nvSpPr>
        <p:spPr>
          <a:xfrm>
            <a:off x="720000" y="2556000"/>
            <a:ext cx="10752119" cy="360000"/>
          </a:xfrm>
          <a:prstGeom prst="rect">
            <a:avLst/>
          </a:prstGeom>
          <a:noFill/>
        </p:spPr>
        <p:txBody>
          <a:bodyPr wrap="square" lIns="36000" rIns="36000" tIns="18000" bIns="18000" anchor="t">
            <a:spAutoFit/>
          </a:bodyPr>
          <a:lstStyle/>
          <a:p>
            <a:pPr algn="l"/>
            <a:r>
              <a:rPr sz="1300" b="0" i="0">
                <a:solidFill>
                  <a:srgbClr val="2E3330"/>
                </a:solidFill>
                <a:latin typeface="Yu Gothic"/>
              </a:rPr>
              <a:t>■ 各都道府県「主任介護支援専門員更新研修」の受講要件・日程情報</a:t>
            </a:r>
          </a:p>
        </p:txBody>
      </p:sp>
      <p:sp>
        <p:nvSpPr>
          <p:cNvPr id="11" name="TextBox 10"/>
          <p:cNvSpPr txBox="1"/>
          <p:nvPr/>
        </p:nvSpPr>
        <p:spPr>
          <a:xfrm>
            <a:off x="720000" y="3024000"/>
            <a:ext cx="10752119" cy="360000"/>
          </a:xfrm>
          <a:prstGeom prst="rect">
            <a:avLst/>
          </a:prstGeom>
          <a:noFill/>
        </p:spPr>
        <p:txBody>
          <a:bodyPr wrap="square" lIns="36000" rIns="36000" tIns="18000" bIns="18000" anchor="t">
            <a:spAutoFit/>
          </a:bodyPr>
          <a:lstStyle/>
          <a:p>
            <a:pPr algn="l"/>
            <a:r>
              <a:rPr sz="1300" b="0" i="0">
                <a:solidFill>
                  <a:srgbClr val="2E3330"/>
                </a:solidFill>
                <a:latin typeface="Yu Gothic"/>
              </a:rPr>
              <a:t>■ 日本介護支援専門員協会等による研修制度・改正動向の発信</a:t>
            </a:r>
          </a:p>
        </p:txBody>
      </p:sp>
      <p:sp>
        <p:nvSpPr>
          <p:cNvPr id="12" name="TextBox 11"/>
          <p:cNvSpPr txBox="1"/>
          <p:nvPr/>
        </p:nvSpPr>
        <p:spPr>
          <a:xfrm>
            <a:off x="720000" y="3492000"/>
            <a:ext cx="10752119" cy="360000"/>
          </a:xfrm>
          <a:prstGeom prst="rect">
            <a:avLst/>
          </a:prstGeom>
          <a:noFill/>
        </p:spPr>
        <p:txBody>
          <a:bodyPr wrap="square" lIns="36000" rIns="36000" tIns="18000" bIns="18000" anchor="t">
            <a:spAutoFit/>
          </a:bodyPr>
          <a:lstStyle/>
          <a:p>
            <a:pPr algn="l"/>
            <a:r>
              <a:rPr sz="1300" b="0" i="0">
                <a:solidFill>
                  <a:srgbClr val="2E3330"/>
                </a:solidFill>
                <a:latin typeface="Yu Gothic"/>
              </a:rPr>
              <a:t>■ 介護保険法・関係省令(研修・更新の根拠)</a:t>
            </a:r>
          </a:p>
        </p:txBody>
      </p:sp>
      <p:sp>
        <p:nvSpPr>
          <p:cNvPr id="13" name="TextBox 12"/>
          <p:cNvSpPr txBox="1"/>
          <p:nvPr/>
        </p:nvSpPr>
        <p:spPr>
          <a:xfrm>
            <a:off x="720000" y="3960000"/>
            <a:ext cx="10752119" cy="360000"/>
          </a:xfrm>
          <a:prstGeom prst="rect">
            <a:avLst/>
          </a:prstGeom>
          <a:noFill/>
        </p:spPr>
        <p:txBody>
          <a:bodyPr wrap="square" lIns="36000" rIns="36000" tIns="18000" bIns="18000" anchor="t">
            <a:spAutoFit/>
          </a:bodyPr>
          <a:lstStyle/>
          <a:p>
            <a:pPr algn="l"/>
            <a:r>
              <a:rPr sz="1300" b="0" i="0">
                <a:solidFill>
                  <a:srgbClr val="2E3330"/>
                </a:solidFill>
                <a:latin typeface="Yu Gothic"/>
              </a:rPr>
              <a:t>■ 居宅介護支援事業所の運営基準(管理者要件に関する規定)</a:t>
            </a:r>
          </a:p>
        </p:txBody>
      </p:sp>
      <p:sp>
        <p:nvSpPr>
          <p:cNvPr id="14" name="Rectangle 13"/>
          <p:cNvSpPr/>
          <p:nvPr/>
        </p:nvSpPr>
        <p:spPr>
          <a:xfrm>
            <a:off x="432000" y="4680000"/>
            <a:ext cx="11304000" cy="360000"/>
          </a:xfrm>
          <a:prstGeom prst="rect">
            <a:avLst/>
          </a:prstGeom>
          <a:solidFill>
            <a:srgbClr val="B377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04000" y="4716000"/>
            <a:ext cx="11160000" cy="288000"/>
          </a:xfrm>
          <a:prstGeom prst="rect">
            <a:avLst/>
          </a:prstGeom>
          <a:noFill/>
        </p:spPr>
        <p:txBody>
          <a:bodyPr wrap="square" lIns="36000" rIns="36000" tIns="18000" bIns="18000" anchor="ctr">
            <a:spAutoFit/>
          </a:bodyPr>
          <a:lstStyle/>
          <a:p>
            <a:pPr algn="l"/>
            <a:r>
              <a:rPr sz="1400" b="1" i="0">
                <a:solidFill>
                  <a:srgbClr val="FFFFFF"/>
                </a:solidFill>
                <a:latin typeface="Yu Gothic"/>
              </a:rPr>
              <a:t>ご注意 ・ 情報の確認について</a:t>
            </a:r>
          </a:p>
        </p:txBody>
      </p:sp>
      <p:sp>
        <p:nvSpPr>
          <p:cNvPr id="16" name="Rectangle 15"/>
          <p:cNvSpPr/>
          <p:nvPr/>
        </p:nvSpPr>
        <p:spPr>
          <a:xfrm>
            <a:off x="432000" y="5040000"/>
            <a:ext cx="11304000" cy="1080000"/>
          </a:xfrm>
          <a:prstGeom prst="rect">
            <a:avLst/>
          </a:prstGeom>
          <a:solidFill>
            <a:srgbClr val="F7EC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0000" y="5076000"/>
            <a:ext cx="11088000" cy="1044000"/>
          </a:xfrm>
          <a:prstGeom prst="rect">
            <a:avLst/>
          </a:prstGeom>
          <a:noFill/>
        </p:spPr>
        <p:txBody>
          <a:bodyPr wrap="square" lIns="36000" rIns="36000" tIns="18000" bIns="18000" anchor="t">
            <a:spAutoFit/>
          </a:bodyPr>
          <a:lstStyle/>
          <a:p>
            <a:pPr algn="l"/>
            <a:r>
              <a:rPr sz="1200" b="0" i="0">
                <a:solidFill>
                  <a:srgbClr val="2E3330"/>
                </a:solidFill>
                <a:latin typeface="Yu Gothic"/>
              </a:rPr>
              <a:t>■ 法定研修の体系・時間数・受講方法・更新要件、管理者要件等は、制度改正により変わります</a:t>
            </a:r>
          </a:p>
          <a:p>
            <a:pPr algn="l"/>
            <a:r>
              <a:rPr sz="1200" b="0" i="0">
                <a:solidFill>
                  <a:srgbClr val="2E3330"/>
                </a:solidFill>
                <a:latin typeface="Yu Gothic"/>
              </a:rPr>
              <a:t>■ 研修の名称・要件・運用は都道府県ごとに異なります ― 必ず自県・国の最新情報をご確認ください</a:t>
            </a:r>
          </a:p>
          <a:p>
            <a:pPr algn="l"/>
            <a:r>
              <a:rPr sz="1200" b="0" i="0">
                <a:solidFill>
                  <a:srgbClr val="2E3330"/>
                </a:solidFill>
                <a:latin typeface="Yu Gothic"/>
              </a:rPr>
              <a:t>■ 個別の受講判断・更新の可否は、都道府県の研修担当・実施機関に直接ご確認ください</a:t>
            </a:r>
          </a:p>
          <a:p>
            <a:pPr algn="l"/>
            <a:r>
              <a:rPr sz="1200" b="0" i="0">
                <a:solidFill>
                  <a:srgbClr val="2E3330"/>
                </a:solidFill>
                <a:latin typeface="Yu Gothic"/>
              </a:rPr>
              <a:t>■ 本資料は 2026年5月時点の一般的な情報を基に構成しています</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119" cy="6858000"/>
          </a:xfrm>
          <a:prstGeom prst="rect">
            <a:avLst/>
          </a:prstGeom>
          <a:solidFill>
            <a:srgbClr val="2947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960000" y="2700000"/>
            <a:ext cx="4248000" cy="43200"/>
          </a:xfrm>
          <a:prstGeom prst="rect">
            <a:avLst/>
          </a:prstGeom>
          <a:solidFill>
            <a:srgbClr val="B377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20000" y="2808000"/>
            <a:ext cx="10752119" cy="720000"/>
          </a:xfrm>
          <a:prstGeom prst="rect">
            <a:avLst/>
          </a:prstGeom>
          <a:noFill/>
        </p:spPr>
        <p:txBody>
          <a:bodyPr wrap="square" lIns="36000" rIns="36000" tIns="18000" bIns="18000" anchor="t">
            <a:spAutoFit/>
          </a:bodyPr>
          <a:lstStyle/>
          <a:p>
            <a:pPr algn="ctr"/>
            <a:r>
              <a:rPr sz="3000" b="1" i="0">
                <a:solidFill>
                  <a:srgbClr val="FFFFFF"/>
                </a:solidFill>
                <a:latin typeface="Yu Gothic"/>
              </a:rPr>
              <a:t>ご清聴ありがとうございました</a:t>
            </a:r>
          </a:p>
        </p:txBody>
      </p:sp>
      <p:sp>
        <p:nvSpPr>
          <p:cNvPr id="5" name="TextBox 4"/>
          <p:cNvSpPr txBox="1"/>
          <p:nvPr/>
        </p:nvSpPr>
        <p:spPr>
          <a:xfrm>
            <a:off x="720000" y="3960000"/>
            <a:ext cx="10752119" cy="540000"/>
          </a:xfrm>
          <a:prstGeom prst="rect">
            <a:avLst/>
          </a:prstGeom>
          <a:noFill/>
        </p:spPr>
        <p:txBody>
          <a:bodyPr wrap="square" lIns="36000" rIns="36000" tIns="18000" bIns="18000" anchor="t">
            <a:spAutoFit/>
          </a:bodyPr>
          <a:lstStyle/>
          <a:p>
            <a:pPr algn="ctr"/>
            <a:r>
              <a:rPr sz="1800" b="0" i="0">
                <a:solidFill>
                  <a:srgbClr val="B37739"/>
                </a:solidFill>
                <a:latin typeface="Yu Gothic"/>
              </a:rPr>
              <a:t>質疑応答 ・ 情報交換</a:t>
            </a:r>
          </a:p>
        </p:txBody>
      </p:sp>
      <p:sp>
        <p:nvSpPr>
          <p:cNvPr id="6" name="TextBox 5"/>
          <p:cNvSpPr txBox="1"/>
          <p:nvPr/>
        </p:nvSpPr>
        <p:spPr>
          <a:xfrm>
            <a:off x="720000" y="4680000"/>
            <a:ext cx="10752119" cy="540000"/>
          </a:xfrm>
          <a:prstGeom prst="rect">
            <a:avLst/>
          </a:prstGeom>
          <a:noFill/>
        </p:spPr>
        <p:txBody>
          <a:bodyPr wrap="square" lIns="36000" rIns="36000" tIns="18000" bIns="18000" anchor="t">
            <a:spAutoFit/>
          </a:bodyPr>
          <a:lstStyle/>
          <a:p>
            <a:pPr algn="ctr"/>
            <a:r>
              <a:rPr sz="1400" b="0" i="0">
                <a:solidFill>
                  <a:srgbClr val="D5DBD6"/>
                </a:solidFill>
                <a:latin typeface="Yu Gothic"/>
              </a:rPr>
              <a:t>各事業所の研修管理・人材育成の工夫を持ち寄り、学び合いましょう。</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