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0000"/>
            <a:ext cx="12192119" cy="1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E87A41"/>
                </a:solidFill>
                <a:latin typeface="Yu Gothic"/>
              </a:rPr>
              <a:t>主任介護支援専門員 研修会 [ 姉妹編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160000"/>
            <a:ext cx="1111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適切なケアマネジメント手法の実践活用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168000"/>
            <a:ext cx="11112119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Yu Gothic"/>
              </a:rPr>
              <a:t>ー基本ケア・疾患別ケアを、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Yu Gothic"/>
              </a:rPr>
              <a:t>アセスメント・ケアプラン作成にどう落とし込むかー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428000"/>
            <a:ext cx="11112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E87A41"/>
                </a:solidFill>
                <a:latin typeface="Yu Gothic"/>
              </a:rPr>
              <a:t>〜 二人の利用者の物語で読み解く ・ 脳血管疾患 / 糖尿病 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40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Yu Gothic"/>
              </a:rPr>
              <a:t>主任ケアマネジャーの会  主催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76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研修時間 90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Prologue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本日の物語 ― 二人の主人公に出会う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548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今日の研修は、二人の利用者の物語を通して進みます。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52000"/>
            <a:ext cx="5580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070000"/>
            <a:ext cx="54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Yu Gothic"/>
              </a:rPr>
              <a:t>C さん  72歳 男性  ・ 脳梗塞 退院直後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412000"/>
            <a:ext cx="5580000" cy="342000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2484000"/>
            <a:ext cx="5400000" cy="3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・左片麻痺(BRSⅢ)、軽度構音障害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・元タクシードライバー、無口で頑固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・妻(70歳)と二人暮らし、長女は車で1時間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・高血圧・心房細動の既往、ワーファリン服用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・3週間の急性期 + 2ヶ月の回復期リハ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・要介護2、回復期リハ病棟から自宅退院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本人の口癖: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「もう自分は終わりだ。タクシーに乗れない男に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  何の意味がある」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2052000"/>
            <a:ext cx="5400000" cy="360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8000" y="2070000"/>
            <a:ext cx="522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Yu Gothic"/>
              </a:rPr>
              <a:t>D さん  68歳 女性  ・ 糖尿病 30年来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412000"/>
            <a:ext cx="5400000" cy="3420000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8000" y="2484000"/>
            <a:ext cx="5220000" cy="3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・2型糖尿病、HbA1c 8.6%、インスリン4回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・糖尿病性網膜症 (要矯正で歩行可)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・糖尿病性末梢神経障害、軽度腎症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・独居、息子家族は同市内に在住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・夫を5年前に他界、料理が趣味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・要支援2、訪問看護でインスリン確認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本人の口癖: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「甘いものくらい、楽しまないと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04040"/>
                </a:solidFill>
                <a:latin typeface="Yu Gothic"/>
              </a:rPr>
              <a:t>  生きてる意味がないでしょう」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120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Yu Gothic"/>
              </a:rPr>
              <a:t>▶ この二人の生活を「基本ケア + 疾患別ケア」の視点で読み解いていきます。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本日の流れ(90分・物語をたどる構成)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3 / 38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20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674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Yu Gothic"/>
              </a:rPr>
              <a:t>プロローグ ― なぜ「手法」が必要だったのか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169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E87A41"/>
                </a:solidFill>
                <a:latin typeface="Yu Gothic"/>
              </a:rP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196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250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Yu Gothic"/>
              </a:rPr>
              <a:t>基本ケアの4つの柱を物語で読み解く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226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E87A41"/>
                </a:solidFill>
                <a:latin typeface="Yu Gothic"/>
              </a:rPr>
              <a:t>15分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2772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282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Yu Gothic"/>
              </a:rPr>
              <a:t>C さんの物語 ― 脳血管疾患の疾患別ケア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284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E87A41"/>
                </a:solidFill>
                <a:latin typeface="Yu Gothic"/>
              </a:rPr>
              <a:t>15分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348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3402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Yu Gothic"/>
              </a:rPr>
              <a:t>D さんの物語 ― 糖尿病の疾患別ケア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3420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E87A41"/>
                </a:solidFill>
                <a:latin typeface="Yu Gothic"/>
              </a:rPr>
              <a:t>15分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3924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3978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Yu Gothic"/>
              </a:rPr>
              <a:t>アセスメントへの落とし込み(両ケース比較)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2119" y="399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E87A41"/>
                </a:solidFill>
                <a:latin typeface="Yu Gothic"/>
              </a:rPr>
              <a:t>15分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500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" y="4554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Yu Gothic"/>
              </a:rPr>
              <a:t>ケアプラン作成への落とし込み(両ケース比較)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457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E87A41"/>
                </a:solidFill>
                <a:latin typeface="Yu Gothic"/>
              </a:rPr>
              <a:t>10分</a:t>
            </a:r>
          </a:p>
        </p:txBody>
      </p:sp>
      <p:sp>
        <p:nvSpPr>
          <p:cNvPr id="26" name="Oval 25"/>
          <p:cNvSpPr/>
          <p:nvPr/>
        </p:nvSpPr>
        <p:spPr>
          <a:xfrm>
            <a:off x="540000" y="5076000"/>
            <a:ext cx="432000" cy="432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000" y="5130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Yu Gothic"/>
              </a:rPr>
              <a:t>事例検討・グループ共有・まとめ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52119" y="514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E87A41"/>
                </a:solidFill>
                <a:latin typeface="Yu Gothic"/>
              </a:rPr>
              <a:t>10分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E87A41"/>
                </a:solidFill>
                <a:latin typeface="Yu Gothic"/>
              </a:rPr>
              <a:t>第 1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Yu Gothic"/>
              </a:rPr>
              <a:t>なぜ「手法」が必要だったのか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Prologue: A young CM's struggle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プロローグ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ある日、後輩 CM から相談を受けた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620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6A4C93"/>
                </a:solidFill>
                <a:latin typeface="Yu Gothic"/>
              </a:rPr>
              <a:t>後輩CM(2年目)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871999"/>
            <a:ext cx="11304000" cy="828001"/>
          </a:xfrm>
          <a:prstGeom prst="roundRect">
            <a:avLst/>
          </a:prstGeom>
          <a:solidFill>
            <a:srgbClr val="E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926000"/>
            <a:ext cx="1101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「Cさんのケアプラン、なんかしっくり来ないんです。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退院サマリーに書いてあるサービスは入れたんですけど、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本人はずっと黙ったままで…これで合ってるんでしょうか」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2951999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Yu Gothic"/>
              </a:rPr>
              <a:t>あなた(主任CM)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3203998"/>
            <a:ext cx="11304000" cy="648001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3257999"/>
            <a:ext cx="11016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「何を聞いて、何が分からなくて、しっくり来ないんだろうね。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一緒に整理してみようか。」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主任CMとして、あなたなら何を問いかけますか?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「Cさんがリハビリ病院でどんな顔をしていたか、見てきた?」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「奥さんは、これからの生活で何が一番心配だと言っている?」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「Cさんが『またタクシーに乗りたい』と言ったとして、私たちは何ができる?」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▶ 漠然とした「しっくり来ない」を、構造化して言語化させる ― これが手法の出番。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プロローグ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「適切なケアマネジメント手法」とは ― 一言で言うと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6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1620000"/>
            <a:ext cx="10752119" cy="12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2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0">
                <a:solidFill>
                  <a:srgbClr val="F2F2F2"/>
                </a:solidFill>
                <a:latin typeface="Yu Gothic"/>
              </a:rPr>
              <a:t>経験や勘 だけ に頼らない、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052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Yu Gothic"/>
              </a:rPr>
              <a:t>「想定される支援内容」 を 仮説 として持って、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44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E87A41"/>
                </a:solidFill>
                <a:latin typeface="Yu Gothic"/>
              </a:rPr>
              <a:t>アセスメントで 検証 する 思考の型。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240000"/>
            <a:ext cx="10752119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3258000"/>
            <a:ext cx="1075211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【基本ケア】 すべての高齢者に共通する支援の考え方  (4つの柱)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564000"/>
            <a:ext cx="10752119" cy="64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999" y="3636000"/>
            <a:ext cx="1053612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  <a:latin typeface="Yu Gothic"/>
              </a:rPr>
              <a:t>①尊厳の保持と自立支援  ②全体像の把握  ③意思決定の支援  ④リスクの予測と管理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4392000"/>
            <a:ext cx="10752119" cy="32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410000"/>
            <a:ext cx="1075211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【疾患別ケア】 主要 7 疾患群ごとの「想定される支援内容」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4716000"/>
            <a:ext cx="10752119" cy="648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99" y="4788000"/>
            <a:ext cx="1053612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Yu Gothic"/>
              </a:rPr>
              <a:t>脳血管疾患  ・  大腿骨頸部骨折  ・  心疾患  ・  認知症  ・  誤嚥性肺炎  ・  パーキンソン病  ・  糖尿病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652000"/>
            <a:ext cx="11328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3A5F"/>
                </a:solidFill>
                <a:latin typeface="Yu Gothic"/>
              </a:rPr>
              <a:t>▶ 今日は、★ 脳血管疾患(Cさん) と ★ 糖尿病(Dさん) を物語で追います。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F3A5F"/>
                </a:solidFill>
                <a:latin typeface="Yu Gothic"/>
              </a:rPr>
              <a:t>▶ 「手法」は答えを与えるものではなく、問いの順序を整える地図です。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E87A41"/>
                </a:solidFill>
                <a:latin typeface="Yu Gothic"/>
              </a:rPr>
              <a:t>第 2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Yu Gothic"/>
              </a:rPr>
              <a:t>基本ケアの4つの柱を物語で読み解く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The Four Pillars, Through the 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基本ケアを物語で読み解く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Ⅰ. 尊厳の保持と自立支援 ― Cさんが黙り込んだ朝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8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【場面】退院翌週・初回モニタリング訪問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54000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ベッドサイドで、若いCMが「リハビリ頑張りましょうね!」と声をかけた瞬間、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Cさんは天井を見たまま、何も答えなかった。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664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C14C4C"/>
                </a:solidFill>
                <a:latin typeface="Yu Gothic"/>
              </a:rPr>
              <a:t>C さんの心の声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915999"/>
            <a:ext cx="5580000" cy="828001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2970000"/>
            <a:ext cx="529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「頑張る?何を頑張るんだ。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この左手で何ができる。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客なんかもう乗せられない。」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664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Yu Gothic"/>
              </a:rPr>
              <a:t>妻 ・ Cさんに 30 年連れ添う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000" y="2915999"/>
            <a:ext cx="5400000" cy="828001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4000" y="2970000"/>
            <a:ext cx="511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「あの人は、車で家族を養ってきた。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仕事を取り上げられて、生きる気力をなくして。」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ここで主任CMが見るべきこと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「ADL自立度」ではなく、本人にとっての 役割の喪失感 が課題の核心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「リハビリを頑張る」は支援者の言葉。本人の言葉に翻訳されているか?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→ 「もう一度、孫を助手席に乗せて運転したい」「妻と買い物に行きたい」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尊厳の保持とは、できないことを補うだけでなく、できることを奪わない こと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→ 朝刊を取りに行く、自分でひげを剃る、こうした小さな「自分」を残す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基本ケアを物語で読み解く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Ⅱ. 全体像の把握 ― Dさんの冷蔵庫が教えてくれたこと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9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【場面】訪問看護師からの一報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540000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「Dさんの台所、見せてもらいました。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 冷蔵庫に大福が3つ、流しに菓子パンの袋。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 これだとHbA1cが下がらないのも当然です」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59" y="2628000"/>
            <a:ext cx="2772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059" y="2664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① 疾病管理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59" y="2988000"/>
            <a:ext cx="2772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059" y="3060000"/>
            <a:ext cx="2556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HbA1c 8.6%・インスリン4回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眼科・透析リスクの将来像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628000"/>
            <a:ext cx="2772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2059" y="2664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② 生活全般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0059" y="2988000"/>
            <a:ext cx="2772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8059" y="3060000"/>
            <a:ext cx="2556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間食習慣・趣味の和菓子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料理が好き・1人の食卓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059" y="2628000"/>
            <a:ext cx="2772000" cy="360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059" y="2664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③ 家族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0059" y="2988000"/>
            <a:ext cx="2772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8059" y="3060000"/>
            <a:ext cx="2556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息子は週末のみ訪問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嫁との関係は良好だが遠慮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0059" y="2628000"/>
            <a:ext cx="2772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2059" y="2664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④ 住環境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2988000"/>
            <a:ext cx="2772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3060000"/>
            <a:ext cx="2556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古い団地・夜間トイレ遠い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近所のスーパーが甘味豊富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8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48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全体像を見たCMの気づき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220000"/>
            <a:ext cx="11304000" cy="9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256000"/>
            <a:ext cx="11088000" cy="8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「血糖コントロール不良」を「服薬指導」だけで解こうとしていなかったか?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Dさんの「楽しみ」を奪うのではなく、「楽しみと共存する血糖管理」が必要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「料理が好き」は強み。低糖質レシピを学ぶ場が、Dさんの社会参加にもなる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基本ケアを物語で読み解く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Ⅲ. 意思決定支援 ― Cさんは何を選びたいのか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10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【場面】退院後 3 週目・サービス担当者会議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54000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「通所リハと訪問リハ、どちらにしますか?」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サ担で問われたCさんは、首を振って、目を伏せた。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700000"/>
            <a:ext cx="558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73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選択を阻む3つの壁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060000"/>
            <a:ext cx="5580000" cy="144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96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① 情報の壁:選択肢の違いが理解できない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② 体験の壁:そもそも体験したことがない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③ 自己効力感の壁:「自分で決めてもどうせ」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700000"/>
            <a:ext cx="5400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73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主任CMの工夫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060000"/>
            <a:ext cx="5400000" cy="14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96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・体験利用を組み込む(両方やってみる)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・写真・パンフレット・先輩利用者の話を見せる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・本人が「不安に思っていること」を先に言語化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・「今日は決めなくていい」と保留も認める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68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7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意思決定支援は「結論」ではなく「プロセス」を残す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5040000"/>
            <a:ext cx="11304000" cy="108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5076000"/>
            <a:ext cx="11088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第1表「本人の意向」に、確認した日時・場面を記載する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サ担録に、Cさんがうなずいた瞬間・首を振った瞬間を記す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支援経過に「2週間体験後、訪問リハを選んだ理由:外に出るのが怖いと話されたため」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基本ケアを物語で読み解く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Ⅳ. リスクの予測と管理 ― Dさんが救急搬送された日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11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【場面】真冬の朝、息子からの電話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540000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「母が、トイレで倒れていました。意識がぼんやりして、汗をかいていて。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  …低血糖だったみたいです。救急車を呼びました」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628000"/>
            <a:ext cx="11328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Yu Gothic"/>
              </a:rPr>
              <a:t>  ▼ 予測できたサイン  ―  振り返り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059" y="3024000"/>
            <a:ext cx="2772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059" y="3060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食欲低下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059" y="3384000"/>
            <a:ext cx="2772000" cy="792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059" y="3420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前週から夕食を残すように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0059" y="3024000"/>
            <a:ext cx="2772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2059" y="3060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睡眠変化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0059" y="3384000"/>
            <a:ext cx="2772000" cy="792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8059" y="3420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夜中に何度もトイレ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059" y="3024000"/>
            <a:ext cx="2772000" cy="360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2059" y="3060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認知低下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0059" y="3384000"/>
            <a:ext cx="2772000" cy="792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8059" y="3420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薬の名前を間違える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0059" y="3024000"/>
            <a:ext cx="2772000" cy="3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2059" y="3060000"/>
            <a:ext cx="26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孤立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30059" y="3384000"/>
            <a:ext cx="2772000" cy="792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8059" y="3420000"/>
            <a:ext cx="2556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息子の訪問が2週空いた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450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000" y="453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主任CMの問いかけ ― 「サインの拾い方」を後輩に教える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860000"/>
            <a:ext cx="11304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4896000"/>
            <a:ext cx="11088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モニタリング時、「変わりないですか?」だけで終わっていないか?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食欲・睡眠・薬・人との会話、4点セットを毎回確認する習慣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予測できたリスクは「想定される支援内容」に書いてある ― 手法を知っていれば防げた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C14C4C"/>
                </a:solidFill>
                <a:latin typeface="Yu Gothic"/>
              </a:rPr>
              <a:t>第 3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Yu Gothic"/>
              </a:rPr>
              <a:t>Cさんの物語 ― 脳血管疾患の疾患別ケア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Chapter Three: The Story of Mr.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Cさんの物語 ― 脳血管疾患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脳血管疾患のケアで押さえる4つの視点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13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1007999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再発予防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059" y="2627999"/>
            <a:ext cx="2772000" cy="3132001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・血圧・糖代謝・脂質の管理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・抗血栓薬の確実な服用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・出血リスクの観察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059" y="1620000"/>
            <a:ext cx="2772000" cy="1007999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機能回復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627999"/>
            <a:ext cx="2772000" cy="3132001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・廃用症候群の予防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・回復期 → 維持期への移行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・自主トレ・通所リハ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1620000"/>
            <a:ext cx="2772000" cy="1007999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ADL再構築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059" y="2627999"/>
            <a:ext cx="2772000" cy="3132001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・残存機能を活かす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・福祉用具・住宅改修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・代償手段の獲得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0059" y="1620000"/>
            <a:ext cx="2772000" cy="1007999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心理・社会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2627999"/>
            <a:ext cx="2772000" cy="3132001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・うつ・意欲低下への対応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・役割再獲得・社会参加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・家族の受容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Yu Gothic"/>
              </a:rPr>
              <a:t>▶ 「再発予防」と「ADL再構築」は両輪。どちらかに偏ると、生活の質も命も守れない。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Cさんの物語 ― 脳血管疾患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C さんの 1 年 ― 退院後の生活経過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14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2520000"/>
            <a:ext cx="11412000" cy="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32059" y="2412000"/>
            <a:ext cx="288000" cy="288000"/>
          </a:xfrm>
          <a:prstGeom prst="ellipse">
            <a:avLst/>
          </a:prstGeom>
          <a:solidFill>
            <a:srgbClr val="C1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059" y="1620000"/>
            <a:ext cx="277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C14C4C"/>
                </a:solidFill>
                <a:latin typeface="Yu Gothic"/>
              </a:rPr>
              <a:t>退院直後</a:t>
            </a:r>
          </a:p>
          <a:p>
            <a:pPr algn="ctr"/>
            <a:r>
              <a:rPr sz="1400" b="1" i="0">
                <a:solidFill>
                  <a:srgbClr val="C14C4C"/>
                </a:solidFill>
                <a:latin typeface="Yu Gothic"/>
              </a:rPr>
              <a:t>0〜1ヶ月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059" y="2880000"/>
            <a:ext cx="2772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059" y="2952000"/>
            <a:ext cx="2556000" cy="15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・抑うつ・閉じこもり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・自宅で何もしない時間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・服薬は妻が管理</a:t>
            </a:r>
          </a:p>
        </p:txBody>
      </p:sp>
      <p:sp>
        <p:nvSpPr>
          <p:cNvPr id="13" name="Oval 12"/>
          <p:cNvSpPr/>
          <p:nvPr/>
        </p:nvSpPr>
        <p:spPr>
          <a:xfrm>
            <a:off x="4512059" y="2412000"/>
            <a:ext cx="288000" cy="288000"/>
          </a:xfrm>
          <a:prstGeom prst="ellipse">
            <a:avLst/>
          </a:prstGeom>
          <a:solidFill>
            <a:srgbClr val="E87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059" y="1620000"/>
            <a:ext cx="277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E87A41"/>
                </a:solidFill>
                <a:latin typeface="Yu Gothic"/>
              </a:rPr>
              <a:t>導入期</a:t>
            </a:r>
          </a:p>
          <a:p>
            <a:pPr algn="ctr"/>
            <a:r>
              <a:rPr sz="1400" b="1" i="0">
                <a:solidFill>
                  <a:srgbClr val="E87A41"/>
                </a:solidFill>
                <a:latin typeface="Yu Gothic"/>
              </a:rPr>
              <a:t>1〜3ヶ月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0059" y="2880000"/>
            <a:ext cx="2772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8059" y="2952000"/>
            <a:ext cx="2556000" cy="15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・訪問リハ開始(週2)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・ADL拡大、洗面自立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・近所散歩(妻同伴)</a:t>
            </a:r>
          </a:p>
        </p:txBody>
      </p:sp>
      <p:sp>
        <p:nvSpPr>
          <p:cNvPr id="17" name="Oval 16"/>
          <p:cNvSpPr/>
          <p:nvPr/>
        </p:nvSpPr>
        <p:spPr>
          <a:xfrm>
            <a:off x="7392059" y="2412000"/>
            <a:ext cx="288000" cy="288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0059" y="1620000"/>
            <a:ext cx="277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2E86AB"/>
                </a:solidFill>
                <a:latin typeface="Yu Gothic"/>
              </a:rPr>
              <a:t>安定期</a:t>
            </a:r>
          </a:p>
          <a:p>
            <a:pPr algn="ctr"/>
            <a:r>
              <a:rPr sz="1400" b="1" i="0">
                <a:solidFill>
                  <a:srgbClr val="2E86AB"/>
                </a:solidFill>
                <a:latin typeface="Yu Gothic"/>
              </a:rPr>
              <a:t>3〜6ヶ月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0059" y="2880000"/>
            <a:ext cx="2772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8059" y="2952000"/>
            <a:ext cx="2556000" cy="15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・通所リハに移行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・他の利用者と交流開始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・運転リハ評価開始</a:t>
            </a:r>
          </a:p>
        </p:txBody>
      </p:sp>
      <p:sp>
        <p:nvSpPr>
          <p:cNvPr id="21" name="Oval 20"/>
          <p:cNvSpPr/>
          <p:nvPr/>
        </p:nvSpPr>
        <p:spPr>
          <a:xfrm>
            <a:off x="10272059" y="2412000"/>
            <a:ext cx="288000" cy="288000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0059" y="1620000"/>
            <a:ext cx="277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6A4C93"/>
                </a:solidFill>
                <a:latin typeface="Yu Gothic"/>
              </a:rPr>
              <a:t>拡大期</a:t>
            </a:r>
          </a:p>
          <a:p>
            <a:pPr algn="ctr"/>
            <a:r>
              <a:rPr sz="1400" b="1" i="0">
                <a:solidFill>
                  <a:srgbClr val="6A4C93"/>
                </a:solidFill>
                <a:latin typeface="Yu Gothic"/>
              </a:rPr>
              <a:t>6〜12ヶ月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0059" y="2880000"/>
            <a:ext cx="2772000" cy="16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8059" y="2952000"/>
            <a:ext cx="2556000" cy="15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・地域サロン参加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・限定運転再開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・心房細動コントロール継続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48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000" y="48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経過から読み取れること ― 「想定される支援内容」は時間軸を持つ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5220000"/>
            <a:ext cx="11304000" cy="9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" y="5256000"/>
            <a:ext cx="11088000" cy="8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同じ「リハビリ」でも、各期で意味合いが違う(治療 → 維持 → 拡大)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主任CMは、3ヶ月先・1年先を見据えて、今のプランを設計しているか?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サービスの「卒業」「変更」も計画的に ― ずっと同じプランは黄信号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Cさんの物語 ― 脳血管疾患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C さんに 想定される支援内容(仮説)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15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059" y="1620000"/>
            <a:ext cx="1116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8059" y="1656000"/>
            <a:ext cx="16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8059" y="1656000"/>
            <a:ext cx="45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想定される支援内容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059" y="1656000"/>
            <a:ext cx="45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実務での具体的アクション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059" y="1980000"/>
            <a:ext cx="11160000" cy="972000"/>
          </a:xfrm>
          <a:prstGeom prst="rect">
            <a:avLst/>
          </a:prstGeom>
          <a:solidFill>
            <a:srgbClr val="FBE9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059" y="2052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C14C4C"/>
                </a:solidFill>
                <a:latin typeface="Yu Gothic"/>
              </a:rPr>
              <a:t>再発予防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8059" y="2052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・抗凝固薬の確実服用(PT-INR定期確認)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・血圧・脈拍の自己測定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・脱水・便秘予防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059" y="2052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・かかりつけ医との情報共有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・服薬カレンダー・残薬確認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・本人 → 妻 → 訪看の三重チェック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059" y="2952000"/>
            <a:ext cx="1116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059" y="3024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C14C4C"/>
                </a:solidFill>
                <a:latin typeface="Yu Gothic"/>
              </a:rPr>
              <a:t>機能回復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8059" y="3024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・訪問リハ(導入期) → 通所リハ(維持期)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・自主トレメニュー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・上肢機能の継続的評価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059" y="3024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・廃用予防の生活動作リスト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・福祉用具(短下肢装具・杖)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・住宅改修(手すり・トイレ)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059" y="3924000"/>
            <a:ext cx="11160000" cy="972000"/>
          </a:xfrm>
          <a:prstGeom prst="rect">
            <a:avLst/>
          </a:prstGeom>
          <a:solidFill>
            <a:srgbClr val="FBE9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059" y="3996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C14C4C"/>
                </a:solidFill>
                <a:latin typeface="Yu Gothic"/>
              </a:rPr>
              <a:t>ADL再構築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8059" y="3996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・更衣・整容・トイレ動作の自立支援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・調理・買い物への参加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・代償手段の獲得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059" y="3996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・OT/PTからの動作指導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・妻への「待つ介助」の助言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・「できるADL」と「しているADL」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059" y="4896000"/>
            <a:ext cx="1116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059" y="4968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C14C4C"/>
                </a:solidFill>
                <a:latin typeface="Yu Gothic"/>
              </a:rPr>
              <a:t>心理・社会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8059" y="4968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・抑うつスクリーニング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・役割の再構築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・社会参加・運転再開評価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059" y="4968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・ピアサポート(脳卒中の会)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・地域サロン・自治会復帰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・運転外来との連携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Cさんの物語 ― 脳血管疾患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C さんの転機 ― 8ヶ月目、孫の運動会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16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【場面】退院から 8 ヶ月、秋の運動会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90000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8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「じいちゃん、来てくれてありがとう」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車椅子で運動場にいたCさんに、小学生の孫が抱きついた。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Cさんは、初めて声を出して泣いた。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3060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C14C4C"/>
                </a:solidFill>
                <a:latin typeface="Yu Gothic"/>
              </a:rPr>
              <a:t>Cさんから後日、CMへ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311999"/>
            <a:ext cx="5580000" cy="828001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3366000"/>
            <a:ext cx="529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「あの日、生きてて良かった。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もう少し、頑張ってみるよ。」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3060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6A4C93"/>
                </a:solidFill>
                <a:latin typeface="Yu Gothic"/>
              </a:rPr>
              <a:t>後輩CMの振り返り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000" y="3311999"/>
            <a:ext cx="5400000" cy="828001"/>
          </a:xfrm>
          <a:prstGeom prst="roundRect">
            <a:avLst/>
          </a:prstGeom>
          <a:solidFill>
            <a:srgbClr val="E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4000" y="3366000"/>
            <a:ext cx="5112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「ADLの数字じゃ、見えない目標があるんですね。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これからは、本人の言葉から目標を作ります。」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0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453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主任CMが伝えるべきこと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860000"/>
            <a:ext cx="11304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896000"/>
            <a:ext cx="11088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ケアプランの目標は「○○できる」だけでなく、「○○のために」が大切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「孫の運動会に行く」が目標になれば、車椅子整備・移動手段・体力作りが手段になる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数値目標と意味目標、両方を持つこと ― これが「個別性のあるプラン」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4B8655"/>
                </a:solidFill>
                <a:latin typeface="Yu Gothic"/>
              </a:rPr>
              <a:t>第 4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Yu Gothic"/>
              </a:rPr>
              <a:t>Dさんの物語 ― 糖尿病の疾患別ケア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Chapter Four: The Story of Mrs. 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Dさんの物語 ― 糖尿病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糖尿病のケアで押さえる4つの視点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18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1007999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血糖コントロール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059" y="2627999"/>
            <a:ext cx="2772000" cy="3132001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・服薬・インスリン管理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・食事・運動の継続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・自己血糖測定の習慣化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0059" y="1620000"/>
            <a:ext cx="2772000" cy="1007999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合併症の予防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627999"/>
            <a:ext cx="2772000" cy="3132001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・網膜症 → 視力低下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・腎症 → 透析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・神経障害 → フットケア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1620000"/>
            <a:ext cx="2772000" cy="1007999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低血糖の管理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059" y="2627999"/>
            <a:ext cx="2772000" cy="3132001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・シックデイ対応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・夜間低血糖の予防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・救急時の連絡体制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0059" y="1620000"/>
            <a:ext cx="2772000" cy="1007999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0059" y="1692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059" y="2016000"/>
            <a:ext cx="2628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生活全体の支援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2627999"/>
            <a:ext cx="2772000" cy="3132001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2700000"/>
            <a:ext cx="2556000" cy="30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・買い物・調理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・楽しみとの両立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・社会的孤立の予防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Yu Gothic"/>
              </a:rPr>
              <a:t>▶ 糖尿病は「数十年単位の慢性疾患」。生活と一体化したケアが必須。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Dさんの物語 ― 糖尿病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D さんに 想定される支援内容(仮説)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19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059" y="1620000"/>
            <a:ext cx="1116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8059" y="1656000"/>
            <a:ext cx="16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8059" y="1656000"/>
            <a:ext cx="45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想定される支援内容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059" y="1656000"/>
            <a:ext cx="45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実務での具体的アクション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059" y="1980000"/>
            <a:ext cx="11160000" cy="972000"/>
          </a:xfrm>
          <a:prstGeom prst="rect">
            <a:avLst/>
          </a:prstGeom>
          <a:solidFill>
            <a:srgbClr val="E6F1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059" y="2052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4B8655"/>
                </a:solidFill>
                <a:latin typeface="Yu Gothic"/>
              </a:rPr>
              <a:t>血糖コントロール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8059" y="2052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・インスリン手技と保管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・自己血糖測定 (SMBG)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・食事タイミング・量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059" y="2052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・訪問看護による週1確認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・服薬カレンダー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・主治医・糖尿病療養指導士と連携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059" y="2952000"/>
            <a:ext cx="1116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059" y="3024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4B8655"/>
                </a:solidFill>
                <a:latin typeface="Yu Gothic"/>
              </a:rPr>
              <a:t>合併症の予防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8059" y="3024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・眼科・腎機能の定期検査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・フットケア(毎日観察)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・血圧・脂質管理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059" y="3024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・複数科受診の情報集約 → CMが結節点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・足の傷の早期発見ルート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・受診同行・送迎の検討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059" y="3924000"/>
            <a:ext cx="11160000" cy="972000"/>
          </a:xfrm>
          <a:prstGeom prst="rect">
            <a:avLst/>
          </a:prstGeom>
          <a:solidFill>
            <a:srgbClr val="E6F1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059" y="3996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4B8655"/>
                </a:solidFill>
                <a:latin typeface="Yu Gothic"/>
              </a:rPr>
              <a:t>低血糖の管理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88059" y="3996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・症状の自覚教育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・補食の準備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・シックデイルール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059" y="3996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・冷蔵庫に補食ストック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・緊急連絡先カード携帯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・近隣・息子との見守り体制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059" y="4896000"/>
            <a:ext cx="11160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059" y="4968000"/>
            <a:ext cx="165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4B8655"/>
                </a:solidFill>
                <a:latin typeface="Yu Gothic"/>
              </a:rPr>
              <a:t>生活全体の支援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8059" y="4968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・楽しみとの両立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・社会参加・役割継続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・抑うつ・孤立予防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059" y="4968000"/>
            <a:ext cx="453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・低糖質クッキング教室紹介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・配食 + 自炊の組み合わせ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Yu Gothic"/>
              </a:rPr>
              <a:t>・地域包括・サロンへ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Dさんの物語 ― 糖尿病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D さんの揺らぎ ― 「我慢の生活」を続けられるか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620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4B8655"/>
                </a:solidFill>
                <a:latin typeface="Yu Gothic"/>
              </a:rPr>
              <a:t>Dさん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871999"/>
            <a:ext cx="5580000" cy="1008001"/>
          </a:xfrm>
          <a:prstGeom prst="round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926000"/>
            <a:ext cx="5292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「毎日毎日、数字を測って、針を刺して。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こんな生活、80歳まで続けられない。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たまには、好きなもの食べたっていい。」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620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Yu Gothic"/>
              </a:rPr>
              <a:t>息子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1871999"/>
            <a:ext cx="5400000" cy="1008001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4000" y="1926000"/>
            <a:ext cx="5112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「母さん、また甘いものを?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入院したくないでしょう。</a:t>
            </a:r>
          </a:p>
          <a:p>
            <a:pPr algn="l"/>
            <a:r>
              <a:rPr sz="1300" b="0" i="1">
                <a:solidFill>
                  <a:srgbClr val="404040"/>
                </a:solidFill>
                <a:latin typeface="Yu Gothic"/>
              </a:rPr>
              <a:t> 我慢して下さい。」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06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30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ここで主任CMが見ているもの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420000"/>
            <a:ext cx="11304000" cy="27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3456000"/>
            <a:ext cx="11088000" cy="26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「コンプライアンス不良」と裁く前に、Dさんの30年の闘病史を尊重する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糖尿病は「ずっと我慢」と言われ続けてきた。心が疲れて当然。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「禁止」ではなく「工夫」を提案できるか?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・週1回は好きな和菓子を、量と時間を決めて → 主治医・栄養士と相談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・低糖質スイーツのレシピをDさん自身が探す → 趣味と療養の融合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家族の「正しさ」が本人を追い詰めることもある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息子に「数字より、母さんが続けられることを一緒に考えませんか」と伝える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Dさんが諦めない、息子も付き合える、その間に立つのが ケアマネの仕事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E87A41"/>
                </a:solidFill>
                <a:latin typeface="Yu Gothic"/>
              </a:rPr>
              <a:t>第 5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Yu Gothic"/>
              </a:rPr>
              <a:t>アセスメントへの落とし込み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Embedding into Assessment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アセスメントへの落とし込み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「想定される支援内容」を 仮説 として持ち込む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22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61" y="1728000"/>
            <a:ext cx="2340000" cy="12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2061" y="1836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①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手引きから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仮説立て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6061" y="2196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4060" y="1728000"/>
            <a:ext cx="2340000" cy="12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6060" y="1836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②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アセスメントで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本人の必要性検証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80060" y="2196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8059" y="1728000"/>
            <a:ext cx="2340000" cy="1260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59" y="1836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③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ケアプランへ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落とし込み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4059" y="2196000"/>
            <a:ext cx="431999" cy="32400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2058" y="1728000"/>
            <a:ext cx="2340000" cy="12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4058" y="1836000"/>
            <a:ext cx="2196000" cy="104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④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モニタリングで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再検証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00000"/>
            <a:ext cx="5580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000" y="363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Cさん(脳血管)の検証例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3960000"/>
            <a:ext cx="5580000" cy="216000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996000"/>
            <a:ext cx="536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仮説 :「再発予防の服薬支援が必要」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→ 検証 :妻が確実に管理できている → 訪看週1で十分(過剰サービス回避)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仮説 :「抑うつへの対応が必要」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→ 検証 :GDS高値・閉じこもり傾向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    → 訪問リハ + 心理面の声かけを内容に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仮説 :「ADL再構築」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→ 検証 :「孫の運動会に行きたい」目標がある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    → 車椅子・移動手段の支援に重点配分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3600000"/>
            <a:ext cx="5400000" cy="360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2000" y="363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Dさん(糖尿病)の検証例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000" y="3960000"/>
            <a:ext cx="5400000" cy="2160000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8000" y="3996000"/>
            <a:ext cx="518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仮説 :「血糖管理 = 食事制限」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→ 検証 :Dさんの楽しみが「料理」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    → 制限ではなく低糖質料理教室の活用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仮説 :「インスリン手技確認が必要」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→ 検証 :手技は問題なし。問題は孤立時の低血糖対応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    → 訪看の内容を「低血糖教育」にシフト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仮説 :「フットケアが必要」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→ 検証 :神経障害あり、自己観察困難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    → 訪問看護に毎週の足観察を明記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アセスメントへの落とし込み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課題分析標準項目で「どこを濃く書くか」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23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059" y="1620000"/>
            <a:ext cx="1080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59" y="1656000"/>
            <a:ext cx="34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事例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059" y="1656000"/>
            <a:ext cx="70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重点的にアセスメントすべき項目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059" y="1980000"/>
            <a:ext cx="10800000" cy="1620000"/>
          </a:xfrm>
          <a:prstGeom prst="rect">
            <a:avLst/>
          </a:prstGeom>
          <a:solidFill>
            <a:srgbClr val="FBE9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059" y="2088000"/>
            <a:ext cx="3384000" cy="14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C14C4C"/>
                </a:solidFill>
                <a:latin typeface="Yu Gothic"/>
              </a:rPr>
              <a:t>Cさん:脳血管疾患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059" y="2088000"/>
            <a:ext cx="6984000" cy="14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⑨健康状態(再発リスク・抗凝固)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⑩ADL ⑪IADL(できる/しているの差)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⑮排尿 ⑯排便(尿路感染リスク)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⑲問題行動 → 抑うつとして再解釈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⑳介護力(妻の介護観・腰痛)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059" y="3600000"/>
            <a:ext cx="10800000" cy="1620000"/>
          </a:xfrm>
          <a:prstGeom prst="rect">
            <a:avLst/>
          </a:prstGeom>
          <a:solidFill>
            <a:srgbClr val="E6F1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059" y="3708000"/>
            <a:ext cx="3384000" cy="14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4B8655"/>
                </a:solidFill>
                <a:latin typeface="Yu Gothic"/>
              </a:rPr>
              <a:t>Dさん:糖尿病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059" y="3708000"/>
            <a:ext cx="6984000" cy="140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⑨健康状態(HbA1c・合併症)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⑭社会との関わり(孤立・楽しみ)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⑯排便 ⑰褥瘡(末梢神経障害・足)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⑲問題行動 → 食行動として把握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⑳介護力(息子の遠距離・関係性)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5580000"/>
            <a:ext cx="11328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Yu Gothic"/>
              </a:rPr>
              <a:t>▶ 23項目は均等に書くのではなく、疾患特性に応じて 濃淡をつける。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F3A5F"/>
                </a:solidFill>
                <a:latin typeface="Yu Gothic"/>
              </a:rPr>
              <a:t>▶ 主任CMは後輩に「なぜこの項目をこの深さで書いたか」を説明させる訓練を。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アセスメントへの落とし込み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多職種から「情報を引き出す」のもアセスメント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24 / 38</a:t>
            </a:r>
          </a:p>
        </p:txBody>
      </p:sp>
      <p:sp>
        <p:nvSpPr>
          <p:cNvPr id="8" name="Oval 7"/>
          <p:cNvSpPr/>
          <p:nvPr/>
        </p:nvSpPr>
        <p:spPr>
          <a:xfrm>
            <a:off x="5196059" y="3240000"/>
            <a:ext cx="1800000" cy="1080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ケアマネ</a:t>
            </a:r>
          </a:p>
          <a:p>
            <a:pPr algn="ctr"/>
            <a:r>
              <a:rPr sz="1100">
                <a:solidFill>
                  <a:srgbClr val="F2F2F2"/>
                </a:solidFill>
                <a:latin typeface="Yu Gothic"/>
              </a:rPr>
              <a:t>(情報の結節点)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800000"/>
            <a:ext cx="2844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800000"/>
            <a:ext cx="27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主治医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124000"/>
            <a:ext cx="2844000" cy="4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160000"/>
            <a:ext cx="2700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Yu Gothic"/>
              </a:rPr>
              <a:t>疾患の見通し・薬剤調整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0" y="1800000"/>
            <a:ext cx="2844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2000" y="1800000"/>
            <a:ext cx="27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薬剤師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0" y="2124000"/>
            <a:ext cx="2844000" cy="4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2000" y="2160000"/>
            <a:ext cx="2700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Yu Gothic"/>
              </a:rPr>
              <a:t>服薬・残薬・相互作用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0000" y="1800000"/>
            <a:ext cx="2844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2000" y="1800000"/>
            <a:ext cx="27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訪問看護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0000" y="2124000"/>
            <a:ext cx="2844000" cy="4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2000" y="2160000"/>
            <a:ext cx="2700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Yu Gothic"/>
              </a:rPr>
              <a:t>バイタル・症状の変化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5400000"/>
            <a:ext cx="2844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5400000"/>
            <a:ext cx="27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リハ職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5724000"/>
            <a:ext cx="2844000" cy="4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5760000"/>
            <a:ext cx="2700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Yu Gothic"/>
              </a:rPr>
              <a:t>ADL/IADLの実行力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0000" y="5400000"/>
            <a:ext cx="2844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2000" y="5400000"/>
            <a:ext cx="27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栄養士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5724000"/>
            <a:ext cx="2844000" cy="4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2000" y="5760000"/>
            <a:ext cx="2700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Yu Gothic"/>
              </a:rPr>
              <a:t>食事・栄養・生活習慣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0000" y="5400000"/>
            <a:ext cx="2844000" cy="324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2000" y="5400000"/>
            <a:ext cx="270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地域包括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0000" y="5724000"/>
            <a:ext cx="2844000" cy="4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2000" y="5760000"/>
            <a:ext cx="2700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Yu Gothic"/>
              </a:rPr>
              <a:t>家族・地域資源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630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Yu Gothic"/>
              </a:rPr>
              <a:t>▶ アセスメントは1人で完成しない。CMは「問いを持って」多職種に声をかける役。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E87A41"/>
                </a:solidFill>
                <a:latin typeface="Yu Gothic"/>
              </a:rPr>
              <a:t>第 6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Yu Gothic"/>
              </a:rPr>
              <a:t>ケアプラン作成への落とし込み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From Story to Care Plan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Cさんのケアプラン:第1表(抜粋)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26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利用者及び家族の生活に対する意向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100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本人:「孫の運動会にもう一度行きたい。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      妻と近所のスーパーに歩いて買い物に行けたら、それで十分だ。」(R6.○月○日)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妻 :「再発だけは絶対に避けたい。本人がやりたいことは、できる範囲で応援したい。」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060000"/>
            <a:ext cx="558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309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総合的な援助の方針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420000"/>
            <a:ext cx="5580000" cy="126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456000"/>
            <a:ext cx="536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再発予防(服薬・血圧)を生活の基盤に据える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残存機能を活かしたADL再構築を、本人のペースで進める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「孫の運動会に行く」を中期目標に、生活全体を組み立てる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■ 妻の介護負担を軽減し、夫婦の在宅生活を支える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3060000"/>
            <a:ext cx="5400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309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認定情報・課題分析の理由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420000"/>
            <a:ext cx="5400000" cy="1260000"/>
          </a:xfrm>
          <a:prstGeom prst="rect">
            <a:avLst/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456000"/>
            <a:ext cx="5184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・要介護2(R6.○月認定)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・主治医意見書:脳梗塞後遺症(左片麻痺・BRSⅢ)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・回復期病棟退院に伴う在宅生活設計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・抑うつ傾向・社会的役割の喪失感あり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752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78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第1表 作成のポイント(主任CMチェック)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5112000"/>
            <a:ext cx="11304000" cy="100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5148000"/>
            <a:ext cx="11088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「再発予防」と「本人の願い」を 並列 で書けているか?(片方に偏らない)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妻の意向と本人の意向を 分けて 記載しているか?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■ 援助方針が、3ヶ月先・1年先を見据えた表現になっているか?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Cさんのケアプラン:第2表(抜粋)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27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59" y="1620000"/>
            <a:ext cx="11304000" cy="432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59" y="1656000"/>
            <a:ext cx="280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生活全般の解決すべき課題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0059" y="1656000"/>
            <a:ext cx="26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長期目標(12ヶ月)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0059" y="1656000"/>
            <a:ext cx="262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短期目標(3ヶ月)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0059" y="1656000"/>
            <a:ext cx="2952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サービス内容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059" y="2052000"/>
            <a:ext cx="11304000" cy="972000"/>
          </a:xfrm>
          <a:prstGeom prst="rect">
            <a:avLst/>
          </a:prstGeom>
          <a:solidFill>
            <a:srgbClr val="FBE9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059" y="2124000"/>
            <a:ext cx="277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妻と近所のスーパーまで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歩いて買い物に行きたい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8059" y="2124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片道500mを杖歩行で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往復できる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8059" y="2124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屋内・庭まで杖歩行が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安定する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59" y="2124000"/>
            <a:ext cx="291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訪問リハ(週2)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自主トレ・住宅改修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短下肢装具・杖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059" y="3024000"/>
            <a:ext cx="11304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059" y="3096000"/>
            <a:ext cx="277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再発せず、薬を確実に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飲み続けたい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8059" y="3096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再発・入院なく在宅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生活を継続する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059" y="3096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PT-INRが治療域に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安定する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59" y="3096000"/>
            <a:ext cx="291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訪問看護(週1)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服薬カレンダー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かかりつけ医連携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059" y="3996000"/>
            <a:ext cx="11304000" cy="972000"/>
          </a:xfrm>
          <a:prstGeom prst="rect">
            <a:avLst/>
          </a:prstGeom>
          <a:solidFill>
            <a:srgbClr val="FBE9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059" y="4068000"/>
            <a:ext cx="277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孫の運動会に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もう一度行きたい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8059" y="4068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10月の運動会に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家族と一緒に参加できる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8059" y="4068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車椅子で30分以上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外出できる体力をつける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59" y="4068000"/>
            <a:ext cx="291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通所リハ(週2)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車椅子整備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家族による外出支援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4059" y="4968000"/>
            <a:ext cx="11304000" cy="97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059" y="5040000"/>
            <a:ext cx="277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妻にあまり負担をかけず、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夫婦で穏やかに暮らしたい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8059" y="5040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妻の介護負担感が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軽減され、外出も可能に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8059" y="5040000"/>
            <a:ext cx="2592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妻が月1回、自分の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時間を持てるようになる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059" y="5040000"/>
            <a:ext cx="2916000" cy="82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短期入所(月1回)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Yu Gothic"/>
              </a:rPr>
              <a:t>家族会・地域包括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Dさんのケアプラン:第1表・第2表(抜粋)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28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Dさん 第1表 意向・援助方針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900000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8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本人:「数字に縛られすぎず、好きな料理を続けたい。たまには甘いものも。」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息子:「合併症で入院しないでほしい。母らしい生活を支えたい。」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総合的な援助の方針:Dさんの「楽しみ」と「療養」を両立させる支援。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孤立を防ぎ、合併症の早期発見ルートを確保する。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59" y="3060000"/>
            <a:ext cx="11304000" cy="360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59" y="3096000"/>
            <a:ext cx="280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ニーズ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059" y="3096000"/>
            <a:ext cx="226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長期目標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0059" y="3096000"/>
            <a:ext cx="280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短期目標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0059" y="3096000"/>
            <a:ext cx="313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主なサービス内容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059" y="3420000"/>
            <a:ext cx="11304000" cy="684000"/>
          </a:xfrm>
          <a:prstGeom prst="rect">
            <a:avLst/>
          </a:prstGeom>
          <a:solidFill>
            <a:srgbClr val="E6F1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059" y="3474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料理を楽しみながら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血糖をコントロールしたい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8059" y="3474000"/>
            <a:ext cx="223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HbA1c 7%台維持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8059" y="3474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週1で和菓子を量を決めて摂取し続ける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8059" y="3474000"/>
            <a:ext cx="309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栄養指導/低糖質料理教室紹介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059" y="4104000"/>
            <a:ext cx="11304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059" y="4158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低血糖で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倒れないようにしたい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8059" y="4158000"/>
            <a:ext cx="223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低血糖救急搬送なく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在宅生活継続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8059" y="4158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補食をいつも携帯、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症状を自覚できる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8059" y="4158000"/>
            <a:ext cx="309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訪問看護(週2)/緊急連絡カード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059" y="4788000"/>
            <a:ext cx="11304000" cy="684000"/>
          </a:xfrm>
          <a:prstGeom prst="rect">
            <a:avLst/>
          </a:prstGeom>
          <a:solidFill>
            <a:srgbClr val="E6F1E9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059" y="4842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足を守り、自分で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歩き続けたい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8059" y="4842000"/>
            <a:ext cx="223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足の重大な合併症なく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外出を継続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8059" y="4842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毎日の足の自己観察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+ 訪看の確認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8059" y="4842000"/>
            <a:ext cx="309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訪問看護(フットケア)/福祉用具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059" y="5472000"/>
            <a:ext cx="11304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059" y="5526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孤立せず、料理仲間と</a:t>
            </a:r>
          </a:p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楽しい時間を持ちたい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8059" y="5526000"/>
            <a:ext cx="223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週1回 外出・交流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8059" y="5526000"/>
            <a:ext cx="27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地域サロンに月2回参加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8059" y="5526000"/>
            <a:ext cx="309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Yu Gothic"/>
              </a:rPr>
              <a:t>通所サービス/地域包括との連携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ケアプランへの落とし込み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C さん × D さん ― 同じ「基本ケア」、違う「物語」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29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5580000" cy="324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565999"/>
            <a:ext cx="540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C さん  ・  脳血管疾患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872000"/>
            <a:ext cx="5580000" cy="414000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5400000" cy="40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【尊厳・自立】役割の再獲得が核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「孫の運動会」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【全体像】夫婦単位で見る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妻の介護負担も同時に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【意思決定】沈黙を選択肢として尊重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体験・時間を与える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【リスク管理】再発予防が最優先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抗凝固・血圧・脱水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■ 時間軸は「回復〜拡大」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■ 主任CMの問い: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「数値と意味、両方の目標があるか?」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00" cy="324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8000" y="1565999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D さん  ・  糖尿病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872000"/>
            <a:ext cx="5400000" cy="4140000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1944000"/>
            <a:ext cx="5220000" cy="40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【尊厳・自立】楽しみとの両立が核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料理を続ける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【全体像】独居 ・ 息子との関係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「正しさ」が壁にならない支援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【意思決定】30年の闘病史を尊重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「我慢」ではなく「工夫」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【リスク管理】合併症・低血糖が最優先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→ 足・眼・救急対応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■ 時間軸は「数十年の慢性」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■ 主任CMの問い: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   「禁止 ではなく 工夫 になっているか?」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E87A41"/>
                </a:solidFill>
                <a:latin typeface="Yu Gothic"/>
              </a:rPr>
              <a:t>第 7 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Yu Gothic"/>
              </a:rPr>
              <a:t>事例検討・グループ共有・まとめ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F2F2F2"/>
                </a:solidFill>
                <a:latin typeface="Yu Gothic"/>
              </a:rPr>
              <a:t>Group Work and Closing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7. 事例検討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事例:Eさん(78歳・男性) ― 脳卒中+糖尿病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31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プロフィール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144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・78歳 男性 要介護2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・脳梗塞後遺症(右片麻痺・軽度失語)・2型糖尿病(HbA1c 7.8%)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・妻(75歳・パートで週3日就労)と二人暮らし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・元会社員、寡黙だが家族思い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・「妻に迷惑をかけたくない。一人で何でもできるようになりたい」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91999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3527999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ワーク内容(3〜4人組・10分)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851999"/>
            <a:ext cx="11304000" cy="226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887999"/>
            <a:ext cx="11088000" cy="22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Q1. Eさんに「基本ケア4つの柱」のうち、どこを最も濃く書きますか?(2分)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Q2. 「脳血管疾患」と「糖尿病」の 想定される支援内容、どちらを優先しますか?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       両立させるとしたら、どんな工夫が必要ですか?(4分)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Q3. 妻の就労継続を支える支援を、ケアプラン第2表に1行で書いてみよう(2分)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Yu Gothic"/>
              </a:rPr>
              <a:t>Q4. 共有 ・ 全体発表(2分)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7. 事例検討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複合疾患を扱うときの 4 つの論点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32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432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Yu Gothic"/>
              </a:rPr>
              <a:t>論点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1656000"/>
            <a:ext cx="43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優先順位の付け方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052000"/>
            <a:ext cx="5580000" cy="154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2123999"/>
            <a:ext cx="5364000" cy="147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・「命の危険」が最優先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・両疾患のリスクを並べて整理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・主治医と相談する場面を作る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620000"/>
            <a:ext cx="5580000" cy="432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8000" y="165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Yu Gothic"/>
              </a:rPr>
              <a:t>論点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000" y="1656000"/>
            <a:ext cx="43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サービスの重複と統合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6000" y="2052000"/>
            <a:ext cx="5580000" cy="154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4000" y="2123999"/>
            <a:ext cx="5364000" cy="147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・訪問看護で両疾患を診る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・通所リハで運動+栄養指導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・複数科受診の情報集約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708000"/>
            <a:ext cx="5580000" cy="432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374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Yu Gothic"/>
              </a:rPr>
              <a:t>論点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0000" y="3744000"/>
            <a:ext cx="43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家族の理解と教育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140000"/>
            <a:ext cx="5580000" cy="154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4211999"/>
            <a:ext cx="5364000" cy="147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・妻に両疾患の特徴を伝える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・低血糖と脳梗塞再発のサイン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・緊急時の判断基準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6000" y="3708000"/>
            <a:ext cx="5580000" cy="432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8000" y="374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Yu Gothic"/>
              </a:rPr>
              <a:t>論点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4000" y="3744000"/>
            <a:ext cx="43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本人の意思の核を見つける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6000" y="4140000"/>
            <a:ext cx="5580000" cy="1548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4000" y="4211999"/>
            <a:ext cx="5364000" cy="147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・「一人で何でもできるように」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  という言葉の背景を聴く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Yu Gothic"/>
              </a:rPr>
              <a:t>・小さな成功体験の積み重ね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後輩CMへ ― あなたが手法を伝える側になる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620000"/>
            <a:ext cx="25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Yu Gothic"/>
              </a:rPr>
              <a:t>ある主任CMの言葉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871999"/>
            <a:ext cx="11304000" cy="1188001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926000"/>
            <a:ext cx="11016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0" i="1">
                <a:solidFill>
                  <a:srgbClr val="404040"/>
                </a:solidFill>
                <a:latin typeface="Yu Gothic"/>
              </a:rPr>
              <a:t>「適切なケアマネジメント手法は、答えを教えてくれません。</a:t>
            </a:r>
          </a:p>
          <a:p>
            <a:pPr algn="l"/>
            <a:r>
              <a:rPr sz="1500" b="0" i="1">
                <a:solidFill>
                  <a:srgbClr val="404040"/>
                </a:solidFill>
                <a:latin typeface="Yu Gothic"/>
              </a:rPr>
              <a:t> でも、「次に何を問うか」を教えてくれます。</a:t>
            </a:r>
          </a:p>
          <a:p>
            <a:pPr algn="l"/>
            <a:r>
              <a:rPr sz="1500" b="0" i="1">
                <a:solidFill>
                  <a:srgbClr val="404040"/>
                </a:solidFill>
                <a:latin typeface="Yu Gothic"/>
              </a:rPr>
              <a:t> 後輩には、答えではなく、問いの順序を伝えてあげてください。」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240000"/>
            <a:ext cx="11304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32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明日からの 3 ステップ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600000"/>
            <a:ext cx="11304000" cy="252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3636000"/>
            <a:ext cx="11088000" cy="24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STEP 1  自分の担当ケースを 1 件、「手引き」の項目に当てはめて棚卸ししてみる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         → 抜けていた視点・濃淡を再確認する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STEP 2  後輩のケース会議で、「想定される支援内容(仮説)」 → 「アセスメントで検証」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         の順序で発表させる。司会としてこの構造を守る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STEP 3  事業所内で「支援を入れなかった根拠」も記録に残す文化を作る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          → これが「説明責任を果たすケアマネジメント」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本日の学びの整理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34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C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 さんの物語が教えてくれたこと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414000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41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ADLの数値の先に、「本人の意味」がある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「孫の運動会に行きたい」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「沈黙」も意思表示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結論を急がず、体験と時間を提供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再発予防 と ADL再構築 は両輪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どちらかに偏らない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妻(家族介護者)は もう一人の利用者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「夫婦単位」でアセスメント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「時間軸」を持つケアプランを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退院 → 安定 → 拡大の見通し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4B8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D さんの物語が教えてくれたこと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4140000"/>
          </a:xfrm>
          <a:prstGeom prst="rect">
            <a:avLst/>
          </a:prstGeom>
          <a:solidFill>
            <a:srgbClr val="E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41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「我慢」ではなく「工夫」の提案を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楽しみと療養の両立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30 年の闘病史を尊重する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「コンプライアンス不良」と裁かない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家族の「正しさ」が壁になることも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間に立つのが CM の仕事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合併症は CM が結節点として防ぐ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多科受診の情報を集約する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/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■ 慢性疾患は「数十年単位」の支援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Yu Gothic"/>
              </a:rPr>
              <a:t>   ― 「卒業」より「伴走」が基本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二人の物語に共通する ― 主任CMの核となる姿勢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35 /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720000" cy="90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620000"/>
            <a:ext cx="720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E87A41"/>
                </a:solidFill>
                <a:latin typeface="Yu Gothic"/>
              </a:rPr>
              <a:t>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000" y="1620000"/>
            <a:ext cx="10608119" cy="9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1656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Yu Gothic"/>
              </a:rPr>
              <a:t>仮説を持って、現場に立つ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0000" y="1998000"/>
            <a:ext cx="1039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「想定される支援内容」を頭に入れて訪問する。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ゼロから考えるのではなく、検証する姿勢で。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627999"/>
            <a:ext cx="720000" cy="90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2627999"/>
            <a:ext cx="720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E87A41"/>
                </a:solidFill>
                <a:latin typeface="Yu Gothic"/>
              </a:rPr>
              <a:t>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000" y="2627999"/>
            <a:ext cx="10608119" cy="9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2663999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Yu Gothic"/>
              </a:rPr>
              <a:t>本人の言葉に翻訳する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0000" y="3005999"/>
            <a:ext cx="1039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支援者の言葉(再発予防・コンプライアンス)を、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本人の言葉(運動会に行く・料理を続ける)に置き換える。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635998"/>
            <a:ext cx="720000" cy="90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635998"/>
            <a:ext cx="720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E87A41"/>
                </a:solidFill>
                <a:latin typeface="Yu Gothic"/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2000" y="3635998"/>
            <a:ext cx="10608119" cy="9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0000" y="3671998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Yu Gothic"/>
              </a:rPr>
              <a:t>プロセスを記録に残す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000" y="4013998"/>
            <a:ext cx="1039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「なぜ入れたか」だけでなく「なぜ入れなかったか」も。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支援経過にこそ、説明責任の根拠が宿る。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4643997"/>
            <a:ext cx="720000" cy="90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4643997"/>
            <a:ext cx="720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200" b="1" i="0">
                <a:solidFill>
                  <a:srgbClr val="E87A41"/>
                </a:solidFill>
                <a:latin typeface="Yu Gothic"/>
              </a:rPr>
              <a:t>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2000" y="4643997"/>
            <a:ext cx="10608119" cy="900000"/>
          </a:xfrm>
          <a:prstGeom prst="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0000" y="4679997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Yu Gothic"/>
              </a:rPr>
              <a:t>後輩に「問いの順序」を伝える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0000" y="5021997"/>
            <a:ext cx="1039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答えを与えるのではなく、構造化された問いを与える。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Yu Gothic"/>
              </a:rPr>
              <a:t>これが事業所の力を底上げする。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Yu Gothic"/>
              </a:rPr>
              <a:t>参考資料・関連ガイドライン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9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Yu Gothic"/>
              </a:rPr>
              <a:t>主任介護支援専門員研修 / 適切なケアマネジメント手法の実践活用 ― 脳血管疾患・糖尿病編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Yu Gothic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厚生労働省「適切なケアマネジメント手法の手引き」(脳血管疾患・糖尿病の章)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8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日本脳卒中学会「脳卒中治療ガイドライン」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5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日本糖尿病学会「糖尿病診療ガイドライン」「高齢者糖尿病診療ガイドライン」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024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厚生労働省「人生の最終段階における医療・ケアの決定プロセスに関するガイドライン」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92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日本ケアマネジメント学会「課題分析標準項目に関する解説」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96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国際生活機能分類(ICF) ― 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42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介護保険最新情報(課題分析標準項目 R5改訂)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89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Yu Gothic"/>
              </a:rPr>
              <a:t>■ 「適切なケアマネジメント手法」事例集(地域別研修資料)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E87A41"/>
                </a:solidFill>
                <a:latin typeface="Yu Gothic"/>
              </a:rPr>
              <a:t>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34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 i="0">
                <a:solidFill>
                  <a:srgbClr val="FFFFFF"/>
                </a:solidFill>
                <a:latin typeface="Yu Gothic"/>
              </a:rPr>
              <a:t>C さんは今日、孫を助手席に乗せて</a:t>
            </a:r>
          </a:p>
          <a:p>
            <a:pPr algn="ctr">
              <a:lnSpc>
                <a:spcPct val="140000"/>
              </a:lnSpc>
            </a:pPr>
            <a:r>
              <a:rPr sz="2200" b="0" i="0">
                <a:solidFill>
                  <a:srgbClr val="FFFFFF"/>
                </a:solidFill>
                <a:latin typeface="Yu Gothic"/>
              </a:rPr>
              <a:t>近所のコンビニまで運転した。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96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 i="0">
                <a:solidFill>
                  <a:srgbClr val="FFFFFF"/>
                </a:solidFill>
                <a:latin typeface="Yu Gothic"/>
              </a:rPr>
              <a:t>D さんは今日、料理教室で</a:t>
            </a:r>
          </a:p>
          <a:p>
            <a:pPr algn="ctr">
              <a:lnSpc>
                <a:spcPct val="140000"/>
              </a:lnSpc>
            </a:pPr>
            <a:r>
              <a:rPr sz="2200" b="0" i="0">
                <a:solidFill>
                  <a:srgbClr val="FFFFFF"/>
                </a:solidFill>
                <a:latin typeface="Yu Gothic"/>
              </a:rPr>
              <a:t>低糖質の和菓子を仲間と作っていた。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580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Yu Gothic"/>
              </a:rPr>
              <a:t>二人の物語は、まだ続いていく。</a:t>
            </a:r>
          </a:p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Yu Gothic"/>
              </a:rPr>
              <a:t>そしてあなたの担当ケースも、また明日から物語が動き出す。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E8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Yu Gothic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78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 i="0">
                <a:solidFill>
                  <a:srgbClr val="F2F2F2"/>
                </a:solidFill>
                <a:latin typeface="Yu Gothic"/>
              </a:rPr>
              <a:t>ご質問・ご意見、そしてあなた自身の「物語」を</a:t>
            </a:r>
          </a:p>
          <a:p>
            <a:pPr algn="ctr">
              <a:lnSpc>
                <a:spcPct val="140000"/>
              </a:lnSpc>
            </a:pPr>
            <a:r>
              <a:rPr sz="1800" b="0" i="0">
                <a:solidFill>
                  <a:srgbClr val="F2F2F2"/>
                </a:solidFill>
                <a:latin typeface="Yu Gothic"/>
              </a:rPr>
              <a:t>ぜひお聞かせください。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