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28000"/>
            <a:ext cx="12192119" cy="18000"/>
          </a:xfrm>
          <a:prstGeom prst="rect">
            <a:avLst/>
          </a:prstGeom>
          <a:solidFill>
            <a:srgbClr val="76A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D96E4C"/>
                </a:solidFill>
                <a:latin typeface="Yu Gothic"/>
              </a:rPr>
              <a:t>主任介護支援専門員 研修会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944000"/>
            <a:ext cx="11472119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Yu Gothic"/>
              </a:rPr>
              <a:t>ヤングケアラー・ビジネスケアラー</a:t>
            </a:r>
          </a:p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Yu Gothic"/>
              </a:rPr>
              <a:t>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Yu Gothic"/>
              </a:rPr>
              <a:t>ー 改正子ども・若者育成支援推進法を踏まえた多機関連携の実務 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680000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AF1DB"/>
                </a:solidFill>
                <a:latin typeface="Yu Gothic"/>
              </a:rPr>
              <a:t>■ ヤングケアラー・ビジネスケアラーとは ― 用語と背景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AF1DB"/>
                </a:solidFill>
                <a:latin typeface="Yu Gothic"/>
              </a:rPr>
              <a:t>■ 改正子ども・若者育成支援推進法のポイント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AF1DB"/>
                </a:solidFill>
                <a:latin typeface="Yu Gothic"/>
              </a:rPr>
              <a:t>■ 気づき、つなぎ、両立を支える ― 多機関連携の実務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86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主任ケアマネジャーの会  主催  ・  研修時間 90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本日の研修目標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2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80000" cy="54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7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D3237"/>
                </a:solidFill>
                <a:latin typeface="Yu Gothic"/>
              </a:rPr>
              <a:t>ヤングケアラー・ビジネスケアラーという言葉と、その背景を理解する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268000"/>
            <a:ext cx="180000" cy="54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322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D3237"/>
                </a:solidFill>
                <a:latin typeface="Yu Gothic"/>
              </a:rPr>
              <a:t>改正子ども・若者育成支援推進法のポイントと、支援の方向性を押さえる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80000" cy="54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970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D3237"/>
                </a:solidFill>
                <a:latin typeface="Yu Gothic"/>
              </a:rPr>
              <a:t>ヤングケアラーの「見えにくさ」と、CMが気づける立場を理解する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564000"/>
            <a:ext cx="180000" cy="54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618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D3237"/>
                </a:solidFill>
                <a:latin typeface="Yu Gothic"/>
              </a:rPr>
              <a:t>ビジネスケアラー(働く介護者)の両立を、ケアプランで支える視点を持つ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80000" cy="54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266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D3237"/>
                </a:solidFill>
                <a:latin typeface="Yu Gothic"/>
              </a:rPr>
              <a:t>高齢者本人の担当であるCMが、世帯の中の家族介護者をどう支えるかを考える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860000"/>
            <a:ext cx="180000" cy="54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91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D3237"/>
                </a:solidFill>
                <a:latin typeface="Yu Gothic"/>
              </a:rPr>
              <a:t>教育・福祉・労働など多機関と連携する実務と、その留意点を持ち帰る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本日の流れ(90分)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3 / 27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468000" cy="468000"/>
          </a:xfrm>
          <a:prstGeom prst="ellipse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174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068A4"/>
                </a:solidFill>
                <a:latin typeface="Yu Gothic"/>
              </a:rPr>
              <a:t>ヤングケアラー・ビジネスケアラーとは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176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4C"/>
                </a:solidFill>
                <a:latin typeface="Yu Gothic"/>
              </a:rP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58000"/>
            <a:ext cx="468000" cy="468000"/>
          </a:xfrm>
          <a:prstGeom prst="ellipse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2412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068A4"/>
                </a:solidFill>
                <a:latin typeface="Yu Gothic"/>
              </a:rPr>
              <a:t>改正子ども・若者育成支援推進法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2430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4C"/>
                </a:solidFill>
                <a:latin typeface="Yu Gothic"/>
              </a:rPr>
              <a:t>15分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3024000"/>
            <a:ext cx="468000" cy="468000"/>
          </a:xfrm>
          <a:prstGeom prst="ellipse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000" y="3078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068A4"/>
                </a:solidFill>
                <a:latin typeface="Yu Gothic"/>
              </a:rPr>
              <a:t>ヤングケアラーへの気づきと支援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309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4C"/>
                </a:solidFill>
                <a:latin typeface="Yu Gothic"/>
              </a:rPr>
              <a:t>20分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690000"/>
            <a:ext cx="468000" cy="468000"/>
          </a:xfrm>
          <a:prstGeom prst="ellipse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0" y="3744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068A4"/>
                </a:solidFill>
                <a:latin typeface="Yu Gothic"/>
              </a:rPr>
              <a:t>ビジネスケアラー(働く介護者)への支援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376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4C"/>
                </a:solidFill>
                <a:latin typeface="Yu Gothic"/>
              </a:rPr>
              <a:t>20分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4356000"/>
            <a:ext cx="468000" cy="468000"/>
          </a:xfrm>
          <a:prstGeom prst="ellipse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000" y="4410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068A4"/>
                </a:solidFill>
                <a:latin typeface="Yu Gothic"/>
              </a:rPr>
              <a:t>多機関連携の実務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2119" y="442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4C"/>
                </a:solidFill>
                <a:latin typeface="Yu Gothic"/>
              </a:rPr>
              <a:t>15分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5022000"/>
            <a:ext cx="468000" cy="468000"/>
          </a:xfrm>
          <a:prstGeom prst="ellipse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0" y="507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068A4"/>
                </a:solidFill>
                <a:latin typeface="Yu Gothic"/>
              </a:rPr>
              <a:t>まとめ ― 主任CMが持ち帰るもの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509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96E4C"/>
                </a:solidFill>
                <a:latin typeface="Yu Gothic"/>
              </a:rPr>
              <a:t>10分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4C"/>
                </a:solidFill>
                <a:latin typeface="Yu Gothi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ヤングケアラー・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ビジネスケアラーとは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Young Carers and Business (Working) Carers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用語と背景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2つの「ケアラー」 ― 言葉を整理する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5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5580000" cy="360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ヤングケアラー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5580000" cy="2160000"/>
          </a:xfrm>
          <a:prstGeom prst="rect">
            <a:avLst/>
          </a:prstGeom>
          <a:solidFill>
            <a:srgbClr val="EF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536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本来は大人が担うようなケア責任を引き受け、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家事や家族の世話・介護などを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日常的に行っている子ども・若者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高齢の祖父母の介護、障害・疾患のある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家族の世話、きょうだいの世話、家事 など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学業・友人関係・進路・心身の発達に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影響が及ぶことがある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▶ 「子どもらしい時間」が奪われうる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00" cy="360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58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ビジネスケアラー(働く介護者)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08000"/>
            <a:ext cx="5400000" cy="2160000"/>
          </a:xfrm>
          <a:prstGeom prst="rect">
            <a:avLst/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1944000"/>
            <a:ext cx="5184000" cy="21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仕事をしながら、家族の介護を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担っている人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主に「働き盛り」の世代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(子育てと重なる「ダブルケア」も)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仕事と介護の両立が難しく、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介護離職に至るリスク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▶ 本人のキャリア・収入、企業の人材、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社会全体に関わる課題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24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共通するのは「家族介護者」への支援という視点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72000"/>
            <a:ext cx="11304000" cy="1548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608000"/>
            <a:ext cx="1108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どちらも「家族を介護・ケアする人(ケアラー)」 ― 介護を受ける本人とは別に、支援が要る存在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居宅CMは「高齢者本人」を担当するが、その世帯には必ず「ケアを担う家族」がいる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「介護される人」だけでなく「介護する人」にも目を向けることが、これからのケアマネジメント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用語と背景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なぜ今、家族介護者の支援が注目されるのか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6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540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059" y="1620000"/>
            <a:ext cx="270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家族のかたちの変化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59" y="2160000"/>
            <a:ext cx="2772000" cy="1548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059" y="2268000"/>
            <a:ext cx="2556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・少子化・核家族化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・ひとり親世帯・共働き世帯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・介護の担い手が限られる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0059" y="1620000"/>
            <a:ext cx="2772000" cy="540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6059" y="1620000"/>
            <a:ext cx="270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介護の長期化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0059" y="2160000"/>
            <a:ext cx="2772000" cy="1548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8059" y="2268000"/>
            <a:ext cx="2556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・高齢化で介護期間が長くなる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・「老老介護」「多重介護」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・1人に負担が集中しやすい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059" y="1620000"/>
            <a:ext cx="2772000" cy="54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6059" y="1620000"/>
            <a:ext cx="270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ケアラーの不可視化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2160000"/>
            <a:ext cx="2772000" cy="1548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8059" y="2268000"/>
            <a:ext cx="2556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・家族介護は「家のこと」とされ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  外から見えにくい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・本人も声をあげにくい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0059" y="1620000"/>
            <a:ext cx="2772000" cy="54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6059" y="1620000"/>
            <a:ext cx="270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社会・経済への影響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0059" y="2160000"/>
            <a:ext cx="2772000" cy="1548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8059" y="2268000"/>
            <a:ext cx="2556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・ヤングケアラーの学び・将来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・介護離職による労働力の損失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・社会全体で支える必要性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「介護は家族が担うもの」という前提が、限界を迎えている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かつては「家族がいれば家族が看る」が当たり前とされてきた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しかし今、その家族自身が ― 子どもであったり、働く現役世代であったり ― 支えを必要としている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「介護を社会で支える」という介護保険の理念は、「介護する家族」も視野に入れて初めて完成する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国も、ヤングケアラー・ビジネスケアラーの支援を、重要な政策課題として位置づけ始めている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4C"/>
                </a:solidFill>
                <a:latin typeface="Yu Gothi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改正子ども・若者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育成支援推進法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The Amended Act on Youth Development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改正子ども・若者育成支援推進法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法改正のポイント ― ヤングケアラーの明記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8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ヤングケアラーが、法律上の支援対象として位置づけられた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828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子ども・若者育成支援推進法の改正により、ヤングケアラーが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    国・地方公共団体が支援すべき対象として、法律上明確に位置づけられた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これまで「定義のない」存在だったヤングケアラーが、施策の対象として明文化された意義は大きい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880000"/>
            <a:ext cx="5580000" cy="360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1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改正で明確になったこと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240000"/>
            <a:ext cx="5580000" cy="1368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276000"/>
            <a:ext cx="536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「家族の介護その他の日常生活上の世話を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過度に行うと認められる子ども・若者」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が支援対象として位置づけられた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国・自治体が、その支援に努めることが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求められる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880000"/>
            <a:ext cx="5400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91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押さえておきたいこと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240000"/>
            <a:ext cx="5400000" cy="1368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276000"/>
            <a:ext cx="518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「ヤングケアラー」は、年齢で一律に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区切られるものではない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子どもだけでなく「若者」も対象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法律名・条文・施行時期等の詳細は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一次情報で確認すること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068A4"/>
                </a:solidFill>
                <a:latin typeface="Yu Gothic"/>
              </a:rPr>
              <a:t>▶ 「法律に位置づけられた」=「気づいて、つなぐべき対象」が明確になった、ということ。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068A4"/>
                </a:solidFill>
                <a:latin typeface="Yu Gothic"/>
              </a:rPr>
              <a:t>▶ CMにとっても、ヤングケアラーへの気づきが、より明確に求められるようになった。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改正子ども・若者育成支援推進法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支援の方向性 ― 国・自治体の動き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9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「気づく・つなぐ・支える」体制づくりが進む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ヤングケアラーは「自覚しにくく」「声をあげにくい」存在。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だからこそ、社会の側が「気づき、見つけ、支援につなぐ」しくみが求められている。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61" y="2520000"/>
            <a:ext cx="3671999" cy="540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061" y="2520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実態把握・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認知度の向上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61" y="3060000"/>
            <a:ext cx="3671999" cy="1440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061" y="3168000"/>
            <a:ext cx="3383999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・実態調査の実施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・社会全体への周知・啓発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・「ヤングケアラー」の認知向上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0060" y="2520000"/>
            <a:ext cx="3671999" cy="540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0060" y="2520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相談・支援体制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0060" y="3060000"/>
            <a:ext cx="3671999" cy="1440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4060" y="3168000"/>
            <a:ext cx="3383999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・相談窓口の整備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・コーディネーターの配置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・ピアサポート・交流の場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6059" y="2520000"/>
            <a:ext cx="3671999" cy="540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6059" y="2520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関係機関の連携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6059" y="3060000"/>
            <a:ext cx="3671999" cy="1440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059" y="3168000"/>
            <a:ext cx="3383999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・教育・福祉・医療・介護の連携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・自治体での連携体制づくり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・支援につなぐしくみ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040000"/>
            <a:ext cx="11304000" cy="36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50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CMが知っておきたいこと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400000"/>
            <a:ext cx="11304000" cy="720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436000"/>
            <a:ext cx="11088000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多くの自治体に、ヤングケアラーの相談窓口・コーディネーターが置かれつつある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「自分の市町村ではどこが窓口か」を把握しておくことが、つなぐための第一歩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介護保険分野(CM)も、その連携ネットワークの一員として期待されている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4C"/>
                </a:solidFill>
                <a:latin typeface="Yu Gothic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ヤングケアラーへの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気づきと支援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Noticing and Supporting Young Carers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ヤングケアラーへの支援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ヤングケアラーが担っていること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11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「お手伝い」と「ヤングケアラー」の境目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家事の手伝いそのものが問題なのではない。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「過度な」「日常的な」ケアにより、子ども本人の生活・発達・将来が脅かされることが課題。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59" y="2592000"/>
            <a:ext cx="2772000" cy="468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059" y="2592000"/>
            <a:ext cx="270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家事を担う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59" y="3060000"/>
            <a:ext cx="2772000" cy="151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059" y="3168000"/>
            <a:ext cx="2556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・買い物・料理・掃除・洗濯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・家計の管理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592000"/>
            <a:ext cx="2772000" cy="468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6059" y="2592000"/>
            <a:ext cx="270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家族の世話・介護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0059" y="3060000"/>
            <a:ext cx="2772000" cy="151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8059" y="3168000"/>
            <a:ext cx="2556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・祖父母の介護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・障害・疾患のある家族の世話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・通院の付き添い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059" y="2592000"/>
            <a:ext cx="2772000" cy="468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6059" y="2592000"/>
            <a:ext cx="270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きょうだいの世話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0059" y="3060000"/>
            <a:ext cx="2772000" cy="151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8059" y="3168000"/>
            <a:ext cx="2556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・幼いきょうだいの世話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・送り迎え・身の回りの世話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0059" y="2592000"/>
            <a:ext cx="2772000" cy="468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6059" y="2592000"/>
            <a:ext cx="2700000" cy="4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感情面の支え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3060000"/>
            <a:ext cx="2772000" cy="151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3168000"/>
            <a:ext cx="2556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・家族の気持ちを支える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・通訳(日本語・手話等)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D3237"/>
                </a:solidFill>
                <a:latin typeface="Yu Gothic"/>
              </a:rPr>
              <a:t>・見守り・声かけ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040000"/>
            <a:ext cx="11304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50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本人が「ケアラー」と気づいていないことが多い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400000"/>
            <a:ext cx="11304000" cy="720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436000"/>
            <a:ext cx="11088000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「家族だから当たり前」「ずっとそうだった」 ― 本人にとっては日常で、問題と思っていない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「助けて」と言えない/言わない ― 家族を悪く言いたくない、知られたくない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▶ だからこそ、周りの大人が「気づく」ことが決定的に重要になる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ヤングケアラーへの支援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サインに気づく ― CMが出会う場面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12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訪問時に出会う様子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044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900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・利用者宅で、子どもが介護や家事を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  している場面に出会う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・学校に行っている時間に家にいる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・幼い子が高齢者の世話をしている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家族・利用者の語り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1044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900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・「孫が手伝ってくれている」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・「子どもがいるから大丈夫」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・家族が子どもをあてにしている様子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132000"/>
            <a:ext cx="5580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132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世帯の状況から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92000"/>
            <a:ext cx="5580000" cy="1044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564000"/>
            <a:ext cx="5220000" cy="900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・ほかに介護を担える大人がいない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・ひとり親・共働き・家族の疾患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・経済的な厳しさ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132000"/>
            <a:ext cx="5580000" cy="360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132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子ども本人の様子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92000"/>
            <a:ext cx="5580000" cy="1044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564000"/>
            <a:ext cx="5220000" cy="900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・疲れている・元気がない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・遅刻・欠席・学校の話を避ける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・年齢に比して「しっかりしすぎ」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5976000"/>
            <a:ext cx="11328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2068A4"/>
                </a:solidFill>
                <a:latin typeface="Yu Gothic"/>
              </a:rPr>
              <a:t>▶ CMは利用者宅に入る ― ヤングケアラーの存在に「最初に気づける」専門職の一人。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ヤングケアラーへの支援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気づいたときの対応 ― CMの動き方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13 / 27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728000"/>
            <a:ext cx="432000" cy="432000"/>
          </a:xfrm>
          <a:prstGeom prst="ellipse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2000" y="1584000"/>
            <a:ext cx="2520000" cy="792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000" y="1584000"/>
            <a:ext cx="244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子どもを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責めない・否定しない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71999" y="1584000"/>
            <a:ext cx="8088119" cy="79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6000" y="1656000"/>
            <a:ext cx="787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・「えらいね」だけで終わらせない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・「家族思い」を否定もしない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・本人の気持ちをそのまま受けとめる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610000"/>
            <a:ext cx="432000" cy="432000"/>
          </a:xfrm>
          <a:prstGeom prst="ellipse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000" y="2466000"/>
            <a:ext cx="2520000" cy="792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000" y="2466000"/>
            <a:ext cx="244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ケアプランで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軽減を試みる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999" y="2466000"/>
            <a:ext cx="8088119" cy="79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6000" y="2538000"/>
            <a:ext cx="787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・高齢者本人へのサービスを見直し、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  子どもが担う負担を減らせないか検討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・「家族の介護力」をあてにしすぎない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3492000"/>
            <a:ext cx="432000" cy="432000"/>
          </a:xfrm>
          <a:prstGeom prst="ellipse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2000" y="3348000"/>
            <a:ext cx="2520000" cy="792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000" y="3348000"/>
            <a:ext cx="244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一人で抱えず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相談する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1999" y="3348000"/>
            <a:ext cx="8088119" cy="79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6000" y="3420000"/>
            <a:ext cx="787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・主任CM・地域包括に相談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・子ども本人への支援はCMの範囲を超える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・つなぐ判断を早めに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374000"/>
            <a:ext cx="432000" cy="432000"/>
          </a:xfrm>
          <a:prstGeom prst="ellipse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2000" y="4230000"/>
            <a:ext cx="2520000" cy="792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000" y="4230000"/>
            <a:ext cx="244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適切な窓口に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つなぐ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1999" y="4230000"/>
            <a:ext cx="8088119" cy="79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6000" y="4302000"/>
            <a:ext cx="787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・自治体のヤングケアラー相談窓口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・学校・スクールソーシャルワーカー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D3237"/>
                </a:solidFill>
                <a:latin typeface="Yu Gothic"/>
              </a:rPr>
              <a:t>・子ども家庭・福祉の相談機関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256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5292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CMだからできる、独自の貢献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616000"/>
            <a:ext cx="11304000" cy="540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652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多くの支援者は「子ども」から入るが、CMは「高齢者本人のケア」を通じて世帯に関われる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高齢者へのサービスを適切に組むこと自体が、子どもの負担を直接軽くする ― これがCMの強み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4C"/>
                </a:solidFill>
                <a:latin typeface="Yu Gothic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ビジネスケアラー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(働く介護者)への支援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Supporting Working Carers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ビジネスケアラーへの支援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働きながら介護する ― 介護離職という課題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15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「仕事を辞めて介護に専念」は、最善ではないことが多い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61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介護のために仕事を辞めると、収入が途絶え、社会とのつながりも失われ、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本人の心身の負担はかえって増し、「介護後」の生活再建も難しくなる。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「介護離職を防ぎ、両立を支える」ことが、本人にとっても重要。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880000"/>
            <a:ext cx="5580000" cy="360000"/>
          </a:xfrm>
          <a:prstGeom prst="rect">
            <a:avLst/>
          </a:prstGeom>
          <a:solidFill>
            <a:srgbClr val="B34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1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介護離職がもたらすもの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240000"/>
            <a:ext cx="5580000" cy="1440000"/>
          </a:xfrm>
          <a:prstGeom prst="rect">
            <a:avLst/>
          </a:prstGeom>
          <a:solidFill>
            <a:srgbClr val="F8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276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収入の喪失・経済的な不安定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キャリアの中断・再就職の困難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社会とのつながり・気分転換の喪失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介護に専念することによる閉塞・孤立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「介護後」の生活設計の困難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880000"/>
            <a:ext cx="5400000" cy="360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91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両立を支えることの意味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240000"/>
            <a:ext cx="5400000" cy="1440000"/>
          </a:xfrm>
          <a:prstGeom prst="rect">
            <a:avLst/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276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介護者本人の生活・人生を守る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介護を「終わり」でなく「続けられる」ものに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企業にとっても貴重な人材の損失を防ぐ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社会全体の労働力・活力を支える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▶ 「両立支援」は本人・企業・社会の共通利益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068A4"/>
                </a:solidFill>
                <a:latin typeface="Yu Gothic"/>
              </a:rPr>
              <a:t>▶ CMは「介護を組み立てる専門職」 ― 家族の「働き続ける」を支える力を持っている。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ビジネスケアラーへの支援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仕事と介護の両立を支える制度を知る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16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育児・介護休業法による両立支援のしくみ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働きながら介護する人を支えるため、法律でさまざまな制度が定められている。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CMが概要を知っておくと、家族に「制度の存在」を伝え、相談につなぐことができる。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664000"/>
            <a:ext cx="295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制度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000" y="2664000"/>
            <a:ext cx="475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概要(一般的な内容)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6000" y="2664000"/>
            <a:ext cx="327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ポイント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988000"/>
            <a:ext cx="11304000" cy="666000"/>
          </a:xfrm>
          <a:prstGeom prst="rect">
            <a:avLst/>
          </a:prstGeom>
          <a:solidFill>
            <a:srgbClr val="E6EDF1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3042000"/>
            <a:ext cx="29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068A4"/>
                </a:solidFill>
                <a:latin typeface="Yu Gothic"/>
              </a:rPr>
              <a:t>介護休業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6000" y="3042000"/>
            <a:ext cx="47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対象家族の介護のため、一定期間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仕事を休める制度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6000" y="3042000"/>
            <a:ext cx="3276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「介護に専念」でなく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体制を整える期間に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654000"/>
            <a:ext cx="11304000" cy="666000"/>
          </a:xfrm>
          <a:prstGeom prst="rect">
            <a:avLst/>
          </a:prstGeom>
          <a:solidFill>
            <a:srgbClr val="FFFFFF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708000"/>
            <a:ext cx="29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068A4"/>
                </a:solidFill>
                <a:latin typeface="Yu Gothic"/>
              </a:rPr>
              <a:t>介護休暇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6000" y="3708000"/>
            <a:ext cx="47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介護のために、年単位で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取得できる休暇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6000" y="3708000"/>
            <a:ext cx="3276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通院付き添い等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短時間の用事に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20000"/>
            <a:ext cx="11304000" cy="666000"/>
          </a:xfrm>
          <a:prstGeom prst="rect">
            <a:avLst/>
          </a:prstGeom>
          <a:solidFill>
            <a:srgbClr val="E6EDF1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374000"/>
            <a:ext cx="29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068A4"/>
                </a:solidFill>
                <a:latin typeface="Yu Gothic"/>
              </a:rPr>
              <a:t>勤務時間等の</a:t>
            </a:r>
          </a:p>
          <a:p>
            <a:pPr algn="ctr"/>
            <a:r>
              <a:rPr sz="1100" b="1" i="0">
                <a:solidFill>
                  <a:srgbClr val="2068A4"/>
                </a:solidFill>
                <a:latin typeface="Yu Gothic"/>
              </a:rPr>
              <a:t>配慮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6000" y="4374000"/>
            <a:ext cx="47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短時間勤務・時差出勤、所定外・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時間外労働の制限 等の措置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6000" y="4374000"/>
            <a:ext cx="3276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「働き方」を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調整して両立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986000"/>
            <a:ext cx="11304000" cy="666000"/>
          </a:xfrm>
          <a:prstGeom prst="rect">
            <a:avLst/>
          </a:prstGeom>
          <a:solidFill>
            <a:srgbClr val="FFFFFF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5040000"/>
            <a:ext cx="29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068A4"/>
                </a:solidFill>
                <a:latin typeface="Yu Gothic"/>
              </a:rPr>
              <a:t>相談・情報提供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6000" y="5040000"/>
            <a:ext cx="4752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介護に直面した労働者への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情報提供・相談対応の充実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6000" y="5040000"/>
            <a:ext cx="3276000" cy="55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近年、両立支援が</a:t>
            </a:r>
          </a:p>
          <a:p>
            <a:pPr algn="l"/>
            <a:r>
              <a:rPr sz="1100" b="0" i="0">
                <a:solidFill>
                  <a:srgbClr val="2D3237"/>
                </a:solidFill>
                <a:latin typeface="Yu Gothic"/>
              </a:rPr>
              <a:t>強化されている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5508000"/>
            <a:ext cx="11304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" y="554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重要 ― 制度の詳細は専門窓口へ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5868000"/>
            <a:ext cx="11304000" cy="432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5904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制度の対象・日数・要件・手続きは法令で定められ、改正もあります ― CMは「概要を伝える」役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詳細は勤務先・労働局・専門の相談窓口へ ― CMが正確な制度説明を抱え込まないこと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ビジネスケアラーへの支援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CMができること ― ケアプランで両立を支える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17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働き方を前提に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プランを組む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・家族の勤務時間・働き方を把握する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・「日中独居」を前提にサービスを組む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・家族の介護負担を当て込みすぎない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使える制度・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資源を伝える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・両立支援制度の存在を家族に伝える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・「専門窓口に相談を」とつなぐ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・地域のサービス・社会資源を紹介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60000"/>
            <a:ext cx="5580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急変・緊急時に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備える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2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・家族が仕事中の緊急時の体制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・連絡・対応のルールを決めておく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・「仕事を抜けなくて済む」体制を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060000"/>
            <a:ext cx="5580000" cy="36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家族の気持ちを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支える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2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・「両立のつらさ」を受けとめる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・「辞めるしかない」と思い詰める前に相談を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・罪悪感を一人で抱えさせない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78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82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アセスメントで「家族の仕事」を必ず聴く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148000"/>
            <a:ext cx="11304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184000"/>
            <a:ext cx="110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利用者本人の状態だけでなく「介護する家族が働いているか/どんな働き方か」を必ず把握する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「家族がいるから大丈夫」と安易に判断しない ― 家族の生活・仕事を犠牲にした計画は続かない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良いケアプランとは「本人を支え、かつ家族の人生も守る」もの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4C"/>
                </a:solidFill>
                <a:latin typeface="Yu Gothic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多機関連携の実務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Multi-Agency Collaboration in Practice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多機関連携の実務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CMの立場と限界 ― だから「つなぐ」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19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CMの担当は「高齢者本人」 ― しかし出会うのは「世帯」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61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居宅CMの制度上の担当は、要介護高齢者本人。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ヤングケアラー(子ども)やビジネスケアラー(家族)への直接的・継続的な支援は、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CMの守備範囲を超える ― だからこそ「気づき、つなぐ」ことが役割になる。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880000"/>
            <a:ext cx="5580000" cy="360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1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CMにできること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240000"/>
            <a:ext cx="5580000" cy="1368000"/>
          </a:xfrm>
          <a:prstGeom prst="rect">
            <a:avLst/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276000"/>
            <a:ext cx="536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訪問・関わりを通じて気づく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高齢者へのケアを通じて家族の負担を軽減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適切な窓口・機関につなぐ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多機関連携の一員として関わり続ける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880000"/>
            <a:ext cx="5400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91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CMだけでは担えないこと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240000"/>
            <a:ext cx="5400000" cy="1368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276000"/>
            <a:ext cx="518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子どもへの教育・福祉的な支援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家族の就労・労働問題への対応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世帯全体の課題の総合的な調整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▶ 専門の機関と「役割を分担」して支える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068A4"/>
                </a:solidFill>
                <a:latin typeface="Yu Gothic"/>
              </a:rPr>
              <a:t>▶ 「自分の役割ではない」と素通りもせず、「全部抱え込む」こともせず。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068A4"/>
                </a:solidFill>
                <a:latin typeface="Yu Gothic"/>
              </a:rPr>
              <a:t>▶ 気づき、つなぎ、連携の一員であり続ける ― これがCMの現実的な貢献。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多機関連携の実務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連携先を知る ― つなぐ先のマップ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20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分野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6000" y="1656000"/>
            <a:ext cx="45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主な連携先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00" y="1656000"/>
            <a:ext cx="36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こんなときに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304000" cy="720000"/>
          </a:xfrm>
          <a:prstGeom prst="rect">
            <a:avLst/>
          </a:prstGeom>
          <a:solidFill>
            <a:srgbClr val="E6EDF1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2068A4"/>
                </a:solidFill>
                <a:latin typeface="Yu Gothic"/>
              </a:rPr>
              <a:t>子ども・若者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000" y="203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自治体のヤングケアラー相談窓口・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コーディネーター、子ども家庭の相談機関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000" y="203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ヤングケアラーに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気づいたとき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0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75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2068A4"/>
                </a:solidFill>
                <a:latin typeface="Yu Gothic"/>
              </a:rPr>
              <a:t>教育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6000" y="275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学校、スクールソーシャルワーカー、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スクールカウンセラー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000" y="275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子どもの学校生活に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影響が見えるとき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420000"/>
            <a:ext cx="11304000" cy="720000"/>
          </a:xfrm>
          <a:prstGeom prst="rect">
            <a:avLst/>
          </a:prstGeom>
          <a:solidFill>
            <a:srgbClr val="E6EDF1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47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2068A4"/>
                </a:solidFill>
                <a:latin typeface="Yu Gothic"/>
              </a:rPr>
              <a:t>介護・高齢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6000" y="347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地域包括支援センター、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市町村の介護保険担当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000" y="347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高齢者支援・世帯の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調整が必要なとき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19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2068A4"/>
                </a:solidFill>
                <a:latin typeface="Yu Gothic"/>
              </a:rPr>
              <a:t>労働・就労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6000" y="419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勤務先(人事等)、労働局、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仕事と介護の両立相談の窓口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000" y="419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両立支援制度の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相談が必要なとき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860000"/>
            <a:ext cx="11304000" cy="720000"/>
          </a:xfrm>
          <a:prstGeom prst="rect">
            <a:avLst/>
          </a:prstGeom>
          <a:solidFill>
            <a:srgbClr val="E6EDF1"/>
          </a:solidFill>
          <a:ln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914000"/>
            <a:ext cx="27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50" b="1" i="0">
                <a:solidFill>
                  <a:srgbClr val="2068A4"/>
                </a:solidFill>
                <a:latin typeface="Yu Gothic"/>
              </a:rPr>
              <a:t>福祉・横断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6000" y="4914000"/>
            <a:ext cx="45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重層的支援体制整備事業の窓口、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生活困窮・障害福祉の相談支援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000" y="491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世帯に複合課題が</a:t>
            </a:r>
          </a:p>
          <a:p>
            <a:pPr algn="l"/>
            <a:r>
              <a:rPr sz="1050" b="0" i="0">
                <a:solidFill>
                  <a:srgbClr val="2D3237"/>
                </a:solidFill>
                <a:latin typeface="Yu Gothic"/>
              </a:rPr>
              <a:t>あるとき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5760000"/>
            <a:ext cx="1130400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000" y="57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" b="1" i="0">
                <a:solidFill>
                  <a:srgbClr val="FFFFFF"/>
                </a:solidFill>
                <a:latin typeface="Yu Gothic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6120000"/>
            <a:ext cx="11304000" cy="180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6156000"/>
            <a:ext cx="11088000" cy="1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▶ 「つなぐ先のリスト」を、平時から自分の地域版でつくっておく ― 困ってから探さない。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多機関連携の実務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連携の進め方と、留意すること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21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5580000" cy="360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連携を進めるステップ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5580000" cy="1980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気づいたことを「事実」として記録する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一人で抱えず、主任CM・包括に相談する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緊急性・リスクの程度を見立てる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適切な窓口・機関につなぐ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つないだ後も、連携の一員として関わる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会議の場(支援会議等)を活用する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58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個人情報・同意への留意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08000"/>
            <a:ext cx="5400000" cy="1980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1944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家族の情報を他機関と共有するときは、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本人・家族の同意を得るのが原則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「誰に・何のために・何を」共有するかを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丁寧に説明する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ただし、子どもの安全に関わる緊急時は、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   同意を待たず関係機関と連携する判断も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迷うときは一人で判断せず、組織・包括と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連携を「つなぎっぱなし」にしない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「つないだら終わり」ではない ― CMは高齢者支援を通じて、その世帯に関わり続ける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連携先と「誰が・何を担うか」を確認し、CMの役割を明確にする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高齢者の状態が変われば、家族の負担も変わる ― 変化を連携先と共有し続ける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「気づき → つなぐ → 協働する」の協働の部分まで、CMは責任を持つ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96E4C"/>
                </a:solidFill>
                <a:latin typeface="Yu Gothic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Wrap 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家族介護者支援における主任CMの役割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23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気づく目を育てる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・後輩CMに、世帯・家族介護者を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  見る視点を伝える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・「介護する人」への気づきを促す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つなぎ先を持つ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・地域のヤングケアラー窓口・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  両立支援の相談先を把握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・「つなぐ先リスト」を整備・共有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60000"/>
            <a:ext cx="5580000" cy="360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アセスメントを変える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2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・「家族の仕事・生活」を必ず聴く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・家族の介護力をあてにしすぎない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・本人と家族、両方を支える計画に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060000"/>
            <a:ext cx="5580000" cy="360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連携をリードする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20000"/>
            <a:ext cx="5580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・多機関連携の一員として動く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・地域ケア会議等で課題を共有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・地域の連携体制づくりに関わる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788000"/>
            <a:ext cx="11304000" cy="360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82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「介護される人」と「介護する人」の、両方を視野に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148000"/>
            <a:ext cx="11304000" cy="97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184000"/>
            <a:ext cx="110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ケアマネジメントは、これまで「介護される高齢者本人」を中心に組み立てられてきた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これからは「介護する家族」 ― 子ども・働く世代 ― も視野に入れることが求められる</a:t>
            </a:r>
          </a:p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主任CMは、この新しい視点を、事業所・地域の実践に広げていく担い手になる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明日からの 3 つのアクション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24 /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620000" cy="1332000"/>
          </a:xfrm>
          <a:prstGeom prst="rect">
            <a:avLst/>
          </a:prstGeom>
          <a:solidFill>
            <a:srgbClr val="7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76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16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000" y="1620000"/>
            <a:ext cx="9708119" cy="133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0" y="172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068A4"/>
                </a:solidFill>
                <a:latin typeface="Yu Gothic"/>
              </a:rPr>
              <a:t>アセスメントに「家族介護者」の視点を加える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088000"/>
            <a:ext cx="9492119" cy="82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・担当ケースで「誰が・どう介護を担っているか」「家族は働いているか」を確認する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・世帯に子ども・若者がいないか、その役割に目を向ける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060000"/>
            <a:ext cx="1620000" cy="1332000"/>
          </a:xfrm>
          <a:prstGeom prst="rect">
            <a:avLst/>
          </a:prstGeom>
          <a:solidFill>
            <a:srgbClr val="3E8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320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60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2000" y="3060000"/>
            <a:ext cx="9708119" cy="133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0" y="316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068A4"/>
                </a:solidFill>
                <a:latin typeface="Yu Gothic"/>
              </a:rPr>
              <a:t>地域の「つなぎ先」を調べておく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3528000"/>
            <a:ext cx="9492119" cy="82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・自治体のヤングケアラー相談窓口、仕事と介護の両立相談の窓口を調べる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・自分の地域版「つなぎ先リスト」をつくり、事業所内で共有する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620000" cy="1332000"/>
          </a:xfrm>
          <a:prstGeom prst="rect">
            <a:avLst/>
          </a:prstGeom>
          <a:solidFill>
            <a:srgbClr val="3C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464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504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2000" y="4500000"/>
            <a:ext cx="9708119" cy="1332000"/>
          </a:xfrm>
          <a:prstGeom prst="rect">
            <a:avLst/>
          </a:prstGeom>
          <a:solidFill>
            <a:srgbClr val="E6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0" y="460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068A4"/>
                </a:solidFill>
                <a:latin typeface="Yu Gothic"/>
              </a:rPr>
              <a:t>後輩CMと「気づく視点」を共有する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4968000"/>
            <a:ext cx="9492119" cy="82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・事例検討等で、ヤングケアラー・ビジネスケアラーの視点を取り上げる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3237"/>
                </a:solidFill>
                <a:latin typeface="Yu Gothic"/>
              </a:rPr>
              <a:t>・「介護する人」も支援の対象、という視点を事業所内に広げる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20000"/>
            <a:ext cx="12192119" cy="360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D96E4C"/>
                </a:solidFill>
                <a:latin typeface="Yu Gothic"/>
              </a:rP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介護を「受ける人」の隣には、</a:t>
            </a:r>
          </a:p>
          <a:p>
            <a:pPr algn="ctr">
              <a:lnSpc>
                <a:spcPct val="140000"/>
              </a:lnSpc>
            </a:pPr>
            <a:r>
              <a:rPr sz="2600" b="1" i="0">
                <a:solidFill>
                  <a:srgbClr val="FFFFFF"/>
                </a:solidFill>
                <a:latin typeface="Yu Gothic"/>
              </a:rPr>
              <a:t>いつも介護を「担う人」がいる。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500000"/>
            <a:ext cx="1003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3DAE0"/>
                </a:solidFill>
                <a:latin typeface="Yu Gothic"/>
              </a:rPr>
              <a:t>学校に行けない子ども、仕事を辞めようとしている家族。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3DAE0"/>
                </a:solidFill>
                <a:latin typeface="Yu Gothic"/>
              </a:rPr>
              <a:t>その姿は、利用者宅を訪れるあなたの目に、きっと映っています。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3DAE0"/>
                </a:solidFill>
                <a:latin typeface="Yu Gothic"/>
              </a:rPr>
              <a:t>気づき、声をかけ、つなぐこと ― それが、もう一人の誰かの人生を守ります。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068A4"/>
                </a:solidFill>
                <a:latin typeface="Yu Gothic"/>
              </a:rPr>
              <a:t>参考資料 ・ 情報源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72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6A5C8"/>
                </a:solidFill>
                <a:latin typeface="Yu Gothic"/>
              </a:rPr>
              <a:t>主任CM研修 / ヤングケアラー・ビジネスケアラー支援とケアマネの役割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6A5C8"/>
                </a:solidFill>
                <a:latin typeface="Yu Gothic"/>
              </a:rPr>
              <a:t>26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584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子ども・若者育成支援推進法(改正法を含む)― ヤングケアラー支援の根拠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1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こども家庭庁・厚生労働省「ヤングケアラー支援」関連の資料・通知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44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各自治体のヤングケアラー相談窓口・コーディネーター・支援施策の情報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8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育児・介護休業法 ― 仕事と介護の両立支援制度の根拠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312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厚生労働省・経済産業省「仕事と介護の両立支援」関連の資料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744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各都道府県労働局・「仕事と介護の両立」相談窓口の情報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17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D3237"/>
                </a:solidFill>
                <a:latin typeface="Yu Gothic"/>
              </a:rPr>
              <a:t>■ 重層的支援体制整備事業など、世帯まるごと支援の関連情報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680000"/>
            <a:ext cx="11304000" cy="360000"/>
          </a:xfrm>
          <a:prstGeom prst="rect">
            <a:avLst/>
          </a:prstGeom>
          <a:solidFill>
            <a:srgbClr val="C99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" y="47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ご注意 ・ 情報の確認について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5040000"/>
            <a:ext cx="11304000" cy="1080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5076000"/>
            <a:ext cx="11088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法律名・条文・施行時期、両立支援制度の要件等は、改正により変わります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ヤングケアラーの相談窓口・施策は自治体ごとに異なります ― 自地域の最新情報をご確認ください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制度の詳細な説明・個別の判断は、各分野の専門機関・窓口にご確認ください</a:t>
            </a:r>
          </a:p>
          <a:p>
            <a:pPr algn="l"/>
            <a:r>
              <a:rPr sz="1200" b="0" i="0">
                <a:solidFill>
                  <a:srgbClr val="2D3237"/>
                </a:solidFill>
                <a:latin typeface="Yu Gothic"/>
              </a:rPr>
              <a:t>■ 本資料は 2026年5月時点の一般的な情報を基に構成しています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06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60000" y="2700000"/>
            <a:ext cx="4248000" cy="43200"/>
          </a:xfrm>
          <a:prstGeom prst="rect">
            <a:avLst/>
          </a:prstGeom>
          <a:solidFill>
            <a:srgbClr val="D96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08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0">
                <a:solidFill>
                  <a:srgbClr val="D96E4C"/>
                </a:solidFill>
                <a:latin typeface="Yu Gothic"/>
              </a:rPr>
              <a:t>質疑応答 ・ 事例検討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68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AE0"/>
                </a:solidFill>
                <a:latin typeface="Yu Gothic"/>
              </a:rPr>
              <a:t>現場で出会った家族介護者の事例を持ち寄り、気づき方・つなぎ方を考えましょう。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