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28000"/>
            <a:ext cx="12192119" cy="18000"/>
          </a:xfrm>
          <a:prstGeom prst="rect">
            <a:avLst/>
          </a:prstGeom>
          <a:solidFill>
            <a:srgbClr val="A8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BE8B3C"/>
                </a:solidFill>
                <a:latin typeface="Yu Gothic"/>
              </a:rPr>
              <a:t>主任介護支援専門員 研修会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944000"/>
            <a:ext cx="1147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1" i="0">
                <a:solidFill>
                  <a:srgbClr val="FFFFFF"/>
                </a:solidFill>
                <a:latin typeface="Yu Gothic"/>
              </a:rPr>
              <a:t>身体拘束最小化と</a:t>
            </a:r>
          </a:p>
          <a:p>
            <a:pPr algn="ctr">
              <a:lnSpc>
                <a:spcPct val="125000"/>
              </a:lnSpc>
            </a:pPr>
            <a:r>
              <a:rPr sz="3300" b="1" i="0">
                <a:solidFill>
                  <a:srgbClr val="FFFFFF"/>
                </a:solidFill>
                <a:latin typeface="Yu Gothic"/>
              </a:rPr>
              <a:t>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Yu Gothic"/>
              </a:rPr>
              <a:t>ー 不適切ケアを早期に発見し、利用者の尊厳を守る 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680000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F962E"/>
                </a:solidFill>
                <a:latin typeface="Yu Gothic"/>
              </a:rPr>
              <a:t>■ 身体拘束・高齢者虐待をめぐる制度と基本知識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F962E"/>
                </a:solidFill>
                <a:latin typeface="Yu Gothic"/>
              </a:rPr>
              <a:t>■ 不適切ケアの早期発見 ― グレーゾーンへの感度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CF962E"/>
                </a:solidFill>
                <a:latin typeface="Yu Gothic"/>
              </a:rPr>
              <a:t>■ 居宅サービス事業所への指導・助言の視点と対応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86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主任ケアマネジャーの会  主催  ・  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本日の研修目標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80000" cy="54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7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2E30"/>
                </a:solidFill>
                <a:latin typeface="Yu Gothic"/>
              </a:rPr>
              <a:t>身体拘束最小化・高齢者虐待防止をめぐる制度的背景と基本知識を整理する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" cy="54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322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2E30"/>
                </a:solidFill>
                <a:latin typeface="Yu Gothic"/>
              </a:rPr>
              <a:t>身体拘束の定義・弊害・「緊急やむを得ない場合」の3要件を正しく理解する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80000" cy="54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970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2E30"/>
                </a:solidFill>
                <a:latin typeface="Yu Gothic"/>
              </a:rPr>
              <a:t>高齢者虐待の5類型と、不適切ケアとの「連続性(グレーゾーン)」を理解する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564000"/>
            <a:ext cx="180000" cy="54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18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2E30"/>
                </a:solidFill>
                <a:latin typeface="Yu Gothic"/>
              </a:rPr>
              <a:t>不適切ケアのサインを、利用者・環境・職員・記録から早期に発見する視点を持つ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80000" cy="54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266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2E30"/>
                </a:solidFill>
                <a:latin typeface="Yu Gothic"/>
              </a:rPr>
              <a:t>居宅サービス事業所への指導・助言の「立場」と「やり方」を学ぶ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860000"/>
            <a:ext cx="180000" cy="54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91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2E30"/>
                </a:solidFill>
                <a:latin typeface="Yu Gothic"/>
              </a:rPr>
              <a:t>気づいたときの対応・通報・連携の流れを、後輩CMにも伝えられるようになる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本日の流れ(90分)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3 / 34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174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5E2A3C"/>
                </a:solidFill>
                <a:latin typeface="Yu Gothic"/>
              </a:rPr>
              <a:t>なぜ今、拘束最小化と虐待防止か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76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BE8B3C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58000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412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5E2A3C"/>
                </a:solidFill>
                <a:latin typeface="Yu Gothic"/>
              </a:rPr>
              <a:t>身体拘束の理解 ― 定義・弊害・3要件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43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BE8B3C"/>
                </a:solidFill>
                <a:latin typeface="Yu Gothic"/>
              </a:rPr>
              <a:t>15分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024000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0" y="3078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5E2A3C"/>
                </a:solidFill>
                <a:latin typeface="Yu Gothic"/>
              </a:rPr>
              <a:t>高齢者虐待の理解 ― 5類型と連続性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30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BE8B3C"/>
                </a:solidFill>
                <a:latin typeface="Yu Gothic"/>
              </a:rPr>
              <a:t>15分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90000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374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5E2A3C"/>
                </a:solidFill>
                <a:latin typeface="Yu Gothic"/>
              </a:rPr>
              <a:t>不適切ケアの早期発見 ― サインを読む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76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BE8B3C"/>
                </a:solidFill>
                <a:latin typeface="Yu Gothic"/>
              </a:rPr>
              <a:t>20分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356000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0" y="441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5E2A3C"/>
                </a:solidFill>
                <a:latin typeface="Yu Gothic"/>
              </a:rPr>
              <a:t>居宅サービス事業所への指導・助言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442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BE8B3C"/>
                </a:solidFill>
                <a:latin typeface="Yu Gothic"/>
              </a:rPr>
              <a:t>20分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022000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507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5E2A3C"/>
                </a:solidFill>
                <a:latin typeface="Yu Gothic"/>
              </a:rPr>
              <a:t>対応と連携 ・ まとめ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509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BE8B3C"/>
                </a:solidFill>
                <a:latin typeface="Yu Gothic"/>
              </a:rPr>
              <a:t>10分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BE8B3C"/>
                </a:solidFill>
                <a:latin typeface="Yu Gothi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なぜ今、拘束最小化と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虐待防止か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Why It Matters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なぜ今か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制度的背景 ― 「体制整備」が義務になった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5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すべての介護サービス事業所が対象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高齢者虐待防止・身体拘束等の適正化のための「体制整備」が、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    居宅介護支援事業所を含むすべての事業所に義務づけられている(経過措置は終了)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592000"/>
            <a:ext cx="11303999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628000"/>
            <a:ext cx="349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求められる措置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6000" y="2628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具体的な内容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8000" y="2628000"/>
            <a:ext cx="3383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未実施の場合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952000"/>
            <a:ext cx="11303999" cy="792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3006000"/>
            <a:ext cx="3492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5E2A3C"/>
                </a:solidFill>
                <a:latin typeface="Yu Gothic"/>
              </a:rPr>
              <a:t>虐待防止の措置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6000" y="3006000"/>
            <a:ext cx="4104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委員会の設置 / 指針の整備 /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研修の実施 / 担当者の選定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000" y="3006000"/>
            <a:ext cx="338399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虐待防止措置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未実施減算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744000"/>
            <a:ext cx="11303999" cy="792000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798000"/>
            <a:ext cx="3492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5E2A3C"/>
                </a:solidFill>
                <a:latin typeface="Yu Gothic"/>
              </a:rPr>
              <a:t>身体拘束等の</a:t>
            </a:r>
          </a:p>
          <a:p>
            <a:pPr algn="ctr"/>
            <a:r>
              <a:rPr sz="1100" b="1" i="0">
                <a:solidFill>
                  <a:srgbClr val="5E2A3C"/>
                </a:solidFill>
                <a:latin typeface="Yu Gothic"/>
              </a:rPr>
              <a:t>適正化(該当сサービス)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6000" y="3798000"/>
            <a:ext cx="4104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適正化検討委員会 / 指針 /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研修 ※サービス類型により異なる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8000" y="3798000"/>
            <a:ext cx="338399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身体拘束廃止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未実施減算 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536000"/>
            <a:ext cx="11303999" cy="792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590000"/>
            <a:ext cx="3492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5E2A3C"/>
                </a:solidFill>
                <a:latin typeface="Yu Gothic"/>
              </a:rPr>
              <a:t>記録・説明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6000" y="4590000"/>
            <a:ext cx="4104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やむを得ず拘束した場合の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記録、利用者・家族への説明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8000" y="4590000"/>
            <a:ext cx="338399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運営基準違反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指導・監査の対象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「減算」は本質ではない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減算は「最低限のライン」 ― 罰則を避けるための取り組みでは、利用者は守れない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本質は、利用者一人ひとりの「尊厳」と「権利」を守ること。制度はその下支えにすぎない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なぜ今か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高齢者虐待防止法 ― 基本の枠組み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6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高齢者虐待防止法とは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正式名称「高齢者虐待の防止、高齢者の養護者に対する支援等に関する法律」(平成18年施行)。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高齢者の虐待を防ぐとともに、虐待してしまう養護者(家族等)への支援も定めた法律。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2つの虐待の区分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養介護施設従事者等による虐待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施設・事業所の職員等によるもの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養護者による虐待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家族・親族・同居人等によるもの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居宅CMは、どちらにも出会いうる立場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通報の義務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440000"/>
          </a:xfrm>
          <a:prstGeom prst="rect">
            <a:avLst/>
          </a:prstGeom>
          <a:solidFill>
            <a:srgbClr val="F8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虐待を受けたと思われる高齢者を発見した者は、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市町村に 通報する義務 がある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特に、生命・身体に重大な危険が生じている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場合は、速やかな通報が必須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「確証」がなくても「思われる」段階で通報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608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6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通報をためらわせるものと、その誤解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968000"/>
            <a:ext cx="11304000" cy="1152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5004000"/>
            <a:ext cx="11088000" cy="11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「確証がない」→ 確証は不要。「虐待を受けたと思われる」段階で通報してよい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「事業所との関係が悪くなる」→ 通報者は法律で保護される。利用者の安全が最優先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「家族を追い詰めたくない」→ 通報は「罰」ではなく、養護者支援につなぐ入口でもある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なぜ今か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居宅CM・主任CMの立場 ― できること/できないこと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7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居宅CMは「直接介護をしない」立場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居宅介護支援事業所のCMは、自ら身体介護を行う場面は通常ない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しかし、訪問・通所・施設系サービスの現場で起きる不適切ケアに「気づける」立場にある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居宅CMにできること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980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モニタリング訪問で、利用者の様子・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サービスの場の異変に気づく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サービス担当者会議で、ケアのあり方を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議題にし、多職種で検討する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気づきを記録し、関係機関につなぐ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虐待を疑ったら、市町村・包括に通報する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後輩CMの「気づく力」を育てる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CMにできないこと/限界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980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行政のような「指導・処分」の権限はない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サービス事業所の内部運営を直接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変えることはできない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一人で抱え込んで解決することはできない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だからこそ「気づく → つなぐ → 連携する」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が居宅CMの役割の中心になる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148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5E2A3C"/>
                </a:solidFill>
                <a:latin typeface="Yu Gothic"/>
              </a:rPr>
              <a:t>▶ 「指導する」より「気づき、議論の場をつくり、つなぐ」 ― これが主任CMの現実的な貢献。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BE8B3C"/>
                </a:solidFill>
                <a:latin typeface="Yu Gothi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身体拘束の理解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Understanding Physical Restraint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身体拘束の理解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身体拘束とは何か ― 具体的な行為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9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身体拘束 = 利用者の行動を制限する行為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ひも・抑制帯・ミトン・柵・つなぎ服などで身体の自由を奪う行為のほか、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言葉や薬による行動の制限も含まれる。下記は厚労省が例示する代表的な行為。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520000"/>
            <a:ext cx="5652000" cy="503999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4000" y="2628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2556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徘徊しないよう、車椅子・椅子・ベッドに体幹や四肢をひも等で縛る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2520000"/>
            <a:ext cx="5652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000" y="2628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00" y="2556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転落しないよう、ベッドに体幹や四肢をひも等で縛る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078000"/>
            <a:ext cx="5652000" cy="503999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4000" y="3186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3114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自分で降りられないよう、ベッドを柵(サイドレール)で囲む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8000" y="3078000"/>
            <a:ext cx="5652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0000" y="3186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00" y="3114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チューブを抜かないよう、四肢をひも等で縛る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636000"/>
            <a:ext cx="5652000" cy="503999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4000" y="3744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" y="3672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チューブ抜去や皮膚かきむしりを防ぐため、ミトン型の手袋等をつける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8000" y="3636000"/>
            <a:ext cx="5652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0000" y="3744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6000" y="3672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ずり落ち・立ち上がりを防ぐため、Y字型抑制帯・腰ベルト・車椅子テーブルをつける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4194000"/>
            <a:ext cx="5652000" cy="503999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000" y="4302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" y="4230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立ち上がる能力のある人の立ち上がりを妨げる椅子を使用する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000" y="4194000"/>
            <a:ext cx="5652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0000" y="4302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6000" y="4230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脱衣やおむつはずしを制限するため、介護衣(つなぎ服)を着せる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4752000"/>
            <a:ext cx="5652000" cy="503999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4000" y="4860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000" y="4788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他人への迷惑行為を防ぐため、ベッド等に体幹や四肢をひも等で縛る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28000" y="4752000"/>
            <a:ext cx="5652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00000" y="4860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6000" y="4788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行動を落ち着かせるため、向精神薬を過剰に服用させる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00" y="5310000"/>
            <a:ext cx="5652000" cy="503999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4000" y="5418000"/>
            <a:ext cx="288000" cy="28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00" y="5346000"/>
            <a:ext cx="5112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自分の意思で開けられない居室等に隔離する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身体拘束の理解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身体拘束がもたらす弊害 ― 「安全」のはずが…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10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拘束は「悪循環」を生む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「安全のため」と始めた拘束が、心身の機能を奪い、かえって事故やBPSDを招き、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さらに拘束が必要に見えてしまう ― この悪循環を断ち切る視点が必要。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61" y="2628000"/>
            <a:ext cx="3671999" cy="468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061" y="2628000"/>
            <a:ext cx="3671999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身体的弊害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61" y="3096000"/>
            <a:ext cx="3671999" cy="18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061" y="3240000"/>
            <a:ext cx="3383999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・関節拘縮・筋力低下・廃用症候群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・褥瘡・食欲低下・心肺機能の低下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・拘束具による事故(窒息等)の危険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628000"/>
            <a:ext cx="3671999" cy="468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0060" y="2628000"/>
            <a:ext cx="3671999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精神的弊害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0060" y="3096000"/>
            <a:ext cx="3671999" cy="18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060" y="3240000"/>
            <a:ext cx="3383999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・不安・怒り・屈辱・あきらめ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・認知症の進行・せん妄の悪化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・「人として扱われない」尊厳の傷つき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059" y="2628000"/>
            <a:ext cx="3671999" cy="468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6059" y="2628000"/>
            <a:ext cx="3671999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社会的弊害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6059" y="3096000"/>
            <a:ext cx="3671999" cy="18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059" y="3240000"/>
            <a:ext cx="3383999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・家族の罪悪感・後悔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・職員の士気・誇りの低下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・事業所への社会的信頼の失墜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視点の転換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「拘束しないと危ない」ではなく「なぜその行動が起きるのか」を考える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行動の背景(痛み・不安・環境・コミュニケーション不足)に手を当てれば、拘束は減らせる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身体拘束の理解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「緊急やむを得ない場合」の3要件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11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原則は「拘束しない」 ― 例外は極めて限定的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身体拘束は原則禁止。例外的に認められるのは、下記3要件を「すべて」満たし、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かつ組織として手続きを踏んだ場合のみ。1つでも欠ければ認められない。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61" y="2628000"/>
            <a:ext cx="3671999" cy="54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061" y="2628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要件1  切迫性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61" y="3168000"/>
            <a:ext cx="3671999" cy="16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061" y="3312000"/>
            <a:ext cx="3383999" cy="1332001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利用者本人または他の人の生命・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身体が危険にさらされる可能性が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著しく高いこと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628000"/>
            <a:ext cx="3671999" cy="54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0060" y="2628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要件2  非代替性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0060" y="3168000"/>
            <a:ext cx="3671999" cy="16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060" y="3312000"/>
            <a:ext cx="3383999" cy="1332001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身体拘束以外に代わる介護方法が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ないこと(他の手段を尽くした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上での最終手段であること)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059" y="2628000"/>
            <a:ext cx="3671999" cy="54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6059" y="2628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要件3  一時性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6059" y="3168000"/>
            <a:ext cx="3671999" cy="16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059" y="3312000"/>
            <a:ext cx="3383999" cy="1332001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身体拘束が一時的なものである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こと(必要最小限の時間に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とどめること)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51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3要件は「拘束を正当化する道具」ではない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508000"/>
            <a:ext cx="11304000" cy="612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5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3要件は「拘束してよい理由」を探すためのものではなく、「本当に他に手段がないか」を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    組織で吟味するためのチェックポイント ■ 「3要件を満たした」で思考を止めないこと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身体拘束の理解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やむを得ず拘束する場合の手続きと、適正化の体制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12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やむを得ず拘束する場合の手続き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98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個人ではなく「組織」として判断する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(拘束廃止委員会等での検討)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利用者本人・家族に、目的・理由・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時間帯・期間等を説明し、同意を得る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「態様・時間・心身の状況・やむを得ない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理由」を記録する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必要性を常に再検討し、速やかな解除に向けて動く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適正化のための体制(事業所の義務)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980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身体拘束等適正化検討委員会の設置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(定期開催、結果を職員に周知)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適正化のための指針の整備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職員への定期的な研修の実施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「委員会・指針・研修」の3点セットは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虐待防止の体制整備とも共通する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居宅CMがモニタリングで確認したいこと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通所・施設系サービスを利用している場合、身体拘束が行われていないか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行われている場合、3要件・組織決定・記録・本人家族への説明 が適切になされているか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サービス担当者会議で、拘束の解除・代替策を多職種で検討できているか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「ずっと続いている拘束」がないか ― 一時性が形骸化していないか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BE8B3C"/>
                </a:solidFill>
                <a:latin typeface="Yu Gothi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高齢者虐待の理解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Understanding Elder Abuse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高齢者虐待の理解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高齢者虐待の5類型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14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372059" y="1620000"/>
            <a:ext cx="2232000" cy="648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8059" y="162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身体的虐待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059" y="2268000"/>
            <a:ext cx="2232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059" y="2340000"/>
            <a:ext cx="2052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暴力的行為で身体に傷・痛み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を与える、または与えるおそれ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のある行為。不適切な身体拘束も含む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059" y="3708000"/>
            <a:ext cx="2232000" cy="1872000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059" y="3780000"/>
            <a:ext cx="2052000" cy="172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【例】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・たたく、つねる、蹴る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・無理に食べさせる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・縛る、閉じ込める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6059" y="1620000"/>
            <a:ext cx="2232000" cy="648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2059" y="162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心理的虐待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6059" y="2268000"/>
            <a:ext cx="2232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6059" y="2340000"/>
            <a:ext cx="2052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脅し・侮辱・無視などにより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精神的な苦痛を与える行為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6059" y="3708000"/>
            <a:ext cx="2232000" cy="1872000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059" y="3780000"/>
            <a:ext cx="2052000" cy="172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【例】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・どなる、ののしる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・子ども扱いする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・無視する、嫌がらせ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0059" y="1620000"/>
            <a:ext cx="2232000" cy="64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6059" y="162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性的虐待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0059" y="2268000"/>
            <a:ext cx="2232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0059" y="2340000"/>
            <a:ext cx="2052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本人が同意していない、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あらゆる性的な行為・その強要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0059" y="3708000"/>
            <a:ext cx="2232000" cy="1872000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0059" y="3780000"/>
            <a:ext cx="2052000" cy="172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【例】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・性的な行為の強要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・排泄の失敗等への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  辱め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4059" y="1620000"/>
            <a:ext cx="2232000" cy="648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0059" y="162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経済的虐待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4059" y="2268000"/>
            <a:ext cx="2232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4059" y="2340000"/>
            <a:ext cx="2052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本人の財産を不当に処分する、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本人から不当に財産上の利益を得る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84059" y="3708000"/>
            <a:ext cx="2232000" cy="1872000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4059" y="3780000"/>
            <a:ext cx="2052000" cy="172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【例】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・年金・預貯金の無断使用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・財産の無断処分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・金銭を渡さない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8059" y="1620000"/>
            <a:ext cx="2232000" cy="648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4059" y="162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介護等放棄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(ネグレクト)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8059" y="2268000"/>
            <a:ext cx="2232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8059" y="2340000"/>
            <a:ext cx="2052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必要な介護・世話を放棄し、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2E30"/>
                </a:solidFill>
                <a:latin typeface="Yu Gothic"/>
              </a:rPr>
              <a:t>心身を衰弱させる行為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88059" y="3708000"/>
            <a:ext cx="2232000" cy="1872000"/>
          </a:xfrm>
          <a:prstGeom prst="rect">
            <a:avLst/>
          </a:prstGeom>
          <a:solidFill>
            <a:srgbClr val="F4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78059" y="3780000"/>
            <a:ext cx="2052000" cy="172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【例】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・食事・水分を与えない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・入浴・排泄の世話をしない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E2A3C"/>
                </a:solidFill>
                <a:latin typeface="Yu Gothic"/>
              </a:rPr>
              <a:t>・必要な受診をさせない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688000"/>
            <a:ext cx="113040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000" y="57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" b="1" i="0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6048000"/>
            <a:ext cx="11304000" cy="180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00" y="6084000"/>
            <a:ext cx="11088000" cy="1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1つの事例で複数の類型が重なることが多い。「どれか1つ」と決めつけず、全体像で捉える。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高齢者虐待の理解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なぜ虐待は「気づきにくい」のか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15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本人が訴えない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9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・認知症で説明できない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・家族をかばう、あきらめている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・「迷惑をかけたくない」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加害側に自覚がない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9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・「しつけ」「介護のため」と思っている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・介護疲れで余裕を失っている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・不適切ケアが日常化している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密室性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20000"/>
            <a:ext cx="5580000" cy="9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・在宅も施設も「閉じた空間」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・第三者の目が入りにくい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・サービスの場は見えにくい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60000"/>
            <a:ext cx="5580000" cy="360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発見側の心理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20000"/>
            <a:ext cx="5580000" cy="9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・「考えすぎかも」と思いたい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・関係が壊れることへの不安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・確証がないと動けないという誤解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だからこそ、定期的に関わるCMの「気づき」が重要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居宅CMは、利用者・家族・サービスの場に定期的に関わる数少ない専門職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「気づきにくい」ことを知っているからこそ、意識して見る・聴く・記録する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「考えすぎかも」と思ったその違和感こそ、最初の大切なサイン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高齢者虐待の理解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不適切ケアと虐待の「連続性」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16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虐待は「ある日突然」起きるのではない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明らかな虐待の手前に、広大な「不適切ケア(グレーゾーン)」がある。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不適切ケアを見逃して放置すると、それが日常化し、やがて虐待へとつながっていく。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59" y="2592000"/>
            <a:ext cx="11304000" cy="864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059" y="2664000"/>
            <a:ext cx="1108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適切なケア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059" y="2970000"/>
            <a:ext cx="1108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Yu Gothic"/>
              </a:rPr>
              <a:t>利用者の尊厳・意思を尊重したケア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6059" y="3564000"/>
            <a:ext cx="9000000" cy="864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4059" y="3636000"/>
            <a:ext cx="878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不適切なケア(グレーゾーン)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4059" y="3942000"/>
            <a:ext cx="878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Yu Gothic"/>
              </a:rPr>
              <a:t>悪意はないが、利用者の尊厳を損なう関わり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Yu Gothic"/>
              </a:rPr>
              <a:t>例:スピーチロック、子ども扱い、流れ作業的な介助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6059" y="4536000"/>
            <a:ext cx="5760000" cy="864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4059" y="4608000"/>
            <a:ext cx="554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高齢者虐待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4059" y="4914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Yu Gothic"/>
              </a:rPr>
              <a:t>5類型に該当する行為 ― 通報・対応が必要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5508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55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早期発見の本質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868000"/>
            <a:ext cx="11304000" cy="432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5904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「虐待かどうか」を見極めようとするより、「不適切ケアの芽」の段階で気づき、関わる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グレーゾーンへの感度こそが、虐待を未然に防ぐ最大の力になる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BE8B3C"/>
                </a:solidFill>
                <a:latin typeface="Yu Gothic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不適切ケアの早期発見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Early Detection of Inappropriate Care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早期発見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見えにくい拘束 ― 「3つのロック」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18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ひもや柵だけが拘束ではない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身体を縛らなくても、言葉や薬で人の行動を縛ることができる。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これらは「見えにくい拘束」として、不適切ケアの中でも特に見過ごされやすい。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61" y="2628000"/>
            <a:ext cx="3671999" cy="648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061" y="2700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フィジカルロック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061" y="3006000"/>
            <a:ext cx="3527999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Yu Gothic"/>
              </a:rPr>
              <a:t>身体的な拘束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061" y="3276000"/>
            <a:ext cx="3671999" cy="18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061" y="3420000"/>
            <a:ext cx="3383999" cy="15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ひも・抑制帯・ミトン・柵・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つなぎ服など、物理的に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身体の自由を奪う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0060" y="2628000"/>
            <a:ext cx="3671999" cy="648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060" y="2700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スピーチロック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2060" y="3006000"/>
            <a:ext cx="3527999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Yu Gothic"/>
              </a:rPr>
              <a:t>言葉による拘束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0060" y="3276000"/>
            <a:ext cx="3671999" cy="18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4060" y="3420000"/>
            <a:ext cx="3383999" cy="15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「動かないで」「ちょっと待って」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「ダメ」等の言葉で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行動を抑え込む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6059" y="2628000"/>
            <a:ext cx="3671999" cy="648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8059" y="2700000"/>
            <a:ext cx="3527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ドラッグロック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8059" y="3006000"/>
            <a:ext cx="3527999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Yu Gothic"/>
              </a:rPr>
              <a:t>薬による拘束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6059" y="3276000"/>
            <a:ext cx="3671999" cy="18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059" y="3420000"/>
            <a:ext cx="3383999" cy="15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向精神薬等を過剰に用いて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行動を抑制する。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医師との連携が不可欠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5292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000" y="532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スピーチロックは「最も身近で、最も気づかれにくい拘束」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652000"/>
            <a:ext cx="11304000" cy="467999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5688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忙しさの中で、つい出てしまう言葉。悪意がないからこそ日常化しやすい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「待っててね」の一言を、「○○しますね、もう少しだけ」に変える ― 小さな意識が現場を変える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早期発見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サインを読む ― 4つの視点で観る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19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利用者本人から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08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93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・説明のつかない あざ・傷・やせ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・おびえ・無表情・急な変化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・「家に帰りたくない」等の言葉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・身なり・清潔の乱れ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環境・生活から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108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93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・居室の不衛生・異臭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・必要な物(眼鏡・杖・薬)の不足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・食事・水分の不足のサイン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・お金・通帳が管理されすぎ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168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16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職員・介護者から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528000"/>
            <a:ext cx="5580000" cy="108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600000"/>
            <a:ext cx="5220000" cy="93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・利用者への乱暴な言葉・態度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・「困った人」という語り方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・余裕のなさ・疲弊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・質問への防衛的な反応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168000"/>
            <a:ext cx="5580000" cy="360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16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記録・情報から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528000"/>
            <a:ext cx="5580000" cy="108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600000"/>
            <a:ext cx="5220000" cy="93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・サービス記録の不自然な空白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・受診・服薬の中断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・拘束記録の形骸化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・他職種からの違和感の声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6012000"/>
            <a:ext cx="11328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5E2A3C"/>
                </a:solidFill>
                <a:latin typeface="Yu Gothic"/>
              </a:rPr>
              <a:t>▶ 1つのサインで断定しない。複数のサインが「重なる」とき、危険度は高まる。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早期発見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モニタリング訪問での着眼点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20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モニタリングは「気づきの最前線」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居宅CMが利用者宅・サービスの場に定期的に足を運ぶモニタリングは、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不適切ケアに気づける貴重な機会。「サービスの実施状況」だけを見て終わらせない。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628000"/>
            <a:ext cx="2772000" cy="468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59" y="2628000"/>
            <a:ext cx="2772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観る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3096000"/>
            <a:ext cx="2772000" cy="169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059" y="3204000"/>
            <a:ext cx="2556000" cy="14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・利用者の表情・様子の変化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・身体の状態(あざ・やせ等)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・生活環境・清潔さ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628000"/>
            <a:ext cx="2772000" cy="468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0059" y="2628000"/>
            <a:ext cx="2772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聴く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3096000"/>
            <a:ext cx="2772000" cy="169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8059" y="3204000"/>
            <a:ext cx="2556000" cy="14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・利用者本人の言葉(さりげなく)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・家族・介護者の語り方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・サービス職員の利用者の語り方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059" y="2628000"/>
            <a:ext cx="2772000" cy="468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0059" y="2628000"/>
            <a:ext cx="2772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会う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059" y="3096000"/>
            <a:ext cx="2772000" cy="169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8059" y="3204000"/>
            <a:ext cx="2556000" cy="14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・できるだけ本人と二人で話す機会を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・家族同席だと言えないことがある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・複数回・時間帯を変えて訪問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0059" y="2628000"/>
            <a:ext cx="2772000" cy="468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0059" y="2628000"/>
            <a:ext cx="2772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記録する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3096000"/>
            <a:ext cx="2772000" cy="169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3204000"/>
            <a:ext cx="2556000" cy="14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・違和感は「事実」として具体的に記録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・日時・状況・誰の発言かを明確に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・自分の解釈と事実を分けて書く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292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32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「本人と二人で話す」を意識的につくる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652000"/>
            <a:ext cx="11304000" cy="467999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688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家族や職員が同席していると、利用者は本当のことを言えないことがある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さりげなく場をつくり、「困っていることはないですか」と本人の声を聴く機会を持つ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早期発見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グレーゾーンへの感度を磨く ― 事例で考える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21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45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こんな場面、どう感じますか?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000" y="1656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見え方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1656000"/>
            <a:ext cx="36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考えたいこと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720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「危ないから」と日中ずっと</a:t>
            </a:r>
          </a:p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車椅子にテーブルをつけている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000" y="203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不適切ケア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〜身体的虐待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000" y="203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立ち上がりの理由は?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代替策は検討されたか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0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75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職員が利用者を</a:t>
            </a:r>
          </a:p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あだ名・呼び捨てで呼ぶ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000" y="275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不適切ケア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(心理面)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000" y="275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親しみか、子ども扱いか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本人はどう感じているか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420000"/>
            <a:ext cx="11304000" cy="720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47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「待っててね」「動かないで」が</a:t>
            </a:r>
          </a:p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一日中飛び交っている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000" y="347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スピーチロック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000" y="347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なぜ待たせるのか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人員・段取りの問題では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19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家族が利用者の年金を管理し</a:t>
            </a:r>
          </a:p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本人に小遣いを渡さない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000" y="419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経済的虐待の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疑い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000" y="419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本人の意思は?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生活に支障は出ていないか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304000" cy="720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91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「この人は手がかかる」と</a:t>
            </a:r>
          </a:p>
          <a:p>
            <a:pPr algn="ctr"/>
            <a:r>
              <a:rPr sz="1100" b="0" i="0">
                <a:solidFill>
                  <a:srgbClr val="332E30"/>
                </a:solidFill>
                <a:latin typeface="Yu Gothic"/>
              </a:rPr>
              <a:t>職員がため息まじりに話す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000" y="491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不適切ケアの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前兆・職員の疲弊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000" y="491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職員の負担・体制は?</a:t>
            </a:r>
          </a:p>
          <a:p>
            <a:pPr algn="l"/>
            <a:r>
              <a:rPr sz="1100" b="0" i="0">
                <a:solidFill>
                  <a:srgbClr val="332E30"/>
                </a:solidFill>
                <a:latin typeface="Yu Gothic"/>
              </a:rPr>
              <a:t>チームで支えられているか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760000"/>
            <a:ext cx="113040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57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" b="1" i="0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6120000"/>
            <a:ext cx="11304000" cy="180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6156000"/>
            <a:ext cx="11088000" cy="1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「白か黒か」で判断しない。グレーの段階で「気にかける」「話題にする」ことが予防になる。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BE8B3C"/>
                </a:solidFill>
                <a:latin typeface="Yu Gothic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居宅サービス事業所への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指導・助言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Guidance to Service Providers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指導・助言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指導・助言の基本スタンス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23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CMの「指導・助言」は、行政の指導とは違う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CMには処分権限はない。だからこそ「上から正す」のではなく、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    「同じ目標に向かう専門職どうし」として、対等に問題を共有する姿勢が基本になる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避けたい関わり方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980000"/>
          </a:xfrm>
          <a:prstGeom prst="rect">
            <a:avLst/>
          </a:prstGeom>
          <a:solidFill>
            <a:srgbClr val="F8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「虐待では?」と決めつけて責める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事業所を一方的に批判する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関係悪化を恐れて何も言わない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一人のCMだけで抱え込む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逆に、見て見ぬふりをして流す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「対立」も「黙認」も利用者を守れない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目指したい関わり方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980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事実を具体的に、冷静に共有する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「利用者のために一緒に考えたい」と伝える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事業所の事情・背景にも耳を傾ける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サービス担当者会議など「場」を活用する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緊急性が高い場合は迷わず通報する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関係を保ちつつ、見過ごさない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148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5E2A3C"/>
                </a:solidFill>
                <a:latin typeface="Yu Gothic"/>
              </a:rPr>
              <a:t>▶ ゴールは「事業所を正すこと」ではなく「利用者の尊厳が守られる状態をつくること」。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指導・助言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気づいたときの対応フロー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24 / 34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709999"/>
            <a:ext cx="468000" cy="468000"/>
          </a:xfrm>
          <a:prstGeom prst="ellipse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4000" y="1584000"/>
            <a:ext cx="2880000" cy="72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0000" y="1584000"/>
            <a:ext cx="28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事実を確認・記録する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4000" y="1584000"/>
            <a:ext cx="7656119" cy="7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8000" y="1656000"/>
            <a:ext cx="7440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・見聞きしたことを「事実」として具体的に記録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・推測と事実を分けて整理する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555999"/>
            <a:ext cx="468000" cy="468000"/>
          </a:xfrm>
          <a:prstGeom prst="ellipse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4000" y="2430000"/>
            <a:ext cx="2880000" cy="720000"/>
          </a:xfrm>
          <a:prstGeom prst="rect">
            <a:avLst/>
          </a:prstGeom>
          <a:solidFill>
            <a:srgbClr val="CF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0000" y="2430000"/>
            <a:ext cx="28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緊急性を判断する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4000" y="2430000"/>
            <a:ext cx="7656119" cy="7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8000" y="2502000"/>
            <a:ext cx="7440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・生命・身体に重大な危険があるか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・あれば即・市町村へ通報(ステップ5へ)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3401999"/>
            <a:ext cx="468000" cy="468000"/>
          </a:xfrm>
          <a:prstGeom prst="ellipse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4000" y="3276000"/>
            <a:ext cx="2880000" cy="720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0000" y="3276000"/>
            <a:ext cx="28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一人で抱えず相談する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4000" y="3276000"/>
            <a:ext cx="7656119" cy="7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8000" y="3348000"/>
            <a:ext cx="7440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・主任CM・管理者・地域包括に相談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・複数の目で状況を見立てる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247999"/>
            <a:ext cx="468000" cy="468000"/>
          </a:xfrm>
          <a:prstGeom prst="ellipse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4000" y="4122000"/>
            <a:ext cx="2880000" cy="72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0000" y="4122000"/>
            <a:ext cx="28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事業所と事実を共有する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04000" y="4122000"/>
            <a:ext cx="7656119" cy="7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48000" y="4194000"/>
            <a:ext cx="7440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・サービス担当者会議等の「場」を活用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・ケアの見直しを多職種で検討する</a:t>
            </a:r>
          </a:p>
        </p:txBody>
      </p:sp>
      <p:sp>
        <p:nvSpPr>
          <p:cNvPr id="28" name="Oval 27"/>
          <p:cNvSpPr/>
          <p:nvPr/>
        </p:nvSpPr>
        <p:spPr>
          <a:xfrm>
            <a:off x="540000" y="5093999"/>
            <a:ext cx="468000" cy="468000"/>
          </a:xfrm>
          <a:prstGeom prst="ellipse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4000" y="4968000"/>
            <a:ext cx="2880000" cy="720000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0000" y="4968000"/>
            <a:ext cx="28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通報・連携する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4000" y="4968000"/>
            <a:ext cx="7656119" cy="7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000" y="5040000"/>
            <a:ext cx="7440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・虐待が疑われれば市町村へ通報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・以降は行政・地域包括と連携して対応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832000"/>
            <a:ext cx="113040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000" y="586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" b="1" i="0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6192000"/>
            <a:ext cx="11304000" cy="108000"/>
          </a:xfrm>
          <a:prstGeom prst="rect">
            <a:avLst/>
          </a:prstGeom>
          <a:solidFill>
            <a:srgbClr val="F8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6228000"/>
            <a:ext cx="11088000" cy="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緊急性が高ければ、ステップ2から一気に5へ。「順番どおり」より「利用者の安全」が優先。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指導・助言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事業所への伝え方 ― 言葉の選び方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25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関係を壊しやすい言い方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8000" y="1656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一緒に考える言い方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980000"/>
            <a:ext cx="11304000" cy="666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000" y="2034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53A33"/>
                </a:solidFill>
                <a:latin typeface="Yu Gothic"/>
              </a:rPr>
              <a:t>「それ、虐待じゃないですか」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8000" y="2034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「気になる場面があったので、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一緒に状況を整理させてください」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646000"/>
            <a:ext cx="11304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000" y="2700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53A33"/>
                </a:solidFill>
                <a:latin typeface="Yu Gothic"/>
              </a:rPr>
              <a:t>「拘束はダメですよね」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8000" y="2700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「この拘束、解除に向けて何か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一緒に工夫できないでしょうか」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312000"/>
            <a:ext cx="11304000" cy="666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3366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53A33"/>
                </a:solidFill>
                <a:latin typeface="Yu Gothic"/>
              </a:rPr>
              <a:t>「ちゃんと見てるんですか」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8000" y="3366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「ご本人の様子が少し気になって。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最近のご様子はいかがですか」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978000"/>
            <a:ext cx="11304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4032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53A33"/>
                </a:solidFill>
                <a:latin typeface="Yu Gothic"/>
              </a:rPr>
              <a:t>「記録が不十分です」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8000" y="4032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「記録があると、皆で経過を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共有しやすいので助かります」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644000"/>
            <a:ext cx="11304000" cy="666000"/>
          </a:xfrm>
          <a:prstGeom prst="rect">
            <a:avLst/>
          </a:prstGeom>
          <a:solidFill>
            <a:srgbClr val="EEE7E9"/>
          </a:solidFill>
          <a:ln>
            <a:solidFill>
              <a:srgbClr val="DC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4698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53A33"/>
                </a:solidFill>
                <a:latin typeface="Yu Gothic"/>
              </a:rPr>
              <a:t>「家族が虐待しています」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8000" y="4698000"/>
            <a:ext cx="5544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「ご家族もかなりお疲れのようです。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支える方法を一緒に考えませんか」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508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" y="55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言い方の原則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868000"/>
            <a:ext cx="11304000" cy="432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5904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「事実」を共有し、「人」を責めない ■ 「問いかけ」の形にして、一緒に考える姿勢を示す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ただし、緊急性が高い虐待は、言葉を選んでいる場合ではない ― 速やかな通報を優先する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指導・助言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サービス担当者会議を「拘束を減らす場」にする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26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一人で言うより、多職種で考える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CMが個別に事業所へ言うより、サービス担当者会議で多職種が一緒に検討するほうが、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建設的で、関係も壊れにくく、実効性のある解決につながる。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520000"/>
            <a:ext cx="5580000" cy="360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5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会議で扱いたい論点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880000"/>
            <a:ext cx="5580000" cy="1548000"/>
          </a:xfrm>
          <a:prstGeom prst="rect">
            <a:avLst/>
          </a:prstGeom>
          <a:solidFill>
            <a:srgbClr val="DF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916000"/>
            <a:ext cx="5364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その行動(立ち上がり・徘徊等)は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なぜ起きているのか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拘束・抑制以外の代替策はないか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環境・関わり方・薬の見直しの余地は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拘束を「いつ・どう解除していくか」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520000"/>
            <a:ext cx="540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5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ファシリテーターとしてのCM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880000"/>
            <a:ext cx="5400000" cy="1548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2916000"/>
            <a:ext cx="5184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事業所を「責める場」にしない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各職種(医師・看護・リハ・介護)の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視点を引き出す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「誰が・何を・いつまでに」を決める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次回会議で必ず経過を振り返る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72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60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主任CMの役割 ― 第4弾の学びをここで活かす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932000"/>
            <a:ext cx="11304000" cy="1188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968000"/>
            <a:ext cx="11088000" cy="115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ファシリテーションの技術(中立を保つ・全員参加・論点の可視化・結論を出す)を発揮する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「拘束ゼロ」は一度の会議では実現しない ― 小さな代替策から試し、経過を追い続ける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後輩CMには、サ担会議をこうした「ケアの質を問い直す場」として使う姿を見せて伝える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BE8B3C"/>
                </a:solidFill>
                <a:latin typeface="Yu Gothic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対応と連携 ・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Response, Collaboration &amp; Wrap 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対応と連携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通報・連携の流れ ― 一人で抱えない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28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1692000"/>
            <a:ext cx="3060000" cy="827999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3060000" cy="82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CMが気づく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(モニタリング等)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51999" y="1944000"/>
            <a:ext cx="720000" cy="324000"/>
          </a:xfrm>
          <a:prstGeom prst="rightArrow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4000" y="1692000"/>
            <a:ext cx="3060000" cy="827999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4000" y="1692000"/>
            <a:ext cx="3060000" cy="82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事業所内で相談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(主任CM・管理者)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6000" y="1944000"/>
            <a:ext cx="720000" cy="324000"/>
          </a:xfrm>
          <a:prstGeom prst="rightArrow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68000" y="1692000"/>
            <a:ext cx="2880000" cy="827999"/>
          </a:xfrm>
          <a:prstGeom prst="rect">
            <a:avLst/>
          </a:prstGeom>
          <a:solidFill>
            <a:srgbClr val="B5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8000" y="1692000"/>
            <a:ext cx="2880000" cy="82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市町村へ通報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地域包括へ相談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72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2808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通報・相談先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132000"/>
            <a:ext cx="5580000" cy="14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3168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市町村(高齢者虐待の通報窓口)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地域包括支援センター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(総合相談・権利擁護の窓口)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緊急時は迷わず ― 確証より「疑い」で動く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▶ 通報後の対応は、市町村が中心となって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進める(事実確認・立入調査等)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2772000"/>
            <a:ext cx="540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2000" y="2808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通報後もCMの関わりは続く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3132000"/>
            <a:ext cx="5400000" cy="1440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3168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通報して「終わり」ではない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行政・地域包括と連携しながら、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   利用者の生活を支え続ける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ケアプランの見直し、サービス調整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養護者(家族)への支援にも関わる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752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78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通報は「告発」ではなく「支援の入口」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112000"/>
            <a:ext cx="11304000" cy="1008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148000"/>
            <a:ext cx="11088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通報の目的は、誰かを罰することではなく、利用者の安全と、養護者を含めた支援につなぐこと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通報者の情報は保護される。「関係が壊れる」ことを恐れて、利用者の安全を後回しにしない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一人で判断せず、組織として・地域として対応する ― それが主任CMの示すべき姿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対応と連携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養護者(家族)による虐待 ― 「支援」の視点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29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家族を「加害者」とだけ見ない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養護者による虐待の背景には、介護疲れ・孤立・経済的困窮・知識不足・本人との関係史がある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高齢者虐待防止法は、養護者への「支援」も定めている ― 罰するだけでは解決しない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養護者の虐待の背景にあるもの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620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介護による心身の疲弊・追い詰められ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社会的な孤立・相談相手の不在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認知症等への知識・対応力の不足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経済的な困窮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本人と養護者の長年の関係・葛藤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CMができる支援的関わり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620000"/>
          </a:xfrm>
          <a:prstGeom prst="rect">
            <a:avLst/>
          </a:prstGeom>
          <a:solidFill>
            <a:srgbClr val="E5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養護者の労をねぎらい、話を聴く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サービス導入で介護負担を軽減する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孤立を防ぐ ― 相談先・社会資源につなぐ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分離が必要な場合は、行政と連携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「責める」前に「支える」道を探す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53A33"/>
                </a:solidFill>
                <a:latin typeface="Yu Gothic"/>
              </a:rPr>
              <a:t>▶ ただし、生命・身体に重大な危険がある場合は、支援の視点と同時に「速やかな通報」が必要。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対応と連携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後輩CMに、何をどう伝えるか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30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「気づく目」を育てる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008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64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・グレーゾーンへの感度を、事例を通じて伝える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・「これって変かも」という違和感を大切にさせる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・モニタリングの着眼点を一緒に確認する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「抱え込ませない」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1008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64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・「迷ったら相談していい」を文化にする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・後輩が気づきを話せる場を定期的に持つ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・通報をためらわせる空気をつくらない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96000"/>
            <a:ext cx="5580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96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対応をモデルで示す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56000"/>
            <a:ext cx="5580000" cy="1008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528000"/>
            <a:ext cx="5220000" cy="864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・事業所への伝え方、サ担会議の進め方を見せる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・同行訪問で「観る・聴く」の実際を伝える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・通報・連携の手順を一緒に確認しておく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96000"/>
            <a:ext cx="5580000" cy="360000"/>
          </a:xfrm>
          <a:prstGeom prst="rect">
            <a:avLst/>
          </a:prstGeom>
          <a:solidFill>
            <a:srgbClr val="4F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96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CM自身を支える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56000"/>
            <a:ext cx="5580000" cy="1008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528000"/>
            <a:ext cx="5220000" cy="864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・虐待対応はCM自身も傷つき、消耗する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・対応後の振り返り・感情のケアを行う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2E30"/>
                </a:solidFill>
                <a:latin typeface="Yu Gothic"/>
              </a:rPr>
              <a:t>・「一人の責任にしない」と明確に伝える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788000"/>
            <a:ext cx="11304000" cy="360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8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虐待対応はチームで ― 主任CMがその要に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148000"/>
            <a:ext cx="11304000" cy="97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184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虐待対応は、判断も対応も重く、一人のCMが背負うには大きすぎる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主任CMは、後輩が「気づき・相談し・対応できる」チームの仕組みと空気をつくる</a:t>
            </a:r>
          </a:p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スーパービジョンの3機能(管理的・教育的・支持的)を、ここでこそ発揮する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明日からの 3 つのアクション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31 /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620000" cy="1332000"/>
          </a:xfrm>
          <a:prstGeom prst="rect">
            <a:avLst/>
          </a:prstGeom>
          <a:solidFill>
            <a:srgbClr val="844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76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6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000" y="1620000"/>
            <a:ext cx="9708119" cy="133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0" y="172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5E2A3C"/>
                </a:solidFill>
                <a:latin typeface="Yu Gothic"/>
              </a:rPr>
              <a:t>モニタリングの「観る目」を変える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12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・次の訪問から「観る・聴く・会う・記録する」の4視点を意識する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・本人と二人で話せる場面を、意識的につくる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1620000" cy="1332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320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60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2000" y="3060000"/>
            <a:ext cx="9708119" cy="133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0" y="316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5E2A3C"/>
                </a:solidFill>
                <a:latin typeface="Yu Gothic"/>
              </a:rPr>
              <a:t>グレーゾーンを事業所内で話題にする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356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・スピーチロックなど「身近な不適切ケア」を、事例検討や朝礼で取り上げる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・「白か黒か」でなく、グレーの段階で気にかける文化をつくる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620000" cy="1332000"/>
          </a:xfrm>
          <a:prstGeom prst="rect">
            <a:avLst/>
          </a:prstGeom>
          <a:solidFill>
            <a:srgbClr val="2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64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504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2000" y="4500000"/>
            <a:ext cx="9708119" cy="1332000"/>
          </a:xfrm>
          <a:prstGeom prst="rect">
            <a:avLst/>
          </a:prstGeom>
          <a:solidFill>
            <a:srgbClr val="EE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0" y="460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5E2A3C"/>
                </a:solidFill>
                <a:latin typeface="Yu Gothic"/>
              </a:rPr>
              <a:t>対応・通報の流れを確認しておく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500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・市町村・地域包括の通報窓口、事業所内の相談ルートを再確認する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2E30"/>
                </a:solidFill>
                <a:latin typeface="Yu Gothic"/>
              </a:rPr>
              <a:t>・後輩CMと「気づいたらどう動くか」を一度話し合っておく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12192119" cy="36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BE8B3C"/>
                </a:solidFill>
                <a:latin typeface="Yu Gothic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500" b="1" i="0">
                <a:solidFill>
                  <a:srgbClr val="FFFFFF"/>
                </a:solidFill>
                <a:latin typeface="Yu Gothic"/>
              </a:rPr>
              <a:t>拘束しないことは、手間ではなく、</a:t>
            </a:r>
          </a:p>
          <a:p>
            <a:pPr algn="ctr">
              <a:lnSpc>
                <a:spcPct val="140000"/>
              </a:lnSpc>
            </a:pPr>
            <a:r>
              <a:rPr sz="2500" b="1" i="0">
                <a:solidFill>
                  <a:srgbClr val="FFFFFF"/>
                </a:solidFill>
                <a:latin typeface="Yu Gothic"/>
              </a:rPr>
              <a:t>「その人を人として扱う」という約束。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1003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CD4D7"/>
                </a:solidFill>
                <a:latin typeface="Yu Gothic"/>
              </a:rPr>
              <a:t>あなたが訪問先で覚えた小さな違和感、本人と交わした二人きりの会話、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CD4D7"/>
                </a:solidFill>
                <a:latin typeface="Yu Gothic"/>
              </a:rPr>
              <a:t>サービス担当者会議で投げかけた一つの問い。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CD4D7"/>
                </a:solidFill>
                <a:latin typeface="Yu Gothic"/>
              </a:rPr>
              <a:t>その積み重ねが、声をあげられない誰かの尊厳を、確かに守っています。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5E2A3C"/>
                </a:solidFill>
                <a:latin typeface="Yu Gothic"/>
              </a:rPr>
              <a:t>参考資料 ・ 情報源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A87380"/>
                </a:solidFill>
                <a:latin typeface="Yu Gothic"/>
              </a:rPr>
              <a:t>主任CM研修 / 身体拘束最小化と高齢者虐待防止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A87380"/>
                </a:solidFill>
                <a:latin typeface="Yu Gothic"/>
              </a:rPr>
              <a:t>33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高齢者虐待の防止、高齢者の養護者に対する支援等に関する法律(高齢者虐待防止法)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7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厚生労働省「市町村・都道府県における高齢者虐待への対応と養護者支援について」(対応マニュアル)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厚生労働省「身体拘束ゼロへの手引き」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7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厚生労働省「介護報酬改定」関係通知(虐待防止・身体拘束等の適正化の体制整備)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各事業所の虐待防止指針・身体拘束等適正化指針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7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各都道府県・市町村の高齢者虐待対応の手引き・通報窓口情報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3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2E30"/>
                </a:solidFill>
                <a:latin typeface="Yu Gothic"/>
              </a:rPr>
              <a:t>■ 日本介護支援専門員協会等による権利擁護・虐待防止関連の研修資料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788000"/>
            <a:ext cx="11304000" cy="3600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48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学び続けるために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5148000"/>
            <a:ext cx="11304000" cy="972000"/>
          </a:xfrm>
          <a:prstGeom prst="rect">
            <a:avLst/>
          </a:prstGeom>
          <a:solidFill>
            <a:srgbClr val="FA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5184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制度・通知は改定されます。最新の法令・厚労省マニュアル・自治体情報を必ずご確認ください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身体拘束・虐待への向き合い方は、知識だけでなく「事例を通じた振り返り」で深まります</a:t>
            </a:r>
          </a:p>
          <a:p>
            <a:pPr algn="l"/>
            <a:r>
              <a:rPr sz="1200" b="0" i="0">
                <a:solidFill>
                  <a:srgbClr val="332E30"/>
                </a:solidFill>
                <a:latin typeface="Yu Gothic"/>
              </a:rPr>
              <a:t>■ 本資料は 2026年5月時点の一般的な情報を基に構成しています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5E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60000" y="2700000"/>
            <a:ext cx="4248000" cy="43200"/>
          </a:xfrm>
          <a:prstGeom prst="rect">
            <a:avLst/>
          </a:prstGeom>
          <a:solidFill>
            <a:srgbClr val="BE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08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0">
                <a:solidFill>
                  <a:srgbClr val="BE8B3C"/>
                </a:solidFill>
                <a:latin typeface="Yu Gothic"/>
              </a:rPr>
              <a:t>質疑応答 ・ 事例検討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68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CD4D7"/>
                </a:solidFill>
                <a:latin typeface="Yu Gothic"/>
              </a:rPr>
              <a:t>現場で出会った「気になる場面」を持ち寄り、一緒に考えましょう。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