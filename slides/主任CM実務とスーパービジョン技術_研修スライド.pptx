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000"/>
            <a:ext cx="12192119" cy="540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28000"/>
            <a:ext cx="12192119" cy="18000"/>
          </a:xfrm>
          <a:prstGeom prst="rect">
            <a:avLst/>
          </a:prstGeom>
          <a:solidFill>
            <a:srgbClr val="4F8F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 i="0">
                <a:solidFill>
                  <a:srgbClr val="D96E2A"/>
                </a:solidFill>
                <a:latin typeface="Yu Gothic"/>
              </a:rPr>
              <a:t>主任介護支援専門員 研修会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944000"/>
            <a:ext cx="11472119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Yu Gothic"/>
              </a:rPr>
              <a:t>主任ケアマネの実務と</a:t>
            </a:r>
          </a:p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Yu Gothic"/>
              </a:rPr>
              <a:t>スーパービジョン技術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3491999"/>
            <a:ext cx="1111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Yu Gothic"/>
              </a:rPr>
              <a:t>ー 後輩ケアマネを育て、地域の議論を導き、地域包括と協働する 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4680000"/>
            <a:ext cx="1111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 i="0">
                <a:solidFill>
                  <a:srgbClr val="C99A2E"/>
                </a:solidFill>
                <a:latin typeface="Yu Gothic"/>
              </a:rPr>
              <a:t>■ スーパービジョンの 3 機能と実践技術</a:t>
            </a:r>
          </a:p>
          <a:p>
            <a:pPr algn="ctr">
              <a:lnSpc>
                <a:spcPct val="150000"/>
              </a:lnSpc>
            </a:pPr>
            <a:r>
              <a:rPr sz="1400" b="0" i="0">
                <a:solidFill>
                  <a:srgbClr val="C99A2E"/>
                </a:solidFill>
                <a:latin typeface="Yu Gothic"/>
              </a:rPr>
              <a:t>■ 後輩CM への OJT・同行訪問・フィードバック</a:t>
            </a:r>
          </a:p>
          <a:p>
            <a:pPr algn="ctr">
              <a:lnSpc>
                <a:spcPct val="150000"/>
              </a:lnSpc>
            </a:pPr>
            <a:r>
              <a:rPr sz="1400" b="0" i="0">
                <a:solidFill>
                  <a:srgbClr val="C99A2E"/>
                </a:solidFill>
                <a:latin typeface="Yu Gothic"/>
              </a:rPr>
              <a:t>■ 地域ケア会議のファシリテーション</a:t>
            </a:r>
          </a:p>
          <a:p>
            <a:pPr algn="ctr">
              <a:lnSpc>
                <a:spcPct val="150000"/>
              </a:lnSpc>
            </a:pPr>
            <a:r>
              <a:rPr sz="1400" b="0" i="0">
                <a:solidFill>
                  <a:srgbClr val="C99A2E"/>
                </a:solidFill>
                <a:latin typeface="Yu Gothic"/>
              </a:rPr>
              <a:t>■ 地域包括支援センターとの協働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868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4DCDA"/>
                </a:solidFill>
                <a:latin typeface="Yu Gothic"/>
              </a:rPr>
              <a:t>主任ケアマネジャーの会  主催  ・  研修時間 90 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1B4D4A"/>
                </a:solidFill>
                <a:latin typeface="Yu Gothic"/>
              </a:rPr>
              <a:t>本日の研修目標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864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F8F89"/>
                </a:solidFill>
                <a:latin typeface="Yu Gothic"/>
              </a:rPr>
              <a:t>主任CM研修 / 主任ケアマネの実務とスーパービジョン技術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F8F89"/>
                </a:solidFill>
                <a:latin typeface="Yu Gothic"/>
              </a:rPr>
              <a:t>2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80000" cy="5400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674000"/>
            <a:ext cx="10932119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323837"/>
                </a:solidFill>
                <a:latin typeface="Yu Gothic"/>
              </a:rPr>
              <a:t>主任CMに求められる「育てる・つなぐ・導く」役割を言語化できる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2268000"/>
            <a:ext cx="180000" cy="5400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2322000"/>
            <a:ext cx="10932119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323837"/>
                </a:solidFill>
                <a:latin typeface="Yu Gothic"/>
              </a:rPr>
              <a:t>スーパービジョンの3機能(管理的・教育的・支持的)を理解し、実践に移せる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916000"/>
            <a:ext cx="180000" cy="5400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2970000"/>
            <a:ext cx="10932119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323837"/>
                </a:solidFill>
                <a:latin typeface="Yu Gothic"/>
              </a:rPr>
              <a:t>後輩CMの成長段階に応じたOJT・同行訪問・フィードバックの技術を持ち帰る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564000"/>
            <a:ext cx="180000" cy="5400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000" y="3618000"/>
            <a:ext cx="10932119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323837"/>
                </a:solidFill>
                <a:latin typeface="Yu Gothic"/>
              </a:rPr>
              <a:t>地域ケア会議でのファシリテーション ― 発言を引き出し合意を形成する技術を学ぶ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4212000"/>
            <a:ext cx="180000" cy="5400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00" y="4266000"/>
            <a:ext cx="10932119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323837"/>
                </a:solidFill>
                <a:latin typeface="Yu Gothic"/>
              </a:rPr>
              <a:t>地域包括支援センターとの役割分担と協働のあり方を整理する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4860000"/>
            <a:ext cx="180000" cy="5400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4914000"/>
            <a:ext cx="10932119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323837"/>
                </a:solidFill>
                <a:latin typeface="Yu Gothic"/>
              </a:rPr>
              <a:t>「プレイヤー」から「育てる人・つなぐ人」への意識転換を図る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1B4D4A"/>
                </a:solidFill>
                <a:latin typeface="Yu Gothic"/>
              </a:rPr>
              <a:t>本日の流れ(90分)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864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F8F89"/>
                </a:solidFill>
                <a:latin typeface="Yu Gothic"/>
              </a:rPr>
              <a:t>主任CM研修 / 主任ケアマネの実務とスーパービジョン技術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F8F89"/>
                </a:solidFill>
                <a:latin typeface="Yu Gothic"/>
              </a:rPr>
              <a:t>3 / 37</a:t>
            </a:r>
          </a:p>
        </p:txBody>
      </p:sp>
      <p:sp>
        <p:nvSpPr>
          <p:cNvPr id="8" name="Oval 7"/>
          <p:cNvSpPr/>
          <p:nvPr/>
        </p:nvSpPr>
        <p:spPr>
          <a:xfrm>
            <a:off x="540000" y="1692000"/>
            <a:ext cx="468000" cy="468000"/>
          </a:xfrm>
          <a:prstGeom prst="ellipse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000" y="1746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1B4D4A"/>
                </a:solidFill>
                <a:latin typeface="Yu Gothic"/>
              </a:rPr>
              <a:t>主任CMの役割 ― 「育てる・つなぐ・導く」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2119" y="1764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D96E2A"/>
                </a:solidFill>
                <a:latin typeface="Yu Gothic"/>
              </a:rPr>
              <a:t>10分</a:t>
            </a:r>
          </a:p>
        </p:txBody>
      </p:sp>
      <p:sp>
        <p:nvSpPr>
          <p:cNvPr id="11" name="Oval 10"/>
          <p:cNvSpPr/>
          <p:nvPr/>
        </p:nvSpPr>
        <p:spPr>
          <a:xfrm>
            <a:off x="540000" y="2358000"/>
            <a:ext cx="468000" cy="468000"/>
          </a:xfrm>
          <a:prstGeom prst="ellipse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000" y="2412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1B4D4A"/>
                </a:solidFill>
                <a:latin typeface="Yu Gothic"/>
              </a:rPr>
              <a:t>スーパービジョン技術 ― 3機能と実践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52119" y="2430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D96E2A"/>
                </a:solidFill>
                <a:latin typeface="Yu Gothic"/>
              </a:rPr>
              <a:t>25分</a:t>
            </a:r>
          </a:p>
        </p:txBody>
      </p:sp>
      <p:sp>
        <p:nvSpPr>
          <p:cNvPr id="14" name="Oval 13"/>
          <p:cNvSpPr/>
          <p:nvPr/>
        </p:nvSpPr>
        <p:spPr>
          <a:xfrm>
            <a:off x="540000" y="3024000"/>
            <a:ext cx="468000" cy="468000"/>
          </a:xfrm>
          <a:prstGeom prst="ellipse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000" y="3078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1B4D4A"/>
                </a:solidFill>
                <a:latin typeface="Yu Gothic"/>
              </a:rPr>
              <a:t>後輩CM指導 ― OJT・同行訪問・フィードバック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52119" y="3096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D96E2A"/>
                </a:solidFill>
                <a:latin typeface="Yu Gothic"/>
              </a:rPr>
              <a:t>20分</a:t>
            </a:r>
          </a:p>
        </p:txBody>
      </p:sp>
      <p:sp>
        <p:nvSpPr>
          <p:cNvPr id="17" name="Oval 16"/>
          <p:cNvSpPr/>
          <p:nvPr/>
        </p:nvSpPr>
        <p:spPr>
          <a:xfrm>
            <a:off x="540000" y="3690000"/>
            <a:ext cx="468000" cy="468000"/>
          </a:xfrm>
          <a:prstGeom prst="ellipse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000" y="3744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1B4D4A"/>
                </a:solidFill>
                <a:latin typeface="Yu Gothic"/>
              </a:rPr>
              <a:t>地域ケア会議のファシリテーション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52119" y="3762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D96E2A"/>
                </a:solidFill>
                <a:latin typeface="Yu Gothic"/>
              </a:rPr>
              <a:t>20分</a:t>
            </a:r>
          </a:p>
        </p:txBody>
      </p:sp>
      <p:sp>
        <p:nvSpPr>
          <p:cNvPr id="20" name="Oval 19"/>
          <p:cNvSpPr/>
          <p:nvPr/>
        </p:nvSpPr>
        <p:spPr>
          <a:xfrm>
            <a:off x="540000" y="4356000"/>
            <a:ext cx="468000" cy="468000"/>
          </a:xfrm>
          <a:prstGeom prst="ellipse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000" y="4410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1B4D4A"/>
                </a:solidFill>
                <a:latin typeface="Yu Gothic"/>
              </a:rPr>
              <a:t>地域包括支援センターとの協働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2119" y="4428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D96E2A"/>
                </a:solidFill>
                <a:latin typeface="Yu Gothic"/>
              </a:rPr>
              <a:t>10分</a:t>
            </a:r>
          </a:p>
        </p:txBody>
      </p:sp>
      <p:sp>
        <p:nvSpPr>
          <p:cNvPr id="23" name="Oval 22"/>
          <p:cNvSpPr/>
          <p:nvPr/>
        </p:nvSpPr>
        <p:spPr>
          <a:xfrm>
            <a:off x="540000" y="5022000"/>
            <a:ext cx="468000" cy="468000"/>
          </a:xfrm>
          <a:prstGeom prst="ellipse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000" y="5076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1B4D4A"/>
                </a:solidFill>
                <a:latin typeface="Yu Gothic"/>
              </a:rPr>
              <a:t>まとめ ― 主任CMが持ち帰るもの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52119" y="5094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D96E2A"/>
                </a:solidFill>
                <a:latin typeface="Yu Gothic"/>
              </a:rPr>
              <a:t> 5分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D96E2A"/>
                </a:solidFill>
                <a:latin typeface="Yu Gothic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Yu Gothic"/>
              </a:rPr>
              <a:t>主任CMの役割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4DCDA"/>
                </a:solidFill>
                <a:latin typeface="Yu Gothic"/>
              </a:rPr>
              <a:t>The Role of the Chief Care Manager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1. 主任CMの役割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1B4D4A"/>
                </a:solidFill>
                <a:latin typeface="Yu Gothic"/>
              </a:rPr>
              <a:t>主任CMに求められる 4 つの機能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864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F8F89"/>
                </a:solidFill>
                <a:latin typeface="Yu Gothic"/>
              </a:rPr>
              <a:t>主任CM研修 / 主任ケアマネの実務とスーパービジョン技術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F8F89"/>
                </a:solidFill>
                <a:latin typeface="Yu Gothic"/>
              </a:rPr>
              <a:t>5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59" y="1620000"/>
            <a:ext cx="2772000" cy="900000"/>
          </a:xfrm>
          <a:prstGeom prst="rect">
            <a:avLst/>
          </a:prstGeom>
          <a:solidFill>
            <a:srgbClr val="5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059" y="1728000"/>
            <a:ext cx="2628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Yu Gothic"/>
              </a:rPr>
              <a:t>育てる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059" y="2196000"/>
            <a:ext cx="262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Yu Gothic"/>
              </a:rPr>
              <a:t>人材育成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0059" y="2520000"/>
            <a:ext cx="2772000" cy="2520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059" y="2664000"/>
            <a:ext cx="2556000" cy="22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後輩CMのスーパービジョン</a:t>
            </a:r>
          </a:p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OJT・研修の企画・運営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0059" y="1620000"/>
            <a:ext cx="2772000" cy="900000"/>
          </a:xfrm>
          <a:prstGeom prst="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42059" y="1728000"/>
            <a:ext cx="2628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Yu Gothic"/>
              </a:rPr>
              <a:t>つなぐ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2059" y="2196000"/>
            <a:ext cx="262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Yu Gothic"/>
              </a:rPr>
              <a:t>連携・協働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70059" y="2520000"/>
            <a:ext cx="2772000" cy="2520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78059" y="2664000"/>
            <a:ext cx="2556000" cy="22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地域包括・医療機関・他事業所</a:t>
            </a:r>
          </a:p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多職種ネットワークの構築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0059" y="1620000"/>
            <a:ext cx="2772000" cy="9000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22059" y="1728000"/>
            <a:ext cx="2628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Yu Gothic"/>
              </a:rPr>
              <a:t>導く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2059" y="2196000"/>
            <a:ext cx="262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Yu Gothic"/>
              </a:rPr>
              <a:t>リーダーシップ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50059" y="2520000"/>
            <a:ext cx="2772000" cy="2520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8059" y="2664000"/>
            <a:ext cx="2556000" cy="22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地域ケア会議のファシリテート</a:t>
            </a:r>
          </a:p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事業所内の方針づくり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30059" y="1620000"/>
            <a:ext cx="2772000" cy="9000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2059" y="1728000"/>
            <a:ext cx="2628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Yu Gothic"/>
              </a:rPr>
              <a:t>支える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2059" y="2196000"/>
            <a:ext cx="262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Yu Gothic"/>
              </a:rPr>
              <a:t>相談・支持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30059" y="2520000"/>
            <a:ext cx="2772000" cy="2520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38059" y="2664000"/>
            <a:ext cx="2556000" cy="22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困難事例への助言</a:t>
            </a:r>
          </a:p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後輩のメンタルサポート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5220000"/>
            <a:ext cx="11304000" cy="360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000" y="525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4機能に共通する土台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2000" y="5580000"/>
            <a:ext cx="11304000" cy="540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0000" y="5616000"/>
            <a:ext cx="11088000" cy="5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自分の実践を「言葉」にできること ― 暗黙知を形式知に変える力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「正解を教える」のではなく「考えるプロセスを支える」姿勢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1. 主任CMの役割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1B4D4A"/>
                </a:solidFill>
                <a:latin typeface="Yu Gothic"/>
              </a:rPr>
              <a:t>「プレイヤー」から「育てる人」への転換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864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F8F89"/>
                </a:solidFill>
                <a:latin typeface="Yu Gothic"/>
              </a:rPr>
              <a:t>主任CM研修 / 主任ケアマネの実務とスーパービジョン技術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F8F89"/>
                </a:solidFill>
                <a:latin typeface="Yu Gothic"/>
              </a:rPr>
              <a:t>6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1304000" cy="360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000" y="1656000"/>
            <a:ext cx="2772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観点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6000" y="1656000"/>
            <a:ext cx="410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プレイヤー(担当CM)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78000" y="1656000"/>
            <a:ext cx="410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主任CM(育てる人)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1980000"/>
            <a:ext cx="11304000" cy="540000"/>
          </a:xfrm>
          <a:prstGeom prst="rect">
            <a:avLst/>
          </a:prstGeom>
          <a:solidFill>
            <a:srgbClr val="E5ECEB"/>
          </a:solidFill>
          <a:ln>
            <a:solidFill>
              <a:srgbClr val="D4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000" y="2034000"/>
            <a:ext cx="2772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1B4D4A"/>
                </a:solidFill>
                <a:latin typeface="Yu Gothic"/>
              </a:rPr>
              <a:t>成果の単位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6000" y="2034000"/>
            <a:ext cx="4104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自分の担当ケースの質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8000" y="2034000"/>
            <a:ext cx="4104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チーム・事業所全体の質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2520000"/>
            <a:ext cx="113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D4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000" y="2574000"/>
            <a:ext cx="2772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1B4D4A"/>
                </a:solidFill>
                <a:latin typeface="Yu Gothic"/>
              </a:rPr>
              <a:t>時間の使い方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6000" y="2574000"/>
            <a:ext cx="4104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自分の支援に集中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8000" y="2574000"/>
            <a:ext cx="4104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後輩に関わる時間を確保する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3060000"/>
            <a:ext cx="11304000" cy="540000"/>
          </a:xfrm>
          <a:prstGeom prst="rect">
            <a:avLst/>
          </a:prstGeom>
          <a:solidFill>
            <a:srgbClr val="E5ECEB"/>
          </a:solidFill>
          <a:ln>
            <a:solidFill>
              <a:srgbClr val="D4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6000" y="3114000"/>
            <a:ext cx="2772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1B4D4A"/>
                </a:solidFill>
                <a:latin typeface="Yu Gothic"/>
              </a:rPr>
              <a:t>困難事例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6000" y="3114000"/>
            <a:ext cx="4104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自分で抱えて解決する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8000" y="3114000"/>
            <a:ext cx="4104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後輩が対応できるよう支える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3600000"/>
            <a:ext cx="113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D4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000" y="3654000"/>
            <a:ext cx="2772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1B4D4A"/>
                </a:solidFill>
                <a:latin typeface="Yu Gothic"/>
              </a:rPr>
              <a:t>評価のものさし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66000" y="3654000"/>
            <a:ext cx="4104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利用者の満足・状態改善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78000" y="3654000"/>
            <a:ext cx="4104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後輩の成長・自立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4140000"/>
            <a:ext cx="11304000" cy="540000"/>
          </a:xfrm>
          <a:prstGeom prst="rect">
            <a:avLst/>
          </a:prstGeom>
          <a:solidFill>
            <a:srgbClr val="E5ECEB"/>
          </a:solidFill>
          <a:ln>
            <a:solidFill>
              <a:srgbClr val="D4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6000" y="4194000"/>
            <a:ext cx="2772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1B4D4A"/>
                </a:solidFill>
                <a:latin typeface="Yu Gothic"/>
              </a:rPr>
              <a:t>失敗への向き合い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66000" y="4194000"/>
            <a:ext cx="4104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自分のミスを正す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78000" y="4194000"/>
            <a:ext cx="4104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後輩の失敗を学びに変える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2000" y="4680000"/>
            <a:ext cx="113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D4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6000" y="4734000"/>
            <a:ext cx="2772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1B4D4A"/>
                </a:solidFill>
                <a:latin typeface="Yu Gothic"/>
              </a:rPr>
              <a:t>視野の範囲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66000" y="4734000"/>
            <a:ext cx="4104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事業所内・担当圏域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78000" y="4734000"/>
            <a:ext cx="4104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地域全体・制度・他機関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000" y="5148000"/>
            <a:ext cx="11304000" cy="3600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4000" y="51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意識転換のポイント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2000" y="5508000"/>
            <a:ext cx="11304000" cy="612000"/>
          </a:xfrm>
          <a:prstGeom prst="rect">
            <a:avLst/>
          </a:prstGeom>
          <a:solidFill>
            <a:srgbClr val="FB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0000" y="5544000"/>
            <a:ext cx="11088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「自分がやった方が早い」を手放す ― 後輩が経験する機会を奪わない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プレイヤーをやめるのではなく、「プレイヤーの背中を見せながら育てる」二刀流へ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主任CMの仕事の成果は「すぐには見えない」 ― 半年・1年の時間軸で考える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D96E2A"/>
                </a:solidFill>
                <a:latin typeface="Yu Gothic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Yu Gothic"/>
              </a:rPr>
              <a:t>スーパービジョン技術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4DCDA"/>
                </a:solidFill>
                <a:latin typeface="Yu Gothic"/>
              </a:rPr>
              <a:t>Supervision Skills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2. スーパービジョン技術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1B4D4A"/>
                </a:solidFill>
                <a:latin typeface="Yu Gothic"/>
              </a:rPr>
              <a:t>スーパービジョン(SV)とは何か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864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F8F89"/>
                </a:solidFill>
                <a:latin typeface="Yu Gothic"/>
              </a:rPr>
              <a:t>主任CM研修 / 主任ケアマネの実務とスーパービジョン技術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F8F89"/>
                </a:solidFill>
                <a:latin typeface="Yu Gothic"/>
              </a:rPr>
              <a:t>8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1304000" cy="360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65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定義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11304000" cy="828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11088000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経験ある専門職(スーパーバイザー)が、後進(スーパーバイジー)に対して、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支持的な関係性のもとで行う、専門職としての成長を支える継続的な過程。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「指導」「管理」とは異なり、バイジー自身の気づきと力を引き出すことが目的。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988000"/>
            <a:ext cx="5580000" cy="360000"/>
          </a:xfrm>
          <a:prstGeom prst="rect">
            <a:avLst/>
          </a:prstGeom>
          <a:solidFill>
            <a:srgbClr val="5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000" y="3024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SVであるもの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348000"/>
            <a:ext cx="5580000" cy="2700000"/>
          </a:xfrm>
          <a:prstGeom prst="rect">
            <a:avLst/>
          </a:prstGeom>
          <a:solidFill>
            <a:srgbClr val="E6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3384000"/>
            <a:ext cx="5364000" cy="26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バイジーの実践を一緒に振り返る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問いかけを通じて気づきを促す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バイジーの感情を受けとめる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専門職としての枠組みを共有する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継続的・定期的に行われる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守秘義務と安心感が前提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2988000"/>
            <a:ext cx="5400000" cy="360000"/>
          </a:xfrm>
          <a:prstGeom prst="rect">
            <a:avLst/>
          </a:prstGeom>
          <a:solidFill>
            <a:srgbClr val="C0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2000" y="3024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SVでないもの(混同しやすい)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3348000"/>
            <a:ext cx="5400000" cy="2700000"/>
          </a:xfrm>
          <a:prstGeom prst="rect">
            <a:avLst/>
          </a:prstGeom>
          <a:solidFill>
            <a:srgbClr val="FA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8000" y="3384000"/>
            <a:ext cx="5184000" cy="26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業務指示・命令(=マネジメント)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ケースの肩代わり(=代行)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一方的な助言・正解の提示(=ティーチング)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評価・査定のための面談(=人事考課)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カウンセリング(=治療的関わり)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▶ 重なる部分はあるが、目的が異なる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2. スーパービジョン技術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1B4D4A"/>
                </a:solidFill>
                <a:latin typeface="Yu Gothic"/>
              </a:rPr>
              <a:t>スーパービジョンの 3 つの機能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864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F8F89"/>
                </a:solidFill>
                <a:latin typeface="Yu Gothic"/>
              </a:rPr>
              <a:t>主任CM研修 / 主任ケアマネの実務とスーパービジョン技術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F8F89"/>
                </a:solidFill>
                <a:latin typeface="Yu Gothic"/>
              </a:rPr>
              <a:t>9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061" y="1620000"/>
            <a:ext cx="3671999" cy="648000"/>
          </a:xfrm>
          <a:prstGeom prst="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061" y="1692000"/>
            <a:ext cx="3527999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Yu Gothic"/>
              </a:rPr>
              <a:t>管理的機能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061" y="2016000"/>
            <a:ext cx="3527999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Yu Gothic"/>
              </a:rPr>
              <a:t>Administrative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061" y="2268000"/>
            <a:ext cx="3671999" cy="2592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8061" y="2412000"/>
            <a:ext cx="3383999" cy="23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23837"/>
                </a:solidFill>
                <a:latin typeface="Yu Gothic"/>
              </a:rPr>
              <a:t>・業務が適切に行われているか確認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23837"/>
                </a:solidFill>
                <a:latin typeface="Yu Gothic"/>
              </a:rPr>
              <a:t>・記録・手続きの質の担保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23837"/>
                </a:solidFill>
                <a:latin typeface="Yu Gothic"/>
              </a:rPr>
              <a:t>・業務量・負荷の調整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23837"/>
                </a:solidFill>
                <a:latin typeface="Yu Gothic"/>
              </a:rPr>
              <a:t>・組織のルールとの橋渡し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0060" y="1620000"/>
            <a:ext cx="3671999" cy="6480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2060" y="1692000"/>
            <a:ext cx="3527999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Yu Gothic"/>
              </a:rPr>
              <a:t>教育的機能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060" y="2016000"/>
            <a:ext cx="3527999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Yu Gothic"/>
              </a:rPr>
              <a:t>Educational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0060" y="2268000"/>
            <a:ext cx="3671999" cy="2592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4060" y="2412000"/>
            <a:ext cx="3383999" cy="23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23837"/>
                </a:solidFill>
                <a:latin typeface="Yu Gothic"/>
              </a:rPr>
              <a:t>・専門知識・技術の伝達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23837"/>
                </a:solidFill>
                <a:latin typeface="Yu Gothic"/>
              </a:rPr>
              <a:t>・アセスメント力・判断力の育成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23837"/>
                </a:solidFill>
                <a:latin typeface="Yu Gothic"/>
              </a:rPr>
              <a:t>・実践の振り返りと意味づけ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23837"/>
                </a:solidFill>
                <a:latin typeface="Yu Gothic"/>
              </a:rPr>
              <a:t>・「考え方」を育てる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76059" y="1620000"/>
            <a:ext cx="3671999" cy="648000"/>
          </a:xfrm>
          <a:prstGeom prst="rect">
            <a:avLst/>
          </a:prstGeom>
          <a:solidFill>
            <a:srgbClr val="5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8059" y="1692000"/>
            <a:ext cx="3527999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Yu Gothic"/>
              </a:rPr>
              <a:t>支持的機能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8059" y="2016000"/>
            <a:ext cx="3527999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Yu Gothic"/>
              </a:rPr>
              <a:t>Supportive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76059" y="2268000"/>
            <a:ext cx="3671999" cy="2592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059" y="2412000"/>
            <a:ext cx="3383999" cy="23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23837"/>
                </a:solidFill>
                <a:latin typeface="Yu Gothic"/>
              </a:rPr>
              <a:t>・感情面のサポート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23837"/>
                </a:solidFill>
                <a:latin typeface="Yu Gothic"/>
              </a:rPr>
              <a:t>・バーンアウトの予防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23837"/>
                </a:solidFill>
                <a:latin typeface="Yu Gothic"/>
              </a:rPr>
              <a:t>・孤立感の解消・安心感の提供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23837"/>
                </a:solidFill>
                <a:latin typeface="Yu Gothic"/>
              </a:rPr>
              <a:t>・モチベーションの維持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000" y="5220000"/>
            <a:ext cx="11304000" cy="360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4000" y="525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3機能のバランス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000" y="5580000"/>
            <a:ext cx="11304000" cy="612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0000" y="5616000"/>
            <a:ext cx="11088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どれか1つに偏らない ― 「管理」だけだと萎縮し、「支持」だけだと成長しない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バイジーの状態に応じて重心を変える(疲弊時は支持を、停滞時は教育を厚く)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評価と支援を同じ人が担う難しさを自覚する ― 「査定」と「育成」の場面を分ける工夫を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2. スーパービジョン技術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1B4D4A"/>
                </a:solidFill>
                <a:latin typeface="Yu Gothic"/>
              </a:rPr>
              <a:t>SVの形態 ― 個人・グループ・ピア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864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F8F89"/>
                </a:solidFill>
                <a:latin typeface="Yu Gothic"/>
              </a:rPr>
              <a:t>主任CM研修 / 主任ケアマネの実務とスーパービジョン技術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F8F89"/>
                </a:solidFill>
                <a:latin typeface="Yu Gothic"/>
              </a:rPr>
              <a:t>10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1303998" cy="360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000" y="1656000"/>
            <a:ext cx="2232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形態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6000" y="1656000"/>
            <a:ext cx="3023999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特徴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57999" y="1656000"/>
            <a:ext cx="3023999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向いている場面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89998" y="1656000"/>
            <a:ext cx="2592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主任CMの留意点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1980000"/>
            <a:ext cx="11303998" cy="864000"/>
          </a:xfrm>
          <a:prstGeom prst="rect">
            <a:avLst/>
          </a:prstGeom>
          <a:solidFill>
            <a:srgbClr val="E5ECEB"/>
          </a:solidFill>
          <a:ln>
            <a:solidFill>
              <a:srgbClr val="D4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000" y="2034000"/>
            <a:ext cx="2232000" cy="75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D96E2A"/>
                </a:solidFill>
                <a:latin typeface="Yu Gothic"/>
              </a:rPr>
              <a:t>個人SV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26000" y="2034000"/>
            <a:ext cx="3023999" cy="75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1対1。深く掘り下げ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られる。関係性が密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57999" y="2034000"/>
            <a:ext cx="3023999" cy="75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新人の育成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困難事例の振り返り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感情面のケア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9998" y="2034000"/>
            <a:ext cx="2592000" cy="75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1対1ゆえの圧を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和らげる。安心の場に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2844000"/>
            <a:ext cx="11303998" cy="864000"/>
          </a:xfrm>
          <a:prstGeom prst="rect">
            <a:avLst/>
          </a:prstGeom>
          <a:solidFill>
            <a:srgbClr val="FFFFFF"/>
          </a:solidFill>
          <a:ln>
            <a:solidFill>
              <a:srgbClr val="D4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000" y="2898000"/>
            <a:ext cx="2232000" cy="75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D96E2A"/>
                </a:solidFill>
                <a:latin typeface="Yu Gothic"/>
              </a:rPr>
              <a:t>グループSV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26000" y="2898000"/>
            <a:ext cx="3023999" cy="75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複数バイジー。多様な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視点・相互学習が起きる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57999" y="2898000"/>
            <a:ext cx="3023999" cy="75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事例検討会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テーマ別の学び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経験者の学び合い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998" y="2898000"/>
            <a:ext cx="2592000" cy="75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発言の偏りを防ぐ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心理的安全性の確保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000" y="3708000"/>
            <a:ext cx="11303998" cy="864000"/>
          </a:xfrm>
          <a:prstGeom prst="rect">
            <a:avLst/>
          </a:prstGeom>
          <a:solidFill>
            <a:srgbClr val="E5ECEB"/>
          </a:solidFill>
          <a:ln>
            <a:solidFill>
              <a:srgbClr val="D4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000" y="3762000"/>
            <a:ext cx="2232000" cy="75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D96E2A"/>
                </a:solidFill>
                <a:latin typeface="Yu Gothic"/>
              </a:rPr>
              <a:t>ピアSV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26000" y="3762000"/>
            <a:ext cx="3023999" cy="75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同僚同士で対等に。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バイザーは固定しない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57999" y="3762000"/>
            <a:ext cx="3023999" cy="75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中堅同士の学び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孤立しがちな一人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ケアマネの支え合い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89998" y="3762000"/>
            <a:ext cx="2592000" cy="75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脱線・愚痴大会に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ならない構造づくり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4572000"/>
            <a:ext cx="11303998" cy="864000"/>
          </a:xfrm>
          <a:prstGeom prst="rect">
            <a:avLst/>
          </a:prstGeom>
          <a:solidFill>
            <a:srgbClr val="FFFFFF"/>
          </a:solidFill>
          <a:ln>
            <a:solidFill>
              <a:srgbClr val="D4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6000" y="4626000"/>
            <a:ext cx="2232000" cy="75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D96E2A"/>
                </a:solidFill>
                <a:latin typeface="Yu Gothic"/>
              </a:rPr>
              <a:t>ライブSV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26000" y="4626000"/>
            <a:ext cx="3023999" cy="75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面接・訪問に同席し、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その場で振り返る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57999" y="4626000"/>
            <a:ext cx="3023999" cy="75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実践技術の伝達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同行訪問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初期の育成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998" y="4626000"/>
            <a:ext cx="2592000" cy="75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利用者への配慮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後で必ず振り返る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2000" y="5760000"/>
            <a:ext cx="11328119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1B4D4A"/>
                </a:solidFill>
                <a:latin typeface="Yu Gothic"/>
              </a:rPr>
              <a:t>▶ 形態は組み合わせて使う。事業所の規模・人員に応じて現実的な仕組みを設計する。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2. スーパービジョン技術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1B4D4A"/>
                </a:solidFill>
                <a:latin typeface="Yu Gothic"/>
              </a:rPr>
              <a:t>SVセッションの基本プロセス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864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F8F89"/>
                </a:solidFill>
                <a:latin typeface="Yu Gothic"/>
              </a:rPr>
              <a:t>主任CM研修 / 主任ケアマネの実務とスーパービジョン技術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F8F89"/>
                </a:solidFill>
                <a:latin typeface="Yu Gothic"/>
              </a:rPr>
              <a:t>11 / 37</a:t>
            </a:r>
          </a:p>
        </p:txBody>
      </p:sp>
      <p:sp>
        <p:nvSpPr>
          <p:cNvPr id="8" name="Oval 7"/>
          <p:cNvSpPr/>
          <p:nvPr/>
        </p:nvSpPr>
        <p:spPr>
          <a:xfrm>
            <a:off x="540000" y="1764000"/>
            <a:ext cx="468000" cy="468000"/>
          </a:xfrm>
          <a:prstGeom prst="ellipse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24000" y="1620000"/>
            <a:ext cx="2160000" cy="756000"/>
          </a:xfrm>
          <a:prstGeom prst="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24000" y="1620000"/>
            <a:ext cx="2160000" cy="75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場をつくる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4000" y="1620000"/>
            <a:ext cx="8376119" cy="756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8000" y="1674000"/>
            <a:ext cx="816012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・守秘義務と安心感を確認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・今日扱うテーマを合意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・評価の場ではないと伝える</a:t>
            </a:r>
          </a:p>
        </p:txBody>
      </p:sp>
      <p:sp>
        <p:nvSpPr>
          <p:cNvPr id="13" name="Oval 12"/>
          <p:cNvSpPr/>
          <p:nvPr/>
        </p:nvSpPr>
        <p:spPr>
          <a:xfrm>
            <a:off x="540000" y="2628000"/>
            <a:ext cx="468000" cy="468000"/>
          </a:xfrm>
          <a:prstGeom prst="ellipse">
            <a:avLst/>
          </a:prstGeom>
          <a:solidFill>
            <a:srgbClr val="4F8F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24000" y="2484000"/>
            <a:ext cx="2160000" cy="756000"/>
          </a:xfrm>
          <a:prstGeom prst="rect">
            <a:avLst/>
          </a:prstGeom>
          <a:solidFill>
            <a:srgbClr val="4F8F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24000" y="2484000"/>
            <a:ext cx="2160000" cy="75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語ってもらう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4000" y="2484000"/>
            <a:ext cx="8376119" cy="756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8000" y="2538000"/>
            <a:ext cx="816012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・バイジーに事例・状況を語らせる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・遮らず、最後まで聴く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・事実と感情の両方を受けとめる</a:t>
            </a:r>
          </a:p>
        </p:txBody>
      </p:sp>
      <p:sp>
        <p:nvSpPr>
          <p:cNvPr id="18" name="Oval 17"/>
          <p:cNvSpPr/>
          <p:nvPr/>
        </p:nvSpPr>
        <p:spPr>
          <a:xfrm>
            <a:off x="540000" y="3492000"/>
            <a:ext cx="468000" cy="468000"/>
          </a:xfrm>
          <a:prstGeom prst="ellipse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24000" y="3348000"/>
            <a:ext cx="2160000" cy="7560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24000" y="3348000"/>
            <a:ext cx="2160000" cy="75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問いかけ・掘り下げる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4000" y="3348000"/>
            <a:ext cx="8376119" cy="756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8000" y="3402000"/>
            <a:ext cx="816012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・「そのとき何を考えた?」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・「他にどんな見方ができる?」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・批判せず、一緒に考える</a:t>
            </a:r>
          </a:p>
        </p:txBody>
      </p:sp>
      <p:sp>
        <p:nvSpPr>
          <p:cNvPr id="23" name="Oval 22"/>
          <p:cNvSpPr/>
          <p:nvPr/>
        </p:nvSpPr>
        <p:spPr>
          <a:xfrm>
            <a:off x="540000" y="4356000"/>
            <a:ext cx="468000" cy="468000"/>
          </a:xfrm>
          <a:prstGeom prst="ellipse">
            <a:avLst/>
          </a:prstGeom>
          <a:solidFill>
            <a:srgbClr val="5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24000" y="4212000"/>
            <a:ext cx="2160000" cy="756000"/>
          </a:xfrm>
          <a:prstGeom prst="rect">
            <a:avLst/>
          </a:prstGeom>
          <a:solidFill>
            <a:srgbClr val="5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24000" y="4212000"/>
            <a:ext cx="2160000" cy="75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気づきを整理する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4000" y="4212000"/>
            <a:ext cx="8376119" cy="756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8000" y="4266000"/>
            <a:ext cx="816012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・バイジー自身の言葉でまとめる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・うまくいった点も必ず確認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・次の一歩を具体化する</a:t>
            </a:r>
          </a:p>
        </p:txBody>
      </p:sp>
      <p:sp>
        <p:nvSpPr>
          <p:cNvPr id="28" name="Oval 27"/>
          <p:cNvSpPr/>
          <p:nvPr/>
        </p:nvSpPr>
        <p:spPr>
          <a:xfrm>
            <a:off x="540000" y="5220000"/>
            <a:ext cx="468000" cy="468000"/>
          </a:xfrm>
          <a:prstGeom prst="ellipse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24000" y="5076000"/>
            <a:ext cx="2160000" cy="7560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24000" y="5076000"/>
            <a:ext cx="2160000" cy="75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ふりかえる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4000" y="5076000"/>
            <a:ext cx="8376119" cy="756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8000" y="5130000"/>
            <a:ext cx="816012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・セッション自体を振り返る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・次回テーマを確認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・ねぎらいで終える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2000" y="6012000"/>
            <a:ext cx="11328119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D96E2A"/>
                </a:solidFill>
                <a:latin typeface="Yu Gothic"/>
              </a:rPr>
              <a:t>▶ 「教える」ステップがないことに注目。主役はバイジー、バイザーは伴走者。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2. スーパービジョン技術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1B4D4A"/>
                </a:solidFill>
                <a:latin typeface="Yu Gothic"/>
              </a:rPr>
              <a:t>気づきを促す問いかけの技術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864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F8F89"/>
                </a:solidFill>
                <a:latin typeface="Yu Gothic"/>
              </a:rPr>
              <a:t>主任CM研修 / 主任ケアマネの実務とスーパービジョン技術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F8F89"/>
                </a:solidFill>
                <a:latin typeface="Yu Gothic"/>
              </a:rPr>
              <a:t>12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5580000" cy="360000"/>
          </a:xfrm>
          <a:prstGeom prst="rect">
            <a:avLst/>
          </a:prstGeom>
          <a:solidFill>
            <a:srgbClr val="5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開かれた質問(オープン・クエスチョン)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5580000" cy="1908000"/>
          </a:xfrm>
          <a:prstGeom prst="rect">
            <a:avLst/>
          </a:prstGeom>
          <a:solidFill>
            <a:srgbClr val="E6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5364000" cy="18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「はい/いいえ」で終わらない問い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例: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  ・「そのとき、どう感じましたか?」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  ・「何が一番気がかりですか?」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  ・「他にどんな選択肢がありそう?」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  ・「もし時間を戻せたら、どうしますか?」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▶ 考えを広げ、深める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548000"/>
            <a:ext cx="5400000" cy="360000"/>
          </a:xfrm>
          <a:prstGeom prst="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2000" y="1584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閉じた質問(クローズド・クエスチョン)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000" y="1908000"/>
            <a:ext cx="5400000" cy="1908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8000" y="1944000"/>
            <a:ext cx="5184000" cy="18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事実確認・焦点化に有効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例: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  ・「訪問は何回行いましたか?」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  ・「家族には伝えましたか?」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使いどころ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  ・話が拡散したとき焦点を絞る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  ・事実関係を整理するとき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▶ 多用すると「尋問」になるので注意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3960000"/>
            <a:ext cx="11304000" cy="360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000" y="399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そのほかの技法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4320000"/>
            <a:ext cx="11304000" cy="1800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00" y="4356000"/>
            <a:ext cx="11088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反映(リフレクション):バイジーの言葉を返す 「『つらかった』と感じたのですね」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言い換え(パラフレーズ):要点を整理して返す 「つまり、家族との板挟みだった、と」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沈黙を待つ:すぐ答えを埋めない。考える時間を奪わない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承認・ねぎらい:「よく抱えましたね」「その判断は妥当だったと思います」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焦点化:「いま一番話したいのはどの点ですか?」と一緒に絞る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直面化(慎重に):矛盾や避けている点を、責めずに示す 「さっきと少し違って聞こえました」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2. スーパービジョン技術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1B4D4A"/>
                </a:solidFill>
                <a:latin typeface="Yu Gothic"/>
              </a:rPr>
              <a:t>SVでやってはいけないこと ― よくある失敗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864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F8F89"/>
                </a:solidFill>
                <a:latin typeface="Yu Gothic"/>
              </a:rPr>
              <a:t>主任CM研修 / 主任ケアマネの実務とスーパービジョン技術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F8F89"/>
                </a:solidFill>
                <a:latin typeface="Yu Gothic"/>
              </a:rPr>
              <a:t>13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5580000" cy="360000"/>
          </a:xfrm>
          <a:prstGeom prst="rect">
            <a:avLst/>
          </a:prstGeom>
          <a:solidFill>
            <a:srgbClr val="C0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000" y="1656000"/>
            <a:ext cx="522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NG  答えをすぐ与える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5580000" cy="972000"/>
          </a:xfrm>
          <a:prstGeom prst="rect">
            <a:avLst/>
          </a:prstGeom>
          <a:solidFill>
            <a:srgbClr val="FA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000" y="2052000"/>
            <a:ext cx="5220000" cy="828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バイジーが考える前に「こうすればいい」と正解を出す。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→ 自分で考える力が育たず、依存を生む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6000" y="1620000"/>
            <a:ext cx="5580000" cy="360000"/>
          </a:xfrm>
          <a:prstGeom prst="rect">
            <a:avLst/>
          </a:prstGeom>
          <a:solidFill>
            <a:srgbClr val="C0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000" y="1656000"/>
            <a:ext cx="522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NG  詰問・尋問になる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6000" y="1980000"/>
            <a:ext cx="5580000" cy="972000"/>
          </a:xfrm>
          <a:prstGeom prst="rect">
            <a:avLst/>
          </a:prstGeom>
          <a:solidFill>
            <a:srgbClr val="FA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000" y="2052000"/>
            <a:ext cx="5220000" cy="828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「なぜやらなかった?」と問い詰める。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→ 萎縮し、本当のことを語らなくなる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3060000"/>
            <a:ext cx="5580000" cy="360000"/>
          </a:xfrm>
          <a:prstGeom prst="rect">
            <a:avLst/>
          </a:prstGeom>
          <a:solidFill>
            <a:srgbClr val="C0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000" y="3096000"/>
            <a:ext cx="522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NG  自分の経験談に終始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3420000"/>
            <a:ext cx="5580000" cy="972000"/>
          </a:xfrm>
          <a:prstGeom prst="rect">
            <a:avLst/>
          </a:prstGeom>
          <a:solidFill>
            <a:srgbClr val="FA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000" y="3492000"/>
            <a:ext cx="5220000" cy="828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「私のときはこうだった」と自分語りが中心に。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→ バイジーの状況に合わず、置いていかれる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6000" y="3060000"/>
            <a:ext cx="5580000" cy="360000"/>
          </a:xfrm>
          <a:prstGeom prst="rect">
            <a:avLst/>
          </a:prstGeom>
          <a:solidFill>
            <a:srgbClr val="C0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000" y="3096000"/>
            <a:ext cx="522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NG  評価とSVを混同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6000" y="3420000"/>
            <a:ext cx="5580000" cy="972000"/>
          </a:xfrm>
          <a:prstGeom prst="rect">
            <a:avLst/>
          </a:prstGeom>
          <a:solidFill>
            <a:srgbClr val="FA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000" y="3492000"/>
            <a:ext cx="5220000" cy="828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支援の場のはずが査定のように感じさせる。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→ 安心して弱みを出せなくなる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4500000"/>
            <a:ext cx="5580000" cy="360000"/>
          </a:xfrm>
          <a:prstGeom prst="rect">
            <a:avLst/>
          </a:prstGeom>
          <a:solidFill>
            <a:srgbClr val="C0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000" y="4536000"/>
            <a:ext cx="522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NG  感情を扱わない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000" y="4860000"/>
            <a:ext cx="5580000" cy="972000"/>
          </a:xfrm>
          <a:prstGeom prst="rect">
            <a:avLst/>
          </a:prstGeom>
          <a:solidFill>
            <a:srgbClr val="FA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000" y="4932000"/>
            <a:ext cx="5220000" cy="828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事実・手続きだけを確認し、つらさを素通り。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→ 支持的機能が働かず、孤立感が残る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56000" y="4500000"/>
            <a:ext cx="5580000" cy="360000"/>
          </a:xfrm>
          <a:prstGeom prst="rect">
            <a:avLst/>
          </a:prstGeom>
          <a:solidFill>
            <a:srgbClr val="C0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000" y="4536000"/>
            <a:ext cx="522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NG  時間・場の不在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6000" y="4860000"/>
            <a:ext cx="5580000" cy="972000"/>
          </a:xfrm>
          <a:prstGeom prst="rect">
            <a:avLst/>
          </a:prstGeom>
          <a:solidFill>
            <a:srgbClr val="FA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000" y="4932000"/>
            <a:ext cx="5220000" cy="828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「いつでも相談して」で終わり、定例の場がない。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→ SVが偶発的になり、機能しない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2. スーパービジョン技術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1B4D4A"/>
                </a:solidFill>
                <a:latin typeface="Yu Gothic"/>
              </a:rPr>
              <a:t>スーパーバイザー自身の自己点検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864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F8F89"/>
                </a:solidFill>
                <a:latin typeface="Yu Gothic"/>
              </a:rPr>
              <a:t>主任CM研修 / 主任ケアマネの実務とスーパービジョン技術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F8F89"/>
                </a:solidFill>
                <a:latin typeface="Yu Gothic"/>
              </a:rPr>
              <a:t>14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1304000" cy="360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65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バイザーも完璧ではない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11304000" cy="612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11088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バイザー自身が悩み、迷い、感情に揺れる存在であることを認める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「自分も学び続ける一人」という姿勢が、バイジーの安心につながる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772000"/>
            <a:ext cx="11304000" cy="468000"/>
          </a:xfrm>
          <a:prstGeom prst="rect">
            <a:avLst/>
          </a:prstGeom>
          <a:solidFill>
            <a:srgbClr val="E5ECEB"/>
          </a:solidFill>
          <a:ln>
            <a:solidFill>
              <a:srgbClr val="D4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00" y="2880000"/>
            <a:ext cx="251999" cy="251999"/>
          </a:xfrm>
          <a:prstGeom prst="rect">
            <a:avLst/>
          </a:prstGeom>
          <a:solidFill>
            <a:srgbClr val="FFFFFF"/>
          </a:solidFill>
          <a:ln>
            <a:solidFill>
              <a:srgbClr val="1B4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2000" y="2826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自分の価値観を、バイジーに押しつけていないか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3275999"/>
            <a:ext cx="11304000" cy="468000"/>
          </a:xfrm>
          <a:prstGeom prst="rect">
            <a:avLst/>
          </a:prstGeom>
          <a:solidFill>
            <a:srgbClr val="FFFFFF"/>
          </a:solidFill>
          <a:ln>
            <a:solidFill>
              <a:srgbClr val="D4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6000" y="3383999"/>
            <a:ext cx="251999" cy="251999"/>
          </a:xfrm>
          <a:prstGeom prst="rect">
            <a:avLst/>
          </a:prstGeom>
          <a:solidFill>
            <a:srgbClr val="FFFFFF"/>
          </a:solidFill>
          <a:ln>
            <a:solidFill>
              <a:srgbClr val="1B4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2000" y="3329999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「教えたい」気持ちが先走り、聴くことを忘れていないか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3779998"/>
            <a:ext cx="11304000" cy="468000"/>
          </a:xfrm>
          <a:prstGeom prst="rect">
            <a:avLst/>
          </a:prstGeom>
          <a:solidFill>
            <a:srgbClr val="E5ECEB"/>
          </a:solidFill>
          <a:ln>
            <a:solidFill>
              <a:srgbClr val="D4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6000" y="3887998"/>
            <a:ext cx="251999" cy="251999"/>
          </a:xfrm>
          <a:prstGeom prst="rect">
            <a:avLst/>
          </a:prstGeom>
          <a:solidFill>
            <a:srgbClr val="FFFFFF"/>
          </a:solidFill>
          <a:ln>
            <a:solidFill>
              <a:srgbClr val="1B4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2000" y="3833998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バイジーの成長を、自分の手柄にしようとしていないか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" y="4283997"/>
            <a:ext cx="11304000" cy="468000"/>
          </a:xfrm>
          <a:prstGeom prst="rect">
            <a:avLst/>
          </a:prstGeom>
          <a:solidFill>
            <a:srgbClr val="FFFFFF"/>
          </a:solidFill>
          <a:ln>
            <a:solidFill>
              <a:srgbClr val="D4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6000" y="4391997"/>
            <a:ext cx="251999" cy="251999"/>
          </a:xfrm>
          <a:prstGeom prst="rect">
            <a:avLst/>
          </a:prstGeom>
          <a:solidFill>
            <a:srgbClr val="FFFFFF"/>
          </a:solidFill>
          <a:ln>
            <a:solidFill>
              <a:srgbClr val="1B4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000" y="4337997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苦手なバイジーに対して、関わりが薄くなっていないか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4787996"/>
            <a:ext cx="11304000" cy="468000"/>
          </a:xfrm>
          <a:prstGeom prst="rect">
            <a:avLst/>
          </a:prstGeom>
          <a:solidFill>
            <a:srgbClr val="E5ECEB"/>
          </a:solidFill>
          <a:ln>
            <a:solidFill>
              <a:srgbClr val="D4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00" y="4895996"/>
            <a:ext cx="251999" cy="251999"/>
          </a:xfrm>
          <a:prstGeom prst="rect">
            <a:avLst/>
          </a:prstGeom>
          <a:solidFill>
            <a:srgbClr val="FFFFFF"/>
          </a:solidFill>
          <a:ln>
            <a:solidFill>
              <a:srgbClr val="1B4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2000" y="4841996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自分自身がSV・相談を受けられる場を持っているか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000" y="5291995"/>
            <a:ext cx="11304000" cy="468000"/>
          </a:xfrm>
          <a:prstGeom prst="rect">
            <a:avLst/>
          </a:prstGeom>
          <a:solidFill>
            <a:srgbClr val="FFFFFF"/>
          </a:solidFill>
          <a:ln>
            <a:solidFill>
              <a:srgbClr val="D4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6000" y="5399995"/>
            <a:ext cx="251999" cy="251999"/>
          </a:xfrm>
          <a:prstGeom prst="rect">
            <a:avLst/>
          </a:prstGeom>
          <a:solidFill>
            <a:srgbClr val="FFFFFF"/>
          </a:solidFill>
          <a:ln>
            <a:solidFill>
              <a:srgbClr val="1B4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2000" y="5345995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セッション後、自分の関わりを振り返っているか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000" y="5940000"/>
            <a:ext cx="11328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D96E2A"/>
                </a:solidFill>
                <a:latin typeface="Yu Gothic"/>
              </a:rPr>
              <a:t>▶ 「バイザーへのSV(=SVのSV)」を、地域の主任CM同士で持ち合う発想も大切。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D96E2A"/>
                </a:solidFill>
                <a:latin typeface="Yu Gothic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Yu Gothic"/>
              </a:rPr>
              <a:t>後輩CM指導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4DCDA"/>
                </a:solidFill>
                <a:latin typeface="Yu Gothic"/>
              </a:rPr>
              <a:t>Mentoring Junior Care Managers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3. 後輩CM指導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1B4D4A"/>
                </a:solidFill>
                <a:latin typeface="Yu Gothic"/>
              </a:rPr>
              <a:t>成長段階に応じた関わり方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864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F8F89"/>
                </a:solidFill>
                <a:latin typeface="Yu Gothic"/>
              </a:rPr>
              <a:t>主任CM研修 / 主任ケアマネの実務とスーパービジョン技術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F8F89"/>
                </a:solidFill>
                <a:latin typeface="Yu Gothic"/>
              </a:rPr>
              <a:t>16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1664000" cy="360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000" y="1656000"/>
            <a:ext cx="2052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段階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6000" y="1656000"/>
            <a:ext cx="3132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状態・特徴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86000" y="1656000"/>
            <a:ext cx="3132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つまずきやすい点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26000" y="1656000"/>
            <a:ext cx="291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主任CMの関わり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1980000"/>
            <a:ext cx="11664000" cy="827999"/>
          </a:xfrm>
          <a:prstGeom prst="rect">
            <a:avLst/>
          </a:prstGeom>
          <a:solidFill>
            <a:srgbClr val="E5ECEB"/>
          </a:solidFill>
          <a:ln>
            <a:solidFill>
              <a:srgbClr val="D4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000" y="2034000"/>
            <a:ext cx="2052000" cy="719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D96E2A"/>
                </a:solidFill>
                <a:latin typeface="Yu Gothic"/>
              </a:rPr>
              <a:t>新人期</a:t>
            </a:r>
          </a:p>
          <a:p>
            <a:pPr algn="ctr"/>
            <a:r>
              <a:rPr sz="1100" b="1" i="0">
                <a:solidFill>
                  <a:srgbClr val="D96E2A"/>
                </a:solidFill>
                <a:latin typeface="Yu Gothic"/>
              </a:rPr>
              <a:t>(〜1年)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6000" y="2034000"/>
            <a:ext cx="3132000" cy="719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制度・手続きの習得期。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不安が大きい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86000" y="2034000"/>
            <a:ext cx="3132000" cy="719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書類・期限の管理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何が分からないか不明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6000" y="2034000"/>
            <a:ext cx="2916000" cy="719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丁寧な同行・確認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安心の土台づくり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2807999"/>
            <a:ext cx="11664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D4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000" y="2861999"/>
            <a:ext cx="2052000" cy="719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D96E2A"/>
                </a:solidFill>
                <a:latin typeface="Yu Gothic"/>
              </a:rPr>
              <a:t>習熟期</a:t>
            </a:r>
          </a:p>
          <a:p>
            <a:pPr algn="ctr"/>
            <a:r>
              <a:rPr sz="1100" b="1" i="0">
                <a:solidFill>
                  <a:srgbClr val="D96E2A"/>
                </a:solidFill>
                <a:latin typeface="Yu Gothic"/>
              </a:rPr>
              <a:t>(1〜3年)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46000" y="2861999"/>
            <a:ext cx="3132000" cy="719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一通りこなせる。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自己流が出始める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86000" y="2861999"/>
            <a:ext cx="3132000" cy="719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アセスメントの浅さ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困難事例で行き詰まる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6000" y="2861999"/>
            <a:ext cx="2916000" cy="719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問いかけ中心のSV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視野を広げる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000" y="3635998"/>
            <a:ext cx="11664000" cy="827999"/>
          </a:xfrm>
          <a:prstGeom prst="rect">
            <a:avLst/>
          </a:prstGeom>
          <a:solidFill>
            <a:srgbClr val="E5ECEB"/>
          </a:solidFill>
          <a:ln>
            <a:solidFill>
              <a:srgbClr val="D4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000" y="3689998"/>
            <a:ext cx="2052000" cy="719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D96E2A"/>
                </a:solidFill>
                <a:latin typeface="Yu Gothic"/>
              </a:rPr>
              <a:t>中堅期</a:t>
            </a:r>
          </a:p>
          <a:p>
            <a:pPr algn="ctr"/>
            <a:r>
              <a:rPr sz="1100" b="1" i="0">
                <a:solidFill>
                  <a:srgbClr val="D96E2A"/>
                </a:solidFill>
                <a:latin typeface="Yu Gothic"/>
              </a:rPr>
              <a:t>(3〜7年)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46000" y="3689998"/>
            <a:ext cx="3132000" cy="719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自立して動ける。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マンネリ・燃え尽きも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86000" y="3689998"/>
            <a:ext cx="3132000" cy="719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成長実感の停滞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後輩指導の負担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6000" y="3689998"/>
            <a:ext cx="2916000" cy="719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新たな役割の付与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ピアSVへの橋渡し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4463997"/>
            <a:ext cx="11664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D4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6000" y="4517997"/>
            <a:ext cx="2052000" cy="719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D96E2A"/>
                </a:solidFill>
                <a:latin typeface="Yu Gothic"/>
              </a:rPr>
              <a:t>指導者期</a:t>
            </a:r>
          </a:p>
          <a:p>
            <a:pPr algn="ctr"/>
            <a:r>
              <a:rPr sz="1100" b="1" i="0">
                <a:solidFill>
                  <a:srgbClr val="D96E2A"/>
                </a:solidFill>
                <a:latin typeface="Yu Gothic"/>
              </a:rPr>
              <a:t>(7年〜)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46000" y="4517997"/>
            <a:ext cx="3132000" cy="719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後輩を育てる側へ。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主任研修の対象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86000" y="4517997"/>
            <a:ext cx="3132000" cy="719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育成スキルの不足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自分の学びの停滞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26000" y="4517997"/>
            <a:ext cx="2916000" cy="719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育成の伴走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地域活動への誘い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000" y="5508000"/>
            <a:ext cx="11304000" cy="3600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4000" y="554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原則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2000" y="5868000"/>
            <a:ext cx="11304000" cy="432000"/>
          </a:xfrm>
          <a:prstGeom prst="rect">
            <a:avLst/>
          </a:prstGeom>
          <a:solidFill>
            <a:srgbClr val="FB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0" y="5904000"/>
            <a:ext cx="11088000" cy="39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同じ「指導」でも、新人には支持を厚く、中堅には問いを多く ― 段階で重心を変える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年数はあくまで目安。一人ひとりの実際の状態を見て関わる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3. 後輩CM指導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1B4D4A"/>
                </a:solidFill>
                <a:latin typeface="Yu Gothic"/>
              </a:rPr>
              <a:t>OJTの設計 ― 「見て覚えろ」を卒業する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864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F8F89"/>
                </a:solidFill>
                <a:latin typeface="Yu Gothic"/>
              </a:rPr>
              <a:t>主任CM研修 / 主任ケアマネの実務とスーパービジョン技術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F8F89"/>
                </a:solidFill>
                <a:latin typeface="Yu Gothic"/>
              </a:rPr>
              <a:t>17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5580000" cy="360000"/>
          </a:xfrm>
          <a:prstGeom prst="rect">
            <a:avLst/>
          </a:prstGeom>
          <a:solidFill>
            <a:srgbClr val="C0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656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OJTが機能しない事業所の特徴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5580000" cy="2160000"/>
          </a:xfrm>
          <a:prstGeom prst="rect">
            <a:avLst/>
          </a:prstGeom>
          <a:solidFill>
            <a:srgbClr val="FA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5364000" cy="21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「忙しいから自分で覚えて」が口ぐせ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指導が場当たり的(計画がない)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教える人によって言うことが違う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振り返りの時間がとれていない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できていない点ばかり指摘される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「育てる」が評価されない組織風土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620000"/>
            <a:ext cx="5400000" cy="360000"/>
          </a:xfrm>
          <a:prstGeom prst="rect">
            <a:avLst/>
          </a:prstGeom>
          <a:solidFill>
            <a:srgbClr val="5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2000" y="1656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機能するOJTの4要素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000" y="1980000"/>
            <a:ext cx="5400000" cy="2160000"/>
          </a:xfrm>
          <a:prstGeom prst="rect">
            <a:avLst/>
          </a:prstGeom>
          <a:solidFill>
            <a:srgbClr val="E6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8000" y="2016000"/>
            <a:ext cx="5184000" cy="21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計画:育成計画を文書化(到達目標・期間)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段階:Show(やってみせる)→ Tell(説明)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   → Do(やらせる)→ Check(振り返る)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役割分担:指導担当を明確化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   (複数で関わる場合は方針を統一)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振り返り:定例の振り返り時間を確保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4248000"/>
            <a:ext cx="11304000" cy="360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000" y="42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育成計画に盛り込む項目(例)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4608000"/>
            <a:ext cx="11304000" cy="1512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00" y="4644000"/>
            <a:ext cx="11088000" cy="14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到達目標:3か月後・6か月後・1年後に「何ができるようになるか」を具体的に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担当ケースの段階的付与:軽度・安定ケース → 徐々に複雑なケースへ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同行訪問の予定:初期は必ず同行、徐々に独り立ち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研修・事例検討への参加計画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振り返り面談:月1回など定例で設定 ― 「困ったときだけ」にしない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3. 後輩CM指導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1B4D4A"/>
                </a:solidFill>
                <a:latin typeface="Yu Gothic"/>
              </a:rPr>
              <a:t>同行訪問の活用 ― 最良の学びの場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864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F8F89"/>
                </a:solidFill>
                <a:latin typeface="Yu Gothic"/>
              </a:rPr>
              <a:t>主任CM研修 / 主任ケアマネの実務とスーパービジョン技術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F8F89"/>
                </a:solidFill>
                <a:latin typeface="Yu Gothic"/>
              </a:rPr>
              <a:t>18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800000" cy="1188000"/>
          </a:xfrm>
          <a:prstGeom prst="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1620000"/>
            <a:ext cx="1800000" cy="11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Yu Gothic"/>
              </a:rPr>
              <a:t>訪問前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32000" y="1620000"/>
            <a:ext cx="9528119" cy="1188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12000" y="1728000"/>
            <a:ext cx="9312119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23837"/>
                </a:solidFill>
                <a:latin typeface="Yu Gothic"/>
              </a:rPr>
              <a:t>・後輩に「今日の訪問のねらい」を言わせる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23837"/>
                </a:solidFill>
                <a:latin typeface="Yu Gothic"/>
              </a:rPr>
              <a:t>・想定される展開を一緒に確認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23837"/>
                </a:solidFill>
                <a:latin typeface="Yu Gothic"/>
              </a:rPr>
              <a:t>・主任CMの役割(見守る/補助する)を決めておく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916000"/>
            <a:ext cx="1800000" cy="11880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000" y="2916000"/>
            <a:ext cx="1800000" cy="11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Yu Gothic"/>
              </a:rPr>
              <a:t>訪問中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32000" y="2916000"/>
            <a:ext cx="9528119" cy="1188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12000" y="3024000"/>
            <a:ext cx="9312119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23837"/>
                </a:solidFill>
                <a:latin typeface="Yu Gothic"/>
              </a:rPr>
              <a:t>・原則、後輩に任せる ― 口を出しすぎない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23837"/>
                </a:solidFill>
                <a:latin typeface="Yu Gothic"/>
              </a:rPr>
              <a:t>・利用者の前で後輩を否定しない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23837"/>
                </a:solidFill>
                <a:latin typeface="Yu Gothic"/>
              </a:rPr>
              <a:t>・後輩が詰まったときの合図・フォローを事前に決める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4212000"/>
            <a:ext cx="1800000" cy="1188000"/>
          </a:xfrm>
          <a:prstGeom prst="rect">
            <a:avLst/>
          </a:prstGeom>
          <a:solidFill>
            <a:srgbClr val="5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000" y="4212000"/>
            <a:ext cx="1800000" cy="11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Yu Gothic"/>
              </a:rPr>
              <a:t>訪問後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32000" y="4212000"/>
            <a:ext cx="9528119" cy="1188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12000" y="4320000"/>
            <a:ext cx="9312119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23837"/>
                </a:solidFill>
                <a:latin typeface="Yu Gothic"/>
              </a:rPr>
              <a:t>・必ずその日のうちに振り返る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23837"/>
                </a:solidFill>
                <a:latin typeface="Yu Gothic"/>
              </a:rPr>
              <a:t>・後輩に「自己評価」を先に語らせる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23837"/>
                </a:solidFill>
                <a:latin typeface="Yu Gothic"/>
              </a:rPr>
              <a:t>・できた点を具体的に承認 → 改善点は1〜2点に絞る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5544000"/>
            <a:ext cx="11304000" cy="360000"/>
          </a:xfrm>
          <a:prstGeom prst="rect">
            <a:avLst/>
          </a:prstGeom>
          <a:solidFill>
            <a:srgbClr val="C0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000" y="5580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陥りやすい罠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5904000"/>
            <a:ext cx="11304000" cy="396000"/>
          </a:xfrm>
          <a:prstGeom prst="rect">
            <a:avLst/>
          </a:prstGeom>
          <a:solidFill>
            <a:srgbClr val="FA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0000" y="5940000"/>
            <a:ext cx="11088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主任CMが「主役」になってしまう ― 後輩の成長機会を奪う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振り返りを「次の訪問のついで」にして、結局しないまま流れてしまう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3. 後輩CM指導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1B4D4A"/>
                </a:solidFill>
                <a:latin typeface="Yu Gothic"/>
              </a:rPr>
              <a:t>フィードバックの技術 ― 伝わる伝え方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864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F8F89"/>
                </a:solidFill>
                <a:latin typeface="Yu Gothic"/>
              </a:rPr>
              <a:t>主任CM研修 / 主任ケアマネの実務とスーパービジョン技術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F8F89"/>
                </a:solidFill>
                <a:latin typeface="Yu Gothic"/>
              </a:rPr>
              <a:t>19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5580000" cy="360000"/>
          </a:xfrm>
          <a:prstGeom prst="rect">
            <a:avLst/>
          </a:prstGeom>
          <a:solidFill>
            <a:srgbClr val="5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効果的なフィードバックの原則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5580000" cy="1980000"/>
          </a:xfrm>
          <a:prstGeom prst="rect">
            <a:avLst/>
          </a:prstGeom>
          <a:solidFill>
            <a:srgbClr val="E6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5364000" cy="19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具体的に:「良かった」でなく「○○の声かけが良かった」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行動に焦点:人格でなく「やったこと」に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タイミング良く:できるだけ早く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量を絞る:改善点は一度に1〜2点まで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対話で:一方通行でなく、本人の考えも聞く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548000"/>
            <a:ext cx="5400000" cy="3600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2000" y="1584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「サンドイッチ」だけに頼らない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000" y="1908000"/>
            <a:ext cx="5400000" cy="1980000"/>
          </a:xfrm>
          <a:prstGeom prst="rect">
            <a:avLst/>
          </a:prstGeom>
          <a:solidFill>
            <a:srgbClr val="FA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8000" y="1944000"/>
            <a:ext cx="5184000" cy="19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良い点→改善点→良い点 で挟む手法は有効だが…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多用すると「褒めは前置き」と見抜かれる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大切なのは: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  ・改善点を「相手の成長のため」と心から伝える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  ・本人が「次どうするか」を考えられるよう問う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▶ 形式よりも、信頼関係と本気度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4068000"/>
            <a:ext cx="11304000" cy="360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000" y="4104000"/>
            <a:ext cx="554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伝わりにくい言い方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8000" y="4104000"/>
            <a:ext cx="554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伝わる言い方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4428000"/>
            <a:ext cx="11304000" cy="612000"/>
          </a:xfrm>
          <a:prstGeom prst="rect">
            <a:avLst/>
          </a:prstGeom>
          <a:solidFill>
            <a:srgbClr val="E5ECEB"/>
          </a:solidFill>
          <a:ln>
            <a:solidFill>
              <a:srgbClr val="D4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000" y="4482000"/>
            <a:ext cx="5544000" cy="50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 i="0">
                <a:solidFill>
                  <a:srgbClr val="C04A3E"/>
                </a:solidFill>
                <a:latin typeface="Yu Gothic"/>
              </a:rPr>
              <a:t>「アセスメントが甘いね」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8000" y="4482000"/>
            <a:ext cx="5544000" cy="50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「ご本人の意欲の部分、もう少し聞けると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計画が変わるかも。どう思う?」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5040000"/>
            <a:ext cx="11304000" cy="612000"/>
          </a:xfrm>
          <a:prstGeom prst="rect">
            <a:avLst/>
          </a:prstGeom>
          <a:solidFill>
            <a:srgbClr val="FFFFFF"/>
          </a:solidFill>
          <a:ln>
            <a:solidFill>
              <a:srgbClr val="D4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6000" y="5094000"/>
            <a:ext cx="5544000" cy="50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 i="0">
                <a:solidFill>
                  <a:srgbClr val="C04A3E"/>
                </a:solidFill>
                <a:latin typeface="Yu Gothic"/>
              </a:rPr>
              <a:t>「なんで連絡しなかったの」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38000" y="5094000"/>
            <a:ext cx="5544000" cy="50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「あの場面で家族に連絡していたら、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どう違ったと思う?」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000" y="5652000"/>
            <a:ext cx="11304000" cy="612000"/>
          </a:xfrm>
          <a:prstGeom prst="rect">
            <a:avLst/>
          </a:prstGeom>
          <a:solidFill>
            <a:srgbClr val="E5ECEB"/>
          </a:solidFill>
          <a:ln>
            <a:solidFill>
              <a:srgbClr val="D4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6000" y="5706000"/>
            <a:ext cx="5544000" cy="50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 i="0">
                <a:solidFill>
                  <a:srgbClr val="C04A3E"/>
                </a:solidFill>
                <a:latin typeface="Yu Gothic"/>
              </a:rPr>
              <a:t>「もっと頑張って」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38000" y="5706000"/>
            <a:ext cx="5544000" cy="50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「いま一番大変なのはどこ?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一緒に整理してみよう」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3. 後輩CM指導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1B4D4A"/>
                </a:solidFill>
                <a:latin typeface="Yu Gothic"/>
              </a:rPr>
              <a:t>困難事例での指導と、燃え尽きの予防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864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F8F89"/>
                </a:solidFill>
                <a:latin typeface="Yu Gothic"/>
              </a:rPr>
              <a:t>主任CM研修 / 主任ケアマネの実務とスーパービジョン技術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F8F89"/>
                </a:solidFill>
                <a:latin typeface="Yu Gothic"/>
              </a:rPr>
              <a:t>20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5580000" cy="360000"/>
          </a:xfrm>
          <a:prstGeom prst="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656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困難事例 ― 抱え込ませない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5580000" cy="1980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5364000" cy="19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「一人で背負わせない」を最優先に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後輩が抱える事例を主任CMが把握する仕組み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  (定例の事例共有・進捗確認)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チームで対応する事例を切り分ける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「相談していい」を言葉と態度で示す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虐待・希死念慮等は即・組織対応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  (後輩個人の判断に委ねない)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620000"/>
            <a:ext cx="5400000" cy="360000"/>
          </a:xfrm>
          <a:prstGeom prst="rect">
            <a:avLst/>
          </a:prstGeom>
          <a:solidFill>
            <a:srgbClr val="C0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2000" y="1656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燃え尽き(バーンアウト)のサイン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000" y="1980000"/>
            <a:ext cx="5400000" cy="1980000"/>
          </a:xfrm>
          <a:prstGeom prst="rect">
            <a:avLst/>
          </a:prstGeom>
          <a:solidFill>
            <a:srgbClr val="FA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8000" y="2016000"/>
            <a:ext cx="5184000" cy="19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情緒的消耗感:「もう疲れた」が口ぐせに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脱人格化:利用者を「事務的」に扱い始める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達成感の低下:「自分は役に立っていない」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行動の変化:遅刻・欠勤・記録の遅れ・口数減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▶ 「真面目で熱心な人」ほど陥りやすい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4140000"/>
            <a:ext cx="11304000" cy="360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000" y="417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主任CMができる予防的関わり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4500000"/>
            <a:ext cx="11304000" cy="1620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00" y="4536000"/>
            <a:ext cx="11088000" cy="158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業務量の偏りを把握し、調整する(管理的機能)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「うまくいったケース」を一緒に振り返り、達成感を言語化する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感情を吐き出せる場(支持的SV)を定期的に持つ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一人で完結する仕事を減らし、チームで支える構造をつくる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不調のサインに気づいたら、早めに声をかける ― 「最近どう?」の一言から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D96E2A"/>
                </a:solidFill>
                <a:latin typeface="Yu Gothic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Yu Gothic"/>
              </a:rPr>
              <a:t>地域ケア会議の</a:t>
            </a:r>
          </a:p>
          <a:p>
            <a:pPr algn="ctr"/>
            <a:r>
              <a:rPr sz="3400" b="1" i="0">
                <a:solidFill>
                  <a:srgbClr val="FFFFFF"/>
                </a:solidFill>
                <a:latin typeface="Yu Gothic"/>
              </a:rPr>
              <a:t>ファシリテーション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4DCDA"/>
                </a:solidFill>
                <a:latin typeface="Yu Gothic"/>
              </a:rPr>
              <a:t>Facilitating Community Care Meetings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4. 地域ケア会議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1B4D4A"/>
                </a:solidFill>
                <a:latin typeface="Yu Gothic"/>
              </a:rPr>
              <a:t>地域ケア会議とは ― 5 つの機能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864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F8F89"/>
                </a:solidFill>
                <a:latin typeface="Yu Gothic"/>
              </a:rPr>
              <a:t>主任CM研修 / 主任ケアマネの実務とスーパービジョン技術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F8F89"/>
                </a:solidFill>
                <a:latin typeface="Yu Gothic"/>
              </a:rPr>
              <a:t>22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位置づけ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540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5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介護保険法に基づき市町村等が設置。多職種が協働し、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個別課題の解決から地域課題の発見・政策提言までを担う場。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2059" y="2628000"/>
            <a:ext cx="2232000" cy="827999"/>
          </a:xfrm>
          <a:prstGeom prst="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8059" y="2664000"/>
            <a:ext cx="2160000" cy="75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個別課題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解決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059" y="3455999"/>
            <a:ext cx="2232000" cy="1512001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059" y="3528000"/>
            <a:ext cx="2088000" cy="13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323837"/>
                </a:solidFill>
                <a:latin typeface="Yu Gothic"/>
              </a:rPr>
              <a:t>支援困難事例の検討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323837"/>
                </a:solidFill>
                <a:latin typeface="Yu Gothic"/>
              </a:rPr>
              <a:t>多職種で支援策を練る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76059" y="2628000"/>
            <a:ext cx="2232000" cy="827999"/>
          </a:xfrm>
          <a:prstGeom prst="rect">
            <a:avLst/>
          </a:prstGeom>
          <a:solidFill>
            <a:srgbClr val="4F8F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12059" y="2664000"/>
            <a:ext cx="2160000" cy="75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ネットワーク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構築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76059" y="3455999"/>
            <a:ext cx="2232000" cy="1512001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8059" y="3528000"/>
            <a:ext cx="2088000" cy="13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323837"/>
                </a:solidFill>
                <a:latin typeface="Yu Gothic"/>
              </a:rPr>
              <a:t>関係機関の顔の見える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323837"/>
                </a:solidFill>
                <a:latin typeface="Yu Gothic"/>
              </a:rPr>
              <a:t>関係づくり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80059" y="2628000"/>
            <a:ext cx="2232000" cy="827999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16059" y="2664000"/>
            <a:ext cx="2160000" cy="75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地域課題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発見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0059" y="3455999"/>
            <a:ext cx="2232000" cy="1512001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52059" y="3528000"/>
            <a:ext cx="2088000" cy="13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323837"/>
                </a:solidFill>
                <a:latin typeface="Yu Gothic"/>
              </a:rPr>
              <a:t>個別事例の積み重ねから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323837"/>
                </a:solidFill>
                <a:latin typeface="Yu Gothic"/>
              </a:rPr>
              <a:t>地域の課題を見出す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84059" y="2628000"/>
            <a:ext cx="2232000" cy="827999"/>
          </a:xfrm>
          <a:prstGeom prst="rect">
            <a:avLst/>
          </a:prstGeom>
          <a:solidFill>
            <a:srgbClr val="5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20059" y="2664000"/>
            <a:ext cx="2160000" cy="75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地域づくり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資源開発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84059" y="3455999"/>
            <a:ext cx="2232000" cy="1512001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56059" y="3528000"/>
            <a:ext cx="2088000" cy="13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323837"/>
                </a:solidFill>
                <a:latin typeface="Yu Gothic"/>
              </a:rPr>
              <a:t>不足する社会資源を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323837"/>
                </a:solidFill>
                <a:latin typeface="Yu Gothic"/>
              </a:rPr>
              <a:t>地域で創り出す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88059" y="2628000"/>
            <a:ext cx="2232000" cy="827999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24059" y="2664000"/>
            <a:ext cx="2160000" cy="75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政策形成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88059" y="3455999"/>
            <a:ext cx="2232000" cy="1512001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60059" y="3528000"/>
            <a:ext cx="2088000" cy="13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323837"/>
                </a:solidFill>
                <a:latin typeface="Yu Gothic"/>
              </a:rPr>
              <a:t>地域課題を介護保険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323837"/>
                </a:solidFill>
                <a:latin typeface="Yu Gothic"/>
              </a:rPr>
              <a:t>事業計画等に反映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2000" y="5220000"/>
            <a:ext cx="11304000" cy="3600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4000" y="525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「個別」から「地域」へ ― 会議の積み上げ構造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2000" y="5580000"/>
            <a:ext cx="11304000" cy="540000"/>
          </a:xfrm>
          <a:prstGeom prst="rect">
            <a:avLst/>
          </a:prstGeom>
          <a:solidFill>
            <a:srgbClr val="FB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0000" y="5616000"/>
            <a:ext cx="11088000" cy="5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1件の困難事例の検討が、同じ課題を抱える他のケースの発見につながる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「この地域に○○が足りない」という気づきが、資源開発・政策提言へとつながっていく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4. 地域ケア会議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1B4D4A"/>
                </a:solidFill>
                <a:latin typeface="Yu Gothic"/>
              </a:rPr>
              <a:t>地域ケア会議における主任CMの立場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864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F8F89"/>
                </a:solidFill>
                <a:latin typeface="Yu Gothic"/>
              </a:rPr>
              <a:t>主任CM研修 / 主任ケアマネの実務とスーパービジョン技術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F8F89"/>
                </a:solidFill>
                <a:latin typeface="Yu Gothic"/>
              </a:rPr>
              <a:t>23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061" y="1620000"/>
            <a:ext cx="3671999" cy="540000"/>
          </a:xfrm>
          <a:prstGeom prst="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061" y="1620000"/>
            <a:ext cx="3527999" cy="5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事例提供者として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4061" y="2160000"/>
            <a:ext cx="3671999" cy="2520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8061" y="2304000"/>
            <a:ext cx="3383999" cy="2232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・自分(事業所)の困難事例を持ち込む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・「うまくいかない」を開示する勇気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・事例の匿名化・同意取得を徹底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・検討で得た助言を実践に戻す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60060" y="1620000"/>
            <a:ext cx="3671999" cy="540000"/>
          </a:xfrm>
          <a:prstGeom prst="rect">
            <a:avLst/>
          </a:prstGeom>
          <a:solidFill>
            <a:srgbClr val="5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060" y="1620000"/>
            <a:ext cx="3527999" cy="5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助言者・参加者として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60060" y="2160000"/>
            <a:ext cx="3671999" cy="2520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4060" y="2304000"/>
            <a:ext cx="3383999" cy="2232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・他のCMの事例に専門的助言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・経験を押しつけず、選択肢を示す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・多職種の視点を引き出す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・若手CMの発言を後押しする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6059" y="1620000"/>
            <a:ext cx="3671999" cy="5400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48059" y="1620000"/>
            <a:ext cx="3527999" cy="5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ファシリテーターとして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76059" y="2160000"/>
            <a:ext cx="3671999" cy="2520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0059" y="2304000"/>
            <a:ext cx="3383999" cy="2232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・会議の進行・時間管理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・発言を引き出し、論点を整理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・合意形成と次のアクション化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・個別課題から地域課題への橋渡し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5148000"/>
            <a:ext cx="11304000" cy="360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000" y="51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本日の重点 ― ファシリテーター役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5508000"/>
            <a:ext cx="11304000" cy="612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0000" y="5544000"/>
            <a:ext cx="11088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主任研修・更新研修でも、地域ケア会議の運営力が期待されている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「会議を仕切る」のではなく「参加者の力を引き出して、結論を一緒に作る」のがファシリテーション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司会(進行)・記録・タイムキープなど、役割を分担する設計も大切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4. 地域ケア会議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1B4D4A"/>
                </a:solidFill>
                <a:latin typeface="Yu Gothic"/>
              </a:rPr>
              <a:t>ファシリテーションの基本姿勢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864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F8F89"/>
                </a:solidFill>
                <a:latin typeface="Yu Gothic"/>
              </a:rPr>
              <a:t>主任CM研修 / 主任ケアマネの実務とスーパービジョン技術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F8F89"/>
                </a:solidFill>
                <a:latin typeface="Yu Gothic"/>
              </a:rPr>
              <a:t>24 / 37</a:t>
            </a:r>
          </a:p>
        </p:txBody>
      </p:sp>
      <p:sp>
        <p:nvSpPr>
          <p:cNvPr id="8" name="Oval 7"/>
          <p:cNvSpPr/>
          <p:nvPr/>
        </p:nvSpPr>
        <p:spPr>
          <a:xfrm>
            <a:off x="540000" y="1728000"/>
            <a:ext cx="396000" cy="396000"/>
          </a:xfrm>
          <a:prstGeom prst="ellipse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1620000"/>
            <a:ext cx="5580000" cy="612000"/>
          </a:xfrm>
          <a:prstGeom prst="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4000" y="1620000"/>
            <a:ext cx="4860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Yu Gothic"/>
              </a:rPr>
              <a:t>中立を保つ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232000"/>
            <a:ext cx="5580000" cy="684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000" y="2304000"/>
            <a:ext cx="522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特定の意見・職種に肩入れしない。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自分の結論に誘導しない</a:t>
            </a:r>
          </a:p>
        </p:txBody>
      </p:sp>
      <p:sp>
        <p:nvSpPr>
          <p:cNvPr id="13" name="Oval 12"/>
          <p:cNvSpPr/>
          <p:nvPr/>
        </p:nvSpPr>
        <p:spPr>
          <a:xfrm>
            <a:off x="6264000" y="1728000"/>
            <a:ext cx="396000" cy="396000"/>
          </a:xfrm>
          <a:prstGeom prst="ellipse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6000" y="1620000"/>
            <a:ext cx="5580000" cy="612000"/>
          </a:xfrm>
          <a:prstGeom prst="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8000" y="1620000"/>
            <a:ext cx="4860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Yu Gothic"/>
              </a:rPr>
              <a:t>全員を参加させる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6000" y="2232000"/>
            <a:ext cx="5580000" cy="684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000" y="2304000"/>
            <a:ext cx="522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発言の偏りをなくす。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声の小さい人・若手にも振る</a:t>
            </a:r>
          </a:p>
        </p:txBody>
      </p:sp>
      <p:sp>
        <p:nvSpPr>
          <p:cNvPr id="18" name="Oval 17"/>
          <p:cNvSpPr/>
          <p:nvPr/>
        </p:nvSpPr>
        <p:spPr>
          <a:xfrm>
            <a:off x="540000" y="3132000"/>
            <a:ext cx="396000" cy="396000"/>
          </a:xfrm>
          <a:prstGeom prst="ellipse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3024000"/>
            <a:ext cx="5580000" cy="612000"/>
          </a:xfrm>
          <a:prstGeom prst="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4000" y="3024000"/>
            <a:ext cx="4860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Yu Gothic"/>
              </a:rPr>
              <a:t>否定しない場をつくる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" y="3636000"/>
            <a:ext cx="5580000" cy="684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000" y="3708000"/>
            <a:ext cx="522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「それは違う」を言わせない。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どんな意見もまず受けとめる</a:t>
            </a:r>
          </a:p>
        </p:txBody>
      </p:sp>
      <p:sp>
        <p:nvSpPr>
          <p:cNvPr id="23" name="Oval 22"/>
          <p:cNvSpPr/>
          <p:nvPr/>
        </p:nvSpPr>
        <p:spPr>
          <a:xfrm>
            <a:off x="6264000" y="3132000"/>
            <a:ext cx="396000" cy="396000"/>
          </a:xfrm>
          <a:prstGeom prst="ellipse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6000" y="3024000"/>
            <a:ext cx="5580000" cy="612000"/>
          </a:xfrm>
          <a:prstGeom prst="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8000" y="3024000"/>
            <a:ext cx="4860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Yu Gothic"/>
              </a:rPr>
              <a:t>論点を可視化する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6000" y="3636000"/>
            <a:ext cx="5580000" cy="684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000" y="3708000"/>
            <a:ext cx="522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ホワイトボード等で見える化。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「いま何を話しているか」を共有</a:t>
            </a:r>
          </a:p>
        </p:txBody>
      </p:sp>
      <p:sp>
        <p:nvSpPr>
          <p:cNvPr id="28" name="Oval 27"/>
          <p:cNvSpPr/>
          <p:nvPr/>
        </p:nvSpPr>
        <p:spPr>
          <a:xfrm>
            <a:off x="540000" y="4536000"/>
            <a:ext cx="396000" cy="396000"/>
          </a:xfrm>
          <a:prstGeom prst="ellipse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000" y="4428000"/>
            <a:ext cx="5580000" cy="612000"/>
          </a:xfrm>
          <a:prstGeom prst="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4000" y="4428000"/>
            <a:ext cx="4860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Yu Gothic"/>
              </a:rPr>
              <a:t>時間を守る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000" y="5040000"/>
            <a:ext cx="5580000" cy="684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000" y="5112000"/>
            <a:ext cx="522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終了時刻を意識した進行。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1事例の検討時間を区切る</a:t>
            </a:r>
          </a:p>
        </p:txBody>
      </p:sp>
      <p:sp>
        <p:nvSpPr>
          <p:cNvPr id="33" name="Oval 32"/>
          <p:cNvSpPr/>
          <p:nvPr/>
        </p:nvSpPr>
        <p:spPr>
          <a:xfrm>
            <a:off x="6264000" y="4536000"/>
            <a:ext cx="396000" cy="396000"/>
          </a:xfrm>
          <a:prstGeom prst="ellipse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56000" y="4428000"/>
            <a:ext cx="5580000" cy="612000"/>
          </a:xfrm>
          <a:prstGeom prst="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8000" y="4428000"/>
            <a:ext cx="4860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Yu Gothic"/>
              </a:rPr>
              <a:t>結論を出す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56000" y="5040000"/>
            <a:ext cx="5580000" cy="684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6000" y="5112000"/>
            <a:ext cx="522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「で、誰が何をいつまでに」を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必ず明確にして終える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4. 地域ケア会議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1B4D4A"/>
                </a:solidFill>
                <a:latin typeface="Yu Gothic"/>
              </a:rPr>
              <a:t>会議の設計 ― 準備で 8 割が決まる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864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F8F89"/>
                </a:solidFill>
                <a:latin typeface="Yu Gothic"/>
              </a:rPr>
              <a:t>主任CM研修 / 主任ケアマネの実務とスーパービジョン技術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F8F89"/>
                </a:solidFill>
                <a:latin typeface="Yu Gothic"/>
              </a:rPr>
              <a:t>25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980000" cy="1007999"/>
          </a:xfrm>
          <a:prstGeom prst="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0000" y="1728000"/>
            <a:ext cx="360000" cy="360000"/>
          </a:xfrm>
          <a:prstGeom prst="ellipse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1656000"/>
            <a:ext cx="1980000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事前準備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84000" y="1620000"/>
            <a:ext cx="9276119" cy="1007999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8000" y="1710000"/>
            <a:ext cx="8988119" cy="827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・会議の目的・到達点を明確化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・事例の選定と提供者との打合せ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・参加メンバーの選定(必要な職種)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・資料の事前配布・匿名化の確認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2736000"/>
            <a:ext cx="1980000" cy="1007999"/>
          </a:xfrm>
          <a:prstGeom prst="rect">
            <a:avLst/>
          </a:prstGeom>
          <a:solidFill>
            <a:srgbClr val="4F8F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0000" y="2844000"/>
            <a:ext cx="360000" cy="360000"/>
          </a:xfrm>
          <a:prstGeom prst="ellipse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2772000"/>
            <a:ext cx="1980000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会議の冒頭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4000" y="2736000"/>
            <a:ext cx="9276119" cy="1007999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8000" y="2826000"/>
            <a:ext cx="8988119" cy="827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・目的とゴール、終了時刻を共有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・グランドルールの確認(否定しない 等)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・参加者の自己紹介(関係づくり)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3852000"/>
            <a:ext cx="1980000" cy="1007999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0000" y="3960000"/>
            <a:ext cx="360000" cy="360000"/>
          </a:xfrm>
          <a:prstGeom prst="ellipse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3888000"/>
            <a:ext cx="1980000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検討の進行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4000" y="3852000"/>
            <a:ext cx="9276119" cy="1007999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28000" y="3942000"/>
            <a:ext cx="8988119" cy="827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・事例提供 → 質問・情報整理 → 検討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・論点を絞り、可視化しながら進める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・発言の偏りを調整、多職種の視点を引き出す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000" y="4968000"/>
            <a:ext cx="1980000" cy="1007999"/>
          </a:xfrm>
          <a:prstGeom prst="rect">
            <a:avLst/>
          </a:prstGeom>
          <a:solidFill>
            <a:srgbClr val="5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40000" y="5076000"/>
            <a:ext cx="360000" cy="360000"/>
          </a:xfrm>
          <a:prstGeom prst="ellipse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000" y="5004000"/>
            <a:ext cx="1980000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まとめ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4000" y="4968000"/>
            <a:ext cx="9276119" cy="1007999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28000" y="5058000"/>
            <a:ext cx="8988119" cy="827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・支援方針・役割分担を具体化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・「誰が・何を・いつまでに」を確認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・地域課題として残す点を整理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・振り返り(会議自体の改善点)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000" y="6012000"/>
            <a:ext cx="11328119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D96E2A"/>
                </a:solidFill>
                <a:latin typeface="Yu Gothic"/>
              </a:rPr>
              <a:t>▶ 「事例提供者が安心して持ち込める」準備が、会議の質を決める。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4. 地域ケア会議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1B4D4A"/>
                </a:solidFill>
                <a:latin typeface="Yu Gothic"/>
              </a:rPr>
              <a:t>困った場面への対応 ― ファシリテーターの引き出し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864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F8F89"/>
                </a:solidFill>
                <a:latin typeface="Yu Gothic"/>
              </a:rPr>
              <a:t>主任CM研修 / 主任ケアマネの実務とスーパービジョン技術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F8F89"/>
                </a:solidFill>
                <a:latin typeface="Yu Gothic"/>
              </a:rPr>
              <a:t>26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1304000" cy="360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000" y="1656000"/>
            <a:ext cx="3132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困った場面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6000" y="1656000"/>
            <a:ext cx="4032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なぜ起こるか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6000" y="1656000"/>
            <a:ext cx="381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対応の引き出し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1980000"/>
            <a:ext cx="11304000" cy="720000"/>
          </a:xfrm>
          <a:prstGeom prst="rect">
            <a:avLst/>
          </a:prstGeom>
          <a:solidFill>
            <a:srgbClr val="E5ECEB"/>
          </a:solidFill>
          <a:ln>
            <a:solidFill>
              <a:srgbClr val="D4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000" y="2034000"/>
            <a:ext cx="313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C04A3E"/>
                </a:solidFill>
                <a:latin typeface="Yu Gothic"/>
              </a:rPr>
              <a:t>特定の人が</a:t>
            </a:r>
          </a:p>
          <a:p>
            <a:pPr algn="ctr"/>
            <a:r>
              <a:rPr sz="1100" b="1" i="0">
                <a:solidFill>
                  <a:srgbClr val="C04A3E"/>
                </a:solidFill>
                <a:latin typeface="Yu Gothic"/>
              </a:rPr>
              <a:t>話し続ける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6000" y="2034000"/>
            <a:ext cx="403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熱心さ・経験の豊富さ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沈黙への不安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6000" y="2034000"/>
            <a:ext cx="3816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「ありがとうございます。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他の方はいかがですか?」と振る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2700000"/>
            <a:ext cx="11304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D4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000" y="2754000"/>
            <a:ext cx="313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C04A3E"/>
                </a:solidFill>
                <a:latin typeface="Yu Gothic"/>
              </a:rPr>
              <a:t>誰も発言</a:t>
            </a:r>
          </a:p>
          <a:p>
            <a:pPr algn="ctr"/>
            <a:r>
              <a:rPr sz="1100" b="1" i="0">
                <a:solidFill>
                  <a:srgbClr val="C04A3E"/>
                </a:solidFill>
                <a:latin typeface="Yu Gothic"/>
              </a:rPr>
              <a:t>しない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6000" y="2754000"/>
            <a:ext cx="403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心理的安全性の不足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論点が不明確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6000" y="2754000"/>
            <a:ext cx="3816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問いを具体化・小さくする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「まず○○さんから一言」と指名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3420000"/>
            <a:ext cx="11304000" cy="720000"/>
          </a:xfrm>
          <a:prstGeom prst="rect">
            <a:avLst/>
          </a:prstGeom>
          <a:solidFill>
            <a:srgbClr val="E5ECEB"/>
          </a:solidFill>
          <a:ln>
            <a:solidFill>
              <a:srgbClr val="D4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6000" y="3474000"/>
            <a:ext cx="313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C04A3E"/>
                </a:solidFill>
                <a:latin typeface="Yu Gothic"/>
              </a:rPr>
              <a:t>批判・説教</a:t>
            </a:r>
          </a:p>
          <a:p>
            <a:pPr algn="ctr"/>
            <a:r>
              <a:rPr sz="1100" b="1" i="0">
                <a:solidFill>
                  <a:srgbClr val="C04A3E"/>
                </a:solidFill>
                <a:latin typeface="Yu Gothic"/>
              </a:rPr>
              <a:t>が始まる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6000" y="3474000"/>
            <a:ext cx="403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事例提供者への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評価的なまなざし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6000" y="3474000"/>
            <a:ext cx="3816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「ここは責める場でなく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一緒に考える場」と立て直す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4140000"/>
            <a:ext cx="11304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D4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000" y="4194000"/>
            <a:ext cx="313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C04A3E"/>
                </a:solidFill>
                <a:latin typeface="Yu Gothic"/>
              </a:rPr>
              <a:t>話が</a:t>
            </a:r>
          </a:p>
          <a:p>
            <a:pPr algn="ctr"/>
            <a:r>
              <a:rPr sz="1100" b="1" i="0">
                <a:solidFill>
                  <a:srgbClr val="C04A3E"/>
                </a:solidFill>
                <a:latin typeface="Yu Gothic"/>
              </a:rPr>
              <a:t>脱線する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26000" y="4194000"/>
            <a:ext cx="403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論点が共有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されていない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6000" y="4194000"/>
            <a:ext cx="3816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可視化した論点に立ち返る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「今日の検討点に戻すと…」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4860000"/>
            <a:ext cx="11304000" cy="720000"/>
          </a:xfrm>
          <a:prstGeom prst="rect">
            <a:avLst/>
          </a:prstGeom>
          <a:solidFill>
            <a:srgbClr val="E5ECEB"/>
          </a:solidFill>
          <a:ln>
            <a:solidFill>
              <a:srgbClr val="D4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6000" y="4914000"/>
            <a:ext cx="313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C04A3E"/>
                </a:solidFill>
                <a:latin typeface="Yu Gothic"/>
              </a:rPr>
              <a:t>結論が</a:t>
            </a:r>
          </a:p>
          <a:p>
            <a:pPr algn="ctr"/>
            <a:r>
              <a:rPr sz="1100" b="1" i="0">
                <a:solidFill>
                  <a:srgbClr val="C04A3E"/>
                </a:solidFill>
                <a:latin typeface="Yu Gothic"/>
              </a:rPr>
              <a:t>まとまらない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26000" y="4914000"/>
            <a:ext cx="403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情報過多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時間配分のミス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6000" y="4914000"/>
            <a:ext cx="3816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「今日決められること」と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「持ち帰り」を切り分ける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2000" y="5760000"/>
            <a:ext cx="11328119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1B4D4A"/>
                </a:solidFill>
                <a:latin typeface="Yu Gothic"/>
              </a:rPr>
              <a:t>▶ 困った場面の多くは「準備」と「グランドルール」で予防できる。起きてからの対応は最終手段。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D96E2A"/>
                </a:solidFill>
                <a:latin typeface="Yu Gothic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Yu Gothic"/>
              </a:rPr>
              <a:t>地域包括支援センター</a:t>
            </a:r>
          </a:p>
          <a:p>
            <a:pPr algn="ctr"/>
            <a:r>
              <a:rPr sz="3400" b="1" i="0">
                <a:solidFill>
                  <a:srgbClr val="FFFFFF"/>
                </a:solidFill>
                <a:latin typeface="Yu Gothic"/>
              </a:rPr>
              <a:t>との協働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4DCDA"/>
                </a:solidFill>
                <a:latin typeface="Yu Gothic"/>
              </a:rPr>
              <a:t>Collaboration with Community Support Centers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5. 地域包括との協働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1B4D4A"/>
                </a:solidFill>
                <a:latin typeface="Yu Gothic"/>
              </a:rPr>
              <a:t>地域包括支援センターの機能と居宅CMの関係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864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F8F89"/>
                </a:solidFill>
                <a:latin typeface="Yu Gothic"/>
              </a:rPr>
              <a:t>主任CM研修 / 主任ケアマネの実務とスーパービジョン技術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F8F89"/>
                </a:solidFill>
                <a:latin typeface="Yu Gothic"/>
              </a:rPr>
              <a:t>28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地域包括支援センターとは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467999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43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市町村が設置する地域包括ケアの中核機関。保健師・社会福祉士・主任CM等が配置され、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高齢者の総合相談・権利擁護・地域のケアマネジメント支援などを担う。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59" y="2520000"/>
            <a:ext cx="2772000" cy="612000"/>
          </a:xfrm>
          <a:prstGeom prst="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059" y="2520000"/>
            <a:ext cx="2700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総合相談支援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0059" y="3132000"/>
            <a:ext cx="2772000" cy="1836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59" y="3240000"/>
            <a:ext cx="2592000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323837"/>
                </a:solidFill>
                <a:latin typeface="Yu Gothic"/>
              </a:rPr>
              <a:t>高齢者・家族の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323837"/>
                </a:solidFill>
                <a:latin typeface="Yu Gothic"/>
              </a:rPr>
              <a:t>あらゆる相談の窓口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59" y="4032000"/>
            <a:ext cx="2592000" cy="18000"/>
          </a:xfrm>
          <a:prstGeom prst="rect">
            <a:avLst/>
          </a:prstGeom>
          <a:solidFill>
            <a:srgbClr val="D4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59" y="4104000"/>
            <a:ext cx="2592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1B4D4A"/>
                </a:solidFill>
                <a:latin typeface="Yu Gothic"/>
              </a:rPr>
              <a:t>居宅CM:つなぎ先</a:t>
            </a:r>
          </a:p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1B4D4A"/>
                </a:solidFill>
                <a:latin typeface="Yu Gothic"/>
              </a:rPr>
              <a:t>として活用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70059" y="2520000"/>
            <a:ext cx="2772000" cy="6120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06059" y="2520000"/>
            <a:ext cx="2700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権利擁護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70059" y="3132000"/>
            <a:ext cx="2772000" cy="1836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60059" y="3240000"/>
            <a:ext cx="2592000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323837"/>
                </a:solidFill>
                <a:latin typeface="Yu Gothic"/>
              </a:rPr>
              <a:t>高齢者虐待対応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323837"/>
                </a:solidFill>
                <a:latin typeface="Yu Gothic"/>
              </a:rPr>
              <a:t>成年後見・消費者被害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60059" y="4032000"/>
            <a:ext cx="2592000" cy="18000"/>
          </a:xfrm>
          <a:prstGeom prst="rect">
            <a:avLst/>
          </a:prstGeom>
          <a:solidFill>
            <a:srgbClr val="D4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60059" y="4104000"/>
            <a:ext cx="2592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1B4D4A"/>
                </a:solidFill>
                <a:latin typeface="Yu Gothic"/>
              </a:rPr>
              <a:t>居宅CM:虐待の</a:t>
            </a:r>
          </a:p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1B4D4A"/>
                </a:solidFill>
                <a:latin typeface="Yu Gothic"/>
              </a:rPr>
              <a:t>通報・連携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0059" y="2520000"/>
            <a:ext cx="2772000" cy="612000"/>
          </a:xfrm>
          <a:prstGeom prst="rect">
            <a:avLst/>
          </a:prstGeom>
          <a:solidFill>
            <a:srgbClr val="4F8F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86059" y="2520000"/>
            <a:ext cx="2700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包括的・継続的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ケアマネジメント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0059" y="3132000"/>
            <a:ext cx="2772000" cy="1836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0059" y="3240000"/>
            <a:ext cx="2592000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323837"/>
                </a:solidFill>
                <a:latin typeface="Yu Gothic"/>
              </a:rPr>
              <a:t>地域のCMへの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323837"/>
                </a:solidFill>
                <a:latin typeface="Yu Gothic"/>
              </a:rPr>
              <a:t>支援・後方支援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40059" y="4032000"/>
            <a:ext cx="2592000" cy="18000"/>
          </a:xfrm>
          <a:prstGeom prst="rect">
            <a:avLst/>
          </a:prstGeom>
          <a:solidFill>
            <a:srgbClr val="D4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40059" y="4104000"/>
            <a:ext cx="2592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1B4D4A"/>
                </a:solidFill>
                <a:latin typeface="Yu Gothic"/>
              </a:rPr>
              <a:t>居宅CM:困難事例</a:t>
            </a:r>
          </a:p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1B4D4A"/>
                </a:solidFill>
                <a:latin typeface="Yu Gothic"/>
              </a:rPr>
              <a:t>の相談・助言を得る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30059" y="2520000"/>
            <a:ext cx="2772000" cy="612000"/>
          </a:xfrm>
          <a:prstGeom prst="rect">
            <a:avLst/>
          </a:prstGeom>
          <a:solidFill>
            <a:srgbClr val="5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66059" y="2520000"/>
            <a:ext cx="2700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介護予防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ケアマネジメント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30059" y="3132000"/>
            <a:ext cx="2772000" cy="1836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20059" y="3240000"/>
            <a:ext cx="2592000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323837"/>
                </a:solidFill>
                <a:latin typeface="Yu Gothic"/>
              </a:rPr>
              <a:t>要支援者等への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323837"/>
                </a:solidFill>
                <a:latin typeface="Yu Gothic"/>
              </a:rPr>
              <a:t>介護予防支援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20059" y="4032000"/>
            <a:ext cx="2592000" cy="18000"/>
          </a:xfrm>
          <a:prstGeom prst="rect">
            <a:avLst/>
          </a:prstGeom>
          <a:solidFill>
            <a:srgbClr val="D4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20059" y="4104000"/>
            <a:ext cx="2592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1B4D4A"/>
                </a:solidFill>
                <a:latin typeface="Yu Gothic"/>
              </a:rPr>
              <a:t>居宅CM:委託</a:t>
            </a:r>
          </a:p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1B4D4A"/>
                </a:solidFill>
                <a:latin typeface="Yu Gothic"/>
              </a:rPr>
              <a:t>要支援→要介護の連続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000" y="5220000"/>
            <a:ext cx="11304000" cy="3600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4000" y="525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主任CMの視点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2000" y="5580000"/>
            <a:ext cx="11304000" cy="540000"/>
          </a:xfrm>
          <a:prstGeom prst="rect">
            <a:avLst/>
          </a:prstGeom>
          <a:solidFill>
            <a:srgbClr val="FB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0000" y="5616000"/>
            <a:ext cx="11088000" cy="5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地域包括は「上位機関」ではなく「協働のパートナー」 ― 対等な専門職同士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包括の主任CMと居宅の主任CMが、地域のケアマネジメントの質を共に支える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5. 地域包括との協働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1B4D4A"/>
                </a:solidFill>
                <a:latin typeface="Yu Gothic"/>
              </a:rPr>
              <a:t>連携の実際 ― 場面別の役割分担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864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F8F89"/>
                </a:solidFill>
                <a:latin typeface="Yu Gothic"/>
              </a:rPr>
              <a:t>主任CM研修 / 主任ケアマネの実務とスーパービジョン技術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F8F89"/>
                </a:solidFill>
                <a:latin typeface="Yu Gothic"/>
              </a:rPr>
              <a:t>29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1304000" cy="360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000" y="1656000"/>
            <a:ext cx="2772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場面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6000" y="1656000"/>
            <a:ext cx="4212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居宅CMの役割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6000" y="1656000"/>
            <a:ext cx="399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地域包括の役割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1980000"/>
            <a:ext cx="11304000" cy="720000"/>
          </a:xfrm>
          <a:prstGeom prst="rect">
            <a:avLst/>
          </a:prstGeom>
          <a:solidFill>
            <a:srgbClr val="E5ECEB"/>
          </a:solidFill>
          <a:ln>
            <a:solidFill>
              <a:srgbClr val="D4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000" y="2034000"/>
            <a:ext cx="277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D96E2A"/>
                </a:solidFill>
                <a:latin typeface="Yu Gothic"/>
              </a:rPr>
              <a:t>要支援→要介護</a:t>
            </a:r>
          </a:p>
          <a:p>
            <a:pPr algn="ctr"/>
            <a:r>
              <a:rPr sz="1100" b="1" i="0">
                <a:solidFill>
                  <a:srgbClr val="D96E2A"/>
                </a:solidFill>
                <a:latin typeface="Yu Gothic"/>
              </a:rPr>
              <a:t>の移行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6000" y="2034000"/>
            <a:ext cx="421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要介護のケアマネジメント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を引き継ぐ。情報を確実に受領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6000" y="2034000"/>
            <a:ext cx="3996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介護予防支援からの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引き継ぎ。情報提供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2700000"/>
            <a:ext cx="11304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D4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000" y="2754000"/>
            <a:ext cx="277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D96E2A"/>
                </a:solidFill>
                <a:latin typeface="Yu Gothic"/>
              </a:rPr>
              <a:t>支援困難事例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6000" y="2754000"/>
            <a:ext cx="421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事例を抱え込まず相談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日々の支援を担う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6000" y="2754000"/>
            <a:ext cx="3996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後方支援・助言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多機関調整のハブ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3420000"/>
            <a:ext cx="11304000" cy="720000"/>
          </a:xfrm>
          <a:prstGeom prst="rect">
            <a:avLst/>
          </a:prstGeom>
          <a:solidFill>
            <a:srgbClr val="E5ECEB"/>
          </a:solidFill>
          <a:ln>
            <a:solidFill>
              <a:srgbClr val="D4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6000" y="3474000"/>
            <a:ext cx="277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D96E2A"/>
                </a:solidFill>
                <a:latin typeface="Yu Gothic"/>
              </a:rPr>
              <a:t>高齢者虐待</a:t>
            </a:r>
          </a:p>
          <a:p>
            <a:pPr algn="ctr"/>
            <a:r>
              <a:rPr sz="1100" b="1" i="0">
                <a:solidFill>
                  <a:srgbClr val="D96E2A"/>
                </a:solidFill>
                <a:latin typeface="Yu Gothic"/>
              </a:rPr>
              <a:t>の疑い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6000" y="3474000"/>
            <a:ext cx="421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サインの発見・通報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事実の記録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6000" y="3474000"/>
            <a:ext cx="3996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通報の受理・事実確認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市町村との対応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4140000"/>
            <a:ext cx="11304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D4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000" y="4194000"/>
            <a:ext cx="277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D96E2A"/>
                </a:solidFill>
                <a:latin typeface="Yu Gothic"/>
              </a:rPr>
              <a:t>権利擁護</a:t>
            </a:r>
          </a:p>
          <a:p>
            <a:pPr algn="ctr"/>
            <a:r>
              <a:rPr sz="1100" b="1" i="0">
                <a:solidFill>
                  <a:srgbClr val="D96E2A"/>
                </a:solidFill>
                <a:latin typeface="Yu Gothic"/>
              </a:rPr>
              <a:t>(成年後見等)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66000" y="4194000"/>
            <a:ext cx="421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ニーズの発見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本人・家族への説明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6000" y="4194000"/>
            <a:ext cx="3996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申立て支援・制度説明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関係機関へのつなぎ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4860000"/>
            <a:ext cx="11304000" cy="720000"/>
          </a:xfrm>
          <a:prstGeom prst="rect">
            <a:avLst/>
          </a:prstGeom>
          <a:solidFill>
            <a:srgbClr val="E5ECEB"/>
          </a:solidFill>
          <a:ln>
            <a:solidFill>
              <a:srgbClr val="D4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6000" y="4914000"/>
            <a:ext cx="277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D96E2A"/>
                </a:solidFill>
                <a:latin typeface="Yu Gothic"/>
              </a:rPr>
              <a:t>地域づくり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66000" y="4914000"/>
            <a:ext cx="421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個別事例から見える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地域課題を持ち寄る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6000" y="4914000"/>
            <a:ext cx="3996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地域ケア会議の開催</a:t>
            </a:r>
          </a:p>
          <a:p>
            <a:pPr algn="l"/>
            <a:r>
              <a:rPr sz="1100" b="0" i="0">
                <a:solidFill>
                  <a:srgbClr val="323837"/>
                </a:solidFill>
                <a:latin typeface="Yu Gothic"/>
              </a:rPr>
              <a:t>資源開発・政策提言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2000" y="5760000"/>
            <a:ext cx="11328119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1B4D4A"/>
                </a:solidFill>
                <a:latin typeface="Yu Gothic"/>
              </a:rPr>
              <a:t>▶ 「どこからが包括の仕事か」で迷うより、「利用者にとって最善の動き」を一緒に考える。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5. 地域包括との協働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1B4D4A"/>
                </a:solidFill>
                <a:latin typeface="Yu Gothic"/>
              </a:rPr>
              <a:t>困難事例での協働 ― 早めに・具体的に・記録して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864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F8F89"/>
                </a:solidFill>
                <a:latin typeface="Yu Gothic"/>
              </a:rPr>
              <a:t>主任CM研修 / 主任ケアマネの実務とスーパービジョン技術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F8F89"/>
                </a:solidFill>
                <a:latin typeface="Yu Gothic"/>
              </a:rPr>
              <a:t>30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5580000" cy="360000"/>
          </a:xfrm>
          <a:prstGeom prst="rect">
            <a:avLst/>
          </a:prstGeom>
          <a:solidFill>
            <a:srgbClr val="C0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656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相談をためらわせるもの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5580000" cy="2160000"/>
          </a:xfrm>
          <a:prstGeom prst="rect">
            <a:avLst/>
          </a:prstGeom>
          <a:solidFill>
            <a:srgbClr val="FA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5364000" cy="21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「自分の力不足と思われたくない」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「こんなことで相談していいのか」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「忙しそうで声をかけづらい」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「何をどう伝えればいいか分からない」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▶ 主任CMが後輩に「早めの相談」を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   モデルとして示すことが大切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620000"/>
            <a:ext cx="5400000" cy="360000"/>
          </a:xfrm>
          <a:prstGeom prst="rect">
            <a:avLst/>
          </a:prstGeom>
          <a:solidFill>
            <a:srgbClr val="5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2000" y="1656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相談を活かすコツ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000" y="1980000"/>
            <a:ext cx="5400000" cy="2160000"/>
          </a:xfrm>
          <a:prstGeom prst="rect">
            <a:avLst/>
          </a:prstGeom>
          <a:solidFill>
            <a:srgbClr val="E6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8000" y="2016000"/>
            <a:ext cx="5184000" cy="21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早めに:こじれる前の段階で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具体的に:「何に困り、何を求めるか」を整理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経過を記録:支援経過・関わった機関を時系列で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ゴールを共有:相談で「何を一緒に決めたいか」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平時から関係づくり:困ってから初めて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   連絡、にしない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4320000"/>
            <a:ext cx="11304000" cy="360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000" y="435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主任CMが事業所内でつくる仕組み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4680000"/>
            <a:ext cx="11304000" cy="1440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00" y="4716000"/>
            <a:ext cx="11088000" cy="14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「相談していい」を文化にする ― 抱え込みを評価しない、相談を歓迎する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困難事例リストを事業所で共有し、包括への相談タイミングを逃さない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包括の担当者と「顔の見える関係」を平時から維持する(合同事例検討・地域の集まり)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多機関(医療・障害・生活困窮・権利擁護)との連携窓口を整理しておく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5. 地域包括との協働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1B4D4A"/>
                </a:solidFill>
                <a:latin typeface="Yu Gothic"/>
              </a:rPr>
              <a:t>地域づくりへの参画 ― 一事業所を超えて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864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F8F89"/>
                </a:solidFill>
                <a:latin typeface="Yu Gothic"/>
              </a:rPr>
              <a:t>主任CM研修 / 主任ケアマネの実務とスーパービジョン技術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F8F89"/>
                </a:solidFill>
                <a:latin typeface="Yu Gothic"/>
              </a:rPr>
              <a:t>31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1304000" cy="360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65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なぜ主任CMが地域づくりに関わるのか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11304000" cy="612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11088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目の前の利用者の困りごとの背景には、地域の資源不足・制度の隙間がある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個別支援を地域の力に変えていくのが、主任CMに期待される役割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59" y="2880000"/>
            <a:ext cx="2772000" cy="720000"/>
          </a:xfrm>
          <a:prstGeom prst="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059" y="2880000"/>
            <a:ext cx="2700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個別の気づきを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持ち寄る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0059" y="3600000"/>
            <a:ext cx="2772000" cy="1728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059" y="3707999"/>
            <a:ext cx="2556000" cy="15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323837"/>
                </a:solidFill>
                <a:latin typeface="Yu Gothic"/>
              </a:rPr>
              <a:t>日々の支援で見えた</a:t>
            </a:r>
          </a:p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323837"/>
                </a:solidFill>
                <a:latin typeface="Yu Gothic"/>
              </a:rPr>
              <a:t>「地域に足りないもの」を</a:t>
            </a:r>
          </a:p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323837"/>
                </a:solidFill>
                <a:latin typeface="Yu Gothic"/>
              </a:rPr>
              <a:t>地域ケア会議等で発信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70059" y="2880000"/>
            <a:ext cx="2772000" cy="7200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06059" y="2880000"/>
            <a:ext cx="2700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ネットワークに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参加する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70059" y="3600000"/>
            <a:ext cx="2772000" cy="1728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78059" y="3707999"/>
            <a:ext cx="2556000" cy="15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323837"/>
                </a:solidFill>
                <a:latin typeface="Yu Gothic"/>
              </a:rPr>
              <a:t>ケアマネ連絡会・職能団体</a:t>
            </a:r>
          </a:p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323837"/>
                </a:solidFill>
                <a:latin typeface="Yu Gothic"/>
              </a:rPr>
              <a:t>多職種連携の会・</a:t>
            </a:r>
          </a:p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323837"/>
                </a:solidFill>
                <a:latin typeface="Yu Gothic"/>
              </a:rPr>
              <a:t>地域の協議体に顔を出す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0059" y="2880000"/>
            <a:ext cx="2772000" cy="720000"/>
          </a:xfrm>
          <a:prstGeom prst="rect">
            <a:avLst/>
          </a:prstGeom>
          <a:solidFill>
            <a:srgbClr val="5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6059" y="2880000"/>
            <a:ext cx="2700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資源開発に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関わる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0059" y="3600000"/>
            <a:ext cx="2772000" cy="1728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8059" y="3707999"/>
            <a:ext cx="2556000" cy="15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323837"/>
                </a:solidFill>
                <a:latin typeface="Yu Gothic"/>
              </a:rPr>
              <a:t>インフォーマルな支え合い</a:t>
            </a:r>
          </a:p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323837"/>
                </a:solidFill>
                <a:latin typeface="Yu Gothic"/>
              </a:rPr>
              <a:t>通いの場・生活支援の</a:t>
            </a:r>
          </a:p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323837"/>
                </a:solidFill>
                <a:latin typeface="Yu Gothic"/>
              </a:rPr>
              <a:t>仕組みづくりに協力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30059" y="2880000"/>
            <a:ext cx="2772000" cy="7200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66059" y="2880000"/>
            <a:ext cx="2700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次世代を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育てる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30059" y="3600000"/>
            <a:ext cx="2772000" cy="1728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38059" y="3707999"/>
            <a:ext cx="2556000" cy="15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323837"/>
                </a:solidFill>
                <a:latin typeface="Yu Gothic"/>
              </a:rPr>
              <a:t>実習生・新人の受け入れ</a:t>
            </a:r>
          </a:p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323837"/>
                </a:solidFill>
                <a:latin typeface="Yu Gothic"/>
              </a:rPr>
              <a:t>地域の研修への講師協力</a:t>
            </a:r>
          </a:p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323837"/>
                </a:solidFill>
                <a:latin typeface="Yu Gothic"/>
              </a:rPr>
              <a:t>CM全体の底上げ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000" y="5868000"/>
            <a:ext cx="11328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D96E2A"/>
                </a:solidFill>
                <a:latin typeface="Yu Gothic"/>
              </a:rPr>
              <a:t>▶ 「忙しくてそれどころではない」のが現実。だからこそ、できる範囲で一歩ずつ。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D96E2A"/>
                </a:solidFill>
                <a:latin typeface="Yu Gothic"/>
              </a:rPr>
              <a:t>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Yu Gothic"/>
              </a:rPr>
              <a:t>まとめ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4DCDA"/>
                </a:solidFill>
                <a:latin typeface="Yu Gothic"/>
              </a:rPr>
              <a:t>Wrap Up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1B4D4A"/>
                </a:solidFill>
                <a:latin typeface="Yu Gothic"/>
              </a:rPr>
              <a:t>主任CMの実務を支える 3 つの軸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864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F8F89"/>
                </a:solidFill>
                <a:latin typeface="Yu Gothic"/>
              </a:rPr>
              <a:t>主任CM研修 / 主任ケアマネの実務とスーパービジョン技術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F8F89"/>
                </a:solidFill>
                <a:latin typeface="Yu Gothic"/>
              </a:rPr>
              <a:t>33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061" y="1620000"/>
            <a:ext cx="3671999" cy="720000"/>
          </a:xfrm>
          <a:prstGeom prst="rect">
            <a:avLst/>
          </a:prstGeom>
          <a:solidFill>
            <a:srgbClr val="5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061" y="1710000"/>
            <a:ext cx="3527999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Yu Gothic"/>
              </a:rPr>
              <a:t>人を育てる軸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061" y="2033999"/>
            <a:ext cx="3527999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Yu Gothic"/>
              </a:rPr>
              <a:t>スーパービジョン / OJT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061" y="2340000"/>
            <a:ext cx="3671999" cy="2880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061" y="2484000"/>
            <a:ext cx="3311999" cy="2592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・SVの3機能を意識して関わる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・問いかけで気づきを引き出す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・成長段階に応じて重心を変える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・燃え尽きを予防し、支える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0060" y="1620000"/>
            <a:ext cx="3671999" cy="7200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2060" y="1710000"/>
            <a:ext cx="3527999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Yu Gothic"/>
              </a:rPr>
              <a:t>場を導く軸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060" y="2033999"/>
            <a:ext cx="3527999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Yu Gothic"/>
              </a:rPr>
              <a:t>ファシリテーション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0060" y="2340000"/>
            <a:ext cx="3671999" cy="2880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0060" y="2484000"/>
            <a:ext cx="3311999" cy="2592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・中立を保ち、全員を参加させる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・準備で会議の質を決める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・論点を可視化し、結論を出す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・個別課題を地域課題へつなぐ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76059" y="1620000"/>
            <a:ext cx="3671999" cy="720000"/>
          </a:xfrm>
          <a:prstGeom prst="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8059" y="1710000"/>
            <a:ext cx="3527999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Yu Gothic"/>
              </a:rPr>
              <a:t>地域とつなぐ軸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8059" y="2033999"/>
            <a:ext cx="3527999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Yu Gothic"/>
              </a:rPr>
              <a:t>多機関協働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76059" y="2340000"/>
            <a:ext cx="3671999" cy="2880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6059" y="2484000"/>
            <a:ext cx="3311999" cy="2592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・地域包括と対等に協働する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・早めに・具体的に相談する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・平時から顔の見える関係を保つ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・地域づくりに一歩ずつ関わる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000" y="5400000"/>
            <a:ext cx="11304000" cy="360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4000" y="543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3つの軸に共通する原点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000" y="5760000"/>
            <a:ext cx="11304000" cy="432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0000" y="5796000"/>
            <a:ext cx="11088000" cy="39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「正解を与える人」ではなく「考えるプロセスを支える人」</a:t>
            </a:r>
          </a:p>
          <a:p>
            <a:pPr algn="l"/>
            <a:r>
              <a:rPr sz="1300" b="0" i="0">
                <a:solidFill>
                  <a:srgbClr val="323837"/>
                </a:solidFill>
                <a:latin typeface="Yu Gothic"/>
              </a:rPr>
              <a:t>■ 主任CMの成果は、後輩・地域・利用者を通じて、時間をかけて表れる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1B4D4A"/>
                </a:solidFill>
                <a:latin typeface="Yu Gothic"/>
              </a:rPr>
              <a:t>明日からの 3 つのアクション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864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F8F89"/>
                </a:solidFill>
                <a:latin typeface="Yu Gothic"/>
              </a:rPr>
              <a:t>主任CM研修 / 主任ケアマネの実務とスーパービジョン技術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F8F89"/>
                </a:solidFill>
                <a:latin typeface="Yu Gothic"/>
              </a:rPr>
              <a:t>34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620000" cy="1332000"/>
          </a:xfrm>
          <a:prstGeom prst="rect">
            <a:avLst/>
          </a:prstGeom>
          <a:solidFill>
            <a:srgbClr val="5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1764000"/>
            <a:ext cx="16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Action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2160000"/>
            <a:ext cx="1620000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2000" y="1620000"/>
            <a:ext cx="9708119" cy="1332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60000" y="1728000"/>
            <a:ext cx="949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 i="0">
                <a:solidFill>
                  <a:srgbClr val="1B4D4A"/>
                </a:solidFill>
                <a:latin typeface="Yu Gothic"/>
              </a:rPr>
              <a:t>後輩CMとの「定例の振り返り」を設ける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0000" y="2123999"/>
            <a:ext cx="9492119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・「困ったときだけ」をやめ、月1回など定例のSVの時間をつくる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・1回目は「最近どう?」から。評価でなく支える場であることを伝える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060000"/>
            <a:ext cx="1620000" cy="13320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000" y="3204000"/>
            <a:ext cx="16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Action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3600000"/>
            <a:ext cx="1620000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52000" y="3060000"/>
            <a:ext cx="9708119" cy="1332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0" y="3168000"/>
            <a:ext cx="949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 i="0">
                <a:solidFill>
                  <a:srgbClr val="1B4D4A"/>
                </a:solidFill>
                <a:latin typeface="Yu Gothic"/>
              </a:rPr>
              <a:t>次の会議を「準備」から設計する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0000" y="3563999"/>
            <a:ext cx="9492119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・次に関わる地域ケア会議・事例検討会で、目的・ゴール・進行を事前設計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・グランドルール(否定しない 等)を冒頭で共有してみる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4500000"/>
            <a:ext cx="1620000" cy="1332000"/>
          </a:xfrm>
          <a:prstGeom prst="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000" y="4644000"/>
            <a:ext cx="16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Action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000" y="5040000"/>
            <a:ext cx="1620000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2000" y="4500000"/>
            <a:ext cx="9708119" cy="1332000"/>
          </a:xfrm>
          <a:prstGeom prst="rect">
            <a:avLst/>
          </a:prstGeom>
          <a:solidFill>
            <a:srgbClr val="E5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0000" y="4608000"/>
            <a:ext cx="949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 i="0">
                <a:solidFill>
                  <a:srgbClr val="1B4D4A"/>
                </a:solidFill>
                <a:latin typeface="Yu Gothic"/>
              </a:rPr>
              <a:t>地域包括の担当者と一度話す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60000" y="5003999"/>
            <a:ext cx="9492119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・困難事例がなくても、平時に顔をつなぐ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23837"/>
                </a:solidFill>
                <a:latin typeface="Yu Gothic"/>
              </a:rPr>
              <a:t>・自分の事業所の困難事例リストを整理し、相談のタイミングを見直す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20000"/>
            <a:ext cx="12192119" cy="360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 i="0">
                <a:solidFill>
                  <a:srgbClr val="D96E2A"/>
                </a:solidFill>
                <a:latin typeface="Yu Gothic"/>
              </a:rPr>
              <a:t>Closing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880000"/>
            <a:ext cx="10752119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600" b="1" i="0">
                <a:solidFill>
                  <a:srgbClr val="FFFFFF"/>
                </a:solidFill>
                <a:latin typeface="Yu Gothic"/>
              </a:rPr>
              <a:t>ケアマネジャーを育てることは、</a:t>
            </a:r>
          </a:p>
          <a:p>
            <a:pPr algn="ctr">
              <a:lnSpc>
                <a:spcPct val="140000"/>
              </a:lnSpc>
            </a:pPr>
            <a:r>
              <a:rPr sz="2600" b="1" i="0">
                <a:solidFill>
                  <a:srgbClr val="FFFFFF"/>
                </a:solidFill>
                <a:latin typeface="Yu Gothic"/>
              </a:rPr>
              <a:t>その先にいる利用者を支えること。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4500000"/>
            <a:ext cx="10032119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1400" b="0" i="0">
                <a:solidFill>
                  <a:srgbClr val="D4DCDA"/>
                </a:solidFill>
                <a:latin typeface="Yu Gothic"/>
              </a:rPr>
              <a:t>主任CMの一日は地味で、成果はすぐには見えません。</a:t>
            </a:r>
          </a:p>
          <a:p>
            <a:pPr algn="ctr">
              <a:lnSpc>
                <a:spcPct val="160000"/>
              </a:lnSpc>
            </a:pPr>
            <a:r>
              <a:rPr sz="1400" b="0" i="0">
                <a:solidFill>
                  <a:srgbClr val="D4DCDA"/>
                </a:solidFill>
                <a:latin typeface="Yu Gothic"/>
              </a:rPr>
              <a:t>けれど、あなたが後輩に向けた問いかけ、会議で引き出した一言、</a:t>
            </a:r>
          </a:p>
          <a:p>
            <a:pPr algn="ctr">
              <a:lnSpc>
                <a:spcPct val="160000"/>
              </a:lnSpc>
            </a:pPr>
            <a:r>
              <a:rPr sz="1400" b="0" i="0">
                <a:solidFill>
                  <a:srgbClr val="D4DCDA"/>
                </a:solidFill>
                <a:latin typeface="Yu Gothic"/>
              </a:rPr>
              <a:t>地域包括とつないだ一本の連絡が、地域のケアの質を少しずつ変えていきます。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1B4D4A"/>
                </a:solidFill>
                <a:latin typeface="Yu Gothic"/>
              </a:rPr>
              <a:t>参考資料 ・ 情報源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864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F8F89"/>
                </a:solidFill>
                <a:latin typeface="Yu Gothic"/>
              </a:rPr>
              <a:t>主任CM研修 / 主任ケアマネの実務とスーパービジョン技術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F8F89"/>
                </a:solidFill>
                <a:latin typeface="Yu Gothic"/>
              </a:rPr>
              <a:t>36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162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 i="0">
                <a:solidFill>
                  <a:srgbClr val="323837"/>
                </a:solidFill>
                <a:latin typeface="Yu Gothic"/>
              </a:rPr>
              <a:t>■ 厚生労働省「地域ケア会議運営マニュアル」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088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 i="0">
                <a:solidFill>
                  <a:srgbClr val="323837"/>
                </a:solidFill>
                <a:latin typeface="Yu Gothic"/>
              </a:rPr>
              <a:t>■ 厚生労働省「主任介護支援専門員研修」「主任介護支援専門員更新研修」関連資料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556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 i="0">
                <a:solidFill>
                  <a:srgbClr val="323837"/>
                </a:solidFill>
                <a:latin typeface="Yu Gothic"/>
              </a:rPr>
              <a:t>■ 日本介護支援専門員協会「スーパービジョン」関連研修・テキスト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3024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 i="0">
                <a:solidFill>
                  <a:srgbClr val="323837"/>
                </a:solidFill>
                <a:latin typeface="Yu Gothic"/>
              </a:rPr>
              <a:t>■ 厚生労働省「適切なケアマネジメント手法の手引き」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492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 i="0">
                <a:solidFill>
                  <a:srgbClr val="323837"/>
                </a:solidFill>
                <a:latin typeface="Yu Gothic"/>
              </a:rPr>
              <a:t>■ 各都道府県・職能団体のスーパービジョン研修・ファシリテーション研修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96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 i="0">
                <a:solidFill>
                  <a:srgbClr val="323837"/>
                </a:solidFill>
                <a:latin typeface="Yu Gothic"/>
              </a:rPr>
              <a:t>■ 地域包括支援センター運営に関する手引き・通知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4428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 i="0">
                <a:solidFill>
                  <a:srgbClr val="323837"/>
                </a:solidFill>
                <a:latin typeface="Yu Gothic"/>
              </a:rPr>
              <a:t>■ 対人援助職向けのスーパービジョン・バーンアウト関連の専門書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5148000"/>
            <a:ext cx="11304000" cy="3600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000" y="51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学び続けるために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5508000"/>
            <a:ext cx="11304000" cy="612000"/>
          </a:xfrm>
          <a:prstGeom prst="rect">
            <a:avLst/>
          </a:prstGeom>
          <a:solidFill>
            <a:srgbClr val="FB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000" y="5544000"/>
            <a:ext cx="11088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スーパービジョンもファシリテーションも「技術」 ― 知識だけでなく、実践と振り返りで磨かれる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主任CM自身も、地域の主任CM同士で学び合い、支え合う場を持つことが大切</a:t>
            </a:r>
          </a:p>
          <a:p>
            <a:pPr algn="l"/>
            <a:r>
              <a:rPr sz="1200" b="0" i="0">
                <a:solidFill>
                  <a:srgbClr val="323837"/>
                </a:solidFill>
                <a:latin typeface="Yu Gothic"/>
              </a:rPr>
              <a:t>■ 本資料は 2026年5月時点の情報を基に構成しています。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4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60000" y="2700000"/>
            <a:ext cx="4248000" cy="43200"/>
          </a:xfrm>
          <a:prstGeom prst="rect">
            <a:avLst/>
          </a:prstGeom>
          <a:solidFill>
            <a:srgbClr val="D9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808000"/>
            <a:ext cx="1075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Yu Gothic"/>
              </a:rPr>
              <a:t>ご清聴ありがとうございました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96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0" i="0">
                <a:solidFill>
                  <a:srgbClr val="C99A2E"/>
                </a:solidFill>
                <a:latin typeface="Yu Gothic"/>
              </a:rPr>
              <a:t>質疑応答 ・ 意見交換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468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4DCDA"/>
                </a:solidFill>
                <a:latin typeface="Yu Gothic"/>
              </a:rPr>
              <a:t>本日の学びを、ぜひ事業所・地域の中で共有してください。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