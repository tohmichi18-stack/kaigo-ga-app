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12192119" cy="1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87A41"/>
                </a:solidFill>
                <a:latin typeface="Yu Gothic"/>
              </a:rPr>
              <a:t>主任介護支援専門員 研修会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160000"/>
            <a:ext cx="1111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240000"/>
            <a:ext cx="1111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Yu Gothic"/>
              </a:rPr>
              <a:t>ー厚生労働省が推進する「基本ケア」「疾患別ケア」の考え方を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Yu Gothic"/>
              </a:rPr>
              <a:t>アセスメント・ケアプラン作成にどう落とし込むかー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Yu Gothic"/>
              </a:rPr>
              <a:t>主任ケアマネジャーの会  主催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5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本日の研修目標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620000"/>
            <a:ext cx="11328119" cy="4680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2E86AB"/>
                </a:solidFill>
                <a:latin typeface="Yu Gothic"/>
              </a:rPr>
              <a:t>■  </a:t>
            </a:r>
            <a:r>
              <a:rPr sz="1700">
                <a:solidFill>
                  <a:srgbClr val="404040"/>
                </a:solidFill>
                <a:latin typeface="Yu Gothic"/>
              </a:rPr>
              <a:t>「適切なケアマネジメント手法」の全体構造(基本ケア・疾患別ケア)を理解する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2E86AB"/>
                </a:solidFill>
                <a:latin typeface="Yu Gothic"/>
              </a:rPr>
              <a:t>■  </a:t>
            </a:r>
            <a:r>
              <a:rPr sz="1700">
                <a:solidFill>
                  <a:srgbClr val="404040"/>
                </a:solidFill>
                <a:latin typeface="Yu Gothic"/>
              </a:rPr>
              <a:t>基本ケアの4つの柱と支援の必要性を判断する項目を実務に位置づける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2E86AB"/>
                </a:solidFill>
                <a:latin typeface="Yu Gothic"/>
              </a:rPr>
              <a:t>■  </a:t>
            </a:r>
            <a:r>
              <a:rPr sz="1700">
                <a:solidFill>
                  <a:srgbClr val="404040"/>
                </a:solidFill>
                <a:latin typeface="Yu Gothic"/>
              </a:rPr>
              <a:t>認知症の疾患別ケアの考え方を、進行段階に応じて整理できる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2E86AB"/>
                </a:solidFill>
                <a:latin typeface="Yu Gothic"/>
              </a:rPr>
              <a:t>■  </a:t>
            </a:r>
            <a:r>
              <a:rPr sz="1700">
                <a:solidFill>
                  <a:srgbClr val="404040"/>
                </a:solidFill>
                <a:latin typeface="Yu Gothic"/>
              </a:rPr>
              <a:t>課題分析(アセスメント)で「想定される支援内容」を仮説検証的に活用できる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2E86AB"/>
                </a:solidFill>
                <a:latin typeface="Yu Gothic"/>
              </a:rPr>
              <a:t>■  </a:t>
            </a:r>
            <a:r>
              <a:rPr sz="1700">
                <a:solidFill>
                  <a:srgbClr val="404040"/>
                </a:solidFill>
                <a:latin typeface="Yu Gothic"/>
              </a:rPr>
              <a:t>第1表〜第3表のケアプランに「基本ケア+認知症ケア」を落とし込める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2E86AB"/>
                </a:solidFill>
                <a:latin typeface="Yu Gothic"/>
              </a:rPr>
              <a:t>■  </a:t>
            </a:r>
            <a:r>
              <a:rPr sz="1700">
                <a:solidFill>
                  <a:srgbClr val="404040"/>
                </a:solidFill>
                <a:latin typeface="Yu Gothic"/>
              </a:rPr>
              <a:t>事業所内のケース検討で活用するためのポイントを持ち帰る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本日の流れ(90分)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 / 37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20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674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適切なケアマネジメント手法とは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69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196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250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基本ケアの考え方(4つの柱)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26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2772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2826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認知症の疾患別ケアの考え方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284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20分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348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3402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アセスメントへの落とし込み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42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3924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3978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ケアプラン作成への落とし込み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39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500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4554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事例検討(認知症ケース)・グループ共有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457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10分</a:t>
            </a:r>
          </a:p>
        </p:txBody>
      </p:sp>
      <p:sp>
        <p:nvSpPr>
          <p:cNvPr id="26" name="Oval 25"/>
          <p:cNvSpPr/>
          <p:nvPr/>
        </p:nvSpPr>
        <p:spPr>
          <a:xfrm>
            <a:off x="540000" y="5076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0" y="5130000"/>
            <a:ext cx="720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Yu Gothic"/>
              </a:rPr>
              <a:t>まとめ・質疑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52119" y="514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>
                <a:solidFill>
                  <a:srgbClr val="E87A41"/>
                </a:solidFill>
                <a:latin typeface="Yu Gothic"/>
              </a:rPr>
              <a:t> 5分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E87A41"/>
                </a:solidFill>
                <a:latin typeface="Yu Gothic"/>
              </a:rPr>
              <a:t>第 1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適切なケアマネジメント手法とは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What is the Appropriate Care Management Method?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1. 適切なケアマネジメント手法とは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なぜ今、適切なケアマネジメント手法か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5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4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背景:制度・社会的要請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400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・高齢化の進展と認知症高齢者の増加(2025年問題・2040年問題)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・ケアマネジメントの質のばらつきへの指摘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・「自立支援」「重度化防止」「尊厳の保持」の法的位置づけ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(介護保険法第1条・第2条)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・科学的介護(LIFE)・データに基づくケアの推進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・主任ケアマネへの「指導・育成」機能の期待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目的:手法が目指すもの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・経験や勘に依存しない、科学的根拠に基づくケアマネジメント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・要介護高齢者の生活の継続を支える共通言語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・想定される支援内容を「仮説」として持ち、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アセスメントで検証する思考プロセスの定着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・利用者像の見落とし・支援漏れの防止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・多職種協働を促進する土台づくり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手法は「マニュアル」ではなく「思考の枠組み」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個別性を否定するものではない。むしろ標準を持つことで個別性が際立つ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主任ケアマネは、後輩ケアマネに「なぜその支援を入れたのか」を説明できる根拠として活用する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R3年度から研修カリキュラム・法定研修にも段階的に組み込まれている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1. 適切なケアマネジメント手法とは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適切なケアマネジメント手法の全体構造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6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【基本ケア】 すべての高齢者に共通する支援の考え方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872000"/>
            <a:ext cx="11304000" cy="792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944000"/>
            <a:ext cx="1116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①尊厳の保持と自立支援  ②全体像の把握(疾病・生活・家族・住環境)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③意思決定の支援(本人の意向を中心に)  ④リスク管理(予防的視点)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11304000" cy="32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9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【疾患別ケア】 主要7疾患群ごとの支援の考え方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3659" y="3276000"/>
            <a:ext cx="1548000" cy="1188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6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脳血管疾患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6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Yu Gothic"/>
              </a:rPr>
              <a:t>再発予防・麻痺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96459" y="3276000"/>
            <a:ext cx="1548000" cy="1188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84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大腿骨頸部骨折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84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Yu Gothic"/>
              </a:rPr>
              <a:t>リハ・転倒予防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9259" y="3276000"/>
            <a:ext cx="1548000" cy="1188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12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心疾患(心不全)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12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Yu Gothic"/>
              </a:rPr>
              <a:t>増悪予防・服薬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2059" y="3276000"/>
            <a:ext cx="1548000" cy="1188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0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認知症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0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進行・BPSD・家族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2059" y="4500000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>
                <a:solidFill>
                  <a:srgbClr val="E87A41"/>
                </a:solidFill>
                <a:latin typeface="Yu Gothic"/>
              </a:rPr>
              <a:t>★ 本日の中心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34859" y="3276000"/>
            <a:ext cx="1548000" cy="1188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68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誤嚥性肺炎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68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Yu Gothic"/>
              </a:rPr>
              <a:t>口腔・嚥下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7659" y="3276000"/>
            <a:ext cx="1548000" cy="1188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96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パーキンソン病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96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Yu Gothic"/>
              </a:rPr>
              <a:t>ON/OFF・転倒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60459" y="3276000"/>
            <a:ext cx="1548000" cy="1188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2459" y="3420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糖尿病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32459" y="3924000"/>
            <a:ext cx="1404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Yu Gothic"/>
              </a:rPr>
              <a:t>血糖・合併症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5580000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▶ 実務では「基本ケア」を土台に、利用者の疾患に応じた「疾患別ケア」を重ねる。</a:t>
            </a:r>
          </a:p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▶ どの疾患でも、基本ケアは必ず通底する。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1. 適切なケアマネジメント手法とは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「想定される支援内容」を仮説として持つ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7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61" y="1980000"/>
            <a:ext cx="2340000" cy="12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2061" y="2088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①想定される支援内容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(手引きから仮説立て)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6061" y="2448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4060" y="1980000"/>
            <a:ext cx="2340000" cy="12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6060" y="2088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②アセスメントで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必要性を判断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80060" y="2448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8059" y="1980000"/>
            <a:ext cx="2340000" cy="12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59" y="2088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③ケアプランへ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落とし込み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4059" y="2448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2058" y="1980000"/>
            <a:ext cx="2340000" cy="12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4058" y="2088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④モニタリングで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検証・修正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主任ケアマネが押さえるべき発想の転換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BEFORE  「アセスメントしてから、支援内容を考える」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AFTER     「想定される支援内容を 仮説 として持って、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             アセスメントで本人にとっての必要性を 検証 する」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→ 漏れ・抜けを減らし、根拠を持って「入れる/入れない」を判断できるようになる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E87A41"/>
                </a:solidFill>
                <a:latin typeface="Yu Gothic"/>
              </a:rPr>
              <a:t>第 2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基本ケアの考え方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Foundation: The Four Pillars of Basic 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2. 基本ケアの考え方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基本ケアの4つの柱(全体像)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9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1007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E87A41"/>
                </a:solidFill>
                <a:latin typeface="Yu Gothic"/>
              </a:rPr>
              <a:t>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尊厳の保持と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自立支援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59" y="2627999"/>
            <a:ext cx="2772000" cy="3132001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・本人の「したい」「ありたい」を起点に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・できることを奪わない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・役割・参加の機会の確保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059" y="1620000"/>
            <a:ext cx="2772000" cy="1007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E87A41"/>
                </a:solidFill>
                <a:latin typeface="Yu Gothic"/>
              </a:rPr>
              <a:t>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全体像の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把握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627999"/>
            <a:ext cx="2772000" cy="3132001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・疾病管理 / 生活全般 / 家族・介護者 / 住環境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・既往と現状の整合を確認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・潜在ニーズの可視化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1620000"/>
            <a:ext cx="2772000" cy="1007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E87A41"/>
                </a:solidFill>
                <a:latin typeface="Yu Gothic"/>
              </a:rPr>
              <a:t>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意思決定の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支援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059" y="2627999"/>
            <a:ext cx="2772000" cy="3132001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・ACP・本人の価値観の確認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・代理意思決定者の整理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・段階に応じた情報提供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0059" y="1620000"/>
            <a:ext cx="2772000" cy="1007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E87A41"/>
                </a:solidFill>
                <a:latin typeface="Yu Gothic"/>
              </a:rPr>
              <a:t>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リスクの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予測と管理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2627999"/>
            <a:ext cx="2772000" cy="3132001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・服薬・転倒・誤嚥・栄養・脱水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・感染症・予期せぬ入院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・予防的アプローチ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▶ 4つの柱は独立ではなく相互に作用する。実務では「Ⅱ全体像」を土台に、Ⅰ・Ⅲ・Ⅳを組み合わせる。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2. 基本ケアの考え方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Ⅰ. 尊厳の保持と自立支援 ― 実務での落とし込み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10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4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想定される支援内容(仮説)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400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・本人の意向・好みの把握(食・整容・生活リズム)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・残存機能を活かす活動の場の確保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・「できる/しているADL」の差を埋める働きかけ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・社会的役割・地域参加の機会の確保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・過剰介助の回避(家族・サービス事業所へのアプローチ)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アセスメントで確認する項目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・本人の希望(短期/長期) / 価値観 / 人生史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・現在のADL・IADL(できる/している)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・趣味・社会参加の頻度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・家族・介護者の介護観(代行/見守りのバランス)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・本人が「諦めていること」「我慢していること」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主任ケアマネの視点 ― 後輩への問いかけ例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「このプラン、本人の言葉で目標が書けている?家族の希望にすり替わっていない?」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「この支援は『代わりにやる』になっていない?『一緒にやる』『見守る』に置き換えられない?」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「本人が、5年後も同じ生活を続けるための『止めない』ことは何だろう?」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2. 基本ケアの考え方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Ⅱ. 全体像の把握 ― 4つの領域で漏れなく見る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11 / 37</a:t>
            </a:r>
          </a:p>
        </p:txBody>
      </p:sp>
      <p:sp>
        <p:nvSpPr>
          <p:cNvPr id="8" name="Oval 7"/>
          <p:cNvSpPr/>
          <p:nvPr/>
        </p:nvSpPr>
        <p:spPr>
          <a:xfrm>
            <a:off x="5376059" y="3240000"/>
            <a:ext cx="1440000" cy="1080000"/>
          </a:xfrm>
          <a:prstGeom prst="ellipse">
            <a:avLst/>
          </a:prstGeom>
          <a:solidFill>
            <a:srgbClr val="E87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本人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980000"/>
            <a:ext cx="3600000" cy="1440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980000"/>
            <a:ext cx="36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016000"/>
            <a:ext cx="34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① 疾病管理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2412000"/>
            <a:ext cx="3384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既往歴・現病歴・服薬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医療連携・服薬コンプライアンス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0000" y="1980000"/>
            <a:ext cx="3600000" cy="1440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60000" y="1980000"/>
            <a:ext cx="36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2000" y="2016000"/>
            <a:ext cx="34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② 生活全般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8000" y="2412000"/>
            <a:ext cx="3384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ADL/IADL・栄養・睡眠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生活リズム・趣味・社会参加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680000"/>
            <a:ext cx="3600000" cy="1440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000" y="4680000"/>
            <a:ext cx="36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4716000"/>
            <a:ext cx="34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③ 家族・介護者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" y="5112000"/>
            <a:ext cx="3384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介護力・健康・就労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介護観・キーパーソン・経済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4680000"/>
            <a:ext cx="3600000" cy="1440000"/>
          </a:xfrm>
          <a:prstGeom prst="rect">
            <a:avLst/>
          </a:prstGeom>
          <a:solidFill>
            <a:srgbClr val="EAF3F9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0000" y="4680000"/>
            <a:ext cx="36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2000" y="4716000"/>
            <a:ext cx="34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④ 住環境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8000" y="5112000"/>
            <a:ext cx="3384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段差・手すり・トイレ動線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地域資源・近隣・交通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2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▶ 4領域はチェックリストではなく「視点」。一度で完結せず、関わりの中で更新し続ける。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2. 基本ケアの考え方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Ⅲ. 意思決定支援 ― ACPと日常の選好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12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2つのレベルで考える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【日常の意思決定】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・食事・入浴・外出・服装などの選好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・「選べる」場面の確保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【人生の重要な意思決定】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・在宅継続/施設入所/医療処置の選択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・ACP(人生会議)・看取りの場所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認知症がある場合の留意点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・能力を「ある/ない」の二分で判断しない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・場面・タイミング・支援の有無で揺らぐ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・本人の表情・反応も意思表示として汲み取る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・家族の代理判断と本人意思を区別する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・意思決定支援ガイドライン(厚労省)を活用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ケアプランへの落とし込みポイント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第1表「利用者及び家族の生活に対する意向」に、本人と家族の意向を分けて記載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第2表のニーズに、本人が了解・納得しているプロセスを残す(支援経過の活用)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「意思決定支援」自体をサービス内容に明示する例:本人参加の担当者会議、診察同席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2. 基本ケアの考え方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Ⅳ. リスクの予測と管理 ― 予防的視点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13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4000" y="1620000"/>
            <a:ext cx="9540000" cy="43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6000" y="1674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000" y="1674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リスクの兆候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000" y="1674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想定される予防的支援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4000" y="2052000"/>
            <a:ext cx="9540000" cy="43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6000" y="2106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服薬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000" y="2106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残薬・重複処方・自己中断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000" y="2106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服薬一元化・お薬カレンダー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4000" y="2484000"/>
            <a:ext cx="954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6000" y="2538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転倒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2538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下肢筋力低下・薬剤性ふらつき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000" y="2538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環境整備・リハ・履物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4000" y="2916000"/>
            <a:ext cx="9540000" cy="43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6000" y="2970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誤嚥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000" y="2970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食事中のむせ・体重減少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000" y="2970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口腔ケア・食形態調整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4000" y="3348000"/>
            <a:ext cx="954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6000" y="3402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栄養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6000" y="3402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食事量低下・買い物困難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000" y="3402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配食・栄養補助・受診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4000" y="3780000"/>
            <a:ext cx="9540000" cy="43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6000" y="3834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脱水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6000" y="3834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夏季・利尿剤・口渇低下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000" y="3834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水分摂取支援・室温管理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4000" y="4212000"/>
            <a:ext cx="954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96000" y="4266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感染症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6000" y="4266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肺炎・尿路・皮膚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000" y="4266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ワクチン・口腔・清潔保持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24000" y="4644000"/>
            <a:ext cx="9540000" cy="43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6000" y="4698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家族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000" y="4698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介護負担・虐待リスク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000" y="4698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レスパイト・相談機関連携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24000" y="5076000"/>
            <a:ext cx="954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6000" y="5130000"/>
            <a:ext cx="147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社会的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6000" y="5130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孤立・経済困窮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000" y="5130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地域包括・成年後見・生保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E87A41"/>
                </a:solidFill>
                <a:latin typeface="Yu Gothic"/>
              </a:rPr>
              <a:t>第 3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認知症の疾患別ケアの考え方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Dementia-Specific Care: From Diagnosis to End-of-Life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3. 認知症の疾患別ケア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認知症ケアの全体像 ― 4つの観点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15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1007999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病態と進行の理解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59" y="2627999"/>
            <a:ext cx="2772000" cy="3132001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・原因疾患の違いと特徴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  (AD/血管性/レビー/FTD)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・進行段階の見立て(FAST等)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・併存疾患・身体合併症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059" y="1620000"/>
            <a:ext cx="2772000" cy="1007999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BPSDへの対応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627999"/>
            <a:ext cx="2772000" cy="3132001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・行動・心理症状の意味を読む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・誘因の把握(身体・環境・心理)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・非薬物的対応を優先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・薬物療法との関係整理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1620000"/>
            <a:ext cx="2772000" cy="1007999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意思決定支援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059" y="2627999"/>
            <a:ext cx="2772000" cy="3132001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・早期からの本人の意向把握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・ACP・看取り場所の話し合い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・成年後見・任意後見の検討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・身寄りなしケースへの対応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0059" y="1620000"/>
            <a:ext cx="2772000" cy="1007999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家族介護者支援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2627999"/>
            <a:ext cx="2772000" cy="3132001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・介護負担・抑うつ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・介護観のすり合わせ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・就労との両立支援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・家族の理解と教育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▶ 4観点は同時並行で考える。特に「B BPSDへの対応」は「A 進行」と「D 家族」とセットで見立てる。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3. 認知症の疾患別ケア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A. 原因疾患による特徴の違い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16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059" y="1800000"/>
            <a:ext cx="10980000" cy="43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059" y="1854000"/>
            <a:ext cx="219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原因疾患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8059" y="1854000"/>
            <a:ext cx="381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進行・特徴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8059" y="1854000"/>
            <a:ext cx="4536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ケアで注意するポイント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059" y="2232000"/>
            <a:ext cx="10980000" cy="576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059" y="2304000"/>
            <a:ext cx="219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アルツハイマー型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8059" y="2304000"/>
            <a:ext cx="381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緩徐進行・近時記憶障害先行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8059" y="2304000"/>
            <a:ext cx="45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見当識低下・徘徊・物盗られ妄想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059" y="2808000"/>
            <a:ext cx="10980000" cy="576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059" y="2880000"/>
            <a:ext cx="219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血管性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8059" y="2880000"/>
            <a:ext cx="381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段階的進行・基礎疾患合併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8059" y="2880000"/>
            <a:ext cx="45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感情失禁・意欲低下・運動麻痺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059" y="3384000"/>
            <a:ext cx="10980000" cy="576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059" y="3456000"/>
            <a:ext cx="219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レビー小体型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8059" y="3456000"/>
            <a:ext cx="381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認知の変動・パーキンソン症状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8059" y="3456000"/>
            <a:ext cx="45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幻視・REM睡眠行動・転倒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059" y="3960000"/>
            <a:ext cx="10980000" cy="576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059" y="4032000"/>
            <a:ext cx="219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前頭側頭型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8059" y="4032000"/>
            <a:ext cx="381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人格変化・常同行動が初期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8059" y="4032000"/>
            <a:ext cx="45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脱抑制・社会的逸脱・食行動異常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220000"/>
            <a:ext cx="11328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3A5F"/>
                </a:solidFill>
                <a:latin typeface="Yu Gothic"/>
              </a:rPr>
              <a:t>▶ 「認知症」とひとくくりにせず、原因疾患を主治医と共有することが、想定される支援内容の起点。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3A5F"/>
                </a:solidFill>
                <a:latin typeface="Yu Gothic"/>
              </a:rPr>
              <a:t>▶ 例:レビー小体型でハロペリドール系投与は禁忌に近い ⇒ 服薬情報の共有はケアマネの役割。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3. 認知症の疾患別ケア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A. 進行段階別の「想定される支援内容」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17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576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059" y="1692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MCI〜軽度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59" y="2196000"/>
            <a:ext cx="2772000" cy="3564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059" y="2268000"/>
            <a:ext cx="2556000" cy="34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・本人の自覚を尊重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・運転・金銭管理の見直し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・就労継続支援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・社会参加の維持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0059" y="1620000"/>
            <a:ext cx="2772000" cy="57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2059" y="1692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中等度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0059" y="2196000"/>
            <a:ext cx="2772000" cy="3564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8059" y="2268000"/>
            <a:ext cx="2556000" cy="34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・BPSD対応(中心課題)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・服薬管理のサポート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・通所サービス・レスパイト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・徘徊・火気の事故予防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059" y="1620000"/>
            <a:ext cx="2772000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059" y="1692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重度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2196000"/>
            <a:ext cx="2772000" cy="3564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8059" y="2268000"/>
            <a:ext cx="2556000" cy="34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・身体合併症の予防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・誤嚥・脱水・褥瘡対策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・コミュニケーション維持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・在宅/施設の意思決定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0059" y="1620000"/>
            <a:ext cx="2772000" cy="576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2059" y="1692000"/>
            <a:ext cx="26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看取り期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0059" y="2196000"/>
            <a:ext cx="2772000" cy="3564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8059" y="2268000"/>
            <a:ext cx="2556000" cy="34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・本人の安楽・尊厳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・看取り場所の選択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・家族の予期悲嘆ケア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・多職種看取りカンファ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▶ 「今、本人はどの段階か」を多職種で共有することが、支援の過不足を防ぐ最大のポイント。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3. 認知症の疾患別ケア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B. BPSDの捉え方 ― 「行動」ではなく「意味」を見る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18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BPSDを引き起こす誘因(3つの層)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98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【身体的要因】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・疼痛・便秘・脱水・発熱・薬剤性・睡眠障害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【環境的要因】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・過剰な刺激・場所の変化・人間関係・不適切ケア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【心理的要因】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・不安・孤独・自尊心の傷つき・喪失体験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対応の優先順位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98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① 非薬物的対応を最優先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・誘因の除去、安心できる関わり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・センター方式・ひもときシート活用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② 主治医と相談の上での薬物療法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・副作用(転倒・嚥下低下)に注意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③ 家族・事業所への「対応の意味」共有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・なぜその対応か、根拠を伝える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主任ケアマネの腕の見せどころ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後輩から「対応に困っている」相談が来たら、まず「3つの誘因」を一緒に整理する習慣をつける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事業所内のケース会議で「困った行動」ではなく「困っている本人の状態」として言い換えさせる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短期間で改善しなくても、誘因仮説の検証プロセスを記録に残す(支援経過)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3. 認知症の疾患別ケア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C. 認知症と意思決定支援 ― ガイドラインの活用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19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厚労省ガイドラインの3つの原則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① 本人の意思の尊重(意思決定能力を前提に)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② 本人が自ら意思決定できるよう支援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・支援を尽くしたか?(情報提示・環境調整)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③ 本人の意思の推定・最善の利益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・推定意思 → 最善の利益の検討の順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現場でのチェックポイント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・本人にとってわかる言葉・速度で説明したか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・体調がよい時間帯を選んだか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・選択肢を絞りすぎていないか/多すぎないか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・家族の意向と本人意思を混同していないか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・「決められない」を「拒否」と捉えていないか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ケアプランに残すべきプロセス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第1表 意向欄:「本人:〜と希望(○月○日 自宅にて確認)」と日時・場面を明記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担当者会議録:本人が同席した発言・うなずき・表情も記録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支援経過:意思の揺らぎ・変化、家族との合意プロセス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ACPに関する話し合いは「結論」より「プロセス」を残す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3. 認知症の疾患別ケア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D. 家族介護者支援 ― 「もう一人の利用者」として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20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家族のアセスメント項目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・主介護者の健康状態・年齢・就労状況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・介護経験・介護観(代行型/見守り型)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・家族内の役割分担・関係性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・経済状況・住環境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・抑うつ傾向・燃え尽き・虐待リスク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・社会的孤立・支援者の有無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想定される支援内容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・介護教室・家族会(ピアサポート)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・レスパイト(ショートステイ・通所)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・介護休業制度・両立支援の情報提供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・経済的支援(医療費・介護費・年金)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・本人の状態説明・進行の見通しの共有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・看取り期に向けた予期的ガイダンス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虐待・不適切ケアのサインを見逃さない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不自然なあざ・体重減少・脱水の繰り返し → 身体的虐待・ネグレクトの可能性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本人の前で家族が大声で叱責する/本人が萎縮 → 心理的虐待の可能性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通帳・年金を家族が管理し、本人に必要な物が買えていない → 経済的虐待の可能性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通報義務(高齢者虐待防止法)を主任ケアマネは正しく理解し、後輩を支える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E87A41"/>
                </a:solidFill>
                <a:latin typeface="Yu Gothic"/>
              </a:rPr>
              <a:t>第 4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アセスメントへの落とし込み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Embedding the Framework into Assessment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4.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課題分析標準項目(23項目)との対応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54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「基本ケア+認知症ケア」の視点を、すでにある23項目のどこで拾うかを意識する。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059" y="2052000"/>
            <a:ext cx="1116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8059" y="2088000"/>
            <a:ext cx="201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領域(項目番号)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8059" y="2088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課題分析標準項目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8059" y="2088000"/>
            <a:ext cx="417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認知症ケア視点での着眼点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059" y="2412000"/>
            <a:ext cx="11160000" cy="79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059" y="2466000"/>
            <a:ext cx="201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基本情報(1〜9)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8059" y="2466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①基本情報 ②生活状況 ③利用サービス ④障害高齢者 ⑤認知症高齢者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⑥主訴 ⑦認定情報 ⑧課題分析理由 ⑨健康状態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8059" y="2466000"/>
            <a:ext cx="417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⑤認知症高齢者の日常生活自立度 → 進行段階の起点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⑥主訴 → 本人/家族を分けて記載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059" y="3204000"/>
            <a:ext cx="111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059" y="3258000"/>
            <a:ext cx="201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ADL/IADL(10〜11)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8059" y="3258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ADL・IADL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8059" y="3258000"/>
            <a:ext cx="417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「できる/している」の差を必ず確認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認知症では声かけ・見守りの有無で大きく変動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59" y="3996000"/>
            <a:ext cx="11160000" cy="79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059" y="4050000"/>
            <a:ext cx="201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認知・コミュ(12〜14)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8059" y="4050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認知・コミュニケーション・社会との関わり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8059" y="4050000"/>
            <a:ext cx="417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HDS-R/MMSE等の参考値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表情・うなずき・拒否のサインも記録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059" y="4788000"/>
            <a:ext cx="111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059" y="4842000"/>
            <a:ext cx="201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身体(15〜18)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8059" y="4842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排尿・排便・褥瘡・口腔衛生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8059" y="4842000"/>
            <a:ext cx="417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失禁→BPSD誘因/口腔→誤嚥予防に直結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059" y="5580000"/>
            <a:ext cx="11160000" cy="79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8059" y="5634000"/>
            <a:ext cx="201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生活全般(19〜23)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8059" y="5634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食事・問題行動・介護力・居住環境・特別な状況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8059" y="5634000"/>
            <a:ext cx="417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⑳問題行動 → BPSDの誘因を一緒に記載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■ ㉑介護力・㉒居住環境 → 家族・住環境(基本ケアⅡ)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4.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ICFの視点で「全体像」を見える化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23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6059" y="1620000"/>
            <a:ext cx="3600000" cy="54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6059" y="1692000"/>
            <a:ext cx="36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健康状態(認知症 中等度・高血圧)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059" y="2520000"/>
            <a:ext cx="324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8059" y="2556000"/>
            <a:ext cx="30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心身機能・身体構造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059" y="2880000"/>
            <a:ext cx="3240000" cy="14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4059" y="2916000"/>
            <a:ext cx="3024000" cy="13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・近時記憶低下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・見当識低下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・下肢筋力低下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・聴力低下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6059" y="2520000"/>
            <a:ext cx="324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8059" y="2556000"/>
            <a:ext cx="30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活動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6059" y="2880000"/>
            <a:ext cx="3240000" cy="14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4059" y="2916000"/>
            <a:ext cx="3024000" cy="13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・更衣・整容 自立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・調理は支援要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・服薬 声かけ要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・外出 同伴必要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6059" y="2520000"/>
            <a:ext cx="324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8059" y="2556000"/>
            <a:ext cx="30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参加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059" y="2880000"/>
            <a:ext cx="3240000" cy="14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4059" y="2916000"/>
            <a:ext cx="3024000" cy="13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・週1の通所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・近所付き合い継続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・畑作業(週2回)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・自治会 不参加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059" y="4572000"/>
            <a:ext cx="504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059" y="4608000"/>
            <a:ext cx="48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環境因子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059" y="4932000"/>
            <a:ext cx="5040000" cy="126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059" y="4968000"/>
            <a:ext cx="4824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・長男夫婦と同居(共働き)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・段差多い旧家屋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・かかりつけ医近隣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・地域に親しい友人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6059" y="4572000"/>
            <a:ext cx="504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8059" y="4608000"/>
            <a:ext cx="48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個人因子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6059" y="4932000"/>
            <a:ext cx="5040000" cy="126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4059" y="4968000"/>
            <a:ext cx="4824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・78歳 女性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・元教員(現役感あり)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・几帳面・社交的</a:t>
            </a:r>
          </a:p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・「人に迷惑をかけたくない」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4.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事例:Aさん(78歳・女性・要介護2)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24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プロフィール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98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・78歳 女性 要介護2(認知症日常生活自立度 Ⅱb)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・アルツハイマー型認知症(2年前 診断)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・既往:高血圧・変形性膝関節症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・長男夫婦と同居(長男夫婦は共働き)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・元小学校教員、几帳面で社交的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・趣味は家庭菜園(週2回 30分程度)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・希望:「できるだけ自宅で、迷惑をかけずに暮らしたい」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現在の状況・家族の困りごと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98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・調理時に火を消し忘れることが2回(直近1ヶ月)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・「お金が無い」と通帳を何度も確認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・夕方に落ち着かなくなり、外出しようとする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・服薬は嫁が声かけしているが、拒否することも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【嫁の訴え】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「目が離せず仕事を辞めるか悩んでいる。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このまま在宅介護を続けられるか不安」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想定される支援内容(仮説立て)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基本ケア:残存機能の活用(菜園・家事参加)、家族の介護負担軽減、火気・服薬のリスク管理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認知症ケア:夕方症候群への対応(誘因仮説:疲労・不安)、本人意思の確認(早期から)、嫁の支援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▶ 次のスライドで、これら仮説をアセスメントで「検証」する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4.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Aさんのアセスメント ― 見立てと根拠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25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059" y="1620000"/>
            <a:ext cx="1116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8059" y="1656000"/>
            <a:ext cx="16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8059" y="1656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アセスメント(事実)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059" y="1656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見立て・解釈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059" y="1980000"/>
            <a:ext cx="11160000" cy="79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059" y="2034000"/>
            <a:ext cx="165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尊厳・自立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8059" y="2034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教員としての自負・几帳面さ。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菜園を続けたい意向。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059" y="2034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「迷惑をかけたくない」を尊重しつつ、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役割を奪わない関わりが必要。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059" y="2772000"/>
            <a:ext cx="111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059" y="2826000"/>
            <a:ext cx="165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全体像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8059" y="2826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AD中等度・高血圧・膝OA。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長男夫婦共働きで日中独居。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旧家屋で段差多い。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059" y="2826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日中独居時間のリスク管理。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服薬は嫁の出勤後〜帰宅前の空白。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059" y="3564000"/>
            <a:ext cx="11160000" cy="79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059" y="3618000"/>
            <a:ext cx="165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意思決定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8059" y="3618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現時点では本人の意思表示可能。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ACPは未実施。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059" y="3618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比較的早期にACP着手すべき段階。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本人主体で進行を見通した話し合い。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059" y="4356000"/>
            <a:ext cx="111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059" y="4410000"/>
            <a:ext cx="165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リスク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8059" y="4410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火気の消し忘れ・服薬拒否・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夕方の不穏・転倒(膝OA)。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059" y="4410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BPSD(夕方症候群)の誘因仮説: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疲労+夕方の家族不在による不安。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059" y="5148000"/>
            <a:ext cx="11160000" cy="792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059" y="5202000"/>
            <a:ext cx="165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Yu Gothic"/>
              </a:rPr>
              <a:t>家族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8059" y="5202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嫁の介護負担増・離職検討。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夫婦間で介護分担曖昧。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059" y="5202000"/>
            <a:ext cx="4536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嫁=もう一人の利用者として支援。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レスパイトと役割分担調整が急務。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E87A41"/>
                </a:solidFill>
                <a:latin typeface="Yu Gothic"/>
              </a:rPr>
              <a:t>第 5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ケアプラン作成への落とし込み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From Assessment to Care Plan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5.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アセスメント → ニーズ → 目標 → 支援内容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27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61" y="1620000"/>
            <a:ext cx="2340000" cy="108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2061" y="1728000"/>
            <a:ext cx="2196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アセスメント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(事実と解釈)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6061" y="1980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4060" y="1620000"/>
            <a:ext cx="2340000" cy="108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6060" y="1728000"/>
            <a:ext cx="2196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ニーズ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(本人の言葉で)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80060" y="1980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8059" y="1620000"/>
            <a:ext cx="2340000" cy="108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59" y="1728000"/>
            <a:ext cx="2196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長期/短期目標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(評価可能な形で)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4059" y="1980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2058" y="1620000"/>
            <a:ext cx="2340000" cy="108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4058" y="1728000"/>
            <a:ext cx="2196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支援内容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(誰が何をいつ)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24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32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落とし込みのポイント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600000"/>
            <a:ext cx="11304000" cy="25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636000"/>
            <a:ext cx="11088000" cy="24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ニーズは「〜したい」「〜できるようになりたい」と本人の言葉で書く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 × 「認知症のため見守りが必要」 → 〇 「自分で食事の準備を続けたい」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目標は「誰が」「何を」「いつまでに」「どの程度」を具体的に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 × 「ADLを維持する」 → 〇 「6ヶ月後も、台所で野菜を洗う作業を継続できる」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支援内容は「想定される支援内容(基本ケア+認知症ケア)」を再点検し、漏れがないか確認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「入れない」と判断したサービスも、なぜ入れないかを支援経過に残す(主任CMの腕の見せどころ)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5.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Aさんのケアプラン:第1表(抜粋)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28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利用者及び家族の生活に対する意向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本人:「家族に迷惑をかけたくないけれど、できるだけ自宅で、自分でできることは続けたい。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        畑の野菜を作って、孫に食べさせたい。」(○月○日 自宅にて確認)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家族(嫁):「日中の安全と、私の仕事の継続を両立させたい。本人の意向は尊重したい。」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51999"/>
            <a:ext cx="558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87999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総合的な援助の方針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5580000" cy="108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347999"/>
            <a:ext cx="5364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■ 残存機能を活かし、本人が「役割」を持ち続けられる生活を支える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■ 家族の介護負担を軽減し、在宅生活継続を可能とする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■ 進行を見通したACPを早期から始め、本人の意思を尊重する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951999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87999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認定情報・課題分析の理由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311999"/>
            <a:ext cx="5400000" cy="108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347999"/>
            <a:ext cx="5184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・要介護2(R6.○月認定)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・主治医意見書:AD進行、抗認知症薬服用中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・更新申請に伴う再アセスメント、夕方症候群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Yu Gothic"/>
              </a:rPr>
              <a:t>  および家族介護負担の顕在化により再評価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5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第1表 作成のポイント(主任CMチェック)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860000"/>
            <a:ext cx="11304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896000"/>
            <a:ext cx="11088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本人と家族の意向を分けて記載できているか/本人の言葉に近づいているか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援助方針に「基本ケアの4つの柱」が反映されているか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認知症の進行を見通した内容になっているか(数年単位)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■ 家族介護者支援が方針に明示されているか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5.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Aさんのケアプラン:第2表(抜粋)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29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59" y="1620000"/>
            <a:ext cx="11304000" cy="43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59" y="1656000"/>
            <a:ext cx="280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生活全般の解決すべき課題(ニーズ)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0059" y="1656000"/>
            <a:ext cx="26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長期目標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0059" y="1656000"/>
            <a:ext cx="26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短期目標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0059" y="1656000"/>
            <a:ext cx="29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サービス内容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059" y="2052000"/>
            <a:ext cx="11304000" cy="936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059" y="2124000"/>
            <a:ext cx="277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自分で家事の一部を続けながら、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畑作業を楽しみたい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8059" y="2124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野菜を育て、収穫物を孫に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渡せる(12ヶ月)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8059" y="2124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週2回、台所で野菜を洗う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作業を続けられる(3ヶ月)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59" y="2124000"/>
            <a:ext cx="2916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通所介護(週2)/家族による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声かけ・見守り/作業療法士助言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059" y="2988000"/>
            <a:ext cx="11304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059" y="3060000"/>
            <a:ext cx="277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夕方も落ち着いて過ごし、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家族との時間を持ちたい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8059" y="3060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夕方の不穏が週1回以下に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なり、家族の負担軽減(12ヶ月)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059" y="3060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夕方の活動メニューが定着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し、不穏の頻度が減る(3ヶ月)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59" y="3060000"/>
            <a:ext cx="2916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通所介護(17時まで延長)/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家族への対応方法の助言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059" y="3924000"/>
            <a:ext cx="11304000" cy="936000"/>
          </a:xfrm>
          <a:prstGeom prst="rect">
            <a:avLst/>
          </a:prstGeom>
          <a:solidFill>
            <a:srgbClr val="EAF3F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059" y="3996000"/>
            <a:ext cx="277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安全に薬を飲み、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体調を崩さない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8059" y="3996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服薬を継続し、入院せず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在宅生活を続ける(12ヶ月)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8059" y="3996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毎日の服薬が確実に行わ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れる(3ヶ月)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59" y="3996000"/>
            <a:ext cx="2916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訪問看護(週1)/服薬カレンダー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/主治医・薬剤師と連携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4059" y="4860000"/>
            <a:ext cx="11304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059" y="4932000"/>
            <a:ext cx="277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嫁が安心して仕事を続け、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介護を続けられる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8059" y="4932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嫁の就労継続、介護負担感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の軽減(12ヶ月)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8059" y="4932000"/>
            <a:ext cx="2592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月1回のレスパイト利用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家族会に参加(3ヶ月)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59" y="4932000"/>
            <a:ext cx="2916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短期入所(月1回 2泊)</a:t>
            </a:r>
          </a:p>
          <a:p>
            <a:pPr algn="l"/>
            <a:r>
              <a:rPr sz="1050" b="0">
                <a:solidFill>
                  <a:srgbClr val="404040"/>
                </a:solidFill>
                <a:latin typeface="Yu Gothic"/>
              </a:rPr>
              <a:t>地域包括/家族会の紹介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586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▶ ニーズは本人の言葉で。目標は評価可能に。サービス内容は基本ケア+認知症ケアの両輪を意識。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5.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モニタリングで「仮説」を検証し続ける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30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認知症ケースのモニタリング着眼点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98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・進行段階の変化(FAST・自立度の見直し)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・BPSDの出現/消失と誘因の変化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・服薬状況・身体合併症の有無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・本人の表情・発語の質的変化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・家族の負担感(介護負担尺度の活用)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・ACPの内容に変化はないか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再アセスメントのタイミング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98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・退院後・入院後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・BPSDの新規出現/増悪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・家族の介護環境の変化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(主介護者の体調/就労変化)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・住環境の変化(転居・改修)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・本人の意思表示が変わったとき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主任ケアマネへの問いかけ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あなたの担当ケースで、ケアプランは「3ヶ月前」と「今」で内容が動いていますか?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サービスを増やすだけでなく、「卒業」「変更」「終了」も検討できていますか?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モニタリング記録に、「想定支援内容のうち提供しなかったもの」の根拠は残っていますか?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E87A41"/>
                </a:solidFill>
                <a:latin typeface="Yu Gothic"/>
              </a:rPr>
              <a:t>第 6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事例検討・グループワーク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2F2F2"/>
                </a:solidFill>
                <a:latin typeface="Yu Gothic"/>
              </a:rPr>
              <a:t>Group Work: Case Discussion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6. 事例検討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グループワーク(10分)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32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事例:Bさん(82歳・男性・要介護3)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14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・レビー小体型認知症(3年前 診断)、パーキンソン症状あり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・妻(80歳)と二人暮らし、長女が車で30分の所在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・幻視を訴えることがあり、夜間に大声を出す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・最近、食事中のむせが増え、3ヶ月で2kg体重減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・「家で死にたい」と繰り返し発言、妻も同意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・妻が腰痛悪化、夜間の介護が辛い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91999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3527999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ワーク内容(3〜4人組)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851999"/>
            <a:ext cx="11304000" cy="22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887999"/>
            <a:ext cx="11088000" cy="22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Q1. Bさんの「基本ケア4つの柱」の視点で、想定される支援内容を挙げてみよう(3分)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Q2. レビー小体型認知症ならではの「疾患別ケア」の留意点は何か?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       (薬剤・転倒・嚥下・幻視への対応 など)(3分)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Q3. このケースのケアプラン第1表「総合的な援助の方針」をグループで1文書いてみよう(3分)</a:t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404040"/>
                </a:solidFill>
                <a:latin typeface="Yu Gothic"/>
              </a:rPr>
              <a:t>Q4. 共有・全体発表(1分×グループ)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6. 事例検討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ワークシート ― 整理のフレーム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33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38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基本ケアⅠ 尊厳・自立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44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本人の意向・残存機能・役割は?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8000" y="1638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基本ケアⅡ 全体像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44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4000" y="2016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疾病・生活・家族・住環境のリスクは?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628000"/>
            <a:ext cx="5580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264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基本ケアⅢ 意思決定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952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3024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「家で死にたい」をどう支える?ACPは?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2628000"/>
            <a:ext cx="5580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8000" y="264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基本ケアⅣ リスク管理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2952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4000" y="3024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嚥下・転倒・薬剤・夜間対応・家族の健康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636000"/>
            <a:ext cx="5580000" cy="32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365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認知症ケアA 病態理解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3960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4032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レビー小体型ならではの特徴は?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6000" y="3636000"/>
            <a:ext cx="5580000" cy="32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8000" y="365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認知症ケアB BPSD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6000" y="3960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4000" y="4032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幻視・夜間の大声、誘因仮説は?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4644000"/>
            <a:ext cx="5580000" cy="32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4662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認知症ケアC 意思決定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4968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5040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本人意思の確認方法・ACPの進め方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6000" y="4644000"/>
            <a:ext cx="5580000" cy="32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8000" y="4662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認知症ケアD 家族支援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6000" y="4968000"/>
            <a:ext cx="5580000" cy="576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4000" y="5040000"/>
            <a:ext cx="5364000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Yu Gothic"/>
              </a:rPr>
              <a:t>妻の腰痛・夜間負担・長女との連携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本日の学びの整理(1/2)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34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「適切なケアマネジメント手法」の本質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41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41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マニュアルではなく、思考の枠組み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「想定される支援内容」を仮説として持ち、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 アセスメントで本人にとっての必要性を検証する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基本ケアは すべての利用者に共通する土台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疾患別ケアは 基本ケアの上に重ねるもの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個別性を否定するものではない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 むしろ標準があるからこそ「この人らしさ」が際立つ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説明責任(なぜそのケアか)を果たす道具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認知症ケアの実践ポイント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414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41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原因疾患による違いを押さえる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(AD/血管性/レビー/前頭側頭)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進行段階に応じた支援を見立てる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(MCI〜看取りまで連続したケア)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BPSDは「行動」ではなく「意味」を見る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(身体・環境・心理の3層で誘因把握)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意思決定支援は早期から、プロセスを残す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■ 家族介護者を「もう一人の利用者」として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 アセスメント・支援する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本日の学びの整理(2/2) ― 主任CMへの期待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35 /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主任ケアマネジャーが事業所・地域で果たす役割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41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41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【①  個別ケースの質を担保する】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・後輩CMのアセスメント・ケアプランを「基本ケア+認知症ケア」の視点でレビューする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・「なぜその支援か」「なぜその支援を入れないか」を一緒に言語化する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【②  事業所の文化として根付かせる】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・事例検討会で「想定される支援内容(仮説)→ 検証」の構造を共通言語にする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・記録(支援経過)に「検証プロセス」が残る習慣をつくる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【③  地域の質を底上げする】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・地域ケア会議・主任CM連絡会で他事業所と知見を共有する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・新人〜中堅CMの相談先となる(「一人で抱えさせない」)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【④  自分自身も学び続ける】</a:t>
            </a:r>
          </a:p>
          <a:p>
            <a:pPr algn="l"/>
            <a:r>
              <a:rPr sz="1400" b="0">
                <a:solidFill>
                  <a:srgbClr val="404040"/>
                </a:solidFill>
                <a:latin typeface="Yu Gothic"/>
              </a:rPr>
              <a:t>  ・手引き・ガイドライン・最新の研究知見を取りに行く姿勢を持ち続ける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参考資料・関連ガイドライン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  <a:latin typeface="Yu Gothic"/>
              </a:rPr>
              <a:t>36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厚生労働省「適切なケアマネジメント手法の手引き」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8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厚生労働省「認知症の人の日常生活・社会生活における意思決定支援ガイドライン」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5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厚生労働省「人生の最終段階における医療・ケアの決定プロセスに関するガイドライン」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024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厚生労働省「高齢者虐待防止の手引き」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92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日本ケアマネジメント学会「課題分析標準項目に関する解説」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96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認知症介護研究・研修センター「センター方式」「ひもときシート」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42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国際生活機能分類(ICF) ― WHO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89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Yu Gothic"/>
              </a:rPr>
              <a:t>■ 介護保険最新情報(課題分析標準項目 R5改訂)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Yu Gothi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2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F2F2F2"/>
                </a:solidFill>
                <a:latin typeface="Yu Gothic"/>
              </a:rPr>
              <a:t>「適切なケアマネジメント手法」は、</a:t>
            </a:r>
          </a:p>
          <a:p>
            <a:pPr algn="ctr"/>
            <a:r>
              <a:rPr sz="1800" b="0">
                <a:solidFill>
                  <a:srgbClr val="F2F2F2"/>
                </a:solidFill>
                <a:latin typeface="Yu Gothic"/>
              </a:rPr>
              <a:t>私たちが利用者の人生に責任を持つための共通言語です。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860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E87A41"/>
                </a:solidFill>
                <a:latin typeface="Yu Gothic"/>
              </a:rPr>
              <a:t>まずは「次の1ケース」から、</a:t>
            </a:r>
          </a:p>
          <a:p>
            <a:pPr algn="ctr"/>
            <a:r>
              <a:rPr sz="2000" b="1">
                <a:solidFill>
                  <a:srgbClr val="E87A41"/>
                </a:solidFill>
                <a:latin typeface="Yu Gothic"/>
              </a:rPr>
              <a:t>仮説を持って関わってみましょう。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1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ご質問・ご意見をお願いいたします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